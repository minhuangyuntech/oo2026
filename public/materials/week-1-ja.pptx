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6d0136485949f1" /><Relationship Type="http://schemas.openxmlformats.org/officeDocument/2006/relationships/extended-properties" Target="/docProps/app.xml" Id="R4b0ee59c50504834" /><Relationship Type="http://schemas.openxmlformats.org/officeDocument/2006/relationships/officeDocument" Target="/ppt/presentation.xml" Id="R77e70dd71c0c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ea06fa3c344d4"/>
  </p:sldMasterIdLst>
  <p:notesMasterIdLst>
    <p:notesMasterId xmlns:r="http://schemas.openxmlformats.org/officeDocument/2006/relationships" r:id="R2933159bcd7448cd"/>
  </p:notesMasterIdLst>
  <p:sldIdLst>
    <p:sldId xmlns:r="http://schemas.openxmlformats.org/officeDocument/2006/relationships" id="256" r:id="Rb3043112eb0d477c"/>
    <p:sldId xmlns:r="http://schemas.openxmlformats.org/officeDocument/2006/relationships" id="257" r:id="Rdb5ae59b0c444178"/>
    <p:sldId xmlns:r="http://schemas.openxmlformats.org/officeDocument/2006/relationships" id="258" r:id="R98fb5159b35a4325"/>
    <p:sldId xmlns:r="http://schemas.openxmlformats.org/officeDocument/2006/relationships" id="259" r:id="R15d7408c1c83487b"/>
    <p:sldId xmlns:r="http://schemas.openxmlformats.org/officeDocument/2006/relationships" id="260" r:id="R80e4d5a29fd24237"/>
    <p:sldId xmlns:r="http://schemas.openxmlformats.org/officeDocument/2006/relationships" id="261" r:id="R2f17c7e61c414ac2"/>
    <p:sldId xmlns:r="http://schemas.openxmlformats.org/officeDocument/2006/relationships" id="262" r:id="R0dc4fb35c1f54e19"/>
    <p:sldId xmlns:r="http://schemas.openxmlformats.org/officeDocument/2006/relationships" id="263" r:id="R30580bb8203d4bd8"/>
    <p:sldId xmlns:r="http://schemas.openxmlformats.org/officeDocument/2006/relationships" id="264" r:id="Ra3bc2e21cf6440a2"/>
    <p:sldId xmlns:r="http://schemas.openxmlformats.org/officeDocument/2006/relationships" id="265" r:id="R7df6d75813f34a6d"/>
    <p:sldId xmlns:r="http://schemas.openxmlformats.org/officeDocument/2006/relationships" id="266" r:id="R2f3d73df7fc74542"/>
    <p:sldId xmlns:r="http://schemas.openxmlformats.org/officeDocument/2006/relationships" id="267" r:id="R49868eaa8a6a473d"/>
    <p:sldId xmlns:r="http://schemas.openxmlformats.org/officeDocument/2006/relationships" id="268" r:id="Rc4aa19e2142c4eb7"/>
    <p:sldId xmlns:r="http://schemas.openxmlformats.org/officeDocument/2006/relationships" id="269" r:id="R889555eb6872467b"/>
    <p:sldId xmlns:r="http://schemas.openxmlformats.org/officeDocument/2006/relationships" id="270" r:id="R3bccf38a1fd14d48"/>
    <p:sldId xmlns:r="http://schemas.openxmlformats.org/officeDocument/2006/relationships" id="271" r:id="R6e635cf0de944fba"/>
    <p:sldId xmlns:r="http://schemas.openxmlformats.org/officeDocument/2006/relationships" id="272" r:id="R4a1f057e0ccb42fd"/>
    <p:sldId xmlns:r="http://schemas.openxmlformats.org/officeDocument/2006/relationships" id="273" r:id="Rf6a53cb487504821"/>
    <p:sldId xmlns:r="http://schemas.openxmlformats.org/officeDocument/2006/relationships" id="274" r:id="R2ee5a41a99954768"/>
    <p:sldId xmlns:r="http://schemas.openxmlformats.org/officeDocument/2006/relationships" id="275" r:id="R2663666e0e8d4cce"/>
    <p:sldId xmlns:r="http://schemas.openxmlformats.org/officeDocument/2006/relationships" id="276" r:id="Red0149201abf4e7f"/>
    <p:sldId xmlns:r="http://schemas.openxmlformats.org/officeDocument/2006/relationships" id="277" r:id="R0d7d2a002f164718"/>
    <p:sldId xmlns:r="http://schemas.openxmlformats.org/officeDocument/2006/relationships" id="278" r:id="R680853bde0204d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b807a85ed417a" /><Relationship Type="http://schemas.openxmlformats.org/officeDocument/2006/relationships/slideMaster" Target="/ppt/slideMasters/slideMaster1.xml" Id="R748ea06fa3c344d4" /><Relationship Type="http://schemas.openxmlformats.org/officeDocument/2006/relationships/notesMaster" Target="/ppt/notesMasters/notesMaster1.xml" Id="R2933159bcd7448cd" /><Relationship Type="http://schemas.openxmlformats.org/officeDocument/2006/relationships/presProps" Target="/ppt/presProps.xml" Id="Rfbd64aa88989430e" /><Relationship Type="http://schemas.openxmlformats.org/officeDocument/2006/relationships/viewProps" Target="/ppt/viewProps.xml" Id="Re0d7fec86d25424c" /><Relationship Type="http://schemas.openxmlformats.org/officeDocument/2006/relationships/tableStyles" Target="/ppt/tableStyles.xml" Id="R716e48bc715b41c9" /><Relationship Type="http://schemas.openxmlformats.org/officeDocument/2006/relationships/slide" Target="/ppt/slides/slide1.xml" Id="Rb3043112eb0d477c" /><Relationship Type="http://schemas.openxmlformats.org/officeDocument/2006/relationships/slide" Target="/ppt/slides/slide2.xml" Id="Rdb5ae59b0c444178" /><Relationship Type="http://schemas.openxmlformats.org/officeDocument/2006/relationships/slide" Target="/ppt/slides/slide3.xml" Id="R98fb5159b35a4325" /><Relationship Type="http://schemas.openxmlformats.org/officeDocument/2006/relationships/slide" Target="/ppt/slides/slide4.xml" Id="R15d7408c1c83487b" /><Relationship Type="http://schemas.openxmlformats.org/officeDocument/2006/relationships/slide" Target="/ppt/slides/slide5.xml" Id="R80e4d5a29fd24237" /><Relationship Type="http://schemas.openxmlformats.org/officeDocument/2006/relationships/slide" Target="/ppt/slides/slide6.xml" Id="R2f17c7e61c414ac2" /><Relationship Type="http://schemas.openxmlformats.org/officeDocument/2006/relationships/slide" Target="/ppt/slides/slide7.xml" Id="R0dc4fb35c1f54e19" /><Relationship Type="http://schemas.openxmlformats.org/officeDocument/2006/relationships/slide" Target="/ppt/slides/slide8.xml" Id="R30580bb8203d4bd8" /><Relationship Type="http://schemas.openxmlformats.org/officeDocument/2006/relationships/slide" Target="/ppt/slides/slide9.xml" Id="Ra3bc2e21cf6440a2" /><Relationship Type="http://schemas.openxmlformats.org/officeDocument/2006/relationships/slide" Target="/ppt/slides/slide10.xml" Id="R7df6d75813f34a6d" /><Relationship Type="http://schemas.openxmlformats.org/officeDocument/2006/relationships/slide" Target="/ppt/slides/slide11.xml" Id="R2f3d73df7fc74542" /><Relationship Type="http://schemas.openxmlformats.org/officeDocument/2006/relationships/slide" Target="/ppt/slides/slide12.xml" Id="R49868eaa8a6a473d" /><Relationship Type="http://schemas.openxmlformats.org/officeDocument/2006/relationships/slide" Target="/ppt/slides/slide13.xml" Id="Rc4aa19e2142c4eb7" /><Relationship Type="http://schemas.openxmlformats.org/officeDocument/2006/relationships/slide" Target="/ppt/slides/slide14.xml" Id="R889555eb6872467b" /><Relationship Type="http://schemas.openxmlformats.org/officeDocument/2006/relationships/slide" Target="/ppt/slides/slide15.xml" Id="R3bccf38a1fd14d48" /><Relationship Type="http://schemas.openxmlformats.org/officeDocument/2006/relationships/slide" Target="/ppt/slides/slide16.xml" Id="R6e635cf0de944fba" /><Relationship Type="http://schemas.openxmlformats.org/officeDocument/2006/relationships/slide" Target="/ppt/slides/slide17.xml" Id="R4a1f057e0ccb42fd" /><Relationship Type="http://schemas.openxmlformats.org/officeDocument/2006/relationships/slide" Target="/ppt/slides/slide18.xml" Id="Rf6a53cb487504821" /><Relationship Type="http://schemas.openxmlformats.org/officeDocument/2006/relationships/slide" Target="/ppt/slides/slide19.xml" Id="R2ee5a41a99954768" /><Relationship Type="http://schemas.openxmlformats.org/officeDocument/2006/relationships/slide" Target="/ppt/slides/slide20.xml" Id="R2663666e0e8d4cce" /><Relationship Type="http://schemas.openxmlformats.org/officeDocument/2006/relationships/slide" Target="/ppt/slides/slide21.xml" Id="Red0149201abf4e7f" /><Relationship Type="http://schemas.openxmlformats.org/officeDocument/2006/relationships/slide" Target="/ppt/slides/slide22.xml" Id="R0d7d2a002f164718" /><Relationship Type="http://schemas.openxmlformats.org/officeDocument/2006/relationships/slide" Target="/ppt/slides/slide23.xml" Id="R680853bde020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6f7183477d48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2facfc05284f43" /><Relationship Type="http://schemas.openxmlformats.org/officeDocument/2006/relationships/notesMaster" Target="/ppt/notesMasters/notesMaster1.xml" Id="Rb850aded09d549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731166419246c9" /><Relationship Type="http://schemas.openxmlformats.org/officeDocument/2006/relationships/notesMaster" Target="/ppt/notesMasters/notesMaster1.xml" Id="Rb4455bdef7ee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d9547a65364714" /><Relationship Type="http://schemas.openxmlformats.org/officeDocument/2006/relationships/notesMaster" Target="/ppt/notesMasters/notesMaster1.xml" Id="R8c9d931641af4e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e237633e14355" /><Relationship Type="http://schemas.openxmlformats.org/officeDocument/2006/relationships/notesMaster" Target="/ppt/notesMasters/notesMaster1.xml" Id="Rd579729a76de4b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b63e35226441b" /><Relationship Type="http://schemas.openxmlformats.org/officeDocument/2006/relationships/notesMaster" Target="/ppt/notesMasters/notesMaster1.xml" Id="Rdead10d0968049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6926f3c5a447b4" /><Relationship Type="http://schemas.openxmlformats.org/officeDocument/2006/relationships/notesMaster" Target="/ppt/notesMasters/notesMaster1.xml" Id="R38be3c7a1b16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0ffbf7abd145ce" /><Relationship Type="http://schemas.openxmlformats.org/officeDocument/2006/relationships/notesMaster" Target="/ppt/notesMasters/notesMaster1.xml" Id="Rc7fdb86661324d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e232b905a84de3" /><Relationship Type="http://schemas.openxmlformats.org/officeDocument/2006/relationships/notesMaster" Target="/ppt/notesMasters/notesMaster1.xml" Id="R3e1b195d9818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759f2452645a7" /><Relationship Type="http://schemas.openxmlformats.org/officeDocument/2006/relationships/notesMaster" Target="/ppt/notesMasters/notesMaster1.xml" Id="R6dfe1f3c692043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c39f6dc3da48be" /><Relationship Type="http://schemas.openxmlformats.org/officeDocument/2006/relationships/notesMaster" Target="/ppt/notesMasters/notesMaster1.xml" Id="R8c3eec7d07c046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81d02cb4b94118" /><Relationship Type="http://schemas.openxmlformats.org/officeDocument/2006/relationships/notesMaster" Target="/ppt/notesMasters/notesMaster1.xml" Id="R8c97a46c3ed145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670e1b3480441b" /><Relationship Type="http://schemas.openxmlformats.org/officeDocument/2006/relationships/notesMaster" Target="/ppt/notesMasters/notesMaster1.xml" Id="R3dfa9727266549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3778bee17547d6" /><Relationship Type="http://schemas.openxmlformats.org/officeDocument/2006/relationships/notesMaster" Target="/ppt/notesMasters/notesMaster1.xml" Id="R91d6ca15fc0b47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c5a10dae89428e" /><Relationship Type="http://schemas.openxmlformats.org/officeDocument/2006/relationships/notesMaster" Target="/ppt/notesMasters/notesMaster1.xml" Id="R257c11cc381b46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efbfbd382b484f" /><Relationship Type="http://schemas.openxmlformats.org/officeDocument/2006/relationships/notesMaster" Target="/ppt/notesMasters/notesMaster1.xml" Id="R3e7eaecc00c3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8acdf183c247f7" /><Relationship Type="http://schemas.openxmlformats.org/officeDocument/2006/relationships/notesMaster" Target="/ppt/notesMasters/notesMaster1.xml" Id="R01382c722cf540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985ad7dcfb4f68" /><Relationship Type="http://schemas.openxmlformats.org/officeDocument/2006/relationships/notesMaster" Target="/ppt/notesMasters/notesMaster1.xml" Id="R71798519d4104a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7c5ed6cff5492d" /><Relationship Type="http://schemas.openxmlformats.org/officeDocument/2006/relationships/notesMaster" Target="/ppt/notesMasters/notesMaster1.xml" Id="Rf08350791d3b46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ae1abd6fd6437e" /><Relationship Type="http://schemas.openxmlformats.org/officeDocument/2006/relationships/notesMaster" Target="/ppt/notesMasters/notesMaster1.xml" Id="R5fa3c13a2d2d4d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a54d8b272f4181" /><Relationship Type="http://schemas.openxmlformats.org/officeDocument/2006/relationships/notesMaster" Target="/ppt/notesMasters/notesMaster1.xml" Id="R1c7b9d821e6745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81702bb4564c00" /><Relationship Type="http://schemas.openxmlformats.org/officeDocument/2006/relationships/notesMaster" Target="/ppt/notesMasters/notesMaster1.xml" Id="Ra6ba9aee881a45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295a22dc2a4d18" /><Relationship Type="http://schemas.openxmlformats.org/officeDocument/2006/relationships/notesMaster" Target="/ppt/notesMasters/notesMaster1.xml" Id="Rb2f3b40a78d74c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c5c0aa7b4c4427" /><Relationship Type="http://schemas.openxmlformats.org/officeDocument/2006/relationships/notesMaster" Target="/ppt/notesMasters/notesMaster1.xml" Id="R5b0a9974913244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https://webapp.yuntech.edu.tw/WebNewCAS/Course/Plan/Query.aspx?&amp;115&amp;1&amp;1478</a:t>
            </a:r>
          </a:p>
          <a:p xmlns:a="http://schemas.openxmlformats.org/drawingml/2006/main">
            <a:r>
              <a:t>Name spelling: https://uel.yuntech.edu.tw/en/faculty_1.html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https://minhuangyuntech.github.io/oo2026/#project</a:t>
            </a:r>
          </a:p>
          <a:p xmlns:a="http://schemas.openxmlformats.org/drawingml/2006/main">
            <a:r>
              <a:t>出典： https://github.com/openclaw/openclaw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https://minhuangyuntech.github.io/oo2026/#project</a:t>
            </a:r>
            <a:endParaRPr/>
          </a:p>
          <a:p xmlns:a="http://schemas.openxmlformats.org/drawingml/2006/main">
            <a:r>
              <a:t>出典： https://github.com/openclaw/openclaw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https://minhuangyuntech.github.io/oo2026/#roadmap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https://packaging.python.org/en/latest/tutorials/packaging-projects/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https://minhuangyuntech.github.io/oo2026/week/18/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https://minhuangyuntech.github.io/oo2026/week/12/</a:t>
            </a:r>
          </a:p>
          <a:p xmlns:a="http://schemas.openxmlformats.org/drawingml/2006/main">
            <a:r>
              <a:t>出典： https://minhuangyuntech.github.io/oo2026/week/17/</a:t>
            </a:r>
          </a:p>
          <a:p xmlns:a="http://schemas.openxmlformats.org/drawingml/2006/main">
            <a:r>
              <a:t>出典： https://minhuangyuntech.github.io/oo2026/week/18/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https://minhuangyuntech.github.io/oo2026/week/17/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https://minhuangyuntech.github.io/oo2026/week/15/</a:t>
            </a:r>
          </a:p>
          <a:p xmlns:a="http://schemas.openxmlformats.org/drawingml/2006/main">
            <a:r>
              <a:t>出典： https://docs.djangoproject.com/en/6.0/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https://minhuangyuntech.github.io/oo2026/week/15/</a:t>
            </a:r>
          </a:p>
          <a:p xmlns:a="http://schemas.openxmlformats.org/drawingml/2006/main">
            <a:r>
              <a:t>出典： https://minhuangyuntech.github.io/oo2026/week/16/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https://webapp.yuntech.edu.tw/WebNewCAS/Course/Plan/Query.aspx?&amp;115&amp;1&amp;1478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https://webapp.yuntech.edu.tw/WebNewCAS/Course/Plan/Query.aspx?&amp;115&amp;1&amp;1478</a:t>
            </a:r>
          </a:p>
          <a:p xmlns:a="http://schemas.openxmlformats.org/drawingml/2006/main">
            <a:r>
              <a:t>Name spelling: https://uel.yuntech.edu.tw/en/faculty_1.html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 https://minhuangyuntech.github.io/oo2026/week/2/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8d5da8c05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aa05925b99476a" /><Relationship Type="http://schemas.openxmlformats.org/officeDocument/2006/relationships/slideLayout" Target="/ppt/slideLayouts/slideLayout1.xml" Id="R0c4a230bf781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4a230bf781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35015c7f048df" /><Relationship Type="http://schemas.openxmlformats.org/officeDocument/2006/relationships/image" Target="/ppt/media/image.png" Id="Rce93573ddadd4986" /><Relationship Type="http://schemas.openxmlformats.org/officeDocument/2006/relationships/notesSlide" Target="/ppt/notesSlides/notesSlide1.xml" Id="Rea918a80924f41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6edd0e07645b4" /><Relationship Type="http://schemas.openxmlformats.org/officeDocument/2006/relationships/notesSlide" Target="/ppt/notesSlides/notesSlide2.xml" Id="Rde6f2af8ab8645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46db4c98c418d" /><Relationship Type="http://schemas.openxmlformats.org/officeDocument/2006/relationships/notesSlide" Target="/ppt/notesSlides/notesSlide3.xml" Id="R8b3f5e9fe6a649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c0f6816b24a88" /><Relationship Type="http://schemas.openxmlformats.org/officeDocument/2006/relationships/notesSlide" Target="/ppt/notesSlides/notesSlide4.xml" Id="Rf49d7f1a6c8441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dbb137130403b" /><Relationship Type="http://schemas.openxmlformats.org/officeDocument/2006/relationships/notesSlide" Target="/ppt/notesSlides/notesSlide5.xml" Id="Rd91df1608afc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62e2911974cd7" /><Relationship Type="http://schemas.openxmlformats.org/officeDocument/2006/relationships/notesSlide" Target="/ppt/notesSlides/notesSlide6.xml" Id="Raf945d64ff8748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5af3a2074345" /><Relationship Type="http://schemas.openxmlformats.org/officeDocument/2006/relationships/notesSlide" Target="/ppt/notesSlides/notesSlide7.xml" Id="R250cc19432b6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61b8e3644f26" /><Relationship Type="http://schemas.openxmlformats.org/officeDocument/2006/relationships/notesSlide" Target="/ppt/notesSlides/notesSlide8.xml" Id="Ra027e5fb8b8e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d44403e6040f2" /><Relationship Type="http://schemas.openxmlformats.org/officeDocument/2006/relationships/image" Target="/ppt/media/image2.png" Id="R7d898178f1654fa5" /><Relationship Type="http://schemas.openxmlformats.org/officeDocument/2006/relationships/notesSlide" Target="/ppt/notesSlides/notesSlide9.xml" Id="Re4055a1b62da47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67964aad4466" /><Relationship Type="http://schemas.openxmlformats.org/officeDocument/2006/relationships/notesSlide" Target="/ppt/notesSlides/notesSlide10.xml" Id="Ra75bb35c85e24a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712f6a2ab46db" /><Relationship Type="http://schemas.openxmlformats.org/officeDocument/2006/relationships/notesSlide" Target="/ppt/notesSlides/notesSlide11.xml" Id="R9d6c298a7ff74f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2bc9898b4e52" /><Relationship Type="http://schemas.openxmlformats.org/officeDocument/2006/relationships/notesSlide" Target="/ppt/notesSlides/notesSlide12.xml" Id="Re767f169e1cd42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8e402aecb4436" /><Relationship Type="http://schemas.openxmlformats.org/officeDocument/2006/relationships/notesSlide" Target="/ppt/notesSlides/notesSlide13.xml" Id="R6840580980d346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9b72eaf9440a8" /><Relationship Type="http://schemas.openxmlformats.org/officeDocument/2006/relationships/notesSlide" Target="/ppt/notesSlides/notesSlide14.xml" Id="R46db55cb72ba41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b876853d84930" /><Relationship Type="http://schemas.openxmlformats.org/officeDocument/2006/relationships/image" Target="/ppt/media/image3.png" Id="R3e763a17e7d249ac" /><Relationship Type="http://schemas.openxmlformats.org/officeDocument/2006/relationships/notesSlide" Target="/ppt/notesSlides/notesSlide15.xml" Id="Rb3bc4a51119b4d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42576edb54b12" /><Relationship Type="http://schemas.openxmlformats.org/officeDocument/2006/relationships/notesSlide" Target="/ppt/notesSlides/notesSlide16.xml" Id="Rbbb25f8e4cdb41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175d5492847c6" /><Relationship Type="http://schemas.openxmlformats.org/officeDocument/2006/relationships/notesSlide" Target="/ppt/notesSlides/notesSlide17.xml" Id="Rfd5cf9f3bb9e45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2d58f828443b5" /><Relationship Type="http://schemas.openxmlformats.org/officeDocument/2006/relationships/image" Target="/ppt/media/image4.png" Id="R3032d6b28182498a" /><Relationship Type="http://schemas.openxmlformats.org/officeDocument/2006/relationships/notesSlide" Target="/ppt/notesSlides/notesSlide18.xml" Id="R37e6f46b83fa41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27326dffd41f5" /><Relationship Type="http://schemas.openxmlformats.org/officeDocument/2006/relationships/notesSlide" Target="/ppt/notesSlides/notesSlide19.xml" Id="R8d22b5ec8d6143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ba7b46ed24b6c" /><Relationship Type="http://schemas.openxmlformats.org/officeDocument/2006/relationships/notesSlide" Target="/ppt/notesSlides/notesSlide20.xml" Id="Raf8e9cc2a64c4f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149f5dc23465a" /><Relationship Type="http://schemas.openxmlformats.org/officeDocument/2006/relationships/notesSlide" Target="/ppt/notesSlides/notesSlide21.xml" Id="Re7c08b6125254c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7f4aa81847a7" /><Relationship Type="http://schemas.openxmlformats.org/officeDocument/2006/relationships/hyperlink" Target="https://minhuangyuntech.github.io/oo2026" TargetMode="External" Id="R0f3efd2519944131" /><Relationship Type="http://schemas.openxmlformats.org/officeDocument/2006/relationships/hyperlink" Target="https://minhuangyuntech.github.io/oo2026" TargetMode="External" Id="Rea7c7cdeb0f1400f" /><Relationship Type="http://schemas.openxmlformats.org/officeDocument/2006/relationships/hyperlink" Target="https://eclass.yuntech.edu.tw/" TargetMode="External" Id="R13151c006f654b20" /><Relationship Type="http://schemas.openxmlformats.org/officeDocument/2006/relationships/hyperlink" Target="https://eclass.yuntech.edu.tw/" TargetMode="External" Id="Re09b0c6983bc4b65" /><Relationship Type="http://schemas.openxmlformats.org/officeDocument/2006/relationships/notesSlide" Target="/ppt/notesSlides/notesSlide22.xml" Id="Rff43a38d33d14e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d4a5d7ea46cf" /><Relationship Type="http://schemas.openxmlformats.org/officeDocument/2006/relationships/notesSlide" Target="/ppt/notesSlides/notesSlide23.xml" Id="R6a81c2cb8304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4A50307-008F-4370-ADD6-D8FF295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pic>
        <p:nvPicPr>
          <p:cNvPr id="11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3573ddadd49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WEEK 01">
            <a:extLst xmlns:a="http://schemas.openxmlformats.org/drawingml/2006/main">
              <a:ext uri="{FF2B5EF4-FFF2-40B4-BE49-F238E27FC236}">
                <a16:creationId xmlns:a16="http://schemas.microsoft.com/office/drawing/2014/main" id="{F3D9F2D9-7B33-4B0A-8FD3-546CF8D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第1週</a:t>
            </a:r>
          </a:p>
        </p:txBody>
      </p:sp>
      <p:sp>
        <p:nvSpPr>
          <p:cNvPr id="4" name="物件導向 程式設計">
            <a:extLst xmlns:a="http://schemas.openxmlformats.org/drawingml/2006/main">
              <a:ext uri="{FF2B5EF4-FFF2-40B4-BE49-F238E27FC236}">
                <a16:creationId xmlns:a16="http://schemas.microsoft.com/office/drawing/2014/main" id="{97801A59-0B31-4E60-A29B-ADF982D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95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オブジェクト指向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プログラミング</a:t>
            </a:r>
          </a:p>
        </p:txBody>
      </p:sp>
      <p:sp>
        <p:nvSpPr>
          <p:cNvPr id="5" name="Python 套件與個人 AI 助理">
            <a:extLst xmlns:a="http://schemas.openxmlformats.org/drawingml/2006/main">
              <a:ext uri="{FF2B5EF4-FFF2-40B4-BE49-F238E27FC236}">
                <a16:creationId xmlns:a16="http://schemas.microsoft.com/office/drawing/2014/main" id="{B6E5FE56-A1B5-47EC-8700-EDE9C401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理論と実践</a:t>
            </a:r>
            <a:endParaRPr sz="2325" b="0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第一週課程說明　90 分鐘">
            <a:extLst xmlns:a="http://schemas.openxmlformats.org/drawingml/2006/main">
              <a:ext uri="{FF2B5EF4-FFF2-40B4-BE49-F238E27FC236}">
                <a16:creationId xmlns:a16="http://schemas.microsoft.com/office/drawing/2014/main" id="{A22C34D4-7FDD-4B79-B896-D28A644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38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第1週　授業ガイダンス　90分</a:t>
            </a:r>
            <a:endParaRPr sz="18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75948AFF-1103-4DFA-A2CD-5DA89AC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435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国立雲林科技大学　電子工学科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115学年度　第1学期　何敏煌（Min-Huang Ho）</a:t>
            </a:r>
          </a:p>
        </p:txBody>
      </p:sp>
    </p:spTree>
    <p:extLst>
      <p:ext uri="{BB962C8B-B14F-4D97-AF65-F5344CB8AC3E}">
        <p14:creationId xmlns:p14="http://schemas.microsoft.com/office/powerpoint/2010/main" val="132127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寫程式時，你遇過哪些情況？">
            <a:extLst xmlns:a="http://schemas.openxmlformats.org/drawingml/2006/main">
              <a:ext uri="{FF2B5EF4-FFF2-40B4-BE49-F238E27FC236}">
                <a16:creationId xmlns:a16="http://schemas.microsoft.com/office/drawing/2014/main" id="{1185466A-5A74-4F83-B6A9-4754028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プログラミングで困った経験はありますか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E86E911-C1F0-4EEF-AD4B-CF676AD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看不懂">
            <a:extLst xmlns:a="http://schemas.openxmlformats.org/drawingml/2006/main">
              <a:ext uri="{FF2B5EF4-FFF2-40B4-BE49-F238E27FC236}">
                <a16:creationId xmlns:a16="http://schemas.microsoft.com/office/drawing/2014/main" id="{3745DB6B-7DCA-489B-9320-AE74017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理解しにくい</a:t>
            </a:r>
          </a:p>
        </p:txBody>
      </p:sp>
      <p:sp>
        <p:nvSpPr>
          <p:cNvPr id="4" name="一個月後，連自己也忘記原本的想法。">
            <a:extLst xmlns:a="http://schemas.openxmlformats.org/drawingml/2006/main">
              <a:ext uri="{FF2B5EF4-FFF2-40B4-BE49-F238E27FC236}">
                <a16:creationId xmlns:a16="http://schemas.microsoft.com/office/drawing/2014/main" id="{2715C5AB-0A04-4AD3-937A-2A99775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1か月後には、自分が書いた理由を忘れてしまう。</a:t>
            </a:r>
          </a:p>
        </p:txBody>
      </p:sp>
      <p:sp>
        <p:nvSpPr>
          <p:cNvPr id="5" name="改不動">
            <a:extLst xmlns:a="http://schemas.openxmlformats.org/drawingml/2006/main">
              <a:ext uri="{FF2B5EF4-FFF2-40B4-BE49-F238E27FC236}">
                <a16:creationId xmlns:a16="http://schemas.microsoft.com/office/drawing/2014/main" id="{82BBB59A-43CC-4464-9D5C-E99024F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変更しにくい</a:t>
            </a:r>
          </a:p>
        </p:txBody>
      </p:sp>
      <p:sp>
        <p:nvSpPr>
          <p:cNvPr id="6" name="新增一個功能，其他功能卻出錯。">
            <a:extLst xmlns:a="http://schemas.openxmlformats.org/drawingml/2006/main">
              <a:ext uri="{FF2B5EF4-FFF2-40B4-BE49-F238E27FC236}">
                <a16:creationId xmlns:a16="http://schemas.microsoft.com/office/drawing/2014/main" id="{C07ED07E-4FA7-4145-A267-CF5B3A7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479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機能を追加すると、別の機能が動かなくなる。</a:t>
            </a:r>
          </a:p>
        </p:txBody>
      </p:sp>
      <p:sp>
        <p:nvSpPr>
          <p:cNvPr id="7" name="搬不走">
            <a:extLst xmlns:a="http://schemas.openxmlformats.org/drawingml/2006/main">
              <a:ext uri="{FF2B5EF4-FFF2-40B4-BE49-F238E27FC236}">
                <a16:creationId xmlns:a16="http://schemas.microsoft.com/office/drawing/2014/main" id="{5CD603C4-7336-4219-8889-BD077B1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環境を移しにくい</a:t>
            </a:r>
          </a:p>
        </p:txBody>
      </p:sp>
      <p:sp>
        <p:nvSpPr>
          <p:cNvPr id="8" name="換一台電腦，程式就無法執行。">
            <a:extLst xmlns:a="http://schemas.openxmlformats.org/drawingml/2006/main">
              <a:ext uri="{FF2B5EF4-FFF2-40B4-BE49-F238E27FC236}">
                <a16:creationId xmlns:a16="http://schemas.microsoft.com/office/drawing/2014/main" id="{FAE9D90E-0793-47D8-90EC-127C54F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909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別のコンピュータでは動かない。</a:t>
            </a:r>
          </a:p>
        </p:txBody>
      </p:sp>
      <p:sp>
        <p:nvSpPr>
          <p:cNvPr id="9" name="接不起來">
            <a:extLst xmlns:a="http://schemas.openxmlformats.org/drawingml/2006/main">
              <a:ext uri="{FF2B5EF4-FFF2-40B4-BE49-F238E27FC236}">
                <a16:creationId xmlns:a16="http://schemas.microsoft.com/office/drawing/2014/main" id="{152B48C4-AADE-478F-8FB9-C507DE1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統合しにくい</a:t>
            </a:r>
          </a:p>
        </p:txBody>
      </p:sp>
      <p:sp>
        <p:nvSpPr>
          <p:cNvPr id="10" name="大家各自完成，整合時才發現介面不同。">
            <a:extLst xmlns:a="http://schemas.openxmlformats.org/drawingml/2006/main">
              <a:ext uri="{FF2B5EF4-FFF2-40B4-BE49-F238E27FC236}">
                <a16:creationId xmlns:a16="http://schemas.microsoft.com/office/drawing/2014/main" id="{4CD7E486-1CA2-4C2F-8184-CF8AADB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各自の担当は完成しても、インターフェースが合わない。</a:t>
            </a:r>
          </a:p>
        </p:txBody>
      </p:sp>
    </p:spTree>
    <p:extLst>
      <p:ext uri="{BB962C8B-B14F-4D97-AF65-F5344CB8AC3E}">
        <p14:creationId xmlns:p14="http://schemas.microsoft.com/office/powerpoint/2010/main" val="1534223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你的程式經驗">
            <a:extLst xmlns:a="http://schemas.openxmlformats.org/drawingml/2006/main">
              <a:ext uri="{FF2B5EF4-FFF2-40B4-BE49-F238E27FC236}">
                <a16:creationId xmlns:a16="http://schemas.microsoft.com/office/drawing/2014/main" id="{276A2247-3E5B-4ECC-BC10-9B2B89C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これまでのプログラミング経験</a:t>
            </a:r>
          </a:p>
        </p:txBody>
      </p:sp>
      <p:sp>
        <p:nvSpPr>
          <p:cNvPr id="2" name="每個人的起點不同，先認識自己的基礎。">
            <a:extLst xmlns:a="http://schemas.openxmlformats.org/drawingml/2006/main">
              <a:ext uri="{FF2B5EF4-FFF2-40B4-BE49-F238E27FC236}">
                <a16:creationId xmlns:a16="http://schemas.microsoft.com/office/drawing/2014/main" id="{598CE064-A6F2-47C7-9575-ACD2EFA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 の経験を土台に、さらに伸ばしたい力を考える。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8701542-AA77-4699-AB90-73609B6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寫過什麼？">
            <a:extLst xmlns:a="http://schemas.openxmlformats.org/drawingml/2006/main">
              <a:ext uri="{FF2B5EF4-FFF2-40B4-BE49-F238E27FC236}">
                <a16:creationId xmlns:a16="http://schemas.microsoft.com/office/drawing/2014/main" id="{4EAB17EA-8307-451F-AB33-F329F81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何を作りましたか</a:t>
            </a:r>
          </a:p>
        </p:txBody>
      </p:sp>
      <p:sp>
        <p:nvSpPr>
          <p:cNvPr id="5" name="C 或 Python 課堂練習、專題 或自己的小工具">
            <a:extLst xmlns:a="http://schemas.openxmlformats.org/drawingml/2006/main">
              <a:ext uri="{FF2B5EF4-FFF2-40B4-BE49-F238E27FC236}">
                <a16:creationId xmlns:a16="http://schemas.microsoft.com/office/drawing/2014/main" id="{4D96647E-33FA-479D-9526-F562BAC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 または Python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授業の演習やプロジェクト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自作の小さなツール</a:t>
            </a:r>
          </a:p>
        </p:txBody>
      </p:sp>
      <p:sp>
        <p:nvSpPr>
          <p:cNvPr id="6" name="用過什麼？">
            <a:extLst xmlns:a="http://schemas.openxmlformats.org/drawingml/2006/main">
              <a:ext uri="{FF2B5EF4-FFF2-40B4-BE49-F238E27FC236}">
                <a16:creationId xmlns:a16="http://schemas.microsoft.com/office/drawing/2014/main" id="{C67028CE-0193-4D26-AA2B-E220E48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何を使いましたか</a:t>
            </a:r>
          </a:p>
        </p:txBody>
      </p:sp>
      <p:sp>
        <p:nvSpPr>
          <p:cNvPr id="7" name="函式與資料結構 Git、測試 或網站框架">
            <a:extLst xmlns:a="http://schemas.openxmlformats.org/drawingml/2006/main">
              <a:ext uri="{FF2B5EF4-FFF2-40B4-BE49-F238E27FC236}">
                <a16:creationId xmlns:a16="http://schemas.microsoft.com/office/drawing/2014/main" id="{C6B6B28B-F2D2-4B0F-9568-DCF905E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関数とデータ構造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Git、テスト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Web フレームワーク</a:t>
            </a:r>
          </a:p>
        </p:txBody>
      </p:sp>
      <p:sp>
        <p:nvSpPr>
          <p:cNvPr id="8" name="最想補強什麼？">
            <a:extLst xmlns:a="http://schemas.openxmlformats.org/drawingml/2006/main">
              <a:ext uri="{FF2B5EF4-FFF2-40B4-BE49-F238E27FC236}">
                <a16:creationId xmlns:a16="http://schemas.microsoft.com/office/drawing/2014/main" id="{917A8E93-7D8B-4D9C-ACA3-C01E622F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何を伸ばしたいですか</a:t>
            </a:r>
          </a:p>
        </p:txBody>
      </p:sp>
      <p:sp>
        <p:nvSpPr>
          <p:cNvPr id="9" name="讀懂程式 除錯與修改 或和別人合作">
            <a:extLst xmlns:a="http://schemas.openxmlformats.org/drawingml/2006/main">
              <a:ext uri="{FF2B5EF4-FFF2-40B4-BE49-F238E27FC236}">
                <a16:creationId xmlns:a16="http://schemas.microsoft.com/office/drawing/2014/main" id="{5E4C801C-712F-4213-93F4-BE3A238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コードを読む力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デバッグと修正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他の人との共同作業</a:t>
            </a:r>
          </a:p>
        </p:txBody>
      </p:sp>
    </p:spTree>
    <p:extLst>
      <p:ext uri="{BB962C8B-B14F-4D97-AF65-F5344CB8AC3E}">
        <p14:creationId xmlns:p14="http://schemas.microsoft.com/office/powerpoint/2010/main" val="89553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這門課關心的能力">
            <a:extLst xmlns:a="http://schemas.openxmlformats.org/drawingml/2006/main">
              <a:ext uri="{FF2B5EF4-FFF2-40B4-BE49-F238E27FC236}">
                <a16:creationId xmlns:a16="http://schemas.microsoft.com/office/drawing/2014/main" id="{3B20533E-92FA-4F48-A30F-DE8F175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この授業の到達目標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4A63DA0-12D0-4D95-BD14-B7BECB4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讓程式能被使用， 也能持續修改。">
            <a:extLst xmlns:a="http://schemas.openxmlformats.org/drawingml/2006/main">
              <a:ext uri="{FF2B5EF4-FFF2-40B4-BE49-F238E27FC236}">
                <a16:creationId xmlns:a16="http://schemas.microsoft.com/office/drawing/2014/main" id="{2C241CED-85E3-4CED-909E-D536FCF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オブジェクト指向の考え方を理解し、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変更に対応できる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ソフトウェアを設計する。</a:t>
            </a:r>
          </a:p>
        </p:txBody>
      </p:sp>
      <p:sp>
        <p:nvSpPr>
          <p:cNvPr id="4" name="使用者看得懂介面，同學接得上功能， 自己能驗證修改後的結果。">
            <a:extLst xmlns:a="http://schemas.openxmlformats.org/drawingml/2006/main">
              <a:ext uri="{FF2B5EF4-FFF2-40B4-BE49-F238E27FC236}">
                <a16:creationId xmlns:a16="http://schemas.microsoft.com/office/drawing/2014/main" id="{6EF9BF7D-F8A8-4654-85E9-2CF7FAB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でオブジェクトのモデル化、設計原則、テスト、リファクタリングを実践。</a:t>
            </a:r>
            <a:endParaRPr sz="24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247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実行・説明・再現できる個人プロジェクトを完成させる。</a:t>
            </a:r>
            <a:endParaRPr sz="24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0830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期末作品：MiniClaw">
            <a:extLst xmlns:a="http://schemas.openxmlformats.org/drawingml/2006/main">
              <a:ext uri="{FF2B5EF4-FFF2-40B4-BE49-F238E27FC236}">
                <a16:creationId xmlns:a16="http://schemas.microsoft.com/office/drawing/2014/main" id="{4E677BE3-C158-4513-ADA0-820954E3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最終課題：個人で作る OOP システム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2D19D2F-800C-4BD2-9F07-5C632B9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自己的個人 AI 助理">
            <a:extLst xmlns:a="http://schemas.openxmlformats.org/drawingml/2006/main">
              <a:ext uri="{FF2B5EF4-FFF2-40B4-BE49-F238E27FC236}">
                <a16:creationId xmlns:a16="http://schemas.microsoft.com/office/drawing/2014/main" id="{33B2F8D7-20BC-4071-877B-0DB05E5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4125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現実の課題を選ぶ</a:t>
            </a:r>
          </a:p>
        </p:txBody>
      </p:sp>
      <p:sp>
        <p:nvSpPr>
          <p:cNvPr id="4" name="透過網頁對話，呼叫自己設計的工具， 保存資料並回報執行結果。">
            <a:extLst xmlns:a="http://schemas.openxmlformats.org/drawingml/2006/main">
              <a:ext uri="{FF2B5EF4-FFF2-40B4-BE49-F238E27FC236}">
                <a16:creationId xmlns:a16="http://schemas.microsoft.com/office/drawing/2014/main" id="{E55BEDBF-640A-475F-A5C0-F9B0B7C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利用者、利用場面、対象範囲を定義する。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クラスの責務とオブジェクトの協調が明確な、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テスト可能なシステムを作る。</a:t>
            </a:r>
          </a:p>
        </p:txBody>
      </p:sp>
      <p:sp>
        <p:nvSpPr>
          <p:cNvPr id="5" name="以 OpenClaw 的個人助理概念為靈感， 完成適合本課範圍的 Python 教學版。">
            <a:extLst xmlns:a="http://schemas.openxmlformats.org/drawingml/2006/main">
              <a:ext uri="{FF2B5EF4-FFF2-40B4-BE49-F238E27FC236}">
                <a16:creationId xmlns:a16="http://schemas.microsoft.com/office/drawing/2014/main" id="{DBA22465-440F-4FC5-A01B-26C7AE2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個人 AI アシスタント MiniClaw は、統合プロジェクトの一例。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OOP 設計を示せる別のテーマも選択できる。</a:t>
            </a:r>
          </a:p>
        </p:txBody>
      </p:sp>
    </p:spTree>
    <p:extLst>
      <p:ext uri="{BB962C8B-B14F-4D97-AF65-F5344CB8AC3E}">
        <p14:creationId xmlns:p14="http://schemas.microsoft.com/office/powerpoint/2010/main" val="178397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iniClaw 的專題範圍">
            <a:extLst xmlns:a="http://schemas.openxmlformats.org/drawingml/2006/main">
              <a:ext uri="{FF2B5EF4-FFF2-40B4-BE49-F238E27FC236}">
                <a16:creationId xmlns:a16="http://schemas.microsoft.com/office/drawing/2014/main" id="{D9A4C3AF-12C8-40E6-A804-FD86CD4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MiniClaw：選択可能な統合プロジェクト</a:t>
            </a:r>
          </a:p>
        </p:txBody>
      </p:sp>
      <p:sp>
        <p:nvSpPr>
          <p:cNvPr id="2" name="基本功能先完成，延伸功能依進度加入。">
            <a:extLst xmlns:a="http://schemas.openxmlformats.org/drawingml/2006/main">
              <a:ext uri="{FF2B5EF4-FFF2-40B4-BE49-F238E27FC236}">
                <a16:creationId xmlns:a16="http://schemas.microsoft.com/office/drawing/2014/main" id="{70334FB7-298A-4903-B76E-C340887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OpenClaw を参考に、範囲を絞って主要機能を完成させる。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CB5B9AD-D71A-46BE-B528-CC77EF19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基本成果">
            <a:extLst xmlns:a="http://schemas.openxmlformats.org/drawingml/2006/main">
              <a:ext uri="{FF2B5EF4-FFF2-40B4-BE49-F238E27FC236}">
                <a16:creationId xmlns:a16="http://schemas.microsoft.com/office/drawing/2014/main" id="{F69A0919-F79E-401B-A67F-6C59DAF3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この例の主要機能</a:t>
            </a:r>
          </a:p>
        </p:txBody>
      </p:sp>
      <p:sp>
        <p:nvSpPr>
          <p:cNvPr id="5" name="網頁對話與紀錄 真實模型與測試替身 數個可操作資料的工具 參數檢查與錯誤處理">
            <a:extLst xmlns:a="http://schemas.openxmlformats.org/drawingml/2006/main">
              <a:ext uri="{FF2B5EF4-FFF2-40B4-BE49-F238E27FC236}">
                <a16:creationId xmlns:a16="http://schemas.microsoft.com/office/drawing/2014/main" id="{CF37D8C0-0B49-43FE-ABDA-DB8C753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チャットと会話履歴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実モデルとテスト用の代替実装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データを扱うツール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入力検証と例外処理</a:t>
            </a:r>
          </a:p>
        </p:txBody>
      </p:sp>
      <p:sp>
        <p:nvSpPr>
          <p:cNvPr id="6" name="延伸選項">
            <a:extLst xmlns:a="http://schemas.openxmlformats.org/drawingml/2006/main">
              <a:ext uri="{FF2B5EF4-FFF2-40B4-BE49-F238E27FC236}">
                <a16:creationId xmlns:a16="http://schemas.microsoft.com/office/drawing/2014/main" id="{B511AD72-1901-4FA8-AAB1-0E81250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追加できる機能</a:t>
            </a:r>
          </a:p>
        </p:txBody>
      </p:sp>
      <p:sp>
        <p:nvSpPr>
          <p:cNvPr id="7" name="排程提醒 感測器整合 外部聊天平台 串流回覆">
            <a:extLst xmlns:a="http://schemas.openxmlformats.org/drawingml/2006/main">
              <a:ext uri="{FF2B5EF4-FFF2-40B4-BE49-F238E27FC236}">
                <a16:creationId xmlns:a16="http://schemas.microsoft.com/office/drawing/2014/main" id="{545C412C-496D-44EC-964C-735EFD2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時刻指定のリマインダー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センサー連携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外部チャットサービス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ストリーミング応答</a:t>
            </a:r>
          </a:p>
        </p:txBody>
      </p:sp>
      <p:sp>
        <p:nvSpPr>
          <p:cNvPr id="8" name="工具循環需設定步數上限，讓執行過程可控制、可追蹤。">
            <a:extLst xmlns:a="http://schemas.openxmlformats.org/drawingml/2006/main">
              <a:ext uri="{FF2B5EF4-FFF2-40B4-BE49-F238E27FC236}">
                <a16:creationId xmlns:a16="http://schemas.microsoft.com/office/drawing/2014/main" id="{8989D5CB-BBB4-44CF-92A8-423D54C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ツール呼び出しの回数に上限を設け、テーマに合う機能を選ぶ。</a:t>
            </a:r>
          </a:p>
        </p:txBody>
      </p:sp>
    </p:spTree>
    <p:extLst>
      <p:ext uri="{BB962C8B-B14F-4D97-AF65-F5344CB8AC3E}">
        <p14:creationId xmlns:p14="http://schemas.microsoft.com/office/powerpoint/2010/main" val="326507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整學期的作品路線">
            <a:extLst xmlns:a="http://schemas.openxmlformats.org/drawingml/2006/main">
              <a:ext uri="{FF2B5EF4-FFF2-40B4-BE49-F238E27FC236}">
                <a16:creationId xmlns:a16="http://schemas.microsoft.com/office/drawing/2014/main" id="{28BC8EA3-C70B-4CFF-A53F-C21D2F7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18週間を3つの段階で学ぶ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5AB6321A-529A-4BA6-8615-A6422DE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9" name="表格 6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00525"/>
                <a:gridCol w="4200525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学習内容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到達点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第1–5週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Python、クラス、カプセル化、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オブジェクトのメモリモデル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オブジェクト指向の考え方を身に付ける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第6–11週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UML、継承、ポリモーフィズム、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高度な型の仕組み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交換可能な部品を構成する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第12–18週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分析、設計、SOLID、パターン、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テスト、補足的な統合実践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個人のシステムプロジェクトを完成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每一階段的成果，都能成為下一階段的材料。">
            <a:extLst xmlns:a="http://schemas.openxmlformats.org/drawingml/2006/main">
              <a:ext uri="{FF2B5EF4-FFF2-40B4-BE49-F238E27FC236}">
                <a16:creationId xmlns:a16="http://schemas.microsoft.com/office/drawing/2014/main" id="{4B674E8D-98EE-4ED5-8D68-8D5E3DA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98622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我們會學到的設計觀點">
            <a:extLst xmlns:a="http://schemas.openxmlformats.org/drawingml/2006/main">
              <a:ext uri="{FF2B5EF4-FFF2-40B4-BE49-F238E27FC236}">
                <a16:creationId xmlns:a16="http://schemas.microsoft.com/office/drawing/2014/main" id="{B72234E4-8408-4255-A23A-6DEEF44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今学期に学ぶ理論と実践</a:t>
            </a:r>
            <a:endParaRPr sz="3300" b="1">
              <a:solidFill>
                <a:srgbClr val="132B3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6E4F94EC-9978-4D05-9C9D-C36DBA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物件導向基礎">
            <a:extLst xmlns:a="http://schemas.openxmlformats.org/drawingml/2006/main">
              <a:ext uri="{FF2B5EF4-FFF2-40B4-BE49-F238E27FC236}">
                <a16:creationId xmlns:a16="http://schemas.microsoft.com/office/drawing/2014/main" id="{2B443CAE-B2CE-4F62-A432-A79BD30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オブジェクトモデルと基本概念</a:t>
            </a:r>
          </a:p>
        </p:txBody>
      </p:sp>
      <p:sp>
        <p:nvSpPr>
          <p:cNvPr id="4" name="類別與物件 封裝、繼承與多型 抽象化、關係與責任">
            <a:extLst xmlns:a="http://schemas.openxmlformats.org/drawingml/2006/main">
              <a:ext uri="{FF2B5EF4-FFF2-40B4-BE49-F238E27FC236}">
                <a16:creationId xmlns:a16="http://schemas.microsoft.com/office/drawing/2014/main" id="{91F04B25-369C-4F50-9CE5-3646CB9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クラス、カプセル化、ライフサイクル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関連、継承、ポリモーフィズム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抽象インターフェースと UML クラス図</a:t>
            </a:r>
          </a:p>
        </p:txBody>
      </p:sp>
      <p:sp>
        <p:nvSpPr>
          <p:cNvPr id="5" name="現代設計實務">
            <a:extLst xmlns:a="http://schemas.openxmlformats.org/drawingml/2006/main">
              <a:ext uri="{FF2B5EF4-FFF2-40B4-BE49-F238E27FC236}">
                <a16:creationId xmlns:a16="http://schemas.microsoft.com/office/drawing/2014/main" id="{26C9E9ED-BA8C-4CCF-A558-65EE2E4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分析と設計の実践</a:t>
            </a:r>
          </a:p>
        </p:txBody>
      </p:sp>
      <p:sp>
        <p:nvSpPr>
          <p:cNvPr id="6" name="組合與介面 型別、測試與重構 可替換的外部服務">
            <a:extLst xmlns:a="http://schemas.openxmlformats.org/drawingml/2006/main">
              <a:ext uri="{FF2B5EF4-FFF2-40B4-BE49-F238E27FC236}">
                <a16:creationId xmlns:a16="http://schemas.microsoft.com/office/drawing/2014/main" id="{5B921DDC-9A92-456E-8086-8678AD3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データクラス、ジェネリクス、Protocol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OOA/OOD、SOLID、デザインパターン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テスト、リファクタリング、システム統合</a:t>
            </a:r>
          </a:p>
        </p:txBody>
      </p:sp>
      <p:sp>
        <p:nvSpPr>
          <p:cNvPr id="7" name="以 Python 實作，搭配 Java、C#、C++、Go 的設計比較。">
            <a:extLst xmlns:a="http://schemas.openxmlformats.org/drawingml/2006/main">
              <a:ext uri="{FF2B5EF4-FFF2-40B4-BE49-F238E27FC236}">
                <a16:creationId xmlns:a16="http://schemas.microsoft.com/office/drawing/2014/main" id="{2B57281E-E250-45C5-9D1E-B551BC1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で実装し、C の知識を土台にオブジェクトと責務を理解する。</a:t>
            </a:r>
          </a:p>
        </p:txBody>
      </p:sp>
    </p:spTree>
    <p:extLst>
      <p:ext uri="{BB962C8B-B14F-4D97-AF65-F5344CB8AC3E}">
        <p14:creationId xmlns:p14="http://schemas.microsoft.com/office/powerpoint/2010/main" val="1564020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個人作品：自己的 Python 套件">
            <a:extLst xmlns:a="http://schemas.openxmlformats.org/drawingml/2006/main">
              <a:ext uri="{FF2B5EF4-FFF2-40B4-BE49-F238E27FC236}">
                <a16:creationId xmlns:a16="http://schemas.microsoft.com/office/drawing/2014/main" id="{9F994F83-FFC9-46B1-AD88-5BCF4B9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発展：再利用可能な Python モジュール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BA19BD74-91D0-48CE-BA10-EE6FCA05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98178f1654fa5"/>
          <a:stretch xmlns:a="http://schemas.openxmlformats.org/drawingml/2006/main"/>
        </p:blipFill>
        <p:spPr>
          <a:xfrm xmlns:a="http://schemas.openxmlformats.org/drawingml/2006/main">
            <a:off x="6429375" y="1797844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4" name="讓同學能安裝， 也能依文件使用。">
            <a:extLst xmlns:a="http://schemas.openxmlformats.org/drawingml/2006/main">
              <a:ext uri="{FF2B5EF4-FFF2-40B4-BE49-F238E27FC236}">
                <a16:creationId xmlns:a16="http://schemas.microsoft.com/office/drawing/2014/main" id="{0B7A340A-BF3E-4E69-92C6-BB85D7B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役割を明確にした機能を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独立したモジュールにまとめ、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プロジェクトで利用する。</a:t>
            </a:r>
          </a:p>
        </p:txBody>
      </p:sp>
      <p:sp>
        <p:nvSpPr>
          <p:cNvPr id="5" name="一個明確用途 一套清楚的公開介面 一份可執行的使用範例">
            <a:extLst xmlns:a="http://schemas.openxmlformats.org/drawingml/2006/main">
              <a:ext uri="{FF2B5EF4-FFF2-40B4-BE49-F238E27FC236}">
                <a16:creationId xmlns:a16="http://schemas.microsoft.com/office/drawing/2014/main" id="{AC137D5C-8AD9-4EB9-9070-99EBBC8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5429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明確な公開 API と利用例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インストール可能なパッケージへの発展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TestPyPI と PyPI への公開練習</a:t>
            </a:r>
          </a:p>
        </p:txBody>
      </p:sp>
    </p:spTree>
    <p:extLst>
      <p:ext uri="{BB962C8B-B14F-4D97-AF65-F5344CB8AC3E}">
        <p14:creationId xmlns:p14="http://schemas.microsoft.com/office/powerpoint/2010/main" val="975670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模組、套件與發布">
            <a:extLst xmlns:a="http://schemas.openxmlformats.org/drawingml/2006/main">
              <a:ext uri="{FF2B5EF4-FFF2-40B4-BE49-F238E27FC236}">
                <a16:creationId xmlns:a16="http://schemas.microsoft.com/office/drawing/2014/main" id="{15572C5A-8F7B-4EA0-A380-4B7F6918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3つのプログラミングパラダイム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8209DDC0-F379-4BEB-9B65-B7EED83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模組 Module">
            <a:extLst xmlns:a="http://schemas.openxmlformats.org/drawingml/2006/main">
              <a:ext uri="{FF2B5EF4-FFF2-40B4-BE49-F238E27FC236}">
                <a16:creationId xmlns:a16="http://schemas.microsoft.com/office/drawing/2014/main" id="{27BE3E6A-B53E-4502-B10F-AD2D118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手続き型</a:t>
            </a:r>
          </a:p>
        </p:txBody>
      </p:sp>
      <p:sp>
        <p:nvSpPr>
          <p:cNvPr id="4" name="組織函式、類別與其他程式內容。">
            <a:extLst xmlns:a="http://schemas.openxmlformats.org/drawingml/2006/main">
              <a:ext uri="{FF2B5EF4-FFF2-40B4-BE49-F238E27FC236}">
                <a16:creationId xmlns:a16="http://schemas.microsoft.com/office/drawing/2014/main" id="{7BD25DA9-01C5-415D-9C12-68A1124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621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関数でデータを処理し、制御フローで操作をつなぐ。</a:t>
            </a:r>
          </a:p>
        </p:txBody>
      </p:sp>
      <p:sp>
        <p:nvSpPr>
          <p:cNvPr id="5" name="可安裝套件">
            <a:extLst xmlns:a="http://schemas.openxmlformats.org/drawingml/2006/main">
              <a:ext uri="{FF2B5EF4-FFF2-40B4-BE49-F238E27FC236}">
                <a16:creationId xmlns:a16="http://schemas.microsoft.com/office/drawing/2014/main" id="{67DA567C-D01B-4C68-801D-AB2B03D7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オブジェクト指向</a:t>
            </a:r>
          </a:p>
        </p:txBody>
      </p:sp>
      <p:sp>
        <p:nvSpPr>
          <p:cNvPr id="6" name="加入專案資訊、版本、相依需求與文件。">
            <a:extLst xmlns:a="http://schemas.openxmlformats.org/drawingml/2006/main">
              <a:ext uri="{FF2B5EF4-FFF2-40B4-BE49-F238E27FC236}">
                <a16:creationId xmlns:a16="http://schemas.microsoft.com/office/drawing/2014/main" id="{1C819318-EA31-4290-91C5-846D968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状態と振る舞いをオブジェクトにまとめ、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責務と協調を中心にシステムを構成する。</a:t>
            </a:r>
          </a:p>
        </p:txBody>
      </p:sp>
      <p:sp>
        <p:nvSpPr>
          <p:cNvPr id="7" name="PyPI">
            <a:extLst xmlns:a="http://schemas.openxmlformats.org/drawingml/2006/main">
              <a:ext uri="{FF2B5EF4-FFF2-40B4-BE49-F238E27FC236}">
                <a16:creationId xmlns:a16="http://schemas.microsoft.com/office/drawing/2014/main" id="{48C619FC-D48E-4B42-907E-E769B63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関数型</a:t>
            </a:r>
          </a:p>
        </p:txBody>
      </p:sp>
      <p:sp>
        <p:nvSpPr>
          <p:cNvPr id="8" name="發布套件，讓其他人透過 pip 安裝。">
            <a:extLst xmlns:a="http://schemas.openxmlformats.org/drawingml/2006/main">
              <a:ext uri="{FF2B5EF4-FFF2-40B4-BE49-F238E27FC236}">
                <a16:creationId xmlns:a16="http://schemas.microsoft.com/office/drawing/2014/main" id="{F52463E5-6B42-4F94-AD5F-0D23B19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053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純粋関数と不変データを重視し、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隠れた状態や副作用を減らす。</a:t>
            </a:r>
          </a:p>
        </p:txBody>
      </p:sp>
      <p:sp>
        <p:nvSpPr>
          <p:cNvPr id="9" name="套件的核心功能可以獨立使用，期末再接上 AI 助理。">
            <a:extLst xmlns:a="http://schemas.openxmlformats.org/drawingml/2006/main">
              <a:ext uri="{FF2B5EF4-FFF2-40B4-BE49-F238E27FC236}">
                <a16:creationId xmlns:a16="http://schemas.microsoft.com/office/drawing/2014/main" id="{59D0D177-32C7-456E-AAC8-5C26A33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問題に合う方法を選ぶ。1つのシステムで複数の方法を組み合わせられる。</a:t>
            </a:r>
          </a:p>
        </p:txBody>
      </p:sp>
    </p:spTree>
    <p:extLst>
      <p:ext uri="{BB962C8B-B14F-4D97-AF65-F5344CB8AC3E}">
        <p14:creationId xmlns:p14="http://schemas.microsoft.com/office/powerpoint/2010/main" val="1249921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個人套件的選題方向">
            <a:extLst xmlns:a="http://schemas.openxmlformats.org/drawingml/2006/main">
              <a:ext uri="{FF2B5EF4-FFF2-40B4-BE49-F238E27FC236}">
                <a16:creationId xmlns:a16="http://schemas.microsoft.com/office/drawing/2014/main" id="{C906C417-07F8-45EB-9A59-D92D539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同じ問題を比較：口座からの引き出し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1C798B61-F787-4B68-A067-82BA73F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38650"/>
                <a:gridCol w="40576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手続き型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オブジェクト指向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データの所在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口座の辞書や構造体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Account オブジェクトの属性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引き出しの呼び出し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withdraw(account, 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account.withdraw(250)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ルールの検証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関数が金額と残高を検証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メソッドが不変条件を維持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保守の焦点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制御フローとデータの調整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オブジェクトの責務と公開インターフェース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2638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套件要交付哪些內容？">
            <a:extLst xmlns:a="http://schemas.openxmlformats.org/drawingml/2006/main">
              <a:ext uri="{FF2B5EF4-FFF2-40B4-BE49-F238E27FC236}">
                <a16:creationId xmlns:a16="http://schemas.microsoft.com/office/drawing/2014/main" id="{4FABE4DE-320E-4FC9-B98D-B296460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最終プロジェクトの提出物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3C2FBDC4-5C85-40A5-868A-1248628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功能與介面">
            <a:extLst xmlns:a="http://schemas.openxmlformats.org/drawingml/2006/main">
              <a:ext uri="{FF2B5EF4-FFF2-40B4-BE49-F238E27FC236}">
                <a16:creationId xmlns:a16="http://schemas.microsoft.com/office/drawing/2014/main" id="{BB12CD7C-9D87-4960-AB63-C8DFB1C3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要件とコード</a:t>
            </a:r>
          </a:p>
        </p:txBody>
      </p:sp>
      <p:sp>
        <p:nvSpPr>
          <p:cNvPr id="4" name="明確的輸入、輸出與操作方式。">
            <a:extLst xmlns:a="http://schemas.openxmlformats.org/drawingml/2006/main">
              <a:ext uri="{FF2B5EF4-FFF2-40B4-BE49-F238E27FC236}">
                <a16:creationId xmlns:a16="http://schemas.microsoft.com/office/drawing/2014/main" id="{5F9DFA2D-B1B5-4C5C-91B8-92A8ECD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利用場面、機能範囲、実行可能なソースコード。</a:t>
            </a:r>
          </a:p>
        </p:txBody>
      </p:sp>
      <p:sp>
        <p:nvSpPr>
          <p:cNvPr id="5" name="使用文件">
            <a:extLst xmlns:a="http://schemas.openxmlformats.org/drawingml/2006/main">
              <a:ext uri="{FF2B5EF4-FFF2-40B4-BE49-F238E27FC236}">
                <a16:creationId xmlns:a16="http://schemas.microsoft.com/office/drawing/2014/main" id="{00EC3EB3-46DC-4C01-9ACB-D6DB313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設計資料</a:t>
            </a:r>
          </a:p>
        </p:txBody>
      </p:sp>
      <p:sp>
        <p:nvSpPr>
          <p:cNvPr id="6" name="安裝方式、最小範例與限制。">
            <a:extLst xmlns:a="http://schemas.openxmlformats.org/drawingml/2006/main">
              <a:ext uri="{FF2B5EF4-FFF2-40B4-BE49-F238E27FC236}">
                <a16:creationId xmlns:a16="http://schemas.microsoft.com/office/drawing/2014/main" id="{4F735FE3-BE30-420A-984F-09DED2A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コードと一致する UML。SOLID 原則またはデザインパターンを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1つ示し、それが解決する問題を説明。</a:t>
            </a:r>
          </a:p>
        </p:txBody>
      </p:sp>
      <p:sp>
        <p:nvSpPr>
          <p:cNvPr id="7" name="測試">
            <a:extLst xmlns:a="http://schemas.openxmlformats.org/drawingml/2006/main">
              <a:ext uri="{FF2B5EF4-FFF2-40B4-BE49-F238E27FC236}">
                <a16:creationId xmlns:a16="http://schemas.microsoft.com/office/drawing/2014/main" id="{3F1C1190-D0CB-4BDC-9E0B-10D7985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テストと振り返り</a:t>
            </a:r>
          </a:p>
        </p:txBody>
      </p:sp>
      <p:sp>
        <p:nvSpPr>
          <p:cNvPr id="8" name="正常、邊界與錯誤情境。">
            <a:extLst xmlns:a="http://schemas.openxmlformats.org/drawingml/2006/main">
              <a:ext uri="{FF2B5EF4-FFF2-40B4-BE49-F238E27FC236}">
                <a16:creationId xmlns:a16="http://schemas.microsoft.com/office/drawing/2014/main" id="{F5623F99-3FEA-42BF-82F6-AFC7503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テストケース、結果、残るリスク、個人の振り返り。</a:t>
            </a:r>
          </a:p>
        </p:txBody>
      </p:sp>
      <p:sp>
        <p:nvSpPr>
          <p:cNvPr id="9" name="發布資訊">
            <a:extLst xmlns:a="http://schemas.openxmlformats.org/drawingml/2006/main">
              <a:ext uri="{FF2B5EF4-FFF2-40B4-BE49-F238E27FC236}">
                <a16:creationId xmlns:a16="http://schemas.microsoft.com/office/drawing/2014/main" id="{42FB417D-D0BC-47D2-818A-BCE1037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実行環境と配置</a:t>
            </a:r>
          </a:p>
        </p:txBody>
      </p:sp>
      <p:sp>
        <p:nvSpPr>
          <p:cNvPr id="10" name="版本、相依需求、授權與更新紀錄。">
            <a:extLst xmlns:a="http://schemas.openxmlformats.org/drawingml/2006/main">
              <a:ext uri="{FF2B5EF4-FFF2-40B4-BE49-F238E27FC236}">
                <a16:creationId xmlns:a16="http://schemas.microsoft.com/office/drawing/2014/main" id="{A57DE241-8107-4E0D-9D4B-91E6341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README、変更履歴、URL または完全な起動手順。</a:t>
            </a:r>
          </a:p>
        </p:txBody>
      </p:sp>
    </p:spTree>
    <p:extLst>
      <p:ext uri="{BB962C8B-B14F-4D97-AF65-F5344CB8AC3E}">
        <p14:creationId xmlns:p14="http://schemas.microsoft.com/office/powerpoint/2010/main" val="606284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套件發布與修正">
            <a:extLst xmlns:a="http://schemas.openxmlformats.org/drawingml/2006/main">
              <a:ext uri="{FF2B5EF4-FFF2-40B4-BE49-F238E27FC236}">
                <a16:creationId xmlns:a16="http://schemas.microsoft.com/office/drawing/2014/main" id="{3CD61242-4CFA-408E-944D-337A974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個人プロジェクトの進め方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042A101-3175-4C61-92C1-F0F5125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ADC5E43-351A-4E29-80E9-93B12B3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完成基本功能">
            <a:extLst xmlns:a="http://schemas.openxmlformats.org/drawingml/2006/main">
              <a:ext uri="{FF2B5EF4-FFF2-40B4-BE49-F238E27FC236}">
                <a16:creationId xmlns:a16="http://schemas.microsoft.com/office/drawing/2014/main" id="{388A267C-2B7B-4EDB-8885-3363595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621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問題を定義する</a:t>
            </a:r>
          </a:p>
        </p:txBody>
      </p:sp>
      <p:sp>
        <p:nvSpPr>
          <p:cNvPr id="5" name="先在本機驗證用途與公開介面">
            <a:extLst xmlns:a="http://schemas.openxmlformats.org/drawingml/2006/main">
              <a:ext uri="{FF2B5EF4-FFF2-40B4-BE49-F238E27FC236}">
                <a16:creationId xmlns:a16="http://schemas.microsoft.com/office/drawing/2014/main" id="{38101E2B-E284-47AB-983F-C185D50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97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利用者、場面、検証可能な要件を整理する。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61938AF-328B-499D-B89C-3CEEA88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補上文件與測試">
            <a:extLst xmlns:a="http://schemas.openxmlformats.org/drawingml/2006/main">
              <a:ext uri="{FF2B5EF4-FFF2-40B4-BE49-F238E27FC236}">
                <a16:creationId xmlns:a16="http://schemas.microsoft.com/office/drawing/2014/main" id="{E769E7CA-DA2A-44AB-ACD5-42489EC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956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オブジェクトと API を設計する</a:t>
            </a:r>
          </a:p>
        </p:txBody>
      </p:sp>
      <p:sp>
        <p:nvSpPr>
          <p:cNvPr id="8" name="讓同學知道怎麼用、怎麼判斷結果">
            <a:extLst xmlns:a="http://schemas.openxmlformats.org/drawingml/2006/main">
              <a:ext uri="{FF2B5EF4-FFF2-40B4-BE49-F238E27FC236}">
                <a16:creationId xmlns:a16="http://schemas.microsoft.com/office/drawing/2014/main" id="{74102C40-3334-4747-891C-25333AA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432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責務、UML、相互作用の流れを説明する。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4124A66-D8E3-407A-BD68-8B1BBB3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發布到 TestPyPI">
            <a:extLst xmlns:a="http://schemas.openxmlformats.org/drawingml/2006/main">
              <a:ext uri="{FF2B5EF4-FFF2-40B4-BE49-F238E27FC236}">
                <a16:creationId xmlns:a16="http://schemas.microsoft.com/office/drawing/2014/main" id="{F6FD852F-6FF1-487F-B23F-44AE490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290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実装とテスト</a:t>
            </a:r>
          </a:p>
        </p:txBody>
      </p:sp>
      <p:sp>
        <p:nvSpPr>
          <p:cNvPr id="11" name="練習安裝與同儕試用">
            <a:extLst xmlns:a="http://schemas.openxmlformats.org/drawingml/2006/main">
              <a:ext uri="{FF2B5EF4-FFF2-40B4-BE49-F238E27FC236}">
                <a16:creationId xmlns:a16="http://schemas.microsoft.com/office/drawing/2014/main" id="{75BA1797-184E-4584-843F-C805C30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通常・境界・失敗の条件をテストし、改善する。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2E15F7F-FE93-4A72-8798-B03C5B9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修正並發布到 PyPI">
            <a:extLst xmlns:a="http://schemas.openxmlformats.org/drawingml/2006/main">
              <a:ext uri="{FF2B5EF4-FFF2-40B4-BE49-F238E27FC236}">
                <a16:creationId xmlns:a16="http://schemas.microsoft.com/office/drawing/2014/main" id="{BD1BD069-39EF-4BA6-A507-CFAE02E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7625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レビュー、発表、提出</a:t>
            </a:r>
          </a:p>
        </p:txBody>
      </p:sp>
      <p:sp>
        <p:nvSpPr>
          <p:cNvPr id="14" name="回應使用回饋，保留版本紀錄">
            <a:extLst xmlns:a="http://schemas.openxmlformats.org/drawingml/2006/main">
              <a:ext uri="{FF2B5EF4-FFF2-40B4-BE49-F238E27FC236}">
                <a16:creationId xmlns:a16="http://schemas.microsoft.com/office/drawing/2014/main" id="{B302EC46-936C-4086-93AA-5CC6799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01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第17週：設計レビュー。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第18週：必要な提出物を完成させる。</a:t>
            </a:r>
          </a:p>
        </p:txBody>
      </p:sp>
    </p:spTree>
    <p:extLst>
      <p:ext uri="{BB962C8B-B14F-4D97-AF65-F5344CB8AC3E}">
        <p14:creationId xmlns:p14="http://schemas.microsoft.com/office/powerpoint/2010/main" val="1239881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同學能用，就是重要的驗收">
            <a:extLst xmlns:a="http://schemas.openxmlformats.org/drawingml/2006/main">
              <a:ext uri="{FF2B5EF4-FFF2-40B4-BE49-F238E27FC236}">
                <a16:creationId xmlns:a16="http://schemas.microsoft.com/office/drawing/2014/main" id="{BE12F62C-6B32-441D-8CBC-382970E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再現可能性も完成条件の一部</a:t>
            </a:r>
            <a:endParaRPr sz="3300" b="1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39776095-24EC-46EB-A1E6-DBC954C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乾淨環境安裝 閱讀 README 呼叫公開介面">
            <a:extLst xmlns:a="http://schemas.openxmlformats.org/drawingml/2006/main">
              <a:ext uri="{FF2B5EF4-FFF2-40B4-BE49-F238E27FC236}">
                <a16:creationId xmlns:a16="http://schemas.microsoft.com/office/drawing/2014/main" id="{1216690C-267F-4AB5-BBE3-953C2C3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43100"/>
            <a:ext cx="10382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README に従い新しい環境で起動する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主要なユースケースを実行する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テストを実行して結果を確認する</a:t>
            </a:r>
          </a:p>
        </p:txBody>
      </p:sp>
      <p:sp>
        <p:nvSpPr>
          <p:cNvPr id="4" name="作者不代操作，同學不修改套件原始碼。 使用上的困難，成為下一個版本的改進依據。">
            <a:extLst xmlns:a="http://schemas.openxmlformats.org/drawingml/2006/main">
              <a:ext uri="{FF2B5EF4-FFF2-40B4-BE49-F238E27FC236}">
                <a16:creationId xmlns:a16="http://schemas.microsoft.com/office/drawing/2014/main" id="{6461A250-51DE-43D5-A9A2-CB94E48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76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6285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jango 與 MiniClaw 的分工">
            <a:extLst xmlns:a="http://schemas.openxmlformats.org/drawingml/2006/main">
              <a:ext uri="{FF2B5EF4-FFF2-40B4-BE49-F238E27FC236}">
                <a16:creationId xmlns:a16="http://schemas.microsoft.com/office/drawing/2014/main" id="{BAE173AD-E51A-4F3D-92D5-5275D7E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統合の例：Django と MiniClaw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DCE9A6FA-CB18-49FC-926D-1D0548F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7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63a17e7d249ac"/>
          <a:srcRect xmlns:a="http://schemas.openxmlformats.org/drawingml/2006/main" l="0" t="20137" r="0" b="20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" y="1638300"/>
            <a:ext cx="1133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LLM 模型">
            <a:extLst xmlns:a="http://schemas.openxmlformats.org/drawingml/2006/main">
              <a:ext uri="{FF2B5EF4-FFF2-40B4-BE49-F238E27FC236}">
                <a16:creationId xmlns:a16="http://schemas.microsoft.com/office/drawing/2014/main" id="{CC3B7B66-A108-4317-9C28-99450A5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287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5" name="Django 網頁">
            <a:extLst xmlns:a="http://schemas.openxmlformats.org/drawingml/2006/main">
              <a:ext uri="{FF2B5EF4-FFF2-40B4-BE49-F238E27FC236}">
                <a16:creationId xmlns:a16="http://schemas.microsoft.com/office/drawing/2014/main" id="{507433A6-0158-4328-A4FD-8B3D90F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Django Web アプリ</a:t>
            </a:r>
          </a:p>
        </p:txBody>
      </p:sp>
      <p:sp>
        <p:nvSpPr>
          <p:cNvPr id="6" name="接收輸入、顯示結果">
            <a:extLst xmlns:a="http://schemas.openxmlformats.org/drawingml/2006/main">
              <a:ext uri="{FF2B5EF4-FFF2-40B4-BE49-F238E27FC236}">
                <a16:creationId xmlns:a16="http://schemas.microsoft.com/office/drawing/2014/main" id="{E2F0663D-91BD-4E23-A72B-D3F4303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57875"/>
            <a:ext cx="2628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入力を受け付け、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結果を表示する</a:t>
            </a:r>
          </a:p>
        </p:txBody>
      </p:sp>
      <p:sp>
        <p:nvSpPr>
          <p:cNvPr id="7" name="助理核心">
            <a:extLst xmlns:a="http://schemas.openxmlformats.org/drawingml/2006/main">
              <a:ext uri="{FF2B5EF4-FFF2-40B4-BE49-F238E27FC236}">
                <a16:creationId xmlns:a16="http://schemas.microsoft.com/office/drawing/2014/main" id="{8B7AD7D9-472D-4800-B368-68FA4A5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アシスタントの中核</a:t>
            </a:r>
          </a:p>
        </p:txBody>
      </p:sp>
      <p:sp>
        <p:nvSpPr>
          <p:cNvPr id="8" name="協調模型與工具">
            <a:extLst xmlns:a="http://schemas.openxmlformats.org/drawingml/2006/main">
              <a:ext uri="{FF2B5EF4-FFF2-40B4-BE49-F238E27FC236}">
                <a16:creationId xmlns:a16="http://schemas.microsoft.com/office/drawing/2014/main" id="{4A499FBA-448C-4D7C-B418-3C6CE0E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57875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モデルとツールを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連携させる</a:t>
            </a:r>
          </a:p>
        </p:txBody>
      </p:sp>
      <p:sp>
        <p:nvSpPr>
          <p:cNvPr id="9" name="Python 套件">
            <a:extLst xmlns:a="http://schemas.openxmlformats.org/drawingml/2006/main">
              <a:ext uri="{FF2B5EF4-FFF2-40B4-BE49-F238E27FC236}">
                <a16:creationId xmlns:a16="http://schemas.microsoft.com/office/drawing/2014/main" id="{3295A853-4ED1-4BA1-81D3-D497E7C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Python パッケージ</a:t>
            </a:r>
          </a:p>
        </p:txBody>
      </p:sp>
      <p:sp>
        <p:nvSpPr>
          <p:cNvPr id="10" name="執行具體功能">
            <a:extLst xmlns:a="http://schemas.openxmlformats.org/drawingml/2006/main">
              <a:ext uri="{FF2B5EF4-FFF2-40B4-BE49-F238E27FC236}">
                <a16:creationId xmlns:a16="http://schemas.microsoft.com/office/drawing/2014/main" id="{CE58E52E-7AD3-4269-8559-CFF15A9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57875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特定の操作を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実行する</a:t>
            </a:r>
          </a:p>
        </p:txBody>
      </p:sp>
      <p:sp>
        <p:nvSpPr>
          <p:cNvPr id="11" name="資料庫">
            <a:extLst xmlns:a="http://schemas.openxmlformats.org/drawingml/2006/main">
              <a:ext uri="{FF2B5EF4-FFF2-40B4-BE49-F238E27FC236}">
                <a16:creationId xmlns:a16="http://schemas.microsoft.com/office/drawing/2014/main" id="{021D5986-123E-4C8B-B5E1-0628AFE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102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データベース</a:t>
            </a:r>
          </a:p>
        </p:txBody>
      </p:sp>
      <p:sp>
        <p:nvSpPr>
          <p:cNvPr id="12" name="保存資料與紀錄">
            <a:extLst xmlns:a="http://schemas.openxmlformats.org/drawingml/2006/main">
              <a:ext uri="{FF2B5EF4-FFF2-40B4-BE49-F238E27FC236}">
                <a16:creationId xmlns:a16="http://schemas.microsoft.com/office/drawing/2014/main" id="{9BFE0771-7239-45D8-9E13-C9520261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57875"/>
            <a:ext cx="2209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データとログを保存</a:t>
            </a:r>
          </a:p>
        </p:txBody>
      </p:sp>
    </p:spTree>
    <p:extLst>
      <p:ext uri="{BB962C8B-B14F-4D97-AF65-F5344CB8AC3E}">
        <p14:creationId xmlns:p14="http://schemas.microsoft.com/office/powerpoint/2010/main" val="7032777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jango 讓作品成為網站">
            <a:extLst xmlns:a="http://schemas.openxmlformats.org/drawingml/2006/main">
              <a:ext uri="{FF2B5EF4-FFF2-40B4-BE49-F238E27FC236}">
                <a16:creationId xmlns:a16="http://schemas.microsoft.com/office/drawing/2014/main" id="{8F91C909-9B3C-4309-BD1C-FCEBF9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と AI：補足的な統合実践</a:t>
            </a:r>
          </a:p>
        </p:txBody>
      </p:sp>
      <p:sp>
        <p:nvSpPr>
          <p:cNvPr id="2" name="網站平台與核心功能各有責任。">
            <a:extLst xmlns:a="http://schemas.openxmlformats.org/drawingml/2006/main">
              <a:ext uri="{FF2B5EF4-FFF2-40B4-BE49-F238E27FC236}">
                <a16:creationId xmlns:a16="http://schemas.microsoft.com/office/drawing/2014/main" id="{B06865B1-5036-4EA0-BB7B-E3CC9A2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第15週：Web とデータベース。第16週：LLM 連携と Linux への配置。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5BCE64EC-A93C-49E0-9D23-4412D4C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Django 負責">
            <a:extLst xmlns:a="http://schemas.openxmlformats.org/drawingml/2006/main">
              <a:ext uri="{FF2B5EF4-FFF2-40B4-BE49-F238E27FC236}">
                <a16:creationId xmlns:a16="http://schemas.microsoft.com/office/drawing/2014/main" id="{F8FCE2E6-F097-42E9-B7DA-E001B168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プラットフォームと外部サービス</a:t>
            </a:r>
          </a:p>
        </p:txBody>
      </p:sp>
      <p:sp>
        <p:nvSpPr>
          <p:cNvPr id="5" name="網頁請求與畫面 使用者登入 資料保存與管理">
            <a:extLst xmlns:a="http://schemas.openxmlformats.org/drawingml/2006/main">
              <a:ext uri="{FF2B5EF4-FFF2-40B4-BE49-F238E27FC236}">
                <a16:creationId xmlns:a16="http://schemas.microsoft.com/office/drawing/2014/main" id="{67414D85-26DB-4684-A392-0A29FD9A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Django Web アプリとデータベース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クラウド API または Ollama モデル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Linux 環境とデプロイ</a:t>
            </a:r>
          </a:p>
        </p:txBody>
      </p:sp>
      <p:sp>
        <p:nvSpPr>
          <p:cNvPr id="6" name="你設計的核心">
            <a:extLst xmlns:a="http://schemas.openxmlformats.org/drawingml/2006/main">
              <a:ext uri="{FF2B5EF4-FFF2-40B4-BE49-F238E27FC236}">
                <a16:creationId xmlns:a16="http://schemas.microsoft.com/office/drawing/2014/main" id="{F211364B-77DD-420D-9101-57083CC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自分で設計する中核部分</a:t>
            </a:r>
          </a:p>
        </p:txBody>
      </p:sp>
      <p:sp>
        <p:nvSpPr>
          <p:cNvPr id="7" name="工具操作規則 助理與模型的協作 可獨立執行的測試">
            <a:extLst xmlns:a="http://schemas.openxmlformats.org/drawingml/2006/main">
              <a:ext uri="{FF2B5EF4-FFF2-40B4-BE49-F238E27FC236}">
                <a16:creationId xmlns:a16="http://schemas.microsoft.com/office/drawing/2014/main" id="{4C766374-C06C-48BF-97A5-F5BE8A6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オブジェクトの責務と業務ルール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交換可能なプロバイダーとサービス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独立して実行できるテスト</a:t>
            </a:r>
          </a:p>
        </p:txBody>
      </p:sp>
      <p:sp>
        <p:nvSpPr>
          <p:cNvPr id="8" name="同一套核心，先從命令列使用，再接上網頁。">
            <a:extLst xmlns:a="http://schemas.openxmlformats.org/drawingml/2006/main">
              <a:ext uri="{FF2B5EF4-FFF2-40B4-BE49-F238E27FC236}">
                <a16:creationId xmlns:a16="http://schemas.microsoft.com/office/drawing/2014/main" id="{A317511A-D61E-4525-A7E9-8DEEFD4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テーマに合う連携を選ぶ。まず中核のロジックを独立して動作させる。</a:t>
            </a:r>
          </a:p>
        </p:txBody>
      </p:sp>
    </p:spTree>
    <p:extLst>
      <p:ext uri="{BB962C8B-B14F-4D97-AF65-F5344CB8AC3E}">
        <p14:creationId xmlns:p14="http://schemas.microsoft.com/office/powerpoint/2010/main" val="1372574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開發工具全貌">
            <a:extLst xmlns:a="http://schemas.openxmlformats.org/drawingml/2006/main">
              <a:ext uri="{FF2B5EF4-FFF2-40B4-BE49-F238E27FC236}">
                <a16:creationId xmlns:a16="http://schemas.microsoft.com/office/drawing/2014/main" id="{5013B04A-4CEE-4936-927C-49E4C89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開発に使うツール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BB2CD2EA-E658-4C67-9C71-F1A509C1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305300"/>
                <a:gridCol w="4305300"/>
              </a:tblGrid>
              <a:tr h="7581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作業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ツール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実装・デバッグ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Python、エディタ、デバッガ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コードとオブジェクトの状態を調べる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分析・設計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UML、CRC カード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責務、関連、相互作用を表す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版管理・品質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Git、テスト、型チェックツール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変更を追跡し、動作を検証する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提出・統合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パッケージ、Web アプリ、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モデルサービス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結果を再現し、外部機能と連携する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56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A65243F2-E2A0-4738-85FB-EF65B66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2d6b2818249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你的工具構想">
            <a:extLst xmlns:a="http://schemas.openxmlformats.org/drawingml/2006/main">
              <a:ext uri="{FF2B5EF4-FFF2-40B4-BE49-F238E27FC236}">
                <a16:creationId xmlns:a16="http://schemas.microsoft.com/office/drawing/2014/main" id="{DDDA2A20-A42D-4F17-9951-B01FB68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プロジェクトのアイデア</a:t>
            </a:r>
          </a:p>
        </p:txBody>
      </p:sp>
      <p:sp>
        <p:nvSpPr>
          <p:cNvPr id="4" name="你想讓自己的助理 多具備哪一種能力？">
            <a:extLst xmlns:a="http://schemas.openxmlformats.org/drawingml/2006/main">
              <a:ext uri="{FF2B5EF4-FFF2-40B4-BE49-F238E27FC236}">
                <a16:creationId xmlns:a16="http://schemas.microsoft.com/office/drawing/2014/main" id="{3DBF4626-7876-4D0F-AD1A-614FA08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オブジェクト指向設計で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どのような問題を解決しますか</a:t>
            </a:r>
          </a:p>
        </p:txBody>
      </p:sp>
      <p:sp>
        <p:nvSpPr>
          <p:cNvPr id="5" name="從課業、實驗室或生活中的 一個具體問題開始。">
            <a:extLst xmlns:a="http://schemas.openxmlformats.org/drawingml/2006/main">
              <a:ext uri="{FF2B5EF4-FFF2-40B4-BE49-F238E27FC236}">
                <a16:creationId xmlns:a16="http://schemas.microsoft.com/office/drawing/2014/main" id="{8F73EA2E-5447-4DB5-AE53-BE009A3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学習、研究室での作業、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日常生活にある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具体的な問題を考える。</a:t>
            </a:r>
          </a:p>
        </p:txBody>
      </p:sp>
      <p:sp>
        <p:nvSpPr>
          <p:cNvPr id="6" name="想一想，再與鄰座交流。">
            <a:extLst xmlns:a="http://schemas.openxmlformats.org/drawingml/2006/main">
              <a:ext uri="{FF2B5EF4-FFF2-40B4-BE49-F238E27FC236}">
                <a16:creationId xmlns:a16="http://schemas.microsoft.com/office/drawing/2014/main" id="{105BEFA7-D989-45F1-8D22-13E38F1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endParaRPr sz="1950" b="0">
              <a:solidFill>
                <a:srgbClr val="5B6D73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757249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個值得實作的需求">
            <a:extLst xmlns:a="http://schemas.openxmlformats.org/drawingml/2006/main">
              <a:ext uri="{FF2B5EF4-FFF2-40B4-BE49-F238E27FC236}">
                <a16:creationId xmlns:a16="http://schemas.microsoft.com/office/drawing/2014/main" id="{9DFE4D62-19EC-4354-ABFE-141E359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実装する価値のある要件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02D4F4B7-423D-44D9-8ED4-1FEE845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使用者">
            <a:extLst xmlns:a="http://schemas.openxmlformats.org/drawingml/2006/main">
              <a:ext uri="{FF2B5EF4-FFF2-40B4-BE49-F238E27FC236}">
                <a16:creationId xmlns:a16="http://schemas.microsoft.com/office/drawing/2014/main" id="{270126D1-99CB-460C-905B-C6AFD73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4" name="誰會用？現在遇到什麼問題？">
            <a:extLst xmlns:a="http://schemas.openxmlformats.org/drawingml/2006/main">
              <a:ext uri="{FF2B5EF4-FFF2-40B4-BE49-F238E27FC236}">
                <a16:creationId xmlns:a16="http://schemas.microsoft.com/office/drawing/2014/main" id="{C0F70B9A-34F2-4535-A1DA-5F2187E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716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誰が使い、どのような問題を抱えていますか。</a:t>
            </a:r>
          </a:p>
        </p:txBody>
      </p:sp>
      <p:sp>
        <p:nvSpPr>
          <p:cNvPr id="5" name="要求">
            <a:extLst xmlns:a="http://schemas.openxmlformats.org/drawingml/2006/main">
              <a:ext uri="{FF2B5EF4-FFF2-40B4-BE49-F238E27FC236}">
                <a16:creationId xmlns:a16="http://schemas.microsoft.com/office/drawing/2014/main" id="{8DB4BE20-15FC-404B-A57E-B72E4E2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依頼内容</a:t>
            </a:r>
          </a:p>
        </p:txBody>
      </p:sp>
      <p:sp>
        <p:nvSpPr>
          <p:cNvPr id="6" name="使用者會怎麼說？">
            <a:extLst xmlns:a="http://schemas.openxmlformats.org/drawingml/2006/main">
              <a:ext uri="{FF2B5EF4-FFF2-40B4-BE49-F238E27FC236}">
                <a16:creationId xmlns:a16="http://schemas.microsoft.com/office/drawing/2014/main" id="{B63F6073-7B28-406A-B596-3B584F3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利用者はどのように依頼しますか。</a:t>
            </a:r>
          </a:p>
        </p:txBody>
      </p:sp>
      <p:sp>
        <p:nvSpPr>
          <p:cNvPr id="7" name="資料">
            <a:extLst xmlns:a="http://schemas.openxmlformats.org/drawingml/2006/main">
              <a:ext uri="{FF2B5EF4-FFF2-40B4-BE49-F238E27FC236}">
                <a16:creationId xmlns:a16="http://schemas.microsoft.com/office/drawing/2014/main" id="{CA3AF99F-0583-4746-8476-C3616EB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8" name="需要讀取或改變哪些資訊？">
            <a:extLst xmlns:a="http://schemas.openxmlformats.org/drawingml/2006/main">
              <a:ext uri="{FF2B5EF4-FFF2-40B4-BE49-F238E27FC236}">
                <a16:creationId xmlns:a16="http://schemas.microsoft.com/office/drawing/2014/main" id="{F0A43ABE-FEC2-42A0-99BD-4ACCCEB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何の情報を読み取り、変更する必要がありますか。</a:t>
            </a:r>
          </a:p>
        </p:txBody>
      </p:sp>
      <p:sp>
        <p:nvSpPr>
          <p:cNvPr id="9" name="失敗情境">
            <a:extLst xmlns:a="http://schemas.openxmlformats.org/drawingml/2006/main">
              <a:ext uri="{FF2B5EF4-FFF2-40B4-BE49-F238E27FC236}">
                <a16:creationId xmlns:a16="http://schemas.microsoft.com/office/drawing/2014/main" id="{F1B3D73B-6750-4C72-B4F0-E170108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失敗する場面</a:t>
            </a:r>
          </a:p>
        </p:txBody>
      </p:sp>
      <p:sp>
        <p:nvSpPr>
          <p:cNvPr id="10" name="什麼情況可能無法完成？">
            <a:extLst xmlns:a="http://schemas.openxmlformats.org/drawingml/2006/main">
              <a:ext uri="{FF2B5EF4-FFF2-40B4-BE49-F238E27FC236}">
                <a16:creationId xmlns:a16="http://schemas.microsoft.com/office/drawing/2014/main" id="{A7DCA6C0-9AA1-4A6D-AD16-4A9600E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720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何が処理の成功を妨げる可能性がありますか。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5885203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課程評量">
            <a:extLst xmlns:a="http://schemas.openxmlformats.org/drawingml/2006/main">
              <a:ext uri="{FF2B5EF4-FFF2-40B4-BE49-F238E27FC236}">
                <a16:creationId xmlns:a16="http://schemas.microsoft.com/office/drawing/2014/main" id="{408AB78A-DA64-4793-9056-B20829F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成績評価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EC96D8F9-D621-4012-A166-2B340339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30%">
            <a:extLst xmlns:a="http://schemas.openxmlformats.org/drawingml/2006/main">
              <a:ext uri="{FF2B5EF4-FFF2-40B4-BE49-F238E27FC236}">
                <a16:creationId xmlns:a16="http://schemas.microsoft.com/office/drawing/2014/main" id="{80019E59-8BAD-4E54-831B-DD9166D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4" name="出席及平時成績">
            <a:extLst xmlns:a="http://schemas.openxmlformats.org/drawingml/2006/main">
              <a:ext uri="{FF2B5EF4-FFF2-40B4-BE49-F238E27FC236}">
                <a16:creationId xmlns:a16="http://schemas.microsoft.com/office/drawing/2014/main" id="{64030BF2-FEAA-46FB-9E94-603C5BF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3276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出席・平常の課題</a:t>
            </a:r>
          </a:p>
        </p:txBody>
      </p:sp>
      <p:sp>
        <p:nvSpPr>
          <p:cNvPr id="5" name="30%">
            <a:extLst xmlns:a="http://schemas.openxmlformats.org/drawingml/2006/main">
              <a:ext uri="{FF2B5EF4-FFF2-40B4-BE49-F238E27FC236}">
                <a16:creationId xmlns:a16="http://schemas.microsoft.com/office/drawing/2014/main" id="{B71FE668-57CC-4EC6-ADC3-B1FEC1B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6" name="期中考試">
            <a:extLst xmlns:a="http://schemas.openxmlformats.org/drawingml/2006/main">
              <a:ext uri="{FF2B5EF4-FFF2-40B4-BE49-F238E27FC236}">
                <a16:creationId xmlns:a16="http://schemas.microsoft.com/office/drawing/2014/main" id="{BEE49FD1-F329-4DF9-81D4-7924542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中間試験</a:t>
            </a:r>
          </a:p>
        </p:txBody>
      </p:sp>
      <p:sp>
        <p:nvSpPr>
          <p:cNvPr id="7" name="40%">
            <a:extLst xmlns:a="http://schemas.openxmlformats.org/drawingml/2006/main">
              <a:ext uri="{FF2B5EF4-FFF2-40B4-BE49-F238E27FC236}">
                <a16:creationId xmlns:a16="http://schemas.microsoft.com/office/drawing/2014/main" id="{0ADDFFAE-7934-46B4-923A-AA4EF99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8" name="期末專題">
            <a:extLst xmlns:a="http://schemas.openxmlformats.org/drawingml/2006/main">
              <a:ext uri="{FF2B5EF4-FFF2-40B4-BE49-F238E27FC236}">
                <a16:creationId xmlns:a16="http://schemas.microsoft.com/office/drawing/2014/main" id="{A7B4D364-0C29-45BC-8328-ADEC8AC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最終プロジェクト</a:t>
            </a:r>
          </a:p>
        </p:txBody>
      </p:sp>
      <p:sp>
        <p:nvSpPr>
          <p:cNvPr id="9" name="第九週期中筆試。 套件作業、分組方式與細部評分標準另行公告。">
            <a:extLst xmlns:a="http://schemas.openxmlformats.org/drawingml/2006/main">
              <a:ext uri="{FF2B5EF4-FFF2-40B4-BE49-F238E27FC236}">
                <a16:creationId xmlns:a16="http://schemas.microsoft.com/office/drawing/2014/main" id="{2FEE31A5-BD23-4710-8CB2-A2AD09C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第9週に筆記の中間試験。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課題と評価基準の詳細は別途案内。</a:t>
            </a:r>
          </a:p>
        </p:txBody>
      </p:sp>
    </p:spTree>
    <p:extLst>
      <p:ext uri="{BB962C8B-B14F-4D97-AF65-F5344CB8AC3E}">
        <p14:creationId xmlns:p14="http://schemas.microsoft.com/office/powerpoint/2010/main" val="2638932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輔助使用原則">
            <a:extLst xmlns:a="http://schemas.openxmlformats.org/drawingml/2006/main">
              <a:ext uri="{FF2B5EF4-FFF2-40B4-BE49-F238E27FC236}">
                <a16:creationId xmlns:a16="http://schemas.microsoft.com/office/drawing/2014/main" id="{056FA843-E0DE-4327-BB83-8E42DB2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AI 支援の利用方針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0A424CD7-DFD7-4425-8FF8-C72C98D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可以協助">
            <a:extLst xmlns:a="http://schemas.openxmlformats.org/drawingml/2006/main">
              <a:ext uri="{FF2B5EF4-FFF2-40B4-BE49-F238E27FC236}">
                <a16:creationId xmlns:a16="http://schemas.microsoft.com/office/drawing/2014/main" id="{B36AFA19-1421-488E-9E61-E6A85B95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AI を活用できること</a:t>
            </a:r>
          </a:p>
        </p:txBody>
      </p:sp>
      <p:sp>
        <p:nvSpPr>
          <p:cNvPr id="4" name="理解概念與程式 除錯、比較方案 提出測試情境">
            <a:extLst xmlns:a="http://schemas.openxmlformats.org/drawingml/2006/main">
              <a:ext uri="{FF2B5EF4-FFF2-40B4-BE49-F238E27FC236}">
                <a16:creationId xmlns:a16="http://schemas.microsoft.com/office/drawing/2014/main" id="{B7857B4D-B30C-4FFE-B8FE-44E5A0A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概念やコードの理解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デバッグと方法の比較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テスト場面の提案</a:t>
            </a:r>
          </a:p>
        </p:txBody>
      </p:sp>
      <p:sp>
        <p:nvSpPr>
          <p:cNvPr id="5" name="提交者的責任">
            <a:extLst xmlns:a="http://schemas.openxmlformats.org/drawingml/2006/main">
              <a:ext uri="{FF2B5EF4-FFF2-40B4-BE49-F238E27FC236}">
                <a16:creationId xmlns:a16="http://schemas.microsoft.com/office/drawing/2014/main" id="{AA85E9A0-A807-4487-BD86-CF4A299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自分で責任を持つこと</a:t>
            </a:r>
          </a:p>
        </p:txBody>
      </p:sp>
      <p:sp>
        <p:nvSpPr>
          <p:cNvPr id="6" name="說明程式如何運作 驗證結果與限制 完成指定修改">
            <a:extLst xmlns:a="http://schemas.openxmlformats.org/drawingml/2006/main">
              <a:ext uri="{FF2B5EF4-FFF2-40B4-BE49-F238E27FC236}">
                <a16:creationId xmlns:a16="http://schemas.microsoft.com/office/drawing/2014/main" id="{D7A2A52A-FB9B-4F5A-9011-CCC8E89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コードの動作を説明する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結果と限界を検証する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必要な変更を行う</a:t>
            </a:r>
          </a:p>
        </p:txBody>
      </p:sp>
      <p:sp>
        <p:nvSpPr>
          <p:cNvPr id="7" name="作業簡述 AI 協助的部分，以及你如何檢查結果。">
            <a:extLst xmlns:a="http://schemas.openxmlformats.org/drawingml/2006/main">
              <a:ext uri="{FF2B5EF4-FFF2-40B4-BE49-F238E27FC236}">
                <a16:creationId xmlns:a16="http://schemas.microsoft.com/office/drawing/2014/main" id="{2FE6547C-66C2-464D-8B5E-346CEF2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00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55361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教材與課程聯繫">
            <a:extLst xmlns:a="http://schemas.openxmlformats.org/drawingml/2006/main">
              <a:ext uri="{FF2B5EF4-FFF2-40B4-BE49-F238E27FC236}">
                <a16:creationId xmlns:a16="http://schemas.microsoft.com/office/drawing/2014/main" id="{75330A73-1C93-4950-8345-31C9610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授業資料と連絡先</a:t>
            </a:r>
          </a:p>
        </p:txBody>
      </p:sp>
      <p:sp>
        <p:nvSpPr>
          <p:cNvPr id="2" name="27">
            <a:extLst xmlns:a="http://schemas.openxmlformats.org/drawingml/2006/main">
              <a:ext uri="{FF2B5EF4-FFF2-40B4-BE49-F238E27FC236}">
                <a16:creationId xmlns:a16="http://schemas.microsoft.com/office/drawing/2014/main" id="{4AA800BE-0894-410D-91C7-26A4626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" name="課程教材網站">
            <a:extLst xmlns:a="http://schemas.openxmlformats.org/drawingml/2006/main">
              <a:ext uri="{FF2B5EF4-FFF2-40B4-BE49-F238E27FC236}">
                <a16:creationId xmlns:a16="http://schemas.microsoft.com/office/drawing/2014/main" id="{6E54E5C1-0662-488C-8B02-483BA5F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授業資料</a:t>
            </a:r>
          </a:p>
        </p:txBody>
      </p:sp>
      <p:sp>
        <p:nvSpPr>
          <p:cNvPr id="4" name="minhuangyuntech.github.io/oo2026">
            <a:extLst xmlns:a="http://schemas.openxmlformats.org/drawingml/2006/main">
              <a:ext uri="{FF2B5EF4-FFF2-40B4-BE49-F238E27FC236}">
                <a16:creationId xmlns:a16="http://schemas.microsoft.com/office/drawing/2014/main" id="{1B966EB6-AAEE-4BCE-BE0C-540EB9FC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0f3efd2519944131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a7c7cdeb0f1400f"/>
              </a:rPr>
              <a:t>minhuangyuntech.github.io/oo2026</a:t>
            </a:r>
          </a:p>
        </p:txBody>
      </p:sp>
      <p:sp>
        <p:nvSpPr>
          <p:cNvPr id="5" name="課程平台">
            <a:extLst xmlns:a="http://schemas.openxmlformats.org/drawingml/2006/main">
              <a:ext uri="{FF2B5EF4-FFF2-40B4-BE49-F238E27FC236}">
                <a16:creationId xmlns:a16="http://schemas.microsoft.com/office/drawing/2014/main" id="{537AFF1E-7508-4A84-8466-2A749B8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授業プラットフォーム</a:t>
            </a:r>
          </a:p>
        </p:txBody>
      </p:sp>
      <p:sp>
        <p:nvSpPr>
          <p:cNvPr id="6" name="eclass.yuntech.edu.tw">
            <a:extLst xmlns:a="http://schemas.openxmlformats.org/drawingml/2006/main">
              <a:ext uri="{FF2B5EF4-FFF2-40B4-BE49-F238E27FC236}">
                <a16:creationId xmlns:a16="http://schemas.microsoft.com/office/drawing/2014/main" id="{7905FBF9-89D6-42E3-BF4B-C4648B4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3151c006f654b20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09b0c6983bc4b65"/>
              </a:rPr>
              <a:t>eclass.yuntech.edu.tw</a:t>
            </a:r>
          </a:p>
        </p:txBody>
      </p:sp>
      <p:sp>
        <p:nvSpPr>
          <p:cNvPr id="7" name="何敏煌　minhuang@yuntech.edu.tw 課業輔導：週三 10:00–12:00，需預約">
            <a:extLst xmlns:a="http://schemas.openxmlformats.org/drawingml/2006/main">
              <a:ext uri="{FF2B5EF4-FFF2-40B4-BE49-F238E27FC236}">
                <a16:creationId xmlns:a16="http://schemas.microsoft.com/office/drawing/2014/main" id="{9A891CC1-4038-400C-BA99-8B5FAAB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何敏煌（Min-Huang Ho）  minhuang@yuntech.edu.tw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面談時間：水曜 10:00–12:00、事前予約制</a:t>
            </a:r>
          </a:p>
        </p:txBody>
      </p:sp>
    </p:spTree>
    <p:extLst>
      <p:ext uri="{BB962C8B-B14F-4D97-AF65-F5344CB8AC3E}">
        <p14:creationId xmlns:p14="http://schemas.microsoft.com/office/powerpoint/2010/main" val="1545292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第二週：物件導向的理論與工具">
            <a:extLst xmlns:a="http://schemas.openxmlformats.org/drawingml/2006/main">
              <a:ext uri="{FF2B5EF4-FFF2-40B4-BE49-F238E27FC236}">
                <a16:creationId xmlns:a16="http://schemas.microsoft.com/office/drawing/2014/main" id="{26AA6B1C-F90A-497A-9683-FFAEFA7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第2週：Python の基礎を復習</a:t>
            </a:r>
          </a:p>
        </p:txBody>
      </p:sp>
      <p:sp>
        <p:nvSpPr>
          <p:cNvPr id="2" name="29">
            <a:extLst xmlns:a="http://schemas.openxmlformats.org/drawingml/2006/main">
              <a:ext uri="{FF2B5EF4-FFF2-40B4-BE49-F238E27FC236}">
                <a16:creationId xmlns:a16="http://schemas.microsoft.com/office/drawing/2014/main" id="{0E8DE15F-F0BE-413F-A412-E183FC2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" name="程式設計典範">
            <a:extLst xmlns:a="http://schemas.openxmlformats.org/drawingml/2006/main">
              <a:ext uri="{FF2B5EF4-FFF2-40B4-BE49-F238E27FC236}">
                <a16:creationId xmlns:a16="http://schemas.microsoft.com/office/drawing/2014/main" id="{E62BC9A6-D96D-4B07-B656-4C30D19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データと制御フロー</a:t>
            </a:r>
          </a:p>
        </p:txBody>
      </p:sp>
      <p:sp>
        <p:nvSpPr>
          <p:cNvPr id="4" name="程序式與物件導向的觀點。">
            <a:extLst xmlns:a="http://schemas.openxmlformats.org/drawingml/2006/main">
              <a:ext uri="{FF2B5EF4-FFF2-40B4-BE49-F238E27FC236}">
                <a16:creationId xmlns:a16="http://schemas.microsoft.com/office/drawing/2014/main" id="{D086987A-31C9-4D38-9DDA-DA6A251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データ型、演算子、条件分岐、ループ。</a:t>
            </a:r>
          </a:p>
        </p:txBody>
      </p:sp>
      <p:sp>
        <p:nvSpPr>
          <p:cNvPr id="5" name="傳統 OOP 基礎">
            <a:extLst xmlns:a="http://schemas.openxmlformats.org/drawingml/2006/main">
              <a:ext uri="{FF2B5EF4-FFF2-40B4-BE49-F238E27FC236}">
                <a16:creationId xmlns:a16="http://schemas.microsoft.com/office/drawing/2014/main" id="{DF65A938-21A2-4F5C-A6D9-1319B84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関数と引数</a:t>
            </a:r>
          </a:p>
        </p:txBody>
      </p:sp>
      <p:sp>
        <p:nvSpPr>
          <p:cNvPr id="6" name="類別、物件與核心概念。">
            <a:extLst xmlns:a="http://schemas.openxmlformats.org/drawingml/2006/main">
              <a:ext uri="{FF2B5EF4-FFF2-40B4-BE49-F238E27FC236}">
                <a16:creationId xmlns:a16="http://schemas.microsoft.com/office/drawing/2014/main" id="{9698B67C-C31B-4ADD-8DF0-DEDC366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関数、スコープ、引数の受け渡し、戻り値。</a:t>
            </a:r>
          </a:p>
        </p:txBody>
      </p:sp>
      <p:sp>
        <p:nvSpPr>
          <p:cNvPr id="7" name="分析、設計與實作">
            <a:extLst xmlns:a="http://schemas.openxmlformats.org/drawingml/2006/main">
              <a:ext uri="{FF2B5EF4-FFF2-40B4-BE49-F238E27FC236}">
                <a16:creationId xmlns:a16="http://schemas.microsoft.com/office/drawing/2014/main" id="{2477BED6-E736-4F5B-ACE9-365CE91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8" name="OOA、OOD、OOP 的差異與關係。">
            <a:extLst xmlns:a="http://schemas.openxmlformats.org/drawingml/2006/main">
              <a:ext uri="{FF2B5EF4-FFF2-40B4-BE49-F238E27FC236}">
                <a16:creationId xmlns:a16="http://schemas.microsoft.com/office/drawing/2014/main" id="{7A3BBAB8-3599-4114-9B19-611EF06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004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list、tuple、dict、set、内包表記。</a:t>
            </a:r>
          </a:p>
        </p:txBody>
      </p:sp>
      <p:sp>
        <p:nvSpPr>
          <p:cNvPr id="9" name="開發與設計工具">
            <a:extLst xmlns:a="http://schemas.openxmlformats.org/drawingml/2006/main">
              <a:ext uri="{FF2B5EF4-FFF2-40B4-BE49-F238E27FC236}">
                <a16:creationId xmlns:a16="http://schemas.microsoft.com/office/drawing/2014/main" id="{DFB157F3-CBFD-4569-B00E-1370376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 から Python へ</a:t>
            </a:r>
          </a:p>
        </p:txBody>
      </p:sp>
      <p:sp>
        <p:nvSpPr>
          <p:cNvPr id="10" name="編輯、除錯與設計表達。">
            <a:extLst xmlns:a="http://schemas.openxmlformats.org/drawingml/2006/main">
              <a:ext uri="{FF2B5EF4-FFF2-40B4-BE49-F238E27FC236}">
                <a16:creationId xmlns:a16="http://schemas.microsoft.com/office/drawing/2014/main" id="{DE3F32B3-34BC-4C90-A37B-C57BE72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958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文法と実行モデルを比較する。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関数とコンテナを使って小さなプログラムを書き直す。</a:t>
            </a:r>
          </a:p>
        </p:txBody>
      </p:sp>
    </p:spTree>
    <p:extLst>
      <p:ext uri="{BB962C8B-B14F-4D97-AF65-F5344CB8AC3E}">
        <p14:creationId xmlns:p14="http://schemas.microsoft.com/office/powerpoint/2010/main" val="107356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2026-09-16T09:35:24.7630000Z</dcterms:created>
  <dcterms:modified xsi:type="dcterms:W3CDTF">2026-09-16T09:35:24.7630000Z</dcterms:modified>
</coreProperties>
</file>