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6c3e6539f40e8" /><Relationship Type="http://schemas.openxmlformats.org/officeDocument/2006/relationships/extended-properties" Target="/docProps/app.xml" Id="R4ee6b75698b04e4b" /><Relationship Type="http://schemas.openxmlformats.org/officeDocument/2006/relationships/officeDocument" Target="/ppt/presentation.xml" Id="Rf828294e06cf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e878365e54884"/>
  </p:sldMasterIdLst>
  <p:notesMasterIdLst>
    <p:notesMasterId xmlns:r="http://schemas.openxmlformats.org/officeDocument/2006/relationships" r:id="Ra23fc05332b54736"/>
  </p:notesMasterIdLst>
  <p:sldIdLst>
    <p:sldId xmlns:r="http://schemas.openxmlformats.org/officeDocument/2006/relationships" id="256" r:id="R2bdbf44377874081"/>
    <p:sldId xmlns:r="http://schemas.openxmlformats.org/officeDocument/2006/relationships" id="257" r:id="R6eb914cf07694699"/>
    <p:sldId xmlns:r="http://schemas.openxmlformats.org/officeDocument/2006/relationships" id="258" r:id="R80b5bb5216cd45dd"/>
    <p:sldId xmlns:r="http://schemas.openxmlformats.org/officeDocument/2006/relationships" id="259" r:id="R63f0306c1eec4c5f"/>
    <p:sldId xmlns:r="http://schemas.openxmlformats.org/officeDocument/2006/relationships" id="260" r:id="Ra4e47d9129344a95"/>
    <p:sldId xmlns:r="http://schemas.openxmlformats.org/officeDocument/2006/relationships" id="261" r:id="R14d47610dbcb4f31"/>
    <p:sldId xmlns:r="http://schemas.openxmlformats.org/officeDocument/2006/relationships" id="262" r:id="R07888cc517614bf0"/>
    <p:sldId xmlns:r="http://schemas.openxmlformats.org/officeDocument/2006/relationships" id="263" r:id="Rf8b33262482a44d0"/>
    <p:sldId xmlns:r="http://schemas.openxmlformats.org/officeDocument/2006/relationships" id="264" r:id="Rb0544cb76803443a"/>
    <p:sldId xmlns:r="http://schemas.openxmlformats.org/officeDocument/2006/relationships" id="265" r:id="R3ff2f470e1d64f8d"/>
    <p:sldId xmlns:r="http://schemas.openxmlformats.org/officeDocument/2006/relationships" id="266" r:id="R92c5fb00d69f4dfa"/>
    <p:sldId xmlns:r="http://schemas.openxmlformats.org/officeDocument/2006/relationships" id="267" r:id="Rc97e2cc7d9644434"/>
    <p:sldId xmlns:r="http://schemas.openxmlformats.org/officeDocument/2006/relationships" id="268" r:id="R6fba753b7e7945b7"/>
    <p:sldId xmlns:r="http://schemas.openxmlformats.org/officeDocument/2006/relationships" id="269" r:id="R47055cc160d04ed2"/>
    <p:sldId xmlns:r="http://schemas.openxmlformats.org/officeDocument/2006/relationships" id="270" r:id="R0fc28ba354774221"/>
    <p:sldId xmlns:r="http://schemas.openxmlformats.org/officeDocument/2006/relationships" id="271" r:id="R978439b306654c8d"/>
    <p:sldId xmlns:r="http://schemas.openxmlformats.org/officeDocument/2006/relationships" id="272" r:id="Rc1ac839181684e86"/>
    <p:sldId xmlns:r="http://schemas.openxmlformats.org/officeDocument/2006/relationships" id="273" r:id="Ree7ff3d54c2d4901"/>
    <p:sldId xmlns:r="http://schemas.openxmlformats.org/officeDocument/2006/relationships" id="274" r:id="Rc6bb3d42dfbb4a27"/>
    <p:sldId xmlns:r="http://schemas.openxmlformats.org/officeDocument/2006/relationships" id="275" r:id="R259c63cb742d44d7"/>
    <p:sldId xmlns:r="http://schemas.openxmlformats.org/officeDocument/2006/relationships" id="276" r:id="Rbbdeeed1b6634afd"/>
    <p:sldId xmlns:r="http://schemas.openxmlformats.org/officeDocument/2006/relationships" id="277" r:id="R57d09de9238645af"/>
    <p:sldId xmlns:r="http://schemas.openxmlformats.org/officeDocument/2006/relationships" id="278" r:id="R4ef1ecb31e8c44aa"/>
    <p:sldId xmlns:r="http://schemas.openxmlformats.org/officeDocument/2006/relationships" id="279" r:id="Rb69d9167b32b47a6"/>
    <p:sldId xmlns:r="http://schemas.openxmlformats.org/officeDocument/2006/relationships" id="280" r:id="R205ad255889948bf"/>
    <p:sldId xmlns:r="http://schemas.openxmlformats.org/officeDocument/2006/relationships" id="281" r:id="R7977066e148e4dab"/>
    <p:sldId xmlns:r="http://schemas.openxmlformats.org/officeDocument/2006/relationships" id="282" r:id="R066efaa7dd634db2"/>
    <p:sldId xmlns:r="http://schemas.openxmlformats.org/officeDocument/2006/relationships" id="283" r:id="Rc3f9cb2a352849e6"/>
    <p:sldId xmlns:r="http://schemas.openxmlformats.org/officeDocument/2006/relationships" id="284" r:id="R3005e04c229f476c"/>
    <p:sldId xmlns:r="http://schemas.openxmlformats.org/officeDocument/2006/relationships" id="285" r:id="Raa817b3797f34f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1346e29b7c4134" /><Relationship Type="http://schemas.openxmlformats.org/officeDocument/2006/relationships/slideMaster" Target="/ppt/slideMasters/slideMaster1.xml" Id="R859e878365e54884" /><Relationship Type="http://schemas.openxmlformats.org/officeDocument/2006/relationships/notesMaster" Target="/ppt/notesMasters/notesMaster1.xml" Id="Ra23fc05332b54736" /><Relationship Type="http://schemas.openxmlformats.org/officeDocument/2006/relationships/presProps" Target="/ppt/presProps.xml" Id="R2c95836631f14a43" /><Relationship Type="http://schemas.openxmlformats.org/officeDocument/2006/relationships/tableStyles" Target="/ppt/tableStyles.xml" Id="R0afd07be67f04511" /><Relationship Type="http://schemas.openxmlformats.org/officeDocument/2006/relationships/slide" Target="/ppt/slides/slide1.xml" Id="R2bdbf44377874081" /><Relationship Type="http://schemas.openxmlformats.org/officeDocument/2006/relationships/slide" Target="/ppt/slides/slide2.xml" Id="R6eb914cf07694699" /><Relationship Type="http://schemas.openxmlformats.org/officeDocument/2006/relationships/slide" Target="/ppt/slides/slide3.xml" Id="R80b5bb5216cd45dd" /><Relationship Type="http://schemas.openxmlformats.org/officeDocument/2006/relationships/slide" Target="/ppt/slides/slide4.xml" Id="R63f0306c1eec4c5f" /><Relationship Type="http://schemas.openxmlformats.org/officeDocument/2006/relationships/slide" Target="/ppt/slides/slide5.xml" Id="Ra4e47d9129344a95" /><Relationship Type="http://schemas.openxmlformats.org/officeDocument/2006/relationships/slide" Target="/ppt/slides/slide6.xml" Id="R14d47610dbcb4f31" /><Relationship Type="http://schemas.openxmlformats.org/officeDocument/2006/relationships/slide" Target="/ppt/slides/slide7.xml" Id="R07888cc517614bf0" /><Relationship Type="http://schemas.openxmlformats.org/officeDocument/2006/relationships/slide" Target="/ppt/slides/slide8.xml" Id="Rf8b33262482a44d0" /><Relationship Type="http://schemas.openxmlformats.org/officeDocument/2006/relationships/slide" Target="/ppt/slides/slide9.xml" Id="Rb0544cb76803443a" /><Relationship Type="http://schemas.openxmlformats.org/officeDocument/2006/relationships/slide" Target="/ppt/slides/slide10.xml" Id="R3ff2f470e1d64f8d" /><Relationship Type="http://schemas.openxmlformats.org/officeDocument/2006/relationships/slide" Target="/ppt/slides/slide11.xml" Id="R92c5fb00d69f4dfa" /><Relationship Type="http://schemas.openxmlformats.org/officeDocument/2006/relationships/slide" Target="/ppt/slides/slide12.xml" Id="Rc97e2cc7d9644434" /><Relationship Type="http://schemas.openxmlformats.org/officeDocument/2006/relationships/slide" Target="/ppt/slides/slide13.xml" Id="R6fba753b7e7945b7" /><Relationship Type="http://schemas.openxmlformats.org/officeDocument/2006/relationships/slide" Target="/ppt/slides/slide14.xml" Id="R47055cc160d04ed2" /><Relationship Type="http://schemas.openxmlformats.org/officeDocument/2006/relationships/slide" Target="/ppt/slides/slide15.xml" Id="R0fc28ba354774221" /><Relationship Type="http://schemas.openxmlformats.org/officeDocument/2006/relationships/slide" Target="/ppt/slides/slide16.xml" Id="R978439b306654c8d" /><Relationship Type="http://schemas.openxmlformats.org/officeDocument/2006/relationships/slide" Target="/ppt/slides/slide17.xml" Id="Rc1ac839181684e86" /><Relationship Type="http://schemas.openxmlformats.org/officeDocument/2006/relationships/slide" Target="/ppt/slides/slide18.xml" Id="Ree7ff3d54c2d4901" /><Relationship Type="http://schemas.openxmlformats.org/officeDocument/2006/relationships/slide" Target="/ppt/slides/slide19.xml" Id="Rc6bb3d42dfbb4a27" /><Relationship Type="http://schemas.openxmlformats.org/officeDocument/2006/relationships/slide" Target="/ppt/slides/slide20.xml" Id="R259c63cb742d44d7" /><Relationship Type="http://schemas.openxmlformats.org/officeDocument/2006/relationships/slide" Target="/ppt/slides/slide21.xml" Id="Rbbdeeed1b6634afd" /><Relationship Type="http://schemas.openxmlformats.org/officeDocument/2006/relationships/slide" Target="/ppt/slides/slide22.xml" Id="R57d09de9238645af" /><Relationship Type="http://schemas.openxmlformats.org/officeDocument/2006/relationships/slide" Target="/ppt/slides/slide23.xml" Id="R4ef1ecb31e8c44aa" /><Relationship Type="http://schemas.openxmlformats.org/officeDocument/2006/relationships/slide" Target="/ppt/slides/slide24.xml" Id="Rb69d9167b32b47a6" /><Relationship Type="http://schemas.openxmlformats.org/officeDocument/2006/relationships/slide" Target="/ppt/slides/slide25.xml" Id="R205ad255889948bf" /><Relationship Type="http://schemas.openxmlformats.org/officeDocument/2006/relationships/slide" Target="/ppt/slides/slide26.xml" Id="R7977066e148e4dab" /><Relationship Type="http://schemas.openxmlformats.org/officeDocument/2006/relationships/slide" Target="/ppt/slides/slide27.xml" Id="R066efaa7dd634db2" /><Relationship Type="http://schemas.openxmlformats.org/officeDocument/2006/relationships/slide" Target="/ppt/slides/slide28.xml" Id="Rc3f9cb2a352849e6" /><Relationship Type="http://schemas.openxmlformats.org/officeDocument/2006/relationships/slide" Target="/ppt/slides/slide29.xml" Id="R3005e04c229f476c" /><Relationship Type="http://schemas.openxmlformats.org/officeDocument/2006/relationships/slide" Target="/ppt/slides/slide30.xml" Id="Raa817b3797f34f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3eeb030ef45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2a6caed704799" /><Relationship Type="http://schemas.openxmlformats.org/officeDocument/2006/relationships/notesMaster" Target="/ppt/notesMasters/notesMaster1.xml" Id="R98102c69936f4a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6efb11fc174d72" /><Relationship Type="http://schemas.openxmlformats.org/officeDocument/2006/relationships/notesMaster" Target="/ppt/notesMasters/notesMaster1.xml" Id="R87e46e020cac4c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66d4452cfc4ec6" /><Relationship Type="http://schemas.openxmlformats.org/officeDocument/2006/relationships/notesMaster" Target="/ppt/notesMasters/notesMaster1.xml" Id="R91ca7712c7eb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63395a48dd48e2" /><Relationship Type="http://schemas.openxmlformats.org/officeDocument/2006/relationships/notesMaster" Target="/ppt/notesMasters/notesMaster1.xml" Id="R00b804bd2105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3af8e5cc994432" /><Relationship Type="http://schemas.openxmlformats.org/officeDocument/2006/relationships/notesMaster" Target="/ppt/notesMasters/notesMaster1.xml" Id="Rb8e5d44e7d0b40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3defc324e94b46" /><Relationship Type="http://schemas.openxmlformats.org/officeDocument/2006/relationships/notesMaster" Target="/ppt/notesMasters/notesMaster1.xml" Id="R1db332889ff94c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bc443351cc446b" /><Relationship Type="http://schemas.openxmlformats.org/officeDocument/2006/relationships/notesMaster" Target="/ppt/notesMasters/notesMaster1.xml" Id="R41efdefe373f40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507325e6124f43" /><Relationship Type="http://schemas.openxmlformats.org/officeDocument/2006/relationships/notesMaster" Target="/ppt/notesMasters/notesMaster1.xml" Id="R18457f462d0d48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a031f3e0ee419c" /><Relationship Type="http://schemas.openxmlformats.org/officeDocument/2006/relationships/notesMaster" Target="/ppt/notesMasters/notesMaster1.xml" Id="R68659c58162640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e3f9e0c539438a" /><Relationship Type="http://schemas.openxmlformats.org/officeDocument/2006/relationships/notesMaster" Target="/ppt/notesMasters/notesMaster1.xml" Id="R79edf54fd71840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0ced5582b1460a" /><Relationship Type="http://schemas.openxmlformats.org/officeDocument/2006/relationships/notesMaster" Target="/ppt/notesMasters/notesMaster1.xml" Id="R2cf0cd20189d44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3dbd67809b44f0" /><Relationship Type="http://schemas.openxmlformats.org/officeDocument/2006/relationships/notesMaster" Target="/ppt/notesMasters/notesMaster1.xml" Id="R051d6c04632e40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8033c6ae5a4473" /><Relationship Type="http://schemas.openxmlformats.org/officeDocument/2006/relationships/notesMaster" Target="/ppt/notesMasters/notesMaster1.xml" Id="Rf239f52feccf4d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aa63afeccd49fd" /><Relationship Type="http://schemas.openxmlformats.org/officeDocument/2006/relationships/notesMaster" Target="/ppt/notesMasters/notesMaster1.xml" Id="R2a1837b8d07740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cc2b8f72774281" /><Relationship Type="http://schemas.openxmlformats.org/officeDocument/2006/relationships/notesMaster" Target="/ppt/notesMasters/notesMaster1.xml" Id="R3c6d84283b484b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3c9fffcd694e7c" /><Relationship Type="http://schemas.openxmlformats.org/officeDocument/2006/relationships/notesMaster" Target="/ppt/notesMasters/notesMaster1.xml" Id="R8cc0f21516f544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169436e3e6487e" /><Relationship Type="http://schemas.openxmlformats.org/officeDocument/2006/relationships/notesMaster" Target="/ppt/notesMasters/notesMaster1.xml" Id="R8b1dff7e0fde46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8f1a0bce9e4f49" /><Relationship Type="http://schemas.openxmlformats.org/officeDocument/2006/relationships/notesMaster" Target="/ppt/notesMasters/notesMaster1.xml" Id="Rc65d42a270fa45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d098cdd9654771" /><Relationship Type="http://schemas.openxmlformats.org/officeDocument/2006/relationships/notesMaster" Target="/ppt/notesMasters/notesMaster1.xml" Id="Rf8625348e04440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7a3b237cfe46d4" /><Relationship Type="http://schemas.openxmlformats.org/officeDocument/2006/relationships/notesMaster" Target="/ppt/notesMasters/notesMaster1.xml" Id="R045050ae8d3b4b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43a69e1f624912" /><Relationship Type="http://schemas.openxmlformats.org/officeDocument/2006/relationships/notesMaster" Target="/ppt/notesMasters/notesMaster1.xml" Id="R35f982836de347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603a68d52e145f2" /><Relationship Type="http://schemas.openxmlformats.org/officeDocument/2006/relationships/notesMaster" Target="/ppt/notesMasters/notesMaster1.xml" Id="Rd3079673712245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1fd3be8e834bde" /><Relationship Type="http://schemas.openxmlformats.org/officeDocument/2006/relationships/notesMaster" Target="/ppt/notesMasters/notesMaster1.xml" Id="Rd6e0f303741941c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cfd4020fa64d18" /><Relationship Type="http://schemas.openxmlformats.org/officeDocument/2006/relationships/notesMaster" Target="/ppt/notesMasters/notesMaster1.xml" Id="R24faa7b5309e4c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417f2bc1c742e2" /><Relationship Type="http://schemas.openxmlformats.org/officeDocument/2006/relationships/notesMaster" Target="/ppt/notesMasters/notesMaster1.xml" Id="R8dd68531c5e146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912c78a9e34c63" /><Relationship Type="http://schemas.openxmlformats.org/officeDocument/2006/relationships/notesMaster" Target="/ppt/notesMasters/notesMaster1.xml" Id="Re21d8e9e9a6047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610904c5984188" /><Relationship Type="http://schemas.openxmlformats.org/officeDocument/2006/relationships/notesMaster" Target="/ppt/notesMasters/notesMaster1.xml" Id="R9c9b78971fc142c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0b78387a19f4bf6" /><Relationship Type="http://schemas.openxmlformats.org/officeDocument/2006/relationships/notesMaster" Target="/ppt/notesMasters/notesMaster1.xml" Id="Rccaf1ad109d041d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eb58661b68f466e" /><Relationship Type="http://schemas.openxmlformats.org/officeDocument/2006/relationships/notesMaster" Target="/ppt/notesMasters/notesMaster1.xml" Id="R355876d97e974c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d11720f8114f91" /><Relationship Type="http://schemas.openxmlformats.org/officeDocument/2006/relationships/notesMaster" Target="/ppt/notesMasters/notesMaster1.xml" Id="R7df2b701fe104b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https://docs.python.org/3.12/reference/datamodel.html#objects-values-and-types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https://docs.python.org/3.12/reference/simple_stmts.html#assignment-statements</a:t>
            </a:r>
          </a:p>
          <a:p xmlns:a="http://schemas.openxmlformats.org/drawingml/2006/main">
            <a:r>
              <a:t>https://docs.python.org/3.12/reference/datamodel.html#objects-values-and-types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https://docs.python.org/3.12/reference/datamodel.html#objects-values-and-types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https://docs.python.org/3.12/reference/simple_stmts.html#assignment-statements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https://docs.python.org/3.12/library/copy.html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https://docs.python.org/3.12/library/copy.html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https://docs.python.org/3.12/reference/datamodel.html#objects-values-and-types</a:t>
            </a:r>
          </a:p>
          <a:p xmlns:a="http://schemas.openxmlformats.org/drawingml/2006/main">
            <a:r>
              <a:t>https://docs.python.org/3.12/reference/simple_stmts.html#assignment-statements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https://docs.python.org/3.12/reference/datamodel.html#objects-values-and-types</a:t>
            </a:r>
          </a:p>
          <a:p xmlns:a="http://schemas.openxmlformats.org/drawingml/2006/main">
            <a:r>
              <a:t>https://docs.python.org/3.12/library/gc.html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https://docs.python.org/3.12/tutorial/inputoutput.html#reading-and-writing-files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https://docs.python.org/3.12/library/copy.html</a:t>
            </a:r>
          </a:p>
          <a:p xmlns:a="http://schemas.openxmlformats.org/drawingml/2006/main">
            <a:r>
              <a:t>https://docs.python.org/3.12/reference/simple_stmts.html#assignment-statements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https://docs.python.org/3.12/library/copy.html</a:t>
            </a:r>
          </a:p>
          <a:p xmlns:a="http://schemas.openxmlformats.org/drawingml/2006/main">
            <a:r>
              <a:t>https://docs.python.org/3.12/reference/simple_stmts.html#assignment-statements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https://www.omg.org/uml/what-is-uml.htm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https://www.omg.org/uml/what-is-uml.htm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https://docs.python.org/3.12/tutorial/classes.html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https://docs.python.org/3.12/reference/datamodel.html#objects-values-and-types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  <a:p xmlns:a="http://schemas.openxmlformats.org/drawingml/2006/main">
            <a:r>
              <a:t>https://docs.python.org/3.12/library/typing.html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https://docs.python.org/3.12/tutorial/classes.html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https://www.omg.org/spec/UML/2.5.1/PDF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https://docs.python.org/3.12/reference/datamodel.html#objects-values-and-types</a:t>
            </a:r>
          </a:p>
          <a:p xmlns:a="http://schemas.openxmlformats.org/drawingml/2006/main">
            <a:r>
              <a:t>https://docs.python.org/3.12/library/copy.html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</a:t>
            </a:r>
          </a:p>
          <a:p xmlns:a="http://schemas.openxmlformats.org/drawingml/2006/main">
            <a:r>
              <a:t>https://docs.python.org/3.12/reference/datamodel.html#objects-values-and-types</a:t>
            </a:r>
          </a:p>
          <a:p xmlns:a="http://schemas.openxmlformats.org/drawingml/2006/main">
            <a:r>
              <a:t>https://docs.python.org/3.12/library/copy.html</a:t>
            </a:r>
          </a:p>
          <a:p xmlns:a="http://schemas.openxmlformats.org/drawingml/2006/main">
            <a:r>
              <a:t>https://docs.python.org/3.12/tutorial/inputoutput.html#reading-and-writing-files</a:t>
            </a:r>
          </a:p>
          <a:p xmlns:a="http://schemas.openxmlformats.org/drawingml/2006/main"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fa5e581ea46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866579fd74c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fd37f992b46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fdc17e3df48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8496b9b8f4a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51c574de3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DD7878-CC01-475E-ADEE-19A2CCA55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63FFEF-6A18-4590-AA3D-7070B6C395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6B103B-473C-499F-BC4A-28FBCA808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65AC92-BD60-469B-A315-4499B5F16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BD3405-B853-43B3-8B4D-1D7EE0C167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8F8BB8-D1F8-4FC4-BF8B-F1F79209B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B37C6E-D7CA-4D8F-A082-D2D5353803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2B1DAA-8DA9-431E-B336-0C7182B026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9AFFE3-F0B7-454F-9FFB-41B97F53E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AACC26-827D-4318-829A-2D031A3A06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0465154cf41d5" /><Relationship Type="http://schemas.openxmlformats.org/officeDocument/2006/relationships/slideLayout" Target="/ppt/slideLayouts/slideLayout1.xml" Id="R8036519caa7a4e43" /><Relationship Type="http://schemas.openxmlformats.org/officeDocument/2006/relationships/slideLayout" Target="/ppt/slideLayouts/slideLayout2.xml" Id="Rda8e3b2e0bef4961" /><Relationship Type="http://schemas.openxmlformats.org/officeDocument/2006/relationships/slideLayout" Target="/ppt/slideLayouts/slideLayout3.xml" Id="R43a364e8cc5c45f4" /><Relationship Type="http://schemas.openxmlformats.org/officeDocument/2006/relationships/slideLayout" Target="/ppt/slideLayouts/slideLayout4.xml" Id="Rcbe4883dd1834b5c" /><Relationship Type="http://schemas.openxmlformats.org/officeDocument/2006/relationships/slideLayout" Target="/ppt/slideLayouts/slideLayout5.xml" Id="R12c2ccf29c834092" /><Relationship Type="http://schemas.openxmlformats.org/officeDocument/2006/relationships/slideLayout" Target="/ppt/slideLayouts/slideLayout6.xml" Id="R2fcf544c4d29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36519caa7a4e43"/>
    <p:sldLayoutId xmlns:r="http://schemas.openxmlformats.org/officeDocument/2006/relationships" id="2147483650" r:id="Rda8e3b2e0bef4961"/>
    <p:sldLayoutId xmlns:r="http://schemas.openxmlformats.org/officeDocument/2006/relationships" id="2147483651" r:id="R43a364e8cc5c45f4"/>
    <p:sldLayoutId xmlns:r="http://schemas.openxmlformats.org/officeDocument/2006/relationships" id="2147483652" r:id="Rcbe4883dd1834b5c"/>
    <p:sldLayoutId xmlns:r="http://schemas.openxmlformats.org/officeDocument/2006/relationships" id="2147483653" r:id="R12c2ccf29c834092"/>
    <p:sldLayoutId xmlns:r="http://schemas.openxmlformats.org/officeDocument/2006/relationships" id="2147483654" r:id="R2fcf544c4d29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b4a84bab1400a" /><Relationship Type="http://schemas.openxmlformats.org/officeDocument/2006/relationships/image" Target="/ppt/media/image.png" Id="Rd26fbdc7a382463a" /><Relationship Type="http://schemas.openxmlformats.org/officeDocument/2006/relationships/notesSlide" Target="/ppt/notesSlides/notesSlide1.xml" Id="R9c17b6f4072b46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a64bb14c9471c" /><Relationship Type="http://schemas.openxmlformats.org/officeDocument/2006/relationships/notesSlide" Target="/ppt/notesSlides/notesSlide2.xml" Id="R0d042605b4ec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5cc751de24e7e" /><Relationship Type="http://schemas.openxmlformats.org/officeDocument/2006/relationships/notesSlide" Target="/ppt/notesSlides/notesSlide3.xml" Id="Rf1db152021e849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383bd59fc4926" /><Relationship Type="http://schemas.openxmlformats.org/officeDocument/2006/relationships/notesSlide" Target="/ppt/notesSlides/notesSlide4.xml" Id="Raebabf6c91bc44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1bc2e483d4aeb" /><Relationship Type="http://schemas.openxmlformats.org/officeDocument/2006/relationships/notesSlide" Target="/ppt/notesSlides/notesSlide5.xml" Id="R1c4d47a647d744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e28e8ade04c4b" /><Relationship Type="http://schemas.openxmlformats.org/officeDocument/2006/relationships/notesSlide" Target="/ppt/notesSlides/notesSlide6.xml" Id="R07eb303227d647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9975185c44e7b" /><Relationship Type="http://schemas.openxmlformats.org/officeDocument/2006/relationships/notesSlide" Target="/ppt/notesSlides/notesSlide7.xml" Id="R5a39e9e7d7524e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f39a56d5c480e" /><Relationship Type="http://schemas.openxmlformats.org/officeDocument/2006/relationships/notesSlide" Target="/ppt/notesSlides/notesSlide8.xml" Id="R11cea88439d446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b9d28bb4b46c5" /><Relationship Type="http://schemas.openxmlformats.org/officeDocument/2006/relationships/notesSlide" Target="/ppt/notesSlides/notesSlide9.xml" Id="R271c6778d1484a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9c5b7f72d4134" /><Relationship Type="http://schemas.openxmlformats.org/officeDocument/2006/relationships/notesSlide" Target="/ppt/notesSlides/notesSlide10.xml" Id="R5e4ed80b4f6e47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dcb96b8815404d" /><Relationship Type="http://schemas.openxmlformats.org/officeDocument/2006/relationships/notesSlide" Target="/ppt/notesSlides/notesSlide11.xml" Id="R7661f6ef07d44f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96d8bd3c6e4d00" /><Relationship Type="http://schemas.openxmlformats.org/officeDocument/2006/relationships/notesSlide" Target="/ppt/notesSlides/notesSlide12.xml" Id="Rd9bfa928dcc14a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eeeb859774300" /><Relationship Type="http://schemas.openxmlformats.org/officeDocument/2006/relationships/notesSlide" Target="/ppt/notesSlides/notesSlide13.xml" Id="R8b528c3fc51d4e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ca10084904c5f" /><Relationship Type="http://schemas.openxmlformats.org/officeDocument/2006/relationships/notesSlide" Target="/ppt/notesSlides/notesSlide14.xml" Id="R62a38b8f79264f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3b3b053b54ca4" /><Relationship Type="http://schemas.openxmlformats.org/officeDocument/2006/relationships/notesSlide" Target="/ppt/notesSlides/notesSlide15.xml" Id="Rb48eb4a6e0f847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44dac27e94509" /><Relationship Type="http://schemas.openxmlformats.org/officeDocument/2006/relationships/notesSlide" Target="/ppt/notesSlides/notesSlide16.xml" Id="R4532e1c8561243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e0dd228144a4b" /><Relationship Type="http://schemas.openxmlformats.org/officeDocument/2006/relationships/notesSlide" Target="/ppt/notesSlides/notesSlide17.xml" Id="Rfb493519ed0f41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60a5d50344637" /><Relationship Type="http://schemas.openxmlformats.org/officeDocument/2006/relationships/notesSlide" Target="/ppt/notesSlides/notesSlide18.xml" Id="Red7085219ef044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64715c41d46e0" /><Relationship Type="http://schemas.openxmlformats.org/officeDocument/2006/relationships/notesSlide" Target="/ppt/notesSlides/notesSlide19.xml" Id="R84acc17a0d9549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5389f36d84c41" /><Relationship Type="http://schemas.openxmlformats.org/officeDocument/2006/relationships/notesSlide" Target="/ppt/notesSlides/notesSlide20.xml" Id="Ree187039c04b42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ef9f425304d04" /><Relationship Type="http://schemas.openxmlformats.org/officeDocument/2006/relationships/notesSlide" Target="/ppt/notesSlides/notesSlide21.xml" Id="R6da7e62be47f420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04ae858fc4a07" /><Relationship Type="http://schemas.openxmlformats.org/officeDocument/2006/relationships/notesSlide" Target="/ppt/notesSlides/notesSlide22.xml" Id="R03a0fa514efd48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dfa8c4fd74a1d" /><Relationship Type="http://schemas.openxmlformats.org/officeDocument/2006/relationships/notesSlide" Target="/ppt/notesSlides/notesSlide23.xml" Id="R5edb5bcedd0a4d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e5b29875f4c8c" /><Relationship Type="http://schemas.openxmlformats.org/officeDocument/2006/relationships/notesSlide" Target="/ppt/notesSlides/notesSlide24.xml" Id="R73bc16ff3b3d4be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4925aef834dbb" /><Relationship Type="http://schemas.openxmlformats.org/officeDocument/2006/relationships/notesSlide" Target="/ppt/notesSlides/notesSlide25.xml" Id="R07b1696de6f5480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8e6964565486f" /><Relationship Type="http://schemas.openxmlformats.org/officeDocument/2006/relationships/notesSlide" Target="/ppt/notesSlides/notesSlide26.xml" Id="R6b39f5cde17e4a7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b0a4b0b6246e9" /><Relationship Type="http://schemas.openxmlformats.org/officeDocument/2006/relationships/notesSlide" Target="/ppt/notesSlides/notesSlide27.xml" Id="R5dcd566af90c46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525006687444b" /><Relationship Type="http://schemas.openxmlformats.org/officeDocument/2006/relationships/notesSlide" Target="/ppt/notesSlides/notesSlide28.xml" Id="R360eda407a7b45c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c65261fcd4c10" /><Relationship Type="http://schemas.openxmlformats.org/officeDocument/2006/relationships/notesSlide" Target="/ppt/notesSlides/notesSlide29.xml" Id="R9fcc10a23bb9498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26957b3324674" /><Relationship Type="http://schemas.openxmlformats.org/officeDocument/2006/relationships/notesSlide" Target="/ppt/notesSlides/notesSlide30.xml" Id="Raf0e765158db49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9D260-367E-4208-A43D-33D084B6F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fbdc7a382463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第 5、6 週精簡教材">
            <a:extLst xmlns:a="http://schemas.openxmlformats.org/drawingml/2006/main">
              <a:ext uri="{FF2B5EF4-FFF2-40B4-BE49-F238E27FC236}">
                <a16:creationId xmlns:a16="http://schemas.microsoft.com/office/drawing/2014/main" id="{EDDE0610-239B-4670-ACE1-54EF83E3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5、6 週精簡教材</a:t>
            </a:r>
          </a:p>
        </p:txBody>
      </p:sp>
      <p:sp>
        <p:nvSpPr>
          <p:cNvPr id="3" name="物件生命週期 與類別關係">
            <a:extLst xmlns:a="http://schemas.openxmlformats.org/drawingml/2006/main">
              <a:ext uri="{FF2B5EF4-FFF2-40B4-BE49-F238E27FC236}">
                <a16:creationId xmlns:a16="http://schemas.microsoft.com/office/drawing/2014/main" id="{93D20325-010F-47F2-A3FF-B8DF6E6E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714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物件生命週期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與類別關係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A5484A1B-C62D-447A-A7FC-B7F1EBA9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物件導向程式設計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7F408472-78AF-450B-8C24-5D5A7578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5630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0A08B-C7E2-4DC4-97E5-03C4E887503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38500" y="3524250"/>
            <a:ext cx="3810000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6686C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E5948-B9B7-4472-8E8B-33FB0CEEB95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2595563"/>
            <a:ext cx="3810000" cy="928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6686C"/>
            </a:solidFill>
            <a:tailEnd type="arrow" w="med" len="med"/>
          </a:ln>
        </p:spPr>
      </p:cxnSp>
      <p:sp>
        <p:nvSpPr>
          <p:cNvPr id="16" name="名稱與物件參考">
            <a:extLst xmlns:a="http://schemas.openxmlformats.org/drawingml/2006/main">
              <a:ext uri="{FF2B5EF4-FFF2-40B4-BE49-F238E27FC236}">
                <a16:creationId xmlns:a16="http://schemas.microsoft.com/office/drawing/2014/main" id="{083CFD74-1866-4D34-ACEC-9BDF3E41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名稱與物件參考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46BE1D26-6402-4FE8-971E-86AB84F4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D4262-3273-4174-9F06-237BE1CE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381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7E578-DFC8-4753-A688-1034A291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381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507D9-F277-4BBF-913E-DBC3013A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0375"/>
            <a:ext cx="3810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6" name="名稱 a">
            <a:extLst xmlns:a="http://schemas.openxmlformats.org/drawingml/2006/main">
              <a:ext uri="{FF2B5EF4-FFF2-40B4-BE49-F238E27FC236}">
                <a16:creationId xmlns:a16="http://schemas.microsoft.com/office/drawing/2014/main" id="{3FC1555D-C51C-4EC4-B83A-FD9F3A82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名稱 a</a:t>
            </a:r>
          </a:p>
        </p:txBody>
      </p:sp>
      <p:sp>
        <p:nvSpPr>
          <p:cNvPr id="7" name="名稱 b">
            <a:extLst xmlns:a="http://schemas.openxmlformats.org/drawingml/2006/main">
              <a:ext uri="{FF2B5EF4-FFF2-40B4-BE49-F238E27FC236}">
                <a16:creationId xmlns:a16="http://schemas.microsoft.com/office/drawing/2014/main" id="{8A6FB144-D757-41AE-92EC-DFAFB929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名稱 b</a:t>
            </a:r>
          </a:p>
        </p:txBody>
      </p:sp>
      <p:sp>
        <p:nvSpPr>
          <p:cNvPr id="8" name="list 物件">
            <a:extLst xmlns:a="http://schemas.openxmlformats.org/drawingml/2006/main">
              <a:ext uri="{FF2B5EF4-FFF2-40B4-BE49-F238E27FC236}">
                <a16:creationId xmlns:a16="http://schemas.microsoft.com/office/drawing/2014/main" id="{A23393D4-C942-4A59-8CF9-763EE8A6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623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list 物件</a:t>
            </a:r>
          </a:p>
        </p:txBody>
      </p:sp>
      <p:sp>
        <p:nvSpPr>
          <p:cNvPr id="9" name="[10, 20]">
            <a:extLst xmlns:a="http://schemas.openxmlformats.org/drawingml/2006/main">
              <a:ext uri="{FF2B5EF4-FFF2-40B4-BE49-F238E27FC236}">
                <a16:creationId xmlns:a16="http://schemas.microsoft.com/office/drawing/2014/main" id="{C9C02ED6-E43F-4928-834E-D6217950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buNone/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[10, 20]</a:t>
            </a:r>
          </a:p>
        </p:txBody>
      </p:sp>
      <p:sp>
        <p:nvSpPr>
          <p:cNvPr id="12" name="a = [10, 20] b = a">
            <a:extLst xmlns:a="http://schemas.openxmlformats.org/drawingml/2006/main">
              <a:ext uri="{FF2B5EF4-FFF2-40B4-BE49-F238E27FC236}">
                <a16:creationId xmlns:a16="http://schemas.microsoft.com/office/drawing/2014/main" id="{7E0DF13A-1A90-45F1-A62C-BA78699F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243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[10, 20]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 = a</a:t>
            </a:r>
          </a:p>
        </p:txBody>
      </p:sp>
      <p:sp>
        <p:nvSpPr>
          <p:cNvPr id="13" name="圖中的方框與箭頭是概念模型；沒有表示實際記憶體位址或配置。">
            <a:extLst xmlns:a="http://schemas.openxmlformats.org/drawingml/2006/main">
              <a:ext uri="{FF2B5EF4-FFF2-40B4-BE49-F238E27FC236}">
                <a16:creationId xmlns:a16="http://schemas.microsoft.com/office/drawing/2014/main" id="{DAAD4E47-6EFC-41D6-B2B3-74C1247A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圖中的方框與箭頭是概念模型；沒有表示實際記憶體位址或配置。</a:t>
            </a:r>
          </a:p>
        </p:txBody>
      </p:sp>
      <p:sp>
        <p:nvSpPr>
          <p:cNvPr id="15" name="02">
            <a:extLst xmlns:a="http://schemas.openxmlformats.org/drawingml/2006/main">
              <a:ext uri="{FF2B5EF4-FFF2-40B4-BE49-F238E27FC236}">
                <a16:creationId xmlns:a16="http://schemas.microsoft.com/office/drawing/2014/main" id="{EBE99A12-5302-4D44-A2B9-45031C0D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8090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相同內容與相同物件">
            <a:extLst xmlns:a="http://schemas.openxmlformats.org/drawingml/2006/main">
              <a:ext uri="{FF2B5EF4-FFF2-40B4-BE49-F238E27FC236}">
                <a16:creationId xmlns:a16="http://schemas.microsoft.com/office/drawing/2014/main" id="{3BBBF518-AFA2-41E6-8B52-54CC3A62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相同內容與相同物件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D510D476-01DC-454E-A4C3-E0063C28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a = [10, 20]">
            <a:extLst xmlns:a="http://schemas.openxmlformats.org/drawingml/2006/main">
              <a:ext uri="{FF2B5EF4-FFF2-40B4-BE49-F238E27FC236}">
                <a16:creationId xmlns:a16="http://schemas.microsoft.com/office/drawing/2014/main" id="{64B34E1A-B523-4D7B-80FB-2DD4ADD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[10, 20]</a:t>
            </a:r>
          </a:p>
        </p:txBody>
      </p:sp>
      <p:sp>
        <p:nvSpPr>
          <p:cNvPr id="4" name="b = a">
            <a:extLst xmlns:a="http://schemas.openxmlformats.org/drawingml/2006/main">
              <a:ext uri="{FF2B5EF4-FFF2-40B4-BE49-F238E27FC236}">
                <a16:creationId xmlns:a16="http://schemas.microsoft.com/office/drawing/2014/main" id="{7558992A-A5B0-41C4-BBB5-8E938337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</a:t>
            </a:r>
          </a:p>
        </p:txBody>
      </p:sp>
      <p:sp>
        <p:nvSpPr>
          <p:cNvPr id="5" name="c = [10, 20]">
            <a:extLst xmlns:a="http://schemas.openxmlformats.org/drawingml/2006/main">
              <a:ext uri="{FF2B5EF4-FFF2-40B4-BE49-F238E27FC236}">
                <a16:creationId xmlns:a16="http://schemas.microsoft.com/office/drawing/2014/main" id="{6A020632-CA58-41B5-AC46-ACC1B00B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 = [10, 20]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CBF40-73F6-4485-9800-F3EB324C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print(a == c)">
            <a:extLst xmlns:a="http://schemas.openxmlformats.org/drawingml/2006/main">
              <a:ext uri="{FF2B5EF4-FFF2-40B4-BE49-F238E27FC236}">
                <a16:creationId xmlns:a16="http://schemas.microsoft.com/office/drawing/2014/main" id="{D37107F7-FD32-40F9-833A-4B0A1FE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== c)</a:t>
            </a:r>
          </a:p>
        </p:txBody>
      </p:sp>
      <p:sp>
        <p:nvSpPr>
          <p:cNvPr id="8" name="print(a is c)">
            <a:extLst xmlns:a="http://schemas.openxmlformats.org/drawingml/2006/main">
              <a:ext uri="{FF2B5EF4-FFF2-40B4-BE49-F238E27FC236}">
                <a16:creationId xmlns:a16="http://schemas.microsoft.com/office/drawing/2014/main" id="{F59825AA-94BB-44F1-A828-4C05C1C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c)</a:t>
            </a:r>
          </a:p>
        </p:txBody>
      </p:sp>
      <p:sp>
        <p:nvSpPr>
          <p:cNvPr id="9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5AD19471-CDA3-4FD5-BA7C-4E23E2F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0" name="== 比較相等語意">
            <a:extLst xmlns:a="http://schemas.openxmlformats.org/drawingml/2006/main">
              <a:ext uri="{FF2B5EF4-FFF2-40B4-BE49-F238E27FC236}">
                <a16:creationId xmlns:a16="http://schemas.microsoft.com/office/drawing/2014/main" id="{27B375FC-5109-487E-910A-7401B118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== 比較相等語意</a:t>
            </a:r>
          </a:p>
        </p:txBody>
      </p:sp>
      <p:sp>
        <p:nvSpPr>
          <p:cNvPr id="11" name="list 會比較元素內容。">
            <a:extLst xmlns:a="http://schemas.openxmlformats.org/drawingml/2006/main">
              <a:ext uri="{FF2B5EF4-FFF2-40B4-BE49-F238E27FC236}">
                <a16:creationId xmlns:a16="http://schemas.microsoft.com/office/drawing/2014/main" id="{DC6C130F-045E-4655-97E1-731DBA2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 會比較元素內容。</a:t>
            </a:r>
          </a:p>
        </p:txBody>
      </p:sp>
      <p:sp>
        <p:nvSpPr>
          <p:cNvPr id="12" name="is 比較物件身分">
            <a:extLst xmlns:a="http://schemas.openxmlformats.org/drawingml/2006/main">
              <a:ext uri="{FF2B5EF4-FFF2-40B4-BE49-F238E27FC236}">
                <a16:creationId xmlns:a16="http://schemas.microsoft.com/office/drawing/2014/main" id="{1B64CBA2-5890-4D7F-B82B-9CFFFB12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is 比較物件身分</a:t>
            </a:r>
          </a:p>
        </p:txBody>
      </p:sp>
      <p:sp>
        <p:nvSpPr>
          <p:cNvPr id="13" name="a 與 b 指向同一個 list。 判斷 None 常用 is None。">
            <a:extLst xmlns:a="http://schemas.openxmlformats.org/drawingml/2006/main">
              <a:ext uri="{FF2B5EF4-FFF2-40B4-BE49-F238E27FC236}">
                <a16:creationId xmlns:a16="http://schemas.microsoft.com/office/drawing/2014/main" id="{D5C70B11-33DA-47F2-82D3-B0A5131E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0530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與 b 指向同一個 list。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判斷 None 常用 is None。</a:t>
            </a:r>
          </a:p>
        </p:txBody>
      </p:sp>
      <p:sp>
        <p:nvSpPr>
          <p:cNvPr id="14" name="輸出（逐行）">
            <a:extLst xmlns:a="http://schemas.openxmlformats.org/drawingml/2006/main">
              <a:ext uri="{FF2B5EF4-FFF2-40B4-BE49-F238E27FC236}">
                <a16:creationId xmlns:a16="http://schemas.microsoft.com/office/drawing/2014/main" id="{C3B801F9-5A39-4707-A9CA-59B774E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輸出（逐行）</a:t>
            </a:r>
          </a:p>
        </p:txBody>
      </p:sp>
      <p:sp>
        <p:nvSpPr>
          <p:cNvPr id="15" name="True False True">
            <a:extLst xmlns:a="http://schemas.openxmlformats.org/drawingml/2006/main">
              <a:ext uri="{FF2B5EF4-FFF2-40B4-BE49-F238E27FC236}">
                <a16:creationId xmlns:a16="http://schemas.microsoft.com/office/drawing/2014/main" id="{E638305B-21E2-4103-A994-1A2C58A0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9115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False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35A59921-E1C7-412F-B2BC-E7016A21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2497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修改物件與重新繫結">
            <a:extLst xmlns:a="http://schemas.openxmlformats.org/drawingml/2006/main">
              <a:ext uri="{FF2B5EF4-FFF2-40B4-BE49-F238E27FC236}">
                <a16:creationId xmlns:a16="http://schemas.microsoft.com/office/drawing/2014/main" id="{843AD935-9C08-4738-95A9-891392BF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修改物件與重新繫結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675F7B38-D95D-4FB9-B232-CA880F37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def change(items):">
            <a:extLst xmlns:a="http://schemas.openxmlformats.org/drawingml/2006/main">
              <a:ext uri="{FF2B5EF4-FFF2-40B4-BE49-F238E27FC236}">
                <a16:creationId xmlns:a16="http://schemas.microsoft.com/office/drawing/2014/main" id="{AA243017-2F58-499F-8914-B34A6935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change(items):</a:t>
            </a:r>
          </a:p>
        </p:txBody>
      </p:sp>
      <p:sp>
        <p:nvSpPr>
          <p:cNvPr id="4" name="    items.append(&quot;pen&quot;)">
            <a:extLst xmlns:a="http://schemas.openxmlformats.org/drawingml/2006/main">
              <a:ext uri="{FF2B5EF4-FFF2-40B4-BE49-F238E27FC236}">
                <a16:creationId xmlns:a16="http://schemas.microsoft.com/office/drawing/2014/main" id="{A7A1D927-6FD4-4009-947B-E2F1DC2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items.append("pen")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44946-7A2A-4DBB-9D32-C59AC180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def replace(items):">
            <a:extLst xmlns:a="http://schemas.openxmlformats.org/drawingml/2006/main">
              <a:ext uri="{FF2B5EF4-FFF2-40B4-BE49-F238E27FC236}">
                <a16:creationId xmlns:a16="http://schemas.microsoft.com/office/drawing/2014/main" id="{55C11416-BD8E-472E-B242-2F6E7441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replace(items):</a:t>
            </a:r>
          </a:p>
        </p:txBody>
      </p:sp>
      <p:sp>
        <p:nvSpPr>
          <p:cNvPr id="7" name="    items = [&quot;new&quot;]">
            <a:extLst xmlns:a="http://schemas.openxmlformats.org/drawingml/2006/main">
              <a:ext uri="{FF2B5EF4-FFF2-40B4-BE49-F238E27FC236}">
                <a16:creationId xmlns:a16="http://schemas.microsoft.com/office/drawing/2014/main" id="{4BD86870-E239-4C28-BFB4-4793031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items = ["new"]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D7B2E-A87E-46DD-95F9-9B565376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a = [&quot;book&quot;]">
            <a:extLst xmlns:a="http://schemas.openxmlformats.org/drawingml/2006/main">
              <a:ext uri="{FF2B5EF4-FFF2-40B4-BE49-F238E27FC236}">
                <a16:creationId xmlns:a16="http://schemas.microsoft.com/office/drawing/2014/main" id="{3D11B071-E5A1-4FE7-A355-E44B1AF9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["book"]</a:t>
            </a:r>
          </a:p>
        </p:txBody>
      </p:sp>
      <p:sp>
        <p:nvSpPr>
          <p:cNvPr id="10" name="change(a)">
            <a:extLst xmlns:a="http://schemas.openxmlformats.org/drawingml/2006/main">
              <a:ext uri="{FF2B5EF4-FFF2-40B4-BE49-F238E27FC236}">
                <a16:creationId xmlns:a16="http://schemas.microsoft.com/office/drawing/2014/main" id="{40690FFD-B531-4221-A91E-60D670E6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change(a)</a:t>
            </a:r>
          </a:p>
        </p:txBody>
      </p:sp>
      <p:sp>
        <p:nvSpPr>
          <p:cNvPr id="11" name="replace(a)">
            <a:extLst xmlns:a="http://schemas.openxmlformats.org/drawingml/2006/main">
              <a:ext uri="{FF2B5EF4-FFF2-40B4-BE49-F238E27FC236}">
                <a16:creationId xmlns:a16="http://schemas.microsoft.com/office/drawing/2014/main" id="{2A208FB4-2B96-4EC6-828C-9783D94F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replace(a)</a:t>
            </a:r>
          </a:p>
        </p:txBody>
      </p:sp>
      <p:sp>
        <p:nvSpPr>
          <p:cNvPr id="12" name="print(a)">
            <a:extLst xmlns:a="http://schemas.openxmlformats.org/drawingml/2006/main">
              <a:ext uri="{FF2B5EF4-FFF2-40B4-BE49-F238E27FC236}">
                <a16:creationId xmlns:a16="http://schemas.microsoft.com/office/drawing/2014/main" id="{4A884BD2-FCEE-41E7-B535-E611A12F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print(a)</a:t>
            </a:r>
          </a:p>
        </p:txBody>
      </p:sp>
      <p:sp>
        <p:nvSpPr>
          <p:cNvPr id="13" name="修改共用物件">
            <a:extLst xmlns:a="http://schemas.openxmlformats.org/drawingml/2006/main">
              <a:ext uri="{FF2B5EF4-FFF2-40B4-BE49-F238E27FC236}">
                <a16:creationId xmlns:a16="http://schemas.microsoft.com/office/drawing/2014/main" id="{3BB77B03-9312-4A0D-995B-3230A47E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修改共用物件</a:t>
            </a:r>
          </a:p>
        </p:txBody>
      </p:sp>
      <p:sp>
        <p:nvSpPr>
          <p:cNvPr id="14" name="append() 改變呼叫端 也能看見的 list。">
            <a:extLst xmlns:a="http://schemas.openxmlformats.org/drawingml/2006/main">
              <a:ext uri="{FF2B5EF4-FFF2-40B4-BE49-F238E27FC236}">
                <a16:creationId xmlns:a16="http://schemas.microsoft.com/office/drawing/2014/main" id="{5747AFB0-9F92-4858-8D63-D328CC8E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append() 改變呼叫端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也能看見的 list。</a:t>
            </a:r>
          </a:p>
        </p:txBody>
      </p:sp>
      <p:sp>
        <p:nvSpPr>
          <p:cNvPr id="15" name="重新繫結區域名稱">
            <a:extLst xmlns:a="http://schemas.openxmlformats.org/drawingml/2006/main">
              <a:ext uri="{FF2B5EF4-FFF2-40B4-BE49-F238E27FC236}">
                <a16:creationId xmlns:a16="http://schemas.microsoft.com/office/drawing/2014/main" id="{41A21B65-A3EA-40F2-970F-315C54BC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重新繫結區域名稱</a:t>
            </a:r>
          </a:p>
        </p:txBody>
      </p:sp>
      <p:sp>
        <p:nvSpPr>
          <p:cNvPr id="16" name="items = ... 改變參數名稱 的繫結，a 仍指向原 list。">
            <a:extLst xmlns:a="http://schemas.openxmlformats.org/drawingml/2006/main">
              <a:ext uri="{FF2B5EF4-FFF2-40B4-BE49-F238E27FC236}">
                <a16:creationId xmlns:a16="http://schemas.microsoft.com/office/drawing/2014/main" id="{1D8DA833-59DB-44CE-A886-DD1B5F0C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0530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items = ... 改變參數名稱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的繫結，a 仍指向原 list。</a:t>
            </a:r>
          </a:p>
        </p:txBody>
      </p:sp>
      <p:sp>
        <p:nvSpPr>
          <p:cNvPr id="17" name="輸出（逐行）">
            <a:extLst xmlns:a="http://schemas.openxmlformats.org/drawingml/2006/main">
              <a:ext uri="{FF2B5EF4-FFF2-40B4-BE49-F238E27FC236}">
                <a16:creationId xmlns:a16="http://schemas.microsoft.com/office/drawing/2014/main" id="{389B8342-F24B-4FB9-ADC3-B69AF755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輸出（逐行）</a:t>
            </a:r>
          </a:p>
        </p:txBody>
      </p:sp>
      <p:sp>
        <p:nvSpPr>
          <p:cNvPr id="18" name="['book', 'pen']">
            <a:extLst xmlns:a="http://schemas.openxmlformats.org/drawingml/2006/main">
              <a:ext uri="{FF2B5EF4-FFF2-40B4-BE49-F238E27FC236}">
                <a16:creationId xmlns:a16="http://schemas.microsoft.com/office/drawing/2014/main" id="{C512B438-0D00-4C0A-A23F-C30E1F88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9115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['book', 'pen']</a:t>
            </a:r>
          </a:p>
        </p:txBody>
      </p: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1DC28EB4-0D5E-445C-84B6-3C28A838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6469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三種取得資料的方式">
            <a:extLst xmlns:a="http://schemas.openxmlformats.org/drawingml/2006/main">
              <a:ext uri="{FF2B5EF4-FFF2-40B4-BE49-F238E27FC236}">
                <a16:creationId xmlns:a16="http://schemas.microsoft.com/office/drawing/2014/main" id="{84B99A6B-1905-4CC7-BF1A-760A196B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三種取得資料的方式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D127A0BB-AFCA-4534-8C20-B147034E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55665-C87E-4B53-870F-8C2AEF47907E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191000"/>
                <a:gridCol w="4305300"/>
              </a:tblGrid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寫法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外層容器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巢狀可變資料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= 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共用同一個物件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= a.copy()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建立新外層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元素仍參照原物件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 = deepcopy(a)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建立複本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依複製規則遞迴處理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4" name="deepcopy 依型別的複製規則遞迴處理；檔案等外部資源未必可複製。">
            <a:extLst xmlns:a="http://schemas.openxmlformats.org/drawingml/2006/main">
              <a:ext uri="{FF2B5EF4-FFF2-40B4-BE49-F238E27FC236}">
                <a16:creationId xmlns:a16="http://schemas.microsoft.com/office/drawing/2014/main" id="{D590823A-C079-4098-A29F-2362EB73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deepcopy 依型別的複製規則遞迴處理；檔案等外部資源未必可複製。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F372263F-6B9B-4287-9471-E3D98263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3715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巢狀資料的複製結果">
            <a:extLst xmlns:a="http://schemas.openxmlformats.org/drawingml/2006/main">
              <a:ext uri="{FF2B5EF4-FFF2-40B4-BE49-F238E27FC236}">
                <a16:creationId xmlns:a16="http://schemas.microsoft.com/office/drawing/2014/main" id="{274CA219-C8C0-4086-A6FF-C9D13256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巢狀資料的複製結果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B162285A-8A7D-4193-86AB-83F1EEC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from copy import deepcopy">
            <a:extLst xmlns:a="http://schemas.openxmlformats.org/drawingml/2006/main">
              <a:ext uri="{FF2B5EF4-FFF2-40B4-BE49-F238E27FC236}">
                <a16:creationId xmlns:a16="http://schemas.microsoft.com/office/drawing/2014/main" id="{1844A83A-D5F5-41D5-9C47-1149F01B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copy import deepcopy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C7746-271A-4FAB-883D-AE7E6D57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a = {&quot;items&quot;: [&quot;book&quot;]}">
            <a:extLst xmlns:a="http://schemas.openxmlformats.org/drawingml/2006/main">
              <a:ext uri="{FF2B5EF4-FFF2-40B4-BE49-F238E27FC236}">
                <a16:creationId xmlns:a16="http://schemas.microsoft.com/office/drawing/2014/main" id="{2EF94B95-0652-4B47-BF95-A33F2EB1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{"items": ["book"]}</a:t>
            </a:r>
          </a:p>
        </p:txBody>
      </p:sp>
      <p:sp>
        <p:nvSpPr>
          <p:cNvPr id="6" name="b = a.copy()">
            <a:extLst xmlns:a="http://schemas.openxmlformats.org/drawingml/2006/main">
              <a:ext uri="{FF2B5EF4-FFF2-40B4-BE49-F238E27FC236}">
                <a16:creationId xmlns:a16="http://schemas.microsoft.com/office/drawing/2014/main" id="{F8CF7976-9D49-468A-8173-D693BD44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a.copy()</a:t>
            </a:r>
          </a:p>
        </p:txBody>
      </p:sp>
      <p:sp>
        <p:nvSpPr>
          <p:cNvPr id="7" name="c = deepcopy(a)">
            <a:extLst xmlns:a="http://schemas.openxmlformats.org/drawingml/2006/main">
              <a:ext uri="{FF2B5EF4-FFF2-40B4-BE49-F238E27FC236}">
                <a16:creationId xmlns:a16="http://schemas.microsoft.com/office/drawing/2014/main" id="{6B6CB834-3BEB-4761-9BF4-DAFB8099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 = deepcopy(a)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91FF1-B8FC-43B5-AA6D-6E3CC1E6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a[&quot;items&quot;].append(&quot;pen&quot;)">
            <a:extLst xmlns:a="http://schemas.openxmlformats.org/drawingml/2006/main">
              <a:ext uri="{FF2B5EF4-FFF2-40B4-BE49-F238E27FC236}">
                <a16:creationId xmlns:a16="http://schemas.microsoft.com/office/drawing/2014/main" id="{DD5D03AC-2BBF-4995-9245-1573F8F6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a["items"].append("pen")</a:t>
            </a:r>
          </a:p>
        </p:txBody>
      </p:sp>
      <p:sp>
        <p:nvSpPr>
          <p:cNvPr id="10" name="print(b[&quot;items&quot;])">
            <a:extLst xmlns:a="http://schemas.openxmlformats.org/drawingml/2006/main">
              <a:ext uri="{FF2B5EF4-FFF2-40B4-BE49-F238E27FC236}">
                <a16:creationId xmlns:a16="http://schemas.microsoft.com/office/drawing/2014/main" id="{F16B65C4-B939-442B-B1B1-C00A2799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print(b["items"])</a:t>
            </a:r>
          </a:p>
        </p:txBody>
      </p:sp>
      <p:sp>
        <p:nvSpPr>
          <p:cNvPr id="11" name="print(c[&quot;items&quot;])">
            <a:extLst xmlns:a="http://schemas.openxmlformats.org/drawingml/2006/main">
              <a:ext uri="{FF2B5EF4-FFF2-40B4-BE49-F238E27FC236}">
                <a16:creationId xmlns:a16="http://schemas.microsoft.com/office/drawing/2014/main" id="{73BA9A0C-7C88-45BA-9A21-17B066D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print(c["items"])</a:t>
            </a:r>
          </a:p>
        </p:txBody>
      </p:sp>
      <p:sp>
        <p:nvSpPr>
          <p:cNvPr id="12" name="print(a is b, a[&quot;items&quot;] is b[&quot;items&quot;])">
            <a:extLst xmlns:a="http://schemas.openxmlformats.org/drawingml/2006/main">
              <a:ext uri="{FF2B5EF4-FFF2-40B4-BE49-F238E27FC236}">
                <a16:creationId xmlns:a16="http://schemas.microsoft.com/office/drawing/2014/main" id="{77F190AF-A609-4B2B-9EDD-6E394013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b, a["items"] is b["items"])</a:t>
            </a:r>
          </a:p>
        </p:txBody>
      </p:sp>
      <p:sp>
        <p:nvSpPr>
          <p:cNvPr id="13" name="b 的外層不同">
            <a:extLst xmlns:a="http://schemas.openxmlformats.org/drawingml/2006/main">
              <a:ext uri="{FF2B5EF4-FFF2-40B4-BE49-F238E27FC236}">
                <a16:creationId xmlns:a16="http://schemas.microsoft.com/office/drawing/2014/main" id="{B32B5773-85AF-44D0-B78A-89F14EE1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 的外層不同</a:t>
            </a:r>
          </a:p>
        </p:txBody>
      </p:sp>
      <p:sp>
        <p:nvSpPr>
          <p:cNvPr id="14" name="b[&quot;items&quot;] 與 a[&quot;items&quot;] 仍指向同一個 list。">
            <a:extLst xmlns:a="http://schemas.openxmlformats.org/drawingml/2006/main">
              <a:ext uri="{FF2B5EF4-FFF2-40B4-BE49-F238E27FC236}">
                <a16:creationId xmlns:a16="http://schemas.microsoft.com/office/drawing/2014/main" id="{E55C07EA-EA50-48CA-AC66-8DC01A91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b["items"] 與 a["items"]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仍指向同一個 list。</a:t>
            </a:r>
          </a:p>
        </p:txBody>
      </p:sp>
      <p:sp>
        <p:nvSpPr>
          <p:cNvPr id="15" name="c 的內層已複製">
            <a:extLst xmlns:a="http://schemas.openxmlformats.org/drawingml/2006/main">
              <a:ext uri="{FF2B5EF4-FFF2-40B4-BE49-F238E27FC236}">
                <a16:creationId xmlns:a16="http://schemas.microsoft.com/office/drawing/2014/main" id="{D855B7B5-046B-4E6C-89BB-2A36F4B6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 的內層已複製</a:t>
            </a:r>
          </a:p>
        </p:txBody>
      </p:sp>
      <p:sp>
        <p:nvSpPr>
          <p:cNvPr id="16" name="本例中的 list 可獨立修改。">
            <a:extLst xmlns:a="http://schemas.openxmlformats.org/drawingml/2006/main">
              <a:ext uri="{FF2B5EF4-FFF2-40B4-BE49-F238E27FC236}">
                <a16:creationId xmlns:a16="http://schemas.microsoft.com/office/drawing/2014/main" id="{93A4A614-C56F-4C13-8205-F88D92DA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0530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本例中的 list 可獨立修改。</a:t>
            </a:r>
          </a:p>
        </p:txBody>
      </p:sp>
      <p:sp>
        <p:nvSpPr>
          <p:cNvPr id="17" name="輸出（逐行）">
            <a:extLst xmlns:a="http://schemas.openxmlformats.org/drawingml/2006/main">
              <a:ext uri="{FF2B5EF4-FFF2-40B4-BE49-F238E27FC236}">
                <a16:creationId xmlns:a16="http://schemas.microsoft.com/office/drawing/2014/main" id="{1E0C52D1-F724-47EB-90EB-D1422247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輸出（逐行）</a:t>
            </a:r>
          </a:p>
        </p:txBody>
      </p:sp>
      <p:sp>
        <p:nvSpPr>
          <p:cNvPr id="18" name="['book', 'pen'] ['book'] False True">
            <a:extLst xmlns:a="http://schemas.openxmlformats.org/drawingml/2006/main">
              <a:ext uri="{FF2B5EF4-FFF2-40B4-BE49-F238E27FC236}">
                <a16:creationId xmlns:a16="http://schemas.microsoft.com/office/drawing/2014/main" id="{EA3AA38F-A431-4644-8FB5-3586CD6E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9115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['book', 'pen']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['book']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False True</a:t>
            </a:r>
          </a:p>
        </p:txBody>
      </p:sp>
      <p:sp>
        <p:nvSpPr>
          <p:cNvPr id="20" name="06">
            <a:extLst xmlns:a="http://schemas.openxmlformats.org/drawingml/2006/main">
              <a:ext uri="{FF2B5EF4-FFF2-40B4-BE49-F238E27FC236}">
                <a16:creationId xmlns:a16="http://schemas.microsoft.com/office/drawing/2014/main" id="{54284DD9-194F-4DE1-A322-CD1D20F6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2214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物件生命週期與 del">
            <a:extLst xmlns:a="http://schemas.openxmlformats.org/drawingml/2006/main">
              <a:ext uri="{FF2B5EF4-FFF2-40B4-BE49-F238E27FC236}">
                <a16:creationId xmlns:a16="http://schemas.microsoft.com/office/drawing/2014/main" id="{B7763682-360A-4B26-8C65-E720F34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物件生命週期與 del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26C01CF7-82BE-4A6F-99E2-F84269E0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7BCD0-2733-41D3-930C-AF65C128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4" name="建立與初始化">
            <a:extLst xmlns:a="http://schemas.openxmlformats.org/drawingml/2006/main">
              <a:ext uri="{FF2B5EF4-FFF2-40B4-BE49-F238E27FC236}">
                <a16:creationId xmlns:a16="http://schemas.microsoft.com/office/drawing/2014/main" id="{91B37A0D-9425-4417-BF0D-85A8F67E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288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建立與初始化</a:t>
            </a:r>
          </a:p>
        </p:txBody>
      </p:sp>
      <p:sp>
        <p:nvSpPr>
          <p:cNvPr id="5" name="__new__ / __init__">
            <a:extLst xmlns:a="http://schemas.openxmlformats.org/drawingml/2006/main">
              <a:ext uri="{FF2B5EF4-FFF2-40B4-BE49-F238E27FC236}">
                <a16:creationId xmlns:a16="http://schemas.microsoft.com/office/drawing/2014/main" id="{82983800-0557-4D44-B540-FBBB8D2D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__new__ / __init__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C1536-F758-42EA-96CD-A5051B1F8652}"/>
              </a:ext>
            </a:extLst>
          </p:cNvPr>
          <p:cNvCxnSpPr/>
          <p:nvPr/>
        </p:nvCxnSpPr>
        <p:spPr>
          <a:xfrm xmlns:a="http://schemas.openxmlformats.org/drawingml/2006/main">
            <a:off x="3971925" y="2762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FBF4F-8C6B-42F9-A99D-3AE4C862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2882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8" name="仍然可達">
            <a:extLst xmlns:a="http://schemas.openxmlformats.org/drawingml/2006/main">
              <a:ext uri="{FF2B5EF4-FFF2-40B4-BE49-F238E27FC236}">
                <a16:creationId xmlns:a16="http://schemas.microsoft.com/office/drawing/2014/main" id="{142C18AA-7A5B-4E8B-9FA0-672713EB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288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仍然可達</a:t>
            </a:r>
          </a:p>
        </p:txBody>
      </p:sp>
      <p:sp>
        <p:nvSpPr>
          <p:cNvPr id="9" name="名稱、屬性、容器參照">
            <a:extLst xmlns:a="http://schemas.openxmlformats.org/drawingml/2006/main">
              <a:ext uri="{FF2B5EF4-FFF2-40B4-BE49-F238E27FC236}">
                <a16:creationId xmlns:a16="http://schemas.microsoft.com/office/drawing/2014/main" id="{7D959A4C-914A-4FBE-8FB3-B847358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05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名稱、屬性、容器參照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CE952-ABD2-4C9C-9FB9-E7EB115FC3FA}"/>
              </a:ext>
            </a:extLst>
          </p:cNvPr>
          <p:cNvCxnSpPr/>
          <p:nvPr/>
        </p:nvCxnSpPr>
        <p:spPr>
          <a:xfrm xmlns:a="http://schemas.openxmlformats.org/drawingml/2006/main">
            <a:off x="7781925" y="2762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2B602-AE74-4E93-B34B-B8B6054E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28825"/>
            <a:ext cx="333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12" name="成為不可達">
            <a:extLst xmlns:a="http://schemas.openxmlformats.org/drawingml/2006/main">
              <a:ext uri="{FF2B5EF4-FFF2-40B4-BE49-F238E27FC236}">
                <a16:creationId xmlns:a16="http://schemas.microsoft.com/office/drawing/2014/main" id="{678ED407-1A1F-4632-87D6-79F6F12D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288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成為不可達</a:t>
            </a:r>
          </a:p>
        </p:txBody>
      </p:sp>
      <p:sp>
        <p:nvSpPr>
          <p:cNvPr id="13" name="之後可能由實作回收">
            <a:extLst xmlns:a="http://schemas.openxmlformats.org/drawingml/2006/main">
              <a:ext uri="{FF2B5EF4-FFF2-40B4-BE49-F238E27FC236}">
                <a16:creationId xmlns:a16="http://schemas.microsoft.com/office/drawing/2014/main" id="{995B58A2-E9AD-46B0-A23A-814C1AF9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05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之後可能由實作回收</a:t>
            </a:r>
          </a:p>
        </p:txBody>
      </p:sp>
      <p:sp>
        <p:nvSpPr>
          <p:cNvPr id="14" name="a = [10] b = a del a print(b)    # [10]">
            <a:extLst xmlns:a="http://schemas.openxmlformats.org/drawingml/2006/main">
              <a:ext uri="{FF2B5EF4-FFF2-40B4-BE49-F238E27FC236}">
                <a16:creationId xmlns:a16="http://schemas.microsoft.com/office/drawing/2014/main" id="{1D8EDC68-11A4-4FF7-9B0A-B96E88AE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5429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[10]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 = a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del a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print(b)    # [10]</a:t>
            </a:r>
          </a:p>
        </p:txBody>
      </p:sp>
      <p:sp>
        <p:nvSpPr>
          <p:cNvPr id="15" name="b 仍可取得同一個 list。 函式結束也可能留下回傳物件。">
            <a:extLst xmlns:a="http://schemas.openxmlformats.org/drawingml/2006/main">
              <a:ext uri="{FF2B5EF4-FFF2-40B4-BE49-F238E27FC236}">
                <a16:creationId xmlns:a16="http://schemas.microsoft.com/office/drawing/2014/main" id="{CB6140DE-12EC-4A19-9847-96B09C83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9575"/>
            <a:ext cx="5048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b 仍可取得同一個 list。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函式結束也可能留下回傳物件。</a:t>
            </a:r>
          </a:p>
        </p:txBody>
      </p:sp>
      <p:sp>
        <p:nvSpPr>
          <p:cNvPr id="16" name="del a 解除名稱 a 的繫結；只要 b 仍能取得物件，物件就仍然可達。">
            <a:extLst xmlns:a="http://schemas.openxmlformats.org/drawingml/2006/main">
              <a:ext uri="{FF2B5EF4-FFF2-40B4-BE49-F238E27FC236}">
                <a16:creationId xmlns:a16="http://schemas.microsoft.com/office/drawing/2014/main" id="{C12239F7-6DD8-4ECA-8E20-48E607FA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del a 解除名稱 a 的繫結；只要 b 仍能取得物件，物件就仍然可達。</a:t>
            </a:r>
          </a:p>
        </p:txBody>
      </p:sp>
      <p:sp>
        <p:nvSpPr>
          <p:cNvPr id="18" name="07">
            <a:extLst xmlns:a="http://schemas.openxmlformats.org/drawingml/2006/main">
              <a:ext uri="{FF2B5EF4-FFF2-40B4-BE49-F238E27FC236}">
                <a16:creationId xmlns:a16="http://schemas.microsoft.com/office/drawing/2014/main" id="{D627D524-8DE2-4E18-B362-95587C4F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9474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回收機制與資源釋放">
            <a:extLst xmlns:a="http://schemas.openxmlformats.org/drawingml/2006/main">
              <a:ext uri="{FF2B5EF4-FFF2-40B4-BE49-F238E27FC236}">
                <a16:creationId xmlns:a16="http://schemas.microsoft.com/office/drawing/2014/main" id="{DF6EEC31-C5CF-487D-982E-DBF9C91D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回收機制與資源釋放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ED4C7754-2258-493C-BEEC-720EBE8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CPython 的常見機制">
            <a:extLst xmlns:a="http://schemas.openxmlformats.org/drawingml/2006/main">
              <a:ext uri="{FF2B5EF4-FFF2-40B4-BE49-F238E27FC236}">
                <a16:creationId xmlns:a16="http://schemas.microsoft.com/office/drawing/2014/main" id="{1D138938-396A-4833-AB39-25FE563E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CPython 的常見機制</a:t>
            </a:r>
          </a:p>
        </p:txBody>
      </p:sp>
      <p:sp>
        <p:nvSpPr>
          <p:cNvPr id="4" name="參考計數搭配循環垃圾回收。">
            <a:extLst xmlns:a="http://schemas.openxmlformats.org/drawingml/2006/main">
              <a:ext uri="{FF2B5EF4-FFF2-40B4-BE49-F238E27FC236}">
                <a16:creationId xmlns:a16="http://schemas.microsoft.com/office/drawing/2014/main" id="{FB2B731A-E26D-4F63-864E-4F0FAD5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參考計數搭配循環垃圾回收。</a:t>
            </a:r>
          </a:p>
        </p:txBody>
      </p:sp>
      <p:sp>
        <p:nvSpPr>
          <p:cNvPr id="5" name="循環參考">
            <a:extLst xmlns:a="http://schemas.openxmlformats.org/drawingml/2006/main">
              <a:ext uri="{FF2B5EF4-FFF2-40B4-BE49-F238E27FC236}">
                <a16:creationId xmlns:a16="http://schemas.microsoft.com/office/drawing/2014/main" id="{A593C31C-4C2D-4723-B0B4-3C568474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循環參考</a:t>
            </a:r>
          </a:p>
        </p:txBody>
      </p:sp>
      <p:sp>
        <p:nvSpPr>
          <p:cNvPr id="6" name="兩個物件互相參照，仍可能整組不可達。">
            <a:extLst xmlns:a="http://schemas.openxmlformats.org/drawingml/2006/main">
              <a:ext uri="{FF2B5EF4-FFF2-40B4-BE49-F238E27FC236}">
                <a16:creationId xmlns:a16="http://schemas.microsoft.com/office/drawing/2014/main" id="{48A7B4D4-F194-461F-9B56-833E1693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兩個物件互相參照，仍可能整組不可達。</a:t>
            </a:r>
          </a:p>
        </p:txBody>
      </p:sp>
      <p:sp>
        <p:nvSpPr>
          <p:cNvPr id="7" name="可攜的程式假設">
            <a:extLst xmlns:a="http://schemas.openxmlformats.org/drawingml/2006/main">
              <a:ext uri="{FF2B5EF4-FFF2-40B4-BE49-F238E27FC236}">
                <a16:creationId xmlns:a16="http://schemas.microsoft.com/office/drawing/2014/main" id="{65C0C25E-0EC8-440C-8CBB-EADB6F88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可攜的程式假設</a:t>
            </a:r>
          </a:p>
        </p:txBody>
      </p:sp>
      <p:sp>
        <p:nvSpPr>
          <p:cNvPr id="8" name="不依賴物件立即回收或 __del__ 的執行時機。">
            <a:extLst xmlns:a="http://schemas.openxmlformats.org/drawingml/2006/main">
              <a:ext uri="{FF2B5EF4-FFF2-40B4-BE49-F238E27FC236}">
                <a16:creationId xmlns:a16="http://schemas.microsoft.com/office/drawing/2014/main" id="{605C327E-AAA4-47EF-992A-D9166E02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9570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不依賴物件立即回收或 __del__ 的執行時機。</a:t>
            </a:r>
          </a:p>
        </p:txBody>
      </p:sp>
      <p:sp>
        <p:nvSpPr>
          <p:cNvPr id="9" name="外部資源">
            <a:extLst xmlns:a="http://schemas.openxmlformats.org/drawingml/2006/main">
              <a:ext uri="{FF2B5EF4-FFF2-40B4-BE49-F238E27FC236}">
                <a16:creationId xmlns:a16="http://schemas.microsoft.com/office/drawing/2014/main" id="{9A499133-8A20-4F65-AC9D-185B335D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外部資源</a:t>
            </a:r>
          </a:p>
        </p:txBody>
      </p:sp>
      <p:sp>
        <p:nvSpPr>
          <p:cNvPr id="10" name="檔案等資源用 with 或明確的 close() 管理。">
            <a:extLst xmlns:a="http://schemas.openxmlformats.org/drawingml/2006/main">
              <a:ext uri="{FF2B5EF4-FFF2-40B4-BE49-F238E27FC236}">
                <a16:creationId xmlns:a16="http://schemas.microsoft.com/office/drawing/2014/main" id="{239C6EDE-153A-4AA0-8921-A64488E0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5772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檔案等資源用 with 或明確的 close() 管理。</a:t>
            </a:r>
          </a:p>
        </p:txBody>
      </p:sp>
      <p:sp>
        <p:nvSpPr>
          <p:cNvPr id="11" name="CPython 的實作機制與 Python 語言的保證要分開理解。">
            <a:extLst xmlns:a="http://schemas.openxmlformats.org/drawingml/2006/main">
              <a:ext uri="{FF2B5EF4-FFF2-40B4-BE49-F238E27FC236}">
                <a16:creationId xmlns:a16="http://schemas.microsoft.com/office/drawing/2014/main" id="{B8254C76-8195-478C-9D0A-76E98440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CPython 的實作機制與 Python 語言的保證要分開理解。</a:t>
            </a:r>
          </a:p>
        </p:txBody>
      </p:sp>
      <p:sp>
        <p:nvSpPr>
          <p:cNvPr id="13" name="08">
            <a:extLst xmlns:a="http://schemas.openxmlformats.org/drawingml/2006/main">
              <a:ext uri="{FF2B5EF4-FFF2-40B4-BE49-F238E27FC236}">
                <a16:creationId xmlns:a16="http://schemas.microsoft.com/office/drawing/2014/main" id="{EDF5B624-9370-4334-9D3D-EFEC383B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6639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with 管理檔案使用範圍">
            <a:extLst xmlns:a="http://schemas.openxmlformats.org/drawingml/2006/main">
              <a:ext uri="{FF2B5EF4-FFF2-40B4-BE49-F238E27FC236}">
                <a16:creationId xmlns:a16="http://schemas.microsoft.com/office/drawing/2014/main" id="{688998AA-BA14-4D1C-8E43-2F8EF90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with 管理檔案使用範圍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36F95169-7953-4D12-9D13-6EC4898A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with open(&quot;lesson_note.txt&quot;, &quot;w&quot;,">
            <a:extLst xmlns:a="http://schemas.openxmlformats.org/drawingml/2006/main">
              <a:ext uri="{FF2B5EF4-FFF2-40B4-BE49-F238E27FC236}">
                <a16:creationId xmlns:a16="http://schemas.microsoft.com/office/drawing/2014/main" id="{405177F6-2915-41E3-9156-DC097FEC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open("lesson_note.txt", "w",</a:t>
            </a:r>
          </a:p>
        </p:txBody>
      </p:sp>
      <p:sp>
        <p:nvSpPr>
          <p:cNvPr id="4" name="          encoding=&quot;utf-8&quot;) as file:">
            <a:extLst xmlns:a="http://schemas.openxmlformats.org/drawingml/2006/main">
              <a:ext uri="{FF2B5EF4-FFF2-40B4-BE49-F238E27FC236}">
                <a16:creationId xmlns:a16="http://schemas.microsoft.com/office/drawing/2014/main" id="{C3BBC50D-BF99-406A-A5C4-6062B71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encoding="utf-8") as file:</a:t>
            </a:r>
          </a:p>
        </p:txBody>
      </p:sp>
      <p:sp>
        <p:nvSpPr>
          <p:cNvPr id="5" name="    file.write(&quot;OOP\n&quot;)">
            <a:extLst xmlns:a="http://schemas.openxmlformats.org/drawingml/2006/main">
              <a:ext uri="{FF2B5EF4-FFF2-40B4-BE49-F238E27FC236}">
                <a16:creationId xmlns:a16="http://schemas.microsoft.com/office/drawing/2014/main" id="{C2CFDC1F-F38C-46A5-AE99-053C4439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file.write("OOP\n")</a:t>
            </a:r>
          </a:p>
        </p:txBody>
      </p:sp>
      <p:sp>
        <p:nvSpPr>
          <p:cNvPr id="6" name="    print(file.closed)">
            <a:extLst xmlns:a="http://schemas.openxmlformats.org/drawingml/2006/main">
              <a:ext uri="{FF2B5EF4-FFF2-40B4-BE49-F238E27FC236}">
                <a16:creationId xmlns:a16="http://schemas.microsoft.com/office/drawing/2014/main" id="{77798FAA-A098-4679-BEDC-78F3DA5F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print(file.closed)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D85C5-23A5-4089-9D73-84232E8E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print(file.closed)">
            <a:extLst xmlns:a="http://schemas.openxmlformats.org/drawingml/2006/main">
              <a:ext uri="{FF2B5EF4-FFF2-40B4-BE49-F238E27FC236}">
                <a16:creationId xmlns:a16="http://schemas.microsoft.com/office/drawing/2014/main" id="{46970EC2-E60C-40C6-B83D-3344848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print(file.closed)</a:t>
            </a:r>
          </a:p>
        </p:txBody>
      </p:sp>
      <p:sp>
        <p:nvSpPr>
          <p:cNvPr id="9" name="區塊內使用資源">
            <a:extLst xmlns:a="http://schemas.openxmlformats.org/drawingml/2006/main">
              <a:ext uri="{FF2B5EF4-FFF2-40B4-BE49-F238E27FC236}">
                <a16:creationId xmlns:a16="http://schemas.microsoft.com/office/drawing/2014/main" id="{5796B648-CE17-42DC-85C0-45FBAE16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區塊內使用資源</a:t>
            </a:r>
          </a:p>
        </p:txBody>
      </p:sp>
      <p:sp>
        <p:nvSpPr>
          <p:cNvPr id="10" name="file 物件提供寫入操作。">
            <a:extLst xmlns:a="http://schemas.openxmlformats.org/drawingml/2006/main">
              <a:ext uri="{FF2B5EF4-FFF2-40B4-BE49-F238E27FC236}">
                <a16:creationId xmlns:a16="http://schemas.microsoft.com/office/drawing/2014/main" id="{D0CA78BA-43CA-4FA8-A894-C507B6DB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file 物件提供寫入操作。</a:t>
            </a:r>
          </a:p>
        </p:txBody>
      </p:sp>
      <p:sp>
        <p:nvSpPr>
          <p:cNvPr id="11" name="離開區塊時關閉">
            <a:extLst xmlns:a="http://schemas.openxmlformats.org/drawingml/2006/main">
              <a:ext uri="{FF2B5EF4-FFF2-40B4-BE49-F238E27FC236}">
                <a16:creationId xmlns:a16="http://schemas.microsoft.com/office/drawing/2014/main" id="{8D46CAE7-CB89-4C8B-96DC-BA2ED645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離開區塊時關閉</a:t>
            </a:r>
          </a:p>
        </p:txBody>
      </p:sp>
      <p:sp>
        <p:nvSpPr>
          <p:cNvPr id="12" name="即使區塊內發生例外， 也會執行離開處理。">
            <a:extLst xmlns:a="http://schemas.openxmlformats.org/drawingml/2006/main">
              <a:ext uri="{FF2B5EF4-FFF2-40B4-BE49-F238E27FC236}">
                <a16:creationId xmlns:a16="http://schemas.microsoft.com/office/drawing/2014/main" id="{2707129E-F409-46C6-AE5E-7D1A3F8B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0530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即使區塊內發生例外，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也會執行離開處理。</a:t>
            </a:r>
          </a:p>
        </p:txBody>
      </p:sp>
      <p:sp>
        <p:nvSpPr>
          <p:cNvPr id="13" name="輸出（逐行）">
            <a:extLst xmlns:a="http://schemas.openxmlformats.org/drawingml/2006/main">
              <a:ext uri="{FF2B5EF4-FFF2-40B4-BE49-F238E27FC236}">
                <a16:creationId xmlns:a16="http://schemas.microsoft.com/office/drawing/2014/main" id="{62F65F99-C93B-45D6-9B50-1DE699A6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輸出（逐行）</a:t>
            </a:r>
          </a:p>
        </p:txBody>
      </p:sp>
      <p:sp>
        <p:nvSpPr>
          <p:cNvPr id="14" name="False True">
            <a:extLst xmlns:a="http://schemas.openxmlformats.org/drawingml/2006/main">
              <a:ext uri="{FF2B5EF4-FFF2-40B4-BE49-F238E27FC236}">
                <a16:creationId xmlns:a16="http://schemas.microsoft.com/office/drawing/2014/main" id="{103A678D-33E0-437E-9E4F-4166EEDE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9115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False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5" name="範例會在目前目錄建立或覆寫 lesson_note.txt。">
            <a:extLst xmlns:a="http://schemas.openxmlformats.org/drawingml/2006/main">
              <a:ext uri="{FF2B5EF4-FFF2-40B4-BE49-F238E27FC236}">
                <a16:creationId xmlns:a16="http://schemas.microsoft.com/office/drawing/2014/main" id="{AC3DC59A-E85A-47E5-98F8-0394EA6D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98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範例會在目前目錄建立或覆寫 lesson_note.txt。</a:t>
            </a:r>
          </a:p>
        </p:txBody>
      </p:sp>
      <p:sp>
        <p:nvSpPr>
          <p:cNvPr id="17" name="09">
            <a:extLst xmlns:a="http://schemas.openxmlformats.org/drawingml/2006/main">
              <a:ext uri="{FF2B5EF4-FFF2-40B4-BE49-F238E27FC236}">
                <a16:creationId xmlns:a16="http://schemas.microsoft.com/office/drawing/2014/main" id="{0ACB7ADC-20A1-42EE-BD83-50E4A70F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74512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第 5 週練習：預測共享範圍">
            <a:extLst xmlns:a="http://schemas.openxmlformats.org/drawingml/2006/main">
              <a:ext uri="{FF2B5EF4-FFF2-40B4-BE49-F238E27FC236}">
                <a16:creationId xmlns:a16="http://schemas.microsoft.com/office/drawing/2014/main" id="{0987E816-1312-44FE-8DFD-16A8AD35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第 5 週練習：預測共享範圍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60222495-334A-4292-B40C-4A0688AE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a = [[1], [2]]">
            <a:extLst xmlns:a="http://schemas.openxmlformats.org/drawingml/2006/main">
              <a:ext uri="{FF2B5EF4-FFF2-40B4-BE49-F238E27FC236}">
                <a16:creationId xmlns:a16="http://schemas.microsoft.com/office/drawing/2014/main" id="{20FD3E22-0FD8-4F9F-A696-38F4BE78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[[1], [2]]</a:t>
            </a:r>
          </a:p>
        </p:txBody>
      </p:sp>
      <p:sp>
        <p:nvSpPr>
          <p:cNvPr id="4" name="b = a.copy()">
            <a:extLst xmlns:a="http://schemas.openxmlformats.org/drawingml/2006/main">
              <a:ext uri="{FF2B5EF4-FFF2-40B4-BE49-F238E27FC236}">
                <a16:creationId xmlns:a16="http://schemas.microsoft.com/office/drawing/2014/main" id="{9907DD88-67A5-4585-A4D5-749EB6A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a.copy()</a:t>
            </a:r>
          </a:p>
        </p:txBody>
      </p:sp>
      <p:sp>
        <p:nvSpPr>
          <p:cNvPr id="5" name="b[0].append(9)">
            <a:extLst xmlns:a="http://schemas.openxmlformats.org/drawingml/2006/main">
              <a:ext uri="{FF2B5EF4-FFF2-40B4-BE49-F238E27FC236}">
                <a16:creationId xmlns:a16="http://schemas.microsoft.com/office/drawing/2014/main" id="{75B7CAC8-E763-4DB8-BFBD-7D0F65A0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b[0].append(9)</a:t>
            </a:r>
          </a:p>
        </p:txBody>
      </p:sp>
      <p:sp>
        <p:nvSpPr>
          <p:cNvPr id="6" name="b.append([3])">
            <a:extLst xmlns:a="http://schemas.openxmlformats.org/drawingml/2006/main">
              <a:ext uri="{FF2B5EF4-FFF2-40B4-BE49-F238E27FC236}">
                <a16:creationId xmlns:a16="http://schemas.microsoft.com/office/drawing/2014/main" id="{CFFA6ECB-F42F-41BA-852F-F719EE46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b.append([3])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FEAAF-393B-462A-B10C-B3CD315A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print(a)">
            <a:extLst xmlns:a="http://schemas.openxmlformats.org/drawingml/2006/main">
              <a:ext uri="{FF2B5EF4-FFF2-40B4-BE49-F238E27FC236}">
                <a16:creationId xmlns:a16="http://schemas.microsoft.com/office/drawing/2014/main" id="{E910991C-90CD-4E80-AD61-FE05B188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print(a)</a:t>
            </a:r>
          </a:p>
        </p:txBody>
      </p:sp>
      <p:sp>
        <p:nvSpPr>
          <p:cNvPr id="9" name="print(b)">
            <a:extLst xmlns:a="http://schemas.openxmlformats.org/drawingml/2006/main">
              <a:ext uri="{FF2B5EF4-FFF2-40B4-BE49-F238E27FC236}">
                <a16:creationId xmlns:a16="http://schemas.microsoft.com/office/drawing/2014/main" id="{843D10FF-6B95-4ED6-A411-772B0FD4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print(b)</a:t>
            </a:r>
          </a:p>
        </p:txBody>
      </p:sp>
      <p:sp>
        <p:nvSpPr>
          <p:cNvPr id="10" name="del a">
            <a:extLst xmlns:a="http://schemas.openxmlformats.org/drawingml/2006/main">
              <a:ext uri="{FF2B5EF4-FFF2-40B4-BE49-F238E27FC236}">
                <a16:creationId xmlns:a16="http://schemas.microsoft.com/office/drawing/2014/main" id="{34574ACA-7D4D-4F32-9A07-6CB28961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a</a:t>
            </a:r>
          </a:p>
        </p:txBody>
      </p:sp>
      <p:sp>
        <p:nvSpPr>
          <p:cNvPr id="11" name="print(b[0])">
            <a:extLst xmlns:a="http://schemas.openxmlformats.org/drawingml/2006/main">
              <a:ext uri="{FF2B5EF4-FFF2-40B4-BE49-F238E27FC236}">
                <a16:creationId xmlns:a16="http://schemas.microsoft.com/office/drawing/2014/main" id="{70534FF0-4358-46AD-8B88-02255713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print(b[0])</a:t>
            </a:r>
          </a:p>
        </p:txBody>
      </p:sp>
      <p:sp>
        <p:nvSpPr>
          <p:cNvPr id="12" name="問題">
            <a:extLst xmlns:a="http://schemas.openxmlformats.org/drawingml/2006/main">
              <a:ext uri="{FF2B5EF4-FFF2-40B4-BE49-F238E27FC236}">
                <a16:creationId xmlns:a16="http://schemas.microsoft.com/office/drawing/2014/main" id="{7D2CEE98-35F0-43FF-98B3-8608AE1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13" name="三個 print 的輸出分別是什麼？">
            <a:extLst xmlns:a="http://schemas.openxmlformats.org/drawingml/2006/main">
              <a:ext uri="{FF2B5EF4-FFF2-40B4-BE49-F238E27FC236}">
                <a16:creationId xmlns:a16="http://schemas.microsoft.com/office/drawing/2014/main" id="{D4CA8CE7-7A4B-4965-90D9-E440808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三個 print 的輸出分別是什麼？</a:t>
            </a:r>
          </a:p>
        </p:txBody>
      </p:sp>
      <p:sp>
        <p:nvSpPr>
          <p:cNvPr id="18" name="10">
            <a:extLst xmlns:a="http://schemas.openxmlformats.org/drawingml/2006/main">
              <a:ext uri="{FF2B5EF4-FFF2-40B4-BE49-F238E27FC236}">
                <a16:creationId xmlns:a16="http://schemas.microsoft.com/office/drawing/2014/main" id="{9353A334-E3B7-406B-A859-855BE794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1748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第 5 週練習解答">
            <a:extLst xmlns:a="http://schemas.openxmlformats.org/drawingml/2006/main">
              <a:ext uri="{FF2B5EF4-FFF2-40B4-BE49-F238E27FC236}">
                <a16:creationId xmlns:a16="http://schemas.microsoft.com/office/drawing/2014/main" id="{E306E2BD-EC0E-4723-8ABF-3C06128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第 5 週練習解答</a:t>
            </a:r>
          </a:p>
        </p:txBody>
      </p:sp>
      <p:sp>
        <p:nvSpPr>
          <p:cNvPr id="2" name="第 5 週　物件生命週期與記憶體模型">
            <a:extLst xmlns:a="http://schemas.openxmlformats.org/drawingml/2006/main">
              <a:ext uri="{FF2B5EF4-FFF2-40B4-BE49-F238E27FC236}">
                <a16:creationId xmlns:a16="http://schemas.microsoft.com/office/drawing/2014/main" id="{726FFE9D-E4DB-449C-A461-373EB1B3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5 週　物件生命週期與記憶體模型</a:t>
            </a:r>
          </a:p>
        </p:txBody>
      </p:sp>
      <p:sp>
        <p:nvSpPr>
          <p:cNvPr id="3" name="第一行 a">
            <a:extLst xmlns:a="http://schemas.openxmlformats.org/drawingml/2006/main">
              <a:ext uri="{FF2B5EF4-FFF2-40B4-BE49-F238E27FC236}">
                <a16:creationId xmlns:a16="http://schemas.microsoft.com/office/drawing/2014/main" id="{5BE44E66-5D1D-4ECE-A958-8312667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第一行 a</a:t>
            </a:r>
          </a:p>
        </p:txBody>
      </p:sp>
      <p:sp>
        <p:nvSpPr>
          <p:cNvPr id="4" name="[[1, 9], [2]]">
            <a:extLst xmlns:a="http://schemas.openxmlformats.org/drawingml/2006/main">
              <a:ext uri="{FF2B5EF4-FFF2-40B4-BE49-F238E27FC236}">
                <a16:creationId xmlns:a16="http://schemas.microsoft.com/office/drawing/2014/main" id="{662D2B46-3E54-4D63-AAE1-A99CA4F0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[[1, 9], [2]]</a:t>
            </a:r>
          </a:p>
        </p:txBody>
      </p:sp>
      <p:sp>
        <p:nvSpPr>
          <p:cNvPr id="5" name="第二行 b">
            <a:extLst xmlns:a="http://schemas.openxmlformats.org/drawingml/2006/main">
              <a:ext uri="{FF2B5EF4-FFF2-40B4-BE49-F238E27FC236}">
                <a16:creationId xmlns:a16="http://schemas.microsoft.com/office/drawing/2014/main" id="{ACC424A3-B290-4A0F-A26D-1D6CF9A6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第二行 b</a:t>
            </a:r>
          </a:p>
        </p:txBody>
      </p:sp>
      <p:sp>
        <p:nvSpPr>
          <p:cNvPr id="6" name="[[1, 9], [2], [3]]">
            <a:extLst xmlns:a="http://schemas.openxmlformats.org/drawingml/2006/main">
              <a:ext uri="{FF2B5EF4-FFF2-40B4-BE49-F238E27FC236}">
                <a16:creationId xmlns:a16="http://schemas.microsoft.com/office/drawing/2014/main" id="{DA1997BA-8C44-4A8E-B30A-BD76A994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[[1, 9], [2], [3]]</a:t>
            </a:r>
          </a:p>
        </p:txBody>
      </p:sp>
      <p:sp>
        <p:nvSpPr>
          <p:cNvPr id="7" name="第三行 b[0]">
            <a:extLst xmlns:a="http://schemas.openxmlformats.org/drawingml/2006/main">
              <a:ext uri="{FF2B5EF4-FFF2-40B4-BE49-F238E27FC236}">
                <a16:creationId xmlns:a16="http://schemas.microsoft.com/office/drawing/2014/main" id="{323ADAEC-0E84-4E8E-9F6B-6C70363C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第三行 b[0]</a:t>
            </a:r>
          </a:p>
        </p:txBody>
      </p:sp>
      <p:sp>
        <p:nvSpPr>
          <p:cNvPr id="8" name="[1, 9]">
            <a:extLst xmlns:a="http://schemas.openxmlformats.org/drawingml/2006/main">
              <a:ext uri="{FF2B5EF4-FFF2-40B4-BE49-F238E27FC236}">
                <a16:creationId xmlns:a16="http://schemas.microsoft.com/office/drawing/2014/main" id="{00FA12A0-F09A-447D-A5C0-ED64816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9570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[1, 9]</a:t>
            </a:r>
          </a:p>
        </p:txBody>
      </p:sp>
      <p:sp>
        <p:nvSpPr>
          <p:cNvPr id="9" name="理由">
            <a:extLst xmlns:a="http://schemas.openxmlformats.org/drawingml/2006/main">
              <a:ext uri="{FF2B5EF4-FFF2-40B4-BE49-F238E27FC236}">
                <a16:creationId xmlns:a16="http://schemas.microsoft.com/office/drawing/2014/main" id="{19B7BF3F-3B62-413D-89B5-7CF96BEA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理由</a:t>
            </a:r>
          </a:p>
        </p:txBody>
      </p:sp>
      <p:sp>
        <p:nvSpPr>
          <p:cNvPr id="10" name="外層分開、內層共用；刪除名稱 a 不影響 b 的繫結。">
            <a:extLst xmlns:a="http://schemas.openxmlformats.org/drawingml/2006/main">
              <a:ext uri="{FF2B5EF4-FFF2-40B4-BE49-F238E27FC236}">
                <a16:creationId xmlns:a16="http://schemas.microsoft.com/office/drawing/2014/main" id="{723811FC-5F37-45EA-A7D8-BA9943A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5772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外層分開、內層共用；刪除名稱 a 不影響 b 的繫結。</a:t>
            </a:r>
          </a:p>
        </p:txBody>
      </p:sp>
      <p:sp>
        <p:nvSpPr>
          <p:cNvPr id="11" name="若改成 deepcopy(a)，a 的第一個內層 list 會維持 [1]。">
            <a:extLst xmlns:a="http://schemas.openxmlformats.org/drawingml/2006/main">
              <a:ext uri="{FF2B5EF4-FFF2-40B4-BE49-F238E27FC236}">
                <a16:creationId xmlns:a16="http://schemas.microsoft.com/office/drawing/2014/main" id="{4FD4F708-F971-4E26-8501-244AA7C0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若改成 deepcopy(a)，a 的第一個內層 list 會維持 [1]。</a:t>
            </a:r>
          </a:p>
        </p:txBody>
      </p:sp>
      <p:sp>
        <p:nvSpPr>
          <p:cNvPr id="13" name="11">
            <a:extLst xmlns:a="http://schemas.openxmlformats.org/drawingml/2006/main">
              <a:ext uri="{FF2B5EF4-FFF2-40B4-BE49-F238E27FC236}">
                <a16:creationId xmlns:a16="http://schemas.microsoft.com/office/drawing/2014/main" id="{8464E8FB-6329-4AD2-BF66-9C925E1F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2492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ML 的用途">
            <a:extLst xmlns:a="http://schemas.openxmlformats.org/drawingml/2006/main">
              <a:ext uri="{FF2B5EF4-FFF2-40B4-BE49-F238E27FC236}">
                <a16:creationId xmlns:a16="http://schemas.microsoft.com/office/drawing/2014/main" id="{F7F54C52-26E8-4CBC-B07F-99AEDA27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UML 的用途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649B0F12-CAA9-49BD-AFA0-03350E85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UML：Unified Modeling Language（統一建模語言）">
            <a:extLst xmlns:a="http://schemas.openxmlformats.org/drawingml/2006/main">
              <a:ext uri="{FF2B5EF4-FFF2-40B4-BE49-F238E27FC236}">
                <a16:creationId xmlns:a16="http://schemas.microsoft.com/office/drawing/2014/main" id="{A9240A81-4F83-4C7F-91A8-6A10920A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906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UML：Unified Modeling Language（統一建模語言）</a:t>
            </a:r>
          </a:p>
        </p:txBody>
      </p:sp>
      <p:sp>
        <p:nvSpPr>
          <p:cNvPr id="4" name="以標準圖形與規則，描述系統的結構、行為與互動。">
            <a:extLst xmlns:a="http://schemas.openxmlformats.org/drawingml/2006/main">
              <a:ext uri="{FF2B5EF4-FFF2-40B4-BE49-F238E27FC236}">
                <a16:creationId xmlns:a16="http://schemas.microsoft.com/office/drawing/2014/main" id="{D299B9DB-C471-4D5E-AEB3-468C3450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以標準圖形與規則，描述系統的結構、行為與互動。</a:t>
            </a:r>
          </a:p>
        </p:txBody>
      </p:sp>
      <p:sp>
        <p:nvSpPr>
          <p:cNvPr id="5" name="需求">
            <a:extLst xmlns:a="http://schemas.openxmlformats.org/drawingml/2006/main">
              <a:ext uri="{FF2B5EF4-FFF2-40B4-BE49-F238E27FC236}">
                <a16:creationId xmlns:a16="http://schemas.microsoft.com/office/drawing/2014/main" id="{55E94BAF-87FA-4704-A1F8-2D0D8D8A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需求</a:t>
            </a:r>
          </a:p>
        </p:txBody>
      </p:sp>
      <p:sp>
        <p:nvSpPr>
          <p:cNvPr id="6" name="描述使用者目標與系統邊界。">
            <a:extLst xmlns:a="http://schemas.openxmlformats.org/drawingml/2006/main">
              <a:ext uri="{FF2B5EF4-FFF2-40B4-BE49-F238E27FC236}">
                <a16:creationId xmlns:a16="http://schemas.microsoft.com/office/drawing/2014/main" id="{D562A6A9-BC08-43E6-B73C-0FDB6780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86150"/>
            <a:ext cx="7839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描述使用者目標與系統邊界。</a:t>
            </a:r>
          </a:p>
        </p:txBody>
      </p:sp>
      <p:sp>
        <p:nvSpPr>
          <p:cNvPr id="7" name="設計">
            <a:extLst xmlns:a="http://schemas.openxmlformats.org/drawingml/2006/main">
              <a:ext uri="{FF2B5EF4-FFF2-40B4-BE49-F238E27FC236}">
                <a16:creationId xmlns:a16="http://schemas.microsoft.com/office/drawing/2014/main" id="{3C26B372-5337-4968-828A-87939738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設計</a:t>
            </a:r>
          </a:p>
        </p:txBody>
      </p:sp>
      <p:sp>
        <p:nvSpPr>
          <p:cNvPr id="8" name="表達類別責任、關係與合作方式。">
            <a:extLst xmlns:a="http://schemas.openxmlformats.org/drawingml/2006/main">
              <a:ext uri="{FF2B5EF4-FFF2-40B4-BE49-F238E27FC236}">
                <a16:creationId xmlns:a16="http://schemas.microsoft.com/office/drawing/2014/main" id="{C01AEA41-A340-44FC-AE50-3AA31A4C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71950"/>
            <a:ext cx="7839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表達類別責任、關係與合作方式。</a:t>
            </a:r>
          </a:p>
        </p:txBody>
      </p:sp>
      <p:sp>
        <p:nvSpPr>
          <p:cNvPr id="9" name="溝通與文件">
            <a:extLst xmlns:a="http://schemas.openxmlformats.org/drawingml/2006/main">
              <a:ext uri="{FF2B5EF4-FFF2-40B4-BE49-F238E27FC236}">
                <a16:creationId xmlns:a16="http://schemas.microsoft.com/office/drawing/2014/main" id="{E3F8D52D-7203-40E7-BD26-D9AE9FAE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溝通與文件</a:t>
            </a:r>
          </a:p>
        </p:txBody>
      </p:sp>
      <p:sp>
        <p:nvSpPr>
          <p:cNvPr id="10" name="以共同符號討論並記錄設計。">
            <a:extLst xmlns:a="http://schemas.openxmlformats.org/drawingml/2006/main">
              <a:ext uri="{FF2B5EF4-FFF2-40B4-BE49-F238E27FC236}">
                <a16:creationId xmlns:a16="http://schemas.microsoft.com/office/drawing/2014/main" id="{ACB4E1CC-B54A-45C2-ADA5-88B6E098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57750"/>
            <a:ext cx="7839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以共同符號討論並記錄設計。</a:t>
            </a:r>
          </a:p>
        </p:txBody>
      </p:sp>
      <p:sp>
        <p:nvSpPr>
          <p:cNvPr id="11" name="同一個系統可用不同 UML 圖，呈現不同的設計面向。">
            <a:extLst xmlns:a="http://schemas.openxmlformats.org/drawingml/2006/main">
              <a:ext uri="{FF2B5EF4-FFF2-40B4-BE49-F238E27FC236}">
                <a16:creationId xmlns:a16="http://schemas.microsoft.com/office/drawing/2014/main" id="{58D4C3E6-3FE8-450D-829D-46BFE60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同一個系統可用不同 UML 圖，呈現不同的設計面向。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9AFEBF79-3A61-43CA-9626-73B7A8B0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398853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 UML 圖的關注面向">
            <a:extLst xmlns:a="http://schemas.openxmlformats.org/drawingml/2006/main">
              <a:ext uri="{FF2B5EF4-FFF2-40B4-BE49-F238E27FC236}">
                <a16:creationId xmlns:a16="http://schemas.microsoft.com/office/drawing/2014/main" id="{29A65151-551D-48CA-98E2-CED4711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常見 UML 圖的關注面向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C7B4FB54-58BB-41EF-BA73-B176455D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30D7E-D880-46DF-988D-0994C896D397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4857750"/>
                <a:gridCol w="3352800"/>
              </a:tblGrid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圖種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表達的內容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類別圖</a:t>
                      </a:r>
                    </a:p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 Diagram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類別的屬性、操作與關係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 與 Enrollment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物件圖</a:t>
                      </a:r>
                    </a:p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Object Diagram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某個時刻的實體、值與連結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amy:Student 的姓名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使用案例圖</a:t>
                      </a:r>
                    </a:p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 Case Diagram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參與者與系統提供的目標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學生進行選課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循序圖</a:t>
                      </a:r>
                    </a:p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Sequence Diagram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互動參與者之間的訊息順序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查課程、檢查名額、登錄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4" name="本教材以類別圖為主，搭配物件圖連結到程式執行時的狀態。">
            <a:extLst xmlns:a="http://schemas.openxmlformats.org/drawingml/2006/main">
              <a:ext uri="{FF2B5EF4-FFF2-40B4-BE49-F238E27FC236}">
                <a16:creationId xmlns:a16="http://schemas.microsoft.com/office/drawing/2014/main" id="{8067F2CD-6F70-48C0-B76B-89F1BD99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本教材以類別圖為主，搭配物件圖連結到程式執行時的狀態。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1F0B9288-36B6-49B7-B49E-22DF5CF1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597583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UML 類別方框">
            <a:extLst xmlns:a="http://schemas.openxmlformats.org/drawingml/2006/main">
              <a:ext uri="{FF2B5EF4-FFF2-40B4-BE49-F238E27FC236}">
                <a16:creationId xmlns:a16="http://schemas.microsoft.com/office/drawing/2014/main" id="{02F3C591-8A16-41D8-AFFD-584A00B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UML 類別方框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D7980C22-E2A9-4FAE-AB11-A275ACCA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355DB-5549-4240-B445-61D8066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4" name="Student">
            <a:extLst xmlns:a="http://schemas.openxmlformats.org/drawingml/2006/main">
              <a:ext uri="{FF2B5EF4-FFF2-40B4-BE49-F238E27FC236}">
                <a16:creationId xmlns:a16="http://schemas.microsoft.com/office/drawing/2014/main" id="{E6E29316-2A36-453D-9430-8496CB2C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Student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EFD54-7759-4B65-885E-6BD08CD98D73}"/>
              </a:ext>
            </a:extLst>
          </p:cNvPr>
          <p:cNvCxnSpPr/>
          <p:nvPr/>
        </p:nvCxnSpPr>
        <p:spPr>
          <a:xfrm xmlns:a="http://schemas.openxmlformats.org/drawingml/2006/main">
            <a:off x="666750" y="24574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6" name="- name: str">
            <a:extLst xmlns:a="http://schemas.openxmlformats.org/drawingml/2006/main">
              <a:ext uri="{FF2B5EF4-FFF2-40B4-BE49-F238E27FC236}">
                <a16:creationId xmlns:a16="http://schemas.microsoft.com/office/drawing/2014/main" id="{D55B16D4-26D1-41D3-B057-9C4A16CA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610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- name: str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BF721-E9A1-4376-B878-7583E5F0A6F3}"/>
              </a:ext>
            </a:extLst>
          </p:cNvPr>
          <p:cNvCxnSpPr/>
          <p:nvPr/>
        </p:nvCxnSpPr>
        <p:spPr>
          <a:xfrm xmlns:a="http://schemas.openxmlformats.org/drawingml/2006/main">
            <a:off x="666750" y="45910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8" name="+ rename(new_name)">
            <a:extLst xmlns:a="http://schemas.openxmlformats.org/drawingml/2006/main">
              <a:ext uri="{FF2B5EF4-FFF2-40B4-BE49-F238E27FC236}">
                <a16:creationId xmlns:a16="http://schemas.microsoft.com/office/drawing/2014/main" id="{C75E3F53-2DA8-4B79-BF1E-F8E7B84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+ rename(new_name)</a:t>
            </a:r>
          </a:p>
        </p:txBody>
      </p:sp>
      <p:sp>
        <p:nvSpPr>
          <p:cNvPr id="9" name="類別名稱 屬性與型別 操作與參數">
            <a:extLst xmlns:a="http://schemas.openxmlformats.org/drawingml/2006/main">
              <a:ext uri="{FF2B5EF4-FFF2-40B4-BE49-F238E27FC236}">
                <a16:creationId xmlns:a16="http://schemas.microsoft.com/office/drawing/2014/main" id="{3A0F6CF4-348A-40D2-8266-9F568EBD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85975"/>
            <a:ext cx="504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類別名稱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屬性與型別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操作與參數</a:t>
            </a:r>
          </a:p>
        </p:txBody>
      </p:sp>
      <p:sp>
        <p:nvSpPr>
          <p:cNvPr id="10" name="+ public - private">
            <a:extLst xmlns:a="http://schemas.openxmlformats.org/drawingml/2006/main">
              <a:ext uri="{FF2B5EF4-FFF2-40B4-BE49-F238E27FC236}">
                <a16:creationId xmlns:a16="http://schemas.microsoft.com/office/drawing/2014/main" id="{02D211A3-54D7-4822-BBDA-3011AD8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76725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+ public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- private</a:t>
            </a:r>
          </a:p>
        </p:txBody>
      </p:sp>
      <p:sp>
        <p:nvSpPr>
          <p:cNvPr id="11" name="Python 的 _name 是非公開慣例；UML 的 - 是設計層的可見性標示。">
            <a:extLst xmlns:a="http://schemas.openxmlformats.org/drawingml/2006/main">
              <a:ext uri="{FF2B5EF4-FFF2-40B4-BE49-F238E27FC236}">
                <a16:creationId xmlns:a16="http://schemas.microsoft.com/office/drawing/2014/main" id="{F34EA931-EE1F-43CA-8C80-9D011CA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Python 的 _name 是非公開慣例；UML 的 - 是設計層的可見性標示。</a:t>
            </a:r>
          </a:p>
        </p:txBody>
      </p:sp>
      <p:sp>
        <p:nvSpPr>
          <p:cNvPr id="13" name="14">
            <a:extLst xmlns:a="http://schemas.openxmlformats.org/drawingml/2006/main">
              <a:ext uri="{FF2B5EF4-FFF2-40B4-BE49-F238E27FC236}">
                <a16:creationId xmlns:a16="http://schemas.microsoft.com/office/drawing/2014/main" id="{81978FC6-0E53-4BA8-89D4-A16B4C7B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38198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屬性與操作的記法">
            <a:extLst xmlns:a="http://schemas.openxmlformats.org/drawingml/2006/main">
              <a:ext uri="{FF2B5EF4-FFF2-40B4-BE49-F238E27FC236}">
                <a16:creationId xmlns:a16="http://schemas.microsoft.com/office/drawing/2014/main" id="{DC7E169C-112F-4FA5-B240-EBC9C9C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屬性與操作的記法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021B0E16-1ED4-4029-A43B-FF7CDAB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- name: String">
            <a:extLst xmlns:a="http://schemas.openxmlformats.org/drawingml/2006/main">
              <a:ext uri="{FF2B5EF4-FFF2-40B4-BE49-F238E27FC236}">
                <a16:creationId xmlns:a16="http://schemas.microsoft.com/office/drawing/2014/main" id="{16AEC7BF-9582-461F-98B6-C755D4F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5381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- name: String</a:t>
            </a:r>
          </a:p>
        </p:txBody>
      </p:sp>
      <p:sp>
        <p:nvSpPr>
          <p:cNvPr id="4" name="name 是屬性名稱，String 是型別。">
            <a:extLst xmlns:a="http://schemas.openxmlformats.org/drawingml/2006/main">
              <a:ext uri="{FF2B5EF4-FFF2-40B4-BE49-F238E27FC236}">
                <a16:creationId xmlns:a16="http://schemas.microsoft.com/office/drawing/2014/main" id="{289B4418-8FAC-4E46-B5CF-0566CB40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28825"/>
            <a:ext cx="5162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name 是屬性名稱，String 是型別。</a:t>
            </a:r>
          </a:p>
        </p:txBody>
      </p:sp>
      <p:sp>
        <p:nvSpPr>
          <p:cNvPr id="5" name="+ rename(newName: String)">
            <a:extLst xmlns:a="http://schemas.openxmlformats.org/drawingml/2006/main">
              <a:ext uri="{FF2B5EF4-FFF2-40B4-BE49-F238E27FC236}">
                <a16:creationId xmlns:a16="http://schemas.microsoft.com/office/drawing/2014/main" id="{CA19524A-255F-4BE3-8C92-379E2A0E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1350"/>
            <a:ext cx="5381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+ rename(newName: String)</a:t>
            </a:r>
          </a:p>
        </p:txBody>
      </p:sp>
      <p:sp>
        <p:nvSpPr>
          <p:cNvPr id="6" name="rename 是操作；newName 是參數。">
            <a:extLst xmlns:a="http://schemas.openxmlformats.org/drawingml/2006/main">
              <a:ext uri="{FF2B5EF4-FFF2-40B4-BE49-F238E27FC236}">
                <a16:creationId xmlns:a16="http://schemas.microsoft.com/office/drawing/2014/main" id="{82E3EA84-D8BD-46FE-9809-4BE5FA78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81350"/>
            <a:ext cx="5162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rename 是操作；newName 是參數。</a:t>
            </a:r>
          </a:p>
        </p:txBody>
      </p:sp>
      <p:sp>
        <p:nvSpPr>
          <p:cNvPr id="7" name="+ score: Real [0..1]">
            <a:extLst xmlns:a="http://schemas.openxmlformats.org/drawingml/2006/main">
              <a:ext uri="{FF2B5EF4-FFF2-40B4-BE49-F238E27FC236}">
                <a16:creationId xmlns:a16="http://schemas.microsoft.com/office/drawing/2014/main" id="{DB1A3BB0-7CC0-446C-8BAC-4A7F30CD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5381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+ score: Real [0..1]</a:t>
            </a:r>
          </a:p>
        </p:txBody>
      </p:sp>
      <p:sp>
        <p:nvSpPr>
          <p:cNvPr id="8" name="score 可沒有值，或具有一個 Real 值。">
            <a:extLst xmlns:a="http://schemas.openxmlformats.org/drawingml/2006/main">
              <a:ext uri="{FF2B5EF4-FFF2-40B4-BE49-F238E27FC236}">
                <a16:creationId xmlns:a16="http://schemas.microsoft.com/office/drawing/2014/main" id="{6BE600CF-DAB4-4159-B98E-F48BC1DB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33875"/>
            <a:ext cx="5162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score 可沒有值，或具有一個 Real 值。</a:t>
            </a:r>
          </a:p>
        </p:txBody>
      </p:sp>
      <p:sp>
        <p:nvSpPr>
          <p:cNvPr id="9" name="+ 表公開，- 表私有；方括號內的多重性描述該屬性可具有的值的數量。">
            <a:extLst xmlns:a="http://schemas.openxmlformats.org/drawingml/2006/main">
              <a:ext uri="{FF2B5EF4-FFF2-40B4-BE49-F238E27FC236}">
                <a16:creationId xmlns:a16="http://schemas.microsoft.com/office/drawing/2014/main" id="{57194363-F2B7-4180-8CEA-D1136BB0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+ 表公開，- 表私有；方括號內的多重性描述該屬性可具有的值的數量。</a:t>
            </a:r>
          </a:p>
        </p:txBody>
      </p:sp>
      <p:sp>
        <p:nvSpPr>
          <p:cNvPr id="10" name="15">
            <a:extLst xmlns:a="http://schemas.openxmlformats.org/drawingml/2006/main">
              <a:ext uri="{FF2B5EF4-FFF2-40B4-BE49-F238E27FC236}">
                <a16:creationId xmlns:a16="http://schemas.microsoft.com/office/drawing/2014/main" id="{D3D19978-4367-4858-B8C0-9135F557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032881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類別圖與物件圖">
            <a:extLst xmlns:a="http://schemas.openxmlformats.org/drawingml/2006/main">
              <a:ext uri="{FF2B5EF4-FFF2-40B4-BE49-F238E27FC236}">
                <a16:creationId xmlns:a16="http://schemas.microsoft.com/office/drawing/2014/main" id="{2A6311AB-2E29-4E29-A1A6-C4CAB56E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類別圖與物件圖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C55709B5-0734-4711-A5ED-AAD3185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類別圖：型別的結構">
            <a:extLst xmlns:a="http://schemas.openxmlformats.org/drawingml/2006/main">
              <a:ext uri="{FF2B5EF4-FFF2-40B4-BE49-F238E27FC236}">
                <a16:creationId xmlns:a16="http://schemas.microsoft.com/office/drawing/2014/main" id="{D2E7ABAA-F9B8-4F74-8110-01E333EB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類別圖：型別的結構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EA048-ABD1-483E-9DF0-CB37378A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90775"/>
            <a:ext cx="4095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</a:ln>
        </p:spPr>
      </p:sp>
      <p:sp>
        <p:nvSpPr>
          <p:cNvPr id="5" name="Student">
            <a:extLst xmlns:a="http://schemas.openxmlformats.org/drawingml/2006/main">
              <a:ext uri="{FF2B5EF4-FFF2-40B4-BE49-F238E27FC236}">
                <a16:creationId xmlns:a16="http://schemas.microsoft.com/office/drawing/2014/main" id="{3EE60A3E-1D1F-4B8E-B3BC-7CEC77E5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46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Student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8B611-F5B9-4091-B57F-1AE1FDC29CC5}"/>
              </a:ext>
            </a:extLst>
          </p:cNvPr>
          <p:cNvCxnSpPr/>
          <p:nvPr/>
        </p:nvCxnSpPr>
        <p:spPr>
          <a:xfrm xmlns:a="http://schemas.openxmlformats.org/drawingml/2006/main">
            <a:off x="619125" y="302895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</a:ln>
        </p:spPr>
      </p:cxnSp>
      <p:sp>
        <p:nvSpPr>
          <p:cNvPr id="7" name="- name: String">
            <a:extLst xmlns:a="http://schemas.openxmlformats.org/drawingml/2006/main">
              <a:ext uri="{FF2B5EF4-FFF2-40B4-BE49-F238E27FC236}">
                <a16:creationId xmlns:a16="http://schemas.microsoft.com/office/drawing/2014/main" id="{48E5731D-9B64-4837-BE4C-17360A3E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670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- name: String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C0AA8-1DD3-4346-857A-F591C82E1737}"/>
              </a:ext>
            </a:extLst>
          </p:cNvPr>
          <p:cNvCxnSpPr/>
          <p:nvPr/>
        </p:nvCxnSpPr>
        <p:spPr>
          <a:xfrm xmlns:a="http://schemas.openxmlformats.org/drawingml/2006/main">
            <a:off x="619125" y="434340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</a:ln>
        </p:spPr>
      </p:cxnSp>
      <p:sp>
        <p:nvSpPr>
          <p:cNvPr id="9" name="+ rename(newName)">
            <a:extLst xmlns:a="http://schemas.openxmlformats.org/drawingml/2006/main">
              <a:ext uri="{FF2B5EF4-FFF2-40B4-BE49-F238E27FC236}">
                <a16:creationId xmlns:a16="http://schemas.microsoft.com/office/drawing/2014/main" id="{ABB39434-59D7-4887-8CFF-FE74C3D1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+ rename(newName)</a:t>
            </a:r>
          </a:p>
        </p:txBody>
      </p:sp>
      <p:sp>
        <p:nvSpPr>
          <p:cNvPr id="10" name="物件圖：特定時刻的實體">
            <a:extLst xmlns:a="http://schemas.openxmlformats.org/drawingml/2006/main">
              <a:ext uri="{FF2B5EF4-FFF2-40B4-BE49-F238E27FC236}">
                <a16:creationId xmlns:a16="http://schemas.microsoft.com/office/drawing/2014/main" id="{F61356C0-FD95-441E-B4C7-FB871228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物件圖：特定時刻的實體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9EC4B-F963-46FA-8D82-3DC5F953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90775"/>
            <a:ext cx="5381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</a:ln>
        </p:spPr>
      </p:sp>
      <p:sp>
        <p:nvSpPr>
          <p:cNvPr id="12" name="amy : Student">
            <a:extLst xmlns:a="http://schemas.openxmlformats.org/drawingml/2006/main">
              <a:ext uri="{FF2B5EF4-FFF2-40B4-BE49-F238E27FC236}">
                <a16:creationId xmlns:a16="http://schemas.microsoft.com/office/drawing/2014/main" id="{64321A3C-3200-4E9E-B337-2144B2C7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050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 u="sng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2100" b="1" u="sng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2100" b="1" u="sng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: Student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2E764-1CBE-4338-9CCC-1BC0CE830A87}"/>
              </a:ext>
            </a:extLst>
          </p:cNvPr>
          <p:cNvCxnSpPr/>
          <p:nvPr/>
        </p:nvCxnSpPr>
        <p:spPr>
          <a:xfrm xmlns:a="http://schemas.openxmlformats.org/drawingml/2006/main">
            <a:off x="6191250" y="2971800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</a:ln>
        </p:spPr>
      </p:cxnSp>
      <p:sp>
        <p:nvSpPr>
          <p:cNvPr id="14" name="name = &quot;Amy&quot;">
            <a:extLst xmlns:a="http://schemas.openxmlformats.org/drawingml/2006/main">
              <a:ext uri="{FF2B5EF4-FFF2-40B4-BE49-F238E27FC236}">
                <a16:creationId xmlns:a16="http://schemas.microsoft.com/office/drawing/2014/main" id="{C1D43566-EA1A-4C40-847A-6C01A81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71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 = "Amy"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5F96F-AF23-4F32-A26E-6B3A2D17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5381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</a:ln>
        </p:spPr>
      </p:sp>
      <p:sp>
        <p:nvSpPr>
          <p:cNvPr id="16" name="bob : Student">
            <a:extLst xmlns:a="http://schemas.openxmlformats.org/drawingml/2006/main">
              <a:ext uri="{FF2B5EF4-FFF2-40B4-BE49-F238E27FC236}">
                <a16:creationId xmlns:a16="http://schemas.microsoft.com/office/drawing/2014/main" id="{2B512C22-266C-4DE2-A57E-1C4201F2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814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 u="sng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2100" b="1" u="sng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2100" b="1" u="sng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bob : Student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544E9-8B5C-47DA-BB9D-D2167859163E}"/>
              </a:ext>
            </a:extLst>
          </p:cNvPr>
          <p:cNvCxnSpPr/>
          <p:nvPr/>
        </p:nvCxnSpPr>
        <p:spPr>
          <a:xfrm xmlns:a="http://schemas.openxmlformats.org/drawingml/2006/main">
            <a:off x="6191250" y="4648200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</a:ln>
        </p:spPr>
      </p:cxnSp>
      <p:sp>
        <p:nvSpPr>
          <p:cNvPr id="18" name="name = &quot;Bob&quot;">
            <a:extLst xmlns:a="http://schemas.openxmlformats.org/drawingml/2006/main">
              <a:ext uri="{FF2B5EF4-FFF2-40B4-BE49-F238E27FC236}">
                <a16:creationId xmlns:a16="http://schemas.microsoft.com/office/drawing/2014/main" id="{8E659D75-D782-4733-A753-F54F469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82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 = "Bob"</a:t>
            </a:r>
          </a:p>
        </p:txBody>
      </p:sp>
      <p:sp>
        <p:nvSpPr>
          <p:cNvPr id="19" name="物件圖以加底線的「物件名稱 : 類別名稱」標示實體；同一類別可有多個實體。">
            <a:extLst xmlns:a="http://schemas.openxmlformats.org/drawingml/2006/main">
              <a:ext uri="{FF2B5EF4-FFF2-40B4-BE49-F238E27FC236}">
                <a16:creationId xmlns:a16="http://schemas.microsoft.com/office/drawing/2014/main" id="{9D8A48E2-1503-40D5-8B3A-9F7E0EF9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物件圖以加底線的「物件名稱 : 類別名稱」標示實體；同一類別可有多個實體。</a:t>
            </a:r>
          </a:p>
        </p:txBody>
      </p:sp>
      <p:sp>
        <p:nvSpPr>
          <p:cNvPr id="20" name="16">
            <a:extLst xmlns:a="http://schemas.openxmlformats.org/drawingml/2006/main">
              <a:ext uri="{FF2B5EF4-FFF2-40B4-BE49-F238E27FC236}">
                <a16:creationId xmlns:a16="http://schemas.microsoft.com/office/drawing/2014/main" id="{37196AC8-FDC3-4800-A77D-215577DE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605363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常見類別關係與符號">
            <a:extLst xmlns:a="http://schemas.openxmlformats.org/drawingml/2006/main">
              <a:ext uri="{FF2B5EF4-FFF2-40B4-BE49-F238E27FC236}">
                <a16:creationId xmlns:a16="http://schemas.microsoft.com/office/drawing/2014/main" id="{E18B7B5B-7F18-4F94-83A9-599ACD4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常見類別關係與符號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4F14D79A-213B-4E1A-828C-B112F706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關聯 Association">
            <a:extLst xmlns:a="http://schemas.openxmlformats.org/drawingml/2006/main">
              <a:ext uri="{FF2B5EF4-FFF2-40B4-BE49-F238E27FC236}">
                <a16:creationId xmlns:a16="http://schemas.microsoft.com/office/drawing/2014/main" id="{A5A98564-BDEA-4442-90DF-4A51E2B3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關聯 Association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4535A-1808-47B9-A34F-87012D8E3D8F}"/>
              </a:ext>
            </a:extLst>
          </p:cNvPr>
          <p:cNvCxnSpPr/>
          <p:nvPr/>
        </p:nvCxnSpPr>
        <p:spPr>
          <a:xfrm xmlns:a="http://schemas.openxmlformats.org/drawingml/2006/main">
            <a:off x="4371975" y="20193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5" name="持續的結構關係">
            <a:extLst xmlns:a="http://schemas.openxmlformats.org/drawingml/2006/main">
              <a:ext uri="{FF2B5EF4-FFF2-40B4-BE49-F238E27FC236}">
                <a16:creationId xmlns:a16="http://schemas.microsoft.com/office/drawing/2014/main" id="{657D488A-DD70-4BDA-9EE2-A389FA83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4785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持續的結構關係</a:t>
            </a:r>
          </a:p>
        </p:txBody>
      </p:sp>
      <p:sp>
        <p:nvSpPr>
          <p:cNvPr id="6" name="依賴 Dependency">
            <a:extLst xmlns:a="http://schemas.openxmlformats.org/drawingml/2006/main">
              <a:ext uri="{FF2B5EF4-FFF2-40B4-BE49-F238E27FC236}">
                <a16:creationId xmlns:a16="http://schemas.microsoft.com/office/drawing/2014/main" id="{3AC06A88-7E06-4D7B-840C-CCE9DAD8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812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依賴 Dependency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B1363-6DE0-4DFF-ACB3-B1AE21BF8FC7}"/>
              </a:ext>
            </a:extLst>
          </p:cNvPr>
          <p:cNvCxnSpPr/>
          <p:nvPr/>
        </p:nvCxnSpPr>
        <p:spPr>
          <a:xfrm xmlns:a="http://schemas.openxmlformats.org/drawingml/2006/main">
            <a:off x="4371975" y="275272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dash"/>
            <a:tailEnd type="arrow" w="med" len="med"/>
          </a:ln>
        </p:spPr>
      </p:cxnSp>
      <p:sp>
        <p:nvSpPr>
          <p:cNvPr id="8" name="使用者依賴供應者">
            <a:extLst xmlns:a="http://schemas.openxmlformats.org/drawingml/2006/main">
              <a:ext uri="{FF2B5EF4-FFF2-40B4-BE49-F238E27FC236}">
                <a16:creationId xmlns:a16="http://schemas.microsoft.com/office/drawing/2014/main" id="{7E57DFEC-8F2E-470F-A91F-587A6E80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81275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使用者依賴供應者</a:t>
            </a:r>
          </a:p>
        </p:txBody>
      </p:sp>
      <p:sp>
        <p:nvSpPr>
          <p:cNvPr id="9" name="聚合 Aggregation">
            <a:extLst xmlns:a="http://schemas.openxmlformats.org/drawingml/2006/main">
              <a:ext uri="{FF2B5EF4-FFF2-40B4-BE49-F238E27FC236}">
                <a16:creationId xmlns:a16="http://schemas.microsoft.com/office/drawing/2014/main" id="{8CD694D8-8362-4FEB-A1EA-BA37B4D2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聚合 Aggregation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C12EF-A636-430E-B1ED-759974FD9812}"/>
              </a:ext>
            </a:extLst>
          </p:cNvPr>
          <p:cNvCxnSpPr/>
          <p:nvPr/>
        </p:nvCxnSpPr>
        <p:spPr>
          <a:xfrm xmlns:a="http://schemas.openxmlformats.org/drawingml/2006/main">
            <a:off x="4371975" y="34861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2CCE2-2A75-46F0-B9CF-3C434429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32B3A"/>
            </a:solidFill>
          </a:ln>
        </p:spPr>
      </p:sp>
      <p:sp>
        <p:nvSpPr>
          <p:cNvPr id="12" name="整體／部分，空心菱形">
            <a:extLst xmlns:a="http://schemas.openxmlformats.org/drawingml/2006/main">
              <a:ext uri="{FF2B5EF4-FFF2-40B4-BE49-F238E27FC236}">
                <a16:creationId xmlns:a16="http://schemas.microsoft.com/office/drawing/2014/main" id="{3F35E955-F747-4D07-BAC0-E79DFC1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1470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整體／部分，空心菱形</a:t>
            </a:r>
          </a:p>
        </p:txBody>
      </p:sp>
      <p:sp>
        <p:nvSpPr>
          <p:cNvPr id="13" name="組合 Composition">
            <a:extLst xmlns:a="http://schemas.openxmlformats.org/drawingml/2006/main">
              <a:ext uri="{FF2B5EF4-FFF2-40B4-BE49-F238E27FC236}">
                <a16:creationId xmlns:a16="http://schemas.microsoft.com/office/drawing/2014/main" id="{99E30247-E44D-4098-8530-5B78460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組合 Composition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9A2D6-78AF-4463-8DB1-7B1151FDBE83}"/>
              </a:ext>
            </a:extLst>
          </p:cNvPr>
          <p:cNvCxnSpPr/>
          <p:nvPr/>
        </p:nvCxnSpPr>
        <p:spPr>
          <a:xfrm xmlns:a="http://schemas.openxmlformats.org/drawingml/2006/main">
            <a:off x="4371975" y="42195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AC5EE-71F7-4EAF-83DB-98848F1B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05275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32B3A"/>
          </a:solidFill>
          <a:ln xmlns:a="http://schemas.openxmlformats.org/drawingml/2006/main" w="19050">
            <a:solidFill>
              <a:srgbClr val="132B3A"/>
            </a:solidFill>
          </a:ln>
        </p:spPr>
      </p:sp>
      <p:sp>
        <p:nvSpPr>
          <p:cNvPr id="16" name="整體／部分，實心菱形">
            <a:extLst xmlns:a="http://schemas.openxmlformats.org/drawingml/2006/main">
              <a:ext uri="{FF2B5EF4-FFF2-40B4-BE49-F238E27FC236}">
                <a16:creationId xmlns:a16="http://schemas.microsoft.com/office/drawing/2014/main" id="{427D8F79-56B0-4FA0-9246-E97BB1C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48125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整體／部分，實心菱形</a:t>
            </a:r>
          </a:p>
        </p:txBody>
      </p:sp>
      <p:sp>
        <p:nvSpPr>
          <p:cNvPr id="17" name="一般化 Generalization">
            <a:extLst xmlns:a="http://schemas.openxmlformats.org/drawingml/2006/main">
              <a:ext uri="{FF2B5EF4-FFF2-40B4-BE49-F238E27FC236}">
                <a16:creationId xmlns:a16="http://schemas.microsoft.com/office/drawing/2014/main" id="{E887F774-5143-4752-9BFF-9E69619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一般化 Generalization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DF75E-44E0-452F-AA0B-F3CF94426EAC}"/>
              </a:ext>
            </a:extLst>
          </p:cNvPr>
          <p:cNvCxnSpPr/>
          <p:nvPr/>
        </p:nvCxnSpPr>
        <p:spPr>
          <a:xfrm xmlns:a="http://schemas.openxmlformats.org/drawingml/2006/main">
            <a:off x="4371975" y="49530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73DAE-9AD6-49CC-8773-FCDF7172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10300" y="4838700"/>
            <a:ext cx="2476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32B3A"/>
            </a:solidFill>
          </a:ln>
        </p:spPr>
      </p:sp>
      <p:sp>
        <p:nvSpPr>
          <p:cNvPr id="20" name="空心三角形指向父類別">
            <a:extLst xmlns:a="http://schemas.openxmlformats.org/drawingml/2006/main">
              <a:ext uri="{FF2B5EF4-FFF2-40B4-BE49-F238E27FC236}">
                <a16:creationId xmlns:a16="http://schemas.microsoft.com/office/drawing/2014/main" id="{E5057C46-B186-4716-A9B9-CD434253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空心三角形指向父類別</a:t>
            </a:r>
          </a:p>
        </p:txBody>
      </p:sp>
      <p:sp>
        <p:nvSpPr>
          <p:cNvPr id="21" name="菱形放在整體端；一般化的空心三角形指向父類別。">
            <a:extLst xmlns:a="http://schemas.openxmlformats.org/drawingml/2006/main">
              <a:ext uri="{FF2B5EF4-FFF2-40B4-BE49-F238E27FC236}">
                <a16:creationId xmlns:a16="http://schemas.microsoft.com/office/drawing/2014/main" id="{9032CA8C-BE4C-4F47-AD9F-28D07E75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菱形放在整體端；一般化的空心三角形指向父類別。</a:t>
            </a:r>
          </a:p>
        </p:txBody>
      </p:sp>
      <p:sp>
        <p:nvSpPr>
          <p:cNvPr id="23" name="17">
            <a:extLst xmlns:a="http://schemas.openxmlformats.org/drawingml/2006/main">
              <a:ext uri="{FF2B5EF4-FFF2-40B4-BE49-F238E27FC236}">
                <a16:creationId xmlns:a16="http://schemas.microsoft.com/office/drawing/2014/main" id="{C514097C-61AE-483B-BA8A-D5CD17B2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361914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4737B-5477-4FAF-A509-DD27AC92A5E7}"/>
              </a:ext>
            </a:extLst>
          </p:cNvPr>
          <p:cNvCxnSpPr>
            <a:stCxn xmlns:a="http://schemas.openxmlformats.org/drawingml/2006/main" id="4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4143375" y="2776538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tailEnd type="arrow" w="med" len="med"/>
          </a:ln>
        </p:spPr>
      </p:cxnSp>
      <p:sp>
        <p:nvSpPr>
          <p:cNvPr id="16" name="關聯方向與多重性">
            <a:extLst xmlns:a="http://schemas.openxmlformats.org/drawingml/2006/main">
              <a:ext uri="{FF2B5EF4-FFF2-40B4-BE49-F238E27FC236}">
                <a16:creationId xmlns:a16="http://schemas.microsoft.com/office/drawing/2014/main" id="{5093E5C6-FE02-418C-A754-626F0FB3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關聯方向與多重性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F0D40158-2A77-4468-9634-54DF7E28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6EEEA-B631-4D60-8D7C-899275CF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4290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CEA2B-31EB-4011-933C-0940A8E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34290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</a:ln>
        </p:spPr>
      </p:sp>
      <p:sp>
        <p:nvSpPr>
          <p:cNvPr id="5" name="Student">
            <a:extLst xmlns:a="http://schemas.openxmlformats.org/drawingml/2006/main">
              <a:ext uri="{FF2B5EF4-FFF2-40B4-BE49-F238E27FC236}">
                <a16:creationId xmlns:a16="http://schemas.microsoft.com/office/drawing/2014/main" id="{93F41075-0F4B-4500-BC7C-2B7CF0E5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33650"/>
            <a:ext cx="312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Student</a:t>
            </a:r>
          </a:p>
        </p:txBody>
      </p:sp>
      <p:sp>
        <p:nvSpPr>
          <p:cNvPr id="6" name="Enrollment">
            <a:extLst xmlns:a="http://schemas.openxmlformats.org/drawingml/2006/main">
              <a:ext uri="{FF2B5EF4-FFF2-40B4-BE49-F238E27FC236}">
                <a16:creationId xmlns:a16="http://schemas.microsoft.com/office/drawing/2014/main" id="{680C0F9D-A309-4FF1-B6D8-C954C3D4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533650"/>
            <a:ext cx="312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Enrollment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88859B18-485C-4287-98F4-2B7C0AD5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0..*">
            <a:extLst xmlns:a="http://schemas.openxmlformats.org/drawingml/2006/main">
              <a:ext uri="{FF2B5EF4-FFF2-40B4-BE49-F238E27FC236}">
                <a16:creationId xmlns:a16="http://schemas.microsoft.com/office/drawing/2014/main" id="{CA1B6DE4-3596-45E8-8D98-D849640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0..*</a:t>
            </a:r>
          </a:p>
        </p:txBody>
      </p:sp>
      <p:sp>
        <p:nvSpPr>
          <p:cNvPr id="10" name="student">
            <a:extLst xmlns:a="http://schemas.openxmlformats.org/drawingml/2006/main">
              <a:ext uri="{FF2B5EF4-FFF2-40B4-BE49-F238E27FC236}">
                <a16:creationId xmlns:a16="http://schemas.microsoft.com/office/drawing/2014/main" id="{AD19EB13-1778-4785-97B7-52B76A3C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76550"/>
            <a:ext cx="190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student</a:t>
            </a:r>
          </a:p>
        </p:txBody>
      </p:sp>
      <p:sp>
        <p:nvSpPr>
          <p:cNvPr id="11" name="每筆 Enrollment 對應 1 位 Student。">
            <a:extLst xmlns:a="http://schemas.openxmlformats.org/drawingml/2006/main">
              <a:ext uri="{FF2B5EF4-FFF2-40B4-BE49-F238E27FC236}">
                <a16:creationId xmlns:a16="http://schemas.microsoft.com/office/drawing/2014/main" id="{E7D0B5E6-994F-4498-A4BA-9A937867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每筆 Enrollment 對應 1 位 Student。</a:t>
            </a:r>
          </a:p>
        </p:txBody>
      </p:sp>
      <p:sp>
        <p:nvSpPr>
          <p:cNvPr id="12" name="每位 Student 可對應 0 到多筆 Enrollment。">
            <a:extLst xmlns:a="http://schemas.openxmlformats.org/drawingml/2006/main">
              <a:ext uri="{FF2B5EF4-FFF2-40B4-BE49-F238E27FC236}">
                <a16:creationId xmlns:a16="http://schemas.microsoft.com/office/drawing/2014/main" id="{21FA9B93-4D42-40C3-B9C9-7B380013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每位 Student 可對應 0 到多筆 Enrollment。</a:t>
            </a:r>
          </a:p>
        </p:txBody>
      </p:sp>
      <p:sp>
        <p:nvSpPr>
          <p:cNvPr id="13" name="箭頭表示 Enrollment 可以導覽到 Student。">
            <a:extLst xmlns:a="http://schemas.openxmlformats.org/drawingml/2006/main">
              <a:ext uri="{FF2B5EF4-FFF2-40B4-BE49-F238E27FC236}">
                <a16:creationId xmlns:a16="http://schemas.microsoft.com/office/drawing/2014/main" id="{70760ABB-5E71-4C92-B47A-3819EDDF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箭頭表示 Enrollment 可以導覽到 Student。</a:t>
            </a:r>
          </a:p>
        </p:txBody>
      </p:sp>
      <p:sp>
        <p:nvSpPr>
          <p:cNvPr id="14" name="導覽方向描述存取能力；關聯數量由兩端的多重性表示。">
            <a:extLst xmlns:a="http://schemas.openxmlformats.org/drawingml/2006/main">
              <a:ext uri="{FF2B5EF4-FFF2-40B4-BE49-F238E27FC236}">
                <a16:creationId xmlns:a16="http://schemas.microsoft.com/office/drawing/2014/main" id="{CE7334DA-244B-47D2-8B2E-A84983D4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導覽方向描述存取能力；關聯數量由兩端的多重性表示。</a:t>
            </a:r>
          </a:p>
        </p:txBody>
      </p:sp>
      <p:sp>
        <p:nvSpPr>
          <p:cNvPr id="15" name="18">
            <a:extLst xmlns:a="http://schemas.openxmlformats.org/drawingml/2006/main">
              <a:ext uri="{FF2B5EF4-FFF2-40B4-BE49-F238E27FC236}">
                <a16:creationId xmlns:a16="http://schemas.microsoft.com/office/drawing/2014/main" id="{755FBF26-07EC-4CF0-8F84-EFBF4239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23397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持續持有與暫時使用">
            <a:extLst xmlns:a="http://schemas.openxmlformats.org/drawingml/2006/main">
              <a:ext uri="{FF2B5EF4-FFF2-40B4-BE49-F238E27FC236}">
                <a16:creationId xmlns:a16="http://schemas.microsoft.com/office/drawing/2014/main" id="{8A8BC7AC-FA74-4568-AB7C-839C1869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持續持有與暫時使用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191F9DB2-6C11-45F6-AB6E-F68C0A14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C8CD5481-9C3E-437F-89D3-8ACA847E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4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7F505EB9-DD88-4667-9482-16219C1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5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66042856-7BC6-4520-92FD-1F4AAABB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43C76-C279-4576-82E6-46263DB8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class Enrollment:">
            <a:extLst xmlns:a="http://schemas.openxmlformats.org/drawingml/2006/main">
              <a:ext uri="{FF2B5EF4-FFF2-40B4-BE49-F238E27FC236}">
                <a16:creationId xmlns:a16="http://schemas.microsoft.com/office/drawing/2014/main" id="{E10C5804-D4BB-4B63-A2AF-B4962ECB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Enrollment:</a:t>
            </a:r>
          </a:p>
        </p:txBody>
      </p:sp>
      <p:sp>
        <p:nvSpPr>
          <p:cNvPr id="8" name="    def __init__(self, student):">
            <a:extLst xmlns:a="http://schemas.openxmlformats.org/drawingml/2006/main">
              <a:ext uri="{FF2B5EF4-FFF2-40B4-BE49-F238E27FC236}">
                <a16:creationId xmlns:a16="http://schemas.microsoft.com/office/drawing/2014/main" id="{29139883-DE42-4FED-A0F4-53C5731E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student):</a:t>
            </a:r>
          </a:p>
        </p:txBody>
      </p:sp>
      <p:sp>
        <p:nvSpPr>
          <p:cNvPr id="9" name="        self.student = student">
            <a:extLst xmlns:a="http://schemas.openxmlformats.org/drawingml/2006/main">
              <a:ext uri="{FF2B5EF4-FFF2-40B4-BE49-F238E27FC236}">
                <a16:creationId xmlns:a16="http://schemas.microsoft.com/office/drawing/2014/main" id="{DCDEEC6E-129B-43C3-911C-794546C3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 = student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E355E-7994-4BC9-B623-968760BB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    def show(self, printer):">
            <a:extLst xmlns:a="http://schemas.openxmlformats.org/drawingml/2006/main">
              <a:ext uri="{FF2B5EF4-FFF2-40B4-BE49-F238E27FC236}">
                <a16:creationId xmlns:a16="http://schemas.microsoft.com/office/drawing/2014/main" id="{0004C870-6F07-48B9-A58E-178F8532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show(self, printer):</a:t>
            </a:r>
          </a:p>
        </p:txBody>
      </p:sp>
      <p:sp>
        <p:nvSpPr>
          <p:cNvPr id="12" name="        printer(self.student.name)">
            <a:extLst xmlns:a="http://schemas.openxmlformats.org/drawingml/2006/main">
              <a:ext uri="{FF2B5EF4-FFF2-40B4-BE49-F238E27FC236}">
                <a16:creationId xmlns:a16="http://schemas.microsoft.com/office/drawing/2014/main" id="{834B86F6-FF1C-42B0-9473-5B9313D2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printer(self.student.name)</a:t>
            </a:r>
          </a:p>
        </p:txBody>
      </p:sp>
      <p:sp>
        <p:nvSpPr>
          <p:cNvPr id="13" name="Enrollment 與 Student">
            <a:extLst xmlns:a="http://schemas.openxmlformats.org/drawingml/2006/main">
              <a:ext uri="{FF2B5EF4-FFF2-40B4-BE49-F238E27FC236}">
                <a16:creationId xmlns:a16="http://schemas.microsoft.com/office/drawing/2014/main" id="{AFAA0CF9-0021-4106-9987-0BD0574D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Enrollment 與 Student</a:t>
            </a:r>
          </a:p>
        </p:txBody>
      </p:sp>
      <p:sp>
        <p:nvSpPr>
          <p:cNvPr id="14" name="self.student 保留參考， 表達持續的關聯。">
            <a:extLst xmlns:a="http://schemas.openxmlformats.org/drawingml/2006/main">
              <a:ext uri="{FF2B5EF4-FFF2-40B4-BE49-F238E27FC236}">
                <a16:creationId xmlns:a16="http://schemas.microsoft.com/office/drawing/2014/main" id="{4C142DF0-581A-4CB0-B4EB-DD84D3A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self.student 保留參考，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表達持續的關聯。</a:t>
            </a:r>
          </a:p>
        </p:txBody>
      </p:sp>
      <p:sp>
        <p:nvSpPr>
          <p:cNvPr id="15" name="show() 與輸出服務">
            <a:extLst xmlns:a="http://schemas.openxmlformats.org/drawingml/2006/main">
              <a:ext uri="{FF2B5EF4-FFF2-40B4-BE49-F238E27FC236}">
                <a16:creationId xmlns:a16="http://schemas.microsoft.com/office/drawing/2014/main" id="{BCF18BE8-F18B-4D48-AA01-487AD2DB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show() 與輸出服務</a:t>
            </a:r>
          </a:p>
        </p:txBody>
      </p:sp>
      <p:sp>
        <p:nvSpPr>
          <p:cNvPr id="16" name="printer 透過參數傳入， 本例沒有把它存為屬性。">
            <a:extLst xmlns:a="http://schemas.openxmlformats.org/drawingml/2006/main">
              <a:ext uri="{FF2B5EF4-FFF2-40B4-BE49-F238E27FC236}">
                <a16:creationId xmlns:a16="http://schemas.microsoft.com/office/drawing/2014/main" id="{2FFEBE8F-DC41-44FA-842B-4586B069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0530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printer 透過參數傳入，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本例沒有把它存為屬性。</a:t>
            </a:r>
          </a:p>
        </p:txBody>
      </p:sp>
      <p:sp>
        <p:nvSpPr>
          <p:cNvPr id="17" name="附檔包含建立 Student、Enrollment 與呼叫 show(print) 的完整範例。">
            <a:extLst xmlns:a="http://schemas.openxmlformats.org/drawingml/2006/main">
              <a:ext uri="{FF2B5EF4-FFF2-40B4-BE49-F238E27FC236}">
                <a16:creationId xmlns:a16="http://schemas.microsoft.com/office/drawing/2014/main" id="{63250739-72E3-486A-810A-F8D50F8F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附檔包含建立 Student、Enrollment 與呼叫 show(print) 的完整範例。</a:t>
            </a:r>
          </a:p>
        </p:txBody>
      </p:sp>
      <p:sp>
        <p:nvSpPr>
          <p:cNvPr id="19" name="19">
            <a:extLst xmlns:a="http://schemas.openxmlformats.org/drawingml/2006/main">
              <a:ext uri="{FF2B5EF4-FFF2-40B4-BE49-F238E27FC236}">
                <a16:creationId xmlns:a16="http://schemas.microsoft.com/office/drawing/2014/main" id="{A73DA84D-33DD-4455-B527-CB52DBB2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45530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聚合與組合的擁有規則">
            <a:extLst xmlns:a="http://schemas.openxmlformats.org/drawingml/2006/main">
              <a:ext uri="{FF2B5EF4-FFF2-40B4-BE49-F238E27FC236}">
                <a16:creationId xmlns:a16="http://schemas.microsoft.com/office/drawing/2014/main" id="{5963121E-4866-42AB-95DA-B1B6065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聚合與組合的擁有規則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551D098C-9A2E-44C5-89FA-8F6B9AAF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聚合：本例允許學生參加多個學習小組">
            <a:extLst xmlns:a="http://schemas.openxmlformats.org/drawingml/2006/main">
              <a:ext uri="{FF2B5EF4-FFF2-40B4-BE49-F238E27FC236}">
                <a16:creationId xmlns:a16="http://schemas.microsoft.com/office/drawing/2014/main" id="{D83DCE86-9AC3-49E7-9121-9E4169A5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聚合：本例允許學生參加多個學習小組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B5B95-EC9C-4639-9708-C422E221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5" name="LearningGroup">
            <a:extLst xmlns:a="http://schemas.openxmlformats.org/drawingml/2006/main">
              <a:ext uri="{FF2B5EF4-FFF2-40B4-BE49-F238E27FC236}">
                <a16:creationId xmlns:a16="http://schemas.microsoft.com/office/drawing/2014/main" id="{B0BD15C6-FE8F-4F18-A5C6-F1EC636E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LearningGroup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9BA08-2B3B-4397-A1D2-B3EF1904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7" name="Student">
            <a:extLst xmlns:a="http://schemas.openxmlformats.org/drawingml/2006/main">
              <a:ext uri="{FF2B5EF4-FFF2-40B4-BE49-F238E27FC236}">
                <a16:creationId xmlns:a16="http://schemas.microsoft.com/office/drawing/2014/main" id="{F2BD9BA2-70BE-4AAF-BEFB-2E7475F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476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Student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6C35E-C9A3-4C54-AC18-7B055F2400D5}"/>
              </a:ext>
            </a:extLst>
          </p:cNvPr>
          <p:cNvCxnSpPr/>
          <p:nvPr/>
        </p:nvCxnSpPr>
        <p:spPr>
          <a:xfrm xmlns:a="http://schemas.openxmlformats.org/drawingml/2006/main">
            <a:off x="3733800" y="2771775"/>
            <a:ext cx="462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35E56-92A1-4257-96B1-0B7C7BBB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57475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32B3A"/>
            </a:solidFill>
          </a:ln>
        </p:spPr>
      </p:sp>
      <p:sp>
        <p:nvSpPr>
          <p:cNvPr id="10" name="0..*">
            <a:extLst xmlns:a="http://schemas.openxmlformats.org/drawingml/2006/main">
              <a:ext uri="{FF2B5EF4-FFF2-40B4-BE49-F238E27FC236}">
                <a16:creationId xmlns:a16="http://schemas.microsoft.com/office/drawing/2014/main" id="{6F926535-E02F-47C9-9424-CF682736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3625"/>
            <a:ext cx="152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0..*</a:t>
            </a:r>
          </a:p>
        </p:txBody>
      </p:sp>
      <p:sp>
        <p:nvSpPr>
          <p:cNvPr id="11" name="0..*">
            <a:extLst xmlns:a="http://schemas.openxmlformats.org/drawingml/2006/main">
              <a:ext uri="{FF2B5EF4-FFF2-40B4-BE49-F238E27FC236}">
                <a16:creationId xmlns:a16="http://schemas.microsoft.com/office/drawing/2014/main" id="{1194A6E7-0A14-40A4-B4BF-38550721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3362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0..*</a:t>
            </a:r>
          </a:p>
        </p:txBody>
      </p:sp>
      <p:sp>
        <p:nvSpPr>
          <p:cNvPr id="12" name="組合：本例由訂單管理其明細">
            <a:extLst xmlns:a="http://schemas.openxmlformats.org/drawingml/2006/main">
              <a:ext uri="{FF2B5EF4-FFF2-40B4-BE49-F238E27FC236}">
                <a16:creationId xmlns:a16="http://schemas.microsoft.com/office/drawing/2014/main" id="{FE7108EE-03C8-4952-A9B7-905222B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19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組合：本例由訂單管理其明細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15F28-1864-4306-8175-DA9BC313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14" name="Order">
            <a:extLst xmlns:a="http://schemas.openxmlformats.org/drawingml/2006/main">
              <a:ext uri="{FF2B5EF4-FFF2-40B4-BE49-F238E27FC236}">
                <a16:creationId xmlns:a16="http://schemas.microsoft.com/office/drawing/2014/main" id="{540CD52C-4AE2-411A-922F-38CD1BF0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0A555-39AC-453A-BC47-F5B4475B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16" name="OrderLine">
            <a:extLst xmlns:a="http://schemas.openxmlformats.org/drawingml/2006/main">
              <a:ext uri="{FF2B5EF4-FFF2-40B4-BE49-F238E27FC236}">
                <a16:creationId xmlns:a16="http://schemas.microsoft.com/office/drawing/2014/main" id="{E2E709AA-E3F9-43A4-ABCC-F1ABB129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38675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OrderLine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D3847-FCD0-450F-A2D1-D8F3F45033D8}"/>
              </a:ext>
            </a:extLst>
          </p:cNvPr>
          <p:cNvCxnSpPr/>
          <p:nvPr/>
        </p:nvCxnSpPr>
        <p:spPr>
          <a:xfrm xmlns:a="http://schemas.openxmlformats.org/drawingml/2006/main">
            <a:off x="3733800" y="4819650"/>
            <a:ext cx="462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93845-57DE-4CAA-9F23-1507E02F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0535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32B3A"/>
          </a:solidFill>
          <a:ln xmlns:a="http://schemas.openxmlformats.org/drawingml/2006/main" w="19050">
            <a:solidFill>
              <a:srgbClr val="132B3A"/>
            </a:solidFill>
          </a:ln>
        </p:spPr>
      </p:sp>
      <p:sp>
        <p:nvSpPr>
          <p:cNvPr id="19" name="1">
            <a:extLst xmlns:a="http://schemas.openxmlformats.org/drawingml/2006/main">
              <a:ext uri="{FF2B5EF4-FFF2-40B4-BE49-F238E27FC236}">
                <a16:creationId xmlns:a16="http://schemas.microsoft.com/office/drawing/2014/main" id="{C4E8070D-4FA1-4990-AF48-11EDDE12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152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0" name="1..*">
            <a:extLst xmlns:a="http://schemas.openxmlformats.org/drawingml/2006/main">
              <a:ext uri="{FF2B5EF4-FFF2-40B4-BE49-F238E27FC236}">
                <a16:creationId xmlns:a16="http://schemas.microsoft.com/office/drawing/2014/main" id="{A3EC4ADC-F8EF-43C8-85DC-EC0684EA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381500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1..*</a:t>
            </a:r>
          </a:p>
        </p:txBody>
      </p:sp>
      <p:sp>
        <p:nvSpPr>
          <p:cNvPr id="21" name="關係由需求與擁有規則決定；不能只看 __init__ 中是否建立物件。">
            <a:extLst xmlns:a="http://schemas.openxmlformats.org/drawingml/2006/main">
              <a:ext uri="{FF2B5EF4-FFF2-40B4-BE49-F238E27FC236}">
                <a16:creationId xmlns:a16="http://schemas.microsoft.com/office/drawing/2014/main" id="{3372ABEE-4E18-4EFB-BEDE-8A49FF3D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關係由需求與擁有規則決定；不能只看 __init__ 中是否建立物件。</a:t>
            </a:r>
          </a:p>
        </p:txBody>
      </p:sp>
      <p:sp>
        <p:nvSpPr>
          <p:cNvPr id="23" name="20">
            <a:extLst xmlns:a="http://schemas.openxmlformats.org/drawingml/2006/main">
              <a:ext uri="{FF2B5EF4-FFF2-40B4-BE49-F238E27FC236}">
                <a16:creationId xmlns:a16="http://schemas.microsoft.com/office/drawing/2014/main" id="{AA3723E6-C8A5-40E9-99D0-A210F935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36397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組合規則與 Python 回收">
            <a:extLst xmlns:a="http://schemas.openxmlformats.org/drawingml/2006/main">
              <a:ext uri="{FF2B5EF4-FFF2-40B4-BE49-F238E27FC236}">
                <a16:creationId xmlns:a16="http://schemas.microsoft.com/office/drawing/2014/main" id="{0F7F266D-72E8-4CD9-B25B-84252D8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組合規則與 Python 回收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FE51A765-E229-4ABE-B28B-D9E1961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class Order:">
            <a:extLst xmlns:a="http://schemas.openxmlformats.org/drawingml/2006/main">
              <a:ext uri="{FF2B5EF4-FFF2-40B4-BE49-F238E27FC236}">
                <a16:creationId xmlns:a16="http://schemas.microsoft.com/office/drawing/2014/main" id="{7E3D7B9D-50A2-49BB-ACCF-9A276DE2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Order:</a:t>
            </a:r>
          </a:p>
        </p:txBody>
      </p:sp>
      <p:sp>
        <p:nvSpPr>
          <p:cNvPr id="4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13C5A825-ABEE-48EF-AC52-88B81850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5" name="        self.lines = [{&quot;qty&quot;: 1}]">
            <a:extLst xmlns:a="http://schemas.openxmlformats.org/drawingml/2006/main">
              <a:ext uri="{FF2B5EF4-FFF2-40B4-BE49-F238E27FC236}">
                <a16:creationId xmlns:a16="http://schemas.microsoft.com/office/drawing/2014/main" id="{F225024A-AB4E-4742-84F5-7BF0F12C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self.lines = [{"qty": 1}]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D20B3-9B73-4130-A374-85A8D3E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order = Order()">
            <a:extLst xmlns:a="http://schemas.openxmlformats.org/drawingml/2006/main">
              <a:ext uri="{FF2B5EF4-FFF2-40B4-BE49-F238E27FC236}">
                <a16:creationId xmlns:a16="http://schemas.microsoft.com/office/drawing/2014/main" id="{BAABE036-9B18-4ECB-8DBD-3270E63C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order = Order()</a:t>
            </a:r>
          </a:p>
        </p:txBody>
      </p:sp>
      <p:sp>
        <p:nvSpPr>
          <p:cNvPr id="8" name="saved = order.lines[0]">
            <a:extLst xmlns:a="http://schemas.openxmlformats.org/drawingml/2006/main">
              <a:ext uri="{FF2B5EF4-FFF2-40B4-BE49-F238E27FC236}">
                <a16:creationId xmlns:a16="http://schemas.microsoft.com/office/drawing/2014/main" id="{FABB028D-F045-42BB-925B-1811A49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saved = order.lines[0]</a:t>
            </a:r>
          </a:p>
        </p:txBody>
      </p:sp>
      <p:sp>
        <p:nvSpPr>
          <p:cNvPr id="9" name="del order">
            <a:extLst xmlns:a="http://schemas.openxmlformats.org/drawingml/2006/main">
              <a:ext uri="{FF2B5EF4-FFF2-40B4-BE49-F238E27FC236}">
                <a16:creationId xmlns:a16="http://schemas.microsoft.com/office/drawing/2014/main" id="{8019D46C-C2C5-420A-B732-0231142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order</a:t>
            </a:r>
          </a:p>
        </p:txBody>
      </p:sp>
      <p:sp>
        <p:nvSpPr>
          <p:cNvPr id="10" name="print(saved[&quot;qty&quot;])">
            <a:extLst xmlns:a="http://schemas.openxmlformats.org/drawingml/2006/main">
              <a:ext uri="{FF2B5EF4-FFF2-40B4-BE49-F238E27FC236}">
                <a16:creationId xmlns:a16="http://schemas.microsoft.com/office/drawing/2014/main" id="{A9FA25B6-D45A-40C6-BEB0-A9D84EB3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print(saved["qty"])</a:t>
            </a:r>
          </a:p>
        </p:txBody>
      </p:sp>
      <p:sp>
        <p:nvSpPr>
          <p:cNvPr id="11" name="saved 仍持有參考">
            <a:extLst xmlns:a="http://schemas.openxmlformats.org/drawingml/2006/main">
              <a:ext uri="{FF2B5EF4-FFF2-40B4-BE49-F238E27FC236}">
                <a16:creationId xmlns:a16="http://schemas.microsoft.com/office/drawing/2014/main" id="{5A54EF15-0C9C-460A-A03C-E5FF4BBE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saved 仍持有參考</a:t>
            </a:r>
          </a:p>
        </p:txBody>
      </p:sp>
      <p:sp>
        <p:nvSpPr>
          <p:cNvPr id="12" name="刪除 order 名稱後， 明細字典仍然可達。">
            <a:extLst xmlns:a="http://schemas.openxmlformats.org/drawingml/2006/main">
              <a:ext uri="{FF2B5EF4-FFF2-40B4-BE49-F238E27FC236}">
                <a16:creationId xmlns:a16="http://schemas.microsoft.com/office/drawing/2014/main" id="{9AA69B9E-7A2E-43F6-B12E-6CAF1296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刪除 order 名稱後，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明細字典仍然可達。</a:t>
            </a:r>
          </a:p>
        </p:txBody>
      </p:sp>
      <p:sp>
        <p:nvSpPr>
          <p:cNvPr id="13" name="應用程式負責規則">
            <a:extLst xmlns:a="http://schemas.openxmlformats.org/drawingml/2006/main">
              <a:ext uri="{FF2B5EF4-FFF2-40B4-BE49-F238E27FC236}">
                <a16:creationId xmlns:a16="http://schemas.microsoft.com/office/drawing/2014/main" id="{B3A3068F-DB7B-4B3C-AFDD-180E909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應用程式負責規則</a:t>
            </a:r>
          </a:p>
        </p:txBody>
      </p:sp>
      <p:sp>
        <p:nvSpPr>
          <p:cNvPr id="14" name="若模型要求取消或刪除明細， 應由公開操作實作。">
            <a:extLst xmlns:a="http://schemas.openxmlformats.org/drawingml/2006/main">
              <a:ext uri="{FF2B5EF4-FFF2-40B4-BE49-F238E27FC236}">
                <a16:creationId xmlns:a16="http://schemas.microsoft.com/office/drawing/2014/main" id="{908EB63F-9987-4233-9252-75CB25B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0530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若模型要求取消或刪除明細，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應由公開操作實作。</a:t>
            </a:r>
          </a:p>
        </p:txBody>
      </p:sp>
      <p:sp>
        <p:nvSpPr>
          <p:cNvPr id="15" name="輸出（逐行）">
            <a:extLst xmlns:a="http://schemas.openxmlformats.org/drawingml/2006/main">
              <a:ext uri="{FF2B5EF4-FFF2-40B4-BE49-F238E27FC236}">
                <a16:creationId xmlns:a16="http://schemas.microsoft.com/office/drawing/2014/main" id="{DF902752-474A-4381-992D-AFA16647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輸出（逐行）</a:t>
            </a:r>
          </a:p>
        </p:txBody>
      </p:sp>
      <p:sp>
        <p:nvSpPr>
          <p:cNvPr id="16" name="1">
            <a:extLst xmlns:a="http://schemas.openxmlformats.org/drawingml/2006/main">
              <a:ext uri="{FF2B5EF4-FFF2-40B4-BE49-F238E27FC236}">
                <a16:creationId xmlns:a16="http://schemas.microsoft.com/office/drawing/2014/main" id="{4C9294DC-2E45-4B40-AB10-7CFD237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9115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8" name="21">
            <a:extLst xmlns:a="http://schemas.openxmlformats.org/drawingml/2006/main">
              <a:ext uri="{FF2B5EF4-FFF2-40B4-BE49-F238E27FC236}">
                <a16:creationId xmlns:a16="http://schemas.microsoft.com/office/drawing/2014/main" id="{36D01750-2CF6-411D-8D02-EE40373C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408638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多重性的讀法">
            <a:extLst xmlns:a="http://schemas.openxmlformats.org/drawingml/2006/main">
              <a:ext uri="{FF2B5EF4-FFF2-40B4-BE49-F238E27FC236}">
                <a16:creationId xmlns:a16="http://schemas.microsoft.com/office/drawing/2014/main" id="{7403C104-CE5B-4C39-AC06-534D91C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多重性的讀法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BBD44E87-DBED-41C6-B302-C2C97DB3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4538D-3A9B-4904-804A-C71AE96B2B6A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810000"/>
                <a:gridCol w="4972050"/>
              </a:tblGrid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可關聯的數量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恰好一個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一筆選課對應一位學生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0..1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零個或一個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訂單可尚未指定優惠券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0..* 或 *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零個到多個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學生可以尚未選課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742950"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1..*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一個到多個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42875" tIns="114300" rIns="123825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已確認訂單至少有一筆明細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4" name="某端的數量，表示對另一端的一個實體，可連到多少個該端實體。">
            <a:extLst xmlns:a="http://schemas.openxmlformats.org/drawingml/2006/main">
              <a:ext uri="{FF2B5EF4-FFF2-40B4-BE49-F238E27FC236}">
                <a16:creationId xmlns:a16="http://schemas.microsoft.com/office/drawing/2014/main" id="{ADC0F57C-EC07-4C73-B6B3-FC4311A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某端的數量，表示對另一端的一個實體，可連到多少個該端實體。</a:t>
            </a:r>
          </a:p>
        </p:txBody>
      </p:sp>
      <p:sp>
        <p:nvSpPr>
          <p:cNvPr id="6" name="22">
            <a:extLst xmlns:a="http://schemas.openxmlformats.org/drawingml/2006/main">
              <a:ext uri="{FF2B5EF4-FFF2-40B4-BE49-F238E27FC236}">
                <a16:creationId xmlns:a16="http://schemas.microsoft.com/office/drawing/2014/main" id="{340F7E9E-9E87-4D01-93C1-6DA484DB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90163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表示與 UML 多重性">
            <a:extLst xmlns:a="http://schemas.openxmlformats.org/drawingml/2006/main">
              <a:ext uri="{FF2B5EF4-FFF2-40B4-BE49-F238E27FC236}">
                <a16:creationId xmlns:a16="http://schemas.microsoft.com/office/drawing/2014/main" id="{3D078999-3B15-470D-B7C6-6BEDEA3F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Python 表示與 UML 多重性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4532A7F3-AD33-494A-A3D4-45D132D8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3DE6F-8286-41A0-A99B-F8A871800D46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333875"/>
                <a:gridCol w="4543425"/>
              </a:tblGrid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UML 多重性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型別表示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對應規則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T w="9525">
                      <a:solidFill>
                        <a:srgbClr val="D6DDD8"/>
                      </a:solidFill>
                      <a:prstDash val="solid"/>
                    </a:lnT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16686C"/>
                    </a:solidFill>
                  </a:tcPr>
                </a:tc>
              </a:tr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一個學生物件，建立時須提供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0..1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 | None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可有學生物件，也可沒有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0..*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list[Student]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列表可以是空的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EFEBE2"/>
                    </a:solidFill>
                  </a:tcPr>
                </a:tc>
              </a:tr>
              <a:tr h="800100"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1..*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DD8"/>
                      </a:solidFill>
                      <a:prstDash val="solid"/>
                    </a:lnL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list[Student] ＋數量驗證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 lIns="13335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在規定的狀態至少有一個元素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DD8"/>
                      </a:solidFill>
                      <a:prstDash val="solid"/>
                    </a:lnR>
                    <a:lnB w="9525">
                      <a:solidFill>
                        <a:srgbClr val="D6DDD8"/>
                      </a:solidFill>
                      <a:prstDash val="soli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4" name="Python 型別提示不強制執行時檢查；1..* 的數量下限需要程式維護。">
            <a:extLst xmlns:a="http://schemas.openxmlformats.org/drawingml/2006/main">
              <a:ext uri="{FF2B5EF4-FFF2-40B4-BE49-F238E27FC236}">
                <a16:creationId xmlns:a16="http://schemas.microsoft.com/office/drawing/2014/main" id="{A176AC03-C5A9-4C74-80D0-9EA4C573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Python 型別提示不強制執行時檢查；1..* 的數量下限需要程式維護。</a:t>
            </a:r>
          </a:p>
        </p:txBody>
      </p:sp>
      <p:sp>
        <p:nvSpPr>
          <p:cNvPr id="5" name="23">
            <a:extLst xmlns:a="http://schemas.openxmlformats.org/drawingml/2006/main">
              <a:ext uri="{FF2B5EF4-FFF2-40B4-BE49-F238E27FC236}">
                <a16:creationId xmlns:a16="http://schemas.microsoft.com/office/drawing/2014/main" id="{EF82220C-5F4E-4157-8D52-F4D5C7B9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191239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選課關係也有自己的資料">
            <a:extLst xmlns:a="http://schemas.openxmlformats.org/drawingml/2006/main">
              <a:ext uri="{FF2B5EF4-FFF2-40B4-BE49-F238E27FC236}">
                <a16:creationId xmlns:a16="http://schemas.microsoft.com/office/drawing/2014/main" id="{C08B60F3-2BE8-4D6A-85AC-B2D28EC1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選課關係也有自己的資料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73F70662-D573-4D94-AAE6-912B62A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0BDCB-ED5C-434C-B111-5109A42B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4" name="Student">
            <a:extLst xmlns:a="http://schemas.openxmlformats.org/drawingml/2006/main">
              <a:ext uri="{FF2B5EF4-FFF2-40B4-BE49-F238E27FC236}">
                <a16:creationId xmlns:a16="http://schemas.microsoft.com/office/drawing/2014/main" id="{80582E80-8DCC-4479-B9A9-DD98719F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717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Student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D2CFE-8D38-47EC-A17C-3944DB7B7136}"/>
              </a:ext>
            </a:extLst>
          </p:cNvPr>
          <p:cNvCxnSpPr/>
          <p:nvPr/>
        </p:nvCxnSpPr>
        <p:spPr>
          <a:xfrm xmlns:a="http://schemas.openxmlformats.org/drawingml/2006/main">
            <a:off x="619125" y="30289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6" name="name: str">
            <a:extLst xmlns:a="http://schemas.openxmlformats.org/drawingml/2006/main">
              <a:ext uri="{FF2B5EF4-FFF2-40B4-BE49-F238E27FC236}">
                <a16:creationId xmlns:a16="http://schemas.microsoft.com/office/drawing/2014/main" id="{35914F1D-D973-4195-A623-3E19D2FB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00400"/>
            <a:ext cx="2609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name: str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21016-1BB5-4E8C-8B1D-16739AE031B9}"/>
              </a:ext>
            </a:extLst>
          </p:cNvPr>
          <p:cNvCxnSpPr/>
          <p:nvPr/>
        </p:nvCxnSpPr>
        <p:spPr>
          <a:xfrm xmlns:a="http://schemas.openxmlformats.org/drawingml/2006/main">
            <a:off x="619125" y="4333875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26B51-DF14-40D5-A943-08E58A9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76500"/>
            <a:ext cx="30289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9" name="Enrollment">
            <a:extLst xmlns:a="http://schemas.openxmlformats.org/drawingml/2006/main">
              <a:ext uri="{FF2B5EF4-FFF2-40B4-BE49-F238E27FC236}">
                <a16:creationId xmlns:a16="http://schemas.microsoft.com/office/drawing/2014/main" id="{5DEA2F4E-6FCF-44E8-AB8A-E653529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717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Enrollment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5CA42-6976-42BB-A6E3-5C0A95960187}"/>
              </a:ext>
            </a:extLst>
          </p:cNvPr>
          <p:cNvCxnSpPr/>
          <p:nvPr/>
        </p:nvCxnSpPr>
        <p:spPr>
          <a:xfrm xmlns:a="http://schemas.openxmlformats.org/drawingml/2006/main">
            <a:off x="4581525" y="302895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11" name="score: Real [0..1]">
            <a:extLst xmlns:a="http://schemas.openxmlformats.org/drawingml/2006/main">
              <a:ext uri="{FF2B5EF4-FFF2-40B4-BE49-F238E27FC236}">
                <a16:creationId xmlns:a16="http://schemas.microsoft.com/office/drawing/2014/main" id="{37DA7890-EA3E-4E4B-95CA-FEAB0AF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00400"/>
            <a:ext cx="2686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score: Real [0..1]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992FA-9843-4EAB-B9C7-5A5FED36C6EC}"/>
              </a:ext>
            </a:extLst>
          </p:cNvPr>
          <p:cNvCxnSpPr/>
          <p:nvPr/>
        </p:nvCxnSpPr>
        <p:spPr>
          <a:xfrm xmlns:a="http://schemas.openxmlformats.org/drawingml/2006/main">
            <a:off x="4581525" y="440055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13" name="set_score(score)">
            <a:extLst xmlns:a="http://schemas.openxmlformats.org/drawingml/2006/main">
              <a:ext uri="{FF2B5EF4-FFF2-40B4-BE49-F238E27FC236}">
                <a16:creationId xmlns:a16="http://schemas.microsoft.com/office/drawing/2014/main" id="{0BFAA597-3B53-4D59-BBDD-472E21DB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339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set_score(score)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6DB1B-5FD7-41CE-9363-791BA96F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7650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15" name="Course">
            <a:extLst xmlns:a="http://schemas.openxmlformats.org/drawingml/2006/main">
              <a:ext uri="{FF2B5EF4-FFF2-40B4-BE49-F238E27FC236}">
                <a16:creationId xmlns:a16="http://schemas.microsoft.com/office/drawing/2014/main" id="{DE4D853F-8CA3-4B7D-B198-689A3900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717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Course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8E72B-8910-478A-8521-05779F3EDBDE}"/>
              </a:ext>
            </a:extLst>
          </p:cNvPr>
          <p:cNvCxnSpPr/>
          <p:nvPr/>
        </p:nvCxnSpPr>
        <p:spPr>
          <a:xfrm xmlns:a="http://schemas.openxmlformats.org/drawingml/2006/main">
            <a:off x="8620125" y="30289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17" name="title: str">
            <a:extLst xmlns:a="http://schemas.openxmlformats.org/drawingml/2006/main">
              <a:ext uri="{FF2B5EF4-FFF2-40B4-BE49-F238E27FC236}">
                <a16:creationId xmlns:a16="http://schemas.microsoft.com/office/drawing/2014/main" id="{55251D11-3C5C-4926-9BB1-4015C6EB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00400"/>
            <a:ext cx="2609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title: str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8FBCB-FE9C-4C88-9B75-235D31542A3F}"/>
              </a:ext>
            </a:extLst>
          </p:cNvPr>
          <p:cNvCxnSpPr/>
          <p:nvPr/>
        </p:nvCxnSpPr>
        <p:spPr>
          <a:xfrm xmlns:a="http://schemas.openxmlformats.org/drawingml/2006/main">
            <a:off x="8620125" y="4333875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3C631-5D2A-41B2-A236-58B97A51EF7E}"/>
              </a:ext>
            </a:extLst>
          </p:cNvPr>
          <p:cNvCxnSpPr/>
          <p:nvPr/>
        </p:nvCxnSpPr>
        <p:spPr>
          <a:xfrm xmlns:a="http://schemas.openxmlformats.org/drawingml/2006/main">
            <a:off x="3590925" y="35718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20" name="1">
            <a:extLst xmlns:a="http://schemas.openxmlformats.org/drawingml/2006/main">
              <a:ext uri="{FF2B5EF4-FFF2-40B4-BE49-F238E27FC236}">
                <a16:creationId xmlns:a16="http://schemas.microsoft.com/office/drawing/2014/main" id="{8E220BF9-3A25-4987-A9DF-87ED76A4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95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1" name="0..*">
            <a:extLst xmlns:a="http://schemas.openxmlformats.org/drawingml/2006/main">
              <a:ext uri="{FF2B5EF4-FFF2-40B4-BE49-F238E27FC236}">
                <a16:creationId xmlns:a16="http://schemas.microsoft.com/office/drawing/2014/main" id="{3860B538-716B-4752-B78E-D367E6D1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0..*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D5829-6153-4F81-A1C3-3B312BAA49EC}"/>
              </a:ext>
            </a:extLst>
          </p:cNvPr>
          <p:cNvCxnSpPr/>
          <p:nvPr/>
        </p:nvCxnSpPr>
        <p:spPr>
          <a:xfrm xmlns:a="http://schemas.openxmlformats.org/drawingml/2006/main">
            <a:off x="7629525" y="35718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23" name="0..*">
            <a:extLst xmlns:a="http://schemas.openxmlformats.org/drawingml/2006/main">
              <a:ext uri="{FF2B5EF4-FFF2-40B4-BE49-F238E27FC236}">
                <a16:creationId xmlns:a16="http://schemas.microsoft.com/office/drawing/2014/main" id="{2FB0DB18-7EF4-4E5E-8DE1-A8785654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956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0..*</a:t>
            </a:r>
          </a:p>
        </p:txBody>
      </p:sp>
      <p:sp>
        <p:nvSpPr>
          <p:cNvPr id="24" name="1">
            <a:extLst xmlns:a="http://schemas.openxmlformats.org/drawingml/2006/main">
              <a:ext uri="{FF2B5EF4-FFF2-40B4-BE49-F238E27FC236}">
                <a16:creationId xmlns:a16="http://schemas.microsoft.com/office/drawing/2014/main" id="{D87B4550-0F5A-48A4-9647-85070A3F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5" name="一筆選課恰好對應一位學生與一門課程。">
            <a:extLst xmlns:a="http://schemas.openxmlformats.org/drawingml/2006/main">
              <a:ext uri="{FF2B5EF4-FFF2-40B4-BE49-F238E27FC236}">
                <a16:creationId xmlns:a16="http://schemas.microsoft.com/office/drawing/2014/main" id="{D0F8A465-378C-420A-AE21-06E02400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一筆選課恰好對應一位學生與一門課程。</a:t>
            </a:r>
          </a:p>
        </p:txBody>
      </p:sp>
      <p:sp>
        <p:nvSpPr>
          <p:cNvPr id="26" name="Enrollment 保存選課這件事的成績；圖中以中介類別表達關係資料。">
            <a:extLst xmlns:a="http://schemas.openxmlformats.org/drawingml/2006/main">
              <a:ext uri="{FF2B5EF4-FFF2-40B4-BE49-F238E27FC236}">
                <a16:creationId xmlns:a16="http://schemas.microsoft.com/office/drawing/2014/main" id="{F331B93D-58E5-4C36-AFA7-92F990C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Enrollment 保存選課這件事的成績；圖中以中介類別表達關係資料。</a:t>
            </a:r>
          </a:p>
        </p:txBody>
      </p:sp>
      <p:sp>
        <p:nvSpPr>
          <p:cNvPr id="28" name="24">
            <a:extLst xmlns:a="http://schemas.openxmlformats.org/drawingml/2006/main">
              <a:ext uri="{FF2B5EF4-FFF2-40B4-BE49-F238E27FC236}">
                <a16:creationId xmlns:a16="http://schemas.microsoft.com/office/drawing/2014/main" id="{F014738D-854D-4F3C-B70A-449FC90D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716763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類別圖對應的 Python 狀態">
            <a:extLst xmlns:a="http://schemas.openxmlformats.org/drawingml/2006/main">
              <a:ext uri="{FF2B5EF4-FFF2-40B4-BE49-F238E27FC236}">
                <a16:creationId xmlns:a16="http://schemas.microsoft.com/office/drawing/2014/main" id="{DBDB8D54-A48E-4BDB-B088-C41B5797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類別圖對應的 Python 狀態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531369E0-AAE8-40DD-8CCD-1746C456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class Enrollment:">
            <a:extLst xmlns:a="http://schemas.openxmlformats.org/drawingml/2006/main">
              <a:ext uri="{FF2B5EF4-FFF2-40B4-BE49-F238E27FC236}">
                <a16:creationId xmlns:a16="http://schemas.microsoft.com/office/drawing/2014/main" id="{A55E55AE-06E1-4CEE-A427-F9C61BDA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Enrollment:</a:t>
            </a:r>
          </a:p>
        </p:txBody>
      </p:sp>
      <p:sp>
        <p:nvSpPr>
          <p:cNvPr id="4" name="    def __init__(self, student, course):">
            <a:extLst xmlns:a="http://schemas.openxmlformats.org/drawingml/2006/main">
              <a:ext uri="{FF2B5EF4-FFF2-40B4-BE49-F238E27FC236}">
                <a16:creationId xmlns:a16="http://schemas.microsoft.com/office/drawing/2014/main" id="{B2D7F027-70CB-4A98-935E-84CCD58D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9469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student, course):</a:t>
            </a:r>
          </a:p>
        </p:txBody>
      </p:sp>
      <p:sp>
        <p:nvSpPr>
          <p:cNvPr id="5" name="        if student is None or course is None:">
            <a:extLst xmlns:a="http://schemas.openxmlformats.org/drawingml/2006/main">
              <a:ext uri="{FF2B5EF4-FFF2-40B4-BE49-F238E27FC236}">
                <a16:creationId xmlns:a16="http://schemas.microsoft.com/office/drawing/2014/main" id="{F3753DD4-3A1D-4A41-B134-BE5A03A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9188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student is None or course is None:</a:t>
            </a:r>
          </a:p>
        </p:txBody>
      </p:sp>
      <p:sp>
        <p:nvSpPr>
          <p:cNvPr id="6" name="            raise ValueError(&quot;required&quot;)">
            <a:extLst xmlns:a="http://schemas.openxmlformats.org/drawingml/2006/main">
              <a:ext uri="{FF2B5EF4-FFF2-40B4-BE49-F238E27FC236}">
                <a16:creationId xmlns:a16="http://schemas.microsoft.com/office/drawing/2014/main" id="{A62C32D1-C637-4FCA-AD19-62597E8F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78906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ValueError("required")</a:t>
            </a:r>
          </a:p>
        </p:txBody>
      </p:sp>
      <p:sp>
        <p:nvSpPr>
          <p:cNvPr id="7" name="        self.student = student">
            <a:extLst xmlns:a="http://schemas.openxmlformats.org/drawingml/2006/main">
              <a:ext uri="{FF2B5EF4-FFF2-40B4-BE49-F238E27FC236}">
                <a16:creationId xmlns:a16="http://schemas.microsoft.com/office/drawing/2014/main" id="{71D9C5AB-9274-4AED-9DC6-0FDA5B5D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68625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 = student</a:t>
            </a:r>
          </a:p>
        </p:txBody>
      </p:sp>
      <p:sp>
        <p:nvSpPr>
          <p:cNvPr id="8" name="        self.course = course">
            <a:extLst xmlns:a="http://schemas.openxmlformats.org/drawingml/2006/main">
              <a:ext uri="{FF2B5EF4-FFF2-40B4-BE49-F238E27FC236}">
                <a16:creationId xmlns:a16="http://schemas.microsoft.com/office/drawing/2014/main" id="{23A5D13D-9942-4E3E-9590-7C77F291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8344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 = course</a:t>
            </a:r>
          </a:p>
        </p:txBody>
      </p:sp>
      <p:sp>
        <p:nvSpPr>
          <p:cNvPr id="9" name="        self.score = None">
            <a:extLst xmlns:a="http://schemas.openxmlformats.org/drawingml/2006/main">
              <a:ext uri="{FF2B5EF4-FFF2-40B4-BE49-F238E27FC236}">
                <a16:creationId xmlns:a16="http://schemas.microsoft.com/office/drawing/2014/main" id="{44B0ED92-ED0D-49F7-A3FA-7BC28FB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8063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self.score = None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0A720-46B0-41E3-9E5C-587EC155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37781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    def set_score(self, score):">
            <a:extLst xmlns:a="http://schemas.openxmlformats.org/drawingml/2006/main">
              <a:ext uri="{FF2B5EF4-FFF2-40B4-BE49-F238E27FC236}">
                <a16:creationId xmlns:a16="http://schemas.microsoft.com/office/drawing/2014/main" id="{3D9504CC-41AA-49D7-83CD-2BD30098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7500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set_score(self, score):</a:t>
            </a:r>
          </a:p>
        </p:txBody>
      </p:sp>
      <p:sp>
        <p:nvSpPr>
          <p:cNvPr id="12" name="        if not 0 &lt;= score &lt;= 100:">
            <a:extLst xmlns:a="http://schemas.openxmlformats.org/drawingml/2006/main">
              <a:ext uri="{FF2B5EF4-FFF2-40B4-BE49-F238E27FC236}">
                <a16:creationId xmlns:a16="http://schemas.microsoft.com/office/drawing/2014/main" id="{725C448B-9D1A-4B71-B21E-ADF0C867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7219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not 0 &lt;= score &lt;= 100:</a:t>
            </a:r>
          </a:p>
        </p:txBody>
      </p:sp>
      <p:sp>
        <p:nvSpPr>
          <p:cNvPr id="13" name="            raise ValueError(&quot;score range&quot;)">
            <a:extLst xmlns:a="http://schemas.openxmlformats.org/drawingml/2006/main">
              <a:ext uri="{FF2B5EF4-FFF2-40B4-BE49-F238E27FC236}">
                <a16:creationId xmlns:a16="http://schemas.microsoft.com/office/drawing/2014/main" id="{C4142076-6277-4B5C-A8CE-BABAEDE5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6938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ValueError("score range")</a:t>
            </a:r>
          </a:p>
        </p:txBody>
      </p:sp>
      <p:sp>
        <p:nvSpPr>
          <p:cNvPr id="14" name="        self.score = score">
            <a:extLst xmlns:a="http://schemas.openxmlformats.org/drawingml/2006/main">
              <a:ext uri="{FF2B5EF4-FFF2-40B4-BE49-F238E27FC236}">
                <a16:creationId xmlns:a16="http://schemas.microsoft.com/office/drawing/2014/main" id="{1AE8E073-012C-4AC4-A703-D1E4136F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96656"/>
            <a:ext cx="7191375" cy="318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self.score = score</a:t>
            </a:r>
          </a:p>
        </p:txBody>
      </p:sp>
      <p:sp>
        <p:nvSpPr>
          <p:cNvPr id="15" name="1 的最低限度檢查">
            <a:extLst xmlns:a="http://schemas.openxmlformats.org/drawingml/2006/main">
              <a:ext uri="{FF2B5EF4-FFF2-40B4-BE49-F238E27FC236}">
                <a16:creationId xmlns:a16="http://schemas.microsoft.com/office/drawing/2014/main" id="{7D1CD779-672C-4462-8A61-1BB5E2D6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1 的最低限度檢查</a:t>
            </a:r>
          </a:p>
        </p:txBody>
      </p:sp>
      <p:sp>
        <p:nvSpPr>
          <p:cNvPr id="16" name="此例拒絕缺少學生或課程， 尚未限制參數的型別。">
            <a:extLst xmlns:a="http://schemas.openxmlformats.org/drawingml/2006/main">
              <a:ext uri="{FF2B5EF4-FFF2-40B4-BE49-F238E27FC236}">
                <a16:creationId xmlns:a16="http://schemas.microsoft.com/office/drawing/2014/main" id="{442D79A9-B154-4A02-B24B-E765C877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此例拒絕缺少學生或課程，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尚未限制參數的型別。</a:t>
            </a:r>
          </a:p>
        </p:txBody>
      </p:sp>
      <p:sp>
        <p:nvSpPr>
          <p:cNvPr id="17" name="0..1 的資料">
            <a:extLst xmlns:a="http://schemas.openxmlformats.org/drawingml/2006/main">
              <a:ext uri="{FF2B5EF4-FFF2-40B4-BE49-F238E27FC236}">
                <a16:creationId xmlns:a16="http://schemas.microsoft.com/office/drawing/2014/main" id="{4EA938FF-13A1-4E26-9A94-3E1F44A3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0..1 的資料</a:t>
            </a:r>
          </a:p>
        </p:txBody>
      </p:sp>
      <p:sp>
        <p:nvSpPr>
          <p:cNvPr id="18" name="score 可先沒有成績。 setter 集中管理分數範圍。">
            <a:extLst xmlns:a="http://schemas.openxmlformats.org/drawingml/2006/main">
              <a:ext uri="{FF2B5EF4-FFF2-40B4-BE49-F238E27FC236}">
                <a16:creationId xmlns:a16="http://schemas.microsoft.com/office/drawing/2014/main" id="{CE8009A8-85C0-458E-BEAE-5D036710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0530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score 可先沒有成績。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setter 集中管理分數範圍。</a:t>
            </a:r>
          </a:p>
        </p:txBody>
      </p:sp>
      <p:sp>
        <p:nvSpPr>
          <p:cNvPr id="19" name="此節錄未實作防止重複選課或雙向集合；完整附檔可獨立執行。">
            <a:extLst xmlns:a="http://schemas.openxmlformats.org/drawingml/2006/main">
              <a:ext uri="{FF2B5EF4-FFF2-40B4-BE49-F238E27FC236}">
                <a16:creationId xmlns:a16="http://schemas.microsoft.com/office/drawing/2014/main" id="{D7E12809-E00A-4A45-BD5D-6F39B42D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此節錄未實作防止重複選課或雙向集合；完整附檔可獨立執行。</a:t>
            </a:r>
          </a:p>
        </p:txBody>
      </p:sp>
      <p:sp>
        <p:nvSpPr>
          <p:cNvPr id="21" name="25">
            <a:extLst xmlns:a="http://schemas.openxmlformats.org/drawingml/2006/main">
              <a:ext uri="{FF2B5EF4-FFF2-40B4-BE49-F238E27FC236}">
                <a16:creationId xmlns:a16="http://schemas.microsoft.com/office/drawing/2014/main" id="{813E9130-700A-4473-838A-15D78FD7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873700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第 6 週練習：訂單類別圖">
            <a:extLst xmlns:a="http://schemas.openxmlformats.org/drawingml/2006/main">
              <a:ext uri="{FF2B5EF4-FFF2-40B4-BE49-F238E27FC236}">
                <a16:creationId xmlns:a16="http://schemas.microsoft.com/office/drawing/2014/main" id="{865ED92E-3098-47DC-AD91-8581946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第 6 週練習：訂單類別圖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2C2997F9-2ABF-4BAB-9E87-AE66B3C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需求 1">
            <a:extLst xmlns:a="http://schemas.openxmlformats.org/drawingml/2006/main">
              <a:ext uri="{FF2B5EF4-FFF2-40B4-BE49-F238E27FC236}">
                <a16:creationId xmlns:a16="http://schemas.microsoft.com/office/drawing/2014/main" id="{453E5137-27B8-478D-A694-E513461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需求 1</a:t>
            </a:r>
          </a:p>
        </p:txBody>
      </p:sp>
      <p:sp>
        <p:nvSpPr>
          <p:cNvPr id="4" name="已確認訂單至少有一筆明細；每筆明細只屬一張訂單。">
            <a:extLst xmlns:a="http://schemas.openxmlformats.org/drawingml/2006/main">
              <a:ext uri="{FF2B5EF4-FFF2-40B4-BE49-F238E27FC236}">
                <a16:creationId xmlns:a16="http://schemas.microsoft.com/office/drawing/2014/main" id="{F1B9A40B-0593-4970-A67E-A86766AE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已確認訂單至少有一筆明細；每筆明細只屬一張訂單。</a:t>
            </a:r>
          </a:p>
        </p:txBody>
      </p:sp>
      <p:sp>
        <p:nvSpPr>
          <p:cNvPr id="5" name="需求 2">
            <a:extLst xmlns:a="http://schemas.openxmlformats.org/drawingml/2006/main">
              <a:ext uri="{FF2B5EF4-FFF2-40B4-BE49-F238E27FC236}">
                <a16:creationId xmlns:a16="http://schemas.microsoft.com/office/drawing/2014/main" id="{95D845E6-0AD1-4F8A-9F85-5EBAF354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需求 2</a:t>
            </a:r>
          </a:p>
        </p:txBody>
      </p:sp>
      <p:sp>
        <p:nvSpPr>
          <p:cNvPr id="6" name="明細參照一項商品；商品可出現在多張訂單中。">
            <a:extLst xmlns:a="http://schemas.openxmlformats.org/drawingml/2006/main">
              <a:ext uri="{FF2B5EF4-FFF2-40B4-BE49-F238E27FC236}">
                <a16:creationId xmlns:a16="http://schemas.microsoft.com/office/drawing/2014/main" id="{2C6F060F-6EF3-4489-89DA-8A1AB4DB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明細參照一項商品；商品可出現在多張訂單中。</a:t>
            </a:r>
          </a:p>
        </p:txBody>
      </p:sp>
      <p:sp>
        <p:nvSpPr>
          <p:cNvPr id="7" name="需求 3">
            <a:extLst xmlns:a="http://schemas.openxmlformats.org/drawingml/2006/main">
              <a:ext uri="{FF2B5EF4-FFF2-40B4-BE49-F238E27FC236}">
                <a16:creationId xmlns:a16="http://schemas.microsoft.com/office/drawing/2014/main" id="{4F475A18-A982-449F-B743-16E2DFE4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需求 3</a:t>
            </a:r>
          </a:p>
        </p:txBody>
      </p:sp>
      <p:sp>
        <p:nvSpPr>
          <p:cNvPr id="8" name="明細保存數量；訂單計價時暫時使用 PricingService。">
            <a:extLst xmlns:a="http://schemas.openxmlformats.org/drawingml/2006/main">
              <a:ext uri="{FF2B5EF4-FFF2-40B4-BE49-F238E27FC236}">
                <a16:creationId xmlns:a16="http://schemas.microsoft.com/office/drawing/2014/main" id="{E395524F-AEBA-4980-A08C-E8ADF6D3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9570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明細保存數量；訂單計價時暫時使用 PricingService。</a:t>
            </a:r>
          </a:p>
        </p:txBody>
      </p:sp>
      <p:sp>
        <p:nvSpPr>
          <p:cNvPr id="9" name="任務">
            <a:extLst xmlns:a="http://schemas.openxmlformats.org/drawingml/2006/main">
              <a:ext uri="{FF2B5EF4-FFF2-40B4-BE49-F238E27FC236}">
                <a16:creationId xmlns:a16="http://schemas.microsoft.com/office/drawing/2014/main" id="{7BB434E4-61EA-4D91-AED1-6E9CAA96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10" name="畫出類別、關係及多重性，寫出每個類別的一句責任。">
            <a:extLst xmlns:a="http://schemas.openxmlformats.org/drawingml/2006/main">
              <a:ext uri="{FF2B5EF4-FFF2-40B4-BE49-F238E27FC236}">
                <a16:creationId xmlns:a16="http://schemas.microsoft.com/office/drawing/2014/main" id="{FD1D216D-48D2-407C-9DA7-2B783695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5772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畫出類別、關係及多重性，寫出每個類別的一句責任。</a:t>
            </a:r>
          </a:p>
        </p:txBody>
      </p:sp>
      <p:sp>
        <p:nvSpPr>
          <p:cNvPr id="13" name="26">
            <a:extLst xmlns:a="http://schemas.openxmlformats.org/drawingml/2006/main">
              <a:ext uri="{FF2B5EF4-FFF2-40B4-BE49-F238E27FC236}">
                <a16:creationId xmlns:a16="http://schemas.microsoft.com/office/drawing/2014/main" id="{26D6A7C5-3B73-4EE5-9196-83313410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927821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訂單類別圖參考解答">
            <a:extLst xmlns:a="http://schemas.openxmlformats.org/drawingml/2006/main">
              <a:ext uri="{FF2B5EF4-FFF2-40B4-BE49-F238E27FC236}">
                <a16:creationId xmlns:a16="http://schemas.microsoft.com/office/drawing/2014/main" id="{67EF253E-23CC-407D-99EE-F463859F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訂單類別圖參考解答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355E2B86-2AD7-4072-913B-D0F72E7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1B7C7-2604-4F97-A800-92CA2D75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323850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4" name="Order">
            <a:extLst xmlns:a="http://schemas.openxmlformats.org/drawingml/2006/main">
              <a:ext uri="{FF2B5EF4-FFF2-40B4-BE49-F238E27FC236}">
                <a16:creationId xmlns:a16="http://schemas.microsoft.com/office/drawing/2014/main" id="{8D0D1FF3-BC6A-434C-863A-73BAA38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383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Order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F37EF-E9E9-48B6-9E7E-233F2658E95A}"/>
              </a:ext>
            </a:extLst>
          </p:cNvPr>
          <p:cNvCxnSpPr/>
          <p:nvPr/>
        </p:nvCxnSpPr>
        <p:spPr>
          <a:xfrm xmlns:a="http://schemas.openxmlformats.org/drawingml/2006/main">
            <a:off x="619125" y="22955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6" name="status: str">
            <a:extLst xmlns:a="http://schemas.openxmlformats.org/drawingml/2006/main">
              <a:ext uri="{FF2B5EF4-FFF2-40B4-BE49-F238E27FC236}">
                <a16:creationId xmlns:a16="http://schemas.microsoft.com/office/drawing/2014/main" id="{DC77E605-EFEB-4070-9898-52AE5A07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895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status: str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B3B11-298F-47FA-9BCA-311C4029CD21}"/>
              </a:ext>
            </a:extLst>
          </p:cNvPr>
          <p:cNvCxnSpPr/>
          <p:nvPr/>
        </p:nvCxnSpPr>
        <p:spPr>
          <a:xfrm xmlns:a="http://schemas.openxmlformats.org/drawingml/2006/main">
            <a:off x="619125" y="30670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8" name="confirm()">
            <a:extLst xmlns:a="http://schemas.openxmlformats.org/drawingml/2006/main">
              <a:ext uri="{FF2B5EF4-FFF2-40B4-BE49-F238E27FC236}">
                <a16:creationId xmlns:a16="http://schemas.microsoft.com/office/drawing/2014/main" id="{B9C544D7-5323-4867-BF51-83870209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004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confirm()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BA28C-910F-4B00-875D-B28B947A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43075"/>
            <a:ext cx="323850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10" name="OrderLine">
            <a:extLst xmlns:a="http://schemas.openxmlformats.org/drawingml/2006/main">
              <a:ext uri="{FF2B5EF4-FFF2-40B4-BE49-F238E27FC236}">
                <a16:creationId xmlns:a16="http://schemas.microsoft.com/office/drawing/2014/main" id="{4048EBE1-4744-4314-910F-A7FEFCD6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383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OrderLine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4B093-5261-4BF8-B913-1B75861FD82B}"/>
              </a:ext>
            </a:extLst>
          </p:cNvPr>
          <p:cNvCxnSpPr/>
          <p:nvPr/>
        </p:nvCxnSpPr>
        <p:spPr>
          <a:xfrm xmlns:a="http://schemas.openxmlformats.org/drawingml/2006/main">
            <a:off x="8334375" y="22955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12" name="qty: int">
            <a:extLst xmlns:a="http://schemas.openxmlformats.org/drawingml/2006/main">
              <a:ext uri="{FF2B5EF4-FFF2-40B4-BE49-F238E27FC236}">
                <a16:creationId xmlns:a16="http://schemas.microsoft.com/office/drawing/2014/main" id="{E94573E9-861D-4158-BB1F-F2869638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66975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qty: int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9D064-BB24-42C3-B2A3-BAC7CA9526B7}"/>
              </a:ext>
            </a:extLst>
          </p:cNvPr>
          <p:cNvCxnSpPr/>
          <p:nvPr/>
        </p:nvCxnSpPr>
        <p:spPr>
          <a:xfrm xmlns:a="http://schemas.openxmlformats.org/drawingml/2006/main">
            <a:off x="8334375" y="338137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A2CFD-313D-4129-8D14-E06002D0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15" name="PricingService">
            <a:extLst xmlns:a="http://schemas.openxmlformats.org/drawingml/2006/main">
              <a:ext uri="{FF2B5EF4-FFF2-40B4-BE49-F238E27FC236}">
                <a16:creationId xmlns:a16="http://schemas.microsoft.com/office/drawing/2014/main" id="{71823CFB-9C38-4C5C-9038-9D87B45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625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PricingService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5D84E-44F6-4E85-91CC-7F690E8F21FA}"/>
              </a:ext>
            </a:extLst>
          </p:cNvPr>
          <p:cNvCxnSpPr/>
          <p:nvPr/>
        </p:nvCxnSpPr>
        <p:spPr>
          <a:xfrm xmlns:a="http://schemas.openxmlformats.org/drawingml/2006/main">
            <a:off x="619125" y="51244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17" name="price(order)">
            <a:extLst xmlns:a="http://schemas.openxmlformats.org/drawingml/2006/main">
              <a:ext uri="{FF2B5EF4-FFF2-40B4-BE49-F238E27FC236}">
                <a16:creationId xmlns:a16="http://schemas.microsoft.com/office/drawing/2014/main" id="{69992195-E384-4870-9182-BEDCD43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67325"/>
            <a:ext cx="2895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price(order)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A927B-CC1E-4124-8B23-B18D309D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863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19050">
            <a:solidFill>
              <a:srgbClr val="16686C"/>
            </a:solidFill>
            <a:prstDash val="solid"/>
          </a:ln>
        </p:spPr>
      </p:sp>
      <p:sp>
        <p:nvSpPr>
          <p:cNvPr id="19" name="Product">
            <a:extLst xmlns:a="http://schemas.openxmlformats.org/drawingml/2006/main">
              <a:ext uri="{FF2B5EF4-FFF2-40B4-BE49-F238E27FC236}">
                <a16:creationId xmlns:a16="http://schemas.microsoft.com/office/drawing/2014/main" id="{3935BECA-DB57-482F-B333-7F01C04F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625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C4804-3B64-493A-91F9-D2B07FAAFFDC}"/>
              </a:ext>
            </a:extLst>
          </p:cNvPr>
          <p:cNvCxnSpPr/>
          <p:nvPr/>
        </p:nvCxnSpPr>
        <p:spPr>
          <a:xfrm xmlns:a="http://schemas.openxmlformats.org/drawingml/2006/main">
            <a:off x="8334375" y="51244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86C"/>
            </a:solidFill>
            <a:prstDash val="solid"/>
          </a:ln>
        </p:spPr>
      </p:cxnSp>
      <p:sp>
        <p:nvSpPr>
          <p:cNvPr id="21" name="price: int">
            <a:extLst xmlns:a="http://schemas.openxmlformats.org/drawingml/2006/main">
              <a:ext uri="{FF2B5EF4-FFF2-40B4-BE49-F238E27FC236}">
                <a16:creationId xmlns:a16="http://schemas.microsoft.com/office/drawing/2014/main" id="{B0D5ECB2-79D4-4666-B017-62AB5B6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267325"/>
            <a:ext cx="2895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price: int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BCDF7-A0C7-4505-B476-B3B7D070E848}"/>
              </a:ext>
            </a:extLst>
          </p:cNvPr>
          <p:cNvCxnSpPr/>
          <p:nvPr/>
        </p:nvCxnSpPr>
        <p:spPr>
          <a:xfrm xmlns:a="http://schemas.openxmlformats.org/drawingml/2006/main">
            <a:off x="3867150" y="2743200"/>
            <a:ext cx="443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57CB6-AC13-4843-A4B5-BF2CD30D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2890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32B3A"/>
          </a:solidFill>
          <a:ln xmlns:a="http://schemas.openxmlformats.org/drawingml/2006/main" w="19050">
            <a:solidFill>
              <a:srgbClr val="132B3A"/>
            </a:solidFill>
          </a:ln>
        </p:spPr>
      </p:sp>
      <p:sp>
        <p:nvSpPr>
          <p:cNvPr id="24" name="1">
            <a:extLst xmlns:a="http://schemas.openxmlformats.org/drawingml/2006/main">
              <a:ext uri="{FF2B5EF4-FFF2-40B4-BE49-F238E27FC236}">
                <a16:creationId xmlns:a16="http://schemas.microsoft.com/office/drawing/2014/main" id="{3AC88B8E-8776-4662-8F9D-C16EC7B4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33625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5" name="1..*">
            <a:extLst xmlns:a="http://schemas.openxmlformats.org/drawingml/2006/main">
              <a:ext uri="{FF2B5EF4-FFF2-40B4-BE49-F238E27FC236}">
                <a16:creationId xmlns:a16="http://schemas.microsoft.com/office/drawing/2014/main" id="{332C1EE8-3178-4088-AC15-E14B420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336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1..*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6D8EB-896F-4D14-81ED-6B32A115ED9C}"/>
              </a:ext>
            </a:extLst>
          </p:cNvPr>
          <p:cNvCxnSpPr/>
          <p:nvPr/>
        </p:nvCxnSpPr>
        <p:spPr>
          <a:xfrm xmlns:a="http://schemas.openxmlformats.org/drawingml/2006/main">
            <a:off x="2238375" y="37338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dash"/>
            <a:tailEnd type="arrow" w="med" len="med"/>
          </a:ln>
        </p:spPr>
      </p:cxnSp>
      <p:sp>
        <p:nvSpPr>
          <p:cNvPr id="27" name="使用">
            <a:extLst xmlns:a="http://schemas.openxmlformats.org/drawingml/2006/main">
              <a:ext uri="{FF2B5EF4-FFF2-40B4-BE49-F238E27FC236}">
                <a16:creationId xmlns:a16="http://schemas.microsoft.com/office/drawing/2014/main" id="{5AC33CDC-95A0-48A0-96B1-3051A53D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195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使用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5EA97-DC3A-4F66-B238-964606DA761C}"/>
              </a:ext>
            </a:extLst>
          </p:cNvPr>
          <p:cNvCxnSpPr/>
          <p:nvPr/>
        </p:nvCxnSpPr>
        <p:spPr>
          <a:xfrm xmlns:a="http://schemas.openxmlformats.org/drawingml/2006/main">
            <a:off x="9953625" y="37338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B3A"/>
            </a:solidFill>
            <a:prstDash val="solid"/>
            <a:tailEnd type="arrow" w="med" len="med"/>
          </a:ln>
        </p:spPr>
      </p:cxnSp>
      <p:sp>
        <p:nvSpPr>
          <p:cNvPr id="29" name="0..*">
            <a:extLst xmlns:a="http://schemas.openxmlformats.org/drawingml/2006/main">
              <a:ext uri="{FF2B5EF4-FFF2-40B4-BE49-F238E27FC236}">
                <a16:creationId xmlns:a16="http://schemas.microsoft.com/office/drawing/2014/main" id="{10D1F422-FEDE-4130-8237-1B33D244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290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0..*</a:t>
            </a:r>
          </a:p>
        </p:txBody>
      </p:sp>
      <p:sp>
        <p:nvSpPr>
          <p:cNvPr id="30" name="1">
            <a:extLst xmlns:a="http://schemas.openxmlformats.org/drawingml/2006/main">
              <a:ext uri="{FF2B5EF4-FFF2-40B4-BE49-F238E27FC236}">
                <a16:creationId xmlns:a16="http://schemas.microsoft.com/office/drawing/2014/main" id="{154AD54D-0F1B-428D-81D0-DDEA64A7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053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1" name="圖表示已確認訂單；PricingService 的虛線箭頭表示使用依賴。">
            <a:extLst xmlns:a="http://schemas.openxmlformats.org/drawingml/2006/main">
              <a:ext uri="{FF2B5EF4-FFF2-40B4-BE49-F238E27FC236}">
                <a16:creationId xmlns:a16="http://schemas.microsoft.com/office/drawing/2014/main" id="{83402396-C21E-4962-B6E6-24BC4057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圖表示已確認訂單；PricingService 的虛線箭頭表示使用依賴。</a:t>
            </a:r>
          </a:p>
        </p:txBody>
      </p:sp>
      <p:sp>
        <p:nvSpPr>
          <p:cNvPr id="33" name="27">
            <a:extLst xmlns:a="http://schemas.openxmlformats.org/drawingml/2006/main">
              <a:ext uri="{FF2B5EF4-FFF2-40B4-BE49-F238E27FC236}">
                <a16:creationId xmlns:a16="http://schemas.microsoft.com/office/drawing/2014/main" id="{EB2C8D5A-3EE6-4E02-A9C6-CC81C383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005230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類別關係的設計要點">
            <a:extLst xmlns:a="http://schemas.openxmlformats.org/drawingml/2006/main">
              <a:ext uri="{FF2B5EF4-FFF2-40B4-BE49-F238E27FC236}">
                <a16:creationId xmlns:a16="http://schemas.microsoft.com/office/drawing/2014/main" id="{DD76FFE0-D8B2-4B80-A3C3-A98D9AE4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類別關係的設計要點</a:t>
            </a:r>
          </a:p>
        </p:txBody>
      </p:sp>
      <p:sp>
        <p:nvSpPr>
          <p:cNvPr id="2" name="第 6 週　類別關係與 UML 類別圖">
            <a:extLst xmlns:a="http://schemas.openxmlformats.org/drawingml/2006/main">
              <a:ext uri="{FF2B5EF4-FFF2-40B4-BE49-F238E27FC236}">
                <a16:creationId xmlns:a16="http://schemas.microsoft.com/office/drawing/2014/main" id="{A394AEE8-8EC6-49B4-AA96-968A0BA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 6 週　類別關係與 UML 類別圖</a:t>
            </a:r>
          </a:p>
        </p:txBody>
      </p:sp>
      <p:sp>
        <p:nvSpPr>
          <p:cNvPr id="3" name="數量">
            <a:extLst xmlns:a="http://schemas.openxmlformats.org/drawingml/2006/main">
              <a:ext uri="{FF2B5EF4-FFF2-40B4-BE49-F238E27FC236}">
                <a16:creationId xmlns:a16="http://schemas.microsoft.com/office/drawing/2014/main" id="{9BF8AE0B-2471-4982-B463-55E3242E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數量</a:t>
            </a:r>
          </a:p>
        </p:txBody>
      </p:sp>
      <p:sp>
        <p:nvSpPr>
          <p:cNvPr id="4" name="圖上的數量限制需要對應的程式驗證。">
            <a:extLst xmlns:a="http://schemas.openxmlformats.org/drawingml/2006/main">
              <a:ext uri="{FF2B5EF4-FFF2-40B4-BE49-F238E27FC236}">
                <a16:creationId xmlns:a16="http://schemas.microsoft.com/office/drawing/2014/main" id="{D693FFA4-54DD-4AA5-941D-14B6A6DA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圖上的數量限制需要對應的程式驗證。</a:t>
            </a:r>
          </a:p>
        </p:txBody>
      </p:sp>
      <p:sp>
        <p:nvSpPr>
          <p:cNvPr id="5" name="擁有責任">
            <a:extLst xmlns:a="http://schemas.openxmlformats.org/drawingml/2006/main">
              <a:ext uri="{FF2B5EF4-FFF2-40B4-BE49-F238E27FC236}">
                <a16:creationId xmlns:a16="http://schemas.microsoft.com/office/drawing/2014/main" id="{1566138B-9FE3-429B-B10B-6EB19B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擁有責任</a:t>
            </a:r>
          </a:p>
        </p:txBody>
      </p:sp>
      <p:sp>
        <p:nvSpPr>
          <p:cNvPr id="6" name="整體管理組合部分的歸屬與刪除規則。">
            <a:extLst xmlns:a="http://schemas.openxmlformats.org/drawingml/2006/main">
              <a:ext uri="{FF2B5EF4-FFF2-40B4-BE49-F238E27FC236}">
                <a16:creationId xmlns:a16="http://schemas.microsoft.com/office/drawing/2014/main" id="{50E40AF8-24BA-4176-B2A8-19171DF2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整體管理組合部分的歸屬與刪除規則。</a:t>
            </a:r>
          </a:p>
        </p:txBody>
      </p:sp>
      <p:sp>
        <p:nvSpPr>
          <p:cNvPr id="7" name="導覽需求">
            <a:extLst xmlns:a="http://schemas.openxmlformats.org/drawingml/2006/main">
              <a:ext uri="{FF2B5EF4-FFF2-40B4-BE49-F238E27FC236}">
                <a16:creationId xmlns:a16="http://schemas.microsoft.com/office/drawing/2014/main" id="{1F514337-C9A1-4879-B10E-482C930F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導覽需求</a:t>
            </a:r>
          </a:p>
        </p:txBody>
      </p:sp>
      <p:sp>
        <p:nvSpPr>
          <p:cNvPr id="8" name="雙向參照需要維持兩端資料的一致性。">
            <a:extLst xmlns:a="http://schemas.openxmlformats.org/drawingml/2006/main">
              <a:ext uri="{FF2B5EF4-FFF2-40B4-BE49-F238E27FC236}">
                <a16:creationId xmlns:a16="http://schemas.microsoft.com/office/drawing/2014/main" id="{79BA06E9-FF71-4C89-BE26-8378E29E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9570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雙向參照需要維持兩端資料的一致性。</a:t>
            </a:r>
          </a:p>
        </p:txBody>
      </p:sp>
      <p:sp>
        <p:nvSpPr>
          <p:cNvPr id="9" name="資料歸屬">
            <a:extLst xmlns:a="http://schemas.openxmlformats.org/drawingml/2006/main">
              <a:ext uri="{FF2B5EF4-FFF2-40B4-BE49-F238E27FC236}">
                <a16:creationId xmlns:a16="http://schemas.microsoft.com/office/drawing/2014/main" id="{20BF9930-80B8-4B94-815A-0860AA34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資料歸屬</a:t>
            </a:r>
          </a:p>
        </p:txBody>
      </p:sp>
      <p:sp>
        <p:nvSpPr>
          <p:cNvPr id="10" name="成績放 Enrollment；數量放 OrderLine。">
            <a:extLst xmlns:a="http://schemas.openxmlformats.org/drawingml/2006/main">
              <a:ext uri="{FF2B5EF4-FFF2-40B4-BE49-F238E27FC236}">
                <a16:creationId xmlns:a16="http://schemas.microsoft.com/office/drawing/2014/main" id="{A9EAE66B-4EF4-41BC-83C1-1E36BC07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5772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成績放 Enrollment；數量放 OrderLine。</a:t>
            </a:r>
          </a:p>
        </p:txBody>
      </p:sp>
      <p:sp>
        <p:nvSpPr>
          <p:cNvPr id="13" name="28">
            <a:extLst xmlns:a="http://schemas.openxmlformats.org/drawingml/2006/main">
              <a:ext uri="{FF2B5EF4-FFF2-40B4-BE49-F238E27FC236}">
                <a16:creationId xmlns:a16="http://schemas.microsoft.com/office/drawing/2014/main" id="{CCACDC7B-3798-453C-A018-979420DC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239965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重點整理">
            <a:extLst xmlns:a="http://schemas.openxmlformats.org/drawingml/2006/main">
              <a:ext uri="{FF2B5EF4-FFF2-40B4-BE49-F238E27FC236}">
                <a16:creationId xmlns:a16="http://schemas.microsoft.com/office/drawing/2014/main" id="{DA31E21E-26E6-4A26-B05A-2C3307C5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重點整理</a:t>
            </a:r>
          </a:p>
        </p:txBody>
      </p:sp>
      <p:sp>
        <p:nvSpPr>
          <p:cNvPr id="2" name="參考">
            <a:extLst xmlns:a="http://schemas.openxmlformats.org/drawingml/2006/main">
              <a:ext uri="{FF2B5EF4-FFF2-40B4-BE49-F238E27FC236}">
                <a16:creationId xmlns:a16="http://schemas.microsoft.com/office/drawing/2014/main" id="{1D122613-05A8-4B55-A92F-787DEA94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參考</a:t>
            </a:r>
          </a:p>
        </p:txBody>
      </p:sp>
      <p:sp>
        <p:nvSpPr>
          <p:cNvPr id="3" name="a = b 讓兩個名稱參照同一個物件。">
            <a:extLst xmlns:a="http://schemas.openxmlformats.org/drawingml/2006/main">
              <a:ext uri="{FF2B5EF4-FFF2-40B4-BE49-F238E27FC236}">
                <a16:creationId xmlns:a16="http://schemas.microsoft.com/office/drawing/2014/main" id="{A6DBB886-E22B-44A2-BB9C-6D2CBB96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 = b 讓兩個名稱參照同一個物件。</a:t>
            </a:r>
          </a:p>
        </p:txBody>
      </p:sp>
      <p:sp>
        <p:nvSpPr>
          <p:cNvPr id="4" name="複製">
            <a:extLst xmlns:a="http://schemas.openxmlformats.org/drawingml/2006/main">
              <a:ext uri="{FF2B5EF4-FFF2-40B4-BE49-F238E27FC236}">
                <a16:creationId xmlns:a16="http://schemas.microsoft.com/office/drawing/2014/main" id="{31B8A166-5EE5-4A2F-BE42-CD421F02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複製</a:t>
            </a:r>
          </a:p>
        </p:txBody>
      </p:sp>
      <p:sp>
        <p:nvSpPr>
          <p:cNvPr id="5" name="淺複製建立新外層，巢狀可變物件仍可能共用。">
            <a:extLst xmlns:a="http://schemas.openxmlformats.org/drawingml/2006/main">
              <a:ext uri="{FF2B5EF4-FFF2-40B4-BE49-F238E27FC236}">
                <a16:creationId xmlns:a16="http://schemas.microsoft.com/office/drawing/2014/main" id="{7FB8419F-A3E4-4D6C-BC27-5A041682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淺複製建立新外層，巢狀可變物件仍可能共用。</a:t>
            </a:r>
          </a:p>
        </p:txBody>
      </p:sp>
      <p:sp>
        <p:nvSpPr>
          <p:cNvPr id="6" name="生命週期">
            <a:extLst xmlns:a="http://schemas.openxmlformats.org/drawingml/2006/main">
              <a:ext uri="{FF2B5EF4-FFF2-40B4-BE49-F238E27FC236}">
                <a16:creationId xmlns:a16="http://schemas.microsoft.com/office/drawing/2014/main" id="{42414649-C7EF-4484-ABCB-089AC2A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生命週期</a:t>
            </a:r>
          </a:p>
        </p:txBody>
      </p:sp>
      <p:sp>
        <p:nvSpPr>
          <p:cNvPr id="7" name="del 解除名稱繫結；物件仍可能由其他參考取得。">
            <a:extLst xmlns:a="http://schemas.openxmlformats.org/drawingml/2006/main">
              <a:ext uri="{FF2B5EF4-FFF2-40B4-BE49-F238E27FC236}">
                <a16:creationId xmlns:a16="http://schemas.microsoft.com/office/drawing/2014/main" id="{EF3F550B-9441-4F2C-9FAF-67CCE8A0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95700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del 解除名稱繫結；物件仍可能由其他參考取得。</a:t>
            </a:r>
          </a:p>
        </p:txBody>
      </p:sp>
      <p:sp>
        <p:nvSpPr>
          <p:cNvPr id="8" name="類別關係">
            <a:extLst xmlns:a="http://schemas.openxmlformats.org/drawingml/2006/main">
              <a:ext uri="{FF2B5EF4-FFF2-40B4-BE49-F238E27FC236}">
                <a16:creationId xmlns:a16="http://schemas.microsoft.com/office/drawing/2014/main" id="{7364FF5F-4615-4F3E-9DA1-1194B8D8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類別關係</a:t>
            </a:r>
          </a:p>
        </p:txBody>
      </p:sp>
      <p:sp>
        <p:nvSpPr>
          <p:cNvPr id="9" name="類別圖表達合作關係、部分歸屬與多重性。">
            <a:extLst xmlns:a="http://schemas.openxmlformats.org/drawingml/2006/main">
              <a:ext uri="{FF2B5EF4-FFF2-40B4-BE49-F238E27FC236}">
                <a16:creationId xmlns:a16="http://schemas.microsoft.com/office/drawing/2014/main" id="{9BC57326-9503-413A-A072-1FDE77DB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57725"/>
            <a:ext cx="78390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類別圖表達合作關係、部分歸屬與多重性。</a:t>
            </a:r>
          </a:p>
        </p:txBody>
      </p:sp>
      <p:sp>
        <p:nvSpPr>
          <p:cNvPr id="12" name="29">
            <a:extLst xmlns:a="http://schemas.openxmlformats.org/drawingml/2006/main">
              <a:ext uri="{FF2B5EF4-FFF2-40B4-BE49-F238E27FC236}">
                <a16:creationId xmlns:a16="http://schemas.microsoft.com/office/drawing/2014/main" id="{566AD2C7-810A-4FEF-85C4-F877084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6177091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課後查閱">
            <a:extLst xmlns:a="http://schemas.openxmlformats.org/drawingml/2006/main">
              <a:ext uri="{FF2B5EF4-FFF2-40B4-BE49-F238E27FC236}">
                <a16:creationId xmlns:a16="http://schemas.microsoft.com/office/drawing/2014/main" id="{73A25B7C-E8FB-4835-9D87-769FC5F8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課後查閱</a:t>
            </a:r>
          </a:p>
        </p:txBody>
      </p:sp>
      <p:sp>
        <p:nvSpPr>
          <p:cNvPr id="2" name="Python 物件與參考">
            <a:extLst xmlns:a="http://schemas.openxmlformats.org/drawingml/2006/main">
              <a:ext uri="{FF2B5EF4-FFF2-40B4-BE49-F238E27FC236}">
                <a16:creationId xmlns:a16="http://schemas.microsoft.com/office/drawing/2014/main" id="{48F7A9CB-90A0-43A8-95F0-336CC9A9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物件與參考</a:t>
            </a:r>
          </a:p>
        </p:txBody>
      </p:sp>
      <p:sp>
        <p:nvSpPr>
          <p:cNvPr id="3" name="docs.python.org/3.12/reference/datamodel.html">
            <a:extLst xmlns:a="http://schemas.openxmlformats.org/drawingml/2006/main">
              <a:ext uri="{FF2B5EF4-FFF2-40B4-BE49-F238E27FC236}">
                <a16:creationId xmlns:a16="http://schemas.microsoft.com/office/drawing/2014/main" id="{1C42EF72-4CCB-4E69-B7BA-8768CE0B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docs.python.org/3.12/reference/datamodel.html</a:t>
            </a:r>
          </a:p>
        </p:txBody>
      </p:sp>
      <p:sp>
        <p:nvSpPr>
          <p:cNvPr id="4" name="Python 複製操作">
            <a:extLst xmlns:a="http://schemas.openxmlformats.org/drawingml/2006/main">
              <a:ext uri="{FF2B5EF4-FFF2-40B4-BE49-F238E27FC236}">
                <a16:creationId xmlns:a16="http://schemas.microsoft.com/office/drawing/2014/main" id="{68E32EB1-DB2C-4B08-930D-B92FE993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複製操作</a:t>
            </a:r>
          </a:p>
        </p:txBody>
      </p:sp>
      <p:sp>
        <p:nvSpPr>
          <p:cNvPr id="5" name="docs.python.org/3.12/library/copy.html">
            <a:extLst xmlns:a="http://schemas.openxmlformats.org/drawingml/2006/main">
              <a:ext uri="{FF2B5EF4-FFF2-40B4-BE49-F238E27FC236}">
                <a16:creationId xmlns:a16="http://schemas.microsoft.com/office/drawing/2014/main" id="{EECD2795-F9CD-4FBD-8E62-9DDC20D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docs.python.org/3.12/library/copy.html</a:t>
            </a:r>
          </a:p>
        </p:txBody>
      </p:sp>
      <p:sp>
        <p:nvSpPr>
          <p:cNvPr id="6" name="檔案與 with">
            <a:extLst xmlns:a="http://schemas.openxmlformats.org/drawingml/2006/main">
              <a:ext uri="{FF2B5EF4-FFF2-40B4-BE49-F238E27FC236}">
                <a16:creationId xmlns:a16="http://schemas.microsoft.com/office/drawing/2014/main" id="{56EB9514-C26F-4ACB-862B-7483B1A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檔案與 with</a:t>
            </a:r>
          </a:p>
        </p:txBody>
      </p:sp>
      <p:sp>
        <p:nvSpPr>
          <p:cNvPr id="7" name="docs.python.org/3.12/tutorial/inputoutput.html">
            <a:extLst xmlns:a="http://schemas.openxmlformats.org/drawingml/2006/main">
              <a:ext uri="{FF2B5EF4-FFF2-40B4-BE49-F238E27FC236}">
                <a16:creationId xmlns:a16="http://schemas.microsoft.com/office/drawing/2014/main" id="{407369E2-A952-4362-A640-83AB54D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docs.python.org/3.12/tutorial/inputoutput.html</a:t>
            </a:r>
          </a:p>
        </p:txBody>
      </p:sp>
      <p:sp>
        <p:nvSpPr>
          <p:cNvPr id="8" name="UML 2.5.1 官方規格">
            <a:extLst xmlns:a="http://schemas.openxmlformats.org/drawingml/2006/main">
              <a:ext uri="{FF2B5EF4-FFF2-40B4-BE49-F238E27FC236}">
                <a16:creationId xmlns:a16="http://schemas.microsoft.com/office/drawing/2014/main" id="{6B29A836-A4CF-4F89-AB5E-D43D4BD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UML 2.5.1 官方規格</a:t>
            </a:r>
          </a:p>
        </p:txBody>
      </p:sp>
      <p:sp>
        <p:nvSpPr>
          <p:cNvPr id="9" name="omg.org/spec/UML/2.5.1">
            <a:extLst xmlns:a="http://schemas.openxmlformats.org/drawingml/2006/main">
              <a:ext uri="{FF2B5EF4-FFF2-40B4-BE49-F238E27FC236}">
                <a16:creationId xmlns:a16="http://schemas.microsoft.com/office/drawing/2014/main" id="{6B9E1EA5-D1DE-4647-B2CE-AD422E20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omg.org/spec/UML/2.5.1</a:t>
            </a:r>
          </a:p>
        </p:txBody>
      </p:sp>
      <p:sp>
        <p:nvSpPr>
          <p:cNvPr id="10" name="範例使用 Python 3.12+ 與標準函式庫。">
            <a:extLst xmlns:a="http://schemas.openxmlformats.org/drawingml/2006/main">
              <a:ext uri="{FF2B5EF4-FFF2-40B4-BE49-F238E27FC236}">
                <a16:creationId xmlns:a16="http://schemas.microsoft.com/office/drawing/2014/main" id="{BED823C5-1A22-442A-A82B-8588DEC4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範例使用 Python 3.12+ 與標準函式庫。</a:t>
            </a:r>
          </a:p>
        </p:txBody>
      </p:sp>
      <p:sp>
        <p:nvSpPr>
          <p:cNvPr id="12" name="30">
            <a:extLst xmlns:a="http://schemas.openxmlformats.org/drawingml/2006/main">
              <a:ext uri="{FF2B5EF4-FFF2-40B4-BE49-F238E27FC236}">
                <a16:creationId xmlns:a16="http://schemas.microsoft.com/office/drawing/2014/main" id="{DF9242E0-C002-4FF6-891E-5E379208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67178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2026-10-14T01:43:14.5330000Z</dcterms:created>
  <dcterms:modified xsi:type="dcterms:W3CDTF">2026-10-14T01:43:14.5330000Z</dcterms:modified>
</coreProperties>
</file>