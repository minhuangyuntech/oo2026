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10ebdcb0404bce" /><Relationship Type="http://schemas.openxmlformats.org/officeDocument/2006/relationships/extended-properties" Target="/docProps/app.xml" Id="R34ec365183804607" /><Relationship Type="http://schemas.openxmlformats.org/officeDocument/2006/relationships/officeDocument" Target="/ppt/presentation.xml" Id="R53f9faca36934d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bbf3c3dc574451"/>
  </p:sldMasterIdLst>
  <p:notesMasterIdLst>
    <p:notesMasterId xmlns:r="http://schemas.openxmlformats.org/officeDocument/2006/relationships" r:id="R7fbc83d5fb344bf1"/>
  </p:notesMasterIdLst>
  <p:sldIdLst>
    <p:sldId xmlns:r="http://schemas.openxmlformats.org/officeDocument/2006/relationships" id="256" r:id="Rc6a7a38d9d014997"/>
    <p:sldId xmlns:r="http://schemas.openxmlformats.org/officeDocument/2006/relationships" id="257" r:id="Rbcef2121ac0d4aff"/>
    <p:sldId xmlns:r="http://schemas.openxmlformats.org/officeDocument/2006/relationships" id="258" r:id="R0b85aeec04e141f6"/>
    <p:sldId xmlns:r="http://schemas.openxmlformats.org/officeDocument/2006/relationships" id="259" r:id="R1d0f3e89d9b14abf"/>
    <p:sldId xmlns:r="http://schemas.openxmlformats.org/officeDocument/2006/relationships" id="260" r:id="R69546266591a4490"/>
    <p:sldId xmlns:r="http://schemas.openxmlformats.org/officeDocument/2006/relationships" id="261" r:id="Rc8628ba821834129"/>
    <p:sldId xmlns:r="http://schemas.openxmlformats.org/officeDocument/2006/relationships" id="262" r:id="Re9fbcbcf2605479d"/>
    <p:sldId xmlns:r="http://schemas.openxmlformats.org/officeDocument/2006/relationships" id="263" r:id="R41f41754ab3e41f0"/>
    <p:sldId xmlns:r="http://schemas.openxmlformats.org/officeDocument/2006/relationships" id="264" r:id="R420cfe448b8c4f98"/>
    <p:sldId xmlns:r="http://schemas.openxmlformats.org/officeDocument/2006/relationships" id="265" r:id="R160e814dbe1b45a6"/>
    <p:sldId xmlns:r="http://schemas.openxmlformats.org/officeDocument/2006/relationships" id="266" r:id="Rfcc91b33cdc94737"/>
    <p:sldId xmlns:r="http://schemas.openxmlformats.org/officeDocument/2006/relationships" id="267" r:id="R36405c7dc7794341"/>
    <p:sldId xmlns:r="http://schemas.openxmlformats.org/officeDocument/2006/relationships" id="268" r:id="R760f0afd6f1a4c0b"/>
    <p:sldId xmlns:r="http://schemas.openxmlformats.org/officeDocument/2006/relationships" id="269" r:id="Rc25a5567ccca474c"/>
    <p:sldId xmlns:r="http://schemas.openxmlformats.org/officeDocument/2006/relationships" id="270" r:id="R4ab757f3757a4fad"/>
    <p:sldId xmlns:r="http://schemas.openxmlformats.org/officeDocument/2006/relationships" id="271" r:id="Rb90c854ef8124b1e"/>
    <p:sldId xmlns:r="http://schemas.openxmlformats.org/officeDocument/2006/relationships" id="272" r:id="R7e91e5364e924391"/>
    <p:sldId xmlns:r="http://schemas.openxmlformats.org/officeDocument/2006/relationships" id="273" r:id="R8c13151bbc6840fe"/>
    <p:sldId xmlns:r="http://schemas.openxmlformats.org/officeDocument/2006/relationships" id="274" r:id="Rb3d34e357b2541cb"/>
    <p:sldId xmlns:r="http://schemas.openxmlformats.org/officeDocument/2006/relationships" id="275" r:id="R39d1d616751d45aa"/>
    <p:sldId xmlns:r="http://schemas.openxmlformats.org/officeDocument/2006/relationships" id="276" r:id="Ra014dc3f0d0740ff"/>
    <p:sldId xmlns:r="http://schemas.openxmlformats.org/officeDocument/2006/relationships" id="277" r:id="R9e4b1e2d1a804610"/>
    <p:sldId xmlns:r="http://schemas.openxmlformats.org/officeDocument/2006/relationships" id="278" r:id="R3c3d3051712e4900"/>
    <p:sldId xmlns:r="http://schemas.openxmlformats.org/officeDocument/2006/relationships" id="279" r:id="R49a4caa4f9374b79"/>
    <p:sldId xmlns:r="http://schemas.openxmlformats.org/officeDocument/2006/relationships" id="280" r:id="R977e5850a0664c3b"/>
    <p:sldId xmlns:r="http://schemas.openxmlformats.org/officeDocument/2006/relationships" id="281" r:id="Rd649940ad3f14c51"/>
    <p:sldId xmlns:r="http://schemas.openxmlformats.org/officeDocument/2006/relationships" id="282" r:id="Ra93507eff8e14ab2"/>
    <p:sldId xmlns:r="http://schemas.openxmlformats.org/officeDocument/2006/relationships" id="283" r:id="R0bddd338a84047a5"/>
    <p:sldId xmlns:r="http://schemas.openxmlformats.org/officeDocument/2006/relationships" id="284" r:id="R745550de45bd4022"/>
    <p:sldId xmlns:r="http://schemas.openxmlformats.org/officeDocument/2006/relationships" id="285" r:id="Rf0961620eb044098"/>
    <p:sldId xmlns:r="http://schemas.openxmlformats.org/officeDocument/2006/relationships" id="286" r:id="R3108f127deb34f68"/>
    <p:sldId xmlns:r="http://schemas.openxmlformats.org/officeDocument/2006/relationships" id="287" r:id="R831fbc613c4a445a"/>
    <p:sldId xmlns:r="http://schemas.openxmlformats.org/officeDocument/2006/relationships" id="288" r:id="R4b609dc06e464ffd"/>
    <p:sldId xmlns:r="http://schemas.openxmlformats.org/officeDocument/2006/relationships" id="289" r:id="Rfaaadda053c244dc"/>
    <p:sldId xmlns:r="http://schemas.openxmlformats.org/officeDocument/2006/relationships" id="290" r:id="Ra9903e92d320468a"/>
    <p:sldId xmlns:r="http://schemas.openxmlformats.org/officeDocument/2006/relationships" id="291" r:id="Re153e74c46394293"/>
    <p:sldId xmlns:r="http://schemas.openxmlformats.org/officeDocument/2006/relationships" id="292" r:id="R7d96c297985a44b4"/>
    <p:sldId xmlns:r="http://schemas.openxmlformats.org/officeDocument/2006/relationships" id="293" r:id="Rb128c628d5cd4fe4"/>
    <p:sldId xmlns:r="http://schemas.openxmlformats.org/officeDocument/2006/relationships" id="294" r:id="R2b27ad31dcd443c2"/>
    <p:sldId xmlns:r="http://schemas.openxmlformats.org/officeDocument/2006/relationships" id="295" r:id="R2edd8549c3a1482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bac25c288942c2" /><Relationship Type="http://schemas.openxmlformats.org/officeDocument/2006/relationships/slideMaster" Target="/ppt/slideMasters/slideMaster1.xml" Id="Rdbbbf3c3dc574451" /><Relationship Type="http://schemas.openxmlformats.org/officeDocument/2006/relationships/notesMaster" Target="/ppt/notesMasters/notesMaster1.xml" Id="R7fbc83d5fb344bf1" /><Relationship Type="http://schemas.openxmlformats.org/officeDocument/2006/relationships/presProps" Target="/ppt/presProps.xml" Id="R286c0198ff644b51" /><Relationship Type="http://schemas.openxmlformats.org/officeDocument/2006/relationships/tableStyles" Target="/ppt/tableStyles.xml" Id="R7787379f8a8a4434" /><Relationship Type="http://schemas.openxmlformats.org/officeDocument/2006/relationships/slide" Target="/ppt/slides/slide1.xml" Id="Rc6a7a38d9d014997" /><Relationship Type="http://schemas.openxmlformats.org/officeDocument/2006/relationships/slide" Target="/ppt/slides/slide2.xml" Id="Rbcef2121ac0d4aff" /><Relationship Type="http://schemas.openxmlformats.org/officeDocument/2006/relationships/slide" Target="/ppt/slides/slide3.xml" Id="R0b85aeec04e141f6" /><Relationship Type="http://schemas.openxmlformats.org/officeDocument/2006/relationships/slide" Target="/ppt/slides/slide4.xml" Id="R1d0f3e89d9b14abf" /><Relationship Type="http://schemas.openxmlformats.org/officeDocument/2006/relationships/slide" Target="/ppt/slides/slide5.xml" Id="R69546266591a4490" /><Relationship Type="http://schemas.openxmlformats.org/officeDocument/2006/relationships/slide" Target="/ppt/slides/slide6.xml" Id="Rc8628ba821834129" /><Relationship Type="http://schemas.openxmlformats.org/officeDocument/2006/relationships/slide" Target="/ppt/slides/slide7.xml" Id="Re9fbcbcf2605479d" /><Relationship Type="http://schemas.openxmlformats.org/officeDocument/2006/relationships/slide" Target="/ppt/slides/slide8.xml" Id="R41f41754ab3e41f0" /><Relationship Type="http://schemas.openxmlformats.org/officeDocument/2006/relationships/slide" Target="/ppt/slides/slide9.xml" Id="R420cfe448b8c4f98" /><Relationship Type="http://schemas.openxmlformats.org/officeDocument/2006/relationships/slide" Target="/ppt/slides/slide10.xml" Id="R160e814dbe1b45a6" /><Relationship Type="http://schemas.openxmlformats.org/officeDocument/2006/relationships/slide" Target="/ppt/slides/slide11.xml" Id="Rfcc91b33cdc94737" /><Relationship Type="http://schemas.openxmlformats.org/officeDocument/2006/relationships/slide" Target="/ppt/slides/slide12.xml" Id="R36405c7dc7794341" /><Relationship Type="http://schemas.openxmlformats.org/officeDocument/2006/relationships/slide" Target="/ppt/slides/slide13.xml" Id="R760f0afd6f1a4c0b" /><Relationship Type="http://schemas.openxmlformats.org/officeDocument/2006/relationships/slide" Target="/ppt/slides/slide14.xml" Id="Rc25a5567ccca474c" /><Relationship Type="http://schemas.openxmlformats.org/officeDocument/2006/relationships/slide" Target="/ppt/slides/slide15.xml" Id="R4ab757f3757a4fad" /><Relationship Type="http://schemas.openxmlformats.org/officeDocument/2006/relationships/slide" Target="/ppt/slides/slide16.xml" Id="Rb90c854ef8124b1e" /><Relationship Type="http://schemas.openxmlformats.org/officeDocument/2006/relationships/slide" Target="/ppt/slides/slide17.xml" Id="R7e91e5364e924391" /><Relationship Type="http://schemas.openxmlformats.org/officeDocument/2006/relationships/slide" Target="/ppt/slides/slide18.xml" Id="R8c13151bbc6840fe" /><Relationship Type="http://schemas.openxmlformats.org/officeDocument/2006/relationships/slide" Target="/ppt/slides/slide19.xml" Id="Rb3d34e357b2541cb" /><Relationship Type="http://schemas.openxmlformats.org/officeDocument/2006/relationships/slide" Target="/ppt/slides/slide20.xml" Id="R39d1d616751d45aa" /><Relationship Type="http://schemas.openxmlformats.org/officeDocument/2006/relationships/slide" Target="/ppt/slides/slide21.xml" Id="Ra014dc3f0d0740ff" /><Relationship Type="http://schemas.openxmlformats.org/officeDocument/2006/relationships/slide" Target="/ppt/slides/slide22.xml" Id="R9e4b1e2d1a804610" /><Relationship Type="http://schemas.openxmlformats.org/officeDocument/2006/relationships/slide" Target="/ppt/slides/slide23.xml" Id="R3c3d3051712e4900" /><Relationship Type="http://schemas.openxmlformats.org/officeDocument/2006/relationships/slide" Target="/ppt/slides/slide24.xml" Id="R49a4caa4f9374b79" /><Relationship Type="http://schemas.openxmlformats.org/officeDocument/2006/relationships/slide" Target="/ppt/slides/slide25.xml" Id="R977e5850a0664c3b" /><Relationship Type="http://schemas.openxmlformats.org/officeDocument/2006/relationships/slide" Target="/ppt/slides/slide26.xml" Id="Rd649940ad3f14c51" /><Relationship Type="http://schemas.openxmlformats.org/officeDocument/2006/relationships/slide" Target="/ppt/slides/slide27.xml" Id="Ra93507eff8e14ab2" /><Relationship Type="http://schemas.openxmlformats.org/officeDocument/2006/relationships/slide" Target="/ppt/slides/slide28.xml" Id="R0bddd338a84047a5" /><Relationship Type="http://schemas.openxmlformats.org/officeDocument/2006/relationships/slide" Target="/ppt/slides/slide29.xml" Id="R745550de45bd4022" /><Relationship Type="http://schemas.openxmlformats.org/officeDocument/2006/relationships/slide" Target="/ppt/slides/slide30.xml" Id="Rf0961620eb044098" /><Relationship Type="http://schemas.openxmlformats.org/officeDocument/2006/relationships/slide" Target="/ppt/slides/slide31.xml" Id="R3108f127deb34f68" /><Relationship Type="http://schemas.openxmlformats.org/officeDocument/2006/relationships/slide" Target="/ppt/slides/slide32.xml" Id="R831fbc613c4a445a" /><Relationship Type="http://schemas.openxmlformats.org/officeDocument/2006/relationships/slide" Target="/ppt/slides/slide33.xml" Id="R4b609dc06e464ffd" /><Relationship Type="http://schemas.openxmlformats.org/officeDocument/2006/relationships/slide" Target="/ppt/slides/slide34.xml" Id="Rfaaadda053c244dc" /><Relationship Type="http://schemas.openxmlformats.org/officeDocument/2006/relationships/slide" Target="/ppt/slides/slide35.xml" Id="Ra9903e92d320468a" /><Relationship Type="http://schemas.openxmlformats.org/officeDocument/2006/relationships/slide" Target="/ppt/slides/slide36.xml" Id="Re153e74c46394293" /><Relationship Type="http://schemas.openxmlformats.org/officeDocument/2006/relationships/slide" Target="/ppt/slides/slide37.xml" Id="R7d96c297985a44b4" /><Relationship Type="http://schemas.openxmlformats.org/officeDocument/2006/relationships/slide" Target="/ppt/slides/slide38.xml" Id="Rb128c628d5cd4fe4" /><Relationship Type="http://schemas.openxmlformats.org/officeDocument/2006/relationships/slide" Target="/ppt/slides/slide39.xml" Id="R2b27ad31dcd443c2" /><Relationship Type="http://schemas.openxmlformats.org/officeDocument/2006/relationships/slide" Target="/ppt/slides/slide40.xml" Id="R2edd8549c3a148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a6196b3a7942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5259cf1b1a48e3" /><Relationship Type="http://schemas.openxmlformats.org/officeDocument/2006/relationships/notesMaster" Target="/ppt/notesMasters/notesMaster1.xml" Id="R8ba86119972f4c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b443955dad4a33" /><Relationship Type="http://schemas.openxmlformats.org/officeDocument/2006/relationships/notesMaster" Target="/ppt/notesMasters/notesMaster1.xml" Id="R3bba139110124e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8fd017e7f14deb" /><Relationship Type="http://schemas.openxmlformats.org/officeDocument/2006/relationships/notesMaster" Target="/ppt/notesMasters/notesMaster1.xml" Id="R820c2f5e257f47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c93960bafc4052" /><Relationship Type="http://schemas.openxmlformats.org/officeDocument/2006/relationships/notesMaster" Target="/ppt/notesMasters/notesMaster1.xml" Id="R4e1415a02de644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da2790f6324998" /><Relationship Type="http://schemas.openxmlformats.org/officeDocument/2006/relationships/notesMaster" Target="/ppt/notesMasters/notesMaster1.xml" Id="R5e6187e8c96546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787f077ab14a91" /><Relationship Type="http://schemas.openxmlformats.org/officeDocument/2006/relationships/notesMaster" Target="/ppt/notesMasters/notesMaster1.xml" Id="R5675ef72e3d546f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4683ce90ed04abc" /><Relationship Type="http://schemas.openxmlformats.org/officeDocument/2006/relationships/notesMaster" Target="/ppt/notesMasters/notesMaster1.xml" Id="R6abafa93d23641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49ad4214c54170" /><Relationship Type="http://schemas.openxmlformats.org/officeDocument/2006/relationships/notesMaster" Target="/ppt/notesMasters/notesMaster1.xml" Id="Rf9ec27743c934a9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40605429a3a47b6" /><Relationship Type="http://schemas.openxmlformats.org/officeDocument/2006/relationships/notesMaster" Target="/ppt/notesMasters/notesMaster1.xml" Id="Rcb4b2d90e8334b9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3be7de2134a45bc" /><Relationship Type="http://schemas.openxmlformats.org/officeDocument/2006/relationships/notesMaster" Target="/ppt/notesMasters/notesMaster1.xml" Id="Rac8590a80ba04a7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2072a76492c4005" /><Relationship Type="http://schemas.openxmlformats.org/officeDocument/2006/relationships/notesMaster" Target="/ppt/notesMasters/notesMaster1.xml" Id="Rf64a938556a34eb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5d0194539894732" /><Relationship Type="http://schemas.openxmlformats.org/officeDocument/2006/relationships/notesMaster" Target="/ppt/notesMasters/notesMaster1.xml" Id="R060547d8314243c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72e7e50296b4186" /><Relationship Type="http://schemas.openxmlformats.org/officeDocument/2006/relationships/notesMaster" Target="/ppt/notesMasters/notesMaster1.xml" Id="R16943753ae4548f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bc69a5e577c4049" /><Relationship Type="http://schemas.openxmlformats.org/officeDocument/2006/relationships/notesMaster" Target="/ppt/notesMasters/notesMaster1.xml" Id="Rdf881a802a6a4d0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612365ce15c4508" /><Relationship Type="http://schemas.openxmlformats.org/officeDocument/2006/relationships/notesMaster" Target="/ppt/notesMasters/notesMaster1.xml" Id="R829c87bb3b504d0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0a17856b7fd40f9" /><Relationship Type="http://schemas.openxmlformats.org/officeDocument/2006/relationships/notesMaster" Target="/ppt/notesMasters/notesMaster1.xml" Id="R39de0ab4915c4c0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d772b2c454b46fe" /><Relationship Type="http://schemas.openxmlformats.org/officeDocument/2006/relationships/notesMaster" Target="/ppt/notesMasters/notesMaster1.xml" Id="R9866a7ea0b22493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30bf18703ed4f6f" /><Relationship Type="http://schemas.openxmlformats.org/officeDocument/2006/relationships/notesMaster" Target="/ppt/notesMasters/notesMaster1.xml" Id="R2e4c084754b44c6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e9b48de2cda41a0" /><Relationship Type="http://schemas.openxmlformats.org/officeDocument/2006/relationships/notesMaster" Target="/ppt/notesMasters/notesMaster1.xml" Id="R6d1580bff52d475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e3c2c22a8934a4e" /><Relationship Type="http://schemas.openxmlformats.org/officeDocument/2006/relationships/notesMaster" Target="/ppt/notesMasters/notesMaster1.xml" Id="Rbc9e38a17cbb447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3222470c9fc423c" /><Relationship Type="http://schemas.openxmlformats.org/officeDocument/2006/relationships/notesMaster" Target="/ppt/notesMasters/notesMaster1.xml" Id="R3b1dd86ca797492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ad4866bf9064a40" /><Relationship Type="http://schemas.openxmlformats.org/officeDocument/2006/relationships/notesMaster" Target="/ppt/notesMasters/notesMaster1.xml" Id="Re1dfe7b4af3a4db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0fde1b7dd084f99" /><Relationship Type="http://schemas.openxmlformats.org/officeDocument/2006/relationships/notesMaster" Target="/ppt/notesMasters/notesMaster1.xml" Id="R95034beb7da3448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73d949250ef4fcd" /><Relationship Type="http://schemas.openxmlformats.org/officeDocument/2006/relationships/notesMaster" Target="/ppt/notesMasters/notesMaster1.xml" Id="R9d49434d1ecd435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e44f0ec2d804b81" /><Relationship Type="http://schemas.openxmlformats.org/officeDocument/2006/relationships/notesMaster" Target="/ppt/notesMasters/notesMaster1.xml" Id="R9c7e52d9437a4b7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0da1bfe8754409e" /><Relationship Type="http://schemas.openxmlformats.org/officeDocument/2006/relationships/notesMaster" Target="/ppt/notesMasters/notesMaster1.xml" Id="Rc8dc130a4a0e446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601dc9bee2a4829" /><Relationship Type="http://schemas.openxmlformats.org/officeDocument/2006/relationships/notesMaster" Target="/ppt/notesMasters/notesMaster1.xml" Id="R94e06adc740c44a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c8554e290eb4565" /><Relationship Type="http://schemas.openxmlformats.org/officeDocument/2006/relationships/notesMaster" Target="/ppt/notesMasters/notesMaster1.xml" Id="Rd8f0d0703ce542e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f26395f88454647" /><Relationship Type="http://schemas.openxmlformats.org/officeDocument/2006/relationships/notesMaster" Target="/ppt/notesMasters/notesMaster1.xml" Id="Rdb021c4c1f70488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1d792cfe86448e0" /><Relationship Type="http://schemas.openxmlformats.org/officeDocument/2006/relationships/notesMaster" Target="/ppt/notesMasters/notesMaster1.xml" Id="Ra8f709f36fc04c4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47d6f7631da4847" /><Relationship Type="http://schemas.openxmlformats.org/officeDocument/2006/relationships/notesMaster" Target="/ppt/notesMasters/notesMaster1.xml" Id="Rf802e4508afe403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ea445a37f6943c9" /><Relationship Type="http://schemas.openxmlformats.org/officeDocument/2006/relationships/notesMaster" Target="/ppt/notesMasters/notesMaster1.xml" Id="R77e6824617514fe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40692bcbb374491" /><Relationship Type="http://schemas.openxmlformats.org/officeDocument/2006/relationships/notesMaster" Target="/ppt/notesMasters/notesMaster1.xml" Id="R6b138dedb9d4487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36c5f5012d74231" /><Relationship Type="http://schemas.openxmlformats.org/officeDocument/2006/relationships/notesMaster" Target="/ppt/notesMasters/notesMaster1.xml" Id="R8612c24f05dd412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3646b9b8a01492d" /><Relationship Type="http://schemas.openxmlformats.org/officeDocument/2006/relationships/notesMaster" Target="/ppt/notesMasters/notesMaster1.xml" Id="Rec014e0ddb6d4ec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555915170924289" /><Relationship Type="http://schemas.openxmlformats.org/officeDocument/2006/relationships/notesMaster" Target="/ppt/notesMasters/notesMaster1.xml" Id="R0cc89b08c2a14a1e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5c749625c0cc4700" /><Relationship Type="http://schemas.openxmlformats.org/officeDocument/2006/relationships/notesMaster" Target="/ppt/notesMasters/notesMaster1.xml" Id="R2e25fd6723cb46c4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257b40135ecd44ce" /><Relationship Type="http://schemas.openxmlformats.org/officeDocument/2006/relationships/notesMaster" Target="/ppt/notesMasters/notesMaster1.xml" Id="R6f4664cf5a2b41a4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4083c05f2f654c21" /><Relationship Type="http://schemas.openxmlformats.org/officeDocument/2006/relationships/notesMaster" Target="/ppt/notesMasters/notesMaster1.xml" Id="Re0c918c2e17a4c7b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bd34df31906d47d3" /><Relationship Type="http://schemas.openxmlformats.org/officeDocument/2006/relationships/notesMaster" Target="/ppt/notesMasters/notesMaster1.xml" Id="Rec01db0ab26942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例は Python 3.12+ を使用。</a:t>
            </a:r>
          </a:p>
          <a:p xmlns:a="http://schemas.openxmlformats.org/drawingml/2006/main">
            <a:r>
              <a:t>挿絵は元の授業資料から引き継いでいます。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https://docs.python.org/3/reference/datamodel.html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例は Python 3.12+ を使用。</a:t>
            </a:r>
          </a:p>
          <a:p xmlns:a="http://schemas.openxmlformats.org/drawingml/2006/main">
            <a:r>
              <a:t>挿絵は元の授業資料から引き継いでいます。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55c6f21e9545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e3fab254d44b7d" /><Relationship Type="http://schemas.openxmlformats.org/officeDocument/2006/relationships/slideLayout" Target="/ppt/slideLayouts/slideLayout1.xml" Id="R9815ed15d7be41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15ed15d7be41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3d1ccadf8c4670" /><Relationship Type="http://schemas.openxmlformats.org/officeDocument/2006/relationships/image" Target="/ppt/media/image.png" Id="Ra2aaefc536304228" /><Relationship Type="http://schemas.openxmlformats.org/officeDocument/2006/relationships/notesSlide" Target="/ppt/notesSlides/notesSlide1.xml" Id="R5b5a4544f39744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71c4d3f9ec4812" /><Relationship Type="http://schemas.openxmlformats.org/officeDocument/2006/relationships/notesSlide" Target="/ppt/notesSlides/notesSlide2.xml" Id="Rdaddb934427747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1733dec1b846cf" /><Relationship Type="http://schemas.openxmlformats.org/officeDocument/2006/relationships/notesSlide" Target="/ppt/notesSlides/notesSlide3.xml" Id="Rd0b6e0f372bc48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8983cafe0a40bc" /><Relationship Type="http://schemas.openxmlformats.org/officeDocument/2006/relationships/notesSlide" Target="/ppt/notesSlides/notesSlide4.xml" Id="R355ce2b5547846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ebf9e97dec47df" /><Relationship Type="http://schemas.openxmlformats.org/officeDocument/2006/relationships/image" Target="/ppt/media/image2.png" Id="Reb2a46ab0c224b81" /><Relationship Type="http://schemas.openxmlformats.org/officeDocument/2006/relationships/notesSlide" Target="/ppt/notesSlides/notesSlide5.xml" Id="R4f96cf1843c047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4c6841614844c9" /><Relationship Type="http://schemas.openxmlformats.org/officeDocument/2006/relationships/notesSlide" Target="/ppt/notesSlides/notesSlide6.xml" Id="Rf3d248a4d8be4d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9d1a15e515496d" /><Relationship Type="http://schemas.openxmlformats.org/officeDocument/2006/relationships/notesSlide" Target="/ppt/notesSlides/notesSlide7.xml" Id="R9e4f498f3f30459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d87749aa8f49d0" /><Relationship Type="http://schemas.openxmlformats.org/officeDocument/2006/relationships/notesSlide" Target="/ppt/notesSlides/notesSlide8.xml" Id="Rcf38e98780514d4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38f3a2fc20456b" /><Relationship Type="http://schemas.openxmlformats.org/officeDocument/2006/relationships/notesSlide" Target="/ppt/notesSlides/notesSlide9.xml" Id="R52b4353d42114ac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1a29cd4b5c4e0d" /><Relationship Type="http://schemas.openxmlformats.org/officeDocument/2006/relationships/notesSlide" Target="/ppt/notesSlides/notesSlide10.xml" Id="R4555ec2f476d43f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3782f7509343e6" /><Relationship Type="http://schemas.openxmlformats.org/officeDocument/2006/relationships/notesSlide" Target="/ppt/notesSlides/notesSlide11.xml" Id="R6a294dee4b5749f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bc456af36247a5" /><Relationship Type="http://schemas.openxmlformats.org/officeDocument/2006/relationships/notesSlide" Target="/ppt/notesSlides/notesSlide12.xml" Id="R34381ba303a449f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353b9e966a4306" /><Relationship Type="http://schemas.openxmlformats.org/officeDocument/2006/relationships/notesSlide" Target="/ppt/notesSlides/notesSlide13.xml" Id="Rd6b8d379ee05477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d4153289e1453e" /><Relationship Type="http://schemas.openxmlformats.org/officeDocument/2006/relationships/notesSlide" Target="/ppt/notesSlides/notesSlide14.xml" Id="Ree8a7d8ab493494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db11ef5db748a5" /><Relationship Type="http://schemas.openxmlformats.org/officeDocument/2006/relationships/notesSlide" Target="/ppt/notesSlides/notesSlide15.xml" Id="R2bc1f063034b44e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81bcd901bc407e" /><Relationship Type="http://schemas.openxmlformats.org/officeDocument/2006/relationships/notesSlide" Target="/ppt/notesSlides/notesSlide16.xml" Id="R855d1fab6bbf468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b17ac228914749" /><Relationship Type="http://schemas.openxmlformats.org/officeDocument/2006/relationships/notesSlide" Target="/ppt/notesSlides/notesSlide17.xml" Id="R7592b43aaf57464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515572009745c2" /><Relationship Type="http://schemas.openxmlformats.org/officeDocument/2006/relationships/notesSlide" Target="/ppt/notesSlides/notesSlide18.xml" Id="R6245ccdd4e364a2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2b33e2295443ba" /><Relationship Type="http://schemas.openxmlformats.org/officeDocument/2006/relationships/notesSlide" Target="/ppt/notesSlides/notesSlide19.xml" Id="R83f135b0c6f8429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356a6e6099446d" /><Relationship Type="http://schemas.openxmlformats.org/officeDocument/2006/relationships/notesSlide" Target="/ppt/notesSlides/notesSlide20.xml" Id="Rfa37f6a5865e4f6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5f7f21a9b41ff" /><Relationship Type="http://schemas.openxmlformats.org/officeDocument/2006/relationships/notesSlide" Target="/ppt/notesSlides/notesSlide21.xml" Id="R299cc81ea6af447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db42f43ae94e0b" /><Relationship Type="http://schemas.openxmlformats.org/officeDocument/2006/relationships/notesSlide" Target="/ppt/notesSlides/notesSlide22.xml" Id="Red7af06f7a6842d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401179f08e4555" /><Relationship Type="http://schemas.openxmlformats.org/officeDocument/2006/relationships/notesSlide" Target="/ppt/notesSlides/notesSlide23.xml" Id="Rdccbe6bf5c704b9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a0ec1e24434d90" /><Relationship Type="http://schemas.openxmlformats.org/officeDocument/2006/relationships/notesSlide" Target="/ppt/notesSlides/notesSlide24.xml" Id="R9adbfae5b0dc482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140b660ce4ce8" /><Relationship Type="http://schemas.openxmlformats.org/officeDocument/2006/relationships/notesSlide" Target="/ppt/notesSlides/notesSlide25.xml" Id="R632010c334ef418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cea41965c44792" /><Relationship Type="http://schemas.openxmlformats.org/officeDocument/2006/relationships/notesSlide" Target="/ppt/notesSlides/notesSlide26.xml" Id="Rd2e2dcd81ac841f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edc784bcef44d4" /><Relationship Type="http://schemas.openxmlformats.org/officeDocument/2006/relationships/notesSlide" Target="/ppt/notesSlides/notesSlide27.xml" Id="Rb36afd4ea8af46d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6aa02fa4ad4f9c" /><Relationship Type="http://schemas.openxmlformats.org/officeDocument/2006/relationships/notesSlide" Target="/ppt/notesSlides/notesSlide28.xml" Id="R3e0abd429474455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fcc48498434fdc" /><Relationship Type="http://schemas.openxmlformats.org/officeDocument/2006/relationships/notesSlide" Target="/ppt/notesSlides/notesSlide29.xml" Id="R9057340533d74b7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9f8efb1eaf4341" /><Relationship Type="http://schemas.openxmlformats.org/officeDocument/2006/relationships/notesSlide" Target="/ppt/notesSlides/notesSlide30.xml" Id="Rc5d2202831ae4a2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a126d6a4b47dd" /><Relationship Type="http://schemas.openxmlformats.org/officeDocument/2006/relationships/notesSlide" Target="/ppt/notesSlides/notesSlide31.xml" Id="R0355572f4efe4d5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af1207bee94b03" /><Relationship Type="http://schemas.openxmlformats.org/officeDocument/2006/relationships/notesSlide" Target="/ppt/notesSlides/notesSlide32.xml" Id="Re07ea1b0d07b4da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cce1de94cc452e" /><Relationship Type="http://schemas.openxmlformats.org/officeDocument/2006/relationships/notesSlide" Target="/ppt/notesSlides/notesSlide33.xml" Id="R59d353f311d14cc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cd2accba5b4383" /><Relationship Type="http://schemas.openxmlformats.org/officeDocument/2006/relationships/notesSlide" Target="/ppt/notesSlides/notesSlide34.xml" Id="Rb829a87e3470443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a2860f04894449" /><Relationship Type="http://schemas.openxmlformats.org/officeDocument/2006/relationships/notesSlide" Target="/ppt/notesSlides/notesSlide35.xml" Id="R99c4104c636f4cc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07d6e73de4f23" /><Relationship Type="http://schemas.openxmlformats.org/officeDocument/2006/relationships/notesSlide" Target="/ppt/notesSlides/notesSlide36.xml" Id="R5d7c8963a875416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3e544b10034552" /><Relationship Type="http://schemas.openxmlformats.org/officeDocument/2006/relationships/notesSlide" Target="/ppt/notesSlides/notesSlide37.xml" Id="R4f0ae5e99120495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3f10e52f7448ab" /><Relationship Type="http://schemas.openxmlformats.org/officeDocument/2006/relationships/notesSlide" Target="/ppt/notesSlides/notesSlide38.xml" Id="R85d699d229d741ae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bf0fea78ad440b" /><Relationship Type="http://schemas.openxmlformats.org/officeDocument/2006/relationships/notesSlide" Target="/ppt/notesSlides/notesSlide39.xml" Id="R1c3df1258d204358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2ed99aa5f141a4" /><Relationship Type="http://schemas.openxmlformats.org/officeDocument/2006/relationships/notesSlide" Target="/ppt/notesSlides/notesSlide40.xml" Id="Rde4477207fd142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aaefc53630422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WEEK 03">
            <a:extLst xmlns:a="http://schemas.openxmlformats.org/drawingml/2006/main">
              <a:ext uri="{FF2B5EF4-FFF2-40B4-BE49-F238E27FC236}">
                <a16:creationId xmlns:a16="http://schemas.microsoft.com/office/drawing/2014/main" id="{EB23B9A5-7A1C-4B5B-861C-ACA74A49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第3週</a:t>
            </a:r>
          </a:p>
        </p:txBody>
      </p:sp>
      <p:sp>
        <p:nvSpPr>
          <p:cNvPr id="3" name="類別、物件 與物件模型">
            <a:extLst xmlns:a="http://schemas.openxmlformats.org/drawingml/2006/main">
              <a:ext uri="{FF2B5EF4-FFF2-40B4-BE49-F238E27FC236}">
                <a16:creationId xmlns:a16="http://schemas.microsoft.com/office/drawing/2014/main" id="{9939FB3E-25BB-45B6-9FD1-C15D63CF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7143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43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クラスとオブジェクト</a:t>
            </a:r>
          </a:p>
          <a:p xmlns:a="http://schemas.openxmlformats.org/drawingml/2006/main">
            <a:pPr algn="l">
              <a:buNone/>
              <a:defRPr sz="54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43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オブジェクトモデル</a:t>
            </a:r>
          </a:p>
        </p:txBody>
      </p:sp>
      <p:sp>
        <p:nvSpPr>
          <p:cNvPr id="4" name="物件導向程式設計">
            <a:extLst xmlns:a="http://schemas.openxmlformats.org/drawingml/2006/main">
              <a:ext uri="{FF2B5EF4-FFF2-40B4-BE49-F238E27FC236}">
                <a16:creationId xmlns:a16="http://schemas.microsoft.com/office/drawing/2014/main" id="{62C085F4-E1EE-4D38-AE11-BC459A7C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48175"/>
            <a:ext cx="6572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オブジェクト指向プログラミング</a:t>
            </a:r>
          </a:p>
        </p:txBody>
      </p:sp>
      <p:sp>
        <p:nvSpPr>
          <p:cNvPr id="5" name="國立雲林科技大學 電子工程系 115 學年度第 1 學期　何敏煌">
            <a:extLst xmlns:a="http://schemas.openxmlformats.org/drawingml/2006/main">
              <a:ext uri="{FF2B5EF4-FFF2-40B4-BE49-F238E27FC236}">
                <a16:creationId xmlns:a16="http://schemas.microsoft.com/office/drawing/2014/main" id="{2F8E129C-2D3C-4F2D-80F3-F9A98068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14975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BDC7CD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BDC7CD"/>
                </a:solidFill>
                <a:latin typeface="Yu Gothic"/>
                <a:ea typeface="Yu Gothic"/>
                <a:cs typeface="Yu Gothic"/>
              </a:rPr>
              <a:t>国立雲林科技大学　電子工学科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BDC7CD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BDC7CD"/>
                </a:solidFill>
                <a:latin typeface="Yu Gothic"/>
                <a:ea typeface="Yu Gothic"/>
                <a:cs typeface="Yu Gothic"/>
              </a:rPr>
              <a:t>115学年度　第1学期　何敏煌（Min-Huang Ho）</a:t>
            </a:r>
          </a:p>
        </p:txBody>
      </p:sp>
    </p:spTree>
    <p:extLst>
      <p:ext uri="{BB962C8B-B14F-4D97-AF65-F5344CB8AC3E}">
        <p14:creationId xmlns:p14="http://schemas.microsoft.com/office/powerpoint/2010/main" val="8090927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第三週的核心內容">
            <a:extLst xmlns:a="http://schemas.openxmlformats.org/drawingml/2006/main">
              <a:ext uri="{FF2B5EF4-FFF2-40B4-BE49-F238E27FC236}">
                <a16:creationId xmlns:a16="http://schemas.microsoft.com/office/drawing/2014/main" id="{48A070FD-5CB2-443F-B094-B8F2BD13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第3週の学習内容</a:t>
            </a:r>
          </a:p>
        </p:txBody>
      </p:sp>
      <p:sp>
        <p:nvSpPr>
          <p:cNvPr id="2" name="課程範圍">
            <a:extLst xmlns:a="http://schemas.openxmlformats.org/drawingml/2006/main">
              <a:ext uri="{FF2B5EF4-FFF2-40B4-BE49-F238E27FC236}">
                <a16:creationId xmlns:a16="http://schemas.microsoft.com/office/drawing/2014/main" id="{DA469F36-83FB-431D-A19D-109502C3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授業の範囲</a:t>
            </a:r>
          </a:p>
        </p:txBody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0116AC92-4E21-4F14-8963-6E3B7FA0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4" name="物件模型">
            <a:extLst xmlns:a="http://schemas.openxmlformats.org/drawingml/2006/main">
              <a:ext uri="{FF2B5EF4-FFF2-40B4-BE49-F238E27FC236}">
                <a16:creationId xmlns:a16="http://schemas.microsoft.com/office/drawing/2014/main" id="{FC4C2F9B-BB59-436D-AA25-B0E84274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1450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オブジェクトモデル</a:t>
            </a:r>
          </a:p>
        </p:txBody>
      </p:sp>
      <p:sp>
        <p:nvSpPr>
          <p:cNvPr id="5" name="類別、實體、身分、狀態與行為">
            <a:extLst xmlns:a="http://schemas.openxmlformats.org/drawingml/2006/main">
              <a:ext uri="{FF2B5EF4-FFF2-40B4-BE49-F238E27FC236}">
                <a16:creationId xmlns:a16="http://schemas.microsoft.com/office/drawing/2014/main" id="{09BC28C3-6E74-475F-9BDA-1480E1BB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743075"/>
            <a:ext cx="7858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クラス、インスタンス、同一性、状態、振る舞い</a:t>
            </a:r>
          </a:p>
        </p:txBody>
      </p:sp>
      <p:sp>
        <p:nvSpPr>
          <p:cNvPr id="6" name="建立物件">
            <a:extLst xmlns:a="http://schemas.openxmlformats.org/drawingml/2006/main">
              <a:ext uri="{FF2B5EF4-FFF2-40B4-BE49-F238E27FC236}">
                <a16:creationId xmlns:a16="http://schemas.microsoft.com/office/drawing/2014/main" id="{B57F8361-DFAC-4219-935E-C2D1DA4A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05075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オブジェクトの生成</a:t>
            </a:r>
          </a:p>
        </p:txBody>
      </p:sp>
      <p:sp>
        <p:nvSpPr>
          <p:cNvPr id="7" name="__new__、__init__、self 與有效狀態">
            <a:extLst xmlns:a="http://schemas.openxmlformats.org/drawingml/2006/main">
              <a:ext uri="{FF2B5EF4-FFF2-40B4-BE49-F238E27FC236}">
                <a16:creationId xmlns:a16="http://schemas.microsoft.com/office/drawing/2014/main" id="{6B6C3190-995B-4567-8B13-EF077769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533650"/>
            <a:ext cx="7858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__new__、__init__、self と有効な初期状態</a:t>
            </a:r>
          </a:p>
        </p:txBody>
      </p:sp>
      <p:sp>
        <p:nvSpPr>
          <p:cNvPr id="8" name="資料歸屬">
            <a:extLst xmlns:a="http://schemas.openxmlformats.org/drawingml/2006/main">
              <a:ext uri="{FF2B5EF4-FFF2-40B4-BE49-F238E27FC236}">
                <a16:creationId xmlns:a16="http://schemas.microsoft.com/office/drawing/2014/main" id="{6E5B3433-E060-4172-B9ED-5A8ADF19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9565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データの所属</a:t>
            </a:r>
          </a:p>
        </p:txBody>
      </p:sp>
      <p:sp>
        <p:nvSpPr>
          <p:cNvPr id="9" name="實體屬性、類別屬性、共享與遮蔽">
            <a:extLst xmlns:a="http://schemas.openxmlformats.org/drawingml/2006/main">
              <a:ext uri="{FF2B5EF4-FFF2-40B4-BE49-F238E27FC236}">
                <a16:creationId xmlns:a16="http://schemas.microsoft.com/office/drawing/2014/main" id="{35A2B344-E2A1-4068-85A1-95DD9F8D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324225"/>
            <a:ext cx="7858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インスタンス属性、クラス属性、共有と隠蔽</a:t>
            </a:r>
          </a:p>
        </p:txBody>
      </p:sp>
      <p:sp>
        <p:nvSpPr>
          <p:cNvPr id="10" name="方法選擇">
            <a:extLst xmlns:a="http://schemas.openxmlformats.org/drawingml/2006/main">
              <a:ext uri="{FF2B5EF4-FFF2-40B4-BE49-F238E27FC236}">
                <a16:creationId xmlns:a16="http://schemas.microsoft.com/office/drawing/2014/main" id="{8B878B3F-1B3D-4F09-B24C-1DCDFEE1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86225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メソッドの種類</a:t>
            </a:r>
          </a:p>
        </p:txBody>
      </p:sp>
      <p:sp>
        <p:nvSpPr>
          <p:cNvPr id="11" name="實體方法、classmethod、staticmethod">
            <a:extLst xmlns:a="http://schemas.openxmlformats.org/drawingml/2006/main">
              <a:ext uri="{FF2B5EF4-FFF2-40B4-BE49-F238E27FC236}">
                <a16:creationId xmlns:a16="http://schemas.microsoft.com/office/drawing/2014/main" id="{640362B0-8BCF-48A6-AFF2-18157380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114800"/>
            <a:ext cx="7858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インスタンスメソッド、classmethod、staticmethod</a:t>
            </a:r>
          </a:p>
        </p:txBody>
      </p:sp>
      <p:sp>
        <p:nvSpPr>
          <p:cNvPr id="12" name="範例採 Python 3.12+。附檔中的每個範例均可獨立執行。">
            <a:extLst xmlns:a="http://schemas.openxmlformats.org/drawingml/2006/main">
              <a:ext uri="{FF2B5EF4-FFF2-40B4-BE49-F238E27FC236}">
                <a16:creationId xmlns:a16="http://schemas.microsoft.com/office/drawing/2014/main" id="{AC6465E1-4B8F-4619-AD4E-FA64644F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981700"/>
            <a:ext cx="10763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例は Python 3.12+ を使用。付属の各サンプルファイルは単独で実行できます。</a:t>
            </a:r>
          </a:p>
        </p:txBody>
      </p:sp>
    </p:spTree>
    <p:extLst>
      <p:ext uri="{BB962C8B-B14F-4D97-AF65-F5344CB8AC3E}">
        <p14:creationId xmlns:p14="http://schemas.microsoft.com/office/powerpoint/2010/main" val="6078757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OOA、OOD 與 OOP 的位置">
            <a:extLst xmlns:a="http://schemas.openxmlformats.org/drawingml/2006/main">
              <a:ext uri="{FF2B5EF4-FFF2-40B4-BE49-F238E27FC236}">
                <a16:creationId xmlns:a16="http://schemas.microsoft.com/office/drawing/2014/main" id="{B9D23E24-9605-4094-A3E7-9592517E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OOA、OOD と OOP の位置づけ</a:t>
            </a:r>
          </a:p>
        </p:txBody>
      </p:sp>
      <p:sp>
        <p:nvSpPr>
          <p:cNvPr id="2" name="物件導向的基本觀念">
            <a:extLst xmlns:a="http://schemas.openxmlformats.org/drawingml/2006/main">
              <a:ext uri="{FF2B5EF4-FFF2-40B4-BE49-F238E27FC236}">
                <a16:creationId xmlns:a16="http://schemas.microsoft.com/office/drawing/2014/main" id="{D7234CED-F2BE-48DE-A7AB-8D0484F5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オブジェクト指向の基礎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163775DA-7F0C-425B-B7C8-19833421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667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90750"/>
                <a:gridCol w="3905250"/>
                <a:gridCol w="4876800"/>
              </a:tblGrid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段階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主な問い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学生データの例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OOA：分析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要件にどのような概念や</a:t>
                      </a:r>
                    </a:p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規則があるか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学生には学籍番号、氏名、</a:t>
                      </a:r>
                    </a:p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履修記録がある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OOD：設計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データと責任を</a:t>
                      </a:r>
                    </a:p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どう配置するか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Student が学生の状態と</a:t>
                      </a:r>
                    </a:p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関連する振る舞いを管理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OOP：実装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設計をコードで</a:t>
                      </a:r>
                    </a:p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どう実現するか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class Student、属性、</a:t>
                      </a:r>
                    </a:p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メソッド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5" name="分析、設計與實作會反覆修正。本週聚焦 Python 物件模型。">
            <a:extLst xmlns:a="http://schemas.openxmlformats.org/drawingml/2006/main">
              <a:ext uri="{FF2B5EF4-FFF2-40B4-BE49-F238E27FC236}">
                <a16:creationId xmlns:a16="http://schemas.microsoft.com/office/drawing/2014/main" id="{DB2B78C4-7E8D-431C-8D61-0CBA9AFF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7061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分析・設計・実装は相互に見直します。今週は Python のオブジェクトモデルに集中します。</a:t>
            </a:r>
          </a:p>
        </p:txBody>
      </p:sp>
    </p:spTree>
    <p:extLst>
      <p:ext uri="{BB962C8B-B14F-4D97-AF65-F5344CB8AC3E}">
        <p14:creationId xmlns:p14="http://schemas.microsoft.com/office/powerpoint/2010/main" val="12589116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傳統 OOP 的四個常見核心概念">
            <a:extLst xmlns:a="http://schemas.openxmlformats.org/drawingml/2006/main">
              <a:ext uri="{FF2B5EF4-FFF2-40B4-BE49-F238E27FC236}">
                <a16:creationId xmlns:a16="http://schemas.microsoft.com/office/drawing/2014/main" id="{5D30A0C5-3622-4FAF-8EBD-D36B8B7C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OOP の代表的な4つの基本概念</a:t>
            </a:r>
          </a:p>
        </p:txBody>
      </p:sp>
      <p:sp>
        <p:nvSpPr>
          <p:cNvPr id="2" name="物件導向的基本觀念">
            <a:extLst xmlns:a="http://schemas.openxmlformats.org/drawingml/2006/main">
              <a:ext uri="{FF2B5EF4-FFF2-40B4-BE49-F238E27FC236}">
                <a16:creationId xmlns:a16="http://schemas.microsoft.com/office/drawing/2014/main" id="{73B60D7E-E0FB-4ABE-AB9B-3F355F93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オブジェクト指向の基礎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72D73289-842B-428F-A203-3D155D93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905000"/>
                <a:gridCol w="4305300"/>
                <a:gridCol w="4762500"/>
              </a:tblGrid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概念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着目する問題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今週との関係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抽象化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目的に必要な特性を表す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Student で学生に関する情報を表す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カプセル化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状態と操作をまとめて管理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メソッドを導入し、</a:t>
                      </a:r>
                    </a:p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第4週で情報隠蔽を扱う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継承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既存の型から派生型を定義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短い例で cls を説明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多態性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同じ操作に異なる実装を提供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今後、インターフェースと</a:t>
                      </a:r>
                    </a:p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継承に合わせて詳しく扱う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  <p:sp>
        <p:nvSpPr>
          <p:cNvPr id="5" name="本週重點是建立與使用物件，先掌握資料歸屬與方法呼叫。">
            <a:extLst xmlns:a="http://schemas.openxmlformats.org/drawingml/2006/main">
              <a:ext uri="{FF2B5EF4-FFF2-40B4-BE49-F238E27FC236}">
                <a16:creationId xmlns:a16="http://schemas.microsoft.com/office/drawing/2014/main" id="{EE77F235-C349-47BF-9E75-D36DDC14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7061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今週は生成と利用を中心に、データの所属とメソッド呼び出しを理解します。</a:t>
            </a:r>
          </a:p>
        </p:txBody>
      </p:sp>
    </p:spTree>
    <p:extLst>
      <p:ext uri="{BB962C8B-B14F-4D97-AF65-F5344CB8AC3E}">
        <p14:creationId xmlns:p14="http://schemas.microsoft.com/office/powerpoint/2010/main" val="15949497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物件的身分、狀態與行為">
            <a:extLst xmlns:a="http://schemas.openxmlformats.org/drawingml/2006/main">
              <a:ext uri="{FF2B5EF4-FFF2-40B4-BE49-F238E27FC236}">
                <a16:creationId xmlns:a16="http://schemas.microsoft.com/office/drawing/2014/main" id="{E84DF4A5-8087-4907-ACB7-7211E3DF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オブジェクトの同一性、状態、振る舞い</a:t>
            </a:r>
          </a:p>
        </p:txBody>
      </p:sp>
      <p:sp>
        <p:nvSpPr>
          <p:cNvPr id="2" name="物件模型">
            <a:extLst xmlns:a="http://schemas.openxmlformats.org/drawingml/2006/main">
              <a:ext uri="{FF2B5EF4-FFF2-40B4-BE49-F238E27FC236}">
                <a16:creationId xmlns:a16="http://schemas.microsoft.com/office/drawing/2014/main" id="{FD2E1FF4-4243-4F81-9799-A33E019F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オブジェクトモデル</a:t>
            </a:r>
          </a:p>
        </p:txBody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C520BB53-D039-4A1C-9BCE-956BE1F2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2a46ab0c224b81"/>
          <a:srcRect xmlns:a="http://schemas.openxmlformats.org/drawingml/2006/main" l="3608" t="0" r="36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67525" y="1790700"/>
            <a:ext cx="4572000" cy="3695700"/>
          </a:xfrm>
          <a:prstGeom xmlns:a="http://schemas.openxmlformats.org/drawingml/2006/main" prst="rect">
            <a:avLst/>
          </a:prstGeom>
        </p:spPr>
      </p:pic>
      <p:sp>
        <p:nvSpPr>
          <p:cNvPr id="5" name="身分 identity">
            <a:extLst xmlns:a="http://schemas.openxmlformats.org/drawingml/2006/main">
              <a:ext uri="{FF2B5EF4-FFF2-40B4-BE49-F238E27FC236}">
                <a16:creationId xmlns:a16="http://schemas.microsoft.com/office/drawing/2014/main" id="{3E064095-6330-4CD6-950B-291316C6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同一性 identity</a:t>
            </a:r>
          </a:p>
        </p:txBody>
      </p:sp>
      <p:sp>
        <p:nvSpPr>
          <p:cNvPr id="6" name="是否為同一個物件：is">
            <a:extLst xmlns:a="http://schemas.openxmlformats.org/drawingml/2006/main">
              <a:ext uri="{FF2B5EF4-FFF2-40B4-BE49-F238E27FC236}">
                <a16:creationId xmlns:a16="http://schemas.microsoft.com/office/drawing/2014/main" id="{84E9CB93-4B4F-4738-8FC2-E068D069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90775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同じオブジェクトかどうか：is</a:t>
            </a:r>
          </a:p>
        </p:txBody>
      </p:sp>
      <p:sp>
        <p:nvSpPr>
          <p:cNvPr id="7" name="狀態 state">
            <a:extLst xmlns:a="http://schemas.openxmlformats.org/drawingml/2006/main">
              <a:ext uri="{FF2B5EF4-FFF2-40B4-BE49-F238E27FC236}">
                <a16:creationId xmlns:a16="http://schemas.microsoft.com/office/drawing/2014/main" id="{BD416492-6088-4C33-9C8E-35BD2F0D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状態 state</a:t>
            </a:r>
          </a:p>
        </p:txBody>
      </p:sp>
      <p:sp>
        <p:nvSpPr>
          <p:cNvPr id="8" name="目前保存的資料：name、balance">
            <a:extLst xmlns:a="http://schemas.openxmlformats.org/drawingml/2006/main">
              <a:ext uri="{FF2B5EF4-FFF2-40B4-BE49-F238E27FC236}">
                <a16:creationId xmlns:a16="http://schemas.microsoft.com/office/drawing/2014/main" id="{82E02DB9-F25B-43C2-B596-5F5C977B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29025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保持するデータ：name、balance</a:t>
            </a:r>
          </a:p>
        </p:txBody>
      </p:sp>
      <p:sp>
        <p:nvSpPr>
          <p:cNvPr id="9" name="行為 behavior">
            <a:extLst xmlns:a="http://schemas.openxmlformats.org/drawingml/2006/main">
              <a:ext uri="{FF2B5EF4-FFF2-40B4-BE49-F238E27FC236}">
                <a16:creationId xmlns:a16="http://schemas.microsoft.com/office/drawing/2014/main" id="{26BB7A6B-AEFB-4580-9AC2-CD470421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振る舞い behavior</a:t>
            </a:r>
          </a:p>
        </p:txBody>
      </p:sp>
      <p:sp>
        <p:nvSpPr>
          <p:cNvPr id="10" name="物件提供的操作：rename、deposit">
            <a:extLst xmlns:a="http://schemas.openxmlformats.org/drawingml/2006/main">
              <a:ext uri="{FF2B5EF4-FFF2-40B4-BE49-F238E27FC236}">
                <a16:creationId xmlns:a16="http://schemas.microsoft.com/office/drawing/2014/main" id="{F9155B2A-0CA1-4F3B-9926-3F879432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67275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提供する操作：rename、deposit</a:t>
            </a:r>
          </a:p>
        </p:txBody>
      </p:sp>
      <p:sp>
        <p:nvSpPr>
          <p:cNvPr id="11" name="兩個物件可以有相同狀態，仍然擁有不同身分。">
            <a:extLst xmlns:a="http://schemas.openxmlformats.org/drawingml/2006/main">
              <a:ext uri="{FF2B5EF4-FFF2-40B4-BE49-F238E27FC236}">
                <a16:creationId xmlns:a16="http://schemas.microsoft.com/office/drawing/2014/main" id="{6BBFB62B-25E2-4912-8379-F73362FB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981700"/>
            <a:ext cx="10572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同じ状態を持つ2つのオブジェクトでも、同一のオブジェクトとは限りません。</a:t>
            </a:r>
          </a:p>
        </p:txBody>
      </p:sp>
    </p:spTree>
    <p:extLst>
      <p:ext uri="{BB962C8B-B14F-4D97-AF65-F5344CB8AC3E}">
        <p14:creationId xmlns:p14="http://schemas.microsoft.com/office/powerpoint/2010/main" val="19405024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類別與實體的差異">
            <a:extLst xmlns:a="http://schemas.openxmlformats.org/drawingml/2006/main">
              <a:ext uri="{FF2B5EF4-FFF2-40B4-BE49-F238E27FC236}">
                <a16:creationId xmlns:a16="http://schemas.microsoft.com/office/drawing/2014/main" id="{AC9AED8D-9DF4-4093-8E1B-8C31A102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クラスとインスタンスの違い</a:t>
            </a:r>
          </a:p>
        </p:txBody>
      </p:sp>
      <p:sp>
        <p:nvSpPr>
          <p:cNvPr id="2" name="物件模型">
            <a:extLst xmlns:a="http://schemas.openxmlformats.org/drawingml/2006/main">
              <a:ext uri="{FF2B5EF4-FFF2-40B4-BE49-F238E27FC236}">
                <a16:creationId xmlns:a16="http://schemas.microsoft.com/office/drawing/2014/main" id="{9EB41DD7-920F-42E7-8A17-C04A1157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オブジェクトモデル</a:t>
            </a:r>
          </a:p>
        </p:txBody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A99B4B2F-359D-4512-A01E-1201A2E5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905000"/>
                <a:gridCol w="4533900"/>
                <a:gridCol w="4533900"/>
              </a:tblGrid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クラス class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インスタンス instance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役割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型と共通の振る舞いを定義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具体的な対象を表す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例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Student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amy、bob が参照するオブジェクト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データ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school などのクラス属性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name などのインスタンス属性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生成方法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class 文を実行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Student(...) を呼び出す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  <p:sp>
        <p:nvSpPr>
          <p:cNvPr id="5" name="Python 中，類別本身也是物件。">
            <a:extLst xmlns:a="http://schemas.openxmlformats.org/drawingml/2006/main">
              <a:ext uri="{FF2B5EF4-FFF2-40B4-BE49-F238E27FC236}">
                <a16:creationId xmlns:a16="http://schemas.microsoft.com/office/drawing/2014/main" id="{308FE1F7-E4C5-4811-8DFB-44EA9D86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7061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Python では、クラス自体もオブジェクトです。</a:t>
            </a:r>
          </a:p>
        </p:txBody>
      </p:sp>
    </p:spTree>
    <p:extLst>
      <p:ext uri="{BB962C8B-B14F-4D97-AF65-F5344CB8AC3E}">
        <p14:creationId xmlns:p14="http://schemas.microsoft.com/office/powerpoint/2010/main" val="11056386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ython 中的型別與物件">
            <a:extLst xmlns:a="http://schemas.openxmlformats.org/drawingml/2006/main">
              <a:ext uri="{FF2B5EF4-FFF2-40B4-BE49-F238E27FC236}">
                <a16:creationId xmlns:a16="http://schemas.microsoft.com/office/drawing/2014/main" id="{EFCDD2F4-2D63-4AF4-8EE0-543526A0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Python の型とオブジェクト</a:t>
            </a:r>
          </a:p>
        </p:txBody>
      </p:sp>
      <p:sp>
        <p:nvSpPr>
          <p:cNvPr id="2" name="物件模型">
            <a:extLst xmlns:a="http://schemas.openxmlformats.org/drawingml/2006/main">
              <a:ext uri="{FF2B5EF4-FFF2-40B4-BE49-F238E27FC236}">
                <a16:creationId xmlns:a16="http://schemas.microsoft.com/office/drawing/2014/main" id="{0CC2CF2D-8905-48C6-8694-6CB47070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オブジェクトモデル</a:t>
            </a:r>
          </a:p>
        </p:txBody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99800AC0-E4A5-4BE1-9973-81630118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4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2BFFA977-77B8-4A09-8BAE-19C960A3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5" name="    pass">
            <a:extLst xmlns:a="http://schemas.openxmlformats.org/drawingml/2006/main">
              <a:ext uri="{FF2B5EF4-FFF2-40B4-BE49-F238E27FC236}">
                <a16:creationId xmlns:a16="http://schemas.microsoft.com/office/drawing/2014/main" id="{D7C0D401-8013-4037-A084-8E067C6A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pass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64E734-475A-4B7F-8348-FE6D4C0E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amy = Student()">
            <a:extLst xmlns:a="http://schemas.openxmlformats.org/drawingml/2006/main">
              <a:ext uri="{FF2B5EF4-FFF2-40B4-BE49-F238E27FC236}">
                <a16:creationId xmlns:a16="http://schemas.microsoft.com/office/drawing/2014/main" id="{850A0184-C44A-4443-87C7-FCAE3F80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amy = Student()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E0225D-30C6-453E-BE27-B5920B5C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print(type(amy).__name__)">
            <a:extLst xmlns:a="http://schemas.openxmlformats.org/drawingml/2006/main">
              <a:ext uri="{FF2B5EF4-FFF2-40B4-BE49-F238E27FC236}">
                <a16:creationId xmlns:a16="http://schemas.microsoft.com/office/drawing/2014/main" id="{20342CDB-2A1D-4B4B-B335-5C774D3C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print(type(amy).__name__)</a:t>
            </a:r>
          </a:p>
        </p:txBody>
      </p:sp>
      <p:sp>
        <p:nvSpPr>
          <p:cNvPr id="10" name="print(isinstance(amy, Student))">
            <a:extLst xmlns:a="http://schemas.openxmlformats.org/drawingml/2006/main">
              <a:ext uri="{FF2B5EF4-FFF2-40B4-BE49-F238E27FC236}">
                <a16:creationId xmlns:a16="http://schemas.microsoft.com/office/drawing/2014/main" id="{E6716A50-5B77-4510-8272-E99F278C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print(isinstance(amy, Student))</a:t>
            </a:r>
          </a:p>
        </p:txBody>
      </p:sp>
      <p:sp>
        <p:nvSpPr>
          <p:cNvPr id="11" name="print(type(Student).__name__)">
            <a:extLst xmlns:a="http://schemas.openxmlformats.org/drawingml/2006/main">
              <a:ext uri="{FF2B5EF4-FFF2-40B4-BE49-F238E27FC236}">
                <a16:creationId xmlns:a16="http://schemas.microsoft.com/office/drawing/2014/main" id="{D1715514-19B7-4B1E-ACF1-2F3A6D89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print(type(Student).__name__)</a:t>
            </a:r>
          </a:p>
        </p:txBody>
      </p:sp>
      <p:sp>
        <p:nvSpPr>
          <p:cNvPr id="12" name="print(isinstance(Student, type))">
            <a:extLst xmlns:a="http://schemas.openxmlformats.org/drawingml/2006/main">
              <a:ext uri="{FF2B5EF4-FFF2-40B4-BE49-F238E27FC236}">
                <a16:creationId xmlns:a16="http://schemas.microsoft.com/office/drawing/2014/main" id="{87908A45-38B5-4393-A4C7-6855899E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print(isinstance(Student, type))</a:t>
            </a:r>
          </a:p>
        </p:txBody>
      </p:sp>
      <p:sp>
        <p:nvSpPr>
          <p:cNvPr id="13" name="Student 也是物件">
            <a:extLst xmlns:a="http://schemas.openxmlformats.org/drawingml/2006/main">
              <a:ext uri="{FF2B5EF4-FFF2-40B4-BE49-F238E27FC236}">
                <a16:creationId xmlns:a16="http://schemas.microsoft.com/office/drawing/2014/main" id="{58DD25F3-3206-439B-843D-DCDC7EE7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Student 自体もオブジェクト</a:t>
            </a:r>
          </a:p>
        </p:txBody>
      </p:sp>
      <p:sp>
        <p:nvSpPr>
          <p:cNvPr id="14" name="在一般類別定義中， Student 的型別是 type。">
            <a:extLst xmlns:a="http://schemas.openxmlformats.org/drawingml/2006/main">
              <a:ext uri="{FF2B5EF4-FFF2-40B4-BE49-F238E27FC236}">
                <a16:creationId xmlns:a16="http://schemas.microsoft.com/office/drawing/2014/main" id="{5FE8D106-D1FD-4A1A-995B-FAED7A6A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通常のクラス定義では、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Student の型は type。</a:t>
            </a:r>
          </a:p>
        </p:txBody>
      </p:sp>
      <p:sp>
        <p:nvSpPr>
          <p:cNvPr id="15" name="型別決定可用操作">
            <a:extLst xmlns:a="http://schemas.openxmlformats.org/drawingml/2006/main">
              <a:ext uri="{FF2B5EF4-FFF2-40B4-BE49-F238E27FC236}">
                <a16:creationId xmlns:a16="http://schemas.microsoft.com/office/drawing/2014/main" id="{9702DC08-7C42-4699-932F-926751CD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型が操作を決める</a:t>
            </a:r>
          </a:p>
        </p:txBody>
      </p:sp>
      <p:sp>
        <p:nvSpPr>
          <p:cNvPr id="16" name="type 取得實際型別。 isinstance 也考慮繼承關係。">
            <a:extLst xmlns:a="http://schemas.openxmlformats.org/drawingml/2006/main">
              <a:ext uri="{FF2B5EF4-FFF2-40B4-BE49-F238E27FC236}">
                <a16:creationId xmlns:a16="http://schemas.microsoft.com/office/drawing/2014/main" id="{8ADFED43-8F02-4DB4-9CCB-77284BAB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type は実際の型を返す。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isinstance は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継承関係も考慮する。</a:t>
            </a:r>
          </a:p>
        </p:txBody>
      </p:sp>
      <p:sp>
        <p:nvSpPr>
          <p:cNvPr id="17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F7EB54C0-68D7-4E9A-BA8D-B8BB12AC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18" name="Student    True    type    True">
            <a:extLst xmlns:a="http://schemas.openxmlformats.org/drawingml/2006/main">
              <a:ext uri="{FF2B5EF4-FFF2-40B4-BE49-F238E27FC236}">
                <a16:creationId xmlns:a16="http://schemas.microsoft.com/office/drawing/2014/main" id="{6E87FA0D-3AD6-4198-BDF1-B0AA4973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Student    True    type    True</a:t>
            </a:r>
          </a:p>
        </p:txBody>
      </p:sp>
    </p:spTree>
    <p:extLst>
      <p:ext uri="{BB962C8B-B14F-4D97-AF65-F5344CB8AC3E}">
        <p14:creationId xmlns:p14="http://schemas.microsoft.com/office/powerpoint/2010/main" val="8790249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資料與行為的責任歸屬">
            <a:extLst xmlns:a="http://schemas.openxmlformats.org/drawingml/2006/main">
              <a:ext uri="{FF2B5EF4-FFF2-40B4-BE49-F238E27FC236}">
                <a16:creationId xmlns:a16="http://schemas.microsoft.com/office/drawing/2014/main" id="{F75D47BD-CC47-433E-9903-A1A029CF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データと振る舞いの責任</a:t>
            </a:r>
          </a:p>
        </p:txBody>
      </p:sp>
      <p:sp>
        <p:nvSpPr>
          <p:cNvPr id="2" name="物件模型">
            <a:extLst xmlns:a="http://schemas.openxmlformats.org/drawingml/2006/main">
              <a:ext uri="{FF2B5EF4-FFF2-40B4-BE49-F238E27FC236}">
                <a16:creationId xmlns:a16="http://schemas.microsoft.com/office/drawing/2014/main" id="{D0062EC0-B9BC-4B49-A625-96B23EA6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オブジェクトモデル</a:t>
            </a:r>
          </a:p>
        </p:txBody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2C3CF6B0-2DCC-44B4-B2F6-9E5FB4D7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4" name="字典與函式">
            <a:extLst xmlns:a="http://schemas.openxmlformats.org/drawingml/2006/main">
              <a:ext uri="{FF2B5EF4-FFF2-40B4-BE49-F238E27FC236}">
                <a16:creationId xmlns:a16="http://schemas.microsoft.com/office/drawing/2014/main" id="{08C7D678-6EB7-4C16-86C6-11BE25EA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1450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辞書と関数</a:t>
            </a:r>
          </a:p>
        </p:txBody>
      </p:sp>
      <p:sp>
        <p:nvSpPr>
          <p:cNvPr id="5" name="適合簡單資料與獨立轉換">
            <a:extLst xmlns:a="http://schemas.openxmlformats.org/drawingml/2006/main">
              <a:ext uri="{FF2B5EF4-FFF2-40B4-BE49-F238E27FC236}">
                <a16:creationId xmlns:a16="http://schemas.microsoft.com/office/drawing/2014/main" id="{B9D8096A-F9AA-4DF8-B811-3256DDC2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743075"/>
            <a:ext cx="7858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単純なデータや独立した変換に適する</a:t>
            </a:r>
          </a:p>
        </p:txBody>
      </p:sp>
      <p:sp>
        <p:nvSpPr>
          <p:cNvPr id="6" name="類別與方法">
            <a:extLst xmlns:a="http://schemas.openxmlformats.org/drawingml/2006/main">
              <a:ext uri="{FF2B5EF4-FFF2-40B4-BE49-F238E27FC236}">
                <a16:creationId xmlns:a16="http://schemas.microsoft.com/office/drawing/2014/main" id="{5E129534-8953-4A67-8D95-E6F795FD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05075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クラスとメソッド</a:t>
            </a:r>
          </a:p>
        </p:txBody>
      </p:sp>
      <p:sp>
        <p:nvSpPr>
          <p:cNvPr id="7" name="適合需要持續狀態與相關操作的對象">
            <a:extLst xmlns:a="http://schemas.openxmlformats.org/drawingml/2006/main">
              <a:ext uri="{FF2B5EF4-FFF2-40B4-BE49-F238E27FC236}">
                <a16:creationId xmlns:a16="http://schemas.microsoft.com/office/drawing/2014/main" id="{7DFF640D-ED12-452B-A6C3-0C1E8BF6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533650"/>
            <a:ext cx="7858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継続する状態と関連操作を持つ対象に適する</a:t>
            </a:r>
          </a:p>
        </p:txBody>
      </p:sp>
      <p:sp>
        <p:nvSpPr>
          <p:cNvPr id="8" name="Student 範例">
            <a:extLst xmlns:a="http://schemas.openxmlformats.org/drawingml/2006/main">
              <a:ext uri="{FF2B5EF4-FFF2-40B4-BE49-F238E27FC236}">
                <a16:creationId xmlns:a16="http://schemas.microsoft.com/office/drawing/2014/main" id="{2DD97482-B8E1-4DA3-A3F8-5B6E1B62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9565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Student の例</a:t>
            </a:r>
          </a:p>
        </p:txBody>
      </p:sp>
      <p:sp>
        <p:nvSpPr>
          <p:cNvPr id="9" name="學號與姓名屬於學生，rename 更新姓名">
            <a:extLst xmlns:a="http://schemas.openxmlformats.org/drawingml/2006/main">
              <a:ext uri="{FF2B5EF4-FFF2-40B4-BE49-F238E27FC236}">
                <a16:creationId xmlns:a16="http://schemas.microsoft.com/office/drawing/2014/main" id="{C76FE531-4647-4F44-8BD0-8A069728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324225"/>
            <a:ext cx="7858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学生が番号と氏名を持ち、rename が氏名を更新</a:t>
            </a:r>
          </a:p>
        </p:txBody>
      </p:sp>
      <p:sp>
        <p:nvSpPr>
          <p:cNvPr id="10" name="設計判斷">
            <a:extLst xmlns:a="http://schemas.openxmlformats.org/drawingml/2006/main">
              <a:ext uri="{FF2B5EF4-FFF2-40B4-BE49-F238E27FC236}">
                <a16:creationId xmlns:a16="http://schemas.microsoft.com/office/drawing/2014/main" id="{62C5740D-2EC6-4946-BC06-90F1CE72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86225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設計上の問い</a:t>
            </a:r>
          </a:p>
        </p:txBody>
      </p:sp>
      <p:sp>
        <p:nvSpPr>
          <p:cNvPr id="11" name="同一份狀態的規則是否散落在不同地方？">
            <a:extLst xmlns:a="http://schemas.openxmlformats.org/drawingml/2006/main">
              <a:ext uri="{FF2B5EF4-FFF2-40B4-BE49-F238E27FC236}">
                <a16:creationId xmlns:a16="http://schemas.microsoft.com/office/drawing/2014/main" id="{8D23748B-33DF-4105-8C3C-6BA76048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114800"/>
            <a:ext cx="7858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同じ状態の規則がコードの各所に分散していないか</a:t>
            </a:r>
          </a:p>
        </p:txBody>
      </p:sp>
      <p:sp>
        <p:nvSpPr>
          <p:cNvPr id="12" name="選擇類別應有具體需求，不必把所有函式包進 class。">
            <a:extLst xmlns:a="http://schemas.openxmlformats.org/drawingml/2006/main">
              <a:ext uri="{FF2B5EF4-FFF2-40B4-BE49-F238E27FC236}">
                <a16:creationId xmlns:a16="http://schemas.microsoft.com/office/drawing/2014/main" id="{7FDDFECC-6D0F-406C-A851-22730D42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981700"/>
            <a:ext cx="10763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具体的な必要性に基づいてクラスを選びます。すべての関数を class に入れる必要はありません。</a:t>
            </a:r>
          </a:p>
        </p:txBody>
      </p:sp>
    </p:spTree>
    <p:extLst>
      <p:ext uri="{BB962C8B-B14F-4D97-AF65-F5344CB8AC3E}">
        <p14:creationId xmlns:p14="http://schemas.microsoft.com/office/powerpoint/2010/main" val="5121466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第一個 Student 類別">
            <a:extLst xmlns:a="http://schemas.openxmlformats.org/drawingml/2006/main">
              <a:ext uri="{FF2B5EF4-FFF2-40B4-BE49-F238E27FC236}">
                <a16:creationId xmlns:a16="http://schemas.microsoft.com/office/drawing/2014/main" id="{4D34682A-59F8-4E7F-9A8A-47877A96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最初の Student クラス</a:t>
            </a:r>
          </a:p>
        </p:txBody>
      </p:sp>
      <p:sp>
        <p:nvSpPr>
          <p:cNvPr id="2" name="建立物件">
            <a:extLst xmlns:a="http://schemas.openxmlformats.org/drawingml/2006/main">
              <a:ext uri="{FF2B5EF4-FFF2-40B4-BE49-F238E27FC236}">
                <a16:creationId xmlns:a16="http://schemas.microsoft.com/office/drawing/2014/main" id="{16B13020-D061-4D35-96EB-E90CE0FA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オブジェクトの生成</a:t>
            </a:r>
          </a:p>
        </p:txBody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A76A8B06-A749-4879-A859-26328065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4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2687B3C5-2928-40EC-8E5E-C8327542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5" name="    def __init__(self, student_id, name):">
            <a:extLst xmlns:a="http://schemas.openxmlformats.org/drawingml/2006/main">
              <a:ext uri="{FF2B5EF4-FFF2-40B4-BE49-F238E27FC236}">
                <a16:creationId xmlns:a16="http://schemas.microsoft.com/office/drawing/2014/main" id="{D3F21134-3C77-4F19-8BD1-41FE8FA2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def __init__(self, student_id, name):</a:t>
            </a:r>
          </a:p>
        </p:txBody>
      </p:sp>
      <p:sp>
        <p:nvSpPr>
          <p:cNvPr id="6" name="        self.student_id = student_id">
            <a:extLst xmlns:a="http://schemas.openxmlformats.org/drawingml/2006/main">
              <a:ext uri="{FF2B5EF4-FFF2-40B4-BE49-F238E27FC236}">
                <a16:creationId xmlns:a16="http://schemas.microsoft.com/office/drawing/2014/main" id="{B17F251F-691E-408A-82C6-F1BB101B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self.student_id = student_id</a:t>
            </a:r>
          </a:p>
        </p:txBody>
      </p:sp>
      <p:sp>
        <p:nvSpPr>
          <p:cNvPr id="7" name="    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D36F583D-804B-4A9C-8C7A-89B56A3C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self.name = name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F824CB-C81A-409D-AFD7-FBE9CFB2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    def rename(self, new_name):">
            <a:extLst xmlns:a="http://schemas.openxmlformats.org/drawingml/2006/main">
              <a:ext uri="{FF2B5EF4-FFF2-40B4-BE49-F238E27FC236}">
                <a16:creationId xmlns:a16="http://schemas.microsoft.com/office/drawing/2014/main" id="{44A523F5-DB0C-4913-8188-806633AA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def rename(self, new_name):</a:t>
            </a:r>
          </a:p>
        </p:txBody>
      </p:sp>
      <p:sp>
        <p:nvSpPr>
          <p:cNvPr id="10" name="        self.name = new_name">
            <a:extLst xmlns:a="http://schemas.openxmlformats.org/drawingml/2006/main">
              <a:ext uri="{FF2B5EF4-FFF2-40B4-BE49-F238E27FC236}">
                <a16:creationId xmlns:a16="http://schemas.microsoft.com/office/drawing/2014/main" id="{75B47104-EBBC-42CB-AC73-570235DF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self.name = new_name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C3C7D4-1B8F-43EF-8691-C56E1C28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amy = Student(&quot;B11501&quot;, &quot;Amy&quot;)">
            <a:extLst xmlns:a="http://schemas.openxmlformats.org/drawingml/2006/main">
              <a:ext uri="{FF2B5EF4-FFF2-40B4-BE49-F238E27FC236}">
                <a16:creationId xmlns:a16="http://schemas.microsoft.com/office/drawing/2014/main" id="{5972E56D-E6DE-4FF2-9C7E-57A127BC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amy = Student("B11501", "Amy")</a:t>
            </a:r>
          </a:p>
        </p:txBody>
      </p:sp>
      <p:sp>
        <p:nvSpPr>
          <p:cNvPr id="13" name="amy.rename(&quot;Amy Chen&quot;)">
            <a:extLst xmlns:a="http://schemas.openxmlformats.org/drawingml/2006/main">
              <a:ext uri="{FF2B5EF4-FFF2-40B4-BE49-F238E27FC236}">
                <a16:creationId xmlns:a16="http://schemas.microsoft.com/office/drawing/2014/main" id="{B2BFB5CC-5DDC-428D-ABD3-70256EFD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amy.rename("Amy Chen")</a:t>
            </a:r>
          </a:p>
        </p:txBody>
      </p:sp>
      <p:sp>
        <p:nvSpPr>
          <p:cNvPr id="14" name="print(amy.student_id, amy.name)">
            <a:extLst xmlns:a="http://schemas.openxmlformats.org/drawingml/2006/main">
              <a:ext uri="{FF2B5EF4-FFF2-40B4-BE49-F238E27FC236}">
                <a16:creationId xmlns:a16="http://schemas.microsoft.com/office/drawing/2014/main" id="{27114B3C-CC4F-4EF9-B355-7CAC4183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print(amy.student_id, amy.name)</a:t>
            </a:r>
          </a:p>
        </p:txBody>
      </p:sp>
      <p:sp>
        <p:nvSpPr>
          <p:cNvPr id="15" name="初始化實體資料">
            <a:extLst xmlns:a="http://schemas.openxmlformats.org/drawingml/2006/main">
              <a:ext uri="{FF2B5EF4-FFF2-40B4-BE49-F238E27FC236}">
                <a16:creationId xmlns:a16="http://schemas.microsoft.com/office/drawing/2014/main" id="{2E2E997D-2CAA-4F6F-8E65-0CA7D8EC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インスタンスの初期化</a:t>
            </a:r>
          </a:p>
        </p:txBody>
      </p:sp>
      <p:sp>
        <p:nvSpPr>
          <p:cNvPr id="16" name="每次建立學生時， 設定學號與姓名。">
            <a:extLst xmlns:a="http://schemas.openxmlformats.org/drawingml/2006/main">
              <a:ext uri="{FF2B5EF4-FFF2-40B4-BE49-F238E27FC236}">
                <a16:creationId xmlns:a16="http://schemas.microsoft.com/office/drawing/2014/main" id="{B6D9D391-41C4-4A81-B1F2-1D3FA1F7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学生を生成するたびに、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学籍番号と氏名を設定。</a:t>
            </a:r>
          </a:p>
        </p:txBody>
      </p:sp>
      <p:sp>
        <p:nvSpPr>
          <p:cNvPr id="17" name="方法操作實體狀態">
            <a:extLst xmlns:a="http://schemas.openxmlformats.org/drawingml/2006/main">
              <a:ext uri="{FF2B5EF4-FFF2-40B4-BE49-F238E27FC236}">
                <a16:creationId xmlns:a16="http://schemas.microsoft.com/office/drawing/2014/main" id="{99945FFB-45C0-43F1-98BD-50BFB421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メソッドが状態を操作</a:t>
            </a:r>
          </a:p>
        </p:txBody>
      </p:sp>
      <p:sp>
        <p:nvSpPr>
          <p:cNvPr id="18" name="rename 修改接收呼叫的學生。 此例尚未加入姓名驗證。">
            <a:extLst xmlns:a="http://schemas.openxmlformats.org/drawingml/2006/main">
              <a:ext uri="{FF2B5EF4-FFF2-40B4-BE49-F238E27FC236}">
                <a16:creationId xmlns:a16="http://schemas.microsoft.com/office/drawing/2014/main" id="{BEEE688F-E1FC-4618-9792-67871036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rename は呼び出し先の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学生を変更する。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この例では氏名検証は未追加。</a:t>
            </a:r>
          </a:p>
        </p:txBody>
      </p:sp>
      <p:sp>
        <p:nvSpPr>
          <p:cNvPr id="19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F25BDDFF-8048-49E9-A8AA-08FF42AB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20" name="B11501 Amy Chen">
            <a:extLst xmlns:a="http://schemas.openxmlformats.org/drawingml/2006/main">
              <a:ext uri="{FF2B5EF4-FFF2-40B4-BE49-F238E27FC236}">
                <a16:creationId xmlns:a16="http://schemas.microsoft.com/office/drawing/2014/main" id="{7029C693-D549-42A3-9B8C-5AADAF3F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B11501 Amy Chen</a:t>
            </a:r>
          </a:p>
        </p:txBody>
      </p:sp>
    </p:spTree>
    <p:extLst>
      <p:ext uri="{BB962C8B-B14F-4D97-AF65-F5344CB8AC3E}">
        <p14:creationId xmlns:p14="http://schemas.microsoft.com/office/powerpoint/2010/main" val="14828193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建立與初始化是不同階段">
            <a:extLst xmlns:a="http://schemas.openxmlformats.org/drawingml/2006/main">
              <a:ext uri="{FF2B5EF4-FFF2-40B4-BE49-F238E27FC236}">
                <a16:creationId xmlns:a16="http://schemas.microsoft.com/office/drawing/2014/main" id="{081F039C-67D7-4866-825F-762261AB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生成と初期化の違い</a:t>
            </a:r>
          </a:p>
        </p:txBody>
      </p:sp>
      <p:sp>
        <p:nvSpPr>
          <p:cNvPr id="2" name="建立物件">
            <a:extLst xmlns:a="http://schemas.openxmlformats.org/drawingml/2006/main">
              <a:ext uri="{FF2B5EF4-FFF2-40B4-BE49-F238E27FC236}">
                <a16:creationId xmlns:a16="http://schemas.microsoft.com/office/drawing/2014/main" id="{68326492-C61A-4010-9604-5B855032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オブジェクトの生成</a:t>
            </a:r>
          </a:p>
        </p:txBody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8523D436-6F1B-4C55-B5E2-7D586EFA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90750"/>
                <a:gridCol w="3667125"/>
                <a:gridCol w="5114925"/>
              </a:tblGrid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段階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主な仕組み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責任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クラスの呼び出し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Student(...)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通常のインスタンス生成を開始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オブジェクトの生成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__new__(cls, ...)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生成したオブジェクトを返す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初期化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__init__(self, ...)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生成済みオブジェクトの</a:t>
                      </a:r>
                    </a:p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初期状態を設定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インスタンスの取得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amy = Student(...)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結果を外部の名前に束縛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  <p:sp>
        <p:nvSpPr>
          <p:cNvPr id="5" name="一般業務類別通常只需要定義 __init__，不必自訂 __new__。">
            <a:extLst xmlns:a="http://schemas.openxmlformats.org/drawingml/2006/main">
              <a:ext uri="{FF2B5EF4-FFF2-40B4-BE49-F238E27FC236}">
                <a16:creationId xmlns:a16="http://schemas.microsoft.com/office/drawing/2014/main" id="{97228CCD-03A4-46AD-80AD-C16F54F6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7061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通常の業務クラスでは __init__ の定義で十分です。多くの場合、__new__ の上書きは不要です。</a:t>
            </a:r>
          </a:p>
        </p:txBody>
      </p:sp>
    </p:spTree>
    <p:extLst>
      <p:ext uri="{BB962C8B-B14F-4D97-AF65-F5344CB8AC3E}">
        <p14:creationId xmlns:p14="http://schemas.microsoft.com/office/powerpoint/2010/main" val="7080473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__new__ 與 __init__ 的執行順序">
            <a:extLst xmlns:a="http://schemas.openxmlformats.org/drawingml/2006/main">
              <a:ext uri="{FF2B5EF4-FFF2-40B4-BE49-F238E27FC236}">
                <a16:creationId xmlns:a16="http://schemas.microsoft.com/office/drawing/2014/main" id="{864022E0-57C3-4CA1-8924-09004DEA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__new__ と __init__ の実行順序</a:t>
            </a:r>
          </a:p>
        </p:txBody>
      </p:sp>
      <p:sp>
        <p:nvSpPr>
          <p:cNvPr id="2" name="建立物件">
            <a:extLst xmlns:a="http://schemas.openxmlformats.org/drawingml/2006/main">
              <a:ext uri="{FF2B5EF4-FFF2-40B4-BE49-F238E27FC236}">
                <a16:creationId xmlns:a16="http://schemas.microsoft.com/office/drawing/2014/main" id="{EBB253C3-F5F8-4267-B3A2-0E1CCD9C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オブジェクトの生成</a:t>
            </a:r>
          </a:p>
        </p:txBody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04393ED2-576C-4E4C-B5FC-C43787C5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4" name="class Item:">
            <a:extLst xmlns:a="http://schemas.openxmlformats.org/drawingml/2006/main">
              <a:ext uri="{FF2B5EF4-FFF2-40B4-BE49-F238E27FC236}">
                <a16:creationId xmlns:a16="http://schemas.microsoft.com/office/drawing/2014/main" id="{8F472490-77CE-44BB-912A-08779FBF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Item:</a:t>
            </a:r>
          </a:p>
        </p:txBody>
      </p:sp>
      <p:sp>
        <p:nvSpPr>
          <p:cNvPr id="5" name="    def __new__(cls, name):">
            <a:extLst xmlns:a="http://schemas.openxmlformats.org/drawingml/2006/main">
              <a:ext uri="{FF2B5EF4-FFF2-40B4-BE49-F238E27FC236}">
                <a16:creationId xmlns:a16="http://schemas.microsoft.com/office/drawing/2014/main" id="{905C1389-1814-44E2-A1E6-14DFCF05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__new__(cls, name):</a:t>
            </a:r>
          </a:p>
        </p:txBody>
      </p:sp>
      <p:sp>
        <p:nvSpPr>
          <p:cNvPr id="6" name="        print(&quot;new&quot;)">
            <a:extLst xmlns:a="http://schemas.openxmlformats.org/drawingml/2006/main">
              <a:ext uri="{FF2B5EF4-FFF2-40B4-BE49-F238E27FC236}">
                <a16:creationId xmlns:a16="http://schemas.microsoft.com/office/drawing/2014/main" id="{3A73F1BF-67BA-45A9-8005-7EBFF912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print("new")</a:t>
            </a:r>
          </a:p>
        </p:txBody>
      </p:sp>
      <p:sp>
        <p:nvSpPr>
          <p:cNvPr id="7" name="        return super().__new__(cls)">
            <a:extLst xmlns:a="http://schemas.openxmlformats.org/drawingml/2006/main">
              <a:ext uri="{FF2B5EF4-FFF2-40B4-BE49-F238E27FC236}">
                <a16:creationId xmlns:a16="http://schemas.microsoft.com/office/drawing/2014/main" id="{57EB91F7-44EE-495D-91F2-47AA295A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return super().__new__(cls)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55345E-228C-4EC8-A8E0-94C47A96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    def __init__(self, name):">
            <a:extLst xmlns:a="http://schemas.openxmlformats.org/drawingml/2006/main">
              <a:ext uri="{FF2B5EF4-FFF2-40B4-BE49-F238E27FC236}">
                <a16:creationId xmlns:a16="http://schemas.microsoft.com/office/drawing/2014/main" id="{06531BE3-FA3D-4699-B7CD-8A8824E6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__init__(self, name):</a:t>
            </a:r>
          </a:p>
        </p:txBody>
      </p:sp>
      <p:sp>
        <p:nvSpPr>
          <p:cNvPr id="10" name="        print(&quot;init&quot;)">
            <a:extLst xmlns:a="http://schemas.openxmlformats.org/drawingml/2006/main">
              <a:ext uri="{FF2B5EF4-FFF2-40B4-BE49-F238E27FC236}">
                <a16:creationId xmlns:a16="http://schemas.microsoft.com/office/drawing/2014/main" id="{A167A3F2-812F-4B7F-B6A0-E02FF57B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print("init")</a:t>
            </a:r>
          </a:p>
        </p:txBody>
      </p:sp>
      <p:sp>
        <p:nvSpPr>
          <p:cNvPr id="11" name="    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3240605F-B424-43B8-B89D-2E7B4924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self.name = name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DB36B9-2869-4983-8204-E572788A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item = Item(&quot;Book&quot;)">
            <a:extLst xmlns:a="http://schemas.openxmlformats.org/drawingml/2006/main">
              <a:ext uri="{FF2B5EF4-FFF2-40B4-BE49-F238E27FC236}">
                <a16:creationId xmlns:a16="http://schemas.microsoft.com/office/drawing/2014/main" id="{87A1A9AF-6451-437C-8826-2DB084F5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item = Item("Book")</a:t>
            </a:r>
          </a:p>
        </p:txBody>
      </p:sp>
      <p:sp>
        <p:nvSpPr>
          <p:cNvPr id="14" name="print(item.name)">
            <a:extLst xmlns:a="http://schemas.openxmlformats.org/drawingml/2006/main">
              <a:ext uri="{FF2B5EF4-FFF2-40B4-BE49-F238E27FC236}">
                <a16:creationId xmlns:a16="http://schemas.microsoft.com/office/drawing/2014/main" id="{B3871BE0-9D73-4ABE-B481-E1C52127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print(item.name)</a:t>
            </a:r>
          </a:p>
        </p:txBody>
      </p:sp>
      <p:sp>
        <p:nvSpPr>
          <p:cNvPr id="15" name="先建立，再初始化">
            <a:extLst xmlns:a="http://schemas.openxmlformats.org/drawingml/2006/main">
              <a:ext uri="{FF2B5EF4-FFF2-40B4-BE49-F238E27FC236}">
                <a16:creationId xmlns:a16="http://schemas.microsoft.com/office/drawing/2014/main" id="{6F565872-24C4-4826-9E66-3AE5CF5F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生成してから初期化</a:t>
            </a:r>
          </a:p>
        </p:txBody>
      </p:sp>
      <p:sp>
        <p:nvSpPr>
          <p:cNvPr id="16" name="__new__ 收到類別 cls。 __init__ 收到實體 self。">
            <a:extLst xmlns:a="http://schemas.openxmlformats.org/drawingml/2006/main">
              <a:ext uri="{FF2B5EF4-FFF2-40B4-BE49-F238E27FC236}">
                <a16:creationId xmlns:a16="http://schemas.microsoft.com/office/drawing/2014/main" id="{0F7D5CEA-31EE-40E0-A79C-D923AEB2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__new__ は cls を受け取り、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__init__ は self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を受け取る。</a:t>
            </a:r>
          </a:p>
        </p:txBody>
      </p:sp>
      <p:sp>
        <p:nvSpPr>
          <p:cNvPr id="17" name="示範執行流程">
            <a:extLst xmlns:a="http://schemas.openxmlformats.org/drawingml/2006/main">
              <a:ext uri="{FF2B5EF4-FFF2-40B4-BE49-F238E27FC236}">
                <a16:creationId xmlns:a16="http://schemas.microsoft.com/office/drawing/2014/main" id="{02707221-5495-4924-ABE6-C6CBC149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実行順序の観察</a:t>
            </a:r>
          </a:p>
        </p:txBody>
      </p:sp>
      <p:sp>
        <p:nvSpPr>
          <p:cNvPr id="18" name="super().__new__ 建立實體。 一般情況不需要覆寫此方法。">
            <a:extLst xmlns:a="http://schemas.openxmlformats.org/drawingml/2006/main">
              <a:ext uri="{FF2B5EF4-FFF2-40B4-BE49-F238E27FC236}">
                <a16:creationId xmlns:a16="http://schemas.microsoft.com/office/drawing/2014/main" id="{44BBE579-7D19-42FE-B872-BCC5FBDA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super().__new__ で生成。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通常、このメソッドを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上書きする必要はない。</a:t>
            </a:r>
          </a:p>
        </p:txBody>
      </p:sp>
      <p:sp>
        <p:nvSpPr>
          <p:cNvPr id="19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49040C52-A97E-4D89-BFE1-619F539F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20" name="new    init    Book">
            <a:extLst xmlns:a="http://schemas.openxmlformats.org/drawingml/2006/main">
              <a:ext uri="{FF2B5EF4-FFF2-40B4-BE49-F238E27FC236}">
                <a16:creationId xmlns:a16="http://schemas.microsoft.com/office/drawing/2014/main" id="{46D43FA4-C962-47D8-91DC-A8FE83FE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new    init    Book</a:t>
            </a:r>
          </a:p>
        </p:txBody>
      </p:sp>
    </p:spTree>
    <p:extLst>
      <p:ext uri="{BB962C8B-B14F-4D97-AF65-F5344CB8AC3E}">
        <p14:creationId xmlns:p14="http://schemas.microsoft.com/office/powerpoint/2010/main" val="15357899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lf 與繫結方法">
            <a:extLst xmlns:a="http://schemas.openxmlformats.org/drawingml/2006/main">
              <a:ext uri="{FF2B5EF4-FFF2-40B4-BE49-F238E27FC236}">
                <a16:creationId xmlns:a16="http://schemas.microsoft.com/office/drawing/2014/main" id="{0E24B6FE-9F81-4116-BC17-B3590570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self と束縛済みメソッド</a:t>
            </a:r>
          </a:p>
        </p:txBody>
      </p:sp>
      <p:sp>
        <p:nvSpPr>
          <p:cNvPr id="2" name="建立物件">
            <a:extLst xmlns:a="http://schemas.openxmlformats.org/drawingml/2006/main">
              <a:ext uri="{FF2B5EF4-FFF2-40B4-BE49-F238E27FC236}">
                <a16:creationId xmlns:a16="http://schemas.microsoft.com/office/drawing/2014/main" id="{DE44B708-D97C-438E-A44C-114EC4D0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オブジェクトの生成</a:t>
            </a:r>
          </a:p>
        </p:txBody>
      </p:sp>
      <p:sp>
        <p:nvSpPr>
          <p:cNvPr id="3" name="12">
            <a:extLst xmlns:a="http://schemas.openxmlformats.org/drawingml/2006/main">
              <a:ext uri="{FF2B5EF4-FFF2-40B4-BE49-F238E27FC236}">
                <a16:creationId xmlns:a16="http://schemas.microsoft.com/office/drawing/2014/main" id="{D624CE8A-993C-434C-894F-9C669D10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4" name="class Counter:">
            <a:extLst xmlns:a="http://schemas.openxmlformats.org/drawingml/2006/main">
              <a:ext uri="{FF2B5EF4-FFF2-40B4-BE49-F238E27FC236}">
                <a16:creationId xmlns:a16="http://schemas.microsoft.com/office/drawing/2014/main" id="{76AA4D44-C8A9-41BA-BF84-A34C7FB4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Counter:</a:t>
            </a:r>
          </a:p>
        </p:txBody>
      </p:sp>
      <p:sp>
        <p:nvSpPr>
          <p:cNvPr id="5" name="    def __init__(self):">
            <a:extLst xmlns:a="http://schemas.openxmlformats.org/drawingml/2006/main">
              <a:ext uri="{FF2B5EF4-FFF2-40B4-BE49-F238E27FC236}">
                <a16:creationId xmlns:a16="http://schemas.microsoft.com/office/drawing/2014/main" id="{F5730EEF-3C9A-4224-A1B6-A97EA07D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__init__(self):</a:t>
            </a:r>
          </a:p>
        </p:txBody>
      </p:sp>
      <p:sp>
        <p:nvSpPr>
          <p:cNvPr id="6" name="        self.value = 0">
            <a:extLst xmlns:a="http://schemas.openxmlformats.org/drawingml/2006/main">
              <a:ext uri="{FF2B5EF4-FFF2-40B4-BE49-F238E27FC236}">
                <a16:creationId xmlns:a16="http://schemas.microsoft.com/office/drawing/2014/main" id="{C4DB2B9D-5BB1-43EC-BF0C-421842D4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self.value = 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EF9F85-C4F1-4449-AA01-7C972443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    def add(self, amount):">
            <a:extLst xmlns:a="http://schemas.openxmlformats.org/drawingml/2006/main">
              <a:ext uri="{FF2B5EF4-FFF2-40B4-BE49-F238E27FC236}">
                <a16:creationId xmlns:a16="http://schemas.microsoft.com/office/drawing/2014/main" id="{2E75C16A-BFA0-4DC5-9590-49863574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add(self, amount):</a:t>
            </a:r>
          </a:p>
        </p:txBody>
      </p:sp>
      <p:sp>
        <p:nvSpPr>
          <p:cNvPr id="9" name="        self.value += amount">
            <a:extLst xmlns:a="http://schemas.openxmlformats.org/drawingml/2006/main">
              <a:ext uri="{FF2B5EF4-FFF2-40B4-BE49-F238E27FC236}">
                <a16:creationId xmlns:a16="http://schemas.microsoft.com/office/drawing/2014/main" id="{0FEF82E2-1284-4C20-A2FE-95E33E6A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self.value += amount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B848A4-5C7D-44F9-93D9-19DD882A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c = Counter()">
            <a:extLst xmlns:a="http://schemas.openxmlformats.org/drawingml/2006/main">
              <a:ext uri="{FF2B5EF4-FFF2-40B4-BE49-F238E27FC236}">
                <a16:creationId xmlns:a16="http://schemas.microsoft.com/office/drawing/2014/main" id="{78D066AF-6F45-44C1-A2DD-22BE8674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 = Counter()</a:t>
            </a:r>
          </a:p>
        </p:txBody>
      </p:sp>
      <p:sp>
        <p:nvSpPr>
          <p:cNvPr id="12" name="c.add(2)">
            <a:extLst xmlns:a="http://schemas.openxmlformats.org/drawingml/2006/main">
              <a:ext uri="{FF2B5EF4-FFF2-40B4-BE49-F238E27FC236}">
                <a16:creationId xmlns:a16="http://schemas.microsoft.com/office/drawing/2014/main" id="{FC371BA6-4E19-4544-8C55-787D5A72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c.add(2)</a:t>
            </a:r>
          </a:p>
        </p:txBody>
      </p:sp>
      <p:sp>
        <p:nvSpPr>
          <p:cNvPr id="13" name="Counter.add(c, 3)">
            <a:extLst xmlns:a="http://schemas.openxmlformats.org/drawingml/2006/main">
              <a:ext uri="{FF2B5EF4-FFF2-40B4-BE49-F238E27FC236}">
                <a16:creationId xmlns:a16="http://schemas.microsoft.com/office/drawing/2014/main" id="{C07B49B0-61F1-4072-B7E3-E165B205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Counter.add(c, 3)</a:t>
            </a:r>
          </a:p>
        </p:txBody>
      </p:sp>
      <p:sp>
        <p:nvSpPr>
          <p:cNvPr id="14" name="print(c.value)">
            <a:extLst xmlns:a="http://schemas.openxmlformats.org/drawingml/2006/main">
              <a:ext uri="{FF2B5EF4-FFF2-40B4-BE49-F238E27FC236}">
                <a16:creationId xmlns:a16="http://schemas.microsoft.com/office/drawing/2014/main" id="{7C81927C-CFF9-48BC-9B02-26821CB5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print(c.value)</a:t>
            </a:r>
          </a:p>
        </p:txBody>
      </p:sp>
      <p:sp>
        <p:nvSpPr>
          <p:cNvPr id="15" name="print(c.add.__self__ is c)">
            <a:extLst xmlns:a="http://schemas.openxmlformats.org/drawingml/2006/main">
              <a:ext uri="{FF2B5EF4-FFF2-40B4-BE49-F238E27FC236}">
                <a16:creationId xmlns:a16="http://schemas.microsoft.com/office/drawing/2014/main" id="{326CD91C-773B-42C0-B623-761424F2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print(c.add.__self__ is c)</a:t>
            </a:r>
          </a:p>
        </p:txBody>
      </p:sp>
      <p:sp>
        <p:nvSpPr>
          <p:cNvPr id="16" name="實體呼叫自動傳入 self">
            <a:extLst xmlns:a="http://schemas.openxmlformats.org/drawingml/2006/main">
              <a:ext uri="{FF2B5EF4-FFF2-40B4-BE49-F238E27FC236}">
                <a16:creationId xmlns:a16="http://schemas.microsoft.com/office/drawing/2014/main" id="{180313DD-7066-46CE-8E20-8573F20C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インスタンスを自動で渡す</a:t>
            </a:r>
          </a:p>
        </p:txBody>
      </p:sp>
      <p:sp>
        <p:nvSpPr>
          <p:cNvPr id="17" name="c.add(2) 將 c 當作 方法的第一個參數。">
            <a:extLst xmlns:a="http://schemas.openxmlformats.org/drawingml/2006/main">
              <a:ext uri="{FF2B5EF4-FFF2-40B4-BE49-F238E27FC236}">
                <a16:creationId xmlns:a16="http://schemas.microsoft.com/office/drawing/2014/main" id="{BA34D003-6D6D-488D-94D1-6DF70380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c.add(2) は c を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メソッドの第1引数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として渡す。</a:t>
            </a:r>
          </a:p>
        </p:txBody>
      </p:sp>
      <p:sp>
        <p:nvSpPr>
          <p:cNvPr id="18" name="self 是慣用參數名稱">
            <a:extLst xmlns:a="http://schemas.openxmlformats.org/drawingml/2006/main">
              <a:ext uri="{FF2B5EF4-FFF2-40B4-BE49-F238E27FC236}">
                <a16:creationId xmlns:a16="http://schemas.microsoft.com/office/drawing/2014/main" id="{ACAA1AA4-BF31-47D1-92AB-C3D489DD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self は慣用的な引数名</a:t>
            </a:r>
          </a:p>
        </p:txBody>
      </p:sp>
      <p:sp>
        <p:nvSpPr>
          <p:cNvPr id="19" name="它不是 Python 關鍵字。 統一命名可提高可讀性。">
            <a:extLst xmlns:a="http://schemas.openxmlformats.org/drawingml/2006/main">
              <a:ext uri="{FF2B5EF4-FFF2-40B4-BE49-F238E27FC236}">
                <a16:creationId xmlns:a16="http://schemas.microsoft.com/office/drawing/2014/main" id="{87DD43D9-99FC-4496-B1FC-C6CB968B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Python の予約語ではない。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名前を統一すると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読みやすくなる。</a:t>
            </a:r>
          </a:p>
        </p:txBody>
      </p:sp>
      <p:sp>
        <p:nvSpPr>
          <p:cNvPr id="20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5FD50965-7D91-4BE6-B97A-FE6136ED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21" name="5    True">
            <a:extLst xmlns:a="http://schemas.openxmlformats.org/drawingml/2006/main">
              <a:ext uri="{FF2B5EF4-FFF2-40B4-BE49-F238E27FC236}">
                <a16:creationId xmlns:a16="http://schemas.microsoft.com/office/drawing/2014/main" id="{3FEC0920-D047-4E47-87FE-A09B082F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5    True</a:t>
            </a:r>
          </a:p>
        </p:txBody>
      </p:sp>
    </p:spTree>
    <p:extLst>
      <p:ext uri="{BB962C8B-B14F-4D97-AF65-F5344CB8AC3E}">
        <p14:creationId xmlns:p14="http://schemas.microsoft.com/office/powerpoint/2010/main" val="347645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區域變數與 self 屬性">
            <a:extLst xmlns:a="http://schemas.openxmlformats.org/drawingml/2006/main">
              <a:ext uri="{FF2B5EF4-FFF2-40B4-BE49-F238E27FC236}">
                <a16:creationId xmlns:a16="http://schemas.microsoft.com/office/drawing/2014/main" id="{EFCF0D30-F083-410B-929E-CEAB77BD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ローカルな名前と self の属性</a:t>
            </a:r>
          </a:p>
        </p:txBody>
      </p:sp>
      <p:sp>
        <p:nvSpPr>
          <p:cNvPr id="2" name="實體資料">
            <a:extLst xmlns:a="http://schemas.openxmlformats.org/drawingml/2006/main">
              <a:ext uri="{FF2B5EF4-FFF2-40B4-BE49-F238E27FC236}">
                <a16:creationId xmlns:a16="http://schemas.microsoft.com/office/drawing/2014/main" id="{4672DA3B-801F-488D-9A88-539E9555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インスタンスのデータ</a:t>
            </a:r>
          </a:p>
        </p:txBody>
      </p:sp>
      <p:sp>
        <p:nvSpPr>
          <p:cNvPr id="3" name="13">
            <a:extLst xmlns:a="http://schemas.openxmlformats.org/drawingml/2006/main">
              <a:ext uri="{FF2B5EF4-FFF2-40B4-BE49-F238E27FC236}">
                <a16:creationId xmlns:a16="http://schemas.microsoft.com/office/drawing/2014/main" id="{B43935F6-2816-4E70-A1CE-F44061BF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4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7D43116D-976A-4644-AD34-B36D8B8D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5" name="    def __init__(self, name):">
            <a:extLst xmlns:a="http://schemas.openxmlformats.org/drawingml/2006/main">
              <a:ext uri="{FF2B5EF4-FFF2-40B4-BE49-F238E27FC236}">
                <a16:creationId xmlns:a16="http://schemas.microsoft.com/office/drawing/2014/main" id="{D40BAEE4-B620-4E8F-859D-C947987F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4429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def __init__(self, name):</a:t>
            </a:r>
          </a:p>
        </p:txBody>
      </p:sp>
      <p:sp>
        <p:nvSpPr>
          <p:cNvPr id="6" name="    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9EE96265-62D7-4121-B462-55A88BE9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783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self.name = name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E15EF5-BF20-4C92-91E2-9FD2FABD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87137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    def rename(self, name):">
            <a:extLst xmlns:a="http://schemas.openxmlformats.org/drawingml/2006/main">
              <a:ext uri="{FF2B5EF4-FFF2-40B4-BE49-F238E27FC236}">
                <a16:creationId xmlns:a16="http://schemas.microsoft.com/office/drawing/2014/main" id="{4B2508AE-9AE1-413B-9EE8-927AEC84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8490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def rename(self, name):</a:t>
            </a:r>
          </a:p>
        </p:txBody>
      </p:sp>
      <p:sp>
        <p:nvSpPr>
          <p:cNvPr id="9" name="        old_name = self.name">
            <a:extLst xmlns:a="http://schemas.openxmlformats.org/drawingml/2006/main">
              <a:ext uri="{FF2B5EF4-FFF2-40B4-BE49-F238E27FC236}">
                <a16:creationId xmlns:a16="http://schemas.microsoft.com/office/drawing/2014/main" id="{BE73E65A-B34A-4B91-B0FC-0B06D8B9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9844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old_name = self.name</a:t>
            </a:r>
          </a:p>
        </p:txBody>
      </p:sp>
      <p:sp>
        <p:nvSpPr>
          <p:cNvPr id="10" name="    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7A3281D9-3B6C-4205-AB36-E02C3DB7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1198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self.name = name</a:t>
            </a:r>
          </a:p>
        </p:txBody>
      </p:sp>
      <p:sp>
        <p:nvSpPr>
          <p:cNvPr id="11" name="        return old_name">
            <a:extLst xmlns:a="http://schemas.openxmlformats.org/drawingml/2006/main">
              <a:ext uri="{FF2B5EF4-FFF2-40B4-BE49-F238E27FC236}">
                <a16:creationId xmlns:a16="http://schemas.microsoft.com/office/drawing/2014/main" id="{C4B25016-7B77-439A-A478-C2A43FCB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2552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return old_name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053672-9E74-4268-988E-54FF034B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3906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amy = Student(&quot;Amy&quot;)">
            <a:extLst xmlns:a="http://schemas.openxmlformats.org/drawingml/2006/main">
              <a:ext uri="{FF2B5EF4-FFF2-40B4-BE49-F238E27FC236}">
                <a16:creationId xmlns:a16="http://schemas.microsoft.com/office/drawing/2014/main" id="{5FA8F045-7EC6-4187-BE7D-24DAF836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5260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amy = Student("Amy")</a:t>
            </a:r>
          </a:p>
        </p:txBody>
      </p:sp>
      <p:sp>
        <p:nvSpPr>
          <p:cNvPr id="14" name="print(amy.rename(&quot;Ann&quot;))">
            <a:extLst xmlns:a="http://schemas.openxmlformats.org/drawingml/2006/main">
              <a:ext uri="{FF2B5EF4-FFF2-40B4-BE49-F238E27FC236}">
                <a16:creationId xmlns:a16="http://schemas.microsoft.com/office/drawing/2014/main" id="{1794E2DD-BE7B-4F2B-B052-635BC515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6613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print(amy.rename("Ann"))</a:t>
            </a:r>
          </a:p>
        </p:txBody>
      </p:sp>
      <p:sp>
        <p:nvSpPr>
          <p:cNvPr id="15" name="print(amy.name)">
            <a:extLst xmlns:a="http://schemas.openxmlformats.org/drawingml/2006/main">
              <a:ext uri="{FF2B5EF4-FFF2-40B4-BE49-F238E27FC236}">
                <a16:creationId xmlns:a16="http://schemas.microsoft.com/office/drawing/2014/main" id="{242287DE-E4FB-43F9-85D9-0B1F59DF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7967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print(amy.name)</a:t>
            </a:r>
          </a:p>
        </p:txBody>
      </p:sp>
      <p:sp>
        <p:nvSpPr>
          <p:cNvPr id="16" name="print(hasattr(amy, &quot;old_name&quot;))">
            <a:extLst xmlns:a="http://schemas.openxmlformats.org/drawingml/2006/main">
              <a:ext uri="{FF2B5EF4-FFF2-40B4-BE49-F238E27FC236}">
                <a16:creationId xmlns:a16="http://schemas.microsoft.com/office/drawing/2014/main" id="{F002DC37-54FC-4B57-B23E-D3630EC5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9321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print(hasattr(amy, "old_name"))</a:t>
            </a:r>
          </a:p>
        </p:txBody>
      </p:sp>
      <p:sp>
        <p:nvSpPr>
          <p:cNvPr id="17" name="name 是呼叫的區域名稱">
            <a:extLst xmlns:a="http://schemas.openxmlformats.org/drawingml/2006/main">
              <a:ext uri="{FF2B5EF4-FFF2-40B4-BE49-F238E27FC236}">
                <a16:creationId xmlns:a16="http://schemas.microsoft.com/office/drawing/2014/main" id="{41228F2C-6CDB-4BB2-8F56-419FACF9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name は呼び出しの引数</a:t>
            </a:r>
          </a:p>
        </p:txBody>
      </p:sp>
      <p:sp>
        <p:nvSpPr>
          <p:cNvPr id="18" name="參數 name 與 self.name 位於不同的名稱空間。">
            <a:extLst xmlns:a="http://schemas.openxmlformats.org/drawingml/2006/main">
              <a:ext uri="{FF2B5EF4-FFF2-40B4-BE49-F238E27FC236}">
                <a16:creationId xmlns:a16="http://schemas.microsoft.com/office/drawing/2014/main" id="{FDA226C8-12CE-4D31-A40E-25C6D3BE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引数 name と self.name は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異なる名前空間に属する。</a:t>
            </a:r>
          </a:p>
        </p:txBody>
      </p:sp>
      <p:sp>
        <p:nvSpPr>
          <p:cNvPr id="19" name="self.name 保存實體狀態">
            <a:extLst xmlns:a="http://schemas.openxmlformats.org/drawingml/2006/main">
              <a:ext uri="{FF2B5EF4-FFF2-40B4-BE49-F238E27FC236}">
                <a16:creationId xmlns:a16="http://schemas.microsoft.com/office/drawing/2014/main" id="{CDE9D2AC-EE84-4452-A820-95C0E28F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self.name が状態を保持</a:t>
            </a:r>
          </a:p>
        </p:txBody>
      </p:sp>
      <p:sp>
        <p:nvSpPr>
          <p:cNvPr id="20" name="old_name 只是區域變數。 它不會自動成為物件屬性。">
            <a:extLst xmlns:a="http://schemas.openxmlformats.org/drawingml/2006/main">
              <a:ext uri="{FF2B5EF4-FFF2-40B4-BE49-F238E27FC236}">
                <a16:creationId xmlns:a16="http://schemas.microsoft.com/office/drawing/2014/main" id="{EB919345-3467-4EAC-8493-637D01CF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old_name はローカル変数。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自動的にオブジェクトの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属性にはならない。</a:t>
            </a:r>
          </a:p>
        </p:txBody>
      </p:sp>
      <p:sp>
        <p:nvSpPr>
          <p:cNvPr id="21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E51CE3C7-8523-4548-8AE0-19D9DC1A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22" name="Amy    Ann    False">
            <a:extLst xmlns:a="http://schemas.openxmlformats.org/drawingml/2006/main">
              <a:ext uri="{FF2B5EF4-FFF2-40B4-BE49-F238E27FC236}">
                <a16:creationId xmlns:a16="http://schemas.microsoft.com/office/drawing/2014/main" id="{AB68D1D4-C79A-450B-BA0D-34EDC07D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Amy    Ann    False</a:t>
            </a:r>
          </a:p>
        </p:txBody>
      </p:sp>
    </p:spTree>
    <p:extLst>
      <p:ext uri="{BB962C8B-B14F-4D97-AF65-F5344CB8AC3E}">
        <p14:creationId xmlns:p14="http://schemas.microsoft.com/office/powerpoint/2010/main" val="193442210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兩個實體，各自保存狀態">
            <a:extLst xmlns:a="http://schemas.openxmlformats.org/drawingml/2006/main">
              <a:ext uri="{FF2B5EF4-FFF2-40B4-BE49-F238E27FC236}">
                <a16:creationId xmlns:a16="http://schemas.microsoft.com/office/drawing/2014/main" id="{AC655911-9826-465F-9075-B491B36C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インスタンスごとに独立した状態</a:t>
            </a:r>
          </a:p>
        </p:txBody>
      </p:sp>
      <p:sp>
        <p:nvSpPr>
          <p:cNvPr id="2" name="實體資料">
            <a:extLst xmlns:a="http://schemas.openxmlformats.org/drawingml/2006/main">
              <a:ext uri="{FF2B5EF4-FFF2-40B4-BE49-F238E27FC236}">
                <a16:creationId xmlns:a16="http://schemas.microsoft.com/office/drawing/2014/main" id="{A40B83FD-2761-4D60-AE0E-C92680B5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インスタンスのデータ</a:t>
            </a:r>
          </a:p>
        </p:txBody>
      </p:sp>
      <p:sp>
        <p:nvSpPr>
          <p:cNvPr id="3" name="14">
            <a:extLst xmlns:a="http://schemas.openxmlformats.org/drawingml/2006/main">
              <a:ext uri="{FF2B5EF4-FFF2-40B4-BE49-F238E27FC236}">
                <a16:creationId xmlns:a16="http://schemas.microsoft.com/office/drawing/2014/main" id="{4F0FCDD7-CA8C-4E7C-ACCF-98CA4127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4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8BB3DDB9-1552-497E-825C-8C86874C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5" name="    def __init__(self, name):">
            <a:extLst xmlns:a="http://schemas.openxmlformats.org/drawingml/2006/main">
              <a:ext uri="{FF2B5EF4-FFF2-40B4-BE49-F238E27FC236}">
                <a16:creationId xmlns:a16="http://schemas.microsoft.com/office/drawing/2014/main" id="{12F0428D-4754-46E6-90F4-77425661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__init__(self, name):</a:t>
            </a:r>
          </a:p>
        </p:txBody>
      </p:sp>
      <p:sp>
        <p:nvSpPr>
          <p:cNvPr id="6" name="    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8BACC78D-F1E7-4B26-B23E-A55678C9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self.name = name</a:t>
            </a:r>
          </a:p>
        </p:txBody>
      </p:sp>
      <p:sp>
        <p:nvSpPr>
          <p:cNvPr id="7" name="        self.courses = []">
            <a:extLst xmlns:a="http://schemas.openxmlformats.org/drawingml/2006/main">
              <a:ext uri="{FF2B5EF4-FFF2-40B4-BE49-F238E27FC236}">
                <a16:creationId xmlns:a16="http://schemas.microsoft.com/office/drawing/2014/main" id="{B606BD5F-AC7B-4631-92BB-15F58895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self.courses = []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21CF90-D13E-45B7-9FF5-A40B1B12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amy = Student(&quot;Amy&quot;)">
            <a:extLst xmlns:a="http://schemas.openxmlformats.org/drawingml/2006/main">
              <a:ext uri="{FF2B5EF4-FFF2-40B4-BE49-F238E27FC236}">
                <a16:creationId xmlns:a16="http://schemas.microsoft.com/office/drawing/2014/main" id="{6577729F-85FA-4617-A02B-595C2238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amy = Student("Amy")</a:t>
            </a:r>
          </a:p>
        </p:txBody>
      </p:sp>
      <p:sp>
        <p:nvSpPr>
          <p:cNvPr id="10" name="bob = Student(&quot;Bob&quot;)">
            <a:extLst xmlns:a="http://schemas.openxmlformats.org/drawingml/2006/main">
              <a:ext uri="{FF2B5EF4-FFF2-40B4-BE49-F238E27FC236}">
                <a16:creationId xmlns:a16="http://schemas.microsoft.com/office/drawing/2014/main" id="{F2358275-B7B8-478D-99CC-7BC07F3D0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bob = Student("Bob")</a:t>
            </a:r>
          </a:p>
        </p:txBody>
      </p:sp>
      <p:sp>
        <p:nvSpPr>
          <p:cNvPr id="11" name="amy.courses.append(&quot;Python&quot;)">
            <a:extLst xmlns:a="http://schemas.openxmlformats.org/drawingml/2006/main">
              <a:ext uri="{FF2B5EF4-FFF2-40B4-BE49-F238E27FC236}">
                <a16:creationId xmlns:a16="http://schemas.microsoft.com/office/drawing/2014/main" id="{CB39B9D5-8834-4505-9A9B-0B129DE4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amy.courses.append("Python")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9A600A-07F3-4E11-9BA3-696602E3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print(amy.courses)">
            <a:extLst xmlns:a="http://schemas.openxmlformats.org/drawingml/2006/main">
              <a:ext uri="{FF2B5EF4-FFF2-40B4-BE49-F238E27FC236}">
                <a16:creationId xmlns:a16="http://schemas.microsoft.com/office/drawing/2014/main" id="{B4AA3E0E-8366-4E8E-892C-007BD7A7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print(amy.courses)</a:t>
            </a:r>
          </a:p>
        </p:txBody>
      </p:sp>
      <p:sp>
        <p:nvSpPr>
          <p:cNvPr id="14" name="print(bob.courses)">
            <a:extLst xmlns:a="http://schemas.openxmlformats.org/drawingml/2006/main">
              <a:ext uri="{FF2B5EF4-FFF2-40B4-BE49-F238E27FC236}">
                <a16:creationId xmlns:a16="http://schemas.microsoft.com/office/drawing/2014/main" id="{2EEFB410-7C58-4B56-8175-AC738E37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print(bob.courses)</a:t>
            </a:r>
          </a:p>
        </p:txBody>
      </p:sp>
      <p:sp>
        <p:nvSpPr>
          <p:cNvPr id="15" name="print(amy.courses is bob.courses)">
            <a:extLst xmlns:a="http://schemas.openxmlformats.org/drawingml/2006/main">
              <a:ext uri="{FF2B5EF4-FFF2-40B4-BE49-F238E27FC236}">
                <a16:creationId xmlns:a16="http://schemas.microsoft.com/office/drawing/2014/main" id="{D81AB0E7-EFEC-426A-9CD3-C072F671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print(amy.courses is bob.courses)</a:t>
            </a:r>
          </a:p>
        </p:txBody>
      </p:sp>
      <p:sp>
        <p:nvSpPr>
          <p:cNvPr id="16" name="每次初始化建立新 list">
            <a:extLst xmlns:a="http://schemas.openxmlformats.org/drawingml/2006/main">
              <a:ext uri="{FF2B5EF4-FFF2-40B4-BE49-F238E27FC236}">
                <a16:creationId xmlns:a16="http://schemas.microsoft.com/office/drawing/2014/main" id="{983F395B-5244-4C0F-8FCB-25FB1784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初期化のたびに新しい list</a:t>
            </a:r>
          </a:p>
        </p:txBody>
      </p:sp>
      <p:sp>
        <p:nvSpPr>
          <p:cNvPr id="17" name="[] 在每次呼叫 __init__ 時分別執行。">
            <a:extLst xmlns:a="http://schemas.openxmlformats.org/drawingml/2006/main">
              <a:ext uri="{FF2B5EF4-FFF2-40B4-BE49-F238E27FC236}">
                <a16:creationId xmlns:a16="http://schemas.microsoft.com/office/drawing/2014/main" id="{162A2CE6-FECF-4236-BACA-F074C0A6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__init__ の呼び出しごとに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[] を別々に評価する。</a:t>
            </a:r>
          </a:p>
        </p:txBody>
      </p:sp>
      <p:sp>
        <p:nvSpPr>
          <p:cNvPr id="18" name="狀態互不影響">
            <a:extLst xmlns:a="http://schemas.openxmlformats.org/drawingml/2006/main">
              <a:ext uri="{FF2B5EF4-FFF2-40B4-BE49-F238E27FC236}">
                <a16:creationId xmlns:a16="http://schemas.microsoft.com/office/drawing/2014/main" id="{D79F5CFD-A3F7-4768-9337-6BDFA5BD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互いに独立した状態</a:t>
            </a:r>
          </a:p>
        </p:txBody>
      </p:sp>
      <p:sp>
        <p:nvSpPr>
          <p:cNvPr id="19" name="修改 Amy 的 courses， 不會修改 Bob 的 courses。">
            <a:extLst xmlns:a="http://schemas.openxmlformats.org/drawingml/2006/main">
              <a:ext uri="{FF2B5EF4-FFF2-40B4-BE49-F238E27FC236}">
                <a16:creationId xmlns:a16="http://schemas.microsoft.com/office/drawing/2014/main" id="{34B581E6-B42F-49DD-902B-50222BD9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Amy の courses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を変更しても、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Bob の courses は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変更されない。</a:t>
            </a:r>
          </a:p>
        </p:txBody>
      </p:sp>
      <p:sp>
        <p:nvSpPr>
          <p:cNvPr id="20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B9CA895B-954A-4F53-A1C4-60B1A08C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21" name="['Python']    []    False">
            <a:extLst xmlns:a="http://schemas.openxmlformats.org/drawingml/2006/main">
              <a:ext uri="{FF2B5EF4-FFF2-40B4-BE49-F238E27FC236}">
                <a16:creationId xmlns:a16="http://schemas.microsoft.com/office/drawing/2014/main" id="{9B278AE4-30D1-4DEB-9348-07533CB2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['Python']    []    False</a:t>
            </a:r>
          </a:p>
        </p:txBody>
      </p:sp>
    </p:spTree>
    <p:extLst>
      <p:ext uri="{BB962C8B-B14F-4D97-AF65-F5344CB8AC3E}">
        <p14:creationId xmlns:p14="http://schemas.microsoft.com/office/powerpoint/2010/main" val="53133871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相同狀態與相同身分">
            <a:extLst xmlns:a="http://schemas.openxmlformats.org/drawingml/2006/main">
              <a:ext uri="{FF2B5EF4-FFF2-40B4-BE49-F238E27FC236}">
                <a16:creationId xmlns:a16="http://schemas.microsoft.com/office/drawing/2014/main" id="{5183275D-9D3B-48DC-9802-3DA6D275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状態の等しさとオブジェクトの同一性</a:t>
            </a:r>
          </a:p>
        </p:txBody>
      </p:sp>
      <p:sp>
        <p:nvSpPr>
          <p:cNvPr id="2" name="實體資料">
            <a:extLst xmlns:a="http://schemas.openxmlformats.org/drawingml/2006/main">
              <a:ext uri="{FF2B5EF4-FFF2-40B4-BE49-F238E27FC236}">
                <a16:creationId xmlns:a16="http://schemas.microsoft.com/office/drawing/2014/main" id="{227B0BBB-E822-4BC7-B7C1-68952195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インスタンスのデータ</a:t>
            </a:r>
          </a:p>
        </p:txBody>
      </p:sp>
      <p:sp>
        <p:nvSpPr>
          <p:cNvPr id="3" name="15">
            <a:extLst xmlns:a="http://schemas.openxmlformats.org/drawingml/2006/main">
              <a:ext uri="{FF2B5EF4-FFF2-40B4-BE49-F238E27FC236}">
                <a16:creationId xmlns:a16="http://schemas.microsoft.com/office/drawing/2014/main" id="{C2592F5D-C8D8-4BC0-82AC-B2920E06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4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08186F85-1CBC-4845-9E36-9D0498D4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5" name="    def __init__(self, name):">
            <a:extLst xmlns:a="http://schemas.openxmlformats.org/drawingml/2006/main">
              <a:ext uri="{FF2B5EF4-FFF2-40B4-BE49-F238E27FC236}">
                <a16:creationId xmlns:a16="http://schemas.microsoft.com/office/drawing/2014/main" id="{5FFFCD9A-CA60-47D6-A9B1-91946C04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__init__(self, name):</a:t>
            </a:r>
          </a:p>
        </p:txBody>
      </p:sp>
      <p:sp>
        <p:nvSpPr>
          <p:cNvPr id="6" name="    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D333FDB8-7750-48B8-81E3-335C467E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self.name = name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9F0CB5-C538-41B1-89B1-6640DBA9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a = Student(&quot;Amy&quot;)">
            <a:extLst xmlns:a="http://schemas.openxmlformats.org/drawingml/2006/main">
              <a:ext uri="{FF2B5EF4-FFF2-40B4-BE49-F238E27FC236}">
                <a16:creationId xmlns:a16="http://schemas.microsoft.com/office/drawing/2014/main" id="{A2B1B1D1-E30B-44B6-B7BD-4F2A0700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 = Student("Amy")</a:t>
            </a:r>
          </a:p>
        </p:txBody>
      </p:sp>
      <p:sp>
        <p:nvSpPr>
          <p:cNvPr id="9" name="b = Student(&quot;Amy&quot;)">
            <a:extLst xmlns:a="http://schemas.openxmlformats.org/drawingml/2006/main">
              <a:ext uri="{FF2B5EF4-FFF2-40B4-BE49-F238E27FC236}">
                <a16:creationId xmlns:a16="http://schemas.microsoft.com/office/drawing/2014/main" id="{A381026E-FF47-4B2A-85A9-3EA67612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b = Student("Amy")</a:t>
            </a:r>
          </a:p>
        </p:txBody>
      </p:sp>
      <p:sp>
        <p:nvSpPr>
          <p:cNvPr id="10" name="alias = a">
            <a:extLst xmlns:a="http://schemas.openxmlformats.org/drawingml/2006/main">
              <a:ext uri="{FF2B5EF4-FFF2-40B4-BE49-F238E27FC236}">
                <a16:creationId xmlns:a16="http://schemas.microsoft.com/office/drawing/2014/main" id="{5A6C0AA5-0007-4144-9339-2E5BE3BF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alias = 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E60964-4C6C-4966-8A3B-03D8532B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print(a.name == b.name)">
            <a:extLst xmlns:a="http://schemas.openxmlformats.org/drawingml/2006/main">
              <a:ext uri="{FF2B5EF4-FFF2-40B4-BE49-F238E27FC236}">
                <a16:creationId xmlns:a16="http://schemas.microsoft.com/office/drawing/2014/main" id="{2FD19A41-7ADC-4784-A7C2-4B637D58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print(a.name == b.name)</a:t>
            </a:r>
          </a:p>
        </p:txBody>
      </p:sp>
      <p:sp>
        <p:nvSpPr>
          <p:cNvPr id="13" name="print(a is b)">
            <a:extLst xmlns:a="http://schemas.openxmlformats.org/drawingml/2006/main">
              <a:ext uri="{FF2B5EF4-FFF2-40B4-BE49-F238E27FC236}">
                <a16:creationId xmlns:a16="http://schemas.microsoft.com/office/drawing/2014/main" id="{E511356C-72F4-4C81-ABB7-6634C793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 is b)</a:t>
            </a:r>
          </a:p>
        </p:txBody>
      </p:sp>
      <p:sp>
        <p:nvSpPr>
          <p:cNvPr id="14" name="print(a == b)">
            <a:extLst xmlns:a="http://schemas.openxmlformats.org/drawingml/2006/main">
              <a:ext uri="{FF2B5EF4-FFF2-40B4-BE49-F238E27FC236}">
                <a16:creationId xmlns:a16="http://schemas.microsoft.com/office/drawing/2014/main" id="{D293BB78-D26A-42A9-BB97-2663615A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 == b)</a:t>
            </a:r>
          </a:p>
        </p:txBody>
      </p:sp>
      <p:sp>
        <p:nvSpPr>
          <p:cNvPr id="15" name="print(alias is a)">
            <a:extLst xmlns:a="http://schemas.openxmlformats.org/drawingml/2006/main">
              <a:ext uri="{FF2B5EF4-FFF2-40B4-BE49-F238E27FC236}">
                <a16:creationId xmlns:a16="http://schemas.microsoft.com/office/drawing/2014/main" id="{EC692211-7832-41AD-80B3-BE2E8A1E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print(alias is a)</a:t>
            </a:r>
          </a:p>
        </p:txBody>
      </p:sp>
      <p:sp>
        <p:nvSpPr>
          <p:cNvPr id="16" name="姓名相同，實體不同">
            <a:extLst xmlns:a="http://schemas.openxmlformats.org/drawingml/2006/main">
              <a:ext uri="{FF2B5EF4-FFF2-40B4-BE49-F238E27FC236}">
                <a16:creationId xmlns:a16="http://schemas.microsoft.com/office/drawing/2014/main" id="{12BAAE95-2BAC-4774-864F-374D9695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氏名が同じでも別の実体</a:t>
            </a:r>
          </a:p>
        </p:txBody>
      </p:sp>
      <p:sp>
        <p:nvSpPr>
          <p:cNvPr id="17" name="a 與 b 各自建立。 alias = a 不會複製物件。">
            <a:extLst xmlns:a="http://schemas.openxmlformats.org/drawingml/2006/main">
              <a:ext uri="{FF2B5EF4-FFF2-40B4-BE49-F238E27FC236}">
                <a16:creationId xmlns:a16="http://schemas.microsoft.com/office/drawing/2014/main" id="{3F5518D7-F3FD-49BB-889B-4E0D3F0E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a と b は別々に生成。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alias = a は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コピーを作らない。</a:t>
            </a:r>
          </a:p>
        </p:txBody>
      </p:sp>
      <p:sp>
        <p:nvSpPr>
          <p:cNvPr id="18" name="== 由型別規則決定">
            <a:extLst xmlns:a="http://schemas.openxmlformats.org/drawingml/2006/main">
              <a:ext uri="{FF2B5EF4-FFF2-40B4-BE49-F238E27FC236}">
                <a16:creationId xmlns:a16="http://schemas.microsoft.com/office/drawing/2014/main" id="{A63D5F3C-470D-4666-8A32-CD929D58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== は型の規則に従う</a:t>
            </a:r>
          </a:p>
        </p:txBody>
      </p:sp>
      <p:sp>
        <p:nvSpPr>
          <p:cNvPr id="19" name="本例未自訂 __eq__。 不同實體不會因欄位相同而相等。">
            <a:extLst xmlns:a="http://schemas.openxmlformats.org/drawingml/2006/main">
              <a:ext uri="{FF2B5EF4-FFF2-40B4-BE49-F238E27FC236}">
                <a16:creationId xmlns:a16="http://schemas.microsoft.com/office/drawing/2014/main" id="{AA6BAAFC-4A9E-4561-A208-1580B0A3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この例は __eq__ を未定義。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属性が等しくても、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別インスタンスは等しくない。</a:t>
            </a:r>
          </a:p>
        </p:txBody>
      </p:sp>
      <p:sp>
        <p:nvSpPr>
          <p:cNvPr id="20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B3E3FF79-201F-4757-8CAE-51434D04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21" name="True    False    False    True">
            <a:extLst xmlns:a="http://schemas.openxmlformats.org/drawingml/2006/main">
              <a:ext uri="{FF2B5EF4-FFF2-40B4-BE49-F238E27FC236}">
                <a16:creationId xmlns:a16="http://schemas.microsoft.com/office/drawing/2014/main" id="{8238EFC4-C06D-46BD-97F2-F0AEE635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True    False    False    True</a:t>
            </a:r>
          </a:p>
        </p:txBody>
      </p:sp>
    </p:spTree>
    <p:extLst>
      <p:ext uri="{BB962C8B-B14F-4D97-AF65-F5344CB8AC3E}">
        <p14:creationId xmlns:p14="http://schemas.microsoft.com/office/powerpoint/2010/main" val="93158315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共用參照與重新綁定">
            <a:extLst xmlns:a="http://schemas.openxmlformats.org/drawingml/2006/main">
              <a:ext uri="{FF2B5EF4-FFF2-40B4-BE49-F238E27FC236}">
                <a16:creationId xmlns:a16="http://schemas.microsoft.com/office/drawing/2014/main" id="{31CAF0E5-19D5-45D4-B3C0-34314471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参照の共有と再束縛</a:t>
            </a:r>
          </a:p>
        </p:txBody>
      </p:sp>
      <p:sp>
        <p:nvSpPr>
          <p:cNvPr id="2" name="實體資料">
            <a:extLst xmlns:a="http://schemas.openxmlformats.org/drawingml/2006/main">
              <a:ext uri="{FF2B5EF4-FFF2-40B4-BE49-F238E27FC236}">
                <a16:creationId xmlns:a16="http://schemas.microsoft.com/office/drawing/2014/main" id="{36B3117D-B943-45D2-A4C3-EBAEA68A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インスタンスのデータ</a:t>
            </a:r>
          </a:p>
        </p:txBody>
      </p:sp>
      <p:sp>
        <p:nvSpPr>
          <p:cNvPr id="3" name="16">
            <a:extLst xmlns:a="http://schemas.openxmlformats.org/drawingml/2006/main">
              <a:ext uri="{FF2B5EF4-FFF2-40B4-BE49-F238E27FC236}">
                <a16:creationId xmlns:a16="http://schemas.microsoft.com/office/drawing/2014/main" id="{7D1A095B-36A2-4488-ACB4-108F8CB6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4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378868DB-4AFB-4403-8B50-3A6722FF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5" name="    def __init__(self, name):">
            <a:extLst xmlns:a="http://schemas.openxmlformats.org/drawingml/2006/main">
              <a:ext uri="{FF2B5EF4-FFF2-40B4-BE49-F238E27FC236}">
                <a16:creationId xmlns:a16="http://schemas.microsoft.com/office/drawing/2014/main" id="{221E7CEF-CA72-4EB6-BE47-E760A1AE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__init__(self, name):</a:t>
            </a:r>
          </a:p>
        </p:txBody>
      </p:sp>
      <p:sp>
        <p:nvSpPr>
          <p:cNvPr id="6" name="    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0169B156-A994-4583-B93F-1C0DBBA5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self.name = name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6136B7-64D4-49E7-A55B-F61D70D9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a = Student(&quot;Amy&quot;)">
            <a:extLst xmlns:a="http://schemas.openxmlformats.org/drawingml/2006/main">
              <a:ext uri="{FF2B5EF4-FFF2-40B4-BE49-F238E27FC236}">
                <a16:creationId xmlns:a16="http://schemas.microsoft.com/office/drawing/2014/main" id="{25B3F7D5-11BD-43E3-BD0F-1ABC6304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 = Student("Amy")</a:t>
            </a:r>
          </a:p>
        </p:txBody>
      </p:sp>
      <p:sp>
        <p:nvSpPr>
          <p:cNvPr id="9" name="b = a">
            <a:extLst xmlns:a="http://schemas.openxmlformats.org/drawingml/2006/main">
              <a:ext uri="{FF2B5EF4-FFF2-40B4-BE49-F238E27FC236}">
                <a16:creationId xmlns:a16="http://schemas.microsoft.com/office/drawing/2014/main" id="{5CA6D8B7-CC3E-4A6E-8131-D6D7BD62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b = a</a:t>
            </a:r>
          </a:p>
        </p:txBody>
      </p:sp>
      <p:sp>
        <p:nvSpPr>
          <p:cNvPr id="10" name="b.name = &quot;Ann&quot;">
            <a:extLst xmlns:a="http://schemas.openxmlformats.org/drawingml/2006/main">
              <a:ext uri="{FF2B5EF4-FFF2-40B4-BE49-F238E27FC236}">
                <a16:creationId xmlns:a16="http://schemas.microsoft.com/office/drawing/2014/main" id="{ED52167E-D997-4A80-88E5-3AD0D001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b.name = "Ann"</a:t>
            </a:r>
          </a:p>
        </p:txBody>
      </p:sp>
      <p:sp>
        <p:nvSpPr>
          <p:cNvPr id="11" name="print(a.name)">
            <a:extLst xmlns:a="http://schemas.openxmlformats.org/drawingml/2006/main">
              <a:ext uri="{FF2B5EF4-FFF2-40B4-BE49-F238E27FC236}">
                <a16:creationId xmlns:a16="http://schemas.microsoft.com/office/drawing/2014/main" id="{18A119A1-1FBE-40ED-919D-11F8E648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print(a.name)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861785-8ADA-42D1-B4AB-591755E0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b = Student(&quot;Bob&quot;)">
            <a:extLst xmlns:a="http://schemas.openxmlformats.org/drawingml/2006/main">
              <a:ext uri="{FF2B5EF4-FFF2-40B4-BE49-F238E27FC236}">
                <a16:creationId xmlns:a16="http://schemas.microsoft.com/office/drawing/2014/main" id="{5C7C38E9-7680-492D-900F-0BE9C565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b = Student("Bob")</a:t>
            </a:r>
          </a:p>
        </p:txBody>
      </p:sp>
      <p:sp>
        <p:nvSpPr>
          <p:cNvPr id="14" name="print(a.name, b.name)">
            <a:extLst xmlns:a="http://schemas.openxmlformats.org/drawingml/2006/main">
              <a:ext uri="{FF2B5EF4-FFF2-40B4-BE49-F238E27FC236}">
                <a16:creationId xmlns:a16="http://schemas.microsoft.com/office/drawing/2014/main" id="{80C122F3-710A-45EC-B896-AFEFEC11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print(a.name, b.name)</a:t>
            </a:r>
          </a:p>
        </p:txBody>
      </p:sp>
      <p:sp>
        <p:nvSpPr>
          <p:cNvPr id="15" name="print(a is b)">
            <a:extLst xmlns:a="http://schemas.openxmlformats.org/drawingml/2006/main">
              <a:ext uri="{FF2B5EF4-FFF2-40B4-BE49-F238E27FC236}">
                <a16:creationId xmlns:a16="http://schemas.microsoft.com/office/drawing/2014/main" id="{62051142-B51A-41B0-8799-D37271FB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 is b)</a:t>
            </a:r>
          </a:p>
        </p:txBody>
      </p:sp>
      <p:sp>
        <p:nvSpPr>
          <p:cNvPr id="16" name="修改共用物件">
            <a:extLst xmlns:a="http://schemas.openxmlformats.org/drawingml/2006/main">
              <a:ext uri="{FF2B5EF4-FFF2-40B4-BE49-F238E27FC236}">
                <a16:creationId xmlns:a16="http://schemas.microsoft.com/office/drawing/2014/main" id="{19B80055-3A5A-47FE-9C9F-13FF2B4A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共有するオブジェクトを変更</a:t>
            </a:r>
          </a:p>
        </p:txBody>
      </p:sp>
      <p:sp>
        <p:nvSpPr>
          <p:cNvPr id="17" name="b.name = &quot;Ann&quot; 修改 a 與 b 共同參照的實體。">
            <a:extLst xmlns:a="http://schemas.openxmlformats.org/drawingml/2006/main">
              <a:ext uri="{FF2B5EF4-FFF2-40B4-BE49-F238E27FC236}">
                <a16:creationId xmlns:a16="http://schemas.microsoft.com/office/drawing/2014/main" id="{C04BBB21-C3C2-4777-9AAD-EE7AF6BE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b.name = "Ann" は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a と b が共有する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インスタンスを変更。</a:t>
            </a:r>
          </a:p>
        </p:txBody>
      </p:sp>
      <p:sp>
        <p:nvSpPr>
          <p:cNvPr id="18" name="指定新物件給 b">
            <a:extLst xmlns:a="http://schemas.openxmlformats.org/drawingml/2006/main">
              <a:ext uri="{FF2B5EF4-FFF2-40B4-BE49-F238E27FC236}">
                <a16:creationId xmlns:a16="http://schemas.microsoft.com/office/drawing/2014/main" id="{BADE6BE4-BA13-42F5-BD5A-5CE78500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b の参照先を変更</a:t>
            </a:r>
          </a:p>
        </p:txBody>
      </p:sp>
      <p:sp>
        <p:nvSpPr>
          <p:cNvPr id="19" name="重新綁定 b 不會改變 a。 兩個名稱此時指向不同物件。">
            <a:extLst xmlns:a="http://schemas.openxmlformats.org/drawingml/2006/main">
              <a:ext uri="{FF2B5EF4-FFF2-40B4-BE49-F238E27FC236}">
                <a16:creationId xmlns:a16="http://schemas.microsoft.com/office/drawing/2014/main" id="{64FE0D4D-FD94-45E8-8359-2C6214F7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b の再束縛は a を変えない。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各名前が別の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オブジェクトを参照する。</a:t>
            </a:r>
          </a:p>
        </p:txBody>
      </p:sp>
      <p:sp>
        <p:nvSpPr>
          <p:cNvPr id="20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D959AD1D-BAB2-4C04-923E-CEE70C06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21" name="Ann    Ann Bob    False">
            <a:extLst xmlns:a="http://schemas.openxmlformats.org/drawingml/2006/main">
              <a:ext uri="{FF2B5EF4-FFF2-40B4-BE49-F238E27FC236}">
                <a16:creationId xmlns:a16="http://schemas.microsoft.com/office/drawing/2014/main" id="{62538F0A-19B0-41D4-8142-A4B373CD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Ann    Ann Bob    False</a:t>
            </a:r>
          </a:p>
        </p:txBody>
      </p:sp>
    </p:spTree>
    <p:extLst>
      <p:ext uri="{BB962C8B-B14F-4D97-AF65-F5344CB8AC3E}">
        <p14:creationId xmlns:p14="http://schemas.microsoft.com/office/powerpoint/2010/main" val="145998221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觀察實體的 __dict__">
            <a:extLst xmlns:a="http://schemas.openxmlformats.org/drawingml/2006/main">
              <a:ext uri="{FF2B5EF4-FFF2-40B4-BE49-F238E27FC236}">
                <a16:creationId xmlns:a16="http://schemas.microsoft.com/office/drawing/2014/main" id="{49F4EEA3-CF7B-47D3-B4EF-34E07415F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インスタンスの __dict__ を調べる</a:t>
            </a:r>
          </a:p>
        </p:txBody>
      </p:sp>
      <p:sp>
        <p:nvSpPr>
          <p:cNvPr id="2" name="實體資料">
            <a:extLst xmlns:a="http://schemas.openxmlformats.org/drawingml/2006/main">
              <a:ext uri="{FF2B5EF4-FFF2-40B4-BE49-F238E27FC236}">
                <a16:creationId xmlns:a16="http://schemas.microsoft.com/office/drawing/2014/main" id="{E4A0EAF7-148B-46E7-BCC1-0C7013E8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インスタンスのデータ</a:t>
            </a:r>
          </a:p>
        </p:txBody>
      </p:sp>
      <p:sp>
        <p:nvSpPr>
          <p:cNvPr id="3" name="17">
            <a:extLst xmlns:a="http://schemas.openxmlformats.org/drawingml/2006/main">
              <a:ext uri="{FF2B5EF4-FFF2-40B4-BE49-F238E27FC236}">
                <a16:creationId xmlns:a16="http://schemas.microsoft.com/office/drawing/2014/main" id="{2E7BD150-C42D-4698-95B0-391F4EA0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4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0639CB90-CAA4-4217-B265-EE19945F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5" name="    school = &quot;YunTech&quot;">
            <a:extLst xmlns:a="http://schemas.openxmlformats.org/drawingml/2006/main">
              <a:ext uri="{FF2B5EF4-FFF2-40B4-BE49-F238E27FC236}">
                <a16:creationId xmlns:a16="http://schemas.microsoft.com/office/drawing/2014/main" id="{89217AFF-E998-4E0E-990B-DC1DB581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school = "YunTech"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8AD8A2-782C-4E22-BA3A-64B076E1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    def __init__(self, name):">
            <a:extLst xmlns:a="http://schemas.openxmlformats.org/drawingml/2006/main">
              <a:ext uri="{FF2B5EF4-FFF2-40B4-BE49-F238E27FC236}">
                <a16:creationId xmlns:a16="http://schemas.microsoft.com/office/drawing/2014/main" id="{73DC9A7F-76AE-42C7-A621-8339C794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def __init__(self, name):</a:t>
            </a:r>
          </a:p>
        </p:txBody>
      </p:sp>
      <p:sp>
        <p:nvSpPr>
          <p:cNvPr id="8" name="    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7D2D3A14-0DD3-4650-BB02-A5E4CAB4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self.name = name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ECDB92-60C8-4E71-A747-91F5F06B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amy = Student(&quot;Amy&quot;)">
            <a:extLst xmlns:a="http://schemas.openxmlformats.org/drawingml/2006/main">
              <a:ext uri="{FF2B5EF4-FFF2-40B4-BE49-F238E27FC236}">
                <a16:creationId xmlns:a16="http://schemas.microsoft.com/office/drawing/2014/main" id="{90629C69-477F-4E59-A987-4A1D59D8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amy = Student("Amy")</a:t>
            </a:r>
          </a:p>
        </p:txBody>
      </p:sp>
      <p:sp>
        <p:nvSpPr>
          <p:cNvPr id="11" name="print(vars(amy))">
            <a:extLst xmlns:a="http://schemas.openxmlformats.org/drawingml/2006/main">
              <a:ext uri="{FF2B5EF4-FFF2-40B4-BE49-F238E27FC236}">
                <a16:creationId xmlns:a16="http://schemas.microsoft.com/office/drawing/2014/main" id="{C3CA8AFA-F173-47DE-9A12-61642F5F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print(vars(amy))</a:t>
            </a:r>
          </a:p>
        </p:txBody>
      </p:sp>
      <p:sp>
        <p:nvSpPr>
          <p:cNvPr id="12" name="print(&quot;school&quot; in vars(amy))">
            <a:extLst xmlns:a="http://schemas.openxmlformats.org/drawingml/2006/main">
              <a:ext uri="{FF2B5EF4-FFF2-40B4-BE49-F238E27FC236}">
                <a16:creationId xmlns:a16="http://schemas.microsoft.com/office/drawing/2014/main" id="{E9B103F9-C11D-49A0-9559-93380151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print("school" in vars(amy))</a:t>
            </a:r>
          </a:p>
        </p:txBody>
      </p:sp>
      <p:sp>
        <p:nvSpPr>
          <p:cNvPr id="13" name="print(&quot;school&quot; in vars(Student))">
            <a:extLst xmlns:a="http://schemas.openxmlformats.org/drawingml/2006/main">
              <a:ext uri="{FF2B5EF4-FFF2-40B4-BE49-F238E27FC236}">
                <a16:creationId xmlns:a16="http://schemas.microsoft.com/office/drawing/2014/main" id="{2DF88FB2-99F8-4C29-B601-F1200A14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print("school" in vars(Student))</a:t>
            </a:r>
          </a:p>
        </p:txBody>
      </p:sp>
      <p:sp>
        <p:nvSpPr>
          <p:cNvPr id="14" name="print(amy.school)">
            <a:extLst xmlns:a="http://schemas.openxmlformats.org/drawingml/2006/main">
              <a:ext uri="{FF2B5EF4-FFF2-40B4-BE49-F238E27FC236}">
                <a16:creationId xmlns:a16="http://schemas.microsoft.com/office/drawing/2014/main" id="{360DC138-3F58-468A-950F-74673491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print(amy.school)</a:t>
            </a:r>
          </a:p>
        </p:txBody>
      </p:sp>
      <p:sp>
        <p:nvSpPr>
          <p:cNvPr id="15" name="vars 顯示名稱與值">
            <a:extLst xmlns:a="http://schemas.openxmlformats.org/drawingml/2006/main">
              <a:ext uri="{FF2B5EF4-FFF2-40B4-BE49-F238E27FC236}">
                <a16:creationId xmlns:a16="http://schemas.microsoft.com/office/drawing/2014/main" id="{6F839C68-7445-41C6-8A74-68ED1514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vars は名前と値を示す</a:t>
            </a:r>
          </a:p>
        </p:txBody>
      </p:sp>
      <p:sp>
        <p:nvSpPr>
          <p:cNvPr id="16" name="本例的 vars(amy) 對應 amy.__dict__。">
            <a:extLst xmlns:a="http://schemas.openxmlformats.org/drawingml/2006/main">
              <a:ext uri="{FF2B5EF4-FFF2-40B4-BE49-F238E27FC236}">
                <a16:creationId xmlns:a16="http://schemas.microsoft.com/office/drawing/2014/main" id="{1AAD5039-0A66-4450-AA3F-600CAB17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この例の vars(amy) は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amy.__dict__ を返す。</a:t>
            </a:r>
          </a:p>
        </p:txBody>
      </p:sp>
      <p:sp>
        <p:nvSpPr>
          <p:cNvPr id="17" name="屬性可來自類別">
            <a:extLst xmlns:a="http://schemas.openxmlformats.org/drawingml/2006/main">
              <a:ext uri="{FF2B5EF4-FFF2-40B4-BE49-F238E27FC236}">
                <a16:creationId xmlns:a16="http://schemas.microsoft.com/office/drawing/2014/main" id="{D2FE631F-CDC3-4380-895A-A166A93B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属性はクラスからも取得</a:t>
            </a:r>
          </a:p>
        </p:txBody>
      </p:sp>
      <p:sp>
        <p:nvSpPr>
          <p:cNvPr id="18" name="school 不在實體字典中， 仍可透過 amy.school 讀取。">
            <a:extLst xmlns:a="http://schemas.openxmlformats.org/drawingml/2006/main">
              <a:ext uri="{FF2B5EF4-FFF2-40B4-BE49-F238E27FC236}">
                <a16:creationId xmlns:a16="http://schemas.microsoft.com/office/drawing/2014/main" id="{19A7747B-7A70-4A72-9964-0564DF82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school は実体の辞書にない。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それでも amy.school で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読み取れる。</a:t>
            </a:r>
          </a:p>
        </p:txBody>
      </p:sp>
      <p:sp>
        <p:nvSpPr>
          <p:cNvPr id="19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BBD14249-E54D-421D-821E-2CC6A9AF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20" name="{'name': 'Amy'}    False    True    YunTech">
            <a:extLst xmlns:a="http://schemas.openxmlformats.org/drawingml/2006/main">
              <a:ext uri="{FF2B5EF4-FFF2-40B4-BE49-F238E27FC236}">
                <a16:creationId xmlns:a16="http://schemas.microsoft.com/office/drawing/2014/main" id="{71944A82-D690-4A1E-8C79-7FC35EBA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{'name': 'Amy'}    False    True    YunTech</a:t>
            </a:r>
          </a:p>
        </p:txBody>
      </p:sp>
    </p:spTree>
    <p:extLst>
      <p:ext uri="{BB962C8B-B14F-4D97-AF65-F5344CB8AC3E}">
        <p14:creationId xmlns:p14="http://schemas.microsoft.com/office/powerpoint/2010/main" val="137190237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一般資料屬性的查找與指定">
            <a:extLst xmlns:a="http://schemas.openxmlformats.org/drawingml/2006/main">
              <a:ext uri="{FF2B5EF4-FFF2-40B4-BE49-F238E27FC236}">
                <a16:creationId xmlns:a16="http://schemas.microsoft.com/office/drawing/2014/main" id="{525D2F85-6C1E-426B-9E45-4F63312C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通常のデータ属性の探索と代入</a:t>
            </a:r>
          </a:p>
        </p:txBody>
      </p:sp>
      <p:sp>
        <p:nvSpPr>
          <p:cNvPr id="2" name="類別屬性">
            <a:extLst xmlns:a="http://schemas.openxmlformats.org/drawingml/2006/main">
              <a:ext uri="{FF2B5EF4-FFF2-40B4-BE49-F238E27FC236}">
                <a16:creationId xmlns:a16="http://schemas.microsoft.com/office/drawing/2014/main" id="{6B145CBB-2772-401F-8D7D-020E9768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クラス属性</a:t>
            </a:r>
          </a:p>
        </p:txBody>
      </p:sp>
      <p:sp>
        <p:nvSpPr>
          <p:cNvPr id="3" name="18">
            <a:extLst xmlns:a="http://schemas.openxmlformats.org/drawingml/2006/main">
              <a:ext uri="{FF2B5EF4-FFF2-40B4-BE49-F238E27FC236}">
                <a16:creationId xmlns:a16="http://schemas.microsoft.com/office/drawing/2014/main" id="{229B9396-52F9-45C0-B2AF-04421220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14625"/>
                <a:gridCol w="4524375"/>
                <a:gridCol w="3733800"/>
              </a:tblGrid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操作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今週扱う通常の動作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結果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obj.x を読む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インスタンス、次に</a:t>
                      </a:r>
                    </a:p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クラスの継承関係を探索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見つかった属性値を返す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obj.x = value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インスタンスの x に設定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同名のクラス属性を</a:t>
                      </a:r>
                    </a:p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隠す場合がある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Class.x = value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クラスの x に設定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クラスから x を読む</a:t>
                      </a:r>
                    </a:p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インスタンスに影響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del obj.x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インスタンスの x を削除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以後はクラス属性を</a:t>
                      </a:r>
                    </a:p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再び読む場合がある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  <p:sp>
        <p:nvSpPr>
          <p:cNvPr id="5" name="這是普通資料屬性的簡化模型。property 等描述器會影響查找與指定。">
            <a:extLst xmlns:a="http://schemas.openxmlformats.org/drawingml/2006/main">
              <a:ext uri="{FF2B5EF4-FFF2-40B4-BE49-F238E27FC236}">
                <a16:creationId xmlns:a16="http://schemas.microsoft.com/office/drawing/2014/main" id="{41122BAD-3B12-42EF-9C03-54F7F82F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7061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通常のデータ属性に対する簡略モデルです。property などの記述子は探索や代入に影響します。</a:t>
            </a:r>
          </a:p>
        </p:txBody>
      </p:sp>
    </p:spTree>
    <p:extLst>
      <p:ext uri="{BB962C8B-B14F-4D97-AF65-F5344CB8AC3E}">
        <p14:creationId xmlns:p14="http://schemas.microsoft.com/office/powerpoint/2010/main" val="153858322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類別屬性作為共同預設值">
            <a:extLst xmlns:a="http://schemas.openxmlformats.org/drawingml/2006/main">
              <a:ext uri="{FF2B5EF4-FFF2-40B4-BE49-F238E27FC236}">
                <a16:creationId xmlns:a16="http://schemas.microsoft.com/office/drawing/2014/main" id="{1F5BBAC5-14E2-4B09-A719-B0780BC8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クラス属性を共通の既定値にする</a:t>
            </a:r>
          </a:p>
        </p:txBody>
      </p:sp>
      <p:sp>
        <p:nvSpPr>
          <p:cNvPr id="2" name="類別屬性">
            <a:extLst xmlns:a="http://schemas.openxmlformats.org/drawingml/2006/main">
              <a:ext uri="{FF2B5EF4-FFF2-40B4-BE49-F238E27FC236}">
                <a16:creationId xmlns:a16="http://schemas.microsoft.com/office/drawing/2014/main" id="{BF4620CB-01B0-44FF-982D-9A4EB9E5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クラス属性</a:t>
            </a:r>
          </a:p>
        </p:txBody>
      </p:sp>
      <p:sp>
        <p:nvSpPr>
          <p:cNvPr id="3" name="19">
            <a:extLst xmlns:a="http://schemas.openxmlformats.org/drawingml/2006/main">
              <a:ext uri="{FF2B5EF4-FFF2-40B4-BE49-F238E27FC236}">
                <a16:creationId xmlns:a16="http://schemas.microsoft.com/office/drawing/2014/main" id="{BE5CEEB6-780E-46A4-A2BA-9E5BDB1D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4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233F69ED-ADD2-4426-97CB-8E5E4B32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5" name="    school = &quot;YunTech&quot;">
            <a:extLst xmlns:a="http://schemas.openxmlformats.org/drawingml/2006/main">
              <a:ext uri="{FF2B5EF4-FFF2-40B4-BE49-F238E27FC236}">
                <a16:creationId xmlns:a16="http://schemas.microsoft.com/office/drawing/2014/main" id="{15CFD6F2-9BFF-4E43-B662-098052E2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school = "YunTech"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860027-2E30-4C4B-A9FA-D4F557D2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a = Student()">
            <a:extLst xmlns:a="http://schemas.openxmlformats.org/drawingml/2006/main">
              <a:ext uri="{FF2B5EF4-FFF2-40B4-BE49-F238E27FC236}">
                <a16:creationId xmlns:a16="http://schemas.microsoft.com/office/drawing/2014/main" id="{3D959F3C-11B9-4131-86A0-DA896112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 = Student()</a:t>
            </a:r>
          </a:p>
        </p:txBody>
      </p:sp>
      <p:sp>
        <p:nvSpPr>
          <p:cNvPr id="8" name="b = Student()">
            <a:extLst xmlns:a="http://schemas.openxmlformats.org/drawingml/2006/main">
              <a:ext uri="{FF2B5EF4-FFF2-40B4-BE49-F238E27FC236}">
                <a16:creationId xmlns:a16="http://schemas.microsoft.com/office/drawing/2014/main" id="{4C1206D9-AAFF-4FF0-82D8-B4F9B56A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b = Student()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CACA70-9232-4485-84A7-7EA94B9A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print(a.school, b.school)">
            <a:extLst xmlns:a="http://schemas.openxmlformats.org/drawingml/2006/main">
              <a:ext uri="{FF2B5EF4-FFF2-40B4-BE49-F238E27FC236}">
                <a16:creationId xmlns:a16="http://schemas.microsoft.com/office/drawing/2014/main" id="{0621871A-E908-4DCF-BF88-56D5AF37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print(a.school, b.school)</a:t>
            </a:r>
          </a:p>
        </p:txBody>
      </p:sp>
      <p:sp>
        <p:nvSpPr>
          <p:cNvPr id="11" name="Student.school = &quot;New Campus&quot;">
            <a:extLst xmlns:a="http://schemas.openxmlformats.org/drawingml/2006/main">
              <a:ext uri="{FF2B5EF4-FFF2-40B4-BE49-F238E27FC236}">
                <a16:creationId xmlns:a16="http://schemas.microsoft.com/office/drawing/2014/main" id="{AD5BDEF8-346A-4F4C-B3BA-5168AC1A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Student.school = "New Campus"</a:t>
            </a:r>
          </a:p>
        </p:txBody>
      </p:sp>
      <p:sp>
        <p:nvSpPr>
          <p:cNvPr id="12" name="print(a.school, b.school)">
            <a:extLst xmlns:a="http://schemas.openxmlformats.org/drawingml/2006/main">
              <a:ext uri="{FF2B5EF4-FFF2-40B4-BE49-F238E27FC236}">
                <a16:creationId xmlns:a16="http://schemas.microsoft.com/office/drawing/2014/main" id="{D9386ED4-E9BB-4133-8C27-384658A3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print(a.school, b.school)</a:t>
            </a:r>
          </a:p>
        </p:txBody>
      </p:sp>
      <p:sp>
        <p:nvSpPr>
          <p:cNvPr id="13" name="共同預設值放在類別">
            <a:extLst xmlns:a="http://schemas.openxmlformats.org/drawingml/2006/main">
              <a:ext uri="{FF2B5EF4-FFF2-40B4-BE49-F238E27FC236}">
                <a16:creationId xmlns:a16="http://schemas.microsoft.com/office/drawing/2014/main" id="{64EB1F45-D478-4240-B2B2-284D4BED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既定値はクラスに属する</a:t>
            </a:r>
          </a:p>
        </p:txBody>
      </p:sp>
      <p:sp>
        <p:nvSpPr>
          <p:cNvPr id="14" name="兩個實體都沒有自己的 school 屬性。">
            <a:extLst xmlns:a="http://schemas.openxmlformats.org/drawingml/2006/main">
              <a:ext uri="{FF2B5EF4-FFF2-40B4-BE49-F238E27FC236}">
                <a16:creationId xmlns:a16="http://schemas.microsoft.com/office/drawing/2014/main" id="{093FC725-632C-404E-AA0A-D47C1C4B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両インスタンスとも、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自分の school 属性を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持っていない。</a:t>
            </a:r>
          </a:p>
        </p:txBody>
      </p:sp>
      <p:sp>
        <p:nvSpPr>
          <p:cNvPr id="15" name="更新類別上的名稱">
            <a:extLst xmlns:a="http://schemas.openxmlformats.org/drawingml/2006/main">
              <a:ext uri="{FF2B5EF4-FFF2-40B4-BE49-F238E27FC236}">
                <a16:creationId xmlns:a16="http://schemas.microsoft.com/office/drawing/2014/main" id="{B3C87137-D5B6-4CF0-B467-C314A9E5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クラスの束縛を更新</a:t>
            </a:r>
          </a:p>
        </p:txBody>
      </p:sp>
      <p:sp>
        <p:nvSpPr>
          <p:cNvPr id="16" name="兩者仍從 Student 查找， 因此讀到更新後的值。">
            <a:extLst xmlns:a="http://schemas.openxmlformats.org/drawingml/2006/main">
              <a:ext uri="{FF2B5EF4-FFF2-40B4-BE49-F238E27FC236}">
                <a16:creationId xmlns:a16="http://schemas.microsoft.com/office/drawing/2014/main" id="{1BE8A611-B8F1-41F5-80EA-00FCF588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両者とも Student から探索。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更新した値を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どちらからも読み取れる。</a:t>
            </a:r>
          </a:p>
        </p:txBody>
      </p:sp>
      <p:sp>
        <p:nvSpPr>
          <p:cNvPr id="17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EE62B268-97EE-47CE-AFE5-C94C74B0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18" name="YunTech YunTech    New Campus New Campus">
            <a:extLst xmlns:a="http://schemas.openxmlformats.org/drawingml/2006/main">
              <a:ext uri="{FF2B5EF4-FFF2-40B4-BE49-F238E27FC236}">
                <a16:creationId xmlns:a16="http://schemas.microsoft.com/office/drawing/2014/main" id="{50D5892D-2E14-49B6-930A-72D3EEEA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YunTech YunTech    New Campus New Campus</a:t>
            </a:r>
          </a:p>
        </p:txBody>
      </p:sp>
    </p:spTree>
    <p:extLst>
      <p:ext uri="{BB962C8B-B14F-4D97-AF65-F5344CB8AC3E}">
        <p14:creationId xmlns:p14="http://schemas.microsoft.com/office/powerpoint/2010/main" val="111864027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實體屬性遮蔽類別屬性">
            <a:extLst xmlns:a="http://schemas.openxmlformats.org/drawingml/2006/main">
              <a:ext uri="{FF2B5EF4-FFF2-40B4-BE49-F238E27FC236}">
                <a16:creationId xmlns:a16="http://schemas.microsoft.com/office/drawing/2014/main" id="{72B0B00E-24AD-43B3-BCF1-22A177AE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インスタンス属性によるクラス属性の隠蔽</a:t>
            </a:r>
          </a:p>
        </p:txBody>
      </p:sp>
      <p:sp>
        <p:nvSpPr>
          <p:cNvPr id="2" name="類別屬性">
            <a:extLst xmlns:a="http://schemas.openxmlformats.org/drawingml/2006/main">
              <a:ext uri="{FF2B5EF4-FFF2-40B4-BE49-F238E27FC236}">
                <a16:creationId xmlns:a16="http://schemas.microsoft.com/office/drawing/2014/main" id="{5216BFC1-577D-4157-8CA5-CF5F2862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クラス属性</a:t>
            </a:r>
          </a:p>
        </p:txBody>
      </p:sp>
      <p:sp>
        <p:nvSpPr>
          <p:cNvPr id="3" name="20">
            <a:extLst xmlns:a="http://schemas.openxmlformats.org/drawingml/2006/main">
              <a:ext uri="{FF2B5EF4-FFF2-40B4-BE49-F238E27FC236}">
                <a16:creationId xmlns:a16="http://schemas.microsoft.com/office/drawing/2014/main" id="{6F1AD1D9-7DEA-4311-BD94-78EEFE01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4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8FEB5C1D-D5B4-4016-87E2-52E3C00F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5" name="    school = &quot;YunTech&quot;">
            <a:extLst xmlns:a="http://schemas.openxmlformats.org/drawingml/2006/main">
              <a:ext uri="{FF2B5EF4-FFF2-40B4-BE49-F238E27FC236}">
                <a16:creationId xmlns:a16="http://schemas.microsoft.com/office/drawing/2014/main" id="{EC768291-6D83-4672-B810-DB15B9A3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school = "YunTech"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76AF2D-5458-4286-9FC3-E551060A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a = Student()">
            <a:extLst xmlns:a="http://schemas.openxmlformats.org/drawingml/2006/main">
              <a:ext uri="{FF2B5EF4-FFF2-40B4-BE49-F238E27FC236}">
                <a16:creationId xmlns:a16="http://schemas.microsoft.com/office/drawing/2014/main" id="{F3AAE32C-7EF7-4B9C-8820-8E310E60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 = Student()</a:t>
            </a:r>
          </a:p>
        </p:txBody>
      </p:sp>
      <p:sp>
        <p:nvSpPr>
          <p:cNvPr id="8" name="b = Student()">
            <a:extLst xmlns:a="http://schemas.openxmlformats.org/drawingml/2006/main">
              <a:ext uri="{FF2B5EF4-FFF2-40B4-BE49-F238E27FC236}">
                <a16:creationId xmlns:a16="http://schemas.microsoft.com/office/drawing/2014/main" id="{26448991-66C9-4DA3-B0BA-2A8E6AC0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b = Student()</a:t>
            </a:r>
          </a:p>
        </p:txBody>
      </p:sp>
      <p:sp>
        <p:nvSpPr>
          <p:cNvPr id="9" name="a.school = &quot;Exchange&quot;">
            <a:extLst xmlns:a="http://schemas.openxmlformats.org/drawingml/2006/main">
              <a:ext uri="{FF2B5EF4-FFF2-40B4-BE49-F238E27FC236}">
                <a16:creationId xmlns:a16="http://schemas.microsoft.com/office/drawing/2014/main" id="{D98FB15A-658D-4E0E-A91B-3520518E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a.school = "Exchange"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4BCF90-4A86-4272-BA91-FE2EE321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print(a.school, b.school)">
            <a:extLst xmlns:a="http://schemas.openxmlformats.org/drawingml/2006/main">
              <a:ext uri="{FF2B5EF4-FFF2-40B4-BE49-F238E27FC236}">
                <a16:creationId xmlns:a16="http://schemas.microsoft.com/office/drawing/2014/main" id="{08C6D5BB-C4F0-45F3-BB9D-7A0F53C6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print(a.school, b.school)</a:t>
            </a:r>
          </a:p>
        </p:txBody>
      </p:sp>
      <p:sp>
        <p:nvSpPr>
          <p:cNvPr id="12" name="print(Student.school)">
            <a:extLst xmlns:a="http://schemas.openxmlformats.org/drawingml/2006/main">
              <a:ext uri="{FF2B5EF4-FFF2-40B4-BE49-F238E27FC236}">
                <a16:creationId xmlns:a16="http://schemas.microsoft.com/office/drawing/2014/main" id="{2CEC519E-0411-4D92-A1D2-AE3044E4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print(Student.school)</a:t>
            </a:r>
          </a:p>
        </p:txBody>
      </p:sp>
      <p:sp>
        <p:nvSpPr>
          <p:cNvPr id="13" name="del a.school">
            <a:extLst xmlns:a="http://schemas.openxmlformats.org/drawingml/2006/main">
              <a:ext uri="{FF2B5EF4-FFF2-40B4-BE49-F238E27FC236}">
                <a16:creationId xmlns:a16="http://schemas.microsoft.com/office/drawing/2014/main" id="{3DD56AFD-4A75-496C-AAFB-BC73D947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del a.school</a:t>
            </a:r>
          </a:p>
        </p:txBody>
      </p:sp>
      <p:sp>
        <p:nvSpPr>
          <p:cNvPr id="14" name="print(a.school)">
            <a:extLst xmlns:a="http://schemas.openxmlformats.org/drawingml/2006/main">
              <a:ext uri="{FF2B5EF4-FFF2-40B4-BE49-F238E27FC236}">
                <a16:creationId xmlns:a16="http://schemas.microsoft.com/office/drawing/2014/main" id="{CEE94C09-CF54-4CCA-B22B-175245B6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print(a.school)</a:t>
            </a:r>
          </a:p>
        </p:txBody>
      </p:sp>
      <p:sp>
        <p:nvSpPr>
          <p:cNvPr id="15" name="a.school 指定在實體上">
            <a:extLst xmlns:a="http://schemas.openxmlformats.org/drawingml/2006/main">
              <a:ext uri="{FF2B5EF4-FFF2-40B4-BE49-F238E27FC236}">
                <a16:creationId xmlns:a16="http://schemas.microsoft.com/office/drawing/2014/main" id="{D7D925B0-6860-48F8-9CA9-9DEA4BD5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a.school は実体側への代入</a:t>
            </a:r>
          </a:p>
        </p:txBody>
      </p:sp>
      <p:sp>
        <p:nvSpPr>
          <p:cNvPr id="16" name="a 新增自己的 school， 不會改寫 Student.school。">
            <a:extLst xmlns:a="http://schemas.openxmlformats.org/drawingml/2006/main">
              <a:ext uri="{FF2B5EF4-FFF2-40B4-BE49-F238E27FC236}">
                <a16:creationId xmlns:a16="http://schemas.microsoft.com/office/drawing/2014/main" id="{6148C6AD-E3F2-4F49-8E9A-030FC30D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a が自分の school を持つ。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Student.school は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変更されない。</a:t>
            </a:r>
          </a:p>
        </p:txBody>
      </p:sp>
      <p:sp>
        <p:nvSpPr>
          <p:cNvPr id="17" name="刪除後恢復類別查找">
            <a:extLst xmlns:a="http://schemas.openxmlformats.org/drawingml/2006/main">
              <a:ext uri="{FF2B5EF4-FFF2-40B4-BE49-F238E27FC236}">
                <a16:creationId xmlns:a16="http://schemas.microsoft.com/office/drawing/2014/main" id="{CB8AC233-94C0-4415-84CE-9D0832B7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削除すると隠蔽が解除</a:t>
            </a:r>
          </a:p>
        </p:txBody>
      </p:sp>
      <p:sp>
        <p:nvSpPr>
          <p:cNvPr id="18" name="del a.school 移除遮蔽。 a 再次讀到 YunTech。">
            <a:extLst xmlns:a="http://schemas.openxmlformats.org/drawingml/2006/main">
              <a:ext uri="{FF2B5EF4-FFF2-40B4-BE49-F238E27FC236}">
                <a16:creationId xmlns:a16="http://schemas.microsoft.com/office/drawing/2014/main" id="{4E6649F4-EED9-47A9-BDBA-10D25E7F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del a.school で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実体側の属性を削除。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再び YunTech を読む。</a:t>
            </a:r>
          </a:p>
        </p:txBody>
      </p:sp>
      <p:sp>
        <p:nvSpPr>
          <p:cNvPr id="19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4A376260-57A7-4A79-9AC8-79466955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20" name="Exchange YunTech    YunTech    YunTech">
            <a:extLst xmlns:a="http://schemas.openxmlformats.org/drawingml/2006/main">
              <a:ext uri="{FF2B5EF4-FFF2-40B4-BE49-F238E27FC236}">
                <a16:creationId xmlns:a16="http://schemas.microsoft.com/office/drawing/2014/main" id="{65056643-3E19-4344-AE86-F9B000EE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Exchange YunTech    YunTech    YunTech</a:t>
            </a:r>
          </a:p>
        </p:txBody>
      </p:sp>
    </p:spTree>
    <p:extLst>
      <p:ext uri="{BB962C8B-B14F-4D97-AF65-F5344CB8AC3E}">
        <p14:creationId xmlns:p14="http://schemas.microsoft.com/office/powerpoint/2010/main" val="18799030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錯誤案例：共用可變類別屬性">
            <a:extLst xmlns:a="http://schemas.openxmlformats.org/drawingml/2006/main">
              <a:ext uri="{FF2B5EF4-FFF2-40B4-BE49-F238E27FC236}">
                <a16:creationId xmlns:a16="http://schemas.microsoft.com/office/drawing/2014/main" id="{511A5F4C-8366-4AF5-BFBF-282B2007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誤りの例：可変なクラス属性の共有</a:t>
            </a:r>
          </a:p>
        </p:txBody>
      </p:sp>
      <p:sp>
        <p:nvSpPr>
          <p:cNvPr id="2" name="類別屬性">
            <a:extLst xmlns:a="http://schemas.openxmlformats.org/drawingml/2006/main">
              <a:ext uri="{FF2B5EF4-FFF2-40B4-BE49-F238E27FC236}">
                <a16:creationId xmlns:a16="http://schemas.microsoft.com/office/drawing/2014/main" id="{570654EF-882E-44D1-BCD9-B91E5C62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クラス属性</a:t>
            </a:r>
          </a:p>
        </p:txBody>
      </p:sp>
      <p:sp>
        <p:nvSpPr>
          <p:cNvPr id="3" name="21">
            <a:extLst xmlns:a="http://schemas.openxmlformats.org/drawingml/2006/main">
              <a:ext uri="{FF2B5EF4-FFF2-40B4-BE49-F238E27FC236}">
                <a16:creationId xmlns:a16="http://schemas.microsoft.com/office/drawing/2014/main" id="{049FD23A-2D1C-4993-815B-A0963247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4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3AA42CE8-424B-4739-8F10-B88BA9FA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5" name="    courses = []">
            <a:extLst xmlns:a="http://schemas.openxmlformats.org/drawingml/2006/main">
              <a:ext uri="{FF2B5EF4-FFF2-40B4-BE49-F238E27FC236}">
                <a16:creationId xmlns:a16="http://schemas.microsoft.com/office/drawing/2014/main" id="{F267C69A-7986-440B-A599-543F025B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courses = []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59818F-EC4A-4D2C-925B-FE1D3EED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    def __init__(self, name):">
            <a:extLst xmlns:a="http://schemas.openxmlformats.org/drawingml/2006/main">
              <a:ext uri="{FF2B5EF4-FFF2-40B4-BE49-F238E27FC236}">
                <a16:creationId xmlns:a16="http://schemas.microsoft.com/office/drawing/2014/main" id="{332BEDF9-7BF5-427C-8E14-C17A7C3E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def __init__(self, name):</a:t>
            </a:r>
          </a:p>
        </p:txBody>
      </p:sp>
      <p:sp>
        <p:nvSpPr>
          <p:cNvPr id="8" name="    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61AFADD6-E54B-42CF-9DBE-41CC482B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self.name = name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A7F4BA-3F50-4083-A436-4BAAB96B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a = Student(&quot;Amy&quot;)">
            <a:extLst xmlns:a="http://schemas.openxmlformats.org/drawingml/2006/main">
              <a:ext uri="{FF2B5EF4-FFF2-40B4-BE49-F238E27FC236}">
                <a16:creationId xmlns:a16="http://schemas.microsoft.com/office/drawing/2014/main" id="{3BBC97A6-CC88-46C1-8EFF-FF542340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a = Student("Amy")</a:t>
            </a:r>
          </a:p>
        </p:txBody>
      </p:sp>
      <p:sp>
        <p:nvSpPr>
          <p:cNvPr id="11" name="b = Student(&quot;Bob&quot;)">
            <a:extLst xmlns:a="http://schemas.openxmlformats.org/drawingml/2006/main">
              <a:ext uri="{FF2B5EF4-FFF2-40B4-BE49-F238E27FC236}">
                <a16:creationId xmlns:a16="http://schemas.microsoft.com/office/drawing/2014/main" id="{7693E873-A889-4579-ABC6-2B770D44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b = Student("Bob")</a:t>
            </a:r>
          </a:p>
        </p:txBody>
      </p:sp>
      <p:sp>
        <p:nvSpPr>
          <p:cNvPr id="12" name="a.courses.append(&quot;Python&quot;)">
            <a:extLst xmlns:a="http://schemas.openxmlformats.org/drawingml/2006/main">
              <a:ext uri="{FF2B5EF4-FFF2-40B4-BE49-F238E27FC236}">
                <a16:creationId xmlns:a16="http://schemas.microsoft.com/office/drawing/2014/main" id="{10D9D461-BCD8-4E34-A442-A4D9DE14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a.courses.append("Python")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71A717-7842-4DDE-94DD-00445F48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print(b.courses)">
            <a:extLst xmlns:a="http://schemas.openxmlformats.org/drawingml/2006/main">
              <a:ext uri="{FF2B5EF4-FFF2-40B4-BE49-F238E27FC236}">
                <a16:creationId xmlns:a16="http://schemas.microsoft.com/office/drawing/2014/main" id="{E868B00F-A8E6-4527-9869-4F3D44A1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print(b.courses)</a:t>
            </a:r>
          </a:p>
        </p:txBody>
      </p:sp>
      <p:sp>
        <p:nvSpPr>
          <p:cNvPr id="15" name="print(a.courses is b.courses)">
            <a:extLst xmlns:a="http://schemas.openxmlformats.org/drawingml/2006/main">
              <a:ext uri="{FF2B5EF4-FFF2-40B4-BE49-F238E27FC236}">
                <a16:creationId xmlns:a16="http://schemas.microsoft.com/office/drawing/2014/main" id="{405AA06E-6904-4A09-BA07-DEBB3D10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print(a.courses is b.courses)</a:t>
            </a:r>
          </a:p>
        </p:txBody>
      </p:sp>
      <p:sp>
        <p:nvSpPr>
          <p:cNvPr id="16" name="courses 只有一份">
            <a:extLst xmlns:a="http://schemas.openxmlformats.org/drawingml/2006/main">
              <a:ext uri="{FF2B5EF4-FFF2-40B4-BE49-F238E27FC236}">
                <a16:creationId xmlns:a16="http://schemas.microsoft.com/office/drawing/2014/main" id="{BE696E43-7A9B-4192-81FA-B5CD7E15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courses の list は1つだけ</a:t>
            </a:r>
          </a:p>
        </p:txBody>
      </p:sp>
      <p:sp>
        <p:nvSpPr>
          <p:cNvPr id="17" name="串列在執行 class 定義時 建立，放在類別上。">
            <a:extLst xmlns:a="http://schemas.openxmlformats.org/drawingml/2006/main">
              <a:ext uri="{FF2B5EF4-FFF2-40B4-BE49-F238E27FC236}">
                <a16:creationId xmlns:a16="http://schemas.microsoft.com/office/drawing/2014/main" id="{FE118ED9-42A9-45DF-8BFB-FB98ACD1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class 定義の実行時に生成し、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クラス側に保持する。</a:t>
            </a:r>
          </a:p>
        </p:txBody>
      </p:sp>
      <p:sp>
        <p:nvSpPr>
          <p:cNvPr id="18" name="append 修改既有串列">
            <a:extLst xmlns:a="http://schemas.openxmlformats.org/drawingml/2006/main">
              <a:ext uri="{FF2B5EF4-FFF2-40B4-BE49-F238E27FC236}">
                <a16:creationId xmlns:a16="http://schemas.microsoft.com/office/drawing/2014/main" id="{B69B3D21-9EFB-4A88-9F9E-A6E0B71A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append は既存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の list を変更</a:t>
            </a:r>
          </a:p>
        </p:txBody>
      </p:sp>
      <p:sp>
        <p:nvSpPr>
          <p:cNvPr id="19" name="它沒有指定 a.courses。 所有參照者都看到修改。">
            <a:extLst xmlns:a="http://schemas.openxmlformats.org/drawingml/2006/main">
              <a:ext uri="{FF2B5EF4-FFF2-40B4-BE49-F238E27FC236}">
                <a16:creationId xmlns:a16="http://schemas.microsoft.com/office/drawing/2014/main" id="{AC054111-A6B6-4BFF-BA8A-922103CD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a.courses への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代入は行わない。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同じ list の参照者は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すべて変更を見る。</a:t>
            </a:r>
          </a:p>
        </p:txBody>
      </p:sp>
      <p:sp>
        <p:nvSpPr>
          <p:cNvPr id="20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9A04928D-223B-4280-B6B9-1756857A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21" name="['Python']    True">
            <a:extLst xmlns:a="http://schemas.openxmlformats.org/drawingml/2006/main">
              <a:ext uri="{FF2B5EF4-FFF2-40B4-BE49-F238E27FC236}">
                <a16:creationId xmlns:a16="http://schemas.microsoft.com/office/drawing/2014/main" id="{E54CD1BE-E599-4B65-AD01-A50149E4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['Python']    True</a:t>
            </a:r>
          </a:p>
        </p:txBody>
      </p:sp>
    </p:spTree>
    <p:extLst>
      <p:ext uri="{BB962C8B-B14F-4D97-AF65-F5344CB8AC3E}">
        <p14:creationId xmlns:p14="http://schemas.microsoft.com/office/powerpoint/2010/main" val="13400745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修正：每個實體建立自己的容器">
            <a:extLst xmlns:a="http://schemas.openxmlformats.org/drawingml/2006/main">
              <a:ext uri="{FF2B5EF4-FFF2-40B4-BE49-F238E27FC236}">
                <a16:creationId xmlns:a16="http://schemas.microsoft.com/office/drawing/2014/main" id="{AA509D23-EA94-43CC-BE45-3863D075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インスタンスごとに別のコンテナを生成</a:t>
            </a:r>
          </a:p>
        </p:txBody>
      </p:sp>
      <p:sp>
        <p:nvSpPr>
          <p:cNvPr id="2" name="類別屬性">
            <a:extLst xmlns:a="http://schemas.openxmlformats.org/drawingml/2006/main">
              <a:ext uri="{FF2B5EF4-FFF2-40B4-BE49-F238E27FC236}">
                <a16:creationId xmlns:a16="http://schemas.microsoft.com/office/drawing/2014/main" id="{0A920B8B-0170-484C-9F24-557A1101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クラス属性</a:t>
            </a:r>
          </a:p>
        </p:txBody>
      </p:sp>
      <p:sp>
        <p:nvSpPr>
          <p:cNvPr id="3" name="22">
            <a:extLst xmlns:a="http://schemas.openxmlformats.org/drawingml/2006/main">
              <a:ext uri="{FF2B5EF4-FFF2-40B4-BE49-F238E27FC236}">
                <a16:creationId xmlns:a16="http://schemas.microsoft.com/office/drawing/2014/main" id="{36BE7E3E-DA30-40A3-8E07-3EC96487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4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3FA62600-2B77-4074-82B2-9DFE3151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5" name="    def __init__(self, name):">
            <a:extLst xmlns:a="http://schemas.openxmlformats.org/drawingml/2006/main">
              <a:ext uri="{FF2B5EF4-FFF2-40B4-BE49-F238E27FC236}">
                <a16:creationId xmlns:a16="http://schemas.microsoft.com/office/drawing/2014/main" id="{99967962-454C-4E26-9C8B-A11E5AE7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__init__(self, name):</a:t>
            </a:r>
          </a:p>
        </p:txBody>
      </p:sp>
      <p:sp>
        <p:nvSpPr>
          <p:cNvPr id="6" name="    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1246F33D-A527-4A8C-85DB-B5151D51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self.name = name</a:t>
            </a:r>
          </a:p>
        </p:txBody>
      </p:sp>
      <p:sp>
        <p:nvSpPr>
          <p:cNvPr id="7" name="        self.courses = []">
            <a:extLst xmlns:a="http://schemas.openxmlformats.org/drawingml/2006/main">
              <a:ext uri="{FF2B5EF4-FFF2-40B4-BE49-F238E27FC236}">
                <a16:creationId xmlns:a16="http://schemas.microsoft.com/office/drawing/2014/main" id="{6742541C-0706-4C61-A6E2-A5DF9F25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self.courses = []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283563-3A3D-4717-9DD5-D6F840DA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    def enroll(self, course):">
            <a:extLst xmlns:a="http://schemas.openxmlformats.org/drawingml/2006/main">
              <a:ext uri="{FF2B5EF4-FFF2-40B4-BE49-F238E27FC236}">
                <a16:creationId xmlns:a16="http://schemas.microsoft.com/office/drawing/2014/main" id="{1F9ED29F-0A77-4244-A454-12D99D22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enroll(self, course):</a:t>
            </a:r>
          </a:p>
        </p:txBody>
      </p:sp>
      <p:sp>
        <p:nvSpPr>
          <p:cNvPr id="10" name="        self.courses.append(course)">
            <a:extLst xmlns:a="http://schemas.openxmlformats.org/drawingml/2006/main">
              <a:ext uri="{FF2B5EF4-FFF2-40B4-BE49-F238E27FC236}">
                <a16:creationId xmlns:a16="http://schemas.microsoft.com/office/drawing/2014/main" id="{7C620DE3-D919-4686-BCBA-46566018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self.courses.append(course)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48E65E-8457-4799-8141-AA60E733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a = Student(&quot;Amy&quot;)">
            <a:extLst xmlns:a="http://schemas.openxmlformats.org/drawingml/2006/main">
              <a:ext uri="{FF2B5EF4-FFF2-40B4-BE49-F238E27FC236}">
                <a16:creationId xmlns:a16="http://schemas.microsoft.com/office/drawing/2014/main" id="{8C17F0A4-12E2-4FB5-883F-780C5778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 = Student("Amy")</a:t>
            </a:r>
          </a:p>
        </p:txBody>
      </p:sp>
      <p:sp>
        <p:nvSpPr>
          <p:cNvPr id="13" name="b = Student(&quot;Bob&quot;)">
            <a:extLst xmlns:a="http://schemas.openxmlformats.org/drawingml/2006/main">
              <a:ext uri="{FF2B5EF4-FFF2-40B4-BE49-F238E27FC236}">
                <a16:creationId xmlns:a16="http://schemas.microsoft.com/office/drawing/2014/main" id="{4BE1829F-19B7-4EDF-A8D6-B04A9D34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b = Student("Bob")</a:t>
            </a:r>
          </a:p>
        </p:txBody>
      </p:sp>
      <p:sp>
        <p:nvSpPr>
          <p:cNvPr id="14" name="a.enroll(&quot;Python&quot;)">
            <a:extLst xmlns:a="http://schemas.openxmlformats.org/drawingml/2006/main">
              <a:ext uri="{FF2B5EF4-FFF2-40B4-BE49-F238E27FC236}">
                <a16:creationId xmlns:a16="http://schemas.microsoft.com/office/drawing/2014/main" id="{8862F4A9-B473-4B14-B66F-BCA5B147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a.enroll("Python")</a:t>
            </a:r>
          </a:p>
        </p:txBody>
      </p:sp>
      <p:sp>
        <p:nvSpPr>
          <p:cNvPr id="15" name="print(a.courses, b.courses)">
            <a:extLst xmlns:a="http://schemas.openxmlformats.org/drawingml/2006/main">
              <a:ext uri="{FF2B5EF4-FFF2-40B4-BE49-F238E27FC236}">
                <a16:creationId xmlns:a16="http://schemas.microsoft.com/office/drawing/2014/main" id="{D5DC17D7-F154-4F68-B48B-8D5E22FE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print(a.courses, b.courses)</a:t>
            </a:r>
          </a:p>
        </p:txBody>
      </p:sp>
      <p:sp>
        <p:nvSpPr>
          <p:cNvPr id="16" name="個人資料放在實體">
            <a:extLst xmlns:a="http://schemas.openxmlformats.org/drawingml/2006/main">
              <a:ext uri="{FF2B5EF4-FFF2-40B4-BE49-F238E27FC236}">
                <a16:creationId xmlns:a16="http://schemas.microsoft.com/office/drawing/2014/main" id="{D129D622-D4F9-405A-944D-4F5A30E5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個人のデータは実体に保持</a:t>
            </a:r>
          </a:p>
        </p:txBody>
      </p:sp>
      <p:sp>
        <p:nvSpPr>
          <p:cNvPr id="17" name="self.courses = [] 每次建立獨立串列。">
            <a:extLst xmlns:a="http://schemas.openxmlformats.org/drawingml/2006/main">
              <a:ext uri="{FF2B5EF4-FFF2-40B4-BE49-F238E27FC236}">
                <a16:creationId xmlns:a16="http://schemas.microsoft.com/office/drawing/2014/main" id="{60CC10F0-08A1-4293-A7D1-25A29811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self.courses = [] で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毎回別の list を作る。</a:t>
            </a:r>
          </a:p>
        </p:txBody>
      </p:sp>
      <p:sp>
        <p:nvSpPr>
          <p:cNvPr id="18" name="行為靠近相關狀態">
            <a:extLst xmlns:a="http://schemas.openxmlformats.org/drawingml/2006/main">
              <a:ext uri="{FF2B5EF4-FFF2-40B4-BE49-F238E27FC236}">
                <a16:creationId xmlns:a16="http://schemas.microsoft.com/office/drawing/2014/main" id="{C812F072-2598-47DC-96BB-72264093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関連する状態と操作を配置</a:t>
            </a:r>
          </a:p>
        </p:txBody>
      </p:sp>
      <p:sp>
        <p:nvSpPr>
          <p:cNvPr id="19" name="enroll 操作接收者的課程。 後續可集中處理選課規則。">
            <a:extLst xmlns:a="http://schemas.openxmlformats.org/drawingml/2006/main">
              <a:ext uri="{FF2B5EF4-FFF2-40B4-BE49-F238E27FC236}">
                <a16:creationId xmlns:a16="http://schemas.microsoft.com/office/drawing/2014/main" id="{56A7528D-FF25-458E-A00A-CDFC1E74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enroll は呼び出し先の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履修データを操作。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後から履修規則をまとめられる。</a:t>
            </a:r>
          </a:p>
        </p:txBody>
      </p:sp>
      <p:sp>
        <p:nvSpPr>
          <p:cNvPr id="20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037C21DD-5DE7-4B8B-A1BA-78C9135D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21" name="['Python'] []">
            <a:extLst xmlns:a="http://schemas.openxmlformats.org/drawingml/2006/main">
              <a:ext uri="{FF2B5EF4-FFF2-40B4-BE49-F238E27FC236}">
                <a16:creationId xmlns:a16="http://schemas.microsoft.com/office/drawing/2014/main" id="{A0E3E795-C4EF-4CB4-BB49-CFC8C0E9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['Python'] []</a:t>
            </a:r>
          </a:p>
        </p:txBody>
      </p:sp>
    </p:spTree>
    <p:extLst>
      <p:ext uri="{BB962C8B-B14F-4D97-AF65-F5344CB8AC3E}">
        <p14:creationId xmlns:p14="http://schemas.microsoft.com/office/powerpoint/2010/main" val="148765380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類別屬性統計建立次數">
            <a:extLst xmlns:a="http://schemas.openxmlformats.org/drawingml/2006/main">
              <a:ext uri="{FF2B5EF4-FFF2-40B4-BE49-F238E27FC236}">
                <a16:creationId xmlns:a16="http://schemas.microsoft.com/office/drawing/2014/main" id="{72E5CDDC-E372-46E1-8015-44D2CF58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クラス属性で生成回数を数える</a:t>
            </a:r>
          </a:p>
        </p:txBody>
      </p:sp>
      <p:sp>
        <p:nvSpPr>
          <p:cNvPr id="2" name="類別屬性">
            <a:extLst xmlns:a="http://schemas.openxmlformats.org/drawingml/2006/main">
              <a:ext uri="{FF2B5EF4-FFF2-40B4-BE49-F238E27FC236}">
                <a16:creationId xmlns:a16="http://schemas.microsoft.com/office/drawing/2014/main" id="{EDE702B7-D6C3-48A9-9515-2F0DB6B6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クラス属性</a:t>
            </a:r>
          </a:p>
        </p:txBody>
      </p:sp>
      <p:sp>
        <p:nvSpPr>
          <p:cNvPr id="3" name="23">
            <a:extLst xmlns:a="http://schemas.openxmlformats.org/drawingml/2006/main">
              <a:ext uri="{FF2B5EF4-FFF2-40B4-BE49-F238E27FC236}">
                <a16:creationId xmlns:a16="http://schemas.microsoft.com/office/drawing/2014/main" id="{DD5CD3B9-9184-4AA5-9A0C-B4E7C478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sp>
        <p:nvSpPr>
          <p:cNvPr id="4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553F55C9-BA69-4BD0-90ED-C6A9E39F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5" name="    count = 0">
            <a:extLst xmlns:a="http://schemas.openxmlformats.org/drawingml/2006/main">
              <a:ext uri="{FF2B5EF4-FFF2-40B4-BE49-F238E27FC236}">
                <a16:creationId xmlns:a16="http://schemas.microsoft.com/office/drawing/2014/main" id="{9E8C1C0B-95DF-4559-896F-CB0F1497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count = 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F1FAEE-123D-45C5-8674-458C4AD6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    def __init__(self, name):">
            <a:extLst xmlns:a="http://schemas.openxmlformats.org/drawingml/2006/main">
              <a:ext uri="{FF2B5EF4-FFF2-40B4-BE49-F238E27FC236}">
                <a16:creationId xmlns:a16="http://schemas.microsoft.com/office/drawing/2014/main" id="{F4457922-244D-4343-8B33-20E8D5E4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__init__(self, name):</a:t>
            </a:r>
          </a:p>
        </p:txBody>
      </p:sp>
      <p:sp>
        <p:nvSpPr>
          <p:cNvPr id="8" name="    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F3976442-E172-4D88-917B-08965E26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self.name = name</a:t>
            </a:r>
          </a:p>
        </p:txBody>
      </p:sp>
      <p:sp>
        <p:nvSpPr>
          <p:cNvPr id="9" name="        Student.count += 1">
            <a:extLst xmlns:a="http://schemas.openxmlformats.org/drawingml/2006/main">
              <a:ext uri="{FF2B5EF4-FFF2-40B4-BE49-F238E27FC236}">
                <a16:creationId xmlns:a16="http://schemas.microsoft.com/office/drawing/2014/main" id="{E8B50762-566E-48A9-B4D3-ADB28344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Student.count +=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BDAFF5-E6EC-4EFB-9B1A-FA86CBA9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a = Student(&quot;Amy&quot;)">
            <a:extLst xmlns:a="http://schemas.openxmlformats.org/drawingml/2006/main">
              <a:ext uri="{FF2B5EF4-FFF2-40B4-BE49-F238E27FC236}">
                <a16:creationId xmlns:a16="http://schemas.microsoft.com/office/drawing/2014/main" id="{3B41BEBE-01AB-44DF-A40B-D6882F17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 = Student("Amy")</a:t>
            </a:r>
          </a:p>
        </p:txBody>
      </p:sp>
      <p:sp>
        <p:nvSpPr>
          <p:cNvPr id="12" name="b = Student(&quot;Bob&quot;)">
            <a:extLst xmlns:a="http://schemas.openxmlformats.org/drawingml/2006/main">
              <a:ext uri="{FF2B5EF4-FFF2-40B4-BE49-F238E27FC236}">
                <a16:creationId xmlns:a16="http://schemas.microsoft.com/office/drawing/2014/main" id="{61F14636-A03E-4E08-A423-D5A85C36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b = Student("Bob")</a:t>
            </a:r>
          </a:p>
        </p:txBody>
      </p:sp>
      <p:sp>
        <p:nvSpPr>
          <p:cNvPr id="13" name="print(Student.count)">
            <a:extLst xmlns:a="http://schemas.openxmlformats.org/drawingml/2006/main">
              <a:ext uri="{FF2B5EF4-FFF2-40B4-BE49-F238E27FC236}">
                <a16:creationId xmlns:a16="http://schemas.microsoft.com/office/drawing/2014/main" id="{8D513622-7F32-43E1-B053-4485A696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print(Student.count)</a:t>
            </a:r>
          </a:p>
        </p:txBody>
      </p:sp>
      <p:sp>
        <p:nvSpPr>
          <p:cNvPr id="14" name="del a">
            <a:extLst xmlns:a="http://schemas.openxmlformats.org/drawingml/2006/main">
              <a:ext uri="{FF2B5EF4-FFF2-40B4-BE49-F238E27FC236}">
                <a16:creationId xmlns:a16="http://schemas.microsoft.com/office/drawing/2014/main" id="{66FCBFF5-6D62-4C8D-A02D-D226FC42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del a</a:t>
            </a:r>
          </a:p>
        </p:txBody>
      </p:sp>
      <p:sp>
        <p:nvSpPr>
          <p:cNvPr id="15" name="print(Student.count)">
            <a:extLst xmlns:a="http://schemas.openxmlformats.org/drawingml/2006/main">
              <a:ext uri="{FF2B5EF4-FFF2-40B4-BE49-F238E27FC236}">
                <a16:creationId xmlns:a16="http://schemas.microsoft.com/office/drawing/2014/main" id="{836DD5A0-000D-451D-8E40-D7AA4C6C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print(Student.count)</a:t>
            </a:r>
          </a:p>
        </p:txBody>
      </p:sp>
      <p:sp>
        <p:nvSpPr>
          <p:cNvPr id="16" name="明確更新類別屬性">
            <a:extLst xmlns:a="http://schemas.openxmlformats.org/drawingml/2006/main">
              <a:ext uri="{FF2B5EF4-FFF2-40B4-BE49-F238E27FC236}">
                <a16:creationId xmlns:a16="http://schemas.microsoft.com/office/drawing/2014/main" id="{1C293817-0D3E-4C37-BA37-00C5367A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クラス属性を明示的に更新</a:t>
            </a:r>
          </a:p>
        </p:txBody>
      </p:sp>
      <p:sp>
        <p:nvSpPr>
          <p:cNvPr id="17" name="Student.count += 1 更新同一個累計值。">
            <a:extLst xmlns:a="http://schemas.openxmlformats.org/drawingml/2006/main">
              <a:ext uri="{FF2B5EF4-FFF2-40B4-BE49-F238E27FC236}">
                <a16:creationId xmlns:a16="http://schemas.microsoft.com/office/drawing/2014/main" id="{EF094524-D5DC-4AB4-8BC6-9A9053D9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Student.count += 1 は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共通の累計値を更新。</a:t>
            </a:r>
          </a:p>
        </p:txBody>
      </p:sp>
      <p:sp>
        <p:nvSpPr>
          <p:cNvPr id="18" name="累計建立次數">
            <a:extLst xmlns:a="http://schemas.openxmlformats.org/drawingml/2006/main">
              <a:ext uri="{FF2B5EF4-FFF2-40B4-BE49-F238E27FC236}">
                <a16:creationId xmlns:a16="http://schemas.microsoft.com/office/drawing/2014/main" id="{18A6AA38-94E6-465B-966C-5E2213D9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累計の生成回数</a:t>
            </a:r>
          </a:p>
        </p:txBody>
      </p:sp>
      <p:sp>
        <p:nvSpPr>
          <p:cNvPr id="19" name="del a 只移除名稱綁定。 本例沒有減少 count 的邏輯。">
            <a:extLst xmlns:a="http://schemas.openxmlformats.org/drawingml/2006/main">
              <a:ext uri="{FF2B5EF4-FFF2-40B4-BE49-F238E27FC236}">
                <a16:creationId xmlns:a16="http://schemas.microsoft.com/office/drawing/2014/main" id="{1C4C8EBE-E942-4830-BB9C-D4D8EE09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del a は名前の束縛を削除。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この例には count を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減らす処理がない。</a:t>
            </a:r>
          </a:p>
        </p:txBody>
      </p:sp>
      <p:sp>
        <p:nvSpPr>
          <p:cNvPr id="20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CC7EF500-F314-4820-9E6F-6CCC9A5D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21" name="2    2">
            <a:extLst xmlns:a="http://schemas.openxmlformats.org/drawingml/2006/main">
              <a:ext uri="{FF2B5EF4-FFF2-40B4-BE49-F238E27FC236}">
                <a16:creationId xmlns:a16="http://schemas.microsoft.com/office/drawing/2014/main" id="{9EEFE68A-2A2D-4601-9C7F-62E25EF3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2    2</a:t>
            </a:r>
          </a:p>
        </p:txBody>
      </p:sp>
    </p:spTree>
    <p:extLst>
      <p:ext uri="{BB962C8B-B14F-4D97-AF65-F5344CB8AC3E}">
        <p14:creationId xmlns:p14="http://schemas.microsoft.com/office/powerpoint/2010/main" val="158249881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lf.count += 1 的遮蔽陷阱">
            <a:extLst xmlns:a="http://schemas.openxmlformats.org/drawingml/2006/main">
              <a:ext uri="{FF2B5EF4-FFF2-40B4-BE49-F238E27FC236}">
                <a16:creationId xmlns:a16="http://schemas.microsoft.com/office/drawing/2014/main" id="{4CD23372-1D8A-403D-A0CF-831B8436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self.count += 1 による隠蔽の落とし穴</a:t>
            </a:r>
          </a:p>
        </p:txBody>
      </p:sp>
      <p:sp>
        <p:nvSpPr>
          <p:cNvPr id="2" name="類別屬性">
            <a:extLst xmlns:a="http://schemas.openxmlformats.org/drawingml/2006/main">
              <a:ext uri="{FF2B5EF4-FFF2-40B4-BE49-F238E27FC236}">
                <a16:creationId xmlns:a16="http://schemas.microsoft.com/office/drawing/2014/main" id="{9F998BD4-75E7-46CA-981B-57B77181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クラス属性</a:t>
            </a:r>
          </a:p>
        </p:txBody>
      </p:sp>
      <p:sp>
        <p:nvSpPr>
          <p:cNvPr id="3" name="24">
            <a:extLst xmlns:a="http://schemas.openxmlformats.org/drawingml/2006/main">
              <a:ext uri="{FF2B5EF4-FFF2-40B4-BE49-F238E27FC236}">
                <a16:creationId xmlns:a16="http://schemas.microsoft.com/office/drawing/2014/main" id="{64E3BED9-21F3-4A27-80CE-D687C875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  <p:sp>
        <p:nvSpPr>
          <p:cNvPr id="4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3F370050-981A-4EFA-8208-D75A05CF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5" name="    count = 0">
            <a:extLst xmlns:a="http://schemas.openxmlformats.org/drawingml/2006/main">
              <a:ext uri="{FF2B5EF4-FFF2-40B4-BE49-F238E27FC236}">
                <a16:creationId xmlns:a16="http://schemas.microsoft.com/office/drawing/2014/main" id="{865E8644-7CBE-4BB8-8CF0-3A05224C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count = 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C5C2D-9D9F-462E-9AB4-1779AB07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    def __init__(self):">
            <a:extLst xmlns:a="http://schemas.openxmlformats.org/drawingml/2006/main">
              <a:ext uri="{FF2B5EF4-FFF2-40B4-BE49-F238E27FC236}">
                <a16:creationId xmlns:a16="http://schemas.microsoft.com/office/drawing/2014/main" id="{6381AC9C-3234-480D-B25B-730225D8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__init__(self):</a:t>
            </a:r>
          </a:p>
        </p:txBody>
      </p:sp>
      <p:sp>
        <p:nvSpPr>
          <p:cNvPr id="8" name="        self.count += 1">
            <a:extLst xmlns:a="http://schemas.openxmlformats.org/drawingml/2006/main">
              <a:ext uri="{FF2B5EF4-FFF2-40B4-BE49-F238E27FC236}">
                <a16:creationId xmlns:a16="http://schemas.microsoft.com/office/drawing/2014/main" id="{5F3DE9A3-E11B-4A6A-8FC1-CAED9341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self.count +=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A16ECA-3C55-4EFC-832B-279869DF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a = Student()">
            <a:extLst xmlns:a="http://schemas.openxmlformats.org/drawingml/2006/main">
              <a:ext uri="{FF2B5EF4-FFF2-40B4-BE49-F238E27FC236}">
                <a16:creationId xmlns:a16="http://schemas.microsoft.com/office/drawing/2014/main" id="{5ED2E62B-DA81-480E-876F-8E376DCF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 = Student()</a:t>
            </a:r>
          </a:p>
        </p:txBody>
      </p:sp>
      <p:sp>
        <p:nvSpPr>
          <p:cNvPr id="11" name="b = Student()">
            <a:extLst xmlns:a="http://schemas.openxmlformats.org/drawingml/2006/main">
              <a:ext uri="{FF2B5EF4-FFF2-40B4-BE49-F238E27FC236}">
                <a16:creationId xmlns:a16="http://schemas.microsoft.com/office/drawing/2014/main" id="{9117B055-CD85-499B-AC90-3C20BAC4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b = Student()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6C7A06-DCEB-4EB4-8CD1-5810CDE8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print(Student.count)">
            <a:extLst xmlns:a="http://schemas.openxmlformats.org/drawingml/2006/main">
              <a:ext uri="{FF2B5EF4-FFF2-40B4-BE49-F238E27FC236}">
                <a16:creationId xmlns:a16="http://schemas.microsoft.com/office/drawing/2014/main" id="{9ADBFAC8-38F9-48A2-8DD4-E6A77737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print(Student.count)</a:t>
            </a:r>
          </a:p>
        </p:txBody>
      </p:sp>
      <p:sp>
        <p:nvSpPr>
          <p:cNvPr id="14" name="print(a.count, b.count)">
            <a:extLst xmlns:a="http://schemas.openxmlformats.org/drawingml/2006/main">
              <a:ext uri="{FF2B5EF4-FFF2-40B4-BE49-F238E27FC236}">
                <a16:creationId xmlns:a16="http://schemas.microsoft.com/office/drawing/2014/main" id="{17337AC2-0C49-459B-81C3-2C6BDED7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print(a.count, b.count)</a:t>
            </a:r>
          </a:p>
        </p:txBody>
      </p:sp>
      <p:sp>
        <p:nvSpPr>
          <p:cNvPr id="15" name="print(vars(a))">
            <a:extLst xmlns:a="http://schemas.openxmlformats.org/drawingml/2006/main">
              <a:ext uri="{FF2B5EF4-FFF2-40B4-BE49-F238E27FC236}">
                <a16:creationId xmlns:a16="http://schemas.microsoft.com/office/drawing/2014/main" id="{0D334A2E-8702-42C7-A180-8E62302F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print(vars(a))</a:t>
            </a:r>
          </a:p>
        </p:txBody>
      </p:sp>
      <p:sp>
        <p:nvSpPr>
          <p:cNvPr id="16" name="先讀，再指定">
            <a:extLst xmlns:a="http://schemas.openxmlformats.org/drawingml/2006/main">
              <a:ext uri="{FF2B5EF4-FFF2-40B4-BE49-F238E27FC236}">
                <a16:creationId xmlns:a16="http://schemas.microsoft.com/office/drawing/2014/main" id="{FCD6394E-976C-4BC5-B594-F7544065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読み取ってから代入</a:t>
            </a:r>
          </a:p>
        </p:txBody>
      </p:sp>
      <p:sp>
        <p:nvSpPr>
          <p:cNvPr id="17" name="先從類別讀到整數 0。 加一後指定到實體 count。">
            <a:extLst xmlns:a="http://schemas.openxmlformats.org/drawingml/2006/main">
              <a:ext uri="{FF2B5EF4-FFF2-40B4-BE49-F238E27FC236}">
                <a16:creationId xmlns:a16="http://schemas.microsoft.com/office/drawing/2014/main" id="{5EAAC2E6-620A-48C4-A98D-373DCE07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クラスから 0 を読み取る。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1 を加えて、実体の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count に代入する。</a:t>
            </a:r>
          </a:p>
        </p:txBody>
      </p:sp>
      <p:sp>
        <p:nvSpPr>
          <p:cNvPr id="18" name="沒有更新共同計數器">
            <a:extLst xmlns:a="http://schemas.openxmlformats.org/drawingml/2006/main">
              <a:ext uri="{FF2B5EF4-FFF2-40B4-BE49-F238E27FC236}">
                <a16:creationId xmlns:a16="http://schemas.microsoft.com/office/drawing/2014/main" id="{EB3C13D8-3ED9-4839-8804-7BDE851D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共通カウンタは更新されない</a:t>
            </a:r>
          </a:p>
        </p:txBody>
      </p:sp>
      <p:sp>
        <p:nvSpPr>
          <p:cNvPr id="19" name="每個實體都得到自己的 1。 Student.count 仍是 0。">
            <a:extLst xmlns:a="http://schemas.openxmlformats.org/drawingml/2006/main">
              <a:ext uri="{FF2B5EF4-FFF2-40B4-BE49-F238E27FC236}">
                <a16:creationId xmlns:a16="http://schemas.microsoft.com/office/drawing/2014/main" id="{61E9D6DE-0680-4EDE-BCE7-2052D3FC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各実体が自分の 1 を持つ。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Student.count は 0 のまま。</a:t>
            </a:r>
          </a:p>
        </p:txBody>
      </p:sp>
      <p:sp>
        <p:nvSpPr>
          <p:cNvPr id="20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3FA23AFB-3B1A-4256-89C8-4901CE58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21" name="0    1 1    {'count': 1}">
            <a:extLst xmlns:a="http://schemas.openxmlformats.org/drawingml/2006/main">
              <a:ext uri="{FF2B5EF4-FFF2-40B4-BE49-F238E27FC236}">
                <a16:creationId xmlns:a16="http://schemas.microsoft.com/office/drawing/2014/main" id="{2B088724-FA0B-4D14-A8CC-F841D71D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0    1 1    {'count': 1}</a:t>
            </a:r>
          </a:p>
        </p:txBody>
      </p:sp>
    </p:spTree>
    <p:extLst>
      <p:ext uri="{BB962C8B-B14F-4D97-AF65-F5344CB8AC3E}">
        <p14:creationId xmlns:p14="http://schemas.microsoft.com/office/powerpoint/2010/main" val="212879383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三種方法接收的對象">
            <a:extLst xmlns:a="http://schemas.openxmlformats.org/drawingml/2006/main">
              <a:ext uri="{FF2B5EF4-FFF2-40B4-BE49-F238E27FC236}">
                <a16:creationId xmlns:a16="http://schemas.microsoft.com/office/drawing/2014/main" id="{2637E995-690B-47E1-A479-861983AE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3種類のメソッドが受け取る対象</a:t>
            </a:r>
          </a:p>
        </p:txBody>
      </p:sp>
      <p:sp>
        <p:nvSpPr>
          <p:cNvPr id="2" name="方法與建構方式">
            <a:extLst xmlns:a="http://schemas.openxmlformats.org/drawingml/2006/main">
              <a:ext uri="{FF2B5EF4-FFF2-40B4-BE49-F238E27FC236}">
                <a16:creationId xmlns:a16="http://schemas.microsoft.com/office/drawing/2014/main" id="{D5C95863-D841-4414-9B65-DFC409B3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メソッドと生成方法</a:t>
            </a:r>
          </a:p>
        </p:txBody>
      </p:sp>
      <p:sp>
        <p:nvSpPr>
          <p:cNvPr id="3" name="25">
            <a:extLst xmlns:a="http://schemas.openxmlformats.org/drawingml/2006/main">
              <a:ext uri="{FF2B5EF4-FFF2-40B4-BE49-F238E27FC236}">
                <a16:creationId xmlns:a16="http://schemas.microsoft.com/office/drawing/2014/main" id="{A275C2A2-E0CF-4C84-B205-E6838F89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667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3762375"/>
                <a:gridCol w="3971925"/>
              </a:tblGrid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メソッド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自動で受け取る引数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主な用途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インスタンスメソッド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self：呼び出し先の実体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特定の学生の状態を読み書き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@classmethod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cls：呼び出しに対応するクラス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代替コンストラクタ、</a:t>
                      </a:r>
                    </a:p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クラスに関係する操作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@staticmethod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self も cls も自動では渡さない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クラスに関係する</a:t>
                      </a:r>
                    </a:p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ユーティリティ操作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5" name="差異在自動繫結的對象，不只是裝飾器名稱。">
            <a:extLst xmlns:a="http://schemas.openxmlformats.org/drawingml/2006/main">
              <a:ext uri="{FF2B5EF4-FFF2-40B4-BE49-F238E27FC236}">
                <a16:creationId xmlns:a16="http://schemas.microsoft.com/office/drawing/2014/main" id="{BA56E4A3-E4F3-4718-B22A-D6771B4E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7061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装飾子の名前だけでなく、自動的に束縛される対象が異なります。</a:t>
            </a:r>
          </a:p>
        </p:txBody>
      </p:sp>
    </p:spTree>
    <p:extLst>
      <p:ext uri="{BB962C8B-B14F-4D97-AF65-F5344CB8AC3E}">
        <p14:creationId xmlns:p14="http://schemas.microsoft.com/office/powerpoint/2010/main" val="7610503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classmethod 與替代建構子">
            <a:extLst xmlns:a="http://schemas.openxmlformats.org/drawingml/2006/main">
              <a:ext uri="{FF2B5EF4-FFF2-40B4-BE49-F238E27FC236}">
                <a16:creationId xmlns:a16="http://schemas.microsoft.com/office/drawing/2014/main" id="{E9941B34-CD43-41A8-BC91-C1282572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classmethod と代替コンストラクタ</a:t>
            </a:r>
          </a:p>
        </p:txBody>
      </p:sp>
      <p:sp>
        <p:nvSpPr>
          <p:cNvPr id="2" name="方法與建構方式">
            <a:extLst xmlns:a="http://schemas.openxmlformats.org/drawingml/2006/main">
              <a:ext uri="{FF2B5EF4-FFF2-40B4-BE49-F238E27FC236}">
                <a16:creationId xmlns:a16="http://schemas.microsoft.com/office/drawing/2014/main" id="{6444EDAC-094D-454F-A46C-E1F4C1BF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メソッドと生成方法</a:t>
            </a:r>
          </a:p>
        </p:txBody>
      </p:sp>
      <p:sp>
        <p:nvSpPr>
          <p:cNvPr id="3" name="26">
            <a:extLst xmlns:a="http://schemas.openxmlformats.org/drawingml/2006/main">
              <a:ext uri="{FF2B5EF4-FFF2-40B4-BE49-F238E27FC236}">
                <a16:creationId xmlns:a16="http://schemas.microsoft.com/office/drawing/2014/main" id="{564BAD31-BD05-4B23-80F3-33524789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  <p:sp>
        <p:nvSpPr>
          <p:cNvPr id="4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0E2E3A8A-7882-4902-8045-E0C4403C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5" name="    def __init__(self, student_id, name):">
            <a:extLst xmlns:a="http://schemas.openxmlformats.org/drawingml/2006/main">
              <a:ext uri="{FF2B5EF4-FFF2-40B4-BE49-F238E27FC236}">
                <a16:creationId xmlns:a16="http://schemas.microsoft.com/office/drawing/2014/main" id="{1EA3508A-0638-4C4A-98EE-DC0780FE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__init__(self, student_id, name):</a:t>
            </a:r>
          </a:p>
        </p:txBody>
      </p:sp>
      <p:sp>
        <p:nvSpPr>
          <p:cNvPr id="6" name="        self.student_id = student_id">
            <a:extLst xmlns:a="http://schemas.openxmlformats.org/drawingml/2006/main">
              <a:ext uri="{FF2B5EF4-FFF2-40B4-BE49-F238E27FC236}">
                <a16:creationId xmlns:a16="http://schemas.microsoft.com/office/drawing/2014/main" id="{B808D6D1-E810-4D56-863A-0943F8E8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self.student_id = student_id</a:t>
            </a:r>
          </a:p>
        </p:txBody>
      </p:sp>
      <p:sp>
        <p:nvSpPr>
          <p:cNvPr id="7" name="    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5B439ABE-4992-447A-A9F4-F48DF0C2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self.name = name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8BA67A-74A6-4937-9C8A-46C4CAE5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    @classmethod">
            <a:extLst xmlns:a="http://schemas.openxmlformats.org/drawingml/2006/main">
              <a:ext uri="{FF2B5EF4-FFF2-40B4-BE49-F238E27FC236}">
                <a16:creationId xmlns:a16="http://schemas.microsoft.com/office/drawing/2014/main" id="{F8D925FA-B538-43B1-83F8-3C810951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@classmethod</a:t>
            </a:r>
          </a:p>
        </p:txBody>
      </p:sp>
      <p:sp>
        <p:nvSpPr>
          <p:cNvPr id="10" name="    def from_csv(cls, row):">
            <a:extLst xmlns:a="http://schemas.openxmlformats.org/drawingml/2006/main">
              <a:ext uri="{FF2B5EF4-FFF2-40B4-BE49-F238E27FC236}">
                <a16:creationId xmlns:a16="http://schemas.microsoft.com/office/drawing/2014/main" id="{103F2092-4A4B-401F-8E2B-E7E57F23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from_csv(cls, row):</a:t>
            </a:r>
          </a:p>
        </p:txBody>
      </p:sp>
      <p:sp>
        <p:nvSpPr>
          <p:cNvPr id="11" name="        student_id, name = row.split(&quot;,&quot;)">
            <a:extLst xmlns:a="http://schemas.openxmlformats.org/drawingml/2006/main">
              <a:ext uri="{FF2B5EF4-FFF2-40B4-BE49-F238E27FC236}">
                <a16:creationId xmlns:a16="http://schemas.microsoft.com/office/drawing/2014/main" id="{C46A63F7-021E-4DD8-9149-AB922FEE1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student_id, name = row.split(",")</a:t>
            </a:r>
          </a:p>
        </p:txBody>
      </p:sp>
      <p:sp>
        <p:nvSpPr>
          <p:cNvPr id="12" name="        return cls(student_id.strip(), name.strip())">
            <a:extLst xmlns:a="http://schemas.openxmlformats.org/drawingml/2006/main">
              <a:ext uri="{FF2B5EF4-FFF2-40B4-BE49-F238E27FC236}">
                <a16:creationId xmlns:a16="http://schemas.microsoft.com/office/drawing/2014/main" id="{A47F1830-C7CA-48FE-97C9-A6A5C0CB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return cls(student_id.strip(), name.strip())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ACF729-5A4A-486B-895A-2DD55137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amy = Student.from_csv(&quot;B11501, Amy&quot;)">
            <a:extLst xmlns:a="http://schemas.openxmlformats.org/drawingml/2006/main">
              <a:ext uri="{FF2B5EF4-FFF2-40B4-BE49-F238E27FC236}">
                <a16:creationId xmlns:a16="http://schemas.microsoft.com/office/drawing/2014/main" id="{60E1F48F-7CA1-413D-88A0-4D76C29D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amy = Student.from_csv("B11501, Amy")</a:t>
            </a:r>
          </a:p>
        </p:txBody>
      </p:sp>
      <p:sp>
        <p:nvSpPr>
          <p:cNvPr id="15" name="print(amy.student_id, amy.name)">
            <a:extLst xmlns:a="http://schemas.openxmlformats.org/drawingml/2006/main">
              <a:ext uri="{FF2B5EF4-FFF2-40B4-BE49-F238E27FC236}">
                <a16:creationId xmlns:a16="http://schemas.microsoft.com/office/drawing/2014/main" id="{832B2B6D-EEDB-4DE4-86D7-4C81C79D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print(amy.student_id, amy.name)</a:t>
            </a:r>
          </a:p>
        </p:txBody>
      </p:sp>
      <p:sp>
        <p:nvSpPr>
          <p:cNvPr id="16" name="from_csv 提供具名入口">
            <a:extLst xmlns:a="http://schemas.openxmlformats.org/drawingml/2006/main">
              <a:ext uri="{FF2B5EF4-FFF2-40B4-BE49-F238E27FC236}">
                <a16:creationId xmlns:a16="http://schemas.microsoft.com/office/drawing/2014/main" id="{E53B1727-F849-48AB-AB17-A3295AD4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名前付きの生成用入口</a:t>
            </a:r>
          </a:p>
        </p:txBody>
      </p:sp>
      <p:sp>
        <p:nvSpPr>
          <p:cNvPr id="17" name="把一列文字轉成建立物件 所需的學號與姓名。">
            <a:extLst xmlns:a="http://schemas.openxmlformats.org/drawingml/2006/main">
              <a:ext uri="{FF2B5EF4-FFF2-40B4-BE49-F238E27FC236}">
                <a16:creationId xmlns:a16="http://schemas.microsoft.com/office/drawing/2014/main" id="{1C0DE406-A07B-40BA-B728-B2C3DCE3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from_csv が1行の文字列を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生成に必要な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学籍番号と氏名に変換。</a:t>
            </a:r>
          </a:p>
        </p:txBody>
      </p:sp>
      <p:sp>
        <p:nvSpPr>
          <p:cNvPr id="18" name="cls(...) 建立對應型別">
            <a:extLst xmlns:a="http://schemas.openxmlformats.org/drawingml/2006/main">
              <a:ext uri="{FF2B5EF4-FFF2-40B4-BE49-F238E27FC236}">
                <a16:creationId xmlns:a16="http://schemas.microsoft.com/office/drawing/2014/main" id="{C1445463-2931-43C0-85EF-124C2B2F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cls(...) が対応する型を生成</a:t>
            </a:r>
          </a:p>
        </p:txBody>
      </p:sp>
      <p:sp>
        <p:nvSpPr>
          <p:cNvPr id="19" name="沿用 __init__ 的初始化。 本例只接受簡單雙欄文字。">
            <a:extLst xmlns:a="http://schemas.openxmlformats.org/drawingml/2006/main">
              <a:ext uri="{FF2B5EF4-FFF2-40B4-BE49-F238E27FC236}">
                <a16:creationId xmlns:a16="http://schemas.microsoft.com/office/drawing/2014/main" id="{C2D4D3B2-0F09-494D-ADAD-79FAF532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__init__ を再利用する。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この例は単純な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2項目の文字列を対象とする。</a:t>
            </a:r>
          </a:p>
        </p:txBody>
      </p:sp>
      <p:sp>
        <p:nvSpPr>
          <p:cNvPr id="20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3015F3AF-540E-443F-9E53-2BF7A92B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21" name="B11501 Amy">
            <a:extLst xmlns:a="http://schemas.openxmlformats.org/drawingml/2006/main">
              <a:ext uri="{FF2B5EF4-FFF2-40B4-BE49-F238E27FC236}">
                <a16:creationId xmlns:a16="http://schemas.microsoft.com/office/drawing/2014/main" id="{4594F659-27BD-4C75-8CDC-8C91ACEB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B11501 Amy</a:t>
            </a:r>
          </a:p>
        </p:txBody>
      </p:sp>
    </p:spTree>
    <p:extLst>
      <p:ext uri="{BB962C8B-B14F-4D97-AF65-F5344CB8AC3E}">
        <p14:creationId xmlns:p14="http://schemas.microsoft.com/office/powerpoint/2010/main" val="41730835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含引號的 CSV 欄位">
            <a:extLst xmlns:a="http://schemas.openxmlformats.org/drawingml/2006/main">
              <a:ext uri="{FF2B5EF4-FFF2-40B4-BE49-F238E27FC236}">
                <a16:creationId xmlns:a16="http://schemas.microsoft.com/office/drawing/2014/main" id="{59521666-21A8-45D7-B830-413224FB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引用符を含む CSV フィールド</a:t>
            </a:r>
          </a:p>
        </p:txBody>
      </p:sp>
      <p:sp>
        <p:nvSpPr>
          <p:cNvPr id="2" name="方法與建構方式">
            <a:extLst xmlns:a="http://schemas.openxmlformats.org/drawingml/2006/main">
              <a:ext uri="{FF2B5EF4-FFF2-40B4-BE49-F238E27FC236}">
                <a16:creationId xmlns:a16="http://schemas.microsoft.com/office/drawing/2014/main" id="{16A1FA38-0C22-434C-9DDA-73EFED2E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メソッドと生成方法</a:t>
            </a:r>
          </a:p>
        </p:txBody>
      </p:sp>
      <p:sp>
        <p:nvSpPr>
          <p:cNvPr id="3" name="27">
            <a:extLst xmlns:a="http://schemas.openxmlformats.org/drawingml/2006/main">
              <a:ext uri="{FF2B5EF4-FFF2-40B4-BE49-F238E27FC236}">
                <a16:creationId xmlns:a16="http://schemas.microsoft.com/office/drawing/2014/main" id="{1F9E5EB6-6A9D-4CAE-95AB-DFE887F0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  <p:sp>
        <p:nvSpPr>
          <p:cNvPr id="4" name="import csv">
            <a:extLst xmlns:a="http://schemas.openxmlformats.org/drawingml/2006/main">
              <a:ext uri="{FF2B5EF4-FFF2-40B4-BE49-F238E27FC236}">
                <a16:creationId xmlns:a16="http://schemas.microsoft.com/office/drawing/2014/main" id="{797471BE-6B6D-43B1-98F6-5EAEEBA0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00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import csv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7CBE0A-D3EF-4E1A-95EF-EF017B6F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6915"/>
            <a:ext cx="7391400" cy="300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565E9289-6046-4C8E-98F4-65746290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0755"/>
            <a:ext cx="7391400" cy="300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7" name="    def __init__(self, student_id, name):">
            <a:extLst xmlns:a="http://schemas.openxmlformats.org/drawingml/2006/main">
              <a:ext uri="{FF2B5EF4-FFF2-40B4-BE49-F238E27FC236}">
                <a16:creationId xmlns:a16="http://schemas.microsoft.com/office/drawing/2014/main" id="{2AF1A2F0-BDC9-494A-8CBB-967C669C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4595"/>
            <a:ext cx="7391400" cy="300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__init__(self, student_id, name):</a:t>
            </a:r>
          </a:p>
        </p:txBody>
      </p:sp>
      <p:sp>
        <p:nvSpPr>
          <p:cNvPr id="8" name="        self.student_id = student_id">
            <a:extLst xmlns:a="http://schemas.openxmlformats.org/drawingml/2006/main">
              <a:ext uri="{FF2B5EF4-FFF2-40B4-BE49-F238E27FC236}">
                <a16:creationId xmlns:a16="http://schemas.microsoft.com/office/drawing/2014/main" id="{050174E4-C508-47F0-A1D0-B55169D8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8435"/>
            <a:ext cx="7391400" cy="300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self.student_id = student_id</a:t>
            </a:r>
          </a:p>
        </p:txBody>
      </p:sp>
      <p:sp>
        <p:nvSpPr>
          <p:cNvPr id="9" name="    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CB393139-93D0-459B-B10C-50AB6269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7391400" cy="300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self.name = name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AB5E68-D80D-44FF-AF83-A1E4BEAA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6115"/>
            <a:ext cx="7391400" cy="300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    @classmethod">
            <a:extLst xmlns:a="http://schemas.openxmlformats.org/drawingml/2006/main">
              <a:ext uri="{FF2B5EF4-FFF2-40B4-BE49-F238E27FC236}">
                <a16:creationId xmlns:a16="http://schemas.microsoft.com/office/drawing/2014/main" id="{1239C489-EFF2-4667-A4F5-E2B05D8C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9955"/>
            <a:ext cx="7391400" cy="300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@classmethod</a:t>
            </a:r>
          </a:p>
        </p:txBody>
      </p:sp>
      <p:sp>
        <p:nvSpPr>
          <p:cNvPr id="12" name="    def from_csv(cls, row):">
            <a:extLst xmlns:a="http://schemas.openxmlformats.org/drawingml/2006/main">
              <a:ext uri="{FF2B5EF4-FFF2-40B4-BE49-F238E27FC236}">
                <a16:creationId xmlns:a16="http://schemas.microsoft.com/office/drawing/2014/main" id="{8B7A4F03-5A25-45C3-B752-8D06351B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3795"/>
            <a:ext cx="7391400" cy="300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from_csv(cls, row):</a:t>
            </a:r>
          </a:p>
        </p:txBody>
      </p:sp>
      <p:sp>
        <p:nvSpPr>
          <p:cNvPr id="13" name="        fields = next(csv.reader([row]))">
            <a:extLst xmlns:a="http://schemas.openxmlformats.org/drawingml/2006/main">
              <a:ext uri="{FF2B5EF4-FFF2-40B4-BE49-F238E27FC236}">
                <a16:creationId xmlns:a16="http://schemas.microsoft.com/office/drawing/2014/main" id="{499B64F9-CE21-409A-85DD-89E9465D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7635"/>
            <a:ext cx="7391400" cy="300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fields = next(csv.reader([row]))</a:t>
            </a:r>
          </a:p>
        </p:txBody>
      </p:sp>
      <p:sp>
        <p:nvSpPr>
          <p:cNvPr id="14" name="        student_id, name = fields">
            <a:extLst xmlns:a="http://schemas.openxmlformats.org/drawingml/2006/main">
              <a:ext uri="{FF2B5EF4-FFF2-40B4-BE49-F238E27FC236}">
                <a16:creationId xmlns:a16="http://schemas.microsoft.com/office/drawing/2014/main" id="{E81FBD27-B37C-4451-8E87-4C882EE7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7391400" cy="300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student_id, name = fields</a:t>
            </a:r>
          </a:p>
        </p:txBody>
      </p:sp>
      <p:sp>
        <p:nvSpPr>
          <p:cNvPr id="15" name="        return cls(student_id.strip(), name.strip())">
            <a:extLst xmlns:a="http://schemas.openxmlformats.org/drawingml/2006/main">
              <a:ext uri="{FF2B5EF4-FFF2-40B4-BE49-F238E27FC236}">
                <a16:creationId xmlns:a16="http://schemas.microsoft.com/office/drawing/2014/main" id="{B417096D-0C25-4B2D-AD65-78166F09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5315"/>
            <a:ext cx="7391400" cy="300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return cls(student_id.strip(), name.strip())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224C3A-D04C-44C5-B638-D2019B0B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9155"/>
            <a:ext cx="7391400" cy="300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s = Student.from_csv('B11501,&quot;Chen, Amy&quot;')">
            <a:extLst xmlns:a="http://schemas.openxmlformats.org/drawingml/2006/main">
              <a:ext uri="{FF2B5EF4-FFF2-40B4-BE49-F238E27FC236}">
                <a16:creationId xmlns:a16="http://schemas.microsoft.com/office/drawing/2014/main" id="{A35ED99D-6F98-4A95-B13C-7D752B7E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2995"/>
            <a:ext cx="7391400" cy="300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s = Student.from_csv('B11501,"Chen, Amy"')</a:t>
            </a:r>
          </a:p>
        </p:txBody>
      </p:sp>
      <p:sp>
        <p:nvSpPr>
          <p:cNvPr id="18" name="print(s.name)">
            <a:extLst xmlns:a="http://schemas.openxmlformats.org/drawingml/2006/main">
              <a:ext uri="{FF2B5EF4-FFF2-40B4-BE49-F238E27FC236}">
                <a16:creationId xmlns:a16="http://schemas.microsoft.com/office/drawing/2014/main" id="{C64FD9D9-C0AF-47BB-A8C2-37A63F78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6835"/>
            <a:ext cx="7391400" cy="300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print(s.name)</a:t>
            </a:r>
          </a:p>
        </p:txBody>
      </p:sp>
      <p:sp>
        <p:nvSpPr>
          <p:cNvPr id="19" name="CSV 有自己的欄位規則">
            <a:extLst xmlns:a="http://schemas.openxmlformats.org/drawingml/2006/main">
              <a:ext uri="{FF2B5EF4-FFF2-40B4-BE49-F238E27FC236}">
                <a16:creationId xmlns:a16="http://schemas.microsoft.com/office/drawing/2014/main" id="{C9578FAD-B753-4F93-A5A3-4A239C03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CSV には独自の区切り規則</a:t>
            </a:r>
          </a:p>
        </p:txBody>
      </p:sp>
      <p:sp>
        <p:nvSpPr>
          <p:cNvPr id="20" name="引號內的逗號屬於姓名， 不是新的欄位。">
            <a:extLst xmlns:a="http://schemas.openxmlformats.org/drawingml/2006/main">
              <a:ext uri="{FF2B5EF4-FFF2-40B4-BE49-F238E27FC236}">
                <a16:creationId xmlns:a16="http://schemas.microsoft.com/office/drawing/2014/main" id="{E3EC5BFB-F3C3-48C8-BFF8-DAE8C237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引用符内のコンマは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氏名の一部。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新たなフィールドではない。</a:t>
            </a:r>
          </a:p>
        </p:txBody>
      </p:sp>
      <p:sp>
        <p:nvSpPr>
          <p:cNvPr id="21" name="解析與建立各有責任">
            <a:extLst xmlns:a="http://schemas.openxmlformats.org/drawingml/2006/main">
              <a:ext uri="{FF2B5EF4-FFF2-40B4-BE49-F238E27FC236}">
                <a16:creationId xmlns:a16="http://schemas.microsoft.com/office/drawing/2014/main" id="{E0321A05-42D9-45B7-A7A6-83BF2054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解析と初期化の責任</a:t>
            </a:r>
          </a:p>
        </p:txBody>
      </p:sp>
      <p:sp>
        <p:nvSpPr>
          <p:cNvPr id="22" name="csv.reader 處理格式。 __init__ 處理物件初始狀態。">
            <a:extLst xmlns:a="http://schemas.openxmlformats.org/drawingml/2006/main">
              <a:ext uri="{FF2B5EF4-FFF2-40B4-BE49-F238E27FC236}">
                <a16:creationId xmlns:a16="http://schemas.microsoft.com/office/drawing/2014/main" id="{98BA86B4-80F9-4EA3-9912-95E0B162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csv.reader が形式を処理。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__init__ が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初期状態を設定する。</a:t>
            </a:r>
          </a:p>
        </p:txBody>
      </p:sp>
      <p:sp>
        <p:nvSpPr>
          <p:cNvPr id="23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97A3DCB9-DF33-41DD-AD5D-43C727F4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24" name="Chen, Amy">
            <a:extLst xmlns:a="http://schemas.openxmlformats.org/drawingml/2006/main">
              <a:ext uri="{FF2B5EF4-FFF2-40B4-BE49-F238E27FC236}">
                <a16:creationId xmlns:a16="http://schemas.microsoft.com/office/drawing/2014/main" id="{62F30DB9-E6A8-4AD9-9551-4B9318CB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Chen, Amy</a:t>
            </a:r>
          </a:p>
        </p:txBody>
      </p:sp>
    </p:spTree>
    <p:extLst>
      <p:ext uri="{BB962C8B-B14F-4D97-AF65-F5344CB8AC3E}">
        <p14:creationId xmlns:p14="http://schemas.microsoft.com/office/powerpoint/2010/main" val="192617519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cls 保留衍生類別的建立能力">
            <a:extLst xmlns:a="http://schemas.openxmlformats.org/drawingml/2006/main">
              <a:ext uri="{FF2B5EF4-FFF2-40B4-BE49-F238E27FC236}">
                <a16:creationId xmlns:a16="http://schemas.microsoft.com/office/drawing/2014/main" id="{6EF43FB3-5DF3-4FE3-A255-D2ADEAE4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cls が派生型の生成を維持する</a:t>
            </a:r>
          </a:p>
        </p:txBody>
      </p:sp>
      <p:sp>
        <p:nvSpPr>
          <p:cNvPr id="2" name="方法與建構方式">
            <a:extLst xmlns:a="http://schemas.openxmlformats.org/drawingml/2006/main">
              <a:ext uri="{FF2B5EF4-FFF2-40B4-BE49-F238E27FC236}">
                <a16:creationId xmlns:a16="http://schemas.microsoft.com/office/drawing/2014/main" id="{9FF86A64-006F-4755-AE71-7050B9F5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メソッドと生成方法</a:t>
            </a:r>
          </a:p>
        </p:txBody>
      </p:sp>
      <p:sp>
        <p:nvSpPr>
          <p:cNvPr id="3" name="28">
            <a:extLst xmlns:a="http://schemas.openxmlformats.org/drawingml/2006/main">
              <a:ext uri="{FF2B5EF4-FFF2-40B4-BE49-F238E27FC236}">
                <a16:creationId xmlns:a16="http://schemas.microsoft.com/office/drawing/2014/main" id="{7102FEE3-0538-4236-95F3-7A56DDDA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28</a:t>
            </a:r>
          </a:p>
        </p:txBody>
      </p:sp>
      <p:sp>
        <p:nvSpPr>
          <p:cNvPr id="4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E63471E0-458D-4D53-A00C-9864C0CE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5" name="    def __init__(self, name):">
            <a:extLst xmlns:a="http://schemas.openxmlformats.org/drawingml/2006/main">
              <a:ext uri="{FF2B5EF4-FFF2-40B4-BE49-F238E27FC236}">
                <a16:creationId xmlns:a16="http://schemas.microsoft.com/office/drawing/2014/main" id="{CFCEB476-BBDB-40BC-8ED8-16106954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4429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__init__(self, name):</a:t>
            </a:r>
          </a:p>
        </p:txBody>
      </p:sp>
      <p:sp>
        <p:nvSpPr>
          <p:cNvPr id="6" name="    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3F1A3AD2-2EF5-4C80-9B52-B5E1B2E3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783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self.name = name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8F697F-B162-4A82-A89A-7351786B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87137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    @classmethod">
            <a:extLst xmlns:a="http://schemas.openxmlformats.org/drawingml/2006/main">
              <a:ext uri="{FF2B5EF4-FFF2-40B4-BE49-F238E27FC236}">
                <a16:creationId xmlns:a16="http://schemas.microsoft.com/office/drawing/2014/main" id="{3F6D7942-E1F4-4D7B-84BA-7BEB95F5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8490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@classmethod</a:t>
            </a:r>
          </a:p>
        </p:txBody>
      </p:sp>
      <p:sp>
        <p:nvSpPr>
          <p:cNvPr id="9" name="    def from_name(cls, name):">
            <a:extLst xmlns:a="http://schemas.openxmlformats.org/drawingml/2006/main">
              <a:ext uri="{FF2B5EF4-FFF2-40B4-BE49-F238E27FC236}">
                <a16:creationId xmlns:a16="http://schemas.microsoft.com/office/drawing/2014/main" id="{4336E3F2-FCE8-4F9B-B5AA-350ADB11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9844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from_name(cls, name):</a:t>
            </a:r>
          </a:p>
        </p:txBody>
      </p:sp>
      <p:sp>
        <p:nvSpPr>
          <p:cNvPr id="10" name="        return cls(name)">
            <a:extLst xmlns:a="http://schemas.openxmlformats.org/drawingml/2006/main">
              <a:ext uri="{FF2B5EF4-FFF2-40B4-BE49-F238E27FC236}">
                <a16:creationId xmlns:a16="http://schemas.microsoft.com/office/drawing/2014/main" id="{04FBF42D-258F-452B-9955-87AAD2DE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1198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return cls(name)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6E346A-A9B5-476B-8498-04378B0C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2552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class GraduateStudent(Student):">
            <a:extLst xmlns:a="http://schemas.openxmlformats.org/drawingml/2006/main">
              <a:ext uri="{FF2B5EF4-FFF2-40B4-BE49-F238E27FC236}">
                <a16:creationId xmlns:a16="http://schemas.microsoft.com/office/drawing/2014/main" id="{3BF51AF5-E8B3-41B0-A874-09FBDE13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3906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GraduateStudent(Student):</a:t>
            </a:r>
          </a:p>
        </p:txBody>
      </p:sp>
      <p:sp>
        <p:nvSpPr>
          <p:cNvPr id="13" name="    pass">
            <a:extLst xmlns:a="http://schemas.openxmlformats.org/drawingml/2006/main">
              <a:ext uri="{FF2B5EF4-FFF2-40B4-BE49-F238E27FC236}">
                <a16:creationId xmlns:a16="http://schemas.microsoft.com/office/drawing/2014/main" id="{D0E2D1D3-CA4C-4364-BEF9-43A4EF77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5260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pass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9F1CA1-3E30-4860-B0B7-86EF7318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6613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s = GraduateStudent.from_name(&quot;Amy&quot;)">
            <a:extLst xmlns:a="http://schemas.openxmlformats.org/drawingml/2006/main">
              <a:ext uri="{FF2B5EF4-FFF2-40B4-BE49-F238E27FC236}">
                <a16:creationId xmlns:a16="http://schemas.microsoft.com/office/drawing/2014/main" id="{E154B59A-2866-4A65-9E38-EA1BAF03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7967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s = GraduateStudent.from_name("Amy")</a:t>
            </a:r>
          </a:p>
        </p:txBody>
      </p:sp>
      <p:sp>
        <p:nvSpPr>
          <p:cNvPr id="16" name="print(type(s).__name__)">
            <a:extLst xmlns:a="http://schemas.openxmlformats.org/drawingml/2006/main">
              <a:ext uri="{FF2B5EF4-FFF2-40B4-BE49-F238E27FC236}">
                <a16:creationId xmlns:a16="http://schemas.microsoft.com/office/drawing/2014/main" id="{50A412D5-5E69-4851-A825-8A3F63D1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9321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print(type(s).__name__)</a:t>
            </a:r>
          </a:p>
        </p:txBody>
      </p:sp>
      <p:sp>
        <p:nvSpPr>
          <p:cNvPr id="17" name="cls 由實際呼叫決定">
            <a:extLst xmlns:a="http://schemas.openxmlformats.org/drawingml/2006/main">
              <a:ext uri="{FF2B5EF4-FFF2-40B4-BE49-F238E27FC236}">
                <a16:creationId xmlns:a16="http://schemas.microsoft.com/office/drawing/2014/main" id="{815C62AB-74A8-41C0-B5D2-98BFDE24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実際の呼び出しが cls を決定</a:t>
            </a:r>
          </a:p>
        </p:txBody>
      </p:sp>
      <p:sp>
        <p:nvSpPr>
          <p:cNvPr id="18" name="經由 GraduateStudent 呼叫， cls 就是 GraduateStudent。">
            <a:extLst xmlns:a="http://schemas.openxmlformats.org/drawingml/2006/main">
              <a:ext uri="{FF2B5EF4-FFF2-40B4-BE49-F238E27FC236}">
                <a16:creationId xmlns:a16="http://schemas.microsoft.com/office/drawing/2014/main" id="{3DD2DE72-39D7-4B46-9A97-701A46A3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GraduateStudent から呼ぶと、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cls は GraduateStudent。</a:t>
            </a:r>
          </a:p>
        </p:txBody>
      </p:sp>
      <p:sp>
        <p:nvSpPr>
          <p:cNvPr id="19" name="避免寫死 Student(...)">
            <a:extLst xmlns:a="http://schemas.openxmlformats.org/drawingml/2006/main">
              <a:ext uri="{FF2B5EF4-FFF2-40B4-BE49-F238E27FC236}">
                <a16:creationId xmlns:a16="http://schemas.microsoft.com/office/drawing/2014/main" id="{10EBEEA1-CBAB-480B-9853-3516FE6E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Student(...)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の固定を避ける</a:t>
            </a:r>
          </a:p>
        </p:txBody>
      </p:sp>
      <p:sp>
        <p:nvSpPr>
          <p:cNvPr id="20" name="本例沿用相容的 __init__。 繼承細節於後續週次展開。">
            <a:extLst xmlns:a="http://schemas.openxmlformats.org/drawingml/2006/main">
              <a:ext uri="{FF2B5EF4-FFF2-40B4-BE49-F238E27FC236}">
                <a16:creationId xmlns:a16="http://schemas.microsoft.com/office/drawing/2014/main" id="{9AE63DD3-6EE6-4F50-A35B-43F91DB32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互換性のある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__init__ を継承。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継承の詳細は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後の授業で扱う。</a:t>
            </a:r>
          </a:p>
        </p:txBody>
      </p:sp>
      <p:sp>
        <p:nvSpPr>
          <p:cNvPr id="21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C8870EEA-9980-45B1-81A9-543C2EFD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22" name="GraduateStudent">
            <a:extLst xmlns:a="http://schemas.openxmlformats.org/drawingml/2006/main">
              <a:ext uri="{FF2B5EF4-FFF2-40B4-BE49-F238E27FC236}">
                <a16:creationId xmlns:a16="http://schemas.microsoft.com/office/drawing/2014/main" id="{516969DE-9443-473A-84A9-25DBB968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GraduateStudent</a:t>
            </a:r>
          </a:p>
        </p:txBody>
      </p:sp>
    </p:spTree>
    <p:extLst>
      <p:ext uri="{BB962C8B-B14F-4D97-AF65-F5344CB8AC3E}">
        <p14:creationId xmlns:p14="http://schemas.microsoft.com/office/powerpoint/2010/main" val="211260420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taticmethod 與純工具操作">
            <a:extLst xmlns:a="http://schemas.openxmlformats.org/drawingml/2006/main">
              <a:ext uri="{FF2B5EF4-FFF2-40B4-BE49-F238E27FC236}">
                <a16:creationId xmlns:a16="http://schemas.microsoft.com/office/drawing/2014/main" id="{FF9676BF-577E-490D-BC7E-1576DFAB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staticmethod とユーティリティ操作</a:t>
            </a:r>
          </a:p>
        </p:txBody>
      </p:sp>
      <p:sp>
        <p:nvSpPr>
          <p:cNvPr id="2" name="方法與建構方式">
            <a:extLst xmlns:a="http://schemas.openxmlformats.org/drawingml/2006/main">
              <a:ext uri="{FF2B5EF4-FFF2-40B4-BE49-F238E27FC236}">
                <a16:creationId xmlns:a16="http://schemas.microsoft.com/office/drawing/2014/main" id="{F5054F46-7F91-4995-BABA-28C23238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メソッドと生成方法</a:t>
            </a:r>
          </a:p>
        </p:txBody>
      </p:sp>
      <p:sp>
        <p:nvSpPr>
          <p:cNvPr id="3" name="29">
            <a:extLst xmlns:a="http://schemas.openxmlformats.org/drawingml/2006/main">
              <a:ext uri="{FF2B5EF4-FFF2-40B4-BE49-F238E27FC236}">
                <a16:creationId xmlns:a16="http://schemas.microsoft.com/office/drawing/2014/main" id="{AF522CE7-6756-4F18-A5EF-36D0D279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29</a:t>
            </a:r>
          </a:p>
        </p:txBody>
      </p:sp>
      <p:sp>
        <p:nvSpPr>
          <p:cNvPr id="4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2A438830-3A13-49AF-893C-28330F77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5" name="    @staticmethod">
            <a:extLst xmlns:a="http://schemas.openxmlformats.org/drawingml/2006/main">
              <a:ext uri="{FF2B5EF4-FFF2-40B4-BE49-F238E27FC236}">
                <a16:creationId xmlns:a16="http://schemas.microsoft.com/office/drawing/2014/main" id="{6B71806F-1105-4A8E-A8CF-ADC19551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@staticmethod</a:t>
            </a:r>
          </a:p>
        </p:txBody>
      </p:sp>
      <p:sp>
        <p:nvSpPr>
          <p:cNvPr id="6" name="    def normalize_name(name):">
            <a:extLst xmlns:a="http://schemas.openxmlformats.org/drawingml/2006/main">
              <a:ext uri="{FF2B5EF4-FFF2-40B4-BE49-F238E27FC236}">
                <a16:creationId xmlns:a16="http://schemas.microsoft.com/office/drawing/2014/main" id="{FF9100B3-3BAF-49A3-84D3-C861354D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def normalize_name(name):</a:t>
            </a:r>
          </a:p>
        </p:txBody>
      </p:sp>
      <p:sp>
        <p:nvSpPr>
          <p:cNvPr id="7" name="        return &quot; &quot;.join(name.split())">
            <a:extLst xmlns:a="http://schemas.openxmlformats.org/drawingml/2006/main">
              <a:ext uri="{FF2B5EF4-FFF2-40B4-BE49-F238E27FC236}">
                <a16:creationId xmlns:a16="http://schemas.microsoft.com/office/drawing/2014/main" id="{C12687E6-6FE9-4E51-A8A9-E8AA0E1F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return " ".join(name.split())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323F4E-3CCC-4A9B-9E0D-7D204C65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print(Student.normalize_name(&quot;  Amy   Chen  &quot;))">
            <a:extLst xmlns:a="http://schemas.openxmlformats.org/drawingml/2006/main">
              <a:ext uri="{FF2B5EF4-FFF2-40B4-BE49-F238E27FC236}">
                <a16:creationId xmlns:a16="http://schemas.microsoft.com/office/drawing/2014/main" id="{D68DF171-821C-4DB6-8123-FFC7EC08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print(Student.normalize_name("  Amy   Chen  "))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CC13FD-B787-4964-9E26-2812472B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s = Student()">
            <a:extLst xmlns:a="http://schemas.openxmlformats.org/drawingml/2006/main">
              <a:ext uri="{FF2B5EF4-FFF2-40B4-BE49-F238E27FC236}">
                <a16:creationId xmlns:a16="http://schemas.microsoft.com/office/drawing/2014/main" id="{E87D36BA-B63F-453C-812C-CA1A8FD3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s = Student()</a:t>
            </a:r>
          </a:p>
        </p:txBody>
      </p:sp>
      <p:sp>
        <p:nvSpPr>
          <p:cNvPr id="12" name="print(s.normalize_name(&quot;  Bob  &quot;))">
            <a:extLst xmlns:a="http://schemas.openxmlformats.org/drawingml/2006/main">
              <a:ext uri="{FF2B5EF4-FFF2-40B4-BE49-F238E27FC236}">
                <a16:creationId xmlns:a16="http://schemas.microsoft.com/office/drawing/2014/main" id="{0FAE334C-9E93-451D-878F-F5A2F866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print(s.normalize_name("  Bob  "))</a:t>
            </a:r>
          </a:p>
        </p:txBody>
      </p:sp>
      <p:sp>
        <p:nvSpPr>
          <p:cNvPr id="13" name="不自動傳入 self 或 cls">
            <a:extLst xmlns:a="http://schemas.openxmlformats.org/drawingml/2006/main">
              <a:ext uri="{FF2B5EF4-FFF2-40B4-BE49-F238E27FC236}">
                <a16:creationId xmlns:a16="http://schemas.microsoft.com/office/drawing/2014/main" id="{B53E6D3B-BEDC-4323-BFEA-F01E7CCE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self や cls を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自動で渡さない</a:t>
            </a:r>
          </a:p>
        </p:txBody>
      </p:sp>
      <p:sp>
        <p:nvSpPr>
          <p:cNvPr id="14" name="結果完全取決於傳入的 name。 此方法沒有使用實體狀態。">
            <a:extLst xmlns:a="http://schemas.openxmlformats.org/drawingml/2006/main">
              <a:ext uri="{FF2B5EF4-FFF2-40B4-BE49-F238E27FC236}">
                <a16:creationId xmlns:a16="http://schemas.microsoft.com/office/drawing/2014/main" id="{A1544428-31DE-47E7-B31E-060385E1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結果は引数 name に依存。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インスタンスの状態は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使っていない。</a:t>
            </a:r>
          </a:p>
        </p:txBody>
      </p:sp>
      <p:sp>
        <p:nvSpPr>
          <p:cNvPr id="15" name="也可考慮模組函式">
            <a:extLst xmlns:a="http://schemas.openxmlformats.org/drawingml/2006/main">
              <a:ext uri="{FF2B5EF4-FFF2-40B4-BE49-F238E27FC236}">
                <a16:creationId xmlns:a16="http://schemas.microsoft.com/office/drawing/2014/main" id="{26D71E19-3322-444E-AF66-B14EFAC2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モジュール関数も選択肢</a:t>
            </a:r>
          </a:p>
        </p:txBody>
      </p:sp>
      <p:sp>
        <p:nvSpPr>
          <p:cNvPr id="16" name="若工具與 Student 關係不大， 放在模組層級可能更清楚。">
            <a:extLst xmlns:a="http://schemas.openxmlformats.org/drawingml/2006/main">
              <a:ext uri="{FF2B5EF4-FFF2-40B4-BE49-F238E27FC236}">
                <a16:creationId xmlns:a16="http://schemas.microsoft.com/office/drawing/2014/main" id="{C34C44A2-785E-4F8F-8530-0D023272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Student との関連が薄いなら、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モジュール側に置く方が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分かりやすい場合もある。</a:t>
            </a:r>
          </a:p>
        </p:txBody>
      </p:sp>
      <p:sp>
        <p:nvSpPr>
          <p:cNvPr id="17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75CE7BDC-D57E-47D6-8F6C-6F7F23E2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18" name="Amy Chen    Bob">
            <a:extLst xmlns:a="http://schemas.openxmlformats.org/drawingml/2006/main">
              <a:ext uri="{FF2B5EF4-FFF2-40B4-BE49-F238E27FC236}">
                <a16:creationId xmlns:a16="http://schemas.microsoft.com/office/drawing/2014/main" id="{D31FC3E3-A0BE-45F2-81EB-99A83B20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Amy Chen    Bob</a:t>
            </a:r>
          </a:p>
        </p:txBody>
      </p:sp>
    </p:spTree>
    <p:extLst>
      <p:ext uri="{BB962C8B-B14F-4D97-AF65-F5344CB8AC3E}">
        <p14:creationId xmlns:p14="http://schemas.microsoft.com/office/powerpoint/2010/main" val="174049044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方法應放在哪裡？">
            <a:extLst xmlns:a="http://schemas.openxmlformats.org/drawingml/2006/main">
              <a:ext uri="{FF2B5EF4-FFF2-40B4-BE49-F238E27FC236}">
                <a16:creationId xmlns:a16="http://schemas.microsoft.com/office/drawing/2014/main" id="{A700FF3B-51C3-4C00-B568-5B9D0F43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メソッドを配置する場所</a:t>
            </a:r>
          </a:p>
        </p:txBody>
      </p:sp>
      <p:sp>
        <p:nvSpPr>
          <p:cNvPr id="2" name="方法與建構方式">
            <a:extLst xmlns:a="http://schemas.openxmlformats.org/drawingml/2006/main">
              <a:ext uri="{FF2B5EF4-FFF2-40B4-BE49-F238E27FC236}">
                <a16:creationId xmlns:a16="http://schemas.microsoft.com/office/drawing/2014/main" id="{58E67FEC-8B86-4F85-9CCD-9BFFB293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メソッドと生成方法</a:t>
            </a:r>
          </a:p>
        </p:txBody>
      </p:sp>
      <p:sp>
        <p:nvSpPr>
          <p:cNvPr id="3" name="30">
            <a:extLst xmlns:a="http://schemas.openxmlformats.org/drawingml/2006/main">
              <a:ext uri="{FF2B5EF4-FFF2-40B4-BE49-F238E27FC236}">
                <a16:creationId xmlns:a16="http://schemas.microsoft.com/office/drawing/2014/main" id="{E7F80E34-82DE-4AA1-B39C-D79203E1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30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095750"/>
                <a:gridCol w="2476500"/>
                <a:gridCol w="4400550"/>
              </a:tblGrid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必要な条件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適した選択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例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あるオブジェクトの状態に依存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インスタンスメソッド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amy.rename("Ann")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呼び出すクラスや生成する型に依存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クラスメソッド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Student.from_csv(row)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クラスに関連するが</a:t>
                      </a:r>
                    </a:p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状態には依存しない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静的メソッド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Student.normalize_name(text)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複数の型で使う一般的な道具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モジュール関数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normalize_whitespace(text)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  <p:sp>
        <p:nvSpPr>
          <p:cNvPr id="5" name="先看資料依賴與責任，再選裝飾器。">
            <a:extLst xmlns:a="http://schemas.openxmlformats.org/drawingml/2006/main">
              <a:ext uri="{FF2B5EF4-FFF2-40B4-BE49-F238E27FC236}">
                <a16:creationId xmlns:a16="http://schemas.microsoft.com/office/drawing/2014/main" id="{794F15AF-400C-4168-B204-0BE4C76C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7061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データへの依存と責任を確認してから装飾子を選びます。</a:t>
            </a:r>
          </a:p>
        </p:txBody>
      </p:sp>
    </p:spTree>
    <p:extLst>
      <p:ext uri="{BB962C8B-B14F-4D97-AF65-F5344CB8AC3E}">
        <p14:creationId xmlns:p14="http://schemas.microsoft.com/office/powerpoint/2010/main" val="138889691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初始化時建立有效狀態">
            <a:extLst xmlns:a="http://schemas.openxmlformats.org/drawingml/2006/main">
              <a:ext uri="{FF2B5EF4-FFF2-40B4-BE49-F238E27FC236}">
                <a16:creationId xmlns:a16="http://schemas.microsoft.com/office/drawing/2014/main" id="{7525AE94-C972-4561-844B-00617B00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初期化で有効な状態を確立する</a:t>
            </a:r>
          </a:p>
        </p:txBody>
      </p:sp>
      <p:sp>
        <p:nvSpPr>
          <p:cNvPr id="2" name="狀態與行為">
            <a:extLst xmlns:a="http://schemas.openxmlformats.org/drawingml/2006/main">
              <a:ext uri="{FF2B5EF4-FFF2-40B4-BE49-F238E27FC236}">
                <a16:creationId xmlns:a16="http://schemas.microsoft.com/office/drawing/2014/main" id="{24D46079-C940-4730-BAAB-EA2D1A35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状態と振る舞い</a:t>
            </a:r>
          </a:p>
        </p:txBody>
      </p:sp>
      <p:sp>
        <p:nvSpPr>
          <p:cNvPr id="3" name="31">
            <a:extLst xmlns:a="http://schemas.openxmlformats.org/drawingml/2006/main">
              <a:ext uri="{FF2B5EF4-FFF2-40B4-BE49-F238E27FC236}">
                <a16:creationId xmlns:a16="http://schemas.microsoft.com/office/drawing/2014/main" id="{D14ECBC4-DA51-4966-A777-7F22D015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31</a:t>
            </a:r>
          </a:p>
        </p:txBody>
      </p:sp>
      <p:sp>
        <p:nvSpPr>
          <p:cNvPr id="4" name="必備資料">
            <a:extLst xmlns:a="http://schemas.openxmlformats.org/drawingml/2006/main">
              <a:ext uri="{FF2B5EF4-FFF2-40B4-BE49-F238E27FC236}">
                <a16:creationId xmlns:a16="http://schemas.microsoft.com/office/drawing/2014/main" id="{923C8220-2FE7-448B-8D65-82AEB1FC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1450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必須データ</a:t>
            </a:r>
          </a:p>
        </p:txBody>
      </p:sp>
      <p:sp>
        <p:nvSpPr>
          <p:cNvPr id="5" name="建立物件後就具備所需屬性">
            <a:extLst xmlns:a="http://schemas.openxmlformats.org/drawingml/2006/main">
              <a:ext uri="{FF2B5EF4-FFF2-40B4-BE49-F238E27FC236}">
                <a16:creationId xmlns:a16="http://schemas.microsoft.com/office/drawing/2014/main" id="{95C01524-E2A1-4B97-A139-2E7621F0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743075"/>
            <a:ext cx="7858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生成直後に必要な属性がそろっている</a:t>
            </a:r>
          </a:p>
        </p:txBody>
      </p:sp>
      <p:sp>
        <p:nvSpPr>
          <p:cNvPr id="6" name="合理數值">
            <a:extLst xmlns:a="http://schemas.openxmlformats.org/drawingml/2006/main">
              <a:ext uri="{FF2B5EF4-FFF2-40B4-BE49-F238E27FC236}">
                <a16:creationId xmlns:a16="http://schemas.microsoft.com/office/drawing/2014/main" id="{692327B8-5087-4348-855C-8DD22B7C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05075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妥当な値</a:t>
            </a:r>
          </a:p>
        </p:txBody>
      </p:sp>
      <p:sp>
        <p:nvSpPr>
          <p:cNvPr id="7" name="餘額不得為負，金額採整數單位">
            <a:extLst xmlns:a="http://schemas.openxmlformats.org/drawingml/2006/main">
              <a:ext uri="{FF2B5EF4-FFF2-40B4-BE49-F238E27FC236}">
                <a16:creationId xmlns:a16="http://schemas.microsoft.com/office/drawing/2014/main" id="{21FEB4DB-CC3C-4A64-9155-60A4FF71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533650"/>
            <a:ext cx="7858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残高は非負とし、金額には整数単位を使う</a:t>
            </a:r>
          </a:p>
        </p:txBody>
      </p:sp>
      <p:sp>
        <p:nvSpPr>
          <p:cNvPr id="8" name="失敗方式">
            <a:extLst xmlns:a="http://schemas.openxmlformats.org/drawingml/2006/main">
              <a:ext uri="{FF2B5EF4-FFF2-40B4-BE49-F238E27FC236}">
                <a16:creationId xmlns:a16="http://schemas.microsoft.com/office/drawing/2014/main" id="{DCDDD016-F4B4-4D9C-8B23-DEAA39FD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9565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失敗時の動作</a:t>
            </a:r>
          </a:p>
        </p:txBody>
      </p:sp>
      <p:sp>
        <p:nvSpPr>
          <p:cNvPr id="9" name="無效輸入以例外拒絕建立">
            <a:extLst xmlns:a="http://schemas.openxmlformats.org/drawingml/2006/main">
              <a:ext uri="{FF2B5EF4-FFF2-40B4-BE49-F238E27FC236}">
                <a16:creationId xmlns:a16="http://schemas.microsoft.com/office/drawing/2014/main" id="{BE1864E2-019F-406F-83B0-2102EA38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324225"/>
            <a:ext cx="7858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無効な入力は例外で拒否する</a:t>
            </a:r>
          </a:p>
        </p:txBody>
      </p:sp>
      <p:sp>
        <p:nvSpPr>
          <p:cNvPr id="10" name="操作順序">
            <a:extLst xmlns:a="http://schemas.openxmlformats.org/drawingml/2006/main">
              <a:ext uri="{FF2B5EF4-FFF2-40B4-BE49-F238E27FC236}">
                <a16:creationId xmlns:a16="http://schemas.microsoft.com/office/drawing/2014/main" id="{58CFE663-E180-4B52-A120-130B6FB4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86225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操作の順序</a:t>
            </a:r>
          </a:p>
        </p:txBody>
      </p:sp>
      <p:sp>
        <p:nvSpPr>
          <p:cNvPr id="11" name="先檢查條件，再修改狀態">
            <a:extLst xmlns:a="http://schemas.openxmlformats.org/drawingml/2006/main">
              <a:ext uri="{FF2B5EF4-FFF2-40B4-BE49-F238E27FC236}">
                <a16:creationId xmlns:a16="http://schemas.microsoft.com/office/drawing/2014/main" id="{B39EE4D3-FA13-4586-B1EC-8D34A338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114800"/>
            <a:ext cx="7858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条件を確認してから状態を変更する</a:t>
            </a:r>
          </a:p>
        </p:txBody>
      </p:sp>
      <p:sp>
        <p:nvSpPr>
          <p:cNvPr id="12" name="BankAccount 是簡化的課堂模型，用來觀察狀態驗證與方法責任。">
            <a:extLst xmlns:a="http://schemas.openxmlformats.org/drawingml/2006/main">
              <a:ext uri="{FF2B5EF4-FFF2-40B4-BE49-F238E27FC236}">
                <a16:creationId xmlns:a16="http://schemas.microsoft.com/office/drawing/2014/main" id="{C38DA748-FDF3-4FC8-A8CB-1094DC2F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981700"/>
            <a:ext cx="10763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BankAccount は状態の検証とメソッドの責任を観察するための簡略モデルです。</a:t>
            </a:r>
          </a:p>
        </p:txBody>
      </p:sp>
    </p:spTree>
    <p:extLst>
      <p:ext uri="{BB962C8B-B14F-4D97-AF65-F5344CB8AC3E}">
        <p14:creationId xmlns:p14="http://schemas.microsoft.com/office/powerpoint/2010/main" val="145717063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ankAccount：建立時驗證資料">
            <a:extLst xmlns:a="http://schemas.openxmlformats.org/drawingml/2006/main">
              <a:ext uri="{FF2B5EF4-FFF2-40B4-BE49-F238E27FC236}">
                <a16:creationId xmlns:a16="http://schemas.microsoft.com/office/drawing/2014/main" id="{980340DC-98D0-4007-9E82-8A94E84D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BankAccount：初期化時の入力検証</a:t>
            </a:r>
          </a:p>
        </p:txBody>
      </p:sp>
      <p:sp>
        <p:nvSpPr>
          <p:cNvPr id="2" name="狀態與行為">
            <a:extLst xmlns:a="http://schemas.openxmlformats.org/drawingml/2006/main">
              <a:ext uri="{FF2B5EF4-FFF2-40B4-BE49-F238E27FC236}">
                <a16:creationId xmlns:a16="http://schemas.microsoft.com/office/drawing/2014/main" id="{35FBEBE1-4AF9-4F60-85A1-2BF6245B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状態と振る舞い</a:t>
            </a:r>
          </a:p>
        </p:txBody>
      </p:sp>
      <p:sp>
        <p:nvSpPr>
          <p:cNvPr id="3" name="32">
            <a:extLst xmlns:a="http://schemas.openxmlformats.org/drawingml/2006/main">
              <a:ext uri="{FF2B5EF4-FFF2-40B4-BE49-F238E27FC236}">
                <a16:creationId xmlns:a16="http://schemas.microsoft.com/office/drawing/2014/main" id="{B0D35730-5F01-4E8C-B749-0CCA9D91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32</a:t>
            </a:r>
          </a:p>
        </p:txBody>
      </p:sp>
      <p:sp>
        <p:nvSpPr>
          <p:cNvPr id="4" name="class BankAccount:">
            <a:extLst xmlns:a="http://schemas.openxmlformats.org/drawingml/2006/main">
              <a:ext uri="{FF2B5EF4-FFF2-40B4-BE49-F238E27FC236}">
                <a16:creationId xmlns:a16="http://schemas.microsoft.com/office/drawing/2014/main" id="{CEBD5CDE-EC3A-4186-B94C-C4D40AB4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BankAccount:</a:t>
            </a:r>
          </a:p>
        </p:txBody>
      </p:sp>
      <p:sp>
        <p:nvSpPr>
          <p:cNvPr id="5" name="    def __init__(self, owner: str, balance: int = 0):">
            <a:extLst xmlns:a="http://schemas.openxmlformats.org/drawingml/2006/main">
              <a:ext uri="{FF2B5EF4-FFF2-40B4-BE49-F238E27FC236}">
                <a16:creationId xmlns:a16="http://schemas.microsoft.com/office/drawing/2014/main" id="{BD6BA17B-9BC1-4EE4-B55D-9C8474EA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__init__(self, owner: str, balance: int = 0):</a:t>
            </a:r>
          </a:p>
        </p:txBody>
      </p:sp>
      <p:sp>
        <p:nvSpPr>
          <p:cNvPr id="6" name="        if not isinstance(owner, str) or not owner.stri">
            <a:extLst xmlns:a="http://schemas.openxmlformats.org/drawingml/2006/main">
              <a:ext uri="{FF2B5EF4-FFF2-40B4-BE49-F238E27FC236}">
                <a16:creationId xmlns:a16="http://schemas.microsoft.com/office/drawing/2014/main" id="{E387765E-CAE9-4421-818A-7593693A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if not isinstance(owner, str) or not owner.strip():</a:t>
            </a:r>
          </a:p>
        </p:txBody>
      </p:sp>
      <p:sp>
        <p:nvSpPr>
          <p:cNvPr id="7" name="            raise ValueError(&quot;owner required&quot;)">
            <a:extLst xmlns:a="http://schemas.openxmlformats.org/drawingml/2006/main">
              <a:ext uri="{FF2B5EF4-FFF2-40B4-BE49-F238E27FC236}">
                <a16:creationId xmlns:a16="http://schemas.microsoft.com/office/drawing/2014/main" id="{796B0670-D081-4ACB-A240-1C037C11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raise ValueError("owner required")</a:t>
            </a:r>
          </a:p>
        </p:txBody>
      </p:sp>
      <p:sp>
        <p:nvSpPr>
          <p:cNvPr id="8" name="        if type(balance) is not int or balance &lt; 0:">
            <a:extLst xmlns:a="http://schemas.openxmlformats.org/drawingml/2006/main">
              <a:ext uri="{FF2B5EF4-FFF2-40B4-BE49-F238E27FC236}">
                <a16:creationId xmlns:a16="http://schemas.microsoft.com/office/drawing/2014/main" id="{EA93654D-4B47-47D2-BB15-A4C916BB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if type(balance) is not int or balance &lt; 0:</a:t>
            </a:r>
          </a:p>
        </p:txBody>
      </p:sp>
      <p:sp>
        <p:nvSpPr>
          <p:cNvPr id="9" name="            raise ValueError(&quot;invalid balance&quot;)">
            <a:extLst xmlns:a="http://schemas.openxmlformats.org/drawingml/2006/main">
              <a:ext uri="{FF2B5EF4-FFF2-40B4-BE49-F238E27FC236}">
                <a16:creationId xmlns:a16="http://schemas.microsoft.com/office/drawing/2014/main" id="{F87E7E73-662C-4A82-86EE-BC84EFC5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raise ValueError("invalid balance")</a:t>
            </a:r>
          </a:p>
        </p:txBody>
      </p:sp>
      <p:sp>
        <p:nvSpPr>
          <p:cNvPr id="10" name="        self.owner = owner.strip()">
            <a:extLst xmlns:a="http://schemas.openxmlformats.org/drawingml/2006/main">
              <a:ext uri="{FF2B5EF4-FFF2-40B4-BE49-F238E27FC236}">
                <a16:creationId xmlns:a16="http://schemas.microsoft.com/office/drawing/2014/main" id="{4ADF32D3-642A-48B7-AC3A-6BF329BE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self.owner = owner.strip()</a:t>
            </a:r>
          </a:p>
        </p:txBody>
      </p:sp>
      <p:sp>
        <p:nvSpPr>
          <p:cNvPr id="11" name="        self.balance = balance">
            <a:extLst xmlns:a="http://schemas.openxmlformats.org/drawingml/2006/main">
              <a:ext uri="{FF2B5EF4-FFF2-40B4-BE49-F238E27FC236}">
                <a16:creationId xmlns:a16="http://schemas.microsoft.com/office/drawing/2014/main" id="{1F3EA77F-24D4-464B-8E54-DC176604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self.balance = balance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9B095E-98D5-4845-B7D8-70629A3C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account = BankAccount(&quot;Amy&quot;, 100)">
            <a:extLst xmlns:a="http://schemas.openxmlformats.org/drawingml/2006/main">
              <a:ext uri="{FF2B5EF4-FFF2-40B4-BE49-F238E27FC236}">
                <a16:creationId xmlns:a16="http://schemas.microsoft.com/office/drawing/2014/main" id="{8524C454-5C76-4BC3-8560-3EA3D907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account = BankAccount("Amy", 100)</a:t>
            </a:r>
          </a:p>
        </p:txBody>
      </p:sp>
      <p:sp>
        <p:nvSpPr>
          <p:cNvPr id="14" name="print(account.owner, account.balance)">
            <a:extLst xmlns:a="http://schemas.openxmlformats.org/drawingml/2006/main">
              <a:ext uri="{FF2B5EF4-FFF2-40B4-BE49-F238E27FC236}">
                <a16:creationId xmlns:a16="http://schemas.microsoft.com/office/drawing/2014/main" id="{408FFB4D-4E57-4070-9C6C-03950330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print(account.owner, account.balance)</a:t>
            </a:r>
          </a:p>
        </p:txBody>
      </p:sp>
      <p:sp>
        <p:nvSpPr>
          <p:cNvPr id="15" name="條件通過後保存屬性">
            <a:extLst xmlns:a="http://schemas.openxmlformats.org/drawingml/2006/main">
              <a:ext uri="{FF2B5EF4-FFF2-40B4-BE49-F238E27FC236}">
                <a16:creationId xmlns:a16="http://schemas.microsoft.com/office/drawing/2014/main" id="{AF4E14EF-52BF-40FF-9A8E-04288383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検証後に属性を保存</a:t>
            </a:r>
          </a:p>
        </p:txBody>
      </p:sp>
      <p:sp>
        <p:nvSpPr>
          <p:cNvPr id="16" name="拒絕空姓名與無效餘額。 成功建立就有完整的必要狀態。">
            <a:extLst xmlns:a="http://schemas.openxmlformats.org/drawingml/2006/main">
              <a:ext uri="{FF2B5EF4-FFF2-40B4-BE49-F238E27FC236}">
                <a16:creationId xmlns:a16="http://schemas.microsoft.com/office/drawing/2014/main" id="{6787418F-4FFB-40B6-A13B-8C0AD0E4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空の名義や無効な残高を拒否。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生成に成功すれば、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必要な状態がそろう。</a:t>
            </a:r>
          </a:p>
        </p:txBody>
      </p:sp>
      <p:sp>
        <p:nvSpPr>
          <p:cNvPr id="17" name="型別提示不自動驗證">
            <a:extLst xmlns:a="http://schemas.openxmlformats.org/drawingml/2006/main">
              <a:ext uri="{FF2B5EF4-FFF2-40B4-BE49-F238E27FC236}">
                <a16:creationId xmlns:a16="http://schemas.microsoft.com/office/drawing/2014/main" id="{CC2C2039-7ED2-4C88-8E93-3BF7DC66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型ヒントは自動検証しない</a:t>
            </a:r>
          </a:p>
        </p:txBody>
      </p:sp>
      <p:sp>
        <p:nvSpPr>
          <p:cNvPr id="18" name="本例明確檢查執行期輸入。 type(...) is int 也排除 bool。">
            <a:extLst xmlns:a="http://schemas.openxmlformats.org/drawingml/2006/main">
              <a:ext uri="{FF2B5EF4-FFF2-40B4-BE49-F238E27FC236}">
                <a16:creationId xmlns:a16="http://schemas.microsoft.com/office/drawing/2014/main" id="{2B9B9694-9EC0-4AAA-A648-F24D8373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実行時に明示的に検証する。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type(...) is int は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bool も除外する。</a:t>
            </a:r>
          </a:p>
        </p:txBody>
      </p:sp>
      <p:sp>
        <p:nvSpPr>
          <p:cNvPr id="19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7DBFE24E-3A1B-4F98-9830-379DB3A3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20" name="Amy 100">
            <a:extLst xmlns:a="http://schemas.openxmlformats.org/drawingml/2006/main">
              <a:ext uri="{FF2B5EF4-FFF2-40B4-BE49-F238E27FC236}">
                <a16:creationId xmlns:a16="http://schemas.microsoft.com/office/drawing/2014/main" id="{51973CB2-353F-4C62-9B5C-569C82DD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Amy 100</a:t>
            </a:r>
          </a:p>
        </p:txBody>
      </p:sp>
    </p:spTree>
    <p:extLst>
      <p:ext uri="{BB962C8B-B14F-4D97-AF65-F5344CB8AC3E}">
        <p14:creationId xmlns:p14="http://schemas.microsoft.com/office/powerpoint/2010/main" val="122727439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BankAccount：方法維持狀態規則">
            <a:extLst xmlns:a="http://schemas.openxmlformats.org/drawingml/2006/main">
              <a:ext uri="{FF2B5EF4-FFF2-40B4-BE49-F238E27FC236}">
                <a16:creationId xmlns:a16="http://schemas.microsoft.com/office/drawing/2014/main" id="{F05EC641-BE8F-4A0B-9337-01E5F6C6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BankAccount：メソッドで状態の規則を維持</a:t>
            </a:r>
          </a:p>
        </p:txBody>
      </p:sp>
      <p:sp>
        <p:nvSpPr>
          <p:cNvPr id="2" name="狀態與行為">
            <a:extLst xmlns:a="http://schemas.openxmlformats.org/drawingml/2006/main">
              <a:ext uri="{FF2B5EF4-FFF2-40B4-BE49-F238E27FC236}">
                <a16:creationId xmlns:a16="http://schemas.microsoft.com/office/drawing/2014/main" id="{3376D963-DB17-421A-BD46-1B0F0EFB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状態と振る舞い</a:t>
            </a:r>
          </a:p>
        </p:txBody>
      </p:sp>
      <p:sp>
        <p:nvSpPr>
          <p:cNvPr id="3" name="33">
            <a:extLst xmlns:a="http://schemas.openxmlformats.org/drawingml/2006/main">
              <a:ext uri="{FF2B5EF4-FFF2-40B4-BE49-F238E27FC236}">
                <a16:creationId xmlns:a16="http://schemas.microsoft.com/office/drawing/2014/main" id="{CCFC4F3A-4F57-4EE5-865F-B782D391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33</a:t>
            </a:r>
          </a:p>
        </p:txBody>
      </p:sp>
      <p:sp>
        <p:nvSpPr>
          <p:cNvPr id="4" name="# Method inside BankAccount">
            <a:extLst xmlns:a="http://schemas.openxmlformats.org/drawingml/2006/main">
              <a:ext uri="{FF2B5EF4-FFF2-40B4-BE49-F238E27FC236}">
                <a16:creationId xmlns:a16="http://schemas.microsoft.com/office/drawing/2014/main" id="{C1ABCC15-0309-4920-A611-BBADE1C5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B6D73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5B6D73"/>
                </a:solidFill>
                <a:latin typeface="Consolas"/>
                <a:ea typeface="Consolas"/>
                <a:cs typeface="Consolas"/>
              </a:rPr>
              <a:t># Method inside BankAccount</a:t>
            </a:r>
          </a:p>
        </p:txBody>
      </p:sp>
      <p:sp>
        <p:nvSpPr>
          <p:cNvPr id="5" name="def deposit(self, amount: int) -&gt; None:">
            <a:extLst xmlns:a="http://schemas.openxmlformats.org/drawingml/2006/main">
              <a:ext uri="{FF2B5EF4-FFF2-40B4-BE49-F238E27FC236}">
                <a16:creationId xmlns:a16="http://schemas.microsoft.com/office/drawing/2014/main" id="{FC2567E8-7B4F-47ED-9500-68DDB927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4429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def deposit(self, amount: int) -&gt; None:</a:t>
            </a:r>
          </a:p>
        </p:txBody>
      </p:sp>
      <p:sp>
        <p:nvSpPr>
          <p:cNvPr id="6" name="    if type(amount) is not int or amount &lt;= 0:">
            <a:extLst xmlns:a="http://schemas.openxmlformats.org/drawingml/2006/main">
              <a:ext uri="{FF2B5EF4-FFF2-40B4-BE49-F238E27FC236}">
                <a16:creationId xmlns:a16="http://schemas.microsoft.com/office/drawing/2014/main" id="{DAA43578-0885-4A58-A21D-958C84C1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783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if type(amount) is not int or amount &lt;= 0:</a:t>
            </a:r>
          </a:p>
        </p:txBody>
      </p:sp>
      <p:sp>
        <p:nvSpPr>
          <p:cNvPr id="7" name="        raise ValueError(&quot;positive integer required&quot;)">
            <a:extLst xmlns:a="http://schemas.openxmlformats.org/drawingml/2006/main">
              <a:ext uri="{FF2B5EF4-FFF2-40B4-BE49-F238E27FC236}">
                <a16:creationId xmlns:a16="http://schemas.microsoft.com/office/drawing/2014/main" id="{1D020FE1-90D0-4270-8486-F4473F0D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87137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raise ValueError("positive integer required")</a:t>
            </a:r>
          </a:p>
        </p:txBody>
      </p:sp>
      <p:sp>
        <p:nvSpPr>
          <p:cNvPr id="8" name="    self.balance += amount">
            <a:extLst xmlns:a="http://schemas.openxmlformats.org/drawingml/2006/main">
              <a:ext uri="{FF2B5EF4-FFF2-40B4-BE49-F238E27FC236}">
                <a16:creationId xmlns:a16="http://schemas.microsoft.com/office/drawing/2014/main" id="{86C96A4A-AF3C-4A77-BBFF-015D6B0E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8490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self.balance += amount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FD8011-FF4C-46FA-AE7F-5106AEAF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9844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account = BankAccount(&quot;Amy&quot;, 100)">
            <a:extLst xmlns:a="http://schemas.openxmlformats.org/drawingml/2006/main">
              <a:ext uri="{FF2B5EF4-FFF2-40B4-BE49-F238E27FC236}">
                <a16:creationId xmlns:a16="http://schemas.microsoft.com/office/drawing/2014/main" id="{7F28D05D-9FF3-4A25-AC24-A806C135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1198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account = BankAccount("Amy", 100)</a:t>
            </a:r>
          </a:p>
        </p:txBody>
      </p:sp>
      <p:sp>
        <p:nvSpPr>
          <p:cNvPr id="11" name="account.deposit(20)">
            <a:extLst xmlns:a="http://schemas.openxmlformats.org/drawingml/2006/main">
              <a:ext uri="{FF2B5EF4-FFF2-40B4-BE49-F238E27FC236}">
                <a16:creationId xmlns:a16="http://schemas.microsoft.com/office/drawing/2014/main" id="{D65E14A1-FCC9-4558-9BC4-2B8607F4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2552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account.deposit(20)</a:t>
            </a:r>
          </a:p>
        </p:txBody>
      </p:sp>
      <p:sp>
        <p:nvSpPr>
          <p:cNvPr id="12" name="try:">
            <a:extLst xmlns:a="http://schemas.openxmlformats.org/drawingml/2006/main">
              <a:ext uri="{FF2B5EF4-FFF2-40B4-BE49-F238E27FC236}">
                <a16:creationId xmlns:a16="http://schemas.microsoft.com/office/drawing/2014/main" id="{6770A108-D556-4EA8-BFD3-D92FC3AC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3906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try:</a:t>
            </a:r>
          </a:p>
        </p:txBody>
      </p:sp>
      <p:sp>
        <p:nvSpPr>
          <p:cNvPr id="13" name="    account.deposit(-5)">
            <a:extLst xmlns:a="http://schemas.openxmlformats.org/drawingml/2006/main">
              <a:ext uri="{FF2B5EF4-FFF2-40B4-BE49-F238E27FC236}">
                <a16:creationId xmlns:a16="http://schemas.microsoft.com/office/drawing/2014/main" id="{9506F68C-F4F8-4796-85DA-D2F27E4F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5260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account.deposit(-5)</a:t>
            </a:r>
          </a:p>
        </p:txBody>
      </p:sp>
      <p:sp>
        <p:nvSpPr>
          <p:cNvPr id="14" name="except ValueError:">
            <a:extLst xmlns:a="http://schemas.openxmlformats.org/drawingml/2006/main">
              <a:ext uri="{FF2B5EF4-FFF2-40B4-BE49-F238E27FC236}">
                <a16:creationId xmlns:a16="http://schemas.microsoft.com/office/drawing/2014/main" id="{AA46F192-0F38-407F-A398-22994F5D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6613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except ValueError:</a:t>
            </a:r>
          </a:p>
        </p:txBody>
      </p:sp>
      <p:sp>
        <p:nvSpPr>
          <p:cNvPr id="15" name="    print(&quot;rejected&quot;)">
            <a:extLst xmlns:a="http://schemas.openxmlformats.org/drawingml/2006/main">
              <a:ext uri="{FF2B5EF4-FFF2-40B4-BE49-F238E27FC236}">
                <a16:creationId xmlns:a16="http://schemas.microsoft.com/office/drawing/2014/main" id="{4F04ED2C-89E1-4D87-865B-E93765C3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7967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print("rejected")</a:t>
            </a:r>
          </a:p>
        </p:txBody>
      </p:sp>
      <p:sp>
        <p:nvSpPr>
          <p:cNvPr id="16" name="print(account.balance)">
            <a:extLst xmlns:a="http://schemas.openxmlformats.org/drawingml/2006/main">
              <a:ext uri="{FF2B5EF4-FFF2-40B4-BE49-F238E27FC236}">
                <a16:creationId xmlns:a16="http://schemas.microsoft.com/office/drawing/2014/main" id="{1794F22B-D5D5-47EB-9A86-BBAAE387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9321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print(account.balance)</a:t>
            </a:r>
          </a:p>
        </p:txBody>
      </p:sp>
      <p:sp>
        <p:nvSpPr>
          <p:cNvPr id="17" name="deposit 屬於帳戶的行為">
            <a:extLst xmlns:a="http://schemas.openxmlformats.org/drawingml/2006/main">
              <a:ext uri="{FF2B5EF4-FFF2-40B4-BE49-F238E27FC236}">
                <a16:creationId xmlns:a16="http://schemas.microsoft.com/office/drawing/2014/main" id="{3F6D75C9-4321-49A8-8A19-2044098E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deposit は口座の振る舞い</a:t>
            </a:r>
          </a:p>
        </p:txBody>
      </p:sp>
      <p:sp>
        <p:nvSpPr>
          <p:cNvPr id="18" name="操作接收者的 balance。 驗證失敗時不修改餘額。">
            <a:extLst xmlns:a="http://schemas.openxmlformats.org/drawingml/2006/main">
              <a:ext uri="{FF2B5EF4-FFF2-40B4-BE49-F238E27FC236}">
                <a16:creationId xmlns:a16="http://schemas.microsoft.com/office/drawing/2014/main" id="{3BB0D6BB-C437-45AB-8C94-9031007E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呼び出し先の残高を操作。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入力が無効なら、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残高を変更しない。</a:t>
            </a:r>
          </a:p>
        </p:txBody>
      </p:sp>
      <p:sp>
        <p:nvSpPr>
          <p:cNvPr id="19" name="沿用前頁的初始化">
            <a:extLst xmlns:a="http://schemas.openxmlformats.org/drawingml/2006/main">
              <a:ext uri="{FF2B5EF4-FFF2-40B4-BE49-F238E27FC236}">
                <a16:creationId xmlns:a16="http://schemas.microsoft.com/office/drawing/2014/main" id="{A758DFBF-39FA-4434-9C70-FE71C72E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前ページの初期化を使用</a:t>
            </a:r>
          </a:p>
        </p:txBody>
      </p:sp>
      <p:sp>
        <p:nvSpPr>
          <p:cNvPr id="20" name="此頁上方展示類別內的方法。 附檔包含完整 BankAccount。">
            <a:extLst xmlns:a="http://schemas.openxmlformats.org/drawingml/2006/main">
              <a:ext uri="{FF2B5EF4-FFF2-40B4-BE49-F238E27FC236}">
                <a16:creationId xmlns:a16="http://schemas.microsoft.com/office/drawing/2014/main" id="{05ECD1B7-24EA-4AC1-B082-77B67BF8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上段はクラス内メソッドの抜粋。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付属ファイルには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クラスの全体を収録。</a:t>
            </a:r>
          </a:p>
        </p:txBody>
      </p:sp>
      <p:sp>
        <p:nvSpPr>
          <p:cNvPr id="21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E950EC21-87BB-4B1A-A2E5-589102BB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22" name="rejected    120">
            <a:extLst xmlns:a="http://schemas.openxmlformats.org/drawingml/2006/main">
              <a:ext uri="{FF2B5EF4-FFF2-40B4-BE49-F238E27FC236}">
                <a16:creationId xmlns:a16="http://schemas.microsoft.com/office/drawing/2014/main" id="{AEA832BF-9DFA-4434-B9F3-6FA33FCF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rejected    120</a:t>
            </a:r>
          </a:p>
        </p:txBody>
      </p:sp>
    </p:spTree>
    <p:extLst>
      <p:ext uri="{BB962C8B-B14F-4D97-AF65-F5344CB8AC3E}">
        <p14:creationId xmlns:p14="http://schemas.microsoft.com/office/powerpoint/2010/main" val="47026227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公有屬性與規則的邊界">
            <a:extLst xmlns:a="http://schemas.openxmlformats.org/drawingml/2006/main">
              <a:ext uri="{FF2B5EF4-FFF2-40B4-BE49-F238E27FC236}">
                <a16:creationId xmlns:a16="http://schemas.microsoft.com/office/drawing/2014/main" id="{78787AA4-40D9-4968-B677-9FB594CA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公開属性と規則の適用範囲</a:t>
            </a:r>
          </a:p>
        </p:txBody>
      </p:sp>
      <p:sp>
        <p:nvSpPr>
          <p:cNvPr id="2" name="狀態與行為">
            <a:extLst xmlns:a="http://schemas.openxmlformats.org/drawingml/2006/main">
              <a:ext uri="{FF2B5EF4-FFF2-40B4-BE49-F238E27FC236}">
                <a16:creationId xmlns:a16="http://schemas.microsoft.com/office/drawing/2014/main" id="{A1C8E329-FAB0-421F-AA63-BC8BC8FD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状態と振る舞い</a:t>
            </a:r>
          </a:p>
        </p:txBody>
      </p:sp>
      <p:sp>
        <p:nvSpPr>
          <p:cNvPr id="3" name="34">
            <a:extLst xmlns:a="http://schemas.openxmlformats.org/drawingml/2006/main">
              <a:ext uri="{FF2B5EF4-FFF2-40B4-BE49-F238E27FC236}">
                <a16:creationId xmlns:a16="http://schemas.microsoft.com/office/drawing/2014/main" id="{997276CA-B715-4BA4-94D2-2EB5C8B4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34</a:t>
            </a:r>
          </a:p>
        </p:txBody>
      </p:sp>
      <p:sp>
        <p:nvSpPr>
          <p:cNvPr id="4" name="# BankAccount from the previous slide">
            <a:extLst xmlns:a="http://schemas.openxmlformats.org/drawingml/2006/main">
              <a:ext uri="{FF2B5EF4-FFF2-40B4-BE49-F238E27FC236}">
                <a16:creationId xmlns:a16="http://schemas.microsoft.com/office/drawing/2014/main" id="{600DAFC6-6615-4942-9FE1-FBEB8644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A9BDC7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A9BDC7"/>
                </a:solidFill>
                <a:latin typeface="Consolas"/>
                <a:ea typeface="Consolas"/>
                <a:cs typeface="Consolas"/>
              </a:rPr>
              <a:t># BankAccount from the previous slide</a:t>
            </a:r>
          </a:p>
        </p:txBody>
      </p:sp>
      <p:sp>
        <p:nvSpPr>
          <p:cNvPr id="5" name="account = BankAccount(&quot;Amy&quot;, 100)">
            <a:extLst xmlns:a="http://schemas.openxmlformats.org/drawingml/2006/main">
              <a:ext uri="{FF2B5EF4-FFF2-40B4-BE49-F238E27FC236}">
                <a16:creationId xmlns:a16="http://schemas.microsoft.com/office/drawing/2014/main" id="{90280E9A-FEDB-458A-95A9-29AC420E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account = BankAccount("Amy", 100)</a:t>
            </a:r>
          </a:p>
        </p:txBody>
      </p:sp>
      <p:sp>
        <p:nvSpPr>
          <p:cNvPr id="6" name="account.balance = -999">
            <a:extLst xmlns:a="http://schemas.openxmlformats.org/drawingml/2006/main">
              <a:ext uri="{FF2B5EF4-FFF2-40B4-BE49-F238E27FC236}">
                <a16:creationId xmlns:a16="http://schemas.microsoft.com/office/drawing/2014/main" id="{27B52DFF-08DB-46E7-9490-5E29AD74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account.balance = -999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D3F0C8-5BAA-4D62-AF38-3F140748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print(account.balance)">
            <a:extLst xmlns:a="http://schemas.openxmlformats.org/drawingml/2006/main">
              <a:ext uri="{FF2B5EF4-FFF2-40B4-BE49-F238E27FC236}">
                <a16:creationId xmlns:a16="http://schemas.microsoft.com/office/drawing/2014/main" id="{E5EAC920-7191-40CF-A97A-41D95558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print(account.balance)</a:t>
            </a:r>
          </a:p>
        </p:txBody>
      </p:sp>
      <p:sp>
        <p:nvSpPr>
          <p:cNvPr id="9" name="方法驗證有適用範圍">
            <a:extLst xmlns:a="http://schemas.openxmlformats.org/drawingml/2006/main">
              <a:ext uri="{FF2B5EF4-FFF2-40B4-BE49-F238E27FC236}">
                <a16:creationId xmlns:a16="http://schemas.microsoft.com/office/drawing/2014/main" id="{5C4CFCCF-499A-449B-8F29-58E0E322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メソッド検証の適用範囲</a:t>
            </a:r>
          </a:p>
        </p:txBody>
      </p:sp>
      <p:sp>
        <p:nvSpPr>
          <p:cNvPr id="10" name="deposit 只驗證經由 該方法進行的操作。">
            <a:extLst xmlns:a="http://schemas.openxmlformats.org/drawingml/2006/main">
              <a:ext uri="{FF2B5EF4-FFF2-40B4-BE49-F238E27FC236}">
                <a16:creationId xmlns:a16="http://schemas.microsoft.com/office/drawing/2014/main" id="{E33B7547-822F-43F8-9C49-78B45454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deposit は、そのメソッドを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通じた操作だけを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検証する。</a:t>
            </a:r>
          </a:p>
        </p:txBody>
      </p:sp>
      <p:sp>
        <p:nvSpPr>
          <p:cNvPr id="11" name="直接指定仍可繞過規則">
            <a:extLst xmlns:a="http://schemas.openxmlformats.org/drawingml/2006/main">
              <a:ext uri="{FF2B5EF4-FFF2-40B4-BE49-F238E27FC236}">
                <a16:creationId xmlns:a16="http://schemas.microsoft.com/office/drawing/2014/main" id="{2EAB5BA6-130C-4001-AD35-5E5C82BF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直接代入で検証を迂回できる</a:t>
            </a:r>
          </a:p>
        </p:txBody>
      </p:sp>
      <p:sp>
        <p:nvSpPr>
          <p:cNvPr id="12" name="本週的 balance 是公有屬性。 第四週以封裝與 property 深入。">
            <a:extLst xmlns:a="http://schemas.openxmlformats.org/drawingml/2006/main">
              <a:ext uri="{FF2B5EF4-FFF2-40B4-BE49-F238E27FC236}">
                <a16:creationId xmlns:a16="http://schemas.microsoft.com/office/drawing/2014/main" id="{59696EC2-3954-453A-AD45-0E1BE848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この例の balance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は公開属性。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第4週でカプセル化と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property を詳しく扱う。</a:t>
            </a:r>
          </a:p>
        </p:txBody>
      </p:sp>
      <p:sp>
        <p:nvSpPr>
          <p:cNvPr id="13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861841AE-B8D4-4941-990E-0E7402CA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14" name="-999">
            <a:extLst xmlns:a="http://schemas.openxmlformats.org/drawingml/2006/main">
              <a:ext uri="{FF2B5EF4-FFF2-40B4-BE49-F238E27FC236}">
                <a16:creationId xmlns:a16="http://schemas.microsoft.com/office/drawing/2014/main" id="{D1448278-08C2-48D6-A028-4D601609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-999</a:t>
            </a:r>
          </a:p>
        </p:txBody>
      </p:sp>
    </p:spTree>
    <p:extLst>
      <p:ext uri="{BB962C8B-B14F-4D97-AF65-F5344CB8AC3E}">
        <p14:creationId xmlns:p14="http://schemas.microsoft.com/office/powerpoint/2010/main" val="6266359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__repr__ 提供可讀的物件表示">
            <a:extLst xmlns:a="http://schemas.openxmlformats.org/drawingml/2006/main">
              <a:ext uri="{FF2B5EF4-FFF2-40B4-BE49-F238E27FC236}">
                <a16:creationId xmlns:a16="http://schemas.microsoft.com/office/drawing/2014/main" id="{5AAC011F-3C58-427F-9E95-6B6FF95B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__repr__ による読みやすいオブジェクト表現</a:t>
            </a:r>
          </a:p>
        </p:txBody>
      </p:sp>
      <p:sp>
        <p:nvSpPr>
          <p:cNvPr id="2" name="觀察與診斷">
            <a:extLst xmlns:a="http://schemas.openxmlformats.org/drawingml/2006/main">
              <a:ext uri="{FF2B5EF4-FFF2-40B4-BE49-F238E27FC236}">
                <a16:creationId xmlns:a16="http://schemas.microsoft.com/office/drawing/2014/main" id="{1E8AC2AE-E6A0-45B9-9309-5F6B94C7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観察と診断</a:t>
            </a:r>
          </a:p>
        </p:txBody>
      </p:sp>
      <p:sp>
        <p:nvSpPr>
          <p:cNvPr id="3" name="35">
            <a:extLst xmlns:a="http://schemas.openxmlformats.org/drawingml/2006/main">
              <a:ext uri="{FF2B5EF4-FFF2-40B4-BE49-F238E27FC236}">
                <a16:creationId xmlns:a16="http://schemas.microsoft.com/office/drawing/2014/main" id="{F265AE6F-8B11-456D-BCB3-6861F263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35</a:t>
            </a:r>
          </a:p>
        </p:txBody>
      </p:sp>
      <p:sp>
        <p:nvSpPr>
          <p:cNvPr id="4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31DF2798-4289-43C8-B7D3-D77CFA6D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5" name="    def __init__(self, student_id, name):">
            <a:extLst xmlns:a="http://schemas.openxmlformats.org/drawingml/2006/main">
              <a:ext uri="{FF2B5EF4-FFF2-40B4-BE49-F238E27FC236}">
                <a16:creationId xmlns:a16="http://schemas.microsoft.com/office/drawing/2014/main" id="{5A2C093C-E974-4C58-8431-A0B47EDA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4429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__init__(self, student_id, name):</a:t>
            </a:r>
          </a:p>
        </p:txBody>
      </p:sp>
      <p:sp>
        <p:nvSpPr>
          <p:cNvPr id="6" name="        self.student_id = student_id">
            <a:extLst xmlns:a="http://schemas.openxmlformats.org/drawingml/2006/main">
              <a:ext uri="{FF2B5EF4-FFF2-40B4-BE49-F238E27FC236}">
                <a16:creationId xmlns:a16="http://schemas.microsoft.com/office/drawing/2014/main" id="{CC83E4DE-5689-4C90-A04B-0256DF49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783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self.student_id = student_id</a:t>
            </a:r>
          </a:p>
        </p:txBody>
      </p:sp>
      <p:sp>
        <p:nvSpPr>
          <p:cNvPr id="7" name="    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9051A0F7-063A-41AB-801B-2B822A9D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87137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self.name = name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DC8CB8-853D-4E21-971C-B79EB688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8490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    def __repr__(self):">
            <a:extLst xmlns:a="http://schemas.openxmlformats.org/drawingml/2006/main">
              <a:ext uri="{FF2B5EF4-FFF2-40B4-BE49-F238E27FC236}">
                <a16:creationId xmlns:a16="http://schemas.microsoft.com/office/drawing/2014/main" id="{5752C9E4-D08B-4A03-9F5F-487B7824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9844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__repr__(self):</a:t>
            </a:r>
          </a:p>
        </p:txBody>
      </p:sp>
      <p:sp>
        <p:nvSpPr>
          <p:cNvPr id="10" name="        return (">
            <a:extLst xmlns:a="http://schemas.openxmlformats.org/drawingml/2006/main">
              <a:ext uri="{FF2B5EF4-FFF2-40B4-BE49-F238E27FC236}">
                <a16:creationId xmlns:a16="http://schemas.microsoft.com/office/drawing/2014/main" id="{EB68F943-7EBC-4887-A0EB-4769123C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1198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return (</a:t>
            </a:r>
          </a:p>
        </p:txBody>
      </p:sp>
      <p:sp>
        <p:nvSpPr>
          <p:cNvPr id="11" name="            f&quot;Student({self.student_id!r}, &quot;">
            <a:extLst xmlns:a="http://schemas.openxmlformats.org/drawingml/2006/main">
              <a:ext uri="{FF2B5EF4-FFF2-40B4-BE49-F238E27FC236}">
                <a16:creationId xmlns:a16="http://schemas.microsoft.com/office/drawing/2014/main" id="{BE64F147-F2E4-4787-BB60-8A91FC8B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2552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f"Student({self.student_id!r}, "</a:t>
            </a:r>
          </a:p>
        </p:txBody>
      </p:sp>
      <p:sp>
        <p:nvSpPr>
          <p:cNvPr id="12" name="            f&quot;{self.name!r})&quot;">
            <a:extLst xmlns:a="http://schemas.openxmlformats.org/drawingml/2006/main">
              <a:ext uri="{FF2B5EF4-FFF2-40B4-BE49-F238E27FC236}">
                <a16:creationId xmlns:a16="http://schemas.microsoft.com/office/drawing/2014/main" id="{970E408F-2B3F-43F9-BDD1-0C3DFD6F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3906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f"{self.name!r})"</a:t>
            </a:r>
          </a:p>
        </p:txBody>
      </p:sp>
      <p:sp>
        <p:nvSpPr>
          <p:cNvPr id="13" name="        )">
            <a:extLst xmlns:a="http://schemas.openxmlformats.org/drawingml/2006/main">
              <a:ext uri="{FF2B5EF4-FFF2-40B4-BE49-F238E27FC236}">
                <a16:creationId xmlns:a16="http://schemas.microsoft.com/office/drawing/2014/main" id="{325AE00A-7B09-4FE5-832D-C937827A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5260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8EF6E2-7637-40B1-AC07-B533A3F5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6613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amy = Student(&quot;B11501&quot;, &quot;Amy&quot;)">
            <a:extLst xmlns:a="http://schemas.openxmlformats.org/drawingml/2006/main">
              <a:ext uri="{FF2B5EF4-FFF2-40B4-BE49-F238E27FC236}">
                <a16:creationId xmlns:a16="http://schemas.microsoft.com/office/drawing/2014/main" id="{0FE6E86F-2532-415F-A018-3FCC4566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7967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amy = Student("B11501", "Amy")</a:t>
            </a:r>
          </a:p>
        </p:txBody>
      </p:sp>
      <p:sp>
        <p:nvSpPr>
          <p:cNvPr id="16" name="print(repr(amy))">
            <a:extLst xmlns:a="http://schemas.openxmlformats.org/drawingml/2006/main">
              <a:ext uri="{FF2B5EF4-FFF2-40B4-BE49-F238E27FC236}">
                <a16:creationId xmlns:a16="http://schemas.microsoft.com/office/drawing/2014/main" id="{57BEE46F-7B69-499F-BC52-5B4D3458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9321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print(repr(amy))</a:t>
            </a:r>
          </a:p>
        </p:txBody>
      </p:sp>
      <p:sp>
        <p:nvSpPr>
          <p:cNvPr id="17" name="顯示有助診斷的狀態">
            <a:extLst xmlns:a="http://schemas.openxmlformats.org/drawingml/2006/main">
              <a:ext uri="{FF2B5EF4-FFF2-40B4-BE49-F238E27FC236}">
                <a16:creationId xmlns:a16="http://schemas.microsoft.com/office/drawing/2014/main" id="{97245187-A407-4228-8A06-8C7B5CED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診断に役立つ状態を表示</a:t>
            </a:r>
          </a:p>
        </p:txBody>
      </p:sp>
      <p:sp>
        <p:nvSpPr>
          <p:cNvPr id="18" name="repr 用於互動觀察與除錯。 !r 對欄位使用 repr 格式。">
            <a:extLst xmlns:a="http://schemas.openxmlformats.org/drawingml/2006/main">
              <a:ext uri="{FF2B5EF4-FFF2-40B4-BE49-F238E27FC236}">
                <a16:creationId xmlns:a16="http://schemas.microsoft.com/office/drawing/2014/main" id="{36242CB6-9422-4DED-8D95-FFC9B64E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repr は観察やデバッグ向け。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!r は属性値を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repr 形式で表示する。</a:t>
            </a:r>
          </a:p>
        </p:txBody>
      </p:sp>
      <p:sp>
        <p:nvSpPr>
          <p:cNvPr id="19" name="必須回傳字串">
            <a:extLst xmlns:a="http://schemas.openxmlformats.org/drawingml/2006/main">
              <a:ext uri="{FF2B5EF4-FFF2-40B4-BE49-F238E27FC236}">
                <a16:creationId xmlns:a16="http://schemas.microsoft.com/office/drawing/2014/main" id="{5C08A70D-6D42-4DE9-93F5-031F2587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文字列を返す必要がある</a:t>
            </a:r>
          </a:p>
        </p:txBody>
      </p:sp>
      <p:sp>
        <p:nvSpPr>
          <p:cNvPr id="20" name="不要在 __repr__ 中只 print。 顯示哪些欄位應依需求決定。">
            <a:extLst xmlns:a="http://schemas.openxmlformats.org/drawingml/2006/main">
              <a:ext uri="{FF2B5EF4-FFF2-40B4-BE49-F238E27FC236}">
                <a16:creationId xmlns:a16="http://schemas.microsoft.com/office/drawing/2014/main" id="{1DCF3C27-BE77-4CF8-96E7-3A5CA623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__repr__ 内で print するだけ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では不十分。目的に合わせて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表示する属性を選ぶ。</a:t>
            </a:r>
          </a:p>
        </p:txBody>
      </p:sp>
      <p:sp>
        <p:nvSpPr>
          <p:cNvPr id="21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70DFE9C4-9FBA-4988-9BB0-505B45DD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22" name="Student('B11501', 'Amy')">
            <a:extLst xmlns:a="http://schemas.openxmlformats.org/drawingml/2006/main">
              <a:ext uri="{FF2B5EF4-FFF2-40B4-BE49-F238E27FC236}">
                <a16:creationId xmlns:a16="http://schemas.microsoft.com/office/drawing/2014/main" id="{32509BD4-B8CC-46F5-994D-0F1105AE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Student('B11501', 'Amy')</a:t>
            </a:r>
          </a:p>
        </p:txBody>
      </p:sp>
    </p:spTree>
    <p:extLst>
      <p:ext uri="{BB962C8B-B14F-4D97-AF65-F5344CB8AC3E}">
        <p14:creationId xmlns:p14="http://schemas.microsoft.com/office/powerpoint/2010/main" val="178536266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外部可變資料的歸屬">
            <a:extLst xmlns:a="http://schemas.openxmlformats.org/drawingml/2006/main">
              <a:ext uri="{FF2B5EF4-FFF2-40B4-BE49-F238E27FC236}">
                <a16:creationId xmlns:a16="http://schemas.microsoft.com/office/drawing/2014/main" id="{EA637CDE-59E0-4BB8-8547-6E4B0747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外部の可変データの所有関係</a:t>
            </a:r>
          </a:p>
        </p:txBody>
      </p:sp>
      <p:sp>
        <p:nvSpPr>
          <p:cNvPr id="2" name="觀察與診斷">
            <a:extLst xmlns:a="http://schemas.openxmlformats.org/drawingml/2006/main">
              <a:ext uri="{FF2B5EF4-FFF2-40B4-BE49-F238E27FC236}">
                <a16:creationId xmlns:a16="http://schemas.microsoft.com/office/drawing/2014/main" id="{222524D3-BAE2-4B4E-8540-DB95225C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観察と診断</a:t>
            </a:r>
          </a:p>
        </p:txBody>
      </p:sp>
      <p:sp>
        <p:nvSpPr>
          <p:cNvPr id="3" name="36">
            <a:extLst xmlns:a="http://schemas.openxmlformats.org/drawingml/2006/main">
              <a:ext uri="{FF2B5EF4-FFF2-40B4-BE49-F238E27FC236}">
                <a16:creationId xmlns:a16="http://schemas.microsoft.com/office/drawing/2014/main" id="{7F769E7C-7399-466F-96FE-FD9324A1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36</a:t>
            </a:r>
          </a:p>
        </p:txBody>
      </p:sp>
      <p:sp>
        <p:nvSpPr>
          <p:cNvPr id="4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C526F816-A510-425D-8DCB-3383B52C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5" name="    def __init__(self, name, courses=None):">
            <a:extLst xmlns:a="http://schemas.openxmlformats.org/drawingml/2006/main">
              <a:ext uri="{FF2B5EF4-FFF2-40B4-BE49-F238E27FC236}">
                <a16:creationId xmlns:a16="http://schemas.microsoft.com/office/drawing/2014/main" id="{5F1C3F3A-0969-4E39-A72D-5D3CD01A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__init__(self, name, courses=None):</a:t>
            </a:r>
          </a:p>
        </p:txBody>
      </p:sp>
      <p:sp>
        <p:nvSpPr>
          <p:cNvPr id="6" name="    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0A959A5F-5C61-4685-95A7-6045D805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self.name = name</a:t>
            </a:r>
          </a:p>
        </p:txBody>
      </p:sp>
      <p:sp>
        <p:nvSpPr>
          <p:cNvPr id="7" name="        self.courses = (">
            <a:extLst xmlns:a="http://schemas.openxmlformats.org/drawingml/2006/main">
              <a:ext uri="{FF2B5EF4-FFF2-40B4-BE49-F238E27FC236}">
                <a16:creationId xmlns:a16="http://schemas.microsoft.com/office/drawing/2014/main" id="{4130F9B9-1984-4C0D-A917-B76A434A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self.courses = (</a:t>
            </a:r>
          </a:p>
        </p:txBody>
      </p:sp>
      <p:sp>
        <p:nvSpPr>
          <p:cNvPr id="8" name="            [] if courses is None else list(courses)">
            <a:extLst xmlns:a="http://schemas.openxmlformats.org/drawingml/2006/main">
              <a:ext uri="{FF2B5EF4-FFF2-40B4-BE49-F238E27FC236}">
                <a16:creationId xmlns:a16="http://schemas.microsoft.com/office/drawing/2014/main" id="{8BC0F5C0-4D24-45BB-B7E0-7061E16E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[] if courses is None else list(courses)</a:t>
            </a:r>
          </a:p>
        </p:txBody>
      </p:sp>
      <p:sp>
        <p:nvSpPr>
          <p:cNvPr id="9" name="        )">
            <a:extLst xmlns:a="http://schemas.openxmlformats.org/drawingml/2006/main">
              <a:ext uri="{FF2B5EF4-FFF2-40B4-BE49-F238E27FC236}">
                <a16:creationId xmlns:a16="http://schemas.microsoft.com/office/drawing/2014/main" id="{E09666A2-6539-4817-85E6-D98688D8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475803-E063-4527-B37C-19D1077C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source = [&quot;Python&quot;]">
            <a:extLst xmlns:a="http://schemas.openxmlformats.org/drawingml/2006/main">
              <a:ext uri="{FF2B5EF4-FFF2-40B4-BE49-F238E27FC236}">
                <a16:creationId xmlns:a16="http://schemas.microsoft.com/office/drawing/2014/main" id="{65F7534C-1C2C-4CA8-B9DC-5B764B31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source = ["Python"]</a:t>
            </a:r>
          </a:p>
        </p:txBody>
      </p:sp>
      <p:sp>
        <p:nvSpPr>
          <p:cNvPr id="12" name="amy = Student(&quot;Amy&quot;, source)">
            <a:extLst xmlns:a="http://schemas.openxmlformats.org/drawingml/2006/main">
              <a:ext uri="{FF2B5EF4-FFF2-40B4-BE49-F238E27FC236}">
                <a16:creationId xmlns:a16="http://schemas.microsoft.com/office/drawing/2014/main" id="{076B61E4-37F7-4A93-9003-1783833B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amy = Student("Amy", source)</a:t>
            </a:r>
          </a:p>
        </p:txBody>
      </p:sp>
      <p:sp>
        <p:nvSpPr>
          <p:cNvPr id="13" name="source.append(&quot;Java&quot;)">
            <a:extLst xmlns:a="http://schemas.openxmlformats.org/drawingml/2006/main">
              <a:ext uri="{FF2B5EF4-FFF2-40B4-BE49-F238E27FC236}">
                <a16:creationId xmlns:a16="http://schemas.microsoft.com/office/drawing/2014/main" id="{90ED5B75-3AE2-46DB-BAC2-43EFD960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source.append("Java")</a:t>
            </a:r>
          </a:p>
        </p:txBody>
      </p:sp>
      <p:sp>
        <p:nvSpPr>
          <p:cNvPr id="14" name="print(source)">
            <a:extLst xmlns:a="http://schemas.openxmlformats.org/drawingml/2006/main">
              <a:ext uri="{FF2B5EF4-FFF2-40B4-BE49-F238E27FC236}">
                <a16:creationId xmlns:a16="http://schemas.microsoft.com/office/drawing/2014/main" id="{1136D588-053F-4260-9F06-628395B4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print(source)</a:t>
            </a:r>
          </a:p>
        </p:txBody>
      </p:sp>
      <p:sp>
        <p:nvSpPr>
          <p:cNvPr id="15" name="print(amy.courses)">
            <a:extLst xmlns:a="http://schemas.openxmlformats.org/drawingml/2006/main">
              <a:ext uri="{FF2B5EF4-FFF2-40B4-BE49-F238E27FC236}">
                <a16:creationId xmlns:a16="http://schemas.microsoft.com/office/drawing/2014/main" id="{53CE33CB-71BD-461C-8E3D-90C09229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print(amy.courses)</a:t>
            </a:r>
          </a:p>
        </p:txBody>
      </p:sp>
      <p:sp>
        <p:nvSpPr>
          <p:cNvPr id="16" name="明確決定複製或共用">
            <a:extLst xmlns:a="http://schemas.openxmlformats.org/drawingml/2006/main">
              <a:ext uri="{FF2B5EF4-FFF2-40B4-BE49-F238E27FC236}">
                <a16:creationId xmlns:a16="http://schemas.microsoft.com/office/drawing/2014/main" id="{10419E40-93BD-4586-8E32-463A1C25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コピーか共有かを明確にする</a:t>
            </a:r>
          </a:p>
        </p:txBody>
      </p:sp>
      <p:sp>
        <p:nvSpPr>
          <p:cNvPr id="17" name="list(courses) 建立新外層容器。 外部新增元素不影響學生清單。">
            <a:extLst xmlns:a="http://schemas.openxmlformats.org/drawingml/2006/main">
              <a:ext uri="{FF2B5EF4-FFF2-40B4-BE49-F238E27FC236}">
                <a16:creationId xmlns:a16="http://schemas.microsoft.com/office/drawing/2014/main" id="{AE4B7B2E-0ABC-4E1E-AADD-D343426D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list(courses)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は外側をコピー。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外部の追加は学生側の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リストに影響しない。</a:t>
            </a:r>
          </a:p>
        </p:txBody>
      </p:sp>
      <p:sp>
        <p:nvSpPr>
          <p:cNvPr id="18" name="本例元素是不可變字串">
            <a:extLst xmlns:a="http://schemas.openxmlformats.org/drawingml/2006/main">
              <a:ext uri="{FF2B5EF4-FFF2-40B4-BE49-F238E27FC236}">
                <a16:creationId xmlns:a16="http://schemas.microsoft.com/office/drawing/2014/main" id="{0A263509-DFE8-43D2-B772-94DC560D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この例の要素は不変な文字列</a:t>
            </a:r>
          </a:p>
        </p:txBody>
      </p:sp>
      <p:sp>
        <p:nvSpPr>
          <p:cNvPr id="19" name="若元素是可變巢狀物件， 淺層複製仍可能共用內層。">
            <a:extLst xmlns:a="http://schemas.openxmlformats.org/drawingml/2006/main">
              <a:ext uri="{FF2B5EF4-FFF2-40B4-BE49-F238E27FC236}">
                <a16:creationId xmlns:a16="http://schemas.microsoft.com/office/drawing/2014/main" id="{C3EEDB57-0B43-4879-8F28-787D685B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要素が可変な入れ子なら、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浅いコピーでは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内部を共有する場合がある。</a:t>
            </a:r>
          </a:p>
        </p:txBody>
      </p:sp>
      <p:sp>
        <p:nvSpPr>
          <p:cNvPr id="20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5586BDC4-E8F2-4B0A-93B1-FF61F780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21" name="['Python', 'Java']    ['Python']">
            <a:extLst xmlns:a="http://schemas.openxmlformats.org/drawingml/2006/main">
              <a:ext uri="{FF2B5EF4-FFF2-40B4-BE49-F238E27FC236}">
                <a16:creationId xmlns:a16="http://schemas.microsoft.com/office/drawing/2014/main" id="{E4622BE1-1E57-4ABA-B8E2-0BF4D156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['Python', 'Java']    ['Python']</a:t>
            </a:r>
          </a:p>
        </p:txBody>
      </p:sp>
    </p:spTree>
    <p:extLst>
      <p:ext uri="{BB962C8B-B14F-4D97-AF65-F5344CB8AC3E}">
        <p14:creationId xmlns:p14="http://schemas.microsoft.com/office/powerpoint/2010/main" val="119708066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網站範例：Student 的完整串接">
            <a:extLst xmlns:a="http://schemas.openxmlformats.org/drawingml/2006/main">
              <a:ext uri="{FF2B5EF4-FFF2-40B4-BE49-F238E27FC236}">
                <a16:creationId xmlns:a16="http://schemas.microsoft.com/office/drawing/2014/main" id="{BCADE730-FCBF-44D4-AC4F-E64183FB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授業サイトの例：Student の全体像</a:t>
            </a:r>
          </a:p>
        </p:txBody>
      </p:sp>
      <p:sp>
        <p:nvSpPr>
          <p:cNvPr id="2" name="課綱範例">
            <a:extLst xmlns:a="http://schemas.openxmlformats.org/drawingml/2006/main">
              <a:ext uri="{FF2B5EF4-FFF2-40B4-BE49-F238E27FC236}">
                <a16:creationId xmlns:a16="http://schemas.microsoft.com/office/drawing/2014/main" id="{25F32955-3D3B-433F-BF75-421332D0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授業サイトの例</a:t>
            </a:r>
          </a:p>
        </p:txBody>
      </p:sp>
      <p:sp>
        <p:nvSpPr>
          <p:cNvPr id="3" name="37">
            <a:extLst xmlns:a="http://schemas.openxmlformats.org/drawingml/2006/main">
              <a:ext uri="{FF2B5EF4-FFF2-40B4-BE49-F238E27FC236}">
                <a16:creationId xmlns:a16="http://schemas.microsoft.com/office/drawing/2014/main" id="{919FCC6C-CF66-4C16-BD1F-F62D9409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37</a:t>
            </a:r>
          </a:p>
        </p:txBody>
      </p:sp>
      <p:sp>
        <p:nvSpPr>
          <p:cNvPr id="4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BD6CA5A0-D900-44F8-BB9D-ED8ABB6E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5" name="    school = &quot;YunTech&quot;">
            <a:extLst xmlns:a="http://schemas.openxmlformats.org/drawingml/2006/main">
              <a:ext uri="{FF2B5EF4-FFF2-40B4-BE49-F238E27FC236}">
                <a16:creationId xmlns:a16="http://schemas.microsoft.com/office/drawing/2014/main" id="{9BE3AD03-9F1D-48C8-8407-461031B4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8228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school = "YunTech"</a:t>
            </a:r>
          </a:p>
        </p:txBody>
      </p:sp>
      <p:sp>
        <p:nvSpPr>
          <p:cNvPr id="6" name="    count = 0">
            <a:extLst xmlns:a="http://schemas.openxmlformats.org/drawingml/2006/main">
              <a:ext uri="{FF2B5EF4-FFF2-40B4-BE49-F238E27FC236}">
                <a16:creationId xmlns:a16="http://schemas.microsoft.com/office/drawing/2014/main" id="{AFBC550A-B9A8-416F-BC4C-DCABD430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3381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count = 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E0D0C6-BF72-4019-93EB-D22CEB1C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8534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    def __init__(self, student_id: str, name: str):">
            <a:extLst xmlns:a="http://schemas.openxmlformats.org/drawingml/2006/main">
              <a:ext uri="{FF2B5EF4-FFF2-40B4-BE49-F238E27FC236}">
                <a16:creationId xmlns:a16="http://schemas.microsoft.com/office/drawing/2014/main" id="{229C52D2-3376-4B2A-A71C-44B0F760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3687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def __init__(self, student_id: str, name: str):</a:t>
            </a:r>
          </a:p>
        </p:txBody>
      </p:sp>
      <p:sp>
        <p:nvSpPr>
          <p:cNvPr id="9" name="        self.student_id = student_id">
            <a:extLst xmlns:a="http://schemas.openxmlformats.org/drawingml/2006/main">
              <a:ext uri="{FF2B5EF4-FFF2-40B4-BE49-F238E27FC236}">
                <a16:creationId xmlns:a16="http://schemas.microsoft.com/office/drawing/2014/main" id="{C21BEABF-7940-45A7-8FE8-1D0453AF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8840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self.student_id = student_id</a:t>
            </a:r>
          </a:p>
        </p:txBody>
      </p:sp>
      <p:sp>
        <p:nvSpPr>
          <p:cNvPr id="10" name="    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2AADFE82-706A-4963-AE10-3EF14D21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3993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self.name = name</a:t>
            </a:r>
          </a:p>
        </p:txBody>
      </p:sp>
      <p:sp>
        <p:nvSpPr>
          <p:cNvPr id="11" name="        Student.count += 1">
            <a:extLst xmlns:a="http://schemas.openxmlformats.org/drawingml/2006/main">
              <a:ext uri="{FF2B5EF4-FFF2-40B4-BE49-F238E27FC236}">
                <a16:creationId xmlns:a16="http://schemas.microsoft.com/office/drawing/2014/main" id="{B6A4183F-CE16-46F2-89C4-E3416BD4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9146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Student.count +=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46C7B1-9903-4923-A5FA-982C9B74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299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    @classmethod">
            <a:extLst xmlns:a="http://schemas.openxmlformats.org/drawingml/2006/main">
              <a:ext uri="{FF2B5EF4-FFF2-40B4-BE49-F238E27FC236}">
                <a16:creationId xmlns:a16="http://schemas.microsoft.com/office/drawing/2014/main" id="{44B70168-7873-4DD2-807A-20A21A6F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9451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@classmethod</a:t>
            </a:r>
          </a:p>
        </p:txBody>
      </p:sp>
      <p:sp>
        <p:nvSpPr>
          <p:cNvPr id="14" name="    def from_csv(cls, row: str) -&gt; &quot;Student&quot;:">
            <a:extLst xmlns:a="http://schemas.openxmlformats.org/drawingml/2006/main">
              <a:ext uri="{FF2B5EF4-FFF2-40B4-BE49-F238E27FC236}">
                <a16:creationId xmlns:a16="http://schemas.microsoft.com/office/drawing/2014/main" id="{A7389DCB-DB87-4443-BD1F-56EEC223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4604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def from_csv(cls, row: str) -&gt; "Student":</a:t>
            </a:r>
          </a:p>
        </p:txBody>
      </p:sp>
      <p:sp>
        <p:nvSpPr>
          <p:cNvPr id="15" name="        student_id, name = row.split(&quot;,&quot;)">
            <a:extLst xmlns:a="http://schemas.openxmlformats.org/drawingml/2006/main">
              <a:ext uri="{FF2B5EF4-FFF2-40B4-BE49-F238E27FC236}">
                <a16:creationId xmlns:a16="http://schemas.microsoft.com/office/drawing/2014/main" id="{811D57DE-F6F0-47EC-AD2D-B7AE8A32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9757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student_id, name = row.split(",")</a:t>
            </a:r>
          </a:p>
        </p:txBody>
      </p:sp>
      <p:sp>
        <p:nvSpPr>
          <p:cNvPr id="16" name="        return cls(student_id.strip(), name.strip())">
            <a:extLst xmlns:a="http://schemas.openxmlformats.org/drawingml/2006/main">
              <a:ext uri="{FF2B5EF4-FFF2-40B4-BE49-F238E27FC236}">
                <a16:creationId xmlns:a16="http://schemas.microsoft.com/office/drawing/2014/main" id="{7657BF1E-F2C5-45C1-8CE1-EC7EA978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910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return cls(student_id.strip(), name.strip())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5498B0-D6F1-40BB-B760-4E6F2676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0063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amy = Student.from_csv(&quot;B11301, Amy&quot;)">
            <a:extLst xmlns:a="http://schemas.openxmlformats.org/drawingml/2006/main">
              <a:ext uri="{FF2B5EF4-FFF2-40B4-BE49-F238E27FC236}">
                <a16:creationId xmlns:a16="http://schemas.microsoft.com/office/drawing/2014/main" id="{C49AF7BC-1784-4291-9A01-59096870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5216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amy = Student.from_csv("B11301, Amy")</a:t>
            </a:r>
          </a:p>
        </p:txBody>
      </p:sp>
      <p:sp>
        <p:nvSpPr>
          <p:cNvPr id="19" name="bob = Student(&quot;B11302&quot;, &quot;Bob&quot;)">
            <a:extLst xmlns:a="http://schemas.openxmlformats.org/drawingml/2006/main">
              <a:ext uri="{FF2B5EF4-FFF2-40B4-BE49-F238E27FC236}">
                <a16:creationId xmlns:a16="http://schemas.microsoft.com/office/drawing/2014/main" id="{3559BE34-9D35-4690-89BF-46D2C5B8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0369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bob = Student("B11302", "Bob")</a:t>
            </a:r>
          </a:p>
        </p:txBody>
      </p:sp>
      <p:sp>
        <p:nvSpPr>
          <p:cNvPr id="20" name="print(amy.name, amy.school, Student.count)">
            <a:extLst xmlns:a="http://schemas.openxmlformats.org/drawingml/2006/main">
              <a:ext uri="{FF2B5EF4-FFF2-40B4-BE49-F238E27FC236}">
                <a16:creationId xmlns:a16="http://schemas.microsoft.com/office/drawing/2014/main" id="{F8AE5105-9677-4A1E-963D-7294454A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5522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print(amy.name, amy.school, Student.count)</a:t>
            </a:r>
          </a:p>
        </p:txBody>
      </p:sp>
      <p:sp>
        <p:nvSpPr>
          <p:cNvPr id="21" name="兩種入口，共用初始化">
            <a:extLst xmlns:a="http://schemas.openxmlformats.org/drawingml/2006/main">
              <a:ext uri="{FF2B5EF4-FFF2-40B4-BE49-F238E27FC236}">
                <a16:creationId xmlns:a16="http://schemas.microsoft.com/office/drawing/2014/main" id="{3EC1E4A4-7AC7-4109-AF9F-6DCD8A6C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2つの入口、共通の初期化</a:t>
            </a:r>
          </a:p>
        </p:txBody>
      </p:sp>
      <p:sp>
        <p:nvSpPr>
          <p:cNvPr id="22" name="直接呼叫與 from_csv 都會執行 __init__。">
            <a:extLst xmlns:a="http://schemas.openxmlformats.org/drawingml/2006/main">
              <a:ext uri="{FF2B5EF4-FFF2-40B4-BE49-F238E27FC236}">
                <a16:creationId xmlns:a16="http://schemas.microsoft.com/office/drawing/2014/main" id="{197B20DF-3F81-4C35-9949-7CC4E3EC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直接呼び出しても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from_csv でも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__init__ を実行する。</a:t>
            </a:r>
          </a:p>
        </p:txBody>
      </p:sp>
      <p:sp>
        <p:nvSpPr>
          <p:cNvPr id="23" name="資料歸屬不同">
            <a:extLst xmlns:a="http://schemas.openxmlformats.org/drawingml/2006/main">
              <a:ext uri="{FF2B5EF4-FFF2-40B4-BE49-F238E27FC236}">
                <a16:creationId xmlns:a16="http://schemas.microsoft.com/office/drawing/2014/main" id="{424C7D8F-0153-40EC-B803-027E8AC4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データの所属が異なる</a:t>
            </a:r>
          </a:p>
        </p:txBody>
      </p:sp>
      <p:sp>
        <p:nvSpPr>
          <p:cNvPr id="24" name="name 屬於個別實體。 school 與 count 放在類別。">
            <a:extLst xmlns:a="http://schemas.openxmlformats.org/drawingml/2006/main">
              <a:ext uri="{FF2B5EF4-FFF2-40B4-BE49-F238E27FC236}">
                <a16:creationId xmlns:a16="http://schemas.microsoft.com/office/drawing/2014/main" id="{05E21BA6-EA5E-4DA9-9C3B-8069ED75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name は各インスタンス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に属する。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school と count は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クラスに保持する。</a:t>
            </a:r>
          </a:p>
        </p:txBody>
      </p:sp>
      <p:sp>
        <p:nvSpPr>
          <p:cNvPr id="25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EEBDF544-0C74-4E85-9338-B041C00B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26" name="Amy YunTech 2">
            <a:extLst xmlns:a="http://schemas.openxmlformats.org/drawingml/2006/main">
              <a:ext uri="{FF2B5EF4-FFF2-40B4-BE49-F238E27FC236}">
                <a16:creationId xmlns:a16="http://schemas.microsoft.com/office/drawing/2014/main" id="{B65975A5-A7C6-4D8E-8CB6-9F4DD117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Amy YunTech 2</a:t>
            </a:r>
          </a:p>
        </p:txBody>
      </p:sp>
    </p:spTree>
    <p:extLst>
      <p:ext uri="{BB962C8B-B14F-4D97-AF65-F5344CB8AC3E}">
        <p14:creationId xmlns:p14="http://schemas.microsoft.com/office/powerpoint/2010/main" val="173096769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常見錯誤與診斷方式">
            <a:extLst xmlns:a="http://schemas.openxmlformats.org/drawingml/2006/main">
              <a:ext uri="{FF2B5EF4-FFF2-40B4-BE49-F238E27FC236}">
                <a16:creationId xmlns:a16="http://schemas.microsoft.com/office/drawing/2014/main" id="{D6B99A32-C478-45AF-813C-C740722F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よくある誤りと診断方法</a:t>
            </a:r>
          </a:p>
        </p:txBody>
      </p:sp>
      <p:sp>
        <p:nvSpPr>
          <p:cNvPr id="2" name="觀察與診斷">
            <a:extLst xmlns:a="http://schemas.openxmlformats.org/drawingml/2006/main">
              <a:ext uri="{FF2B5EF4-FFF2-40B4-BE49-F238E27FC236}">
                <a16:creationId xmlns:a16="http://schemas.microsoft.com/office/drawing/2014/main" id="{292677D6-AF4A-438A-A5C7-468BEA52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観察と診断</a:t>
            </a:r>
          </a:p>
        </p:txBody>
      </p:sp>
      <p:sp>
        <p:nvSpPr>
          <p:cNvPr id="3" name="38">
            <a:extLst xmlns:a="http://schemas.openxmlformats.org/drawingml/2006/main">
              <a:ext uri="{FF2B5EF4-FFF2-40B4-BE49-F238E27FC236}">
                <a16:creationId xmlns:a16="http://schemas.microsoft.com/office/drawing/2014/main" id="{7416DD1E-68F3-4FB0-93ED-86599B8A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38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810000"/>
                <a:gridCol w="3381375"/>
                <a:gridCol w="3781425"/>
              </a:tblGrid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症状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よくある原因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確認する箇所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引数の個数が合わない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self の定義を忘れた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メソッドの種類と第1引数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別の学生のリストも変わる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可変なクラス属性を共有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is で比較し、</a:t>
                      </a:r>
                    </a:p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属性の所属を確認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共通カウンタが 0 のまま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self.count がクラス属性を隠す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vars(obj) と Class.count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AttributeError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一部の経路で必須属性がない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__init__ の分岐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ファクトリが基底型を返す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クラス名を固定して生成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cls(...) が適切かを確認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5" name="先確認物件身分、屬性來源與呼叫對象，再修改程式。">
            <a:extLst xmlns:a="http://schemas.openxmlformats.org/drawingml/2006/main">
              <a:ext uri="{FF2B5EF4-FFF2-40B4-BE49-F238E27FC236}">
                <a16:creationId xmlns:a16="http://schemas.microsoft.com/office/drawing/2014/main" id="{C7ECDBE5-BE36-4BC0-A4E6-38B0457E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7061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同一性、属性の取得元、呼び出し先を確認してからコードを修正します。</a:t>
            </a:r>
          </a:p>
        </p:txBody>
      </p:sp>
    </p:spTree>
    <p:extLst>
      <p:ext uri="{BB962C8B-B14F-4D97-AF65-F5344CB8AC3E}">
        <p14:creationId xmlns:p14="http://schemas.microsoft.com/office/powerpoint/2010/main" val="12677435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本週觀念整理">
            <a:extLst xmlns:a="http://schemas.openxmlformats.org/drawingml/2006/main">
              <a:ext uri="{FF2B5EF4-FFF2-40B4-BE49-F238E27FC236}">
                <a16:creationId xmlns:a16="http://schemas.microsoft.com/office/drawing/2014/main" id="{E3D73EDE-E63D-45F1-A94B-2368C03F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第3週の振り返り</a:t>
            </a:r>
          </a:p>
        </p:txBody>
      </p:sp>
      <p:sp>
        <p:nvSpPr>
          <p:cNvPr id="2" name="第三週">
            <a:extLst xmlns:a="http://schemas.openxmlformats.org/drawingml/2006/main">
              <a:ext uri="{FF2B5EF4-FFF2-40B4-BE49-F238E27FC236}">
                <a16:creationId xmlns:a16="http://schemas.microsoft.com/office/drawing/2014/main" id="{594536A4-5EBB-408C-B3CA-DADC9E4E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第3週</a:t>
            </a:r>
          </a:p>
        </p:txBody>
      </p:sp>
      <p:sp>
        <p:nvSpPr>
          <p:cNvPr id="3" name="39">
            <a:extLst xmlns:a="http://schemas.openxmlformats.org/drawingml/2006/main">
              <a:ext uri="{FF2B5EF4-FFF2-40B4-BE49-F238E27FC236}">
                <a16:creationId xmlns:a16="http://schemas.microsoft.com/office/drawing/2014/main" id="{56CF8B09-1B4A-47AB-97DA-7227A4C8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39</a:t>
            </a:r>
          </a:p>
        </p:txBody>
      </p:sp>
      <p:sp>
        <p:nvSpPr>
          <p:cNvPr id="4" name="建立物件">
            <a:extLst xmlns:a="http://schemas.openxmlformats.org/drawingml/2006/main">
              <a:ext uri="{FF2B5EF4-FFF2-40B4-BE49-F238E27FC236}">
                <a16:creationId xmlns:a16="http://schemas.microsoft.com/office/drawing/2014/main" id="{2C949272-5C6D-47CF-9413-A4B461AC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1450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オブジェクトの生成</a:t>
            </a:r>
          </a:p>
        </p:txBody>
      </p:sp>
      <p:sp>
        <p:nvSpPr>
          <p:cNvPr id="5" name="__new__ 建立，__init__ 設定初始狀態">
            <a:extLst xmlns:a="http://schemas.openxmlformats.org/drawingml/2006/main">
              <a:ext uri="{FF2B5EF4-FFF2-40B4-BE49-F238E27FC236}">
                <a16:creationId xmlns:a16="http://schemas.microsoft.com/office/drawing/2014/main" id="{E4A3EED8-C061-469B-A8E2-3823D1F3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743075"/>
            <a:ext cx="7858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__new__ が生成し、__init__ が初期状態を設定</a:t>
            </a:r>
          </a:p>
        </p:txBody>
      </p:sp>
      <p:sp>
        <p:nvSpPr>
          <p:cNvPr id="6" name="操作狀態">
            <a:extLst xmlns:a="http://schemas.openxmlformats.org/drawingml/2006/main">
              <a:ext uri="{FF2B5EF4-FFF2-40B4-BE49-F238E27FC236}">
                <a16:creationId xmlns:a16="http://schemas.microsoft.com/office/drawing/2014/main" id="{3E031336-34C9-4519-BAA2-D74727BA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05075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状態の操作</a:t>
            </a:r>
          </a:p>
        </p:txBody>
      </p:sp>
      <p:sp>
        <p:nvSpPr>
          <p:cNvPr id="7" name="self 指向接收者，方法處理其資料">
            <a:extLst xmlns:a="http://schemas.openxmlformats.org/drawingml/2006/main">
              <a:ext uri="{FF2B5EF4-FFF2-40B4-BE49-F238E27FC236}">
                <a16:creationId xmlns:a16="http://schemas.microsoft.com/office/drawing/2014/main" id="{099C6004-02D2-43B4-8A55-9931148B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533650"/>
            <a:ext cx="7858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self が呼び出し先を表し、メソッドがそのデータを操作</a:t>
            </a:r>
          </a:p>
        </p:txBody>
      </p:sp>
      <p:sp>
        <p:nvSpPr>
          <p:cNvPr id="8" name="判斷共享">
            <a:extLst xmlns:a="http://schemas.openxmlformats.org/drawingml/2006/main">
              <a:ext uri="{FF2B5EF4-FFF2-40B4-BE49-F238E27FC236}">
                <a16:creationId xmlns:a16="http://schemas.microsoft.com/office/drawing/2014/main" id="{9B69D31B-6F37-470A-99B6-B43ED89A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9565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共有の判断</a:t>
            </a:r>
          </a:p>
        </p:txBody>
      </p:sp>
      <p:sp>
        <p:nvSpPr>
          <p:cNvPr id="9" name="分清實體屬性、類別屬性與共用物件">
            <a:extLst xmlns:a="http://schemas.openxmlformats.org/drawingml/2006/main">
              <a:ext uri="{FF2B5EF4-FFF2-40B4-BE49-F238E27FC236}">
                <a16:creationId xmlns:a16="http://schemas.microsoft.com/office/drawing/2014/main" id="{773C1E99-9D93-43C2-B22E-31B9B428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324225"/>
            <a:ext cx="7858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実体の属性、クラスの属性、参照の共有を区別</a:t>
            </a:r>
          </a:p>
        </p:txBody>
      </p:sp>
      <p:sp>
        <p:nvSpPr>
          <p:cNvPr id="10" name="選擇方法">
            <a:extLst xmlns:a="http://schemas.openxmlformats.org/drawingml/2006/main">
              <a:ext uri="{FF2B5EF4-FFF2-40B4-BE49-F238E27FC236}">
                <a16:creationId xmlns:a16="http://schemas.microsoft.com/office/drawing/2014/main" id="{E9AB06E3-7D63-48EE-97CC-2DC99CA0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86225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メソッドの選択</a:t>
            </a:r>
          </a:p>
        </p:txBody>
      </p:sp>
      <p:sp>
        <p:nvSpPr>
          <p:cNvPr id="11" name="依賴實體用 self，依賴類別用 cls">
            <a:extLst xmlns:a="http://schemas.openxmlformats.org/drawingml/2006/main">
              <a:ext uri="{FF2B5EF4-FFF2-40B4-BE49-F238E27FC236}">
                <a16:creationId xmlns:a16="http://schemas.microsoft.com/office/drawing/2014/main" id="{E6DE932E-19BF-469A-9E11-99FB9E3F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114800"/>
            <a:ext cx="7858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実体に依存する場合は self、クラスに依存する場合は cls</a:t>
            </a:r>
          </a:p>
        </p:txBody>
      </p:sp>
      <p:sp>
        <p:nvSpPr>
          <p:cNvPr id="12" name="下一週：封裝與資訊隱藏，進一步管理外部如何存取與修改狀態。">
            <a:extLst xmlns:a="http://schemas.openxmlformats.org/drawingml/2006/main">
              <a:ext uri="{FF2B5EF4-FFF2-40B4-BE49-F238E27FC236}">
                <a16:creationId xmlns:a16="http://schemas.microsoft.com/office/drawing/2014/main" id="{92CE3250-42BF-455C-A7A4-EA44205D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981700"/>
            <a:ext cx="10763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次週はカプセル化と情報隠蔽を扱い、外部からの状態の参照・変更を管理します。</a:t>
            </a:r>
          </a:p>
        </p:txBody>
      </p:sp>
    </p:spTree>
    <p:extLst>
      <p:ext uri="{BB962C8B-B14F-4D97-AF65-F5344CB8AC3E}">
        <p14:creationId xmlns:p14="http://schemas.microsoft.com/office/powerpoint/2010/main" val="2255097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課程與技術參考資料">
            <a:extLst xmlns:a="http://schemas.openxmlformats.org/drawingml/2006/main">
              <a:ext uri="{FF2B5EF4-FFF2-40B4-BE49-F238E27FC236}">
                <a16:creationId xmlns:a16="http://schemas.microsoft.com/office/drawing/2014/main" id="{A2F043BA-9AFB-428C-87C7-C46EA993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授業資料と技術参考資料</a:t>
            </a:r>
          </a:p>
        </p:txBody>
      </p:sp>
      <p:sp>
        <p:nvSpPr>
          <p:cNvPr id="2" name="40">
            <a:extLst xmlns:a="http://schemas.openxmlformats.org/drawingml/2006/main">
              <a:ext uri="{FF2B5EF4-FFF2-40B4-BE49-F238E27FC236}">
                <a16:creationId xmlns:a16="http://schemas.microsoft.com/office/drawing/2014/main" id="{7FDA3CA7-82E0-4562-ADE4-35856B4D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40</a:t>
            </a:r>
          </a:p>
        </p:txBody>
      </p:sp>
      <p:sp>
        <p:nvSpPr>
          <p:cNvPr id="3" name="第三週課程網站">
            <a:extLst xmlns:a="http://schemas.openxmlformats.org/drawingml/2006/main">
              <a:ext uri="{FF2B5EF4-FFF2-40B4-BE49-F238E27FC236}">
                <a16:creationId xmlns:a16="http://schemas.microsoft.com/office/drawing/2014/main" id="{CDDFBD1D-A58A-42C8-9B12-F52B0BAC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57375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第3週の授業サイト</a:t>
            </a:r>
          </a:p>
        </p:txBody>
      </p:sp>
      <p:sp>
        <p:nvSpPr>
          <p:cNvPr id="4" name="minhuangyuntech.github.io/oo2026/week/3/">
            <a:extLst xmlns:a="http://schemas.openxmlformats.org/drawingml/2006/main">
              <a:ext uri="{FF2B5EF4-FFF2-40B4-BE49-F238E27FC236}">
                <a16:creationId xmlns:a16="http://schemas.microsoft.com/office/drawing/2014/main" id="{51038C4E-4363-4430-9332-E848A27C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85950"/>
            <a:ext cx="6534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minhuangyuntech.github.io/oo2026/week/3/</a:t>
            </a:r>
          </a:p>
        </p:txBody>
      </p:sp>
      <p:sp>
        <p:nvSpPr>
          <p:cNvPr id="5" name="Python 類別教學">
            <a:extLst xmlns:a="http://schemas.openxmlformats.org/drawingml/2006/main">
              <a:ext uri="{FF2B5EF4-FFF2-40B4-BE49-F238E27FC236}">
                <a16:creationId xmlns:a16="http://schemas.microsoft.com/office/drawing/2014/main" id="{D2A63514-232D-4F60-898F-56C3D196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09875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Python クラスの解説</a:t>
            </a:r>
          </a:p>
        </p:txBody>
      </p:sp>
      <p:sp>
        <p:nvSpPr>
          <p:cNvPr id="6" name="docs.python.org/3/tutorial/classes.html">
            <a:extLst xmlns:a="http://schemas.openxmlformats.org/drawingml/2006/main">
              <a:ext uri="{FF2B5EF4-FFF2-40B4-BE49-F238E27FC236}">
                <a16:creationId xmlns:a16="http://schemas.microsoft.com/office/drawing/2014/main" id="{A64E2968-2094-44EC-A01D-1501B378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38450"/>
            <a:ext cx="6534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docs.python.org/3/tutorial/classes.html</a:t>
            </a:r>
          </a:p>
        </p:txBody>
      </p:sp>
      <p:sp>
        <p:nvSpPr>
          <p:cNvPr id="7" name="Python 資料模型">
            <a:extLst xmlns:a="http://schemas.openxmlformats.org/drawingml/2006/main">
              <a:ext uri="{FF2B5EF4-FFF2-40B4-BE49-F238E27FC236}">
                <a16:creationId xmlns:a16="http://schemas.microsoft.com/office/drawing/2014/main" id="{F03025AB-0D09-4A71-A0B1-ECCA6509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62375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Python データモデル</a:t>
            </a:r>
          </a:p>
        </p:txBody>
      </p:sp>
      <p:sp>
        <p:nvSpPr>
          <p:cNvPr id="8" name="docs.python.org/3/reference/datamodel.html">
            <a:extLst xmlns:a="http://schemas.openxmlformats.org/drawingml/2006/main">
              <a:ext uri="{FF2B5EF4-FFF2-40B4-BE49-F238E27FC236}">
                <a16:creationId xmlns:a16="http://schemas.microsoft.com/office/drawing/2014/main" id="{DB10D917-9DE5-40C8-B36B-8DB71C68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790950"/>
            <a:ext cx="6534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docs.python.org/3/reference/datamodel.html</a:t>
            </a:r>
          </a:p>
        </p:txBody>
      </p:sp>
      <p:sp>
        <p:nvSpPr>
          <p:cNvPr id="9" name="CSV 標準函式庫">
            <a:extLst xmlns:a="http://schemas.openxmlformats.org/drawingml/2006/main">
              <a:ext uri="{FF2B5EF4-FFF2-40B4-BE49-F238E27FC236}">
                <a16:creationId xmlns:a16="http://schemas.microsoft.com/office/drawing/2014/main" id="{FC61BA0F-A5D4-4F93-A429-9C21240D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14875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CSV 標準ライブラリ</a:t>
            </a:r>
          </a:p>
        </p:txBody>
      </p:sp>
      <p:sp>
        <p:nvSpPr>
          <p:cNvPr id="10" name="docs.python.org/3/library/csv.html">
            <a:extLst xmlns:a="http://schemas.openxmlformats.org/drawingml/2006/main">
              <a:ext uri="{FF2B5EF4-FFF2-40B4-BE49-F238E27FC236}">
                <a16:creationId xmlns:a16="http://schemas.microsoft.com/office/drawing/2014/main" id="{45EB72E3-8497-41B8-BC17-857AA761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743450"/>
            <a:ext cx="6534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docs.python.org/3/library/csv.html</a:t>
            </a:r>
          </a:p>
        </p:txBody>
      </p:sp>
      <p:sp>
        <p:nvSpPr>
          <p:cNvPr id="11" name="教材與範例採 Python 3.12+。完整來源列於各頁備註與教材說明。">
            <a:extLst xmlns:a="http://schemas.openxmlformats.org/drawingml/2006/main">
              <a:ext uri="{FF2B5EF4-FFF2-40B4-BE49-F238E27FC236}">
                <a16:creationId xmlns:a16="http://schemas.microsoft.com/office/drawing/2014/main" id="{E643EE6B-BD3E-4446-BB30-DB017A29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981700"/>
            <a:ext cx="10620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例は Python 3.12+ を使用。出典の完全なリンクは各スライドのノートと付属資料に記載しています。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19134192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2026-09-23T05:03:05.1020000Z</dcterms:created>
  <dcterms:modified xsi:type="dcterms:W3CDTF">2026-09-23T05:03:05.1020000Z</dcterms:modified>
</coreProperties>
</file>