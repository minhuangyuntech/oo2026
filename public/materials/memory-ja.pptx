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5aa50736c54ea6" /><Relationship Type="http://schemas.openxmlformats.org/officeDocument/2006/relationships/extended-properties" Target="/docProps/app.xml" Id="R7ffbf132246949f7" /><Relationship Type="http://schemas.openxmlformats.org/officeDocument/2006/relationships/officeDocument" Target="/ppt/presentation.xml" Id="R874efbc462d842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df18c968d04f26"/>
  </p:sldMasterIdLst>
  <p:notesMasterIdLst>
    <p:notesMasterId xmlns:r="http://schemas.openxmlformats.org/officeDocument/2006/relationships" r:id="R593d8a1310bc4270"/>
  </p:notesMasterIdLst>
  <p:sldIdLst>
    <p:sldId xmlns:r="http://schemas.openxmlformats.org/officeDocument/2006/relationships" id="256" r:id="R3c712cc484a94db6"/>
    <p:sldId xmlns:r="http://schemas.openxmlformats.org/officeDocument/2006/relationships" id="257" r:id="R910fc1bb45d84923"/>
    <p:sldId xmlns:r="http://schemas.openxmlformats.org/officeDocument/2006/relationships" id="258" r:id="Rb0e54e23aa064e57"/>
    <p:sldId xmlns:r="http://schemas.openxmlformats.org/officeDocument/2006/relationships" id="259" r:id="R0a67e44dfd5d4a49"/>
    <p:sldId xmlns:r="http://schemas.openxmlformats.org/officeDocument/2006/relationships" id="260" r:id="Rea09a878f4384444"/>
    <p:sldId xmlns:r="http://schemas.openxmlformats.org/officeDocument/2006/relationships" id="261" r:id="R03f1231d6a374fd1"/>
    <p:sldId xmlns:r="http://schemas.openxmlformats.org/officeDocument/2006/relationships" id="262" r:id="Rf703f085433545f7"/>
    <p:sldId xmlns:r="http://schemas.openxmlformats.org/officeDocument/2006/relationships" id="263" r:id="R89afb5acef654efc"/>
    <p:sldId xmlns:r="http://schemas.openxmlformats.org/officeDocument/2006/relationships" id="264" r:id="R743fe31e98f04eca"/>
    <p:sldId xmlns:r="http://schemas.openxmlformats.org/officeDocument/2006/relationships" id="265" r:id="Rfeefb1d17678489f"/>
    <p:sldId xmlns:r="http://schemas.openxmlformats.org/officeDocument/2006/relationships" id="266" r:id="R36365482893c4370"/>
    <p:sldId xmlns:r="http://schemas.openxmlformats.org/officeDocument/2006/relationships" id="267" r:id="Rabca439d41e343df"/>
    <p:sldId xmlns:r="http://schemas.openxmlformats.org/officeDocument/2006/relationships" id="268" r:id="R2cd64b82e7974b52"/>
    <p:sldId xmlns:r="http://schemas.openxmlformats.org/officeDocument/2006/relationships" id="269" r:id="R3ddfe66d1aa0489c"/>
    <p:sldId xmlns:r="http://schemas.openxmlformats.org/officeDocument/2006/relationships" id="270" r:id="R0c411f7e93eb49d9"/>
    <p:sldId xmlns:r="http://schemas.openxmlformats.org/officeDocument/2006/relationships" id="271" r:id="Rcfd87c18397e4a3d"/>
    <p:sldId xmlns:r="http://schemas.openxmlformats.org/officeDocument/2006/relationships" id="272" r:id="R64616e3215ee4c5b"/>
    <p:sldId xmlns:r="http://schemas.openxmlformats.org/officeDocument/2006/relationships" id="273" r:id="R06db349fa90842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f4bd1f3fa447d1" /><Relationship Type="http://schemas.openxmlformats.org/officeDocument/2006/relationships/slideMaster" Target="/ppt/slideMasters/slideMaster1.xml" Id="Rafdf18c968d04f26" /><Relationship Type="http://schemas.openxmlformats.org/officeDocument/2006/relationships/notesMaster" Target="/ppt/notesMasters/notesMaster1.xml" Id="R593d8a1310bc4270" /><Relationship Type="http://schemas.openxmlformats.org/officeDocument/2006/relationships/presProps" Target="/ppt/presProps.xml" Id="R073b9709ffbf424e" /><Relationship Type="http://schemas.openxmlformats.org/officeDocument/2006/relationships/tableStyles" Target="/ppt/tableStyles.xml" Id="R39b3d17ed87f4eef" /><Relationship Type="http://schemas.openxmlformats.org/officeDocument/2006/relationships/slide" Target="/ppt/slides/slide1.xml" Id="R3c712cc484a94db6" /><Relationship Type="http://schemas.openxmlformats.org/officeDocument/2006/relationships/slide" Target="/ppt/slides/slide2.xml" Id="R910fc1bb45d84923" /><Relationship Type="http://schemas.openxmlformats.org/officeDocument/2006/relationships/slide" Target="/ppt/slides/slide3.xml" Id="Rb0e54e23aa064e57" /><Relationship Type="http://schemas.openxmlformats.org/officeDocument/2006/relationships/slide" Target="/ppt/slides/slide4.xml" Id="R0a67e44dfd5d4a49" /><Relationship Type="http://schemas.openxmlformats.org/officeDocument/2006/relationships/slide" Target="/ppt/slides/slide5.xml" Id="Rea09a878f4384444" /><Relationship Type="http://schemas.openxmlformats.org/officeDocument/2006/relationships/slide" Target="/ppt/slides/slide6.xml" Id="R03f1231d6a374fd1" /><Relationship Type="http://schemas.openxmlformats.org/officeDocument/2006/relationships/slide" Target="/ppt/slides/slide7.xml" Id="Rf703f085433545f7" /><Relationship Type="http://schemas.openxmlformats.org/officeDocument/2006/relationships/slide" Target="/ppt/slides/slide8.xml" Id="R89afb5acef654efc" /><Relationship Type="http://schemas.openxmlformats.org/officeDocument/2006/relationships/slide" Target="/ppt/slides/slide9.xml" Id="R743fe31e98f04eca" /><Relationship Type="http://schemas.openxmlformats.org/officeDocument/2006/relationships/slide" Target="/ppt/slides/slide10.xml" Id="Rfeefb1d17678489f" /><Relationship Type="http://schemas.openxmlformats.org/officeDocument/2006/relationships/slide" Target="/ppt/slides/slide11.xml" Id="R36365482893c4370" /><Relationship Type="http://schemas.openxmlformats.org/officeDocument/2006/relationships/slide" Target="/ppt/slides/slide12.xml" Id="Rabca439d41e343df" /><Relationship Type="http://schemas.openxmlformats.org/officeDocument/2006/relationships/slide" Target="/ppt/slides/slide13.xml" Id="R2cd64b82e7974b52" /><Relationship Type="http://schemas.openxmlformats.org/officeDocument/2006/relationships/slide" Target="/ppt/slides/slide14.xml" Id="R3ddfe66d1aa0489c" /><Relationship Type="http://schemas.openxmlformats.org/officeDocument/2006/relationships/slide" Target="/ppt/slides/slide15.xml" Id="R0c411f7e93eb49d9" /><Relationship Type="http://schemas.openxmlformats.org/officeDocument/2006/relationships/slide" Target="/ppt/slides/slide16.xml" Id="Rcfd87c18397e4a3d" /><Relationship Type="http://schemas.openxmlformats.org/officeDocument/2006/relationships/slide" Target="/ppt/slides/slide17.xml" Id="R64616e3215ee4c5b" /><Relationship Type="http://schemas.openxmlformats.org/officeDocument/2006/relationships/slide" Target="/ppt/slides/slide18.xml" Id="R06db349fa90842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1f213cd31e48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70d03d9b704e40" /><Relationship Type="http://schemas.openxmlformats.org/officeDocument/2006/relationships/notesMaster" Target="/ppt/notesMasters/notesMaster1.xml" Id="R7eb2641e7fa34c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c0962c5e444214" /><Relationship Type="http://schemas.openxmlformats.org/officeDocument/2006/relationships/notesMaster" Target="/ppt/notesMasters/notesMaster1.xml" Id="R8fc56e0d37174c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f874b1d40541d1" /><Relationship Type="http://schemas.openxmlformats.org/officeDocument/2006/relationships/notesMaster" Target="/ppt/notesMasters/notesMaster1.xml" Id="Rc40ebc89264c4e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fe7fb1d86e42ed" /><Relationship Type="http://schemas.openxmlformats.org/officeDocument/2006/relationships/notesMaster" Target="/ppt/notesMasters/notesMaster1.xml" Id="R50c9127995b94c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5db4e87e104158" /><Relationship Type="http://schemas.openxmlformats.org/officeDocument/2006/relationships/notesMaster" Target="/ppt/notesMasters/notesMaster1.xml" Id="Rfcbf9519e1b542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fed53f5c734c08" /><Relationship Type="http://schemas.openxmlformats.org/officeDocument/2006/relationships/notesMaster" Target="/ppt/notesMasters/notesMaster1.xml" Id="R2e9d4dccd1964f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8e6728d5a94ba9" /><Relationship Type="http://schemas.openxmlformats.org/officeDocument/2006/relationships/notesMaster" Target="/ppt/notesMasters/notesMaster1.xml" Id="R5f6087ae2d2644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8087f85ca6429f" /><Relationship Type="http://schemas.openxmlformats.org/officeDocument/2006/relationships/notesMaster" Target="/ppt/notesMasters/notesMaster1.xml" Id="R416c66af6c744b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3d8d7d93f546f6" /><Relationship Type="http://schemas.openxmlformats.org/officeDocument/2006/relationships/notesMaster" Target="/ppt/notesMasters/notesMaster1.xml" Id="R8bd2584d93fa47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c9043f498c4ca4" /><Relationship Type="http://schemas.openxmlformats.org/officeDocument/2006/relationships/notesMaster" Target="/ppt/notesMasters/notesMaster1.xml" Id="Raa065ad01c3044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d47cad05604324" /><Relationship Type="http://schemas.openxmlformats.org/officeDocument/2006/relationships/notesMaster" Target="/ppt/notesMasters/notesMaster1.xml" Id="R64abc8dfb89c49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423789befe4423" /><Relationship Type="http://schemas.openxmlformats.org/officeDocument/2006/relationships/notesMaster" Target="/ppt/notesMasters/notesMaster1.xml" Id="R6aa02692b7cf47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cdf5d1685f4283" /><Relationship Type="http://schemas.openxmlformats.org/officeDocument/2006/relationships/notesMaster" Target="/ppt/notesMasters/notesMaster1.xml" Id="R373123c43e6441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ffb8fb7cef04adf" /><Relationship Type="http://schemas.openxmlformats.org/officeDocument/2006/relationships/notesMaster" Target="/ppt/notesMasters/notesMaster1.xml" Id="R18a31b4e8c1149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5f6a7904b74001" /><Relationship Type="http://schemas.openxmlformats.org/officeDocument/2006/relationships/notesMaster" Target="/ppt/notesMasters/notesMaster1.xml" Id="R418581f66d6548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122b387a1f45a3" /><Relationship Type="http://schemas.openxmlformats.org/officeDocument/2006/relationships/notesMaster" Target="/ppt/notesMasters/notesMaster1.xml" Id="R152402e628dc44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6187aa65e744cc" /><Relationship Type="http://schemas.openxmlformats.org/officeDocument/2006/relationships/notesMaster" Target="/ppt/notesMasters/notesMaster1.xml" Id="R172140f27e6242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4cec6976964157" /><Relationship Type="http://schemas.openxmlformats.org/officeDocument/2006/relationships/notesMaster" Target="/ppt/notesMasters/notesMaster1.xml" Id="Rea50ac464af24b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https://minhuangyuntech.github.io/oo2026/ja/memory/play/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d9ef913b0142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83545af8f244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d7f4a5d2943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c92ad103c44f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fe7931d8c4e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ac68f3e38945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479895-9F5B-4282-82D0-77C5A891B7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4425B1E-15E6-45B3-8C8B-0B1DD2244F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C497E85-CDD9-428D-A78F-74A8D096F9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522B23-E7BA-4A85-AFD7-73AA06C7E2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83F19D6-468F-4B0B-AA94-C178479763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6B82F19-0739-4E57-ABA1-366269974B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0D87B2-39F8-410F-8EEA-10B8DAF541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305922F-D52C-4121-A3D3-A0C628EE94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A467D2-A70C-4BF3-B572-F1D1B65D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F96119-318C-4A69-AB1B-BB382676AF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c0cf29de0f49cc" /><Relationship Type="http://schemas.openxmlformats.org/officeDocument/2006/relationships/slideLayout" Target="/ppt/slideLayouts/slideLayout1.xml" Id="Ra952bdcb14d94ccd" /><Relationship Type="http://schemas.openxmlformats.org/officeDocument/2006/relationships/slideLayout" Target="/ppt/slideLayouts/slideLayout2.xml" Id="R0e9e4b032111471c" /><Relationship Type="http://schemas.openxmlformats.org/officeDocument/2006/relationships/slideLayout" Target="/ppt/slideLayouts/slideLayout3.xml" Id="R3fbbb81a52844cb1" /><Relationship Type="http://schemas.openxmlformats.org/officeDocument/2006/relationships/slideLayout" Target="/ppt/slideLayouts/slideLayout4.xml" Id="Rd17c600f2734470b" /><Relationship Type="http://schemas.openxmlformats.org/officeDocument/2006/relationships/slideLayout" Target="/ppt/slideLayouts/slideLayout5.xml" Id="Rf33a0581c3fe4fee" /><Relationship Type="http://schemas.openxmlformats.org/officeDocument/2006/relationships/slideLayout" Target="/ppt/slideLayouts/slideLayout6.xml" Id="R8acc092d0aaa44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52bdcb14d94ccd"/>
    <p:sldLayoutId xmlns:r="http://schemas.openxmlformats.org/officeDocument/2006/relationships" id="2147483650" r:id="R0e9e4b032111471c"/>
    <p:sldLayoutId xmlns:r="http://schemas.openxmlformats.org/officeDocument/2006/relationships" id="2147483651" r:id="R3fbbb81a52844cb1"/>
    <p:sldLayoutId xmlns:r="http://schemas.openxmlformats.org/officeDocument/2006/relationships" id="2147483652" r:id="Rd17c600f2734470b"/>
    <p:sldLayoutId xmlns:r="http://schemas.openxmlformats.org/officeDocument/2006/relationships" id="2147483653" r:id="Rf33a0581c3fe4fee"/>
    <p:sldLayoutId xmlns:r="http://schemas.openxmlformats.org/officeDocument/2006/relationships" id="2147483654" r:id="R8acc092d0aaa44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b1e311ae5d4aa0" /><Relationship Type="http://schemas.openxmlformats.org/officeDocument/2006/relationships/hyperlink" Target="https://minhuangyuntech.github.io/oo2026/ja/memory/play/" TargetMode="External" Id="Rea89c17d86d448f5" /><Relationship Type="http://schemas.openxmlformats.org/officeDocument/2006/relationships/notesSlide" Target="/ppt/notesSlides/notesSlide1.xml" Id="R279bd8548c7c44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b7b1e5d9904887" /><Relationship Type="http://schemas.openxmlformats.org/officeDocument/2006/relationships/image" Target="/ppt/media/image.jpeg" Id="R3a1a9179c0aa4eb1" /><Relationship Type="http://schemas.openxmlformats.org/officeDocument/2006/relationships/hyperlink" Target="https://minhuangyuntech.github.io/oo2026/ja/memory/play/" TargetMode="External" Id="R44030f1a915c4475" /><Relationship Type="http://schemas.openxmlformats.org/officeDocument/2006/relationships/hyperlink" Target="https://minhuangyuntech.github.io/oo2026/ja/memory/play/" TargetMode="External" Id="R0cb2554925a84718" /><Relationship Type="http://schemas.openxmlformats.org/officeDocument/2006/relationships/notesSlide" Target="/ppt/notesSlides/notesSlide2.xml" Id="R8d311f2c34684a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add158032846ba" /><Relationship Type="http://schemas.openxmlformats.org/officeDocument/2006/relationships/notesSlide" Target="/ppt/notesSlides/notesSlide3.xml" Id="Rc9bc0d1c59d94a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1ebef0e17243be" /><Relationship Type="http://schemas.openxmlformats.org/officeDocument/2006/relationships/notesSlide" Target="/ppt/notesSlides/notesSlide4.xml" Id="R299b5e8ea1d643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dcdf4dd10a4c6a" /><Relationship Type="http://schemas.openxmlformats.org/officeDocument/2006/relationships/notesSlide" Target="/ppt/notesSlides/notesSlide5.xml" Id="Rae112181d8b64e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4e1c4e64f847da" /><Relationship Type="http://schemas.openxmlformats.org/officeDocument/2006/relationships/notesSlide" Target="/ppt/notesSlides/notesSlide6.xml" Id="R1e762cea969041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17c96a14f46a0" /><Relationship Type="http://schemas.openxmlformats.org/officeDocument/2006/relationships/notesSlide" Target="/ppt/notesSlides/notesSlide7.xml" Id="R7c0718772c5e41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449ca65e5441d3" /><Relationship Type="http://schemas.openxmlformats.org/officeDocument/2006/relationships/notesSlide" Target="/ppt/notesSlides/notesSlide8.xml" Id="R56e0d30986fb40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ea3123bd3e42f3" /><Relationship Type="http://schemas.openxmlformats.org/officeDocument/2006/relationships/notesSlide" Target="/ppt/notesSlides/notesSlide9.xml" Id="R6d44b68b745649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94f8840aca4821" /><Relationship Type="http://schemas.openxmlformats.org/officeDocument/2006/relationships/notesSlide" Target="/ppt/notesSlides/notesSlide10.xml" Id="R884b7a72fd0242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0c65a6ba254a7b" /><Relationship Type="http://schemas.openxmlformats.org/officeDocument/2006/relationships/notesSlide" Target="/ppt/notesSlides/notesSlide11.xml" Id="R6336496243bc48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3fdf0aa5ce4862" /><Relationship Type="http://schemas.openxmlformats.org/officeDocument/2006/relationships/notesSlide" Target="/ppt/notesSlides/notesSlide12.xml" Id="Rcca859a0accf41c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d155d054c845b4" /><Relationship Type="http://schemas.openxmlformats.org/officeDocument/2006/relationships/notesSlide" Target="/ppt/notesSlides/notesSlide13.xml" Id="R552526dab6c644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1d05388b18452c" /><Relationship Type="http://schemas.openxmlformats.org/officeDocument/2006/relationships/notesSlide" Target="/ppt/notesSlides/notesSlide14.xml" Id="R9ed313a2bec449d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4555e42364e6e" /><Relationship Type="http://schemas.openxmlformats.org/officeDocument/2006/relationships/notesSlide" Target="/ppt/notesSlides/notesSlide15.xml" Id="R3abbe4a564dc4bf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8fa4e587724fa4" /><Relationship Type="http://schemas.openxmlformats.org/officeDocument/2006/relationships/notesSlide" Target="/ppt/notesSlides/notesSlide16.xml" Id="R94b4073779c845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1caa2fa1064f45" /><Relationship Type="http://schemas.openxmlformats.org/officeDocument/2006/relationships/notesSlide" Target="/ppt/notesSlides/notesSlide17.xml" Id="R37305ffc928c41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d9048d21dd4baf" /><Relationship Type="http://schemas.openxmlformats.org/officeDocument/2006/relationships/hyperlink" Target="https://docs.python.org/3.12/tutorial/classes.html" TargetMode="External" Id="Raf7df4a8d44c445e" /><Relationship Type="http://schemas.openxmlformats.org/officeDocument/2006/relationships/hyperlink" Target="https://docs.python.org/3.12/reference/expressions.html#is-not" TargetMode="External" Id="R8dff4429da694d43" /><Relationship Type="http://schemas.openxmlformats.org/officeDocument/2006/relationships/notesSlide" Target="/ppt/notesSlides/notesSlide18.xml" Id="R7b0e5486e49544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YTHON OOP  /  CARD MATCHING">
            <a:extLst xmlns:a="http://schemas.openxmlformats.org/drawingml/2006/main">
              <a:ext uri="{FF2B5EF4-FFF2-40B4-BE49-F238E27FC236}">
                <a16:creationId xmlns:a16="http://schemas.microsoft.com/office/drawing/2014/main" id="{2E981651-8290-4822-8D1A-CE0924B6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PYTHON OOP  /  CARD MATCHING</a:t>
            </a:r>
          </a:p>
        </p:txBody>
      </p:sp>
      <p:sp>
        <p:nvSpPr>
          <p:cNvPr id="2" name="神経衰弱とオブジェクトの状態">
            <a:extLst xmlns:a="http://schemas.openxmlformats.org/drawingml/2006/main">
              <a:ext uri="{FF2B5EF4-FFF2-40B4-BE49-F238E27FC236}">
                <a16:creationId xmlns:a16="http://schemas.microsoft.com/office/drawing/2014/main" id="{7681A198-1EF1-4741-B1F8-82F687FF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62125"/>
            <a:ext cx="11001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48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神経衰弱とオブジェクトの状態</a:t>
            </a:r>
          </a:p>
        </p:txBody>
      </p:sp>
      <p:sp>
        <p:nvSpPr>
          <p:cNvPr id="3" name="Card · Board · Game">
            <a:extLst xmlns:a="http://schemas.openxmlformats.org/drawingml/2006/main">
              <a:ext uri="{FF2B5EF4-FFF2-40B4-BE49-F238E27FC236}">
                <a16:creationId xmlns:a16="http://schemas.microsoft.com/office/drawing/2014/main" id="{95DBF199-BF41-43DC-8F19-A9582056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27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Card · Board · Game</a:t>
            </a:r>
          </a:p>
        </p:txBody>
      </p:sp>
      <p:sp>
        <p:nvSpPr>
          <p:cNvPr id="4" name="一枚のカードが一つのオブジェクト。&#10;状態と参照を一歩ずつ観察します。">
            <a:extLst xmlns:a="http://schemas.openxmlformats.org/drawingml/2006/main">
              <a:ext uri="{FF2B5EF4-FFF2-40B4-BE49-F238E27FC236}">
                <a16:creationId xmlns:a16="http://schemas.microsoft.com/office/drawing/2014/main" id="{70ABE4BC-2762-4019-819C-D446380E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一枚のカードが一つのオブジェクト。</a:t>
            </a:r>
          </a:p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状態と参照を一歩ずつ観察します。</a:t>
            </a:r>
          </a:p>
        </p:txBody>
      </p:sp>
      <p:sp>
        <p:nvSpPr>
          <p:cNvPr id="5" name="https://minhuangyuntech.github.io/oo2026/ja/memory/play/">
            <a:extLst xmlns:a="http://schemas.openxmlformats.org/drawingml/2006/main">
              <a:ext uri="{FF2B5EF4-FFF2-40B4-BE49-F238E27FC236}">
                <a16:creationId xmlns:a16="http://schemas.microsoft.com/office/drawing/2014/main" id="{37C86EC9-4B3C-45E7-927C-6D093000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ea89c17d86d448f5"/>
              </a:rPr>
              <a:t>https://minhuangyuntech.github.io/oo2026/ja/memory/play/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B6EE28E6-E0A8-4DF3-9FC5-39BE4795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10329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ブラウザー版とオブジェクト名">
            <a:extLst xmlns:a="http://schemas.openxmlformats.org/drawingml/2006/main">
              <a:ext uri="{FF2B5EF4-FFF2-40B4-BE49-F238E27FC236}">
                <a16:creationId xmlns:a16="http://schemas.microsoft.com/office/drawing/2014/main" id="{BEBBAD72-42F7-456F-8841-D8722479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ブラウザー版とオブジェクト名</a:t>
            </a:r>
          </a:p>
        </p:txBody>
      </p:sp>
      <p:sp>
        <p:nvSpPr>
          <p:cNvPr id="2" name="12 枚、6 ペア。ブラウザーですぐ遊べます。">
            <a:extLst xmlns:a="http://schemas.openxmlformats.org/drawingml/2006/main">
              <a:ext uri="{FF2B5EF4-FFF2-40B4-BE49-F238E27FC236}">
                <a16:creationId xmlns:a16="http://schemas.microsoft.com/office/drawing/2014/main" id="{A1F0B72E-E669-4257-B327-87B246FA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12 枚、6 ペア。ブラウザーですぐ遊べます。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8781D-63CE-4EEF-8273-0E147F705D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a9179c0aa4eb1"/>
          <a:stretch xmlns:a="http://schemas.openxmlformats.org/drawingml/2006/main"/>
        </p:blipFill>
        <p:spPr>
          <a:xfrm xmlns:a="http://schemas.openxmlformats.org/drawingml/2006/main">
            <a:off x="892095" y="1781175"/>
            <a:ext cx="6216809" cy="4610100"/>
          </a:xfrm>
          <a:prstGeom xmlns:a="http://schemas.openxmlformats.org/drawingml/2006/main" prst="rect">
            <a:avLst/>
          </a:prstGeom>
        </p:spPr>
      </p:pic>
      <p:sp>
        <p:nvSpPr>
          <p:cNvPr id="4" name="通常プレイ：二枚選んで手番を確定します。">
            <a:extLst xmlns:a="http://schemas.openxmlformats.org/drawingml/2006/main">
              <a:ext uri="{FF2B5EF4-FFF2-40B4-BE49-F238E27FC236}">
                <a16:creationId xmlns:a16="http://schemas.microsoft.com/office/drawing/2014/main" id="{425159E2-91E5-446A-8EA3-BB99E825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通常プレイ：二枚選んで手番を確定します。</a:t>
            </a:r>
          </a:p>
        </p:txBody>
      </p:sp>
      <p:sp>
        <p:nvSpPr>
          <p:cNvPr id="5" name="コマ送り：めくる・比較・確定を一段階ずつ観察。">
            <a:extLst xmlns:a="http://schemas.openxmlformats.org/drawingml/2006/main">
              <a:ext uri="{FF2B5EF4-FFF2-40B4-BE49-F238E27FC236}">
                <a16:creationId xmlns:a16="http://schemas.microsoft.com/office/drawing/2014/main" id="{E5BB6714-0F87-48AB-8A03-B47953C2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7662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コマ送り：めくる・比較・確定を一段階ずつ観察。</a:t>
            </a:r>
          </a:p>
        </p:txBody>
      </p:sp>
      <p:sp>
        <p:nvSpPr>
          <p:cNvPr id="6" name="ブラウザーで遊ぶ">
            <a:extLst xmlns:a="http://schemas.openxmlformats.org/drawingml/2006/main">
              <a:ext uri="{FF2B5EF4-FFF2-40B4-BE49-F238E27FC236}">
                <a16:creationId xmlns:a16="http://schemas.microsoft.com/office/drawing/2014/main" id="{ED8956DF-F8DE-4792-B055-66EF118C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76850"/>
            <a:ext cx="3667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087C62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44030f1a915c4475"/>
              </a:rPr>
              <a:t>ブラウザーで遊ぶ</a:t>
            </a:r>
          </a:p>
        </p:txBody>
      </p:sp>
      <p:sp>
        <p:nvSpPr>
          <p:cNvPr id="7" name="https://minhuangyuntech.github.io/oo2026/ja/memory/play/">
            <a:extLst xmlns:a="http://schemas.openxmlformats.org/drawingml/2006/main">
              <a:ext uri="{FF2B5EF4-FFF2-40B4-BE49-F238E27FC236}">
                <a16:creationId xmlns:a16="http://schemas.microsoft.com/office/drawing/2014/main" id="{8DCC6516-803F-4C71-A7C5-26335B3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9775"/>
            <a:ext cx="3667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0cb2554925a84718"/>
              </a:rPr>
              <a:t>https://minhuangyuntech.github.io/oo2026/ja/memory/play/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1689CD66-CE74-4271-A14A-5BB40968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15347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プレイと観察の操作">
            <a:extLst xmlns:a="http://schemas.openxmlformats.org/drawingml/2006/main">
              <a:ext uri="{FF2B5EF4-FFF2-40B4-BE49-F238E27FC236}">
                <a16:creationId xmlns:a16="http://schemas.microsoft.com/office/drawing/2014/main" id="{068A8F3A-4595-4FDF-8631-79F69E41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プレイと観察の操作</a:t>
            </a:r>
          </a:p>
        </p:txBody>
      </p:sp>
      <p:sp>
        <p:nvSpPr>
          <p:cNvPr id="2" name="マウス・タッチ・キーボードに対応">
            <a:extLst xmlns:a="http://schemas.openxmlformats.org/drawingml/2006/main">
              <a:ext uri="{FF2B5EF4-FFF2-40B4-BE49-F238E27FC236}">
                <a16:creationId xmlns:a16="http://schemas.microsoft.com/office/drawing/2014/main" id="{1A63F196-DEC2-4D97-928F-715C07A5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マウス・タッチ・キーボードに対応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467A9-B42F-4A21-B856-A1A332B5CAB8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通常プレイ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二枚選び、手番を確定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コマ送り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めくる・比較・確定を一段階ずつ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L / オブジェクト名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C01: Card などの名前を切替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観察用の選択欄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めくらずに対象だけを選択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固定の観察例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新しいゲームをコマ送りで作成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新しいゲーム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新しい実体とランダムな盤面を作成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言語を切り替えても盤面と進行は維持。再読み込みで新しいゲームになります。">
            <a:extLst xmlns:a="http://schemas.openxmlformats.org/drawingml/2006/main">
              <a:ext uri="{FF2B5EF4-FFF2-40B4-BE49-F238E27FC236}">
                <a16:creationId xmlns:a16="http://schemas.microsoft.com/office/drawing/2014/main" id="{EC3694B6-8CD3-4F65-9003-6F483034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言語を切り替えても盤面と進行は維持。再読み込みで新しいゲームになります。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7D1F9DC8-D590-48F6-81CC-207748B9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538165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三つのクラスの責任">
            <a:extLst xmlns:a="http://schemas.openxmlformats.org/drawingml/2006/main">
              <a:ext uri="{FF2B5EF4-FFF2-40B4-BE49-F238E27FC236}">
                <a16:creationId xmlns:a16="http://schemas.microsoft.com/office/drawing/2014/main" id="{2531FCA5-96CE-42A2-A02C-2A212BE5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三つのクラスの責任</a:t>
            </a:r>
          </a:p>
        </p:txBody>
      </p:sp>
      <p:sp>
        <p:nvSpPr>
          <p:cNvPr id="2" name="担当するオブジェクトにデータと処理をまとめる">
            <a:extLst xmlns:a="http://schemas.openxmlformats.org/drawingml/2006/main">
              <a:ext uri="{FF2B5EF4-FFF2-40B4-BE49-F238E27FC236}">
                <a16:creationId xmlns:a16="http://schemas.microsoft.com/office/drawing/2014/main" id="{F1409150-CB58-4644-9373-C57845C0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担当するオブジェクトにデータと処理をまとめる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615BCA-B75B-4771-B762-370A4122EB90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714500"/>
                <a:gridCol w="4667250"/>
                <a:gridCol w="466725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クラス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name, pair_id, face_up, 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めくる・裏返す・一致済みにする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Board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cards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12 枚の生成と検索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first, second, pending, 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選択・比較・確定を管理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画面はモデルの状態を読み、ボタンはメソッドを呼びます。">
            <a:extLst xmlns:a="http://schemas.openxmlformats.org/drawingml/2006/main">
              <a:ext uri="{FF2B5EF4-FFF2-40B4-BE49-F238E27FC236}">
                <a16:creationId xmlns:a16="http://schemas.microsoft.com/office/drawing/2014/main" id="{7D55B81F-5891-4BD2-A37B-449F60FD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画面はモデルの状態を読み、ボタンはメソッドを呼びます。</a:t>
            </a:r>
          </a:p>
        </p:txBody>
      </p:sp>
      <p:sp>
        <p:nvSpPr>
          <p:cNvPr id="5" name="04">
            <a:extLst xmlns:a="http://schemas.openxmlformats.org/drawingml/2006/main">
              <a:ext uri="{FF2B5EF4-FFF2-40B4-BE49-F238E27FC236}">
                <a16:creationId xmlns:a16="http://schemas.microsoft.com/office/drawing/2014/main" id="{828AC1B6-157D-4FD5-B7C9-36D745C1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810039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UML クラス図">
            <a:extLst xmlns:a="http://schemas.openxmlformats.org/drawingml/2006/main">
              <a:ext uri="{FF2B5EF4-FFF2-40B4-BE49-F238E27FC236}">
                <a16:creationId xmlns:a16="http://schemas.microsoft.com/office/drawing/2014/main" id="{471D0C08-81E3-45DE-94AE-14F5DA7D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UML クラス図</a:t>
            </a:r>
          </a:p>
        </p:txBody>
      </p:sp>
      <p:sp>
        <p:nvSpPr>
          <p:cNvPr id="2" name="名前・属性・メソッドの三段。矢印は参照可能な関連。">
            <a:extLst xmlns:a="http://schemas.openxmlformats.org/drawingml/2006/main">
              <a:ext uri="{FF2B5EF4-FFF2-40B4-BE49-F238E27FC236}">
                <a16:creationId xmlns:a16="http://schemas.microsoft.com/office/drawing/2014/main" id="{EDBDEE01-F42E-4E9A-90BF-BFACF378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名前・属性・メソッドの三段。矢印は参照可能な関連。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E3333-BC50-4D67-BB51-C2C8EFBA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53ABC001-9932-49A5-855A-63C6F701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D79CF-247F-4444-AF47-9A09F3E6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board: Board&#10;first: Card [0..1]&#10;second: Card [0..1]&#10;pending: Card [0..">
            <a:extLst xmlns:a="http://schemas.openxmlformats.org/drawingml/2006/main">
              <a:ext uri="{FF2B5EF4-FFF2-40B4-BE49-F238E27FC236}">
                <a16:creationId xmlns:a16="http://schemas.microsoft.com/office/drawing/2014/main" id="{6EE9EB7E-DC3C-4C6E-A8DD-B3240D62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board: Board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first: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second: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pending: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phase, turns, matches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570B3-FB5B-4529-8B0F-7842FC10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queue(name)&#10;step(), compare(), settle()">
            <a:extLst xmlns:a="http://schemas.openxmlformats.org/drawingml/2006/main">
              <a:ext uri="{FF2B5EF4-FFF2-40B4-BE49-F238E27FC236}">
                <a16:creationId xmlns:a16="http://schemas.microsoft.com/office/drawing/2014/main" id="{164DC57B-F61C-40AC-A683-9348EC0F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queue(name)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step(), compare(), settle()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670E75-4A85-4A5D-BFEF-EE5CE5A7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57375"/>
            <a:ext cx="247650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0" name="Board">
            <a:extLst xmlns:a="http://schemas.openxmlformats.org/drawingml/2006/main">
              <a:ext uri="{FF2B5EF4-FFF2-40B4-BE49-F238E27FC236}">
                <a16:creationId xmlns:a16="http://schemas.microsoft.com/office/drawing/2014/main" id="{550BAEFC-B972-4FC0-B776-092BF17A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962150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7654B2"/>
                </a:solidFill>
                <a:latin typeface="Yu Gothic"/>
                <a:ea typeface="Yu Gothic"/>
                <a:cs typeface="Yu Gothic"/>
              </a:rPr>
              <a:t>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2180E-8A15-4025-8A3E-6F0E9A15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2343150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2" name="cards: list[Card]&#10;complete: bool">
            <a:extLst xmlns:a="http://schemas.openxmlformats.org/drawingml/2006/main">
              <a:ext uri="{FF2B5EF4-FFF2-40B4-BE49-F238E27FC236}">
                <a16:creationId xmlns:a16="http://schemas.microsoft.com/office/drawing/2014/main" id="{8EE669CD-615F-4465-B544-6C1123E7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457450"/>
            <a:ext cx="21717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cards: list[Card]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complete: bool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7FC7AA-B612-4A00-9888-81C95914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3990975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4" name="get(name)">
            <a:extLst xmlns:a="http://schemas.openxmlformats.org/drawingml/2006/main">
              <a:ext uri="{FF2B5EF4-FFF2-40B4-BE49-F238E27FC236}">
                <a16:creationId xmlns:a16="http://schemas.microsoft.com/office/drawing/2014/main" id="{DC45F3BE-6027-4716-A121-59E34840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133850"/>
            <a:ext cx="2171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get(name)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7295D-0CD7-4495-A92B-C2E3B321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C1105F97-2431-45E2-B606-5C55C7DB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Card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5C099-F51D-473B-89D0-98E88DE0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8" name="name, pair_id&#10;face_up, matched">
            <a:extLst xmlns:a="http://schemas.openxmlformats.org/drawingml/2006/main">
              <a:ext uri="{FF2B5EF4-FFF2-40B4-BE49-F238E27FC236}">
                <a16:creationId xmlns:a16="http://schemas.microsoft.com/office/drawing/2014/main" id="{E6B069A6-54FB-4366-B0F1-C53AC758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name, pair_id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face_up, matched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EE2EF4-C0BC-4C3A-8123-73808195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0" name="reveal()&#10;hide(), mark_matched()">
            <a:extLst xmlns:a="http://schemas.openxmlformats.org/drawingml/2006/main">
              <a:ext uri="{FF2B5EF4-FFF2-40B4-BE49-F238E27FC236}">
                <a16:creationId xmlns:a16="http://schemas.microsoft.com/office/drawing/2014/main" id="{3DFAC380-5EBF-4C68-8E87-B738938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reveal()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hide(), mark_matched()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79A238-60FA-450B-867B-71B8F779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14750" y="2857500"/>
            <a:ext cx="1095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34B69-9F34-4178-9479-DB8ADDBB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718176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47EF2-6ED5-42AA-8161-E3F30A49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718176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board">
            <a:extLst xmlns:a="http://schemas.openxmlformats.org/drawingml/2006/main">
              <a:ext uri="{FF2B5EF4-FFF2-40B4-BE49-F238E27FC236}">
                <a16:creationId xmlns:a16="http://schemas.microsoft.com/office/drawing/2014/main" id="{3A418C99-30D2-4B70-B1A3-F009B477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476500"/>
            <a:ext cx="904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board</a:t>
            </a:r>
          </a:p>
        </p:txBody>
      </p:sp>
      <p:sp>
        <p:nvSpPr>
          <p:cNvPr id="25" name="1">
            <a:extLst xmlns:a="http://schemas.openxmlformats.org/drawingml/2006/main">
              <a:ext uri="{FF2B5EF4-FFF2-40B4-BE49-F238E27FC236}">
                <a16:creationId xmlns:a16="http://schemas.microsoft.com/office/drawing/2014/main" id="{C46F8335-4AF7-4343-87BD-116283CA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95275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6CAEA2-D07E-4862-8887-7D285AF4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86625" y="2857500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67C2E6-ABB7-4323-ADB8-A874133C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385301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CB0901-6E7C-4ADC-91F4-3F3B4752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385301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cards">
            <a:extLst xmlns:a="http://schemas.openxmlformats.org/drawingml/2006/main">
              <a:ext uri="{FF2B5EF4-FFF2-40B4-BE49-F238E27FC236}">
                <a16:creationId xmlns:a16="http://schemas.microsoft.com/office/drawing/2014/main" id="{541C5BB6-D661-4DE0-BAB4-999CFE77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cards</a:t>
            </a:r>
          </a:p>
        </p:txBody>
      </p:sp>
      <p:sp>
        <p:nvSpPr>
          <p:cNvPr id="30" name="12">
            <a:extLst xmlns:a="http://schemas.openxmlformats.org/drawingml/2006/main">
              <a:ext uri="{FF2B5EF4-FFF2-40B4-BE49-F238E27FC236}">
                <a16:creationId xmlns:a16="http://schemas.microsoft.com/office/drawing/2014/main" id="{5B2022B3-37D3-45E2-99AE-88B18047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527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31" name="first / second / pending : Card [0..1]">
            <a:extLst xmlns:a="http://schemas.openxmlformats.org/drawingml/2006/main">
              <a:ext uri="{FF2B5EF4-FFF2-40B4-BE49-F238E27FC236}">
                <a16:creationId xmlns:a16="http://schemas.microsoft.com/office/drawing/2014/main" id="{629BE2BE-AC0C-4A63-941D-415E70F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first / second / pending : Card [0..1]</a:t>
            </a:r>
          </a:p>
        </p:txBody>
      </p:sp>
      <p:sp>
        <p:nvSpPr>
          <p:cNvPr id="32" name="一つの Game が一つの Board を持ち、Board は 12 枚を保持。">
            <a:extLst xmlns:a="http://schemas.openxmlformats.org/drawingml/2006/main">
              <a:ext uri="{FF2B5EF4-FFF2-40B4-BE49-F238E27FC236}">
                <a16:creationId xmlns:a16="http://schemas.microsoft.com/office/drawing/2014/main" id="{12E1C024-A951-49ED-8C6A-6FCE7A78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一つの Game が一つの Board を持ち、Board は 12 枚を保持。</a:t>
            </a:r>
          </a:p>
        </p:txBody>
      </p:sp>
      <p:sp>
        <p:nvSpPr>
          <p:cNvPr id="33" name="first・second・pending は、それぞれ 0 または 1 枚を参照。">
            <a:extLst xmlns:a="http://schemas.openxmlformats.org/drawingml/2006/main">
              <a:ext uri="{FF2B5EF4-FFF2-40B4-BE49-F238E27FC236}">
                <a16:creationId xmlns:a16="http://schemas.microsoft.com/office/drawing/2014/main" id="{76417693-5576-4C3B-84BB-FBEFAE86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first・second・pending は、それぞれ 0 または 1 枚を参照。</a:t>
            </a:r>
          </a:p>
        </p:txBody>
      </p:sp>
      <p:sp>
        <p:nvSpPr>
          <p:cNvPr id="34" name="05">
            <a:extLst xmlns:a="http://schemas.openxmlformats.org/drawingml/2006/main">
              <a:ext uri="{FF2B5EF4-FFF2-40B4-BE49-F238E27FC236}">
                <a16:creationId xmlns:a16="http://schemas.microsoft.com/office/drawing/2014/main" id="{9CA69419-4DB1-4E9E-9D9F-0438B198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5013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同じ絵、異なるオブジェクト">
            <a:extLst xmlns:a="http://schemas.openxmlformats.org/drawingml/2006/main">
              <a:ext uri="{FF2B5EF4-FFF2-40B4-BE49-F238E27FC236}">
                <a16:creationId xmlns:a16="http://schemas.microsoft.com/office/drawing/2014/main" id="{64EC83A4-A660-4B12-9266-2A19818F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同じ絵、異なるオブジェクト</a:t>
            </a:r>
          </a:p>
        </p:txBody>
      </p:sp>
      <p:sp>
        <p:nvSpPr>
          <p:cNvPr id="2" name="固定の盤面：C01 と C02 の pair_id は moon">
            <a:extLst xmlns:a="http://schemas.openxmlformats.org/drawingml/2006/main">
              <a:ext uri="{FF2B5EF4-FFF2-40B4-BE49-F238E27FC236}">
                <a16:creationId xmlns:a16="http://schemas.microsoft.com/office/drawing/2014/main" id="{30E15C12-CACC-48FA-AAD2-B38EC6BB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固定の盤面：C01 と C02 の pair_id は moon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8F743-5911-4556-A85C-702BDDD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4" name="game : Game">
            <a:extLst xmlns:a="http://schemas.openxmlformats.org/drawingml/2006/main">
              <a:ext uri="{FF2B5EF4-FFF2-40B4-BE49-F238E27FC236}">
                <a16:creationId xmlns:a16="http://schemas.microsoft.com/office/drawing/2014/main" id="{CE4A7501-3E19-4C1D-9831-644EEB0D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game : 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056E1-F315-4ACE-A5B4-DA11CDE7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362200"/>
            <a:ext cx="13620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098BA0-058D-4DFE-80EA-8D550EDC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466975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7" name="first → C01&#10;second → C02">
            <a:extLst xmlns:a="http://schemas.openxmlformats.org/drawingml/2006/main">
              <a:ext uri="{FF2B5EF4-FFF2-40B4-BE49-F238E27FC236}">
                <a16:creationId xmlns:a16="http://schemas.microsoft.com/office/drawing/2014/main" id="{D97FAC59-49D1-4076-9C06-8C2569D7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first → C01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second → C02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3A16B3-F5B8-4663-8953-EE0B6BC6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9" name="board : Board">
            <a:extLst xmlns:a="http://schemas.openxmlformats.org/drawingml/2006/main">
              <a:ext uri="{FF2B5EF4-FFF2-40B4-BE49-F238E27FC236}">
                <a16:creationId xmlns:a16="http://schemas.microsoft.com/office/drawing/2014/main" id="{F7291E9E-1CFF-4278-A496-E0D43579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board : 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F7C70-E8D1-4B16-9E90-221E181C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600575"/>
            <a:ext cx="16097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1C2AD0-2452-4D1E-BD33-AE87C7A2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70535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2" name="cards[0] → C01&#10;cards[1] → C02">
            <a:extLst xmlns:a="http://schemas.openxmlformats.org/drawingml/2006/main">
              <a:ext uri="{FF2B5EF4-FFF2-40B4-BE49-F238E27FC236}">
                <a16:creationId xmlns:a16="http://schemas.microsoft.com/office/drawing/2014/main" id="{42EFACB8-E9F6-4F36-8043-4128CD36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cards[0] → C01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cards[1] → C02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0A85F-ED06-4F85-AC74-046E599A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4" name="C01 : Card">
            <a:extLst xmlns:a="http://schemas.openxmlformats.org/drawingml/2006/main">
              <a:ext uri="{FF2B5EF4-FFF2-40B4-BE49-F238E27FC236}">
                <a16:creationId xmlns:a16="http://schemas.microsoft.com/office/drawing/2014/main" id="{E51487F2-B213-4F49-8753-84581EBD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47875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rPr>
              <a:t>C01 :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A8D7D-67D7-4A78-A3E2-0FD1EC6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236220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4DCA7-40FA-4962-9945-72D4674B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2466975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7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3E7FC101-CFDE-4405-B653-FB28FC90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pair_id = "moon"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face_up = 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7F10E3-C079-4DEC-9085-D2E7DB76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9" name="C02 : Card">
            <a:extLst xmlns:a="http://schemas.openxmlformats.org/drawingml/2006/main">
              <a:ext uri="{FF2B5EF4-FFF2-40B4-BE49-F238E27FC236}">
                <a16:creationId xmlns:a16="http://schemas.microsoft.com/office/drawing/2014/main" id="{6693169B-5AC3-45F5-A4BA-1C42836E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pPr>
            <a:r>
              <a:rPr sz="1875" b="1">
                <a:solidFill>
                  <a:srgbClr val="7654B2"/>
                </a:solidFill>
                <a:latin typeface="Yu Gothic"/>
                <a:ea typeface="Yu Gothic"/>
                <a:cs typeface="Yu Gothic"/>
              </a:rPr>
              <a:t>C02 : Card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2FD6A3-3188-4251-82AC-7058B25B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4600575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4D1AA-4B8C-4C9E-B5D3-0D2AC226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4705350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2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F968E6F5-7AE5-40B8-A4A7-06ED2F8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29175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pair_id = "moon"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face_up = True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24C816-3E88-4450-B781-1AD42589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2667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D1704B-8048-41DD-A6E8-7A2BA110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2667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D6098E-30C6-4433-8E5F-4E79A18C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2616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9C274C-E744-4F0C-9CEF-8B5AA636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3143250"/>
            <a:ext cx="1952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13B386-DB3B-4E36-904F-FBC8D3E1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3143250"/>
            <a:ext cx="0" cy="1476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937D2C-623E-4505-93A5-E9448B30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461962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8D22D0-2861-4661-96A3-931F0B14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46196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36031D-1810-48C1-9404-AAFA25C3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45693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FB6723-CFEF-42A1-B73E-657393D3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4857750"/>
            <a:ext cx="3238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90A01E-9B2D-4AB2-A5E9-EA69F0E4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762750" y="3143250"/>
            <a:ext cx="0" cy="17145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85E3DA-4153-4826-AA69-FC56D895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2750" y="314325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144309-791E-47AB-A397-9D72619D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31432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DA156-419B-483F-99C9-D09F7ED8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30930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FBD926-5A35-40FA-BDC4-07ADF305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5334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25F25-4FC2-470A-A6E5-D213465A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5334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FB5C68-DC41-4DD0-AF90-4E3663AC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5283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9" name="C01 is C02  →  False">
            <a:extLst xmlns:a="http://schemas.openxmlformats.org/drawingml/2006/main">
              <a:ext uri="{FF2B5EF4-FFF2-40B4-BE49-F238E27FC236}">
                <a16:creationId xmlns:a16="http://schemas.microsoft.com/office/drawing/2014/main" id="{5EB84B16-526B-4396-998F-81E064DA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7654B2"/>
                </a:solidFill>
                <a:latin typeface="Yu Gothic"/>
                <a:ea typeface="Yu Gothic"/>
                <a:cs typeface="Yu Gothic"/>
              </a:rPr>
              <a:t>C01 is C02  →  False</a:t>
            </a:r>
          </a:p>
        </p:txBody>
      </p:sp>
      <p:sp>
        <p:nvSpPr>
          <p:cNvPr id="40" name="C01 と C02 は別の実体。face_up は個別に変わります。">
            <a:extLst xmlns:a="http://schemas.openxmlformats.org/drawingml/2006/main">
              <a:ext uri="{FF2B5EF4-FFF2-40B4-BE49-F238E27FC236}">
                <a16:creationId xmlns:a16="http://schemas.microsoft.com/office/drawing/2014/main" id="{4BFDE875-DCD6-4B86-81D6-BFA95505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C01 と C02 は別の実体。face_up は個別に変わります。</a:t>
            </a:r>
          </a:p>
        </p:txBody>
      </p:sp>
      <p:sp>
        <p:nvSpPr>
          <p:cNvPr id="41" name="Game.first と Board.cards[0] は同じカードを参照できます。">
            <a:extLst xmlns:a="http://schemas.openxmlformats.org/drawingml/2006/main">
              <a:ext uri="{FF2B5EF4-FFF2-40B4-BE49-F238E27FC236}">
                <a16:creationId xmlns:a16="http://schemas.microsoft.com/office/drawing/2014/main" id="{EFB5DA5A-A560-47BD-B458-D29ED813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Game.first と Board.cards[0] は同じカードを参照できます。</a:t>
            </a:r>
          </a:p>
        </p:txBody>
      </p:sp>
      <p:sp>
        <p:nvSpPr>
          <p:cNvPr id="42" name="06">
            <a:extLst xmlns:a="http://schemas.openxmlformats.org/drawingml/2006/main">
              <a:ext uri="{FF2B5EF4-FFF2-40B4-BE49-F238E27FC236}">
                <a16:creationId xmlns:a16="http://schemas.microsoft.com/office/drawing/2014/main" id="{4F28EFAE-1CDA-46A5-8667-43D7061B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085852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rd の三つの状態">
            <a:extLst xmlns:a="http://schemas.openxmlformats.org/drawingml/2006/main">
              <a:ext uri="{FF2B5EF4-FFF2-40B4-BE49-F238E27FC236}">
                <a16:creationId xmlns:a16="http://schemas.microsoft.com/office/drawing/2014/main" id="{AEF58B2E-278D-4E3E-8F33-F353556B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 の三つの状態</a:t>
            </a:r>
          </a:p>
        </p:txBody>
      </p:sp>
      <p:sp>
        <p:nvSpPr>
          <p:cNvPr id="2" name="二つの真偽値で表示状態を表す">
            <a:extLst xmlns:a="http://schemas.openxmlformats.org/drawingml/2006/main">
              <a:ext uri="{FF2B5EF4-FFF2-40B4-BE49-F238E27FC236}">
                <a16:creationId xmlns:a16="http://schemas.microsoft.com/office/drawing/2014/main" id="{851C3FC8-CC3F-42BD-ACFE-8BDA3399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二つの真偽値で表示状態を表す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5AAEF-96FF-4E9D-B076-D8E0D9805190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096000"/>
                <a:gridCol w="2476500"/>
                <a:gridCol w="247650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表示状態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face_up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裏向き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表向き、未確定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一致済み、表のまま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一致済みのカードは表のまま。hide() でも裏に戻りません。">
            <a:extLst xmlns:a="http://schemas.openxmlformats.org/drawingml/2006/main">
              <a:ext uri="{FF2B5EF4-FFF2-40B4-BE49-F238E27FC236}">
                <a16:creationId xmlns:a16="http://schemas.microsoft.com/office/drawing/2014/main" id="{D04700BA-5A10-4170-AE43-0AED4606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一致済みのカードは表のまま。hide() でも裏に戻りません。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1FEA9527-EEB7-4833-957C-D55BF92F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072689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ard：データとめくる動作">
            <a:extLst xmlns:a="http://schemas.openxmlformats.org/drawingml/2006/main">
              <a:ext uri="{FF2B5EF4-FFF2-40B4-BE49-F238E27FC236}">
                <a16:creationId xmlns:a16="http://schemas.microsoft.com/office/drawing/2014/main" id="{B87A4E09-5D11-45CC-8DAA-2346A200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Card：データとめくる動作</a:t>
            </a:r>
          </a:p>
        </p:txBody>
      </p:sp>
      <p:sp>
        <p:nvSpPr>
          <p:cNvPr id="2" name="model.py · Card">
            <a:extLst xmlns:a="http://schemas.openxmlformats.org/drawingml/2006/main">
              <a:ext uri="{FF2B5EF4-FFF2-40B4-BE49-F238E27FC236}">
                <a16:creationId xmlns:a16="http://schemas.microsoft.com/office/drawing/2014/main" id="{D992BBC5-7F55-42CA-8E88-1D686AA9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model.py · Card</a:t>
            </a:r>
          </a:p>
        </p:txBody>
      </p:sp>
      <p:sp>
        <p:nvSpPr>
          <p:cNvPr id="3" name="class Card:">
            <a:extLst xmlns:a="http://schemas.openxmlformats.org/drawingml/2006/main">
              <a:ext uri="{FF2B5EF4-FFF2-40B4-BE49-F238E27FC236}">
                <a16:creationId xmlns:a16="http://schemas.microsoft.com/office/drawing/2014/main" id="{443C3BB5-87FD-4306-BED3-38139703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Card:</a:t>
            </a:r>
          </a:p>
        </p:txBody>
      </p:sp>
      <p:sp>
        <p:nvSpPr>
          <p:cNvPr id="4" name="    def __init__(self, name, pair_id):">
            <a:extLst xmlns:a="http://schemas.openxmlformats.org/drawingml/2006/main">
              <a:ext uri="{FF2B5EF4-FFF2-40B4-BE49-F238E27FC236}">
                <a16:creationId xmlns:a16="http://schemas.microsoft.com/office/drawing/2014/main" id="{FD493436-3F76-4D43-A2B3-31CC985A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pair_id):</a:t>
            </a:r>
          </a:p>
        </p:txBody>
      </p:sp>
      <p:sp>
        <p:nvSpPr>
          <p:cNvPr id="5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59A701F9-AF03-462E-9F86-1EEA4086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6" name="        self.pair_id = pair_id">
            <a:extLst xmlns:a="http://schemas.openxmlformats.org/drawingml/2006/main">
              <a:ext uri="{FF2B5EF4-FFF2-40B4-BE49-F238E27FC236}">
                <a16:creationId xmlns:a16="http://schemas.microsoft.com/office/drawing/2014/main" id="{927E9424-544A-44DD-83B4-22C9408C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self.pair_id = pair_id</a:t>
            </a:r>
          </a:p>
        </p:txBody>
      </p:sp>
      <p:sp>
        <p:nvSpPr>
          <p:cNvPr id="7" name="        self.face_up = False">
            <a:extLst xmlns:a="http://schemas.openxmlformats.org/drawingml/2006/main">
              <a:ext uri="{FF2B5EF4-FFF2-40B4-BE49-F238E27FC236}">
                <a16:creationId xmlns:a16="http://schemas.microsoft.com/office/drawing/2014/main" id="{7604EE4C-5BC1-42A7-BE4D-2B0B24A0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False</a:t>
            </a:r>
          </a:p>
        </p:txBody>
      </p:sp>
      <p:sp>
        <p:nvSpPr>
          <p:cNvPr id="8" name="        self.matched = False">
            <a:extLst xmlns:a="http://schemas.openxmlformats.org/drawingml/2006/main">
              <a:ext uri="{FF2B5EF4-FFF2-40B4-BE49-F238E27FC236}">
                <a16:creationId xmlns:a16="http://schemas.microsoft.com/office/drawing/2014/main" id="{327D8B2E-6636-4133-8CA3-453B3040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self.matched =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3E751-BF08-4764-A598-09DD22D4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    def reveal(self):">
            <a:extLst xmlns:a="http://schemas.openxmlformats.org/drawingml/2006/main">
              <a:ext uri="{FF2B5EF4-FFF2-40B4-BE49-F238E27FC236}">
                <a16:creationId xmlns:a16="http://schemas.microsoft.com/office/drawing/2014/main" id="{4F8DD82D-930C-44AF-8B18-861F25ED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reveal(self):</a:t>
            </a:r>
          </a:p>
        </p:txBody>
      </p:sp>
      <p:sp>
        <p:nvSpPr>
          <p:cNvPr id="11" name="        if self.face_up or self.matched:">
            <a:extLst xmlns:a="http://schemas.openxmlformats.org/drawingml/2006/main">
              <a:ext uri="{FF2B5EF4-FFF2-40B4-BE49-F238E27FC236}">
                <a16:creationId xmlns:a16="http://schemas.microsoft.com/office/drawing/2014/main" id="{ACB18160-621C-49BA-948F-9FE6C10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self.face_up or self.matched:</a:t>
            </a:r>
          </a:p>
        </p:txBody>
      </p:sp>
      <p:sp>
        <p:nvSpPr>
          <p:cNvPr id="12" name="    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50AC6925-51A0-4A0C-9083-7EFD5C2E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return False</a:t>
            </a:r>
          </a:p>
        </p:txBody>
      </p:sp>
      <p:sp>
        <p:nvSpPr>
          <p:cNvPr id="13" name="        self.face_up = True">
            <a:extLst xmlns:a="http://schemas.openxmlformats.org/drawingml/2006/main">
              <a:ext uri="{FF2B5EF4-FFF2-40B4-BE49-F238E27FC236}">
                <a16:creationId xmlns:a16="http://schemas.microsoft.com/office/drawing/2014/main" id="{F63307C5-B745-4D15-BB25-912829A0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True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A929E8BB-5736-40B0-B323-C095A65C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表向き・一致済みのカードは reveal() で再度めくれません。">
            <a:extLst xmlns:a="http://schemas.openxmlformats.org/drawingml/2006/main">
              <a:ext uri="{FF2B5EF4-FFF2-40B4-BE49-F238E27FC236}">
                <a16:creationId xmlns:a16="http://schemas.microsoft.com/office/drawing/2014/main" id="{054B92A1-01D6-4B0C-AFF2-A8937FC8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表向き・一致済みのカードは reveal() で再度めくれません。</a:t>
            </a:r>
          </a:p>
        </p:txBody>
      </p:sp>
      <p:sp>
        <p:nvSpPr>
          <p:cNvPr id="16" name="属性は直接変更可能ですが、ゲームはメソッドを通してルールを守ります。">
            <a:extLst xmlns:a="http://schemas.openxmlformats.org/drawingml/2006/main">
              <a:ext uri="{FF2B5EF4-FFF2-40B4-BE49-F238E27FC236}">
                <a16:creationId xmlns:a16="http://schemas.microsoft.com/office/drawing/2014/main" id="{1C2C9C1A-B99E-426C-89BC-A20B931C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属性は直接変更可能ですが、ゲームはメソッドを通してルールを守ります。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1AB9FDE7-5989-4381-A228-3EB58544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08">
            <a:extLst xmlns:a="http://schemas.openxmlformats.org/drawingml/2006/main">
              <a:ext uri="{FF2B5EF4-FFF2-40B4-BE49-F238E27FC236}">
                <a16:creationId xmlns:a16="http://schemas.microsoft.com/office/drawing/2014/main" id="{B49C9290-43AF-4792-B1EA-FEB7C7FD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03121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ard：カードの生成と保持">
            <a:extLst xmlns:a="http://schemas.openxmlformats.org/drawingml/2006/main">
              <a:ext uri="{FF2B5EF4-FFF2-40B4-BE49-F238E27FC236}">
                <a16:creationId xmlns:a16="http://schemas.microsoft.com/office/drawing/2014/main" id="{F3C67134-72D8-478B-B338-E376115D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Board：カードの生成と保持</a:t>
            </a:r>
          </a:p>
        </p:txBody>
      </p:sp>
      <p:sp>
        <p:nvSpPr>
          <p:cNvPr id="2" name="model.py · Board.__init__">
            <a:extLst xmlns:a="http://schemas.openxmlformats.org/drawingml/2006/main">
              <a:ext uri="{FF2B5EF4-FFF2-40B4-BE49-F238E27FC236}">
                <a16:creationId xmlns:a16="http://schemas.microsoft.com/office/drawing/2014/main" id="{8ACD717E-4C73-47A9-B730-B9AA295C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model.py · Board.__init__</a:t>
            </a:r>
          </a:p>
        </p:txBody>
      </p:sp>
      <p:sp>
        <p:nvSpPr>
          <p:cNvPr id="3" name="def __init__(self, sample=False):">
            <a:extLst xmlns:a="http://schemas.openxmlformats.org/drawingml/2006/main">
              <a:ext uri="{FF2B5EF4-FFF2-40B4-BE49-F238E27FC236}">
                <a16:creationId xmlns:a16="http://schemas.microsoft.com/office/drawing/2014/main" id="{22800D98-91A0-4786-9932-E8FF087F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sample=False):</a:t>
            </a:r>
          </a:p>
        </p:txBody>
      </p:sp>
      <p:sp>
        <p:nvSpPr>
          <p:cNvPr id="4" name="    pairs = SAMPLE.copy()">
            <a:extLst xmlns:a="http://schemas.openxmlformats.org/drawingml/2006/main">
              <a:ext uri="{FF2B5EF4-FFF2-40B4-BE49-F238E27FC236}">
                <a16:creationId xmlns:a16="http://schemas.microsoft.com/office/drawing/2014/main" id="{6787561D-7932-42E1-9585-3097ADE6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pairs = SAMPLE.copy()</a:t>
            </a:r>
          </a:p>
        </p:txBody>
      </p:sp>
      <p:sp>
        <p:nvSpPr>
          <p:cNvPr id="5" name="    if not sample:">
            <a:extLst xmlns:a="http://schemas.openxmlformats.org/drawingml/2006/main">
              <a:ext uri="{FF2B5EF4-FFF2-40B4-BE49-F238E27FC236}">
                <a16:creationId xmlns:a16="http://schemas.microsoft.com/office/drawing/2014/main" id="{988D64F3-C9CD-402D-BAEA-26184B3A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not sample:</a:t>
            </a:r>
          </a:p>
        </p:txBody>
      </p:sp>
      <p:sp>
        <p:nvSpPr>
          <p:cNvPr id="6" name="        shuffle(pairs)">
            <a:extLst xmlns:a="http://schemas.openxmlformats.org/drawingml/2006/main">
              <a:ext uri="{FF2B5EF4-FFF2-40B4-BE49-F238E27FC236}">
                <a16:creationId xmlns:a16="http://schemas.microsoft.com/office/drawing/2014/main" id="{80D774F3-8B04-4BE9-8B15-217E18F5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shuffle(pairs)</a:t>
            </a:r>
          </a:p>
        </p:txBody>
      </p:sp>
      <p:sp>
        <p:nvSpPr>
          <p:cNvPr id="7" name="    self.cards = [Card(f'C{i+1:02}', pair)">
            <a:extLst xmlns:a="http://schemas.openxmlformats.org/drawingml/2006/main">
              <a:ext uri="{FF2B5EF4-FFF2-40B4-BE49-F238E27FC236}">
                <a16:creationId xmlns:a16="http://schemas.microsoft.com/office/drawing/2014/main" id="{FC16708D-707B-4162-A52B-5BFE4942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self.cards = [Card(f'C{i+1:02}', pair)</a:t>
            </a:r>
          </a:p>
        </p:txBody>
      </p:sp>
      <p:sp>
        <p:nvSpPr>
          <p:cNvPr id="8" name="                  for i, pair in enumerate(pairs)]">
            <a:extLst xmlns:a="http://schemas.openxmlformats.org/drawingml/2006/main">
              <a:ext uri="{FF2B5EF4-FFF2-40B4-BE49-F238E27FC236}">
                <a16:creationId xmlns:a16="http://schemas.microsoft.com/office/drawing/2014/main" id="{4B5AB994-3F97-41E2-A368-CCA2559C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  for i, pair in enumerate(pairs)]</a:t>
            </a:r>
          </a:p>
        </p:txBody>
      </p:sp>
      <p:sp>
        <p:nvSpPr>
          <p:cNvPr id="9" name="Card(...) を呼ぶたび、新しい実体を生成します。">
            <a:extLst xmlns:a="http://schemas.openxmlformats.org/drawingml/2006/main">
              <a:ext uri="{FF2B5EF4-FFF2-40B4-BE49-F238E27FC236}">
                <a16:creationId xmlns:a16="http://schemas.microsoft.com/office/drawing/2014/main" id="{4B1D5EB5-346B-4516-A353-1BBD0BDA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Card(...) を呼ぶたび、新しい実体を生成します。</a:t>
            </a:r>
          </a:p>
        </p:txBody>
      </p:sp>
      <p:sp>
        <p:nvSpPr>
          <p:cNvPr id="10" name="sample=True は固定順。通常のゲームではシャッフルします。">
            <a:extLst xmlns:a="http://schemas.openxmlformats.org/drawingml/2006/main">
              <a:ext uri="{FF2B5EF4-FFF2-40B4-BE49-F238E27FC236}">
                <a16:creationId xmlns:a16="http://schemas.microsoft.com/office/drawing/2014/main" id="{A4553AEA-4694-43D5-A684-0E2D0326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sample=True は固定順。通常のゲームではシャッフルします。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1A07B3BC-7E46-4059-ADA4-B57F45A0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09">
            <a:extLst xmlns:a="http://schemas.openxmlformats.org/drawingml/2006/main">
              <a:ext uri="{FF2B5EF4-FFF2-40B4-BE49-F238E27FC236}">
                <a16:creationId xmlns:a16="http://schemas.microsoft.com/office/drawing/2014/main" id="{11536115-8EFD-4553-84C0-AA83985C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176622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選択：pending に参照を保存">
            <a:extLst xmlns:a="http://schemas.openxmlformats.org/drawingml/2006/main">
              <a:ext uri="{FF2B5EF4-FFF2-40B4-BE49-F238E27FC236}">
                <a16:creationId xmlns:a16="http://schemas.microsoft.com/office/drawing/2014/main" id="{87A503B4-51B9-4556-93C5-AEC0181F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選択：pending に参照を保存</a:t>
            </a:r>
          </a:p>
        </p:txBody>
      </p:sp>
      <p:sp>
        <p:nvSpPr>
          <p:cNvPr id="2" name="model.py · Game.queue">
            <a:extLst xmlns:a="http://schemas.openxmlformats.org/drawingml/2006/main">
              <a:ext uri="{FF2B5EF4-FFF2-40B4-BE49-F238E27FC236}">
                <a16:creationId xmlns:a16="http://schemas.microsoft.com/office/drawing/2014/main" id="{514C21B6-70C1-4ED6-A48F-3D69EAE9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model.py · Game.queue</a:t>
            </a:r>
          </a:p>
        </p:txBody>
      </p:sp>
      <p:sp>
        <p:nvSpPr>
          <p:cNvPr id="3" name="def queue(self, name):">
            <a:extLst xmlns:a="http://schemas.openxmlformats.org/drawingml/2006/main">
              <a:ext uri="{FF2B5EF4-FFF2-40B4-BE49-F238E27FC236}">
                <a16:creationId xmlns:a16="http://schemas.microsoft.com/office/drawing/2014/main" id="{08876A1F-E85B-4C44-8FED-165818BF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queue(self, name):</a:t>
            </a:r>
          </a:p>
        </p:txBody>
      </p:sp>
      <p:sp>
        <p:nvSpPr>
          <p:cNvPr id="4" name="    if self.phase not in ('first', 'second') or self.pending:">
            <a:extLst xmlns:a="http://schemas.openxmlformats.org/drawingml/2006/main">
              <a:ext uri="{FF2B5EF4-FFF2-40B4-BE49-F238E27FC236}">
                <a16:creationId xmlns:a16="http://schemas.microsoft.com/office/drawing/2014/main" id="{65FC3011-2A25-4D8B-8562-6CCDD5E7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not in ('first', 'second') or self.pending: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9435916D-AE1D-4F46-AFF9-E93BC08E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card = self.board.get(name)">
            <a:extLst xmlns:a="http://schemas.openxmlformats.org/drawingml/2006/main">
              <a:ext uri="{FF2B5EF4-FFF2-40B4-BE49-F238E27FC236}">
                <a16:creationId xmlns:a16="http://schemas.microsoft.com/office/drawing/2014/main" id="{EDC2686F-28A5-44A4-9245-B20CF844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card = self.board.get(name)</a:t>
            </a:r>
          </a:p>
        </p:txBody>
      </p:sp>
      <p:sp>
        <p:nvSpPr>
          <p:cNvPr id="7" name="    if card is None or card.face_up or card.matched:">
            <a:extLst xmlns:a="http://schemas.openxmlformats.org/drawingml/2006/main">
              <a:ext uri="{FF2B5EF4-FFF2-40B4-BE49-F238E27FC236}">
                <a16:creationId xmlns:a16="http://schemas.microsoft.com/office/drawing/2014/main" id="{6C4DB9AE-A873-4247-8231-F389E21E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card is None or card.face_up or card.matched:</a:t>
            </a:r>
          </a:p>
        </p:txBody>
      </p:sp>
      <p:sp>
        <p:nvSpPr>
          <p:cNvPr id="8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33720180-FEBF-44BC-86A6-91744030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9" name="    self.pending = card">
            <a:extLst xmlns:a="http://schemas.openxmlformats.org/drawingml/2006/main">
              <a:ext uri="{FF2B5EF4-FFF2-40B4-BE49-F238E27FC236}">
                <a16:creationId xmlns:a16="http://schemas.microsoft.com/office/drawing/2014/main" id="{A8AD4344-D9E3-4BF9-B2F6-4FC6247D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self.pending = card</a:t>
            </a:r>
          </a:p>
        </p:txBody>
      </p:sp>
      <p:sp>
        <p:nvSpPr>
          <p:cNvPr id="10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FC77970F-DF23-4E9C-AC5F-59CBDC24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11" name="選択だけでは face_up は変わらず、次のステップでめくります。">
            <a:extLst xmlns:a="http://schemas.openxmlformats.org/drawingml/2006/main">
              <a:ext uri="{FF2B5EF4-FFF2-40B4-BE49-F238E27FC236}">
                <a16:creationId xmlns:a16="http://schemas.microsoft.com/office/drawing/2014/main" id="{D5361EAB-2526-4011-A69E-4FC206E8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選択だけでは face_up は変わらず、次のステップでめくります。</a:t>
            </a:r>
          </a:p>
        </p:txBody>
      </p:sp>
      <p:sp>
        <p:nvSpPr>
          <p:cNvPr id="12" name="表向きの同じカードを二枚目として選ぶことはできません。">
            <a:extLst xmlns:a="http://schemas.openxmlformats.org/drawingml/2006/main">
              <a:ext uri="{FF2B5EF4-FFF2-40B4-BE49-F238E27FC236}">
                <a16:creationId xmlns:a16="http://schemas.microsoft.com/office/drawing/2014/main" id="{5040991C-D4EC-49A5-BB45-DFAE964E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表向きの同じカードを二枚目として選ぶことはできません。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0EF01142-AE82-4239-AFEC-57ED9BD6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78819CE-D1F2-46D1-8EDE-D2D12863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93166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一歩進む：待機中のカードをめくる">
            <a:extLst xmlns:a="http://schemas.openxmlformats.org/drawingml/2006/main">
              <a:ext uri="{FF2B5EF4-FFF2-40B4-BE49-F238E27FC236}">
                <a16:creationId xmlns:a16="http://schemas.microsoft.com/office/drawing/2014/main" id="{EE52CE98-9280-4415-849F-2E1F5161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一歩進む：待機中のカードをめくる</a:t>
            </a:r>
          </a:p>
        </p:txBody>
      </p:sp>
      <p:sp>
        <p:nvSpPr>
          <p:cNvPr id="2" name="Game.step() のめくる分岐。他の分岐は compare() と settle() を呼ぶ">
            <a:extLst xmlns:a="http://schemas.openxmlformats.org/drawingml/2006/main">
              <a:ext uri="{FF2B5EF4-FFF2-40B4-BE49-F238E27FC236}">
                <a16:creationId xmlns:a16="http://schemas.microsoft.com/office/drawing/2014/main" id="{0907F46D-4143-47D6-86CC-01D8D1A5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Game.step() のめくる分岐。他の分岐は compare() と settle() を呼ぶ</a:t>
            </a:r>
          </a:p>
        </p:txBody>
      </p:sp>
      <p:sp>
        <p:nvSpPr>
          <p:cNvPr id="3" name="def step(self):">
            <a:extLst xmlns:a="http://schemas.openxmlformats.org/drawingml/2006/main">
              <a:ext uri="{FF2B5EF4-FFF2-40B4-BE49-F238E27FC236}">
                <a16:creationId xmlns:a16="http://schemas.microsoft.com/office/drawing/2014/main" id="{510DBC43-CFE8-428C-880D-EB328E0F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step(self):</a:t>
            </a:r>
          </a:p>
        </p:txBody>
      </p:sp>
      <p:sp>
        <p:nvSpPr>
          <p:cNvPr id="4" name="    if self.pending and self.phase in ('first', 'second'):">
            <a:extLst xmlns:a="http://schemas.openxmlformats.org/drawingml/2006/main">
              <a:ext uri="{FF2B5EF4-FFF2-40B4-BE49-F238E27FC236}">
                <a16:creationId xmlns:a16="http://schemas.microsoft.com/office/drawing/2014/main" id="{6B106B24-44AE-4FA1-89AD-27E5FF65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self.pending and self.phase in ('first', 'second'):</a:t>
            </a:r>
          </a:p>
        </p:txBody>
      </p:sp>
      <p:sp>
        <p:nvSpPr>
          <p:cNvPr id="5" name="        card = self.pending">
            <a:extLst xmlns:a="http://schemas.openxmlformats.org/drawingml/2006/main">
              <a:ext uri="{FF2B5EF4-FFF2-40B4-BE49-F238E27FC236}">
                <a16:creationId xmlns:a16="http://schemas.microsoft.com/office/drawing/2014/main" id="{B736E76C-ABE1-45CE-88CB-05E13A1D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 = self.pending</a:t>
            </a:r>
          </a:p>
        </p:txBody>
      </p:sp>
      <p:sp>
        <p:nvSpPr>
          <p:cNvPr id="6" name="        self.pending = None">
            <a:extLst xmlns:a="http://schemas.openxmlformats.org/drawingml/2006/main">
              <a:ext uri="{FF2B5EF4-FFF2-40B4-BE49-F238E27FC236}">
                <a16:creationId xmlns:a16="http://schemas.microsoft.com/office/drawing/2014/main" id="{973C4A31-9397-43BA-BB16-B325217C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self.pending = None</a:t>
            </a:r>
          </a:p>
        </p:txBody>
      </p:sp>
      <p:sp>
        <p:nvSpPr>
          <p:cNvPr id="7" name="        card.reveal()">
            <a:extLst xmlns:a="http://schemas.openxmlformats.org/drawingml/2006/main">
              <a:ext uri="{FF2B5EF4-FFF2-40B4-BE49-F238E27FC236}">
                <a16:creationId xmlns:a16="http://schemas.microsoft.com/office/drawing/2014/main" id="{198F0140-C611-4129-A881-8B1AAA08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card.reveal()</a:t>
            </a:r>
          </a:p>
        </p:txBody>
      </p:sp>
      <p:sp>
        <p:nvSpPr>
          <p:cNvPr id="8" name="        if self.phase == 'first':">
            <a:extLst xmlns:a="http://schemas.openxmlformats.org/drawingml/2006/main">
              <a:ext uri="{FF2B5EF4-FFF2-40B4-BE49-F238E27FC236}">
                <a16:creationId xmlns:a16="http://schemas.microsoft.com/office/drawing/2014/main" id="{5015A9B5-0385-417B-9980-BB4E05A1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self.phase == 'first':</a:t>
            </a:r>
          </a:p>
        </p:txBody>
      </p:sp>
      <p:sp>
        <p:nvSpPr>
          <p:cNvPr id="9" name="            self.first = card">
            <a:extLst xmlns:a="http://schemas.openxmlformats.org/drawingml/2006/main">
              <a:ext uri="{FF2B5EF4-FFF2-40B4-BE49-F238E27FC236}">
                <a16:creationId xmlns:a16="http://schemas.microsoft.com/office/drawing/2014/main" id="{69525F36-9863-4490-A7A8-DBBBAF33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self.first = card</a:t>
            </a:r>
          </a:p>
        </p:txBody>
      </p:sp>
      <p:sp>
        <p:nvSpPr>
          <p:cNvPr id="10" name="            self.phase = 'second'">
            <a:extLst xmlns:a="http://schemas.openxmlformats.org/drawingml/2006/main">
              <a:ext uri="{FF2B5EF4-FFF2-40B4-BE49-F238E27FC236}">
                <a16:creationId xmlns:a16="http://schemas.microsoft.com/office/drawing/2014/main" id="{A48E4EEC-D754-4E44-BC06-676899D2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'second'</a:t>
            </a:r>
          </a:p>
        </p:txBody>
      </p:sp>
      <p:sp>
        <p:nvSpPr>
          <p:cNvPr id="11" name="        else:">
            <a:extLst xmlns:a="http://schemas.openxmlformats.org/drawingml/2006/main">
              <a:ext uri="{FF2B5EF4-FFF2-40B4-BE49-F238E27FC236}">
                <a16:creationId xmlns:a16="http://schemas.microsoft.com/office/drawing/2014/main" id="{57059C57-5908-47AD-AE05-1BAB9FD9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12" name="            self.second = card">
            <a:extLst xmlns:a="http://schemas.openxmlformats.org/drawingml/2006/main">
              <a:ext uri="{FF2B5EF4-FFF2-40B4-BE49-F238E27FC236}">
                <a16:creationId xmlns:a16="http://schemas.microsoft.com/office/drawing/2014/main" id="{F2EEB445-9168-49B2-BAB0-E9DCA5E6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self.second = card</a:t>
            </a:r>
          </a:p>
        </p:txBody>
      </p:sp>
      <p:sp>
        <p:nvSpPr>
          <p:cNvPr id="13" name="            self.phase = 'compare'">
            <a:extLst xmlns:a="http://schemas.openxmlformats.org/drawingml/2006/main">
              <a:ext uri="{FF2B5EF4-FFF2-40B4-BE49-F238E27FC236}">
                <a16:creationId xmlns:a16="http://schemas.microsoft.com/office/drawing/2014/main" id="{EC6C62D7-55A8-49EA-9722-24DE4F9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'compare'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BA527305-D12F-4004-9955-3CD1A987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first・second は既存の Card への参照です。">
            <a:extLst xmlns:a="http://schemas.openxmlformats.org/drawingml/2006/main">
              <a:ext uri="{FF2B5EF4-FFF2-40B4-BE49-F238E27FC236}">
                <a16:creationId xmlns:a16="http://schemas.microsoft.com/office/drawing/2014/main" id="{156A8608-4291-450B-A83D-4D3441ED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first・second は既存の Card への参照です。</a:t>
            </a:r>
          </a:p>
        </p:txBody>
      </p:sp>
      <p:sp>
        <p:nvSpPr>
          <p:cNvPr id="16" name="一回の step() で一段階だけ進みます。">
            <a:extLst xmlns:a="http://schemas.openxmlformats.org/drawingml/2006/main">
              <a:ext uri="{FF2B5EF4-FFF2-40B4-BE49-F238E27FC236}">
                <a16:creationId xmlns:a16="http://schemas.microsoft.com/office/drawing/2014/main" id="{544CE777-4D0D-4DED-A09A-FB650088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一回の step() で一段階だけ進みます。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D2BB68A4-12B7-45B8-9143-55B49F7B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11">
            <a:extLst xmlns:a="http://schemas.openxmlformats.org/drawingml/2006/main">
              <a:ext uri="{FF2B5EF4-FFF2-40B4-BE49-F238E27FC236}">
                <a16:creationId xmlns:a16="http://schemas.microsoft.com/office/drawing/2014/main" id="{6A3CE025-AB00-4F42-8BC2-74FA3944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048316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比較：pair_id の一致">
            <a:extLst xmlns:a="http://schemas.openxmlformats.org/drawingml/2006/main">
              <a:ext uri="{FF2B5EF4-FFF2-40B4-BE49-F238E27FC236}">
                <a16:creationId xmlns:a16="http://schemas.microsoft.com/office/drawing/2014/main" id="{F06C9816-7AA4-456D-8EDE-B0E859DA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比較：pair_id の一致</a:t>
            </a:r>
          </a:p>
        </p:txBody>
      </p:sp>
      <p:sp>
        <p:nvSpPr>
          <p:cNvPr id="2" name="model.py · Game.compare">
            <a:extLst xmlns:a="http://schemas.openxmlformats.org/drawingml/2006/main">
              <a:ext uri="{FF2B5EF4-FFF2-40B4-BE49-F238E27FC236}">
                <a16:creationId xmlns:a16="http://schemas.microsoft.com/office/drawing/2014/main" id="{FDB9DEDA-57FF-4CF6-A8E3-BA69C5C5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model.py · Game.compare</a:t>
            </a:r>
          </a:p>
        </p:txBody>
      </p:sp>
      <p:sp>
        <p:nvSpPr>
          <p:cNvPr id="3" name="def compare(self):">
            <a:extLst xmlns:a="http://schemas.openxmlformats.org/drawingml/2006/main">
              <a:ext uri="{FF2B5EF4-FFF2-40B4-BE49-F238E27FC236}">
                <a16:creationId xmlns:a16="http://schemas.microsoft.com/office/drawing/2014/main" id="{DCD8846F-1D53-4437-A414-B953CD7A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compare(self):</a:t>
            </a:r>
          </a:p>
        </p:txBody>
      </p:sp>
      <p:sp>
        <p:nvSpPr>
          <p:cNvPr id="4" name="    if self.phase != 'compar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ECC36097-95F0-42ED-A402-AA8D864B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'compare'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19B44BB5-9CC1-47AC-ACA8-43441111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self.result = self.first.pair_id == self.second.pair_id">
            <a:extLst xmlns:a="http://schemas.openxmlformats.org/drawingml/2006/main">
              <a:ext uri="{FF2B5EF4-FFF2-40B4-BE49-F238E27FC236}">
                <a16:creationId xmlns:a16="http://schemas.microsoft.com/office/drawing/2014/main" id="{739D3453-AAC8-4CA1-A763-6CCC677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self.first.pair_id == self.second.pair_id</a:t>
            </a:r>
          </a:p>
        </p:txBody>
      </p:sp>
      <p:sp>
        <p:nvSpPr>
          <p:cNvPr id="7" name="    self.turns += 1">
            <a:extLst xmlns:a="http://schemas.openxmlformats.org/drawingml/2006/main">
              <a:ext uri="{FF2B5EF4-FFF2-40B4-BE49-F238E27FC236}">
                <a16:creationId xmlns:a16="http://schemas.microsoft.com/office/drawing/2014/main" id="{E38B87B5-55C1-4D5E-8682-A6820EA6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self.turns += 1</a:t>
            </a:r>
          </a:p>
        </p:txBody>
      </p:sp>
      <p:sp>
        <p:nvSpPr>
          <p:cNvPr id="8" name="    self.phase = 'resolve'">
            <a:extLst xmlns:a="http://schemas.openxmlformats.org/drawingml/2006/main">
              <a:ext uri="{FF2B5EF4-FFF2-40B4-BE49-F238E27FC236}">
                <a16:creationId xmlns:a16="http://schemas.microsoft.com/office/drawing/2014/main" id="{577BB9C7-483D-4E2E-AF33-3E98F1AE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'resolve'</a:t>
            </a:r>
          </a:p>
        </p:txBody>
      </p:sp>
      <p:sp>
        <p:nvSpPr>
          <p:cNvPr id="9" name="絵の値を比較して、比較回数を 1 増やします。">
            <a:extLst xmlns:a="http://schemas.openxmlformats.org/drawingml/2006/main">
              <a:ext uri="{FF2B5EF4-FFF2-40B4-BE49-F238E27FC236}">
                <a16:creationId xmlns:a16="http://schemas.microsoft.com/office/drawing/2014/main" id="{DC10F2A8-0D42-4E8A-8B05-D0F5F2DF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絵の値を比較して、比較回数を 1 増やします。</a:t>
            </a:r>
          </a:p>
        </p:txBody>
      </p:sp>
      <p:sp>
        <p:nvSpPr>
          <p:cNvPr id="10" name="確定するまで matched は False のままです。">
            <a:extLst xmlns:a="http://schemas.openxmlformats.org/drawingml/2006/main">
              <a:ext uri="{FF2B5EF4-FFF2-40B4-BE49-F238E27FC236}">
                <a16:creationId xmlns:a16="http://schemas.microsoft.com/office/drawing/2014/main" id="{B7261022-A072-4AD1-89E7-BCF3937C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確定するまで matched は False のままです。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B3358049-35FF-44A4-934B-E4AD9A5A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629C6803-BF6D-416B-B572-7D0640B8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44981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確定：表のまま残すか裏返す">
            <a:extLst xmlns:a="http://schemas.openxmlformats.org/drawingml/2006/main">
              <a:ext uri="{FF2B5EF4-FFF2-40B4-BE49-F238E27FC236}">
                <a16:creationId xmlns:a16="http://schemas.microsoft.com/office/drawing/2014/main" id="{3BE2B142-61B0-48DD-ACB4-552828D8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確定：表のまま残すか裏返す</a:t>
            </a:r>
          </a:p>
        </p:txBody>
      </p:sp>
      <p:sp>
        <p:nvSpPr>
          <p:cNvPr id="2" name="model.py · Game.settle">
            <a:extLst xmlns:a="http://schemas.openxmlformats.org/drawingml/2006/main">
              <a:ext uri="{FF2B5EF4-FFF2-40B4-BE49-F238E27FC236}">
                <a16:creationId xmlns:a16="http://schemas.microsoft.com/office/drawing/2014/main" id="{70772242-83FB-476D-AC44-7A33AF07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model.py · Game.settle</a:t>
            </a:r>
          </a:p>
        </p:txBody>
      </p:sp>
      <p:sp>
        <p:nvSpPr>
          <p:cNvPr id="3" name="def settle(self):">
            <a:extLst xmlns:a="http://schemas.openxmlformats.org/drawingml/2006/main">
              <a:ext uri="{FF2B5EF4-FFF2-40B4-BE49-F238E27FC236}">
                <a16:creationId xmlns:a16="http://schemas.microsoft.com/office/drawing/2014/main" id="{69694556-69A8-4872-AEC8-C94A1002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settle(self):</a:t>
            </a:r>
          </a:p>
        </p:txBody>
      </p:sp>
      <p:sp>
        <p:nvSpPr>
          <p:cNvPr id="4" name="    if self.phase != 'resolv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AA707DB3-F700-41BC-8092-D7EECC00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'resolve'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82B17753-61EB-4BDF-85AB-033EF910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if self.result:">
            <a:extLst xmlns:a="http://schemas.openxmlformats.org/drawingml/2006/main">
              <a:ext uri="{FF2B5EF4-FFF2-40B4-BE49-F238E27FC236}">
                <a16:creationId xmlns:a16="http://schemas.microsoft.com/office/drawing/2014/main" id="{6AF651E6-8F43-4BC0-9259-06390E2F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self.result:</a:t>
            </a:r>
          </a:p>
        </p:txBody>
      </p:sp>
      <p:sp>
        <p:nvSpPr>
          <p:cNvPr id="7" name="        self.first.mark_matched()">
            <a:extLst xmlns:a="http://schemas.openxmlformats.org/drawingml/2006/main">
              <a:ext uri="{FF2B5EF4-FFF2-40B4-BE49-F238E27FC236}">
                <a16:creationId xmlns:a16="http://schemas.microsoft.com/office/drawing/2014/main" id="{D70F36C8-85AB-48AF-99EE-0750698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self.first.mark_matched()</a:t>
            </a:r>
          </a:p>
        </p:txBody>
      </p:sp>
      <p:sp>
        <p:nvSpPr>
          <p:cNvPr id="8" name="        self.second.mark_matched()">
            <a:extLst xmlns:a="http://schemas.openxmlformats.org/drawingml/2006/main">
              <a:ext uri="{FF2B5EF4-FFF2-40B4-BE49-F238E27FC236}">
                <a16:creationId xmlns:a16="http://schemas.microsoft.com/office/drawing/2014/main" id="{4BCD5466-7DCF-40F4-AEC3-E0B1C279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self.second.mark_matched()</a:t>
            </a:r>
          </a:p>
        </p:txBody>
      </p:sp>
      <p:sp>
        <p:nvSpPr>
          <p:cNvPr id="9" name="        self.matches += 1">
            <a:extLst xmlns:a="http://schemas.openxmlformats.org/drawingml/2006/main">
              <a:ext uri="{FF2B5EF4-FFF2-40B4-BE49-F238E27FC236}">
                <a16:creationId xmlns:a16="http://schemas.microsoft.com/office/drawing/2014/main" id="{4BBF0FE0-7459-4055-B7F7-B17DFBCE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self.matches += 1</a:t>
            </a:r>
          </a:p>
        </p:txBody>
      </p:sp>
      <p:sp>
        <p:nvSpPr>
          <p:cNvPr id="10" name="    else:">
            <a:extLst xmlns:a="http://schemas.openxmlformats.org/drawingml/2006/main">
              <a:ext uri="{FF2B5EF4-FFF2-40B4-BE49-F238E27FC236}">
                <a16:creationId xmlns:a16="http://schemas.microsoft.com/office/drawing/2014/main" id="{2B3B13FE-63A9-4D8E-9AA4-8FB26094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11" name="        self.first.hide()">
            <a:extLst xmlns:a="http://schemas.openxmlformats.org/drawingml/2006/main">
              <a:ext uri="{FF2B5EF4-FFF2-40B4-BE49-F238E27FC236}">
                <a16:creationId xmlns:a16="http://schemas.microsoft.com/office/drawing/2014/main" id="{C3A18132-9F1E-44B7-B3B8-DB7DF62B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self.first.hide()</a:t>
            </a:r>
          </a:p>
        </p:txBody>
      </p:sp>
      <p:sp>
        <p:nvSpPr>
          <p:cNvPr id="12" name="        self.second.hide()">
            <a:extLst xmlns:a="http://schemas.openxmlformats.org/drawingml/2006/main">
              <a:ext uri="{FF2B5EF4-FFF2-40B4-BE49-F238E27FC236}">
                <a16:creationId xmlns:a16="http://schemas.microsoft.com/office/drawing/2014/main" id="{681FB27A-1475-4679-8327-A6707818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self.second.hide()</a:t>
            </a:r>
          </a:p>
        </p:txBody>
      </p:sp>
      <p:sp>
        <p:nvSpPr>
          <p:cNvPr id="13" name="    self.first = self.second = None">
            <a:extLst xmlns:a="http://schemas.openxmlformats.org/drawingml/2006/main">
              <a:ext uri="{FF2B5EF4-FFF2-40B4-BE49-F238E27FC236}">
                <a16:creationId xmlns:a16="http://schemas.microsoft.com/office/drawing/2014/main" id="{35E02DBB-03F2-4753-B9CE-210949C8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self.first = self.second = None</a:t>
            </a:r>
          </a:p>
        </p:txBody>
      </p:sp>
      <p:sp>
        <p:nvSpPr>
          <p:cNvPr id="14" name="    self.result = None">
            <a:extLst xmlns:a="http://schemas.openxmlformats.org/drawingml/2006/main">
              <a:ext uri="{FF2B5EF4-FFF2-40B4-BE49-F238E27FC236}">
                <a16:creationId xmlns:a16="http://schemas.microsoft.com/office/drawing/2014/main" id="{F4684480-9111-4747-BD5A-9746C853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None</a:t>
            </a:r>
          </a:p>
        </p:txBody>
      </p:sp>
      <p:sp>
        <p:nvSpPr>
          <p:cNvPr id="15" name="    self.phase = 'won' if self.board.complete else 'first'">
            <a:extLst xmlns:a="http://schemas.openxmlformats.org/drawingml/2006/main">
              <a:ext uri="{FF2B5EF4-FFF2-40B4-BE49-F238E27FC236}">
                <a16:creationId xmlns:a16="http://schemas.microsoft.com/office/drawing/2014/main" id="{50FFDD11-B2F8-408F-9357-993A0668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006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'won' if self.board.complete else 'first'</a:t>
            </a:r>
          </a:p>
        </p:txBody>
      </p:sp>
      <p:sp>
        <p:nvSpPr>
          <p:cNvPr id="16" name="同じ絵は一致済みに、違う絵は hide() で裏返します。">
            <a:extLst xmlns:a="http://schemas.openxmlformats.org/drawingml/2006/main">
              <a:ext uri="{FF2B5EF4-FFF2-40B4-BE49-F238E27FC236}">
                <a16:creationId xmlns:a16="http://schemas.microsoft.com/office/drawing/2014/main" id="{4A6FC6B8-3B83-4A21-B4F1-8AD3ACF7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同じ絵は一致済みに、違う絵は hide() で裏返します。</a:t>
            </a:r>
          </a:p>
        </p:txBody>
      </p:sp>
      <p:sp>
        <p:nvSpPr>
          <p:cNvPr id="17" name="一時参照を消しても、Board がカードを保持しています。">
            <a:extLst xmlns:a="http://schemas.openxmlformats.org/drawingml/2006/main">
              <a:ext uri="{FF2B5EF4-FFF2-40B4-BE49-F238E27FC236}">
                <a16:creationId xmlns:a16="http://schemas.microsoft.com/office/drawing/2014/main" id="{27DB5DAC-72DE-4A7F-A0C4-4783642A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一時参照を消しても、Board がカードを保持しています。</a:t>
            </a:r>
          </a:p>
        </p:txBody>
      </p:sp>
      <p:sp>
        <p:nvSpPr>
          <p:cNvPr id="18" name="model.py">
            <a:extLst xmlns:a="http://schemas.openxmlformats.org/drawingml/2006/main">
              <a:ext uri="{FF2B5EF4-FFF2-40B4-BE49-F238E27FC236}">
                <a16:creationId xmlns:a16="http://schemas.microsoft.com/office/drawing/2014/main" id="{F67B9447-66EE-4FB1-A78B-02BFB747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9" name="13">
            <a:extLst xmlns:a="http://schemas.openxmlformats.org/drawingml/2006/main">
              <a:ext uri="{FF2B5EF4-FFF2-40B4-BE49-F238E27FC236}">
                <a16:creationId xmlns:a16="http://schemas.microsoft.com/office/drawing/2014/main" id="{D1D77E78-7621-4300-A6AF-C2650B00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749913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一致の例：C01 と C02">
            <a:extLst xmlns:a="http://schemas.openxmlformats.org/drawingml/2006/main">
              <a:ext uri="{FF2B5EF4-FFF2-40B4-BE49-F238E27FC236}">
                <a16:creationId xmlns:a16="http://schemas.microsoft.com/office/drawing/2014/main" id="{5AD464E4-CC6B-486C-B228-64571FCB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一致の例：C01 と C02</a:t>
            </a:r>
          </a:p>
        </p:txBody>
      </p:sp>
      <p:sp>
        <p:nvSpPr>
          <p:cNvPr id="2" name="「一致」の例を読み込み、選択と N で進める">
            <a:extLst xmlns:a="http://schemas.openxmlformats.org/drawingml/2006/main">
              <a:ext uri="{FF2B5EF4-FFF2-40B4-BE49-F238E27FC236}">
                <a16:creationId xmlns:a16="http://schemas.microsoft.com/office/drawing/2014/main" id="{72BFDAC3-6309-4ACB-AB57-D221334E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「一致」の例を読み込み、選択と N で進める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E4723-BC8B-44FA-8CB0-F0F778826238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観察結果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C01 を選び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second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first → C01、face_up = 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C02 を選び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second → C02、二枚が表向き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N：比較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result = True、turns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N：確定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matched = True、matches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選択は待機させるだけ。N を押すたび一段階進みます。">
            <a:extLst xmlns:a="http://schemas.openxmlformats.org/drawingml/2006/main">
              <a:ext uri="{FF2B5EF4-FFF2-40B4-BE49-F238E27FC236}">
                <a16:creationId xmlns:a16="http://schemas.microsoft.com/office/drawing/2014/main" id="{D587EB68-331E-4EF4-AC6D-7A65140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選択は待機させるだけ。N を押すたび一段階進みます。</a:t>
            </a:r>
          </a:p>
        </p:txBody>
      </p:sp>
      <p:sp>
        <p:nvSpPr>
          <p:cNvPr id="5" name="14">
            <a:extLst xmlns:a="http://schemas.openxmlformats.org/drawingml/2006/main">
              <a:ext uri="{FF2B5EF4-FFF2-40B4-BE49-F238E27FC236}">
                <a16:creationId xmlns:a16="http://schemas.microsoft.com/office/drawing/2014/main" id="{4B0C1969-E715-4A31-83E1-D9712F2B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361985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不一致の例：C03 と C04">
            <a:extLst xmlns:a="http://schemas.openxmlformats.org/drawingml/2006/main">
              <a:ext uri="{FF2B5EF4-FFF2-40B4-BE49-F238E27FC236}">
                <a16:creationId xmlns:a16="http://schemas.microsoft.com/office/drawing/2014/main" id="{00969220-8908-41A0-8834-16207BEA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不一致の例：C03 と C04</a:t>
            </a:r>
          </a:p>
        </p:txBody>
      </p:sp>
      <p:sp>
        <p:nvSpPr>
          <p:cNvPr id="2" name="「不一致」の例を読み込み、leaf と sun を比較">
            <a:extLst xmlns:a="http://schemas.openxmlformats.org/drawingml/2006/main">
              <a:ext uri="{FF2B5EF4-FFF2-40B4-BE49-F238E27FC236}">
                <a16:creationId xmlns:a16="http://schemas.microsoft.com/office/drawing/2014/main" id="{D70A5492-93A6-44D7-A428-34791959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「不一致」の例を読み込み、leaf と sun を比較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24B83-AD50-4D2C-A9D9-DBED5947AB50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Yu Gothic"/>
                          <a:ea typeface="Yu Gothic"/>
                          <a:cs typeface="Yu Gothic"/>
                        </a:rPr>
                        <a:t>観察結果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C03、N；C04、N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leaf と sun が表向き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N：比較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result = False、turns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N：確定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両方の face_up = 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Board.cards を確認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Yu Gothic"/>
                          <a:ea typeface="Yu Gothic"/>
                          <a:cs typeface="Yu Gothic"/>
                        </a:rPr>
                        <a:t>元の実体を保持、matches =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裏返すのは元の Card。新しいカードは作りません。">
            <a:extLst xmlns:a="http://schemas.openxmlformats.org/drawingml/2006/main">
              <a:ext uri="{FF2B5EF4-FFF2-40B4-BE49-F238E27FC236}">
                <a16:creationId xmlns:a16="http://schemas.microsoft.com/office/drawing/2014/main" id="{A6649318-C76E-4157-8821-35C2D6A2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裏返すのは元の Card。新しいカードは作りません。</a:t>
            </a:r>
          </a:p>
        </p:txBody>
      </p:sp>
      <p:sp>
        <p:nvSpPr>
          <p:cNvPr id="5" name="15">
            <a:extLst xmlns:a="http://schemas.openxmlformats.org/drawingml/2006/main">
              <a:ext uri="{FF2B5EF4-FFF2-40B4-BE49-F238E27FC236}">
                <a16:creationId xmlns:a16="http://schemas.microsoft.com/office/drawing/2014/main" id="{931E9406-5C67-40A0-BAD6-080824B2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976332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参照・リセット・同一性">
            <a:extLst xmlns:a="http://schemas.openxmlformats.org/drawingml/2006/main">
              <a:ext uri="{FF2B5EF4-FFF2-40B4-BE49-F238E27FC236}">
                <a16:creationId xmlns:a16="http://schemas.microsoft.com/office/drawing/2014/main" id="{F8C75040-5A9B-4353-8F5C-1BB83404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参照・リセット・同一性</a:t>
            </a:r>
          </a:p>
        </p:txBody>
      </p:sp>
      <p:sp>
        <p:nvSpPr>
          <p:cNvPr id="2" name="Python の is でオブジェクトの同一性を確認">
            <a:extLst xmlns:a="http://schemas.openxmlformats.org/drawingml/2006/main">
              <a:ext uri="{FF2B5EF4-FFF2-40B4-BE49-F238E27FC236}">
                <a16:creationId xmlns:a16="http://schemas.microsoft.com/office/drawing/2014/main" id="{3062C465-9EC6-45B5-A95D-E90F1F09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Python の is でオブジェクトの同一性を確認</a:t>
            </a:r>
          </a:p>
        </p:txBody>
      </p:sp>
      <p:sp>
        <p:nvSpPr>
          <p:cNvPr id="3" name="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CA2A221A-BB1F-406B-8B5D-7602AE5D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 = Game(sample=True)</a:t>
            </a:r>
          </a:p>
        </p:txBody>
      </p:sp>
      <p:sp>
        <p:nvSpPr>
          <p:cNvPr id="4" name="game.play('C01')">
            <a:extLst xmlns:a="http://schemas.openxmlformats.org/drawingml/2006/main">
              <a:ext uri="{FF2B5EF4-FFF2-40B4-BE49-F238E27FC236}">
                <a16:creationId xmlns:a16="http://schemas.microsoft.com/office/drawing/2014/main" id="{207DB3DC-9EFC-4E7F-8DB8-8BE5718B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game.play('C01')</a:t>
            </a:r>
          </a:p>
        </p:txBody>
      </p:sp>
      <p:sp>
        <p:nvSpPr>
          <p:cNvPr id="5" name="card = game.first">
            <a:extLst xmlns:a="http://schemas.openxmlformats.org/drawingml/2006/main">
              <a:ext uri="{FF2B5EF4-FFF2-40B4-BE49-F238E27FC236}">
                <a16:creationId xmlns:a16="http://schemas.microsoft.com/office/drawing/2014/main" id="{BA03EF93-D021-43FA-9278-EDE5C128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card = game.first</a:t>
            </a:r>
          </a:p>
        </p:txBody>
      </p:sp>
      <p:sp>
        <p:nvSpPr>
          <p:cNvPr id="6" name="print(card is game.board.cards[0])  # True">
            <a:extLst xmlns:a="http://schemas.openxmlformats.org/drawingml/2006/main">
              <a:ext uri="{FF2B5EF4-FFF2-40B4-BE49-F238E27FC236}">
                <a16:creationId xmlns:a16="http://schemas.microsoft.com/office/drawing/2014/main" id="{E10F16CA-4625-4076-92E5-3214804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game.board.cards[0])  # True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CE268-A2FE-4F88-A2D3-B1C13CC8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new_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C7B36176-E938-4839-BEEB-9A4A9640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new_game = Game(sample=True)</a:t>
            </a:r>
          </a:p>
        </p:txBody>
      </p:sp>
      <p:sp>
        <p:nvSpPr>
          <p:cNvPr id="9" name="print(card is new_game.board.cards[0])  # False">
            <a:extLst xmlns:a="http://schemas.openxmlformats.org/drawingml/2006/main">
              <a:ext uri="{FF2B5EF4-FFF2-40B4-BE49-F238E27FC236}">
                <a16:creationId xmlns:a16="http://schemas.microsoft.com/office/drawing/2014/main" id="{D9561342-AAE5-414F-B91D-A291054E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new_game.board.cards[0])  # False</a:t>
            </a:r>
          </a:p>
        </p:txBody>
      </p:sp>
      <p:sp>
        <p:nvSpPr>
          <p:cNvPr id="10" name="print(card.face_up)                    # True">
            <a:extLst xmlns:a="http://schemas.openxmlformats.org/drawingml/2006/main">
              <a:ext uri="{FF2B5EF4-FFF2-40B4-BE49-F238E27FC236}">
                <a16:creationId xmlns:a16="http://schemas.microsoft.com/office/drawing/2014/main" id="{8E967189-2534-4C99-8527-306AF692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print(card.face_up)                    # True</a:t>
            </a:r>
          </a:p>
        </p:txBody>
      </p:sp>
      <p:sp>
        <p:nvSpPr>
          <p:cNvPr id="11" name="新しいゲームは Board と Card を新しく生成します。">
            <a:extLst xmlns:a="http://schemas.openxmlformats.org/drawingml/2006/main">
              <a:ext uri="{FF2B5EF4-FFF2-40B4-BE49-F238E27FC236}">
                <a16:creationId xmlns:a16="http://schemas.microsoft.com/office/drawing/2014/main" id="{62C4130E-140B-4CBD-9206-FD47407E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新しいゲームは Board と Card を新しく生成します。</a:t>
            </a:r>
          </a:p>
        </p:txBody>
      </p:sp>
      <p:sp>
        <p:nvSpPr>
          <p:cNvPr id="12" name="変数 card は前のゲームの実体を引き続き参照できます。">
            <a:extLst xmlns:a="http://schemas.openxmlformats.org/drawingml/2006/main">
              <a:ext uri="{FF2B5EF4-FFF2-40B4-BE49-F238E27FC236}">
                <a16:creationId xmlns:a16="http://schemas.microsoft.com/office/drawing/2014/main" id="{55DD2CAA-163C-4ED6-8348-DE44E128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変数 card は前のゲームの実体を引き続き参照できます。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8C1527DB-DB6A-490F-A698-C3875817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AA19E5F-116C-4C38-B1D4-2AD91A89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44378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ython サンプルの実行">
            <a:extLst xmlns:a="http://schemas.openxmlformats.org/drawingml/2006/main">
              <a:ext uri="{FF2B5EF4-FFF2-40B4-BE49-F238E27FC236}">
                <a16:creationId xmlns:a16="http://schemas.microsoft.com/office/drawing/2014/main" id="{3A93E072-19EE-4F9D-BCC5-84F5B95A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Python サンプルの実行</a:t>
            </a:r>
          </a:p>
        </p:txBody>
      </p:sp>
      <p:sp>
        <p:nvSpPr>
          <p:cNvPr id="2" name="Python 3.12 以降。追加パッケージ不要。">
            <a:extLst xmlns:a="http://schemas.openxmlformats.org/drawingml/2006/main">
              <a:ext uri="{FF2B5EF4-FFF2-40B4-BE49-F238E27FC236}">
                <a16:creationId xmlns:a16="http://schemas.microsoft.com/office/drawing/2014/main" id="{908AD7B0-22A3-47CD-8ABF-2ED65880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Python 3.12 以降。追加パッケージ不要。</a:t>
            </a:r>
          </a:p>
        </p:txBody>
      </p:sp>
      <p:sp>
        <p:nvSpPr>
          <p:cNvPr id="3" name="python main.py --lang ja --sample">
            <a:extLst xmlns:a="http://schemas.openxmlformats.org/drawingml/2006/main">
              <a:ext uri="{FF2B5EF4-FFF2-40B4-BE49-F238E27FC236}">
                <a16:creationId xmlns:a16="http://schemas.microsoft.com/office/drawing/2014/main" id="{92023A23-F0D2-40F6-91D6-31125711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main.py --lang ja --sample</a:t>
            </a:r>
          </a:p>
        </p:txBody>
      </p:sp>
      <p:sp>
        <p:nvSpPr>
          <p:cNvPr id="4" name="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7D20ABA9-398E-4326-92F0-E99CA7C9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-m unittest discover -s tests -v</a:t>
            </a:r>
          </a:p>
        </p:txBody>
      </p:sp>
      <p:sp>
        <p:nvSpPr>
          <p:cNvPr id="5" name="展開した memory_oop フォルダーでターミナルを開きます。">
            <a:extLst xmlns:a="http://schemas.openxmlformats.org/drawingml/2006/main">
              <a:ext uri="{FF2B5EF4-FFF2-40B4-BE49-F238E27FC236}">
                <a16:creationId xmlns:a16="http://schemas.microsoft.com/office/drawing/2014/main" id="{FA7DC254-8EBD-4990-A18E-39ECF4DA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展開した memory_oop フォルダーでターミナルを開きます。</a:t>
            </a:r>
          </a:p>
        </p:txBody>
      </p:sp>
      <p:sp>
        <p:nvSpPr>
          <p:cNvPr id="6" name="コマンド：pick C01、step、inspect C01、confirm、sample、quit。">
            <a:extLst xmlns:a="http://schemas.openxmlformats.org/drawingml/2006/main">
              <a:ext uri="{FF2B5EF4-FFF2-40B4-BE49-F238E27FC236}">
                <a16:creationId xmlns:a16="http://schemas.microsoft.com/office/drawing/2014/main" id="{3268BA8E-F114-41ED-9A76-69EA2D72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68EDBE"/>
                </a:solidFill>
                <a:latin typeface="Yu Gothic"/>
                <a:ea typeface="Yu Gothic"/>
                <a:cs typeface="Yu Gothic"/>
              </a:rPr>
              <a:t>コマンド：pick C01、step、inspect C01、confirm、sample、quit。</a:t>
            </a:r>
          </a:p>
        </p:txBody>
      </p:sp>
      <p:sp>
        <p:nvSpPr>
          <p:cNvPr id="7" name="Terminal / PowerShell">
            <a:extLst xmlns:a="http://schemas.openxmlformats.org/drawingml/2006/main">
              <a:ext uri="{FF2B5EF4-FFF2-40B4-BE49-F238E27FC236}">
                <a16:creationId xmlns:a16="http://schemas.microsoft.com/office/drawing/2014/main" id="{7BE516D0-E80F-4AC6-84B3-F532DF6F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 / PowerShell</a:t>
            </a:r>
          </a:p>
        </p:txBody>
      </p:sp>
      <p:sp>
        <p:nvSpPr>
          <p:cNvPr id="8" name="17">
            <a:extLst xmlns:a="http://schemas.openxmlformats.org/drawingml/2006/main">
              <a:ext uri="{FF2B5EF4-FFF2-40B4-BE49-F238E27FC236}">
                <a16:creationId xmlns:a16="http://schemas.microsoft.com/office/drawing/2014/main" id="{F6676886-F168-43AA-A4BC-2922B630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EDF4FB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3367734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演習と参考資料">
            <a:extLst xmlns:a="http://schemas.openxmlformats.org/drawingml/2006/main">
              <a:ext uri="{FF2B5EF4-FFF2-40B4-BE49-F238E27FC236}">
                <a16:creationId xmlns:a16="http://schemas.microsoft.com/office/drawing/2014/main" id="{EE523E99-40BC-401D-8132-5F156927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演習と参考資料</a:t>
            </a:r>
          </a:p>
        </p:txBody>
      </p:sp>
      <p:sp>
        <p:nvSpPr>
          <p:cNvPr id="2" name="観察できる状態でルールを確認">
            <a:extLst xmlns:a="http://schemas.openxmlformats.org/drawingml/2006/main">
              <a:ext uri="{FF2B5EF4-FFF2-40B4-BE49-F238E27FC236}">
                <a16:creationId xmlns:a16="http://schemas.microsoft.com/office/drawing/2014/main" id="{8913B0C0-3329-44C3-B09D-9989BE35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観察できる状態でルールを確認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282AFF8C-09BF-444C-AE45-BDADE15C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" name="一致後に hide() を呼び、表のままであることを確認。">
            <a:extLst xmlns:a="http://schemas.openxmlformats.org/drawingml/2006/main">
              <a:ext uri="{FF2B5EF4-FFF2-40B4-BE49-F238E27FC236}">
                <a16:creationId xmlns:a16="http://schemas.microsoft.com/office/drawing/2014/main" id="{6250CCDF-5523-4825-BCED-E137A351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一致後に hide() を呼び、表のままであることを確認。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219FF7D1-0E6E-435A-9B9B-FAA5EB3B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" name="card の参照を残して新しいゲームを作り、同一性を比較。">
            <a:extLst xmlns:a="http://schemas.openxmlformats.org/drawingml/2006/main">
              <a:ext uri="{FF2B5EF4-FFF2-40B4-BE49-F238E27FC236}">
                <a16:creationId xmlns:a16="http://schemas.microsoft.com/office/drawing/2014/main" id="{CF60E22F-F355-4E66-B016-3306E287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028950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card の参照を残して新しいゲームを作り、同一性を比較。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23C67B5A-E460-4790-83D3-6146F63F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0527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8" name="ウェブ版のオブジェクト同一性は ===、Python は is で確認します。">
            <a:extLst xmlns:a="http://schemas.openxmlformats.org/drawingml/2006/main">
              <a:ext uri="{FF2B5EF4-FFF2-40B4-BE49-F238E27FC236}">
                <a16:creationId xmlns:a16="http://schemas.microsoft.com/office/drawing/2014/main" id="{4CF32C4D-71B1-4985-AFD3-5A8DFD40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0527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172C40"/>
                </a:solidFill>
                <a:latin typeface="Yu Gothic"/>
                <a:ea typeface="Yu Gothic"/>
                <a:cs typeface="Yu Gothic"/>
              </a:rPr>
              <a:t>ウェブ版のオブジェクト同一性は ===、Python は is で確認します。</a:t>
            </a:r>
          </a:p>
        </p:txBody>
      </p:sp>
      <p:sp>
        <p:nvSpPr>
          <p:cNvPr id="9" name="Python · Classes  https://docs.python.org/3.12/tutorial/classes.html">
            <a:extLst xmlns:a="http://schemas.openxmlformats.org/drawingml/2006/main">
              <a:ext uri="{FF2B5EF4-FFF2-40B4-BE49-F238E27FC236}">
                <a16:creationId xmlns:a16="http://schemas.microsoft.com/office/drawing/2014/main" id="{3576A61F-405A-4EA6-81E6-0C8CF163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7687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Python · Classes  </a:t>
            </a:r>
            <a:r>
              <a:rPr sz="1500" b="0">
                <a:solidFill>
                  <a:srgbClr val="087C62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af7df4a8d44c445e"/>
              </a:rPr>
              <a:t>https://docs.python.org/3.12/tutorial/classes.html</a:t>
            </a:r>
          </a:p>
        </p:txBody>
      </p:sp>
      <p:sp>
        <p:nvSpPr>
          <p:cNvPr id="10" name="Python · Identity  https://docs.python.org/3.12/reference/expressions.">
            <a:extLst xmlns:a="http://schemas.openxmlformats.org/drawingml/2006/main">
              <a:ext uri="{FF2B5EF4-FFF2-40B4-BE49-F238E27FC236}">
                <a16:creationId xmlns:a16="http://schemas.microsoft.com/office/drawing/2014/main" id="{DF1156C9-FE63-428C-866F-82E011A9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2455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087C62"/>
                </a:solidFill>
                <a:latin typeface="Yu Gothic"/>
                <a:ea typeface="Yu Gothic"/>
                <a:cs typeface="Yu Gothic"/>
              </a:rPr>
              <a:t>Python · Identity  </a:t>
            </a:r>
            <a:r>
              <a:rPr sz="1500" b="0">
                <a:solidFill>
                  <a:srgbClr val="087C62"/>
                </a:solidFill>
                <a:latin typeface="Yu Gothic"/>
                <a:ea typeface="Yu Gothic"/>
                <a:cs typeface="Yu Gothic"/>
                <a:hlinkClick xmlns:r="http://schemas.openxmlformats.org/officeDocument/2006/relationships" r:id="R8dff4429da694d43"/>
              </a:rPr>
              <a:t>https://docs.python.org/3.12/reference/expressions.html#is-not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F3BAB991-0652-46A2-AC99-EF983821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5B708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832512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2026-10-21T01:51:26.5310000Z</dcterms:created>
  <dcterms:modified xsi:type="dcterms:W3CDTF">2026-10-21T01:51:26.5310000Z</dcterms:modified>
</coreProperties>
</file>