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6870799a24194" /><Relationship Type="http://schemas.openxmlformats.org/officeDocument/2006/relationships/extended-properties" Target="/docProps/app.xml" Id="Rfd6e7fbf41934af1" /><Relationship Type="http://schemas.openxmlformats.org/officeDocument/2006/relationships/officeDocument" Target="/ppt/presentation.xml" Id="R7f1b0e7e9412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c468127ad8470a"/>
  </p:sldMasterIdLst>
  <p:notesMasterIdLst>
    <p:notesMasterId xmlns:r="http://schemas.openxmlformats.org/officeDocument/2006/relationships" r:id="R10ae2dfd83894f9f"/>
  </p:notesMasterIdLst>
  <p:sldIdLst>
    <p:sldId xmlns:r="http://schemas.openxmlformats.org/officeDocument/2006/relationships" id="256" r:id="R972d8a49cb634000"/>
    <p:sldId xmlns:r="http://schemas.openxmlformats.org/officeDocument/2006/relationships" id="257" r:id="R2780166bb7af460d"/>
    <p:sldId xmlns:r="http://schemas.openxmlformats.org/officeDocument/2006/relationships" id="258" r:id="Rc82f58bc424a49ec"/>
    <p:sldId xmlns:r="http://schemas.openxmlformats.org/officeDocument/2006/relationships" id="259" r:id="R39d10aa26c9c49d4"/>
    <p:sldId xmlns:r="http://schemas.openxmlformats.org/officeDocument/2006/relationships" id="260" r:id="Rfa7339a4497f49d4"/>
    <p:sldId xmlns:r="http://schemas.openxmlformats.org/officeDocument/2006/relationships" id="261" r:id="R8cad5591e0d249b3"/>
    <p:sldId xmlns:r="http://schemas.openxmlformats.org/officeDocument/2006/relationships" id="262" r:id="Rc1f861fb61c84d7a"/>
    <p:sldId xmlns:r="http://schemas.openxmlformats.org/officeDocument/2006/relationships" id="263" r:id="R7171901ac45e4c5e"/>
    <p:sldId xmlns:r="http://schemas.openxmlformats.org/officeDocument/2006/relationships" id="264" r:id="R00849ea958574ec3"/>
    <p:sldId xmlns:r="http://schemas.openxmlformats.org/officeDocument/2006/relationships" id="265" r:id="R6e77bfc0331b429d"/>
    <p:sldId xmlns:r="http://schemas.openxmlformats.org/officeDocument/2006/relationships" id="266" r:id="Rad70e49433744a6a"/>
    <p:sldId xmlns:r="http://schemas.openxmlformats.org/officeDocument/2006/relationships" id="267" r:id="R414d5757c57d4995"/>
    <p:sldId xmlns:r="http://schemas.openxmlformats.org/officeDocument/2006/relationships" id="268" r:id="Rda04cb472c514ea8"/>
    <p:sldId xmlns:r="http://schemas.openxmlformats.org/officeDocument/2006/relationships" id="269" r:id="Rbc8b0d1577b7459a"/>
    <p:sldId xmlns:r="http://schemas.openxmlformats.org/officeDocument/2006/relationships" id="270" r:id="R96de0f209d6b4c18"/>
    <p:sldId xmlns:r="http://schemas.openxmlformats.org/officeDocument/2006/relationships" id="271" r:id="R6137c35c7055442f"/>
    <p:sldId xmlns:r="http://schemas.openxmlformats.org/officeDocument/2006/relationships" id="272" r:id="Rd05711d690c94bc7"/>
    <p:sldId xmlns:r="http://schemas.openxmlformats.org/officeDocument/2006/relationships" id="273" r:id="Rdfeab1b9148c420c"/>
    <p:sldId xmlns:r="http://schemas.openxmlformats.org/officeDocument/2006/relationships" id="274" r:id="Rd07b7ab40990412a"/>
    <p:sldId xmlns:r="http://schemas.openxmlformats.org/officeDocument/2006/relationships" id="275" r:id="R86956390ef2d430e"/>
    <p:sldId xmlns:r="http://schemas.openxmlformats.org/officeDocument/2006/relationships" id="276" r:id="Rf396e9c411894731"/>
    <p:sldId xmlns:r="http://schemas.openxmlformats.org/officeDocument/2006/relationships" id="277" r:id="R8e3a7aac87ca4828"/>
    <p:sldId xmlns:r="http://schemas.openxmlformats.org/officeDocument/2006/relationships" id="278" r:id="R4259306e856141d0"/>
    <p:sldId xmlns:r="http://schemas.openxmlformats.org/officeDocument/2006/relationships" id="279" r:id="R5a83212bf0f64817"/>
    <p:sldId xmlns:r="http://schemas.openxmlformats.org/officeDocument/2006/relationships" id="280" r:id="R71bc99a922a74d74"/>
    <p:sldId xmlns:r="http://schemas.openxmlformats.org/officeDocument/2006/relationships" id="281" r:id="R0ad37c337ad84fc3"/>
    <p:sldId xmlns:r="http://schemas.openxmlformats.org/officeDocument/2006/relationships" id="282" r:id="Rad12616c0bcd4a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9e0a8e6b584d1f" /><Relationship Type="http://schemas.openxmlformats.org/officeDocument/2006/relationships/slideMaster" Target="/ppt/slideMasters/slideMaster1.xml" Id="R26c468127ad8470a" /><Relationship Type="http://schemas.openxmlformats.org/officeDocument/2006/relationships/notesMaster" Target="/ppt/notesMasters/notesMaster1.xml" Id="R10ae2dfd83894f9f" /><Relationship Type="http://schemas.openxmlformats.org/officeDocument/2006/relationships/presProps" Target="/ppt/presProps.xml" Id="Rcda61c899ed94ec6" /><Relationship Type="http://schemas.openxmlformats.org/officeDocument/2006/relationships/tableStyles" Target="/ppt/tableStyles.xml" Id="R32cdfad487ec4ae3" /><Relationship Type="http://schemas.openxmlformats.org/officeDocument/2006/relationships/slide" Target="/ppt/slides/slide1.xml" Id="R972d8a49cb634000" /><Relationship Type="http://schemas.openxmlformats.org/officeDocument/2006/relationships/slide" Target="/ppt/slides/slide2.xml" Id="R2780166bb7af460d" /><Relationship Type="http://schemas.openxmlformats.org/officeDocument/2006/relationships/slide" Target="/ppt/slides/slide3.xml" Id="Rc82f58bc424a49ec" /><Relationship Type="http://schemas.openxmlformats.org/officeDocument/2006/relationships/slide" Target="/ppt/slides/slide4.xml" Id="R39d10aa26c9c49d4" /><Relationship Type="http://schemas.openxmlformats.org/officeDocument/2006/relationships/slide" Target="/ppt/slides/slide5.xml" Id="Rfa7339a4497f49d4" /><Relationship Type="http://schemas.openxmlformats.org/officeDocument/2006/relationships/slide" Target="/ppt/slides/slide6.xml" Id="R8cad5591e0d249b3" /><Relationship Type="http://schemas.openxmlformats.org/officeDocument/2006/relationships/slide" Target="/ppt/slides/slide7.xml" Id="Rc1f861fb61c84d7a" /><Relationship Type="http://schemas.openxmlformats.org/officeDocument/2006/relationships/slide" Target="/ppt/slides/slide8.xml" Id="R7171901ac45e4c5e" /><Relationship Type="http://schemas.openxmlformats.org/officeDocument/2006/relationships/slide" Target="/ppt/slides/slide9.xml" Id="R00849ea958574ec3" /><Relationship Type="http://schemas.openxmlformats.org/officeDocument/2006/relationships/slide" Target="/ppt/slides/slide10.xml" Id="R6e77bfc0331b429d" /><Relationship Type="http://schemas.openxmlformats.org/officeDocument/2006/relationships/slide" Target="/ppt/slides/slide11.xml" Id="Rad70e49433744a6a" /><Relationship Type="http://schemas.openxmlformats.org/officeDocument/2006/relationships/slide" Target="/ppt/slides/slide12.xml" Id="R414d5757c57d4995" /><Relationship Type="http://schemas.openxmlformats.org/officeDocument/2006/relationships/slide" Target="/ppt/slides/slide13.xml" Id="Rda04cb472c514ea8" /><Relationship Type="http://schemas.openxmlformats.org/officeDocument/2006/relationships/slide" Target="/ppt/slides/slide14.xml" Id="Rbc8b0d1577b7459a" /><Relationship Type="http://schemas.openxmlformats.org/officeDocument/2006/relationships/slide" Target="/ppt/slides/slide15.xml" Id="R96de0f209d6b4c18" /><Relationship Type="http://schemas.openxmlformats.org/officeDocument/2006/relationships/slide" Target="/ppt/slides/slide16.xml" Id="R6137c35c7055442f" /><Relationship Type="http://schemas.openxmlformats.org/officeDocument/2006/relationships/slide" Target="/ppt/slides/slide17.xml" Id="Rd05711d690c94bc7" /><Relationship Type="http://schemas.openxmlformats.org/officeDocument/2006/relationships/slide" Target="/ppt/slides/slide18.xml" Id="Rdfeab1b9148c420c" /><Relationship Type="http://schemas.openxmlformats.org/officeDocument/2006/relationships/slide" Target="/ppt/slides/slide19.xml" Id="Rd07b7ab40990412a" /><Relationship Type="http://schemas.openxmlformats.org/officeDocument/2006/relationships/slide" Target="/ppt/slides/slide20.xml" Id="R86956390ef2d430e" /><Relationship Type="http://schemas.openxmlformats.org/officeDocument/2006/relationships/slide" Target="/ppt/slides/slide21.xml" Id="Rf396e9c411894731" /><Relationship Type="http://schemas.openxmlformats.org/officeDocument/2006/relationships/slide" Target="/ppt/slides/slide22.xml" Id="R8e3a7aac87ca4828" /><Relationship Type="http://schemas.openxmlformats.org/officeDocument/2006/relationships/slide" Target="/ppt/slides/slide23.xml" Id="R4259306e856141d0" /><Relationship Type="http://schemas.openxmlformats.org/officeDocument/2006/relationships/slide" Target="/ppt/slides/slide24.xml" Id="R5a83212bf0f64817" /><Relationship Type="http://schemas.openxmlformats.org/officeDocument/2006/relationships/slide" Target="/ppt/slides/slide25.xml" Id="R71bc99a922a74d74" /><Relationship Type="http://schemas.openxmlformats.org/officeDocument/2006/relationships/slide" Target="/ppt/slides/slide26.xml" Id="R0ad37c337ad84fc3" /><Relationship Type="http://schemas.openxmlformats.org/officeDocument/2006/relationships/slide" Target="/ppt/slides/slide27.xml" Id="Rad12616c0bcd4a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e19f020b7341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d9e54c45fa43b7" /><Relationship Type="http://schemas.openxmlformats.org/officeDocument/2006/relationships/notesMaster" Target="/ppt/notesMasters/notesMaster1.xml" Id="R242452345f4e46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7910d801a84422" /><Relationship Type="http://schemas.openxmlformats.org/officeDocument/2006/relationships/notesMaster" Target="/ppt/notesMasters/notesMaster1.xml" Id="R9888f74e546d41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9fb98bc22c4216" /><Relationship Type="http://schemas.openxmlformats.org/officeDocument/2006/relationships/notesMaster" Target="/ppt/notesMasters/notesMaster1.xml" Id="R80a891ab460148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3ff08f6e4a4d4a" /><Relationship Type="http://schemas.openxmlformats.org/officeDocument/2006/relationships/notesMaster" Target="/ppt/notesMasters/notesMaster1.xml" Id="R6547c102124642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b79f88beed47e5" /><Relationship Type="http://schemas.openxmlformats.org/officeDocument/2006/relationships/notesMaster" Target="/ppt/notesMasters/notesMaster1.xml" Id="R65b84badd97044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447f7ceb354ab3" /><Relationship Type="http://schemas.openxmlformats.org/officeDocument/2006/relationships/notesMaster" Target="/ppt/notesMasters/notesMaster1.xml" Id="R49615f28aa6b41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0b0096ffb54efd" /><Relationship Type="http://schemas.openxmlformats.org/officeDocument/2006/relationships/notesMaster" Target="/ppt/notesMasters/notesMaster1.xml" Id="R10c62d4234fa4b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dd349e29d747a3" /><Relationship Type="http://schemas.openxmlformats.org/officeDocument/2006/relationships/notesMaster" Target="/ppt/notesMasters/notesMaster1.xml" Id="R70c1c39da04244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c297351355e4b30" /><Relationship Type="http://schemas.openxmlformats.org/officeDocument/2006/relationships/notesMaster" Target="/ppt/notesMasters/notesMaster1.xml" Id="R5940ecea954941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116aede5fab4860" /><Relationship Type="http://schemas.openxmlformats.org/officeDocument/2006/relationships/notesMaster" Target="/ppt/notesMasters/notesMaster1.xml" Id="R03a9ec24a7c541e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7e9cbb85174f48" /><Relationship Type="http://schemas.openxmlformats.org/officeDocument/2006/relationships/notesMaster" Target="/ppt/notesMasters/notesMaster1.xml" Id="R8b77e66b53e142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23f6e687204599" /><Relationship Type="http://schemas.openxmlformats.org/officeDocument/2006/relationships/notesMaster" Target="/ppt/notesMasters/notesMaster1.xml" Id="Re2071ad83a1a43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ea67bbb79164531" /><Relationship Type="http://schemas.openxmlformats.org/officeDocument/2006/relationships/notesMaster" Target="/ppt/notesMasters/notesMaster1.xml" Id="R6b81f5c975e04fb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bd8d36659e04a0e" /><Relationship Type="http://schemas.openxmlformats.org/officeDocument/2006/relationships/notesMaster" Target="/ppt/notesMasters/notesMaster1.xml" Id="R9da5ea1e5e354d6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a94cf2e4ae41d3" /><Relationship Type="http://schemas.openxmlformats.org/officeDocument/2006/relationships/notesMaster" Target="/ppt/notesMasters/notesMaster1.xml" Id="Re7c3ecf079ff44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af55526bb8426e" /><Relationship Type="http://schemas.openxmlformats.org/officeDocument/2006/relationships/notesMaster" Target="/ppt/notesMasters/notesMaster1.xml" Id="R57ee92709edd48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2b7832a8434c55" /><Relationship Type="http://schemas.openxmlformats.org/officeDocument/2006/relationships/notesMaster" Target="/ppt/notesMasters/notesMaster1.xml" Id="Rf42ab99fb5eb40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07cd54eb91640f2" /><Relationship Type="http://schemas.openxmlformats.org/officeDocument/2006/relationships/notesMaster" Target="/ppt/notesMasters/notesMaster1.xml" Id="Ra8a29d417b9d43d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f442181f2fe4eb7" /><Relationship Type="http://schemas.openxmlformats.org/officeDocument/2006/relationships/notesMaster" Target="/ppt/notesMasters/notesMaster1.xml" Id="Rfe2352f34bb7420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a629b7c5e474ed8" /><Relationship Type="http://schemas.openxmlformats.org/officeDocument/2006/relationships/notesMaster" Target="/ppt/notesMasters/notesMaster1.xml" Id="R27056805aa854d3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da4a9e9d0904cbc" /><Relationship Type="http://schemas.openxmlformats.org/officeDocument/2006/relationships/notesMaster" Target="/ppt/notesMasters/notesMaster1.xml" Id="R736e95d5f869423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7947d7723c04bb2" /><Relationship Type="http://schemas.openxmlformats.org/officeDocument/2006/relationships/notesMaster" Target="/ppt/notesMasters/notesMaster1.xml" Id="R7627a09e1b9f4df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7d7bdf736a24614" /><Relationship Type="http://schemas.openxmlformats.org/officeDocument/2006/relationships/notesMaster" Target="/ppt/notesMasters/notesMaster1.xml" Id="Rd13a7db31fa748c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6f64de63b644e9c" /><Relationship Type="http://schemas.openxmlformats.org/officeDocument/2006/relationships/notesMaster" Target="/ppt/notesMasters/notesMaster1.xml" Id="R7b1b6827097347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3595cbb8a5d4eeb" /><Relationship Type="http://schemas.openxmlformats.org/officeDocument/2006/relationships/notesMaster" Target="/ppt/notesMasters/notesMaster1.xml" Id="R095894f45cd6462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68ed3bcd91b4996" /><Relationship Type="http://schemas.openxmlformats.org/officeDocument/2006/relationships/notesMaster" Target="/ppt/notesMasters/notesMaster1.xml" Id="R75a5b9b7f145481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75419bc29494a47" /><Relationship Type="http://schemas.openxmlformats.org/officeDocument/2006/relationships/notesMaster" Target="/ppt/notesMasters/notesMaster1.xml" Id="R754af1e553ae45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  <a:p xmlns:a="http://schemas.openxmlformats.org/drawingml/2006/main">
            <a:r>
              <a:t>https://docs.python.org/3.12/tutorial/classes.html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https://minhuangyuntech.github.io/oo2026/ja/memory/play/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https://pypi.org/project/pygame/2.6.1/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https://www.pygame.org/docs/ref/rect.html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https://www.pygame.org/docs/ref/event.html</a:t>
            </a:r>
          </a:p>
          <a:p xmlns:a="http://schemas.openxmlformats.org/drawingml/2006/main">
            <a:r>
              <a:t>https://www.pygame.org/docs/ref/display.html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</a:t>
            </a:r>
          </a:p>
          <a:p xmlns:a="http://schemas.openxmlformats.org/drawingml/2006/main">
            <a:r>
              <a:t>https://docs.python.org/3.12/reference/expressions.html#is-not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30e03a46342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f32c87a984a3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5a4f184f642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ef6069740247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c8d37958a49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4da5fd76a14b1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E479895-9F5B-4282-82D0-77C5A891B7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425B1E-15E6-45B3-8C8B-0B1DD2244F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C497E85-CDD9-428D-A78F-74A8D096F9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22B23-E7BA-4A85-AFD7-73AA06C7E2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83F19D6-468F-4B0B-AA94-C178479763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6B82F19-0739-4E57-ABA1-366269974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A0D87B2-39F8-410F-8EEA-10B8DAF5412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305922F-D52C-4121-A3D3-A0C628EE94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A467D2-A70C-4BF3-B572-F1D1B65D5E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AF96119-318C-4A69-AB1B-BB382676AF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d725d0ce924bdc" /><Relationship Type="http://schemas.openxmlformats.org/officeDocument/2006/relationships/slideLayout" Target="/ppt/slideLayouts/slideLayout1.xml" Id="Re4b94dea88074291" /><Relationship Type="http://schemas.openxmlformats.org/officeDocument/2006/relationships/slideLayout" Target="/ppt/slideLayouts/slideLayout2.xml" Id="R5a8a56a0b04f46d4" /><Relationship Type="http://schemas.openxmlformats.org/officeDocument/2006/relationships/slideLayout" Target="/ppt/slideLayouts/slideLayout3.xml" Id="Rb3cc8ca600594f3a" /><Relationship Type="http://schemas.openxmlformats.org/officeDocument/2006/relationships/slideLayout" Target="/ppt/slideLayouts/slideLayout4.xml" Id="R59c106d24080411c" /><Relationship Type="http://schemas.openxmlformats.org/officeDocument/2006/relationships/slideLayout" Target="/ppt/slideLayouts/slideLayout5.xml" Id="R8b4d2c5c1af841ef" /><Relationship Type="http://schemas.openxmlformats.org/officeDocument/2006/relationships/slideLayout" Target="/ppt/slideLayouts/slideLayout6.xml" Id="R9040afbafdcb4a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b94dea88074291"/>
    <p:sldLayoutId xmlns:r="http://schemas.openxmlformats.org/officeDocument/2006/relationships" id="2147483650" r:id="R5a8a56a0b04f46d4"/>
    <p:sldLayoutId xmlns:r="http://schemas.openxmlformats.org/officeDocument/2006/relationships" id="2147483651" r:id="Rb3cc8ca600594f3a"/>
    <p:sldLayoutId xmlns:r="http://schemas.openxmlformats.org/officeDocument/2006/relationships" id="2147483652" r:id="R59c106d24080411c"/>
    <p:sldLayoutId xmlns:r="http://schemas.openxmlformats.org/officeDocument/2006/relationships" id="2147483653" r:id="R8b4d2c5c1af841ef"/>
    <p:sldLayoutId xmlns:r="http://schemas.openxmlformats.org/officeDocument/2006/relationships" id="2147483654" r:id="R9040afbafdcb4a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5456c200a47f7" /><Relationship Type="http://schemas.openxmlformats.org/officeDocument/2006/relationships/hyperlink" Target="https://minhuangyuntech.github.io/oo2026/ja/memory/play/" TargetMode="External" Id="Rea5d9a17327a49d5" /><Relationship Type="http://schemas.openxmlformats.org/officeDocument/2006/relationships/notesSlide" Target="/ppt/notesSlides/notesSlide1.xml" Id="R515fbdfde58744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d0f863e6f64491" /><Relationship Type="http://schemas.openxmlformats.org/officeDocument/2006/relationships/image" Target="/ppt/media/image.jpeg" Id="R5393489fb3a34f7e" /><Relationship Type="http://schemas.openxmlformats.org/officeDocument/2006/relationships/hyperlink" Target="https://minhuangyuntech.github.io/oo2026/ja/memory/play/" TargetMode="External" Id="Rf21bb3b604b2447d" /><Relationship Type="http://schemas.openxmlformats.org/officeDocument/2006/relationships/hyperlink" Target="https://minhuangyuntech.github.io/oo2026/ja/memory/play/" TargetMode="External" Id="R7978f22e073f4e5f" /><Relationship Type="http://schemas.openxmlformats.org/officeDocument/2006/relationships/notesSlide" Target="/ppt/notesSlides/notesSlide2.xml" Id="R815f9ad9b69d4f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eda1d1b1b422c" /><Relationship Type="http://schemas.openxmlformats.org/officeDocument/2006/relationships/notesSlide" Target="/ppt/notesSlides/notesSlide3.xml" Id="R07badd61bb534e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d3883d020446bf" /><Relationship Type="http://schemas.openxmlformats.org/officeDocument/2006/relationships/notesSlide" Target="/ppt/notesSlides/notesSlide4.xml" Id="R1f4fe813e0064a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a26fbd927441e0" /><Relationship Type="http://schemas.openxmlformats.org/officeDocument/2006/relationships/notesSlide" Target="/ppt/notesSlides/notesSlide5.xml" Id="R6c80e52ceed0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6bd00a602f4db7" /><Relationship Type="http://schemas.openxmlformats.org/officeDocument/2006/relationships/notesSlide" Target="/ppt/notesSlides/notesSlide6.xml" Id="R488b510a437546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b804aeaa4431d" /><Relationship Type="http://schemas.openxmlformats.org/officeDocument/2006/relationships/notesSlide" Target="/ppt/notesSlides/notesSlide7.xml" Id="R4665dcb486b44d9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523f32d99424d" /><Relationship Type="http://schemas.openxmlformats.org/officeDocument/2006/relationships/notesSlide" Target="/ppt/notesSlides/notesSlide8.xml" Id="R97143644a71b48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1b73e1a329423c" /><Relationship Type="http://schemas.openxmlformats.org/officeDocument/2006/relationships/notesSlide" Target="/ppt/notesSlides/notesSlide9.xml" Id="R45a5a566f5f64c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ce7c1460c144c2" /><Relationship Type="http://schemas.openxmlformats.org/officeDocument/2006/relationships/notesSlide" Target="/ppt/notesSlides/notesSlide10.xml" Id="R9a86e91435c44c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15d28c30a84737" /><Relationship Type="http://schemas.openxmlformats.org/officeDocument/2006/relationships/notesSlide" Target="/ppt/notesSlides/notesSlide11.xml" Id="Re029d58abe00412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fe85ba8fda4c69" /><Relationship Type="http://schemas.openxmlformats.org/officeDocument/2006/relationships/notesSlide" Target="/ppt/notesSlides/notesSlide12.xml" Id="R314b4b89eb2942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b61dc6e084408" /><Relationship Type="http://schemas.openxmlformats.org/officeDocument/2006/relationships/notesSlide" Target="/ppt/notesSlides/notesSlide13.xml" Id="Rae20be0e7e5341b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1f48f6e3b449f" /><Relationship Type="http://schemas.openxmlformats.org/officeDocument/2006/relationships/notesSlide" Target="/ppt/notesSlides/notesSlide14.xml" Id="Re0acf399a01f4c1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cc17aa7764772" /><Relationship Type="http://schemas.openxmlformats.org/officeDocument/2006/relationships/notesSlide" Target="/ppt/notesSlides/notesSlide15.xml" Id="R437c29fe6ea4420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dc998d84114237" /><Relationship Type="http://schemas.openxmlformats.org/officeDocument/2006/relationships/notesSlide" Target="/ppt/notesSlides/notesSlide16.xml" Id="Ra384a33978d047b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9c82382aa64652" /><Relationship Type="http://schemas.openxmlformats.org/officeDocument/2006/relationships/notesSlide" Target="/ppt/notesSlides/notesSlide17.xml" Id="Rbde8418c876d42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3b4c88d594411" /><Relationship Type="http://schemas.openxmlformats.org/officeDocument/2006/relationships/hyperlink" Target="https://docs.python.org/3.12/tutorial/classes.html" TargetMode="External" Id="R515d90f2d2fa497b" /><Relationship Type="http://schemas.openxmlformats.org/officeDocument/2006/relationships/hyperlink" Target="https://docs.python.org/3.12/reference/expressions.html#is-not" TargetMode="External" Id="Rad5655173d1546ad" /><Relationship Type="http://schemas.openxmlformats.org/officeDocument/2006/relationships/notesSlide" Target="/ppt/notesSlides/notesSlide18.xml" Id="Ra49b15ab330244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b9f86fffb64b62" /><Relationship Type="http://schemas.openxmlformats.org/officeDocument/2006/relationships/notesSlide" Target="/ppt/notesSlides/notesSlide19.xml" Id="Rb339ef8f281f4b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1b33954a794e3d" /><Relationship Type="http://schemas.openxmlformats.org/officeDocument/2006/relationships/image" Target="/ppt/media/image.png" Id="Rb074dc1b566049fe" /><Relationship Type="http://schemas.openxmlformats.org/officeDocument/2006/relationships/hyperlink" Target="https://minhuangyuntech.github.io/oo2026/materials/memory-oop-trilingual.zip" TargetMode="External" Id="Rb5bad41a6b674af5" /><Relationship Type="http://schemas.openxmlformats.org/officeDocument/2006/relationships/notesSlide" Target="/ppt/notesSlides/notesSlide20.xml" Id="R2f520b87b07f46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5586401cf540ef" /><Relationship Type="http://schemas.openxmlformats.org/officeDocument/2006/relationships/notesSlide" Target="/ppt/notesSlides/notesSlide21.xml" Id="R26201bc31010459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095b759480463e" /><Relationship Type="http://schemas.openxmlformats.org/officeDocument/2006/relationships/notesSlide" Target="/ppt/notesSlides/notesSlide22.xml" Id="R41a3850cf9bc454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d6fa61b995459a" /><Relationship Type="http://schemas.openxmlformats.org/officeDocument/2006/relationships/notesSlide" Target="/ppt/notesSlides/notesSlide23.xml" Id="R64604e4928a24c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842715d4e4093" /><Relationship Type="http://schemas.openxmlformats.org/officeDocument/2006/relationships/notesSlide" Target="/ppt/notesSlides/notesSlide24.xml" Id="R90da39c91f1d49b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f53e4acbcc45d4" /><Relationship Type="http://schemas.openxmlformats.org/officeDocument/2006/relationships/notesSlide" Target="/ppt/notesSlides/notesSlide25.xml" Id="Re70bedc9d47446c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bfd659e3ce49da" /><Relationship Type="http://schemas.openxmlformats.org/officeDocument/2006/relationships/notesSlide" Target="/ppt/notesSlides/notesSlide26.xml" Id="R0cefb21dea6144b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68c82c088f440f" /><Relationship Type="http://schemas.openxmlformats.org/officeDocument/2006/relationships/notesSlide" Target="/ppt/notesSlides/notesSlide27.xml" Id="Rf131582f753549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YTHON OOP  /  CARD MATCHING">
            <a:extLst xmlns:a="http://schemas.openxmlformats.org/drawingml/2006/main">
              <a:ext uri="{FF2B5EF4-FFF2-40B4-BE49-F238E27FC236}">
                <a16:creationId xmlns:a16="http://schemas.microsoft.com/office/drawing/2014/main" id="{2E981651-8290-4822-8D1A-CE0924B69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OOP  /  CARD MATCHING</a:t>
            </a:r>
          </a:p>
        </p:txBody>
      </p:sp>
      <p:sp>
        <p:nvSpPr>
          <p:cNvPr id="2" name="神経衰弱とオブジェクトの状態">
            <a:extLst xmlns:a="http://schemas.openxmlformats.org/drawingml/2006/main">
              <a:ext uri="{FF2B5EF4-FFF2-40B4-BE49-F238E27FC236}">
                <a16:creationId xmlns:a16="http://schemas.microsoft.com/office/drawing/2014/main" id="{7681A198-1EF1-4741-B1F8-82F687FF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762125"/>
            <a:ext cx="11001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48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神経衰弱とオブジェクトの状態</a:t>
            </a:r>
          </a:p>
        </p:txBody>
      </p:sp>
      <p:sp>
        <p:nvSpPr>
          <p:cNvPr id="3" name="Card · Board · Game">
            <a:extLst xmlns:a="http://schemas.openxmlformats.org/drawingml/2006/main">
              <a:ext uri="{FF2B5EF4-FFF2-40B4-BE49-F238E27FC236}">
                <a16:creationId xmlns:a16="http://schemas.microsoft.com/office/drawing/2014/main" id="{95DBF199-BF41-43DC-8F19-A95820561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27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Card · Board · Game</a:t>
            </a:r>
          </a:p>
        </p:txBody>
      </p:sp>
      <p:sp>
        <p:nvSpPr>
          <p:cNvPr id="4" name="一枚のカードが一つのオブジェクト。&#10;状態と参照を一歩ずつ観察します。">
            <a:extLst xmlns:a="http://schemas.openxmlformats.org/drawingml/2006/main">
              <a:ext uri="{FF2B5EF4-FFF2-40B4-BE49-F238E27FC236}">
                <a16:creationId xmlns:a16="http://schemas.microsoft.com/office/drawing/2014/main" id="{70ABE4BC-2762-4019-819C-D446380E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一枚のカードが一つのオブジェクト。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状態と参照を一歩ずつ観察します。</a:t>
            </a:r>
          </a:p>
        </p:txBody>
      </p:sp>
      <p:sp>
        <p:nvSpPr>
          <p:cNvPr id="5" name="https://minhuangyuntech.github.io/oo2026/ja/memory/play/">
            <a:extLst xmlns:a="http://schemas.openxmlformats.org/drawingml/2006/main">
              <a:ext uri="{FF2B5EF4-FFF2-40B4-BE49-F238E27FC236}">
                <a16:creationId xmlns:a16="http://schemas.microsoft.com/office/drawing/2014/main" id="{37C86EC9-4B3C-45E7-927C-6D09300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ea5d9a17327a49d5"/>
              </a:rPr>
              <a:t>https://minhuangyuntech.github.io/oo2026/ja/memory/play/</a:t>
            </a:r>
          </a:p>
        </p:txBody>
      </p:sp>
      <p:sp>
        <p:nvSpPr>
          <p:cNvPr id="6" name="01">
            <a:extLst xmlns:a="http://schemas.openxmlformats.org/drawingml/2006/main">
              <a:ext uri="{FF2B5EF4-FFF2-40B4-BE49-F238E27FC236}">
                <a16:creationId xmlns:a16="http://schemas.microsoft.com/office/drawing/2014/main" id="{B6EE28E6-E0A8-4DF3-9FC5-39BE4795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10329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ブラウザー版とオブジェクト名">
            <a:extLst xmlns:a="http://schemas.openxmlformats.org/drawingml/2006/main">
              <a:ext uri="{FF2B5EF4-FFF2-40B4-BE49-F238E27FC236}">
                <a16:creationId xmlns:a16="http://schemas.microsoft.com/office/drawing/2014/main" id="{BEBBAD72-42F7-456F-8841-D8722479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ブラウザー版とオブジェクト名</a:t>
            </a:r>
          </a:p>
        </p:txBody>
      </p:sp>
      <p:sp>
        <p:nvSpPr>
          <p:cNvPr id="2" name="12 枚、6 ペア。ブラウザーですぐ遊べます。">
            <a:extLst xmlns:a="http://schemas.openxmlformats.org/drawingml/2006/main">
              <a:ext uri="{FF2B5EF4-FFF2-40B4-BE49-F238E27FC236}">
                <a16:creationId xmlns:a16="http://schemas.microsoft.com/office/drawing/2014/main" id="{A1F0B72E-E669-4257-B327-87B246FA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12 枚、6 ペア。ブラウザーですぐ遊べます。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B5E83-E1DB-4CC2-A65C-6C33F6AD8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93489fb3a34f7e"/>
          <a:stretch xmlns:a="http://schemas.openxmlformats.org/drawingml/2006/main"/>
        </p:blipFill>
        <p:spPr>
          <a:xfrm xmlns:a="http://schemas.openxmlformats.org/drawingml/2006/main">
            <a:off x="892095" y="1781175"/>
            <a:ext cx="6216809" cy="4610100"/>
          </a:xfrm>
          <a:prstGeom xmlns:a="http://schemas.openxmlformats.org/drawingml/2006/main" prst="rect">
            <a:avLst/>
          </a:prstGeom>
        </p:spPr>
      </p:pic>
      <p:sp>
        <p:nvSpPr>
          <p:cNvPr id="4" name="通常プレイ：二枚選んで手番を確定します。">
            <a:extLst xmlns:a="http://schemas.openxmlformats.org/drawingml/2006/main">
              <a:ext uri="{FF2B5EF4-FFF2-40B4-BE49-F238E27FC236}">
                <a16:creationId xmlns:a16="http://schemas.microsoft.com/office/drawing/2014/main" id="{425159E2-91E5-446A-8EA3-BB99E825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478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通常プレイ：二枚選んで手番を確定します。</a:t>
            </a:r>
          </a:p>
        </p:txBody>
      </p:sp>
      <p:sp>
        <p:nvSpPr>
          <p:cNvPr id="5" name="コマ送り：めくる・比較・確定を一段階ずつ観察。">
            <a:extLst xmlns:a="http://schemas.openxmlformats.org/drawingml/2006/main">
              <a:ext uri="{FF2B5EF4-FFF2-40B4-BE49-F238E27FC236}">
                <a16:creationId xmlns:a16="http://schemas.microsoft.com/office/drawing/2014/main" id="{E5BB6714-0F87-48AB-8A03-B47953C2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47662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02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コマ送り：めくる・比較・確定を一段階ずつ観察。</a:t>
            </a:r>
          </a:p>
        </p:txBody>
      </p:sp>
      <p:sp>
        <p:nvSpPr>
          <p:cNvPr id="6" name="ブラウザーで遊ぶ">
            <a:extLst xmlns:a="http://schemas.openxmlformats.org/drawingml/2006/main">
              <a:ext uri="{FF2B5EF4-FFF2-40B4-BE49-F238E27FC236}">
                <a16:creationId xmlns:a16="http://schemas.microsoft.com/office/drawing/2014/main" id="{ED8956DF-F8DE-4792-B055-66EF118C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276850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f21bb3b604b2447d"/>
              </a:rPr>
              <a:t>ブラウザーで遊ぶ</a:t>
            </a:r>
          </a:p>
        </p:txBody>
      </p:sp>
      <p:sp>
        <p:nvSpPr>
          <p:cNvPr id="7" name="https://minhuangyuntech.github.io/oo2026/ja/memory/play/">
            <a:extLst xmlns:a="http://schemas.openxmlformats.org/drawingml/2006/main">
              <a:ext uri="{FF2B5EF4-FFF2-40B4-BE49-F238E27FC236}">
                <a16:creationId xmlns:a16="http://schemas.microsoft.com/office/drawing/2014/main" id="{8DCC6516-803F-4C71-A7C5-26335B3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8197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7978f22e073f4e5f"/>
              </a:rPr>
              <a:t>https://minhuangyuntech.github.io/oo2026/ja/memory/play/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1689CD66-CE74-4271-A14A-5BB40968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815347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プレイと観察の操作">
            <a:extLst xmlns:a="http://schemas.openxmlformats.org/drawingml/2006/main">
              <a:ext uri="{FF2B5EF4-FFF2-40B4-BE49-F238E27FC236}">
                <a16:creationId xmlns:a16="http://schemas.microsoft.com/office/drawing/2014/main" id="{068A8F3A-4595-4FDF-8631-79F69E41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プレイと観察の操作</a:t>
            </a:r>
          </a:p>
        </p:txBody>
      </p:sp>
      <p:sp>
        <p:nvSpPr>
          <p:cNvPr id="2" name="マウス・タッチ・キーボードに対応">
            <a:extLst xmlns:a="http://schemas.openxmlformats.org/drawingml/2006/main">
              <a:ext uri="{FF2B5EF4-FFF2-40B4-BE49-F238E27FC236}">
                <a16:creationId xmlns:a16="http://schemas.microsoft.com/office/drawing/2014/main" id="{1A63F196-DEC2-4D97-928F-715C07A5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マウス・タッチ・キーボードに対応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78200-7E99-4AE1-A670-D3C0D5EA0CE2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通常プレイ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二枚選び、手番を確定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コマ送り /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めくる・比較・確定を一段階ずつ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L / オブジェクト名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C01: Card などの名前を切替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観察用の選択欄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めくらずに対象だけを選択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固定の観察例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新しいゲームをコマ送りで作成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新しいゲーム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新しい実体とランダムな盤面を作成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言語を切り替えても盤面と進行は維持。再読み込みで新しいゲームになります。">
            <a:extLst xmlns:a="http://schemas.openxmlformats.org/drawingml/2006/main">
              <a:ext uri="{FF2B5EF4-FFF2-40B4-BE49-F238E27FC236}">
                <a16:creationId xmlns:a16="http://schemas.microsoft.com/office/drawing/2014/main" id="{EC3694B6-8CD3-4F65-9003-6F48303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言語を切り替えても盤面と進行は維持。再読み込みで新しいゲームになります。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7D1F9DC8-D590-48F6-81CC-207748B9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38165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三つのクラスの責任">
            <a:extLst xmlns:a="http://schemas.openxmlformats.org/drawingml/2006/main">
              <a:ext uri="{FF2B5EF4-FFF2-40B4-BE49-F238E27FC236}">
                <a16:creationId xmlns:a16="http://schemas.microsoft.com/office/drawing/2014/main" id="{2531FCA5-96CE-42A2-A02C-2A212BE5C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三つのクラスの責任</a:t>
            </a:r>
          </a:p>
        </p:txBody>
      </p:sp>
      <p:sp>
        <p:nvSpPr>
          <p:cNvPr id="2" name="担当するオブジェクトにデータと処理をまとめる">
            <a:extLst xmlns:a="http://schemas.openxmlformats.org/drawingml/2006/main">
              <a:ext uri="{FF2B5EF4-FFF2-40B4-BE49-F238E27FC236}">
                <a16:creationId xmlns:a16="http://schemas.microsoft.com/office/drawing/2014/main" id="{F1409150-CB58-4644-9373-C57845C0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担当するオブジェクトにデータと処理をまとめる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ABE0C-37A4-4A08-9472-4A0BFDB2B5DB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4667250"/>
                <a:gridCol w="466725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クラス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責任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name, pair_id, face_up, 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めくる・裏返す・一致済みにする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Board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cards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12 枚の生成と検索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Game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first, second, pending, 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選択・比較・確定を管理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画面はモデルの状態を読み、ボタンはメソッドを呼びます。">
            <a:extLst xmlns:a="http://schemas.openxmlformats.org/drawingml/2006/main">
              <a:ext uri="{FF2B5EF4-FFF2-40B4-BE49-F238E27FC236}">
                <a16:creationId xmlns:a16="http://schemas.microsoft.com/office/drawing/2014/main" id="{7D55B81F-5891-4BD2-A37B-449F60FD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画面はモデルの状態を読み、ボタンはメソッドを呼びます。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828AC1B6-157D-4FD5-B7C9-36D745C1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810039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UML クラス図">
            <a:extLst xmlns:a="http://schemas.openxmlformats.org/drawingml/2006/main">
              <a:ext uri="{FF2B5EF4-FFF2-40B4-BE49-F238E27FC236}">
                <a16:creationId xmlns:a16="http://schemas.microsoft.com/office/drawing/2014/main" id="{471D0C08-81E3-45DE-94AE-14F5DA7D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UML クラス図</a:t>
            </a:r>
          </a:p>
        </p:txBody>
      </p:sp>
      <p:sp>
        <p:nvSpPr>
          <p:cNvPr id="2" name="名前・属性・メソッドの三段。矢印は参照可能な関連。">
            <a:extLst xmlns:a="http://schemas.openxmlformats.org/drawingml/2006/main">
              <a:ext uri="{FF2B5EF4-FFF2-40B4-BE49-F238E27FC236}">
                <a16:creationId xmlns:a16="http://schemas.microsoft.com/office/drawing/2014/main" id="{EDBDEE01-F42E-4E9A-90BF-BFACF37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名前・属性・メソッドの三段。矢印は参照可能な関連。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E3333-BC50-4D67-BB51-C2C8EFB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2C40"/>
            </a:solidFill>
          </a:ln>
        </p:spPr>
      </p:sp>
      <p:sp>
        <p:nvSpPr>
          <p:cNvPr id="4" name="Game">
            <a:extLst xmlns:a="http://schemas.openxmlformats.org/drawingml/2006/main">
              <a:ext uri="{FF2B5EF4-FFF2-40B4-BE49-F238E27FC236}">
                <a16:creationId xmlns:a16="http://schemas.microsoft.com/office/drawing/2014/main" id="{53ABC001-9932-49A5-855A-63C6F701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D79CF-247F-4444-AF47-9A09F3E6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6" name="board: Board&#10;first: Card [0..1]&#10;second: Card [0..1]&#10;pending: Card [0..">
            <a:extLst xmlns:a="http://schemas.openxmlformats.org/drawingml/2006/main">
              <a:ext uri="{FF2B5EF4-FFF2-40B4-BE49-F238E27FC236}">
                <a16:creationId xmlns:a16="http://schemas.microsoft.com/office/drawing/2014/main" id="{6EE9EB7E-DC3C-4C6E-A8DD-B3240D62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board: Board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first: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second: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pending: Card [0..1]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phase, turns, matches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D570B3-FB5B-4529-8B0F-7842FC10B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8" name="queue(name)&#10;step(), compare(), settle()">
            <a:extLst xmlns:a="http://schemas.openxmlformats.org/drawingml/2006/main">
              <a:ext uri="{FF2B5EF4-FFF2-40B4-BE49-F238E27FC236}">
                <a16:creationId xmlns:a16="http://schemas.microsoft.com/office/drawing/2014/main" id="{164DC57B-F61C-40AC-A683-9348EC0F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queue(name)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step(), compare(), settle()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670E75-4A85-4A5D-BFEF-EE5CE5A7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857375"/>
            <a:ext cx="247650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0" name="Board">
            <a:extLst xmlns:a="http://schemas.openxmlformats.org/drawingml/2006/main">
              <a:ext uri="{FF2B5EF4-FFF2-40B4-BE49-F238E27FC236}">
                <a16:creationId xmlns:a16="http://schemas.microsoft.com/office/drawing/2014/main" id="{550BAEFC-B972-4FC0-B776-092BF17A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962150"/>
            <a:ext cx="2171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7654B2"/>
                </a:solidFill>
                <a:latin typeface="Yu Gothic"/>
                <a:ea typeface="Yu Gothic"/>
                <a:cs typeface="Yu Gothic"/>
              </a:rPr>
              <a:t>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2180E-8A15-4025-8A3E-6F0E9A15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2343150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2" name="cards: list[Card]&#10;complete: bool">
            <a:extLst xmlns:a="http://schemas.openxmlformats.org/drawingml/2006/main">
              <a:ext uri="{FF2B5EF4-FFF2-40B4-BE49-F238E27FC236}">
                <a16:creationId xmlns:a16="http://schemas.microsoft.com/office/drawing/2014/main" id="{8EE669CD-615F-4465-B544-6C1123E7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57450"/>
            <a:ext cx="21717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cards: list[Card]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complete: bool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7FC7AA-B612-4A00-9888-81C95914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10125" y="3990975"/>
            <a:ext cx="2476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4" name="get(name)">
            <a:extLst xmlns:a="http://schemas.openxmlformats.org/drawingml/2006/main">
              <a:ext uri="{FF2B5EF4-FFF2-40B4-BE49-F238E27FC236}">
                <a16:creationId xmlns:a16="http://schemas.microsoft.com/office/drawing/2014/main" id="{DC45F3BE-6027-4716-A121-59E34840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133850"/>
            <a:ext cx="2171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get(name)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7295D-0CD7-4495-A92B-C2E3B321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3143250" cy="3095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C1105F97-2431-45E2-B606-5C55C7DB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62150"/>
            <a:ext cx="2838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Card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05C099-F51D-473B-89D0-98E88DE0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2343150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18" name="name, pair_id&#10;face_up, matched">
            <a:extLst xmlns:a="http://schemas.openxmlformats.org/drawingml/2006/main">
              <a:ext uri="{FF2B5EF4-FFF2-40B4-BE49-F238E27FC236}">
                <a16:creationId xmlns:a16="http://schemas.microsoft.com/office/drawing/2014/main" id="{E6B069A6-54FB-4366-B0F1-C53AC758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8384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name, pair_id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face_up, matched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EE2EF4-C0BC-4C3A-8123-73808195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77250" y="3990975"/>
            <a:ext cx="3143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0" name="reveal()&#10;hide(), mark_matched()">
            <a:extLst xmlns:a="http://schemas.openxmlformats.org/drawingml/2006/main">
              <a:ext uri="{FF2B5EF4-FFF2-40B4-BE49-F238E27FC236}">
                <a16:creationId xmlns:a16="http://schemas.microsoft.com/office/drawing/2014/main" id="{3DFAC380-5EBF-4C68-8E87-B738938A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33850"/>
            <a:ext cx="28384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reveal()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hide(), mark_matched()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9A238-60FA-450B-867B-71B8F779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14750" y="2857500"/>
            <a:ext cx="10953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234B69-9F34-4178-9479-DB8ADDB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718176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347EF2-6ED5-42AA-8161-E3F30A49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718176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4" name="board">
            <a:extLst xmlns:a="http://schemas.openxmlformats.org/drawingml/2006/main">
              <a:ext uri="{FF2B5EF4-FFF2-40B4-BE49-F238E27FC236}">
                <a16:creationId xmlns:a16="http://schemas.microsoft.com/office/drawing/2014/main" id="{3A418C99-30D2-4B70-B1A3-F009B477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04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board</a:t>
            </a:r>
          </a:p>
        </p:txBody>
      </p:sp>
      <p:sp>
        <p:nvSpPr>
          <p:cNvPr id="25" name="1">
            <a:extLst xmlns:a="http://schemas.openxmlformats.org/drawingml/2006/main">
              <a:ext uri="{FF2B5EF4-FFF2-40B4-BE49-F238E27FC236}">
                <a16:creationId xmlns:a16="http://schemas.microsoft.com/office/drawing/2014/main" id="{C46F8335-4AF7-4343-87BD-116283CA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52750"/>
            <a:ext cx="238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6CAEA2-D07E-4862-8887-7D285AF4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86625" y="2857500"/>
            <a:ext cx="1190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67C2E6-ABB7-4323-ADB8-A874133C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385301" y="28575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B0901-6E7C-4ADC-91F4-3F3B4752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385301" y="28072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172C40"/>
            </a:solidFill>
          </a:ln>
        </p:spPr>
      </p:sp>
      <p:sp>
        <p:nvSpPr>
          <p:cNvPr id="29" name="cards">
            <a:extLst xmlns:a="http://schemas.openxmlformats.org/drawingml/2006/main">
              <a:ext uri="{FF2B5EF4-FFF2-40B4-BE49-F238E27FC236}">
                <a16:creationId xmlns:a16="http://schemas.microsoft.com/office/drawing/2014/main" id="{541C5BB6-D661-4DE0-BAB4-999CFE77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cards</a:t>
            </a:r>
          </a:p>
        </p:txBody>
      </p:sp>
      <p:sp>
        <p:nvSpPr>
          <p:cNvPr id="30" name="12">
            <a:extLst xmlns:a="http://schemas.openxmlformats.org/drawingml/2006/main">
              <a:ext uri="{FF2B5EF4-FFF2-40B4-BE49-F238E27FC236}">
                <a16:creationId xmlns:a16="http://schemas.microsoft.com/office/drawing/2014/main" id="{5B2022B3-37D3-45E2-99AE-88B18047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9527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31" name="first / second / pending : Card [0..1]">
            <a:extLst xmlns:a="http://schemas.openxmlformats.org/drawingml/2006/main">
              <a:ext uri="{FF2B5EF4-FFF2-40B4-BE49-F238E27FC236}">
                <a16:creationId xmlns:a16="http://schemas.microsoft.com/office/drawing/2014/main" id="{629BE2BE-AC0C-4A63-941D-415E70FB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34000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first / second / pending : Card [0..1]</a:t>
            </a:r>
          </a:p>
        </p:txBody>
      </p:sp>
      <p:sp>
        <p:nvSpPr>
          <p:cNvPr id="32" name="一つの Game が一つの Board を持ち、Board は 12 枚を保持。">
            <a:extLst xmlns:a="http://schemas.openxmlformats.org/drawingml/2006/main">
              <a:ext uri="{FF2B5EF4-FFF2-40B4-BE49-F238E27FC236}">
                <a16:creationId xmlns:a16="http://schemas.microsoft.com/office/drawing/2014/main" id="{12E1C024-A951-49ED-8C6A-6FCE7A78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一つの Game が一つの Board を持ち、Board は 12 枚を保持。</a:t>
            </a:r>
          </a:p>
        </p:txBody>
      </p:sp>
      <p:sp>
        <p:nvSpPr>
          <p:cNvPr id="33" name="first・second・pending は、それぞれ 0 または 1 枚を参照。">
            <a:extLst xmlns:a="http://schemas.openxmlformats.org/drawingml/2006/main">
              <a:ext uri="{FF2B5EF4-FFF2-40B4-BE49-F238E27FC236}">
                <a16:creationId xmlns:a16="http://schemas.microsoft.com/office/drawing/2014/main" id="{76417693-5576-4C3B-84BB-FBEFAE86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first・second・pending は、それぞれ 0 または 1 枚を参照。</a:t>
            </a:r>
          </a:p>
        </p:txBody>
      </p:sp>
      <p:sp>
        <p:nvSpPr>
          <p:cNvPr id="34" name="05">
            <a:extLst xmlns:a="http://schemas.openxmlformats.org/drawingml/2006/main">
              <a:ext uri="{FF2B5EF4-FFF2-40B4-BE49-F238E27FC236}">
                <a16:creationId xmlns:a16="http://schemas.microsoft.com/office/drawing/2014/main" id="{9CA69419-4DB1-4E9E-9D9F-0438B198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013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同じ絵、異なるオブジェクト">
            <a:extLst xmlns:a="http://schemas.openxmlformats.org/drawingml/2006/main">
              <a:ext uri="{FF2B5EF4-FFF2-40B4-BE49-F238E27FC236}">
                <a16:creationId xmlns:a16="http://schemas.microsoft.com/office/drawing/2014/main" id="{64EC83A4-A660-4B12-9266-2A19818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同じ絵、異なるオブジェクト</a:t>
            </a:r>
          </a:p>
        </p:txBody>
      </p:sp>
      <p:sp>
        <p:nvSpPr>
          <p:cNvPr id="2" name="固定の盤面：C01 と C02 の pair_id は moon">
            <a:extLst xmlns:a="http://schemas.openxmlformats.org/drawingml/2006/main">
              <a:ext uri="{FF2B5EF4-FFF2-40B4-BE49-F238E27FC236}">
                <a16:creationId xmlns:a16="http://schemas.microsoft.com/office/drawing/2014/main" id="{30E15C12-CACC-48FA-AAD2-B38EC6BB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固定の盤面：C01 と C02 の pair_id は moon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8F743-5911-4556-A85C-702BDDD5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C62"/>
            </a:solidFill>
          </a:ln>
        </p:spPr>
      </p:sp>
      <p:sp>
        <p:nvSpPr>
          <p:cNvPr id="4" name="game : Game">
            <a:extLst xmlns:a="http://schemas.openxmlformats.org/drawingml/2006/main">
              <a:ext uri="{FF2B5EF4-FFF2-40B4-BE49-F238E27FC236}">
                <a16:creationId xmlns:a16="http://schemas.microsoft.com/office/drawing/2014/main" id="{CE4A7501-3E19-4C1D-9831-644EEB0D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game : Game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056E1-F315-4ACE-A5B4-DA11CDE7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2362200"/>
            <a:ext cx="136207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98BA0-058D-4DFE-80EA-8D550EDC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2466975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7" name="first → C01&#10;second → C02">
            <a:extLst xmlns:a="http://schemas.openxmlformats.org/drawingml/2006/main">
              <a:ext uri="{FF2B5EF4-FFF2-40B4-BE49-F238E27FC236}">
                <a16:creationId xmlns:a16="http://schemas.microsoft.com/office/drawing/2014/main" id="{D97FAC59-49D1-4076-9C06-8C2569D7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first → C01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second → C02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A16B3-F5B8-4663-8953-EE0B6BC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29527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B7082"/>
            </a:solidFill>
          </a:ln>
        </p:spPr>
      </p:sp>
      <p:sp>
        <p:nvSpPr>
          <p:cNvPr id="9" name="board : Board">
            <a:extLst xmlns:a="http://schemas.openxmlformats.org/drawingml/2006/main">
              <a:ext uri="{FF2B5EF4-FFF2-40B4-BE49-F238E27FC236}">
                <a16:creationId xmlns:a16="http://schemas.microsoft.com/office/drawing/2014/main" id="{F7291E9E-1CFF-4278-A496-E0D43579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647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board : Board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6F7C70-E8D1-4B16-9E90-221E181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900" y="4600575"/>
            <a:ext cx="16097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1C2AD0-2452-4D1E-BD33-AE87C7A22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1500" y="4705350"/>
            <a:ext cx="2952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12" name="cards[0] → C01&#10;cards[1] → C02">
            <a:extLst xmlns:a="http://schemas.openxmlformats.org/drawingml/2006/main">
              <a:ext uri="{FF2B5EF4-FFF2-40B4-BE49-F238E27FC236}">
                <a16:creationId xmlns:a16="http://schemas.microsoft.com/office/drawing/2014/main" id="{42EFACB8-E9F6-4F36-8043-4128CD36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26479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cards[0] → C01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cards[1] → C02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0A85F-ED06-4F85-AC74-046E599A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4" name="C01 : Card">
            <a:extLst xmlns:a="http://schemas.openxmlformats.org/drawingml/2006/main">
              <a:ext uri="{FF2B5EF4-FFF2-40B4-BE49-F238E27FC236}">
                <a16:creationId xmlns:a16="http://schemas.microsoft.com/office/drawing/2014/main" id="{E51487F2-B213-4F49-8753-84581EBD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rPr>
              <a:t>C01 : Card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A8D7D-67D7-4A78-A3E2-0FD1EC6E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236220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4DCA7-40FA-4962-9945-72D4674B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2466975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17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3E7FC101-CFDE-4405-B653-FB28FC9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90800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pair_id = "moon"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face_up = True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7F10E3-C079-4DEC-9085-D2E7DB764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91000"/>
            <a:ext cx="36195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54B2"/>
            </a:solidFill>
          </a:ln>
        </p:spPr>
      </p:sp>
      <p:sp>
        <p:nvSpPr>
          <p:cNvPr id="19" name="C02 : Card">
            <a:extLst xmlns:a="http://schemas.openxmlformats.org/drawingml/2006/main">
              <a:ext uri="{FF2B5EF4-FFF2-40B4-BE49-F238E27FC236}">
                <a16:creationId xmlns:a16="http://schemas.microsoft.com/office/drawing/2014/main" id="{6693169B-5AC3-45F5-A4BA-1C42836E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331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7654B2"/>
                </a:solidFill>
                <a:latin typeface="Yu Gothic"/>
                <a:ea typeface="Yu Gothic"/>
                <a:cs typeface="Yu Gothic"/>
              </a:rPr>
              <a:t>C02 : Card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2FD6A3-3188-4251-82AC-7058B25B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46005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E4D1AA-4B8C-4C9E-B5D3-0D2AC226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1000" y="4705350"/>
            <a:ext cx="3619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7654B2"/>
            </a:solidFill>
          </a:ln>
        </p:spPr>
      </p:sp>
      <p:sp>
        <p:nvSpPr>
          <p:cNvPr id="22" name="pair_id = &quot;moon&quot;&#10;face_up = True">
            <a:extLst xmlns:a="http://schemas.openxmlformats.org/drawingml/2006/main">
              <a:ext uri="{FF2B5EF4-FFF2-40B4-BE49-F238E27FC236}">
                <a16:creationId xmlns:a16="http://schemas.microsoft.com/office/drawing/2014/main" id="{F968E6F5-7AE5-40B8-A4A7-06ED2F8A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829175"/>
            <a:ext cx="33147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pair_id = "moon"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face_up = True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4C816-3E88-4450-B781-1AD42589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2667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D1704B-8048-41DD-A6E8-7A2BA110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2667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D6098E-30C6-4433-8E5F-4E79A18C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2616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C274C-E744-4F0C-9CEF-8B5AA636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3143250"/>
            <a:ext cx="19526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3B386-DB3B-4E36-904F-FBC8D3E1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3143250"/>
            <a:ext cx="0" cy="1476375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937D2C-623E-4505-93A5-E9448B30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476875" y="4619625"/>
            <a:ext cx="2524125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D22D0-2861-4661-96A3-931F0B14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4619625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36031D-1810-48C1-9404-AAFA25C3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4569393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087C6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FB6723-CFEF-42A1-B73E-657393D3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4857750"/>
            <a:ext cx="323850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90A01E-9B2D-4AB2-A5E9-EA69F0E4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6762750" y="3143250"/>
            <a:ext cx="0" cy="171450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A6B5C4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85E3DA-4153-4826-AA69-FC56D89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762750" y="3143250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144309-791E-47AB-A397-9D72619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314325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DA156-419B-483F-99C9-D09F7ED8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309301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FBD926-5A35-40FA-BDC4-07ADF305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4250" y="5334000"/>
            <a:ext cx="4476750" cy="0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025F25-4FC2-470A-A6E5-D213465A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909051" y="5334000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FB5C68-DC41-4DD0-AF90-4E3663A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909051" y="5283768"/>
            <a:ext cx="91949" cy="50232"/>
          </a:xfrm>
          <a:prstGeom xmlns:a="http://schemas.openxmlformats.org/drawingml/2006/main" prst="line">
            <a:avLst/>
          </a:prstGeom>
          <a:ln xmlns:a="http://schemas.openxmlformats.org/drawingml/2006/main" w="15240">
            <a:solidFill>
              <a:srgbClr val="5B7082"/>
            </a:solidFill>
          </a:ln>
        </p:spPr>
      </p:sp>
      <p:sp>
        <p:nvSpPr>
          <p:cNvPr id="39" name="C01 is C02  →  False">
            <a:extLst xmlns:a="http://schemas.openxmlformats.org/drawingml/2006/main">
              <a:ext uri="{FF2B5EF4-FFF2-40B4-BE49-F238E27FC236}">
                <a16:creationId xmlns:a16="http://schemas.microsoft.com/office/drawing/2014/main" id="{5EB84B16-526B-4396-998F-81E064DA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526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7654B2"/>
                </a:solidFill>
                <a:latin typeface="Yu Gothic"/>
                <a:ea typeface="Yu Gothic"/>
                <a:cs typeface="Yu Gothic"/>
              </a:rPr>
              <a:t>C01 is C02  →  False</a:t>
            </a:r>
          </a:p>
        </p:txBody>
      </p:sp>
      <p:sp>
        <p:nvSpPr>
          <p:cNvPr id="40" name="C01 と C02 は別の実体。face_up は個別に変わります。">
            <a:extLst xmlns:a="http://schemas.openxmlformats.org/drawingml/2006/main">
              <a:ext uri="{FF2B5EF4-FFF2-40B4-BE49-F238E27FC236}">
                <a16:creationId xmlns:a16="http://schemas.microsoft.com/office/drawing/2014/main" id="{4BFDE875-DCD6-4B86-81D6-BFA95505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C01 と C02 は別の実体。face_up は個別に変わります。</a:t>
            </a:r>
          </a:p>
        </p:txBody>
      </p:sp>
      <p:sp>
        <p:nvSpPr>
          <p:cNvPr id="41" name="Game.first と Board.cards[0] は同じカードを参照できます。">
            <a:extLst xmlns:a="http://schemas.openxmlformats.org/drawingml/2006/main">
              <a:ext uri="{FF2B5EF4-FFF2-40B4-BE49-F238E27FC236}">
                <a16:creationId xmlns:a16="http://schemas.microsoft.com/office/drawing/2014/main" id="{EFB5DA5A-A560-47BD-B458-D29ED813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61055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Game.first と Board.cards[0] は同じカードを参照できます。</a:t>
            </a:r>
          </a:p>
        </p:txBody>
      </p:sp>
      <p:sp>
        <p:nvSpPr>
          <p:cNvPr id="42" name="06">
            <a:extLst xmlns:a="http://schemas.openxmlformats.org/drawingml/2006/main">
              <a:ext uri="{FF2B5EF4-FFF2-40B4-BE49-F238E27FC236}">
                <a16:creationId xmlns:a16="http://schemas.microsoft.com/office/drawing/2014/main" id="{4F28EFAE-1CDA-46A5-8667-43D7061B3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085852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rd の三つの状態">
            <a:extLst xmlns:a="http://schemas.openxmlformats.org/drawingml/2006/main">
              <a:ext uri="{FF2B5EF4-FFF2-40B4-BE49-F238E27FC236}">
                <a16:creationId xmlns:a16="http://schemas.microsoft.com/office/drawing/2014/main" id="{AEF58B2E-278D-4E3E-8F33-F353556B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 の三つの状態</a:t>
            </a:r>
          </a:p>
        </p:txBody>
      </p:sp>
      <p:sp>
        <p:nvSpPr>
          <p:cNvPr id="2" name="二つの真偽値で表示状態を表す">
            <a:extLst xmlns:a="http://schemas.openxmlformats.org/drawingml/2006/main">
              <a:ext uri="{FF2B5EF4-FFF2-40B4-BE49-F238E27FC236}">
                <a16:creationId xmlns:a16="http://schemas.microsoft.com/office/drawing/2014/main" id="{851C3FC8-CC3F-42BD-ACFE-8BDA339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二つの真偽値で表示状態を表す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6581A-5C69-42BF-B678-18C28E7AB564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096000"/>
                <a:gridCol w="2476500"/>
                <a:gridCol w="2476500"/>
              </a:tblGrid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表示状態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face_up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matched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裏向き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表向き、未確定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1000125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一致済み、表のまま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一致済みのカードは表のまま。hide() でも裏に戻りません。">
            <a:extLst xmlns:a="http://schemas.openxmlformats.org/drawingml/2006/main">
              <a:ext uri="{FF2B5EF4-FFF2-40B4-BE49-F238E27FC236}">
                <a16:creationId xmlns:a16="http://schemas.microsoft.com/office/drawing/2014/main" id="{D04700BA-5A10-4170-AE43-0AED4606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一致済みのカードは表のまま。hide() でも裏に戻りません。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1FEA9527-EEB7-4833-957C-D55BF92FC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072689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ard：データとめくる動作">
            <a:extLst xmlns:a="http://schemas.openxmlformats.org/drawingml/2006/main">
              <a:ext uri="{FF2B5EF4-FFF2-40B4-BE49-F238E27FC236}">
                <a16:creationId xmlns:a16="http://schemas.microsoft.com/office/drawing/2014/main" id="{B87A4E09-5D11-45CC-8DAA-2346A200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Card：データとめくる動作</a:t>
            </a:r>
          </a:p>
        </p:txBody>
      </p:sp>
      <p:sp>
        <p:nvSpPr>
          <p:cNvPr id="2" name="model.py · Card">
            <a:extLst xmlns:a="http://schemas.openxmlformats.org/drawingml/2006/main">
              <a:ext uri="{FF2B5EF4-FFF2-40B4-BE49-F238E27FC236}">
                <a16:creationId xmlns:a16="http://schemas.microsoft.com/office/drawing/2014/main" id="{D992BBC5-7F55-42CA-8E88-1D686AA9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model.py · Card</a:t>
            </a:r>
          </a:p>
        </p:txBody>
      </p:sp>
      <p:sp>
        <p:nvSpPr>
          <p:cNvPr id="3" name="class Card:">
            <a:extLst xmlns:a="http://schemas.openxmlformats.org/drawingml/2006/main">
              <a:ext uri="{FF2B5EF4-FFF2-40B4-BE49-F238E27FC236}">
                <a16:creationId xmlns:a16="http://schemas.microsoft.com/office/drawing/2014/main" id="{443C3BB5-87FD-4306-BED3-38139703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class Card:</a:t>
            </a:r>
          </a:p>
        </p:txBody>
      </p:sp>
      <p:sp>
        <p:nvSpPr>
          <p:cNvPr id="4" name="    def __init__(self, name, pair_id):">
            <a:extLst xmlns:a="http://schemas.openxmlformats.org/drawingml/2006/main">
              <a:ext uri="{FF2B5EF4-FFF2-40B4-BE49-F238E27FC236}">
                <a16:creationId xmlns:a16="http://schemas.microsoft.com/office/drawing/2014/main" id="{FD493436-3F76-4D43-A2B3-31CC985A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__init__(self, name, pair_id):</a:t>
            </a:r>
          </a:p>
        </p:txBody>
      </p:sp>
      <p:sp>
        <p:nvSpPr>
          <p:cNvPr id="5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59A701F9-AF03-462E-9F86-1EEA4086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6" name="        self.pair_id = pair_id">
            <a:extLst xmlns:a="http://schemas.openxmlformats.org/drawingml/2006/main">
              <a:ext uri="{FF2B5EF4-FFF2-40B4-BE49-F238E27FC236}">
                <a16:creationId xmlns:a16="http://schemas.microsoft.com/office/drawing/2014/main" id="{927E9424-544A-44DD-83B4-22C9408C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self.pair_id = pair_id</a:t>
            </a:r>
          </a:p>
        </p:txBody>
      </p:sp>
      <p:sp>
        <p:nvSpPr>
          <p:cNvPr id="7" name="        self.face_up = False">
            <a:extLst xmlns:a="http://schemas.openxmlformats.org/drawingml/2006/main">
              <a:ext uri="{FF2B5EF4-FFF2-40B4-BE49-F238E27FC236}">
                <a16:creationId xmlns:a16="http://schemas.microsoft.com/office/drawing/2014/main" id="{7604EE4C-5BC1-42A7-BE4D-2B0B24A0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False</a:t>
            </a:r>
          </a:p>
        </p:txBody>
      </p:sp>
      <p:sp>
        <p:nvSpPr>
          <p:cNvPr id="8" name="        self.matched = False">
            <a:extLst xmlns:a="http://schemas.openxmlformats.org/drawingml/2006/main">
              <a:ext uri="{FF2B5EF4-FFF2-40B4-BE49-F238E27FC236}">
                <a16:creationId xmlns:a16="http://schemas.microsoft.com/office/drawing/2014/main" id="{327D8B2E-6636-4133-8CA3-453B3040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self.matched = False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83E751-BF08-4764-A598-09DD22D4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    def reveal(self):">
            <a:extLst xmlns:a="http://schemas.openxmlformats.org/drawingml/2006/main">
              <a:ext uri="{FF2B5EF4-FFF2-40B4-BE49-F238E27FC236}">
                <a16:creationId xmlns:a16="http://schemas.microsoft.com/office/drawing/2014/main" id="{4F8DD82D-930C-44AF-8B18-861F25ED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def reveal(self):</a:t>
            </a:r>
          </a:p>
        </p:txBody>
      </p:sp>
      <p:sp>
        <p:nvSpPr>
          <p:cNvPr id="11" name="        if self.face_up or self.matched:">
            <a:extLst xmlns:a="http://schemas.openxmlformats.org/drawingml/2006/main">
              <a:ext uri="{FF2B5EF4-FFF2-40B4-BE49-F238E27FC236}">
                <a16:creationId xmlns:a16="http://schemas.microsoft.com/office/drawing/2014/main" id="{ACB18160-621C-49BA-948F-9FE6C10D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self.face_up or self.matched:</a:t>
            </a:r>
          </a:p>
        </p:txBody>
      </p:sp>
      <p:sp>
        <p:nvSpPr>
          <p:cNvPr id="12" name="    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50AC6925-51A0-4A0C-9083-7EFD5C2E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 False</a:t>
            </a:r>
          </a:p>
        </p:txBody>
      </p:sp>
      <p:sp>
        <p:nvSpPr>
          <p:cNvPr id="13" name="        self.face_up = True">
            <a:extLst xmlns:a="http://schemas.openxmlformats.org/drawingml/2006/main">
              <a:ext uri="{FF2B5EF4-FFF2-40B4-BE49-F238E27FC236}">
                <a16:creationId xmlns:a16="http://schemas.microsoft.com/office/drawing/2014/main" id="{F63307C5-B745-4D15-BB25-912829A0D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self.face_up = True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A929E8BB-5736-40B0-B323-C095A65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表向き・一致済みのカードは reveal() で再度めくれません。">
            <a:extLst xmlns:a="http://schemas.openxmlformats.org/drawingml/2006/main">
              <a:ext uri="{FF2B5EF4-FFF2-40B4-BE49-F238E27FC236}">
                <a16:creationId xmlns:a16="http://schemas.microsoft.com/office/drawing/2014/main" id="{054B92A1-01D6-4B0C-AFF2-A8937FC89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表向き・一致済みのカードは reveal() で再度めくれません。</a:t>
            </a:r>
          </a:p>
        </p:txBody>
      </p:sp>
      <p:sp>
        <p:nvSpPr>
          <p:cNvPr id="16" name="属性は直接変更可能ですが、ゲームはメソッドを通してルールを守ります。">
            <a:extLst xmlns:a="http://schemas.openxmlformats.org/drawingml/2006/main">
              <a:ext uri="{FF2B5EF4-FFF2-40B4-BE49-F238E27FC236}">
                <a16:creationId xmlns:a16="http://schemas.microsoft.com/office/drawing/2014/main" id="{1C2C9C1A-B99E-426C-89BC-A20B931C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属性は直接変更可能ですが、ゲームはメソッドを通してルールを守ります。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1AB9FDE7-5989-4381-A228-3EB58544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08">
            <a:extLst xmlns:a="http://schemas.openxmlformats.org/drawingml/2006/main">
              <a:ext uri="{FF2B5EF4-FFF2-40B4-BE49-F238E27FC236}">
                <a16:creationId xmlns:a16="http://schemas.microsoft.com/office/drawing/2014/main" id="{B49C9290-43AF-4792-B1EA-FEB7C7FD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03121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Board：カードの生成と保持">
            <a:extLst xmlns:a="http://schemas.openxmlformats.org/drawingml/2006/main">
              <a:ext uri="{FF2B5EF4-FFF2-40B4-BE49-F238E27FC236}">
                <a16:creationId xmlns:a16="http://schemas.microsoft.com/office/drawing/2014/main" id="{F3C67134-72D8-478B-B338-E376115D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Board：カードの生成と保持</a:t>
            </a:r>
          </a:p>
        </p:txBody>
      </p:sp>
      <p:sp>
        <p:nvSpPr>
          <p:cNvPr id="2" name="model.py · Board.__init__">
            <a:extLst xmlns:a="http://schemas.openxmlformats.org/drawingml/2006/main">
              <a:ext uri="{FF2B5EF4-FFF2-40B4-BE49-F238E27FC236}">
                <a16:creationId xmlns:a16="http://schemas.microsoft.com/office/drawing/2014/main" id="{8ACD717E-4C73-47A9-B730-B9AA295C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model.py · Board.__init__</a:t>
            </a:r>
          </a:p>
        </p:txBody>
      </p:sp>
      <p:sp>
        <p:nvSpPr>
          <p:cNvPr id="3" name="def __init__(self, sample=False):">
            <a:extLst xmlns:a="http://schemas.openxmlformats.org/drawingml/2006/main">
              <a:ext uri="{FF2B5EF4-FFF2-40B4-BE49-F238E27FC236}">
                <a16:creationId xmlns:a16="http://schemas.microsoft.com/office/drawing/2014/main" id="{22800D98-91A0-4786-9932-E8FF087FB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__init__(self, sample=False):</a:t>
            </a:r>
          </a:p>
        </p:txBody>
      </p:sp>
      <p:sp>
        <p:nvSpPr>
          <p:cNvPr id="4" name="    pairs = SAMPLE.copy()">
            <a:extLst xmlns:a="http://schemas.openxmlformats.org/drawingml/2006/main">
              <a:ext uri="{FF2B5EF4-FFF2-40B4-BE49-F238E27FC236}">
                <a16:creationId xmlns:a16="http://schemas.microsoft.com/office/drawing/2014/main" id="{6787561D-7932-42E1-9585-3097ADE6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pairs = SAMPLE.copy()</a:t>
            </a:r>
          </a:p>
        </p:txBody>
      </p:sp>
      <p:sp>
        <p:nvSpPr>
          <p:cNvPr id="5" name="    if not sample:">
            <a:extLst xmlns:a="http://schemas.openxmlformats.org/drawingml/2006/main">
              <a:ext uri="{FF2B5EF4-FFF2-40B4-BE49-F238E27FC236}">
                <a16:creationId xmlns:a16="http://schemas.microsoft.com/office/drawing/2014/main" id="{988D64F3-C9CD-402D-BAEA-26184B3A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not sample:</a:t>
            </a:r>
          </a:p>
        </p:txBody>
      </p:sp>
      <p:sp>
        <p:nvSpPr>
          <p:cNvPr id="6" name="        shuffle(pairs)">
            <a:extLst xmlns:a="http://schemas.openxmlformats.org/drawingml/2006/main">
              <a:ext uri="{FF2B5EF4-FFF2-40B4-BE49-F238E27FC236}">
                <a16:creationId xmlns:a16="http://schemas.microsoft.com/office/drawing/2014/main" id="{80D774F3-8B04-4BE9-8B15-217E18F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shuffle(pairs)</a:t>
            </a:r>
          </a:p>
        </p:txBody>
      </p:sp>
      <p:sp>
        <p:nvSpPr>
          <p:cNvPr id="7" name="    self.cards = [Card(f'C{i+1:02}', pair)">
            <a:extLst xmlns:a="http://schemas.openxmlformats.org/drawingml/2006/main">
              <a:ext uri="{FF2B5EF4-FFF2-40B4-BE49-F238E27FC236}">
                <a16:creationId xmlns:a16="http://schemas.microsoft.com/office/drawing/2014/main" id="{FC16708D-707B-4162-A52B-5BFE4942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self.cards = [Card(f'C{i+1:02}', pair)</a:t>
            </a:r>
          </a:p>
        </p:txBody>
      </p:sp>
      <p:sp>
        <p:nvSpPr>
          <p:cNvPr id="8" name="                  for i, pair in enumerate(pairs)]">
            <a:extLst xmlns:a="http://schemas.openxmlformats.org/drawingml/2006/main">
              <a:ext uri="{FF2B5EF4-FFF2-40B4-BE49-F238E27FC236}">
                <a16:creationId xmlns:a16="http://schemas.microsoft.com/office/drawing/2014/main" id="{4B5AB994-3F97-41E2-A368-CCA2559C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for i, pair in enumerate(pairs)]</a:t>
            </a:r>
          </a:p>
        </p:txBody>
      </p:sp>
      <p:sp>
        <p:nvSpPr>
          <p:cNvPr id="9" name="Card(...) を呼ぶたび、新しい実体を生成します。">
            <a:extLst xmlns:a="http://schemas.openxmlformats.org/drawingml/2006/main">
              <a:ext uri="{FF2B5EF4-FFF2-40B4-BE49-F238E27FC236}">
                <a16:creationId xmlns:a16="http://schemas.microsoft.com/office/drawing/2014/main" id="{4B1D5EB5-346B-4516-A353-1BBD0BDA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Card(...) を呼ぶたび、新しい実体を生成します。</a:t>
            </a:r>
          </a:p>
        </p:txBody>
      </p:sp>
      <p:sp>
        <p:nvSpPr>
          <p:cNvPr id="10" name="sample=True は固定順。通常のゲームではシャッフルします。">
            <a:extLst xmlns:a="http://schemas.openxmlformats.org/drawingml/2006/main">
              <a:ext uri="{FF2B5EF4-FFF2-40B4-BE49-F238E27FC236}">
                <a16:creationId xmlns:a16="http://schemas.microsoft.com/office/drawing/2014/main" id="{A4553AEA-4694-43D5-A684-0E2D0326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sample=True は固定順。通常のゲームではシャッフルします。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1A07B3BC-7E46-4059-ADA4-B57F45A0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09">
            <a:extLst xmlns:a="http://schemas.openxmlformats.org/drawingml/2006/main">
              <a:ext uri="{FF2B5EF4-FFF2-40B4-BE49-F238E27FC236}">
                <a16:creationId xmlns:a16="http://schemas.microsoft.com/office/drawing/2014/main" id="{11536115-8EFD-4553-84C0-AA83985C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17662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選択：pending に参照を保存">
            <a:extLst xmlns:a="http://schemas.openxmlformats.org/drawingml/2006/main">
              <a:ext uri="{FF2B5EF4-FFF2-40B4-BE49-F238E27FC236}">
                <a16:creationId xmlns:a16="http://schemas.microsoft.com/office/drawing/2014/main" id="{87A503B4-51B9-4556-93C5-AEC0181F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選択：pending に参照を保存</a:t>
            </a:r>
          </a:p>
        </p:txBody>
      </p:sp>
      <p:sp>
        <p:nvSpPr>
          <p:cNvPr id="2" name="model.py · Game.queue">
            <a:extLst xmlns:a="http://schemas.openxmlformats.org/drawingml/2006/main">
              <a:ext uri="{FF2B5EF4-FFF2-40B4-BE49-F238E27FC236}">
                <a16:creationId xmlns:a16="http://schemas.microsoft.com/office/drawing/2014/main" id="{514C21B6-70C1-4ED6-A48F-3D69EAE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model.py · Game.queue</a:t>
            </a:r>
          </a:p>
        </p:txBody>
      </p:sp>
      <p:sp>
        <p:nvSpPr>
          <p:cNvPr id="3" name="def queue(self, name):">
            <a:extLst xmlns:a="http://schemas.openxmlformats.org/drawingml/2006/main">
              <a:ext uri="{FF2B5EF4-FFF2-40B4-BE49-F238E27FC236}">
                <a16:creationId xmlns:a16="http://schemas.microsoft.com/office/drawing/2014/main" id="{08876A1F-E85B-4C44-8FED-165818BF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queue(self, name):</a:t>
            </a:r>
          </a:p>
        </p:txBody>
      </p:sp>
      <p:sp>
        <p:nvSpPr>
          <p:cNvPr id="4" name="    if self.phase not in ('first', 'second') or self.pending:">
            <a:extLst xmlns:a="http://schemas.openxmlformats.org/drawingml/2006/main">
              <a:ext uri="{FF2B5EF4-FFF2-40B4-BE49-F238E27FC236}">
                <a16:creationId xmlns:a16="http://schemas.microsoft.com/office/drawing/2014/main" id="{65FC3011-2A25-4D8B-8562-6CCDD5E7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not in ('first', 'second') or self.pending:</a:t>
            </a:r>
          </a:p>
        </p:txBody>
      </p:sp>
      <p:sp>
        <p:nvSpPr>
          <p:cNvPr id="5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9435916D-AE1D-4F46-AFF9-E93BC08E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6" name="    card = self.board.get(name)">
            <a:extLst xmlns:a="http://schemas.openxmlformats.org/drawingml/2006/main">
              <a:ext uri="{FF2B5EF4-FFF2-40B4-BE49-F238E27FC236}">
                <a16:creationId xmlns:a16="http://schemas.microsoft.com/office/drawing/2014/main" id="{EDC2686F-28A5-44A4-9245-B20CF844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card = self.board.get(name)</a:t>
            </a:r>
          </a:p>
        </p:txBody>
      </p:sp>
      <p:sp>
        <p:nvSpPr>
          <p:cNvPr id="7" name="    if card is None or card.face_up or card.matched:">
            <a:extLst xmlns:a="http://schemas.openxmlformats.org/drawingml/2006/main">
              <a:ext uri="{FF2B5EF4-FFF2-40B4-BE49-F238E27FC236}">
                <a16:creationId xmlns:a16="http://schemas.microsoft.com/office/drawing/2014/main" id="{6C4DB9AE-A873-4247-8231-F389E21E3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card is None or card.face_up or card.matched:</a:t>
            </a:r>
          </a:p>
        </p:txBody>
      </p:sp>
      <p:sp>
        <p:nvSpPr>
          <p:cNvPr id="8" name="        return False">
            <a:extLst xmlns:a="http://schemas.openxmlformats.org/drawingml/2006/main">
              <a:ext uri="{FF2B5EF4-FFF2-40B4-BE49-F238E27FC236}">
                <a16:creationId xmlns:a16="http://schemas.microsoft.com/office/drawing/2014/main" id="{33720180-FEBF-44BC-86A6-91744030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</p:txBody>
      </p:sp>
      <p:sp>
        <p:nvSpPr>
          <p:cNvPr id="9" name="    self.pending = card">
            <a:extLst xmlns:a="http://schemas.openxmlformats.org/drawingml/2006/main">
              <a:ext uri="{FF2B5EF4-FFF2-40B4-BE49-F238E27FC236}">
                <a16:creationId xmlns:a16="http://schemas.microsoft.com/office/drawing/2014/main" id="{A8AD4344-D9E3-4BF9-B2F6-4FC6247D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self.pending = card</a:t>
            </a:r>
          </a:p>
        </p:txBody>
      </p:sp>
      <p:sp>
        <p:nvSpPr>
          <p:cNvPr id="10" name="    return True">
            <a:extLst xmlns:a="http://schemas.openxmlformats.org/drawingml/2006/main">
              <a:ext uri="{FF2B5EF4-FFF2-40B4-BE49-F238E27FC236}">
                <a16:creationId xmlns:a16="http://schemas.microsoft.com/office/drawing/2014/main" id="{FC77970F-DF23-4E9C-AC5F-59CBDC24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11" name="選択だけでは face_up は変わらず、次のステップでめくります。">
            <a:extLst xmlns:a="http://schemas.openxmlformats.org/drawingml/2006/main">
              <a:ext uri="{FF2B5EF4-FFF2-40B4-BE49-F238E27FC236}">
                <a16:creationId xmlns:a16="http://schemas.microsoft.com/office/drawing/2014/main" id="{D5361EAB-2526-4011-A69E-4FC206E8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選択だけでは face_up は変わらず、次のステップでめくります。</a:t>
            </a:r>
          </a:p>
        </p:txBody>
      </p:sp>
      <p:sp>
        <p:nvSpPr>
          <p:cNvPr id="12" name="表向きの同じカードを二枚目として選ぶことはできません。">
            <a:extLst xmlns:a="http://schemas.openxmlformats.org/drawingml/2006/main">
              <a:ext uri="{FF2B5EF4-FFF2-40B4-BE49-F238E27FC236}">
                <a16:creationId xmlns:a16="http://schemas.microsoft.com/office/drawing/2014/main" id="{5040991C-D4EC-49A5-BB45-DFAE964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表向きの同じカードを二枚目として選ぶことはできません。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0EF01142-AE82-4239-AFEC-57ED9BD6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0">
            <a:extLst xmlns:a="http://schemas.openxmlformats.org/drawingml/2006/main">
              <a:ext uri="{FF2B5EF4-FFF2-40B4-BE49-F238E27FC236}">
                <a16:creationId xmlns:a16="http://schemas.microsoft.com/office/drawing/2014/main" id="{D78819CE-D1F2-46D1-8EDE-D2D12863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993166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一歩進む：待機中のカードをめくる">
            <a:extLst xmlns:a="http://schemas.openxmlformats.org/drawingml/2006/main">
              <a:ext uri="{FF2B5EF4-FFF2-40B4-BE49-F238E27FC236}">
                <a16:creationId xmlns:a16="http://schemas.microsoft.com/office/drawing/2014/main" id="{EE52CE98-9280-4415-849F-2E1F5161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一歩進む：待機中のカードをめくる</a:t>
            </a:r>
          </a:p>
        </p:txBody>
      </p:sp>
      <p:sp>
        <p:nvSpPr>
          <p:cNvPr id="2" name="Game.step() のめくる分岐。他の分岐は compare() と settle() を呼ぶ">
            <a:extLst xmlns:a="http://schemas.openxmlformats.org/drawingml/2006/main">
              <a:ext uri="{FF2B5EF4-FFF2-40B4-BE49-F238E27FC236}">
                <a16:creationId xmlns:a16="http://schemas.microsoft.com/office/drawing/2014/main" id="{0907F46D-4143-47D6-86CC-01D8D1A5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Game.step() のめくる分岐。他の分岐は compare() と settle() を呼ぶ</a:t>
            </a:r>
          </a:p>
        </p:txBody>
      </p:sp>
      <p:sp>
        <p:nvSpPr>
          <p:cNvPr id="3" name="def step(self):">
            <a:extLst xmlns:a="http://schemas.openxmlformats.org/drawingml/2006/main">
              <a:ext uri="{FF2B5EF4-FFF2-40B4-BE49-F238E27FC236}">
                <a16:creationId xmlns:a16="http://schemas.microsoft.com/office/drawing/2014/main" id="{510DBC43-CFE8-428C-880D-EB328E0F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step(self):</a:t>
            </a:r>
          </a:p>
        </p:txBody>
      </p:sp>
      <p:sp>
        <p:nvSpPr>
          <p:cNvPr id="4" name="    if self.pending and self.phase in ('first', 'second'):">
            <a:extLst xmlns:a="http://schemas.openxmlformats.org/drawingml/2006/main">
              <a:ext uri="{FF2B5EF4-FFF2-40B4-BE49-F238E27FC236}">
                <a16:creationId xmlns:a16="http://schemas.microsoft.com/office/drawing/2014/main" id="{6B106B24-44AE-4FA1-89AD-27E5FF65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self.pending and self.phase in ('first', 'second'):</a:t>
            </a:r>
          </a:p>
        </p:txBody>
      </p:sp>
      <p:sp>
        <p:nvSpPr>
          <p:cNvPr id="5" name="        card = self.pending">
            <a:extLst xmlns:a="http://schemas.openxmlformats.org/drawingml/2006/main">
              <a:ext uri="{FF2B5EF4-FFF2-40B4-BE49-F238E27FC236}">
                <a16:creationId xmlns:a16="http://schemas.microsoft.com/office/drawing/2014/main" id="{B736E76C-ABE1-45CE-88CB-05E13A1D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 = self.pending</a:t>
            </a:r>
          </a:p>
        </p:txBody>
      </p:sp>
      <p:sp>
        <p:nvSpPr>
          <p:cNvPr id="6" name="        self.pending = None">
            <a:extLst xmlns:a="http://schemas.openxmlformats.org/drawingml/2006/main">
              <a:ext uri="{FF2B5EF4-FFF2-40B4-BE49-F238E27FC236}">
                <a16:creationId xmlns:a16="http://schemas.microsoft.com/office/drawing/2014/main" id="{973C4A31-9397-43BA-BB16-B325217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self.pending = None</a:t>
            </a:r>
          </a:p>
        </p:txBody>
      </p:sp>
      <p:sp>
        <p:nvSpPr>
          <p:cNvPr id="7" name="        card.reveal()">
            <a:extLst xmlns:a="http://schemas.openxmlformats.org/drawingml/2006/main">
              <a:ext uri="{FF2B5EF4-FFF2-40B4-BE49-F238E27FC236}">
                <a16:creationId xmlns:a16="http://schemas.microsoft.com/office/drawing/2014/main" id="{198F0140-C611-4129-A881-8B1AAA08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card.reveal()</a:t>
            </a:r>
          </a:p>
        </p:txBody>
      </p:sp>
      <p:sp>
        <p:nvSpPr>
          <p:cNvPr id="8" name="        if self.phase == 'first':">
            <a:extLst xmlns:a="http://schemas.openxmlformats.org/drawingml/2006/main">
              <a:ext uri="{FF2B5EF4-FFF2-40B4-BE49-F238E27FC236}">
                <a16:creationId xmlns:a16="http://schemas.microsoft.com/office/drawing/2014/main" id="{5015A9B5-0385-417B-9980-BB4E05A1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self.phase == 'first':</a:t>
            </a:r>
          </a:p>
        </p:txBody>
      </p:sp>
      <p:sp>
        <p:nvSpPr>
          <p:cNvPr id="9" name="            self.first = card">
            <a:extLst xmlns:a="http://schemas.openxmlformats.org/drawingml/2006/main">
              <a:ext uri="{FF2B5EF4-FFF2-40B4-BE49-F238E27FC236}">
                <a16:creationId xmlns:a16="http://schemas.microsoft.com/office/drawing/2014/main" id="{69525F36-9863-4490-A7A8-DBBBAF33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self.first = card</a:t>
            </a:r>
          </a:p>
        </p:txBody>
      </p:sp>
      <p:sp>
        <p:nvSpPr>
          <p:cNvPr id="10" name="            self.phase = 'second'">
            <a:extLst xmlns:a="http://schemas.openxmlformats.org/drawingml/2006/main">
              <a:ext uri="{FF2B5EF4-FFF2-40B4-BE49-F238E27FC236}">
                <a16:creationId xmlns:a16="http://schemas.microsoft.com/office/drawing/2014/main" id="{A48E4EEC-D754-4E44-BC06-676899D2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'second'</a:t>
            </a:r>
          </a:p>
        </p:txBody>
      </p:sp>
      <p:sp>
        <p:nvSpPr>
          <p:cNvPr id="11" name="        else:">
            <a:extLst xmlns:a="http://schemas.openxmlformats.org/drawingml/2006/main">
              <a:ext uri="{FF2B5EF4-FFF2-40B4-BE49-F238E27FC236}">
                <a16:creationId xmlns:a16="http://schemas.microsoft.com/office/drawing/2014/main" id="{57059C57-5908-47AD-AE05-1BAB9FD9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else:</a:t>
            </a:r>
          </a:p>
        </p:txBody>
      </p:sp>
      <p:sp>
        <p:nvSpPr>
          <p:cNvPr id="12" name="            self.second = card">
            <a:extLst xmlns:a="http://schemas.openxmlformats.org/drawingml/2006/main">
              <a:ext uri="{FF2B5EF4-FFF2-40B4-BE49-F238E27FC236}">
                <a16:creationId xmlns:a16="http://schemas.microsoft.com/office/drawing/2014/main" id="{F2EEB445-9168-49B2-BAB0-E9DCA5E6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self.second = card</a:t>
            </a:r>
          </a:p>
        </p:txBody>
      </p:sp>
      <p:sp>
        <p:nvSpPr>
          <p:cNvPr id="13" name="            self.phase = 'compare'">
            <a:extLst xmlns:a="http://schemas.openxmlformats.org/drawingml/2006/main">
              <a:ext uri="{FF2B5EF4-FFF2-40B4-BE49-F238E27FC236}">
                <a16:creationId xmlns:a16="http://schemas.microsoft.com/office/drawing/2014/main" id="{EC6C62D7-55A8-49EA-9722-24DE4F97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self.phase = 'compare'</a:t>
            </a:r>
          </a:p>
        </p:txBody>
      </p:sp>
      <p:sp>
        <p:nvSpPr>
          <p:cNvPr id="14" name="        return True">
            <a:extLst xmlns:a="http://schemas.openxmlformats.org/drawingml/2006/main">
              <a:ext uri="{FF2B5EF4-FFF2-40B4-BE49-F238E27FC236}">
                <a16:creationId xmlns:a16="http://schemas.microsoft.com/office/drawing/2014/main" id="{BA527305-D12F-4004-9955-3CD1A987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 True</a:t>
            </a:r>
          </a:p>
        </p:txBody>
      </p:sp>
      <p:sp>
        <p:nvSpPr>
          <p:cNvPr id="15" name="first・second は既存の Card への参照です。">
            <a:extLst xmlns:a="http://schemas.openxmlformats.org/drawingml/2006/main">
              <a:ext uri="{FF2B5EF4-FFF2-40B4-BE49-F238E27FC236}">
                <a16:creationId xmlns:a16="http://schemas.microsoft.com/office/drawing/2014/main" id="{156A8608-4291-450B-A83D-4D3441ED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first・second は既存の Card への参照です。</a:t>
            </a:r>
          </a:p>
        </p:txBody>
      </p:sp>
      <p:sp>
        <p:nvSpPr>
          <p:cNvPr id="16" name="一回の step() で一段階だけ進みます。">
            <a:extLst xmlns:a="http://schemas.openxmlformats.org/drawingml/2006/main">
              <a:ext uri="{FF2B5EF4-FFF2-40B4-BE49-F238E27FC236}">
                <a16:creationId xmlns:a16="http://schemas.microsoft.com/office/drawing/2014/main" id="{544CE777-4D0D-4DED-A09A-FB650088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一回の step() で一段階だけ進みます。</a:t>
            </a:r>
          </a:p>
        </p:txBody>
      </p:sp>
      <p:sp>
        <p:nvSpPr>
          <p:cNvPr id="17" name="model.py">
            <a:extLst xmlns:a="http://schemas.openxmlformats.org/drawingml/2006/main">
              <a:ext uri="{FF2B5EF4-FFF2-40B4-BE49-F238E27FC236}">
                <a16:creationId xmlns:a16="http://schemas.microsoft.com/office/drawing/2014/main" id="{D2BB68A4-12B7-45B8-9143-55B49F7B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8" name="11">
            <a:extLst xmlns:a="http://schemas.openxmlformats.org/drawingml/2006/main">
              <a:ext uri="{FF2B5EF4-FFF2-40B4-BE49-F238E27FC236}">
                <a16:creationId xmlns:a16="http://schemas.microsoft.com/office/drawing/2014/main" id="{6A3CE025-AB00-4F42-8BC2-74FA3944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04831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比較：pair_id の一致">
            <a:extLst xmlns:a="http://schemas.openxmlformats.org/drawingml/2006/main">
              <a:ext uri="{FF2B5EF4-FFF2-40B4-BE49-F238E27FC236}">
                <a16:creationId xmlns:a16="http://schemas.microsoft.com/office/drawing/2014/main" id="{F06C9816-7AA4-456D-8EDE-B0E859DA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比較：pair_id の一致</a:t>
            </a:r>
          </a:p>
        </p:txBody>
      </p:sp>
      <p:sp>
        <p:nvSpPr>
          <p:cNvPr id="2" name="model.py · Game.compare">
            <a:extLst xmlns:a="http://schemas.openxmlformats.org/drawingml/2006/main">
              <a:ext uri="{FF2B5EF4-FFF2-40B4-BE49-F238E27FC236}">
                <a16:creationId xmlns:a16="http://schemas.microsoft.com/office/drawing/2014/main" id="{FDB9DEDA-57FF-4CF6-A8E3-BA69C5C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model.py · Game.compare</a:t>
            </a:r>
          </a:p>
        </p:txBody>
      </p:sp>
      <p:sp>
        <p:nvSpPr>
          <p:cNvPr id="3" name="def compare(self):">
            <a:extLst xmlns:a="http://schemas.openxmlformats.org/drawingml/2006/main">
              <a:ext uri="{FF2B5EF4-FFF2-40B4-BE49-F238E27FC236}">
                <a16:creationId xmlns:a16="http://schemas.microsoft.com/office/drawing/2014/main" id="{DCD8846F-1D53-4437-A414-B953CD7A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compare(self):</a:t>
            </a:r>
          </a:p>
        </p:txBody>
      </p:sp>
      <p:sp>
        <p:nvSpPr>
          <p:cNvPr id="4" name="    if self.phase != 'compar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ECC36097-95F0-42ED-A402-AA8D864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'compare'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19B44BB5-9CC1-47AC-ACA8-43441111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self.result = self.first.pair_id == self.second.pair_id">
            <a:extLst xmlns:a="http://schemas.openxmlformats.org/drawingml/2006/main">
              <a:ext uri="{FF2B5EF4-FFF2-40B4-BE49-F238E27FC236}">
                <a16:creationId xmlns:a16="http://schemas.microsoft.com/office/drawing/2014/main" id="{739D3453-AAC8-4CA1-A763-6CCC6774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self.first.pair_id == self.second.pair_id</a:t>
            </a:r>
          </a:p>
        </p:txBody>
      </p:sp>
      <p:sp>
        <p:nvSpPr>
          <p:cNvPr id="7" name="    self.turns += 1">
            <a:extLst xmlns:a="http://schemas.openxmlformats.org/drawingml/2006/main">
              <a:ext uri="{FF2B5EF4-FFF2-40B4-BE49-F238E27FC236}">
                <a16:creationId xmlns:a16="http://schemas.microsoft.com/office/drawing/2014/main" id="{E38B87B5-55C1-4D5E-8682-A6820EA66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self.turns += 1</a:t>
            </a:r>
          </a:p>
        </p:txBody>
      </p:sp>
      <p:sp>
        <p:nvSpPr>
          <p:cNvPr id="8" name="    self.phase = 'resolve'">
            <a:extLst xmlns:a="http://schemas.openxmlformats.org/drawingml/2006/main">
              <a:ext uri="{FF2B5EF4-FFF2-40B4-BE49-F238E27FC236}">
                <a16:creationId xmlns:a16="http://schemas.microsoft.com/office/drawing/2014/main" id="{577BB9C7-483D-4E2E-AF33-3E98F1AE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'resolve'</a:t>
            </a:r>
          </a:p>
        </p:txBody>
      </p:sp>
      <p:sp>
        <p:nvSpPr>
          <p:cNvPr id="9" name="絵の値を比較して、比較回数を 1 増やします。">
            <a:extLst xmlns:a="http://schemas.openxmlformats.org/drawingml/2006/main">
              <a:ext uri="{FF2B5EF4-FFF2-40B4-BE49-F238E27FC236}">
                <a16:creationId xmlns:a16="http://schemas.microsoft.com/office/drawing/2014/main" id="{DC10F2A8-0D42-4E8A-8B05-D0F5F2DF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絵の値を比較して、比較回数を 1 増やします。</a:t>
            </a:r>
          </a:p>
        </p:txBody>
      </p:sp>
      <p:sp>
        <p:nvSpPr>
          <p:cNvPr id="10" name="確定するまで matched は False のままです。">
            <a:extLst xmlns:a="http://schemas.openxmlformats.org/drawingml/2006/main">
              <a:ext uri="{FF2B5EF4-FFF2-40B4-BE49-F238E27FC236}">
                <a16:creationId xmlns:a16="http://schemas.microsoft.com/office/drawing/2014/main" id="{B7261022-A072-4AD1-89E7-BCF3937C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確定するまで matched は False のままです。</a:t>
            </a:r>
          </a:p>
        </p:txBody>
      </p:sp>
      <p:sp>
        <p:nvSpPr>
          <p:cNvPr id="11" name="model.py">
            <a:extLst xmlns:a="http://schemas.openxmlformats.org/drawingml/2006/main">
              <a:ext uri="{FF2B5EF4-FFF2-40B4-BE49-F238E27FC236}">
                <a16:creationId xmlns:a16="http://schemas.microsoft.com/office/drawing/2014/main" id="{B3358049-35FF-44A4-934B-E4AD9A5A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2" name="12">
            <a:extLst xmlns:a="http://schemas.openxmlformats.org/drawingml/2006/main">
              <a:ext uri="{FF2B5EF4-FFF2-40B4-BE49-F238E27FC236}">
                <a16:creationId xmlns:a16="http://schemas.microsoft.com/office/drawing/2014/main" id="{629C6803-BF6D-416B-B572-7D0640B8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44981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確定：表のまま残すか裏返す">
            <a:extLst xmlns:a="http://schemas.openxmlformats.org/drawingml/2006/main">
              <a:ext uri="{FF2B5EF4-FFF2-40B4-BE49-F238E27FC236}">
                <a16:creationId xmlns:a16="http://schemas.microsoft.com/office/drawing/2014/main" id="{3BE2B142-61B0-48DD-ACB4-552828D8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確定：表のまま残すか裏返す</a:t>
            </a:r>
          </a:p>
        </p:txBody>
      </p:sp>
      <p:sp>
        <p:nvSpPr>
          <p:cNvPr id="2" name="model.py · Game.settle">
            <a:extLst xmlns:a="http://schemas.openxmlformats.org/drawingml/2006/main">
              <a:ext uri="{FF2B5EF4-FFF2-40B4-BE49-F238E27FC236}">
                <a16:creationId xmlns:a16="http://schemas.microsoft.com/office/drawing/2014/main" id="{70772242-83FB-476D-AC44-7A33AF0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model.py · Game.settle</a:t>
            </a:r>
          </a:p>
        </p:txBody>
      </p:sp>
      <p:sp>
        <p:nvSpPr>
          <p:cNvPr id="3" name="def settle(self):">
            <a:extLst xmlns:a="http://schemas.openxmlformats.org/drawingml/2006/main">
              <a:ext uri="{FF2B5EF4-FFF2-40B4-BE49-F238E27FC236}">
                <a16:creationId xmlns:a16="http://schemas.microsoft.com/office/drawing/2014/main" id="{69694556-69A8-4872-AEC8-C94A1002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settle(self):</a:t>
            </a:r>
          </a:p>
        </p:txBody>
      </p:sp>
      <p:sp>
        <p:nvSpPr>
          <p:cNvPr id="4" name="    if self.phase != 'resolve' or not (self.first and self.second):">
            <a:extLst xmlns:a="http://schemas.openxmlformats.org/drawingml/2006/main">
              <a:ext uri="{FF2B5EF4-FFF2-40B4-BE49-F238E27FC236}">
                <a16:creationId xmlns:a16="http://schemas.microsoft.com/office/drawing/2014/main" id="{AA707DB3-F700-41BC-8092-D7EECC00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self.phase != 'resolve' or not (self.first and self.second):</a:t>
            </a:r>
          </a:p>
        </p:txBody>
      </p:sp>
      <p:sp>
        <p:nvSpPr>
          <p:cNvPr id="5" name="        return">
            <a:extLst xmlns:a="http://schemas.openxmlformats.org/drawingml/2006/main">
              <a:ext uri="{FF2B5EF4-FFF2-40B4-BE49-F238E27FC236}">
                <a16:creationId xmlns:a16="http://schemas.microsoft.com/office/drawing/2014/main" id="{82B17753-61EB-4BDF-85AB-033EF910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return</a:t>
            </a:r>
          </a:p>
        </p:txBody>
      </p:sp>
      <p:sp>
        <p:nvSpPr>
          <p:cNvPr id="6" name="    if self.result:">
            <a:extLst xmlns:a="http://schemas.openxmlformats.org/drawingml/2006/main">
              <a:ext uri="{FF2B5EF4-FFF2-40B4-BE49-F238E27FC236}">
                <a16:creationId xmlns:a16="http://schemas.microsoft.com/office/drawing/2014/main" id="{6AF651E6-8F43-4BC0-9259-06390E2F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self.result:</a:t>
            </a:r>
          </a:p>
        </p:txBody>
      </p:sp>
      <p:sp>
        <p:nvSpPr>
          <p:cNvPr id="7" name="        self.first.mark_matched()">
            <a:extLst xmlns:a="http://schemas.openxmlformats.org/drawingml/2006/main">
              <a:ext uri="{FF2B5EF4-FFF2-40B4-BE49-F238E27FC236}">
                <a16:creationId xmlns:a16="http://schemas.microsoft.com/office/drawing/2014/main" id="{D70F36C8-85AB-48AF-99EE-07506982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self.first.mark_matched()</a:t>
            </a:r>
          </a:p>
        </p:txBody>
      </p:sp>
      <p:sp>
        <p:nvSpPr>
          <p:cNvPr id="8" name="        self.second.mark_matched()">
            <a:extLst xmlns:a="http://schemas.openxmlformats.org/drawingml/2006/main">
              <a:ext uri="{FF2B5EF4-FFF2-40B4-BE49-F238E27FC236}">
                <a16:creationId xmlns:a16="http://schemas.microsoft.com/office/drawing/2014/main" id="{4BCD5466-7DCF-40F4-AEC3-E0B1C27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self.second.mark_matched()</a:t>
            </a:r>
          </a:p>
        </p:txBody>
      </p:sp>
      <p:sp>
        <p:nvSpPr>
          <p:cNvPr id="9" name="        self.matches += 1">
            <a:extLst xmlns:a="http://schemas.openxmlformats.org/drawingml/2006/main">
              <a:ext uri="{FF2B5EF4-FFF2-40B4-BE49-F238E27FC236}">
                <a16:creationId xmlns:a16="http://schemas.microsoft.com/office/drawing/2014/main" id="{4BBF0FE0-7459-4055-B7F7-B17DFBCE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self.matches += 1</a:t>
            </a:r>
          </a:p>
        </p:txBody>
      </p:sp>
      <p:sp>
        <p:nvSpPr>
          <p:cNvPr id="10" name="    else:">
            <a:extLst xmlns:a="http://schemas.openxmlformats.org/drawingml/2006/main">
              <a:ext uri="{FF2B5EF4-FFF2-40B4-BE49-F238E27FC236}">
                <a16:creationId xmlns:a16="http://schemas.microsoft.com/office/drawing/2014/main" id="{2B3B13FE-63A9-4D8E-9AA4-8FB26094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1" name="        self.first.hide()">
            <a:extLst xmlns:a="http://schemas.openxmlformats.org/drawingml/2006/main">
              <a:ext uri="{FF2B5EF4-FFF2-40B4-BE49-F238E27FC236}">
                <a16:creationId xmlns:a16="http://schemas.microsoft.com/office/drawing/2014/main" id="{C3A18132-9F1E-44B7-B3B8-DB7DF62B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self.first.hide()</a:t>
            </a:r>
          </a:p>
        </p:txBody>
      </p:sp>
      <p:sp>
        <p:nvSpPr>
          <p:cNvPr id="12" name="        self.second.hide()">
            <a:extLst xmlns:a="http://schemas.openxmlformats.org/drawingml/2006/main">
              <a:ext uri="{FF2B5EF4-FFF2-40B4-BE49-F238E27FC236}">
                <a16:creationId xmlns:a16="http://schemas.microsoft.com/office/drawing/2014/main" id="{681FB27A-1475-4679-8327-A6707818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self.second.hide()</a:t>
            </a:r>
          </a:p>
        </p:txBody>
      </p:sp>
      <p:sp>
        <p:nvSpPr>
          <p:cNvPr id="13" name="    self.first = self.second = None">
            <a:extLst xmlns:a="http://schemas.openxmlformats.org/drawingml/2006/main">
              <a:ext uri="{FF2B5EF4-FFF2-40B4-BE49-F238E27FC236}">
                <a16:creationId xmlns:a16="http://schemas.microsoft.com/office/drawing/2014/main" id="{35E02DBB-03F2-4753-B9CE-210949C8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self.first = self.second = None</a:t>
            </a:r>
          </a:p>
        </p:txBody>
      </p:sp>
      <p:sp>
        <p:nvSpPr>
          <p:cNvPr id="14" name="    self.result = None">
            <a:extLst xmlns:a="http://schemas.openxmlformats.org/drawingml/2006/main">
              <a:ext uri="{FF2B5EF4-FFF2-40B4-BE49-F238E27FC236}">
                <a16:creationId xmlns:a16="http://schemas.microsoft.com/office/drawing/2014/main" id="{F4684480-9111-4747-BD5A-9746C853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self.result = None</a:t>
            </a:r>
          </a:p>
        </p:txBody>
      </p:sp>
      <p:sp>
        <p:nvSpPr>
          <p:cNvPr id="15" name="    self.phase = 'won' if self.board.complete else 'first'">
            <a:extLst xmlns:a="http://schemas.openxmlformats.org/drawingml/2006/main">
              <a:ext uri="{FF2B5EF4-FFF2-40B4-BE49-F238E27FC236}">
                <a16:creationId xmlns:a16="http://schemas.microsoft.com/office/drawing/2014/main" id="{50FFDD11-B2F8-408F-9357-993A0668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self.phase = 'won' if self.board.complete else 'first'</a:t>
            </a:r>
          </a:p>
        </p:txBody>
      </p:sp>
      <p:sp>
        <p:nvSpPr>
          <p:cNvPr id="16" name="同じ絵は一致済みに、違う絵は hide() で裏返します。">
            <a:extLst xmlns:a="http://schemas.openxmlformats.org/drawingml/2006/main">
              <a:ext uri="{FF2B5EF4-FFF2-40B4-BE49-F238E27FC236}">
                <a16:creationId xmlns:a16="http://schemas.microsoft.com/office/drawing/2014/main" id="{4A6FC6B8-3B83-4A21-B4F1-8AD3ACF7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同じ絵は一致済みに、違う絵は hide() で裏返します。</a:t>
            </a:r>
          </a:p>
        </p:txBody>
      </p:sp>
      <p:sp>
        <p:nvSpPr>
          <p:cNvPr id="17" name="一時参照を消しても、Board がカードを保持しています。">
            <a:extLst xmlns:a="http://schemas.openxmlformats.org/drawingml/2006/main">
              <a:ext uri="{FF2B5EF4-FFF2-40B4-BE49-F238E27FC236}">
                <a16:creationId xmlns:a16="http://schemas.microsoft.com/office/drawing/2014/main" id="{27DB5DAC-72DE-4A7F-A0C4-4783642A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一時参照を消しても、Board がカードを保持しています。</a:t>
            </a:r>
          </a:p>
        </p:txBody>
      </p:sp>
      <p:sp>
        <p:nvSpPr>
          <p:cNvPr id="18" name="model.py">
            <a:extLst xmlns:a="http://schemas.openxmlformats.org/drawingml/2006/main">
              <a:ext uri="{FF2B5EF4-FFF2-40B4-BE49-F238E27FC236}">
                <a16:creationId xmlns:a16="http://schemas.microsoft.com/office/drawing/2014/main" id="{F67B9447-66EE-4FB1-A78B-02BFB747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9" name="13">
            <a:extLst xmlns:a="http://schemas.openxmlformats.org/drawingml/2006/main">
              <a:ext uri="{FF2B5EF4-FFF2-40B4-BE49-F238E27FC236}">
                <a16:creationId xmlns:a16="http://schemas.microsoft.com/office/drawing/2014/main" id="{D1D77E78-7621-4300-A6AF-C2650B008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7499132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一致の例：C01 と C02">
            <a:extLst xmlns:a="http://schemas.openxmlformats.org/drawingml/2006/main">
              <a:ext uri="{FF2B5EF4-FFF2-40B4-BE49-F238E27FC236}">
                <a16:creationId xmlns:a16="http://schemas.microsoft.com/office/drawing/2014/main" id="{5AD464E4-CC6B-486C-B228-64571FCB1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一致の例：C01 と C02</a:t>
            </a:r>
          </a:p>
        </p:txBody>
      </p:sp>
      <p:sp>
        <p:nvSpPr>
          <p:cNvPr id="2" name="「一致」の例を読み込み、選択と N で進める">
            <a:extLst xmlns:a="http://schemas.openxmlformats.org/drawingml/2006/main">
              <a:ext uri="{FF2B5EF4-FFF2-40B4-BE49-F238E27FC236}">
                <a16:creationId xmlns:a16="http://schemas.microsoft.com/office/drawing/2014/main" id="{72BFDAC3-6309-4ACB-AB57-D221334E7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「一致」の例を読み込み、選択と N で進める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6BDE9-F152-4DEA-9832-72F1AA71C743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C01 を選び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second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first → C01、face_up = True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C02 を選び 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second → C02、二枚が表向き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N：比較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result = True、turns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N：確定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matched = True、matches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選択は待機させるだけ。N を押すたび一段階進みます。">
            <a:extLst xmlns:a="http://schemas.openxmlformats.org/drawingml/2006/main">
              <a:ext uri="{FF2B5EF4-FFF2-40B4-BE49-F238E27FC236}">
                <a16:creationId xmlns:a16="http://schemas.microsoft.com/office/drawing/2014/main" id="{D587EB68-331E-4EF4-AC6D-7A65140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選択は待機させるだけ。N を押すたび一段階進みます。</a:t>
            </a:r>
          </a:p>
        </p:txBody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4B0C1969-E715-4A31-83E1-D9712F2B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61985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不一致の例：C03 と C04">
            <a:extLst xmlns:a="http://schemas.openxmlformats.org/drawingml/2006/main">
              <a:ext uri="{FF2B5EF4-FFF2-40B4-BE49-F238E27FC236}">
                <a16:creationId xmlns:a16="http://schemas.microsoft.com/office/drawing/2014/main" id="{00969220-8908-41A0-8834-16207BEA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不一致の例：C03 と C04</a:t>
            </a:r>
          </a:p>
        </p:txBody>
      </p:sp>
      <p:sp>
        <p:nvSpPr>
          <p:cNvPr id="2" name="「不一致」の例を読み込み、leaf と sun を比較">
            <a:extLst xmlns:a="http://schemas.openxmlformats.org/drawingml/2006/main">
              <a:ext uri="{FF2B5EF4-FFF2-40B4-BE49-F238E27FC236}">
                <a16:creationId xmlns:a16="http://schemas.microsoft.com/office/drawing/2014/main" id="{D70A5492-93A6-44D7-A428-34791959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「不一致」の例を読み込み、leaf と sun を比較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303CF-D9ED-43FF-99DF-133A82FD74F5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905000"/>
                <a:gridCol w="542925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phase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C03、N；C04、N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compare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leaf と sun が表向き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N：比較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resolve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result = False、turns =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N：確定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両方の face_up = False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Board.cards を確認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first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元の実体を保持、matches =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裏返すのは元の Card。新しいカードは作りません。">
            <a:extLst xmlns:a="http://schemas.openxmlformats.org/drawingml/2006/main">
              <a:ext uri="{FF2B5EF4-FFF2-40B4-BE49-F238E27FC236}">
                <a16:creationId xmlns:a16="http://schemas.microsoft.com/office/drawing/2014/main" id="{A6649318-C76E-4157-8821-35C2D6A2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裏返すのは元の Card。新しいカードは作りません。</a:t>
            </a:r>
          </a:p>
        </p:txBody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931E9406-5C67-40A0-BAD6-080824B2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976332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参照・リセット・同一性">
            <a:extLst xmlns:a="http://schemas.openxmlformats.org/drawingml/2006/main">
              <a:ext uri="{FF2B5EF4-FFF2-40B4-BE49-F238E27FC236}">
                <a16:creationId xmlns:a16="http://schemas.microsoft.com/office/drawing/2014/main" id="{F8C75040-5A9B-4353-8F5C-1BB83404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参照・リセット・同一性</a:t>
            </a:r>
          </a:p>
        </p:txBody>
      </p:sp>
      <p:sp>
        <p:nvSpPr>
          <p:cNvPr id="2" name="Python の is でオブジェクトの同一性を確認">
            <a:extLst xmlns:a="http://schemas.openxmlformats.org/drawingml/2006/main">
              <a:ext uri="{FF2B5EF4-FFF2-40B4-BE49-F238E27FC236}">
                <a16:creationId xmlns:a16="http://schemas.microsoft.com/office/drawing/2014/main" id="{3062C465-9EC6-45B5-A95D-E90F1F09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の is でオブジェクトの同一性を確認</a:t>
            </a:r>
          </a:p>
        </p:txBody>
      </p:sp>
      <p:sp>
        <p:nvSpPr>
          <p:cNvPr id="3" name="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CA2A221A-BB1F-406B-8B5D-7602AE5D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 = Game(sample=True)</a:t>
            </a:r>
          </a:p>
        </p:txBody>
      </p:sp>
      <p:sp>
        <p:nvSpPr>
          <p:cNvPr id="4" name="game.play('C01')">
            <a:extLst xmlns:a="http://schemas.openxmlformats.org/drawingml/2006/main">
              <a:ext uri="{FF2B5EF4-FFF2-40B4-BE49-F238E27FC236}">
                <a16:creationId xmlns:a16="http://schemas.microsoft.com/office/drawing/2014/main" id="{207DB3DC-9EFC-4E7F-8DB8-8BE5718BA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game.play('C01')</a:t>
            </a:r>
          </a:p>
        </p:txBody>
      </p:sp>
      <p:sp>
        <p:nvSpPr>
          <p:cNvPr id="5" name="card = game.first">
            <a:extLst xmlns:a="http://schemas.openxmlformats.org/drawingml/2006/main">
              <a:ext uri="{FF2B5EF4-FFF2-40B4-BE49-F238E27FC236}">
                <a16:creationId xmlns:a16="http://schemas.microsoft.com/office/drawing/2014/main" id="{BA03EF93-D021-43FA-9278-EDE5C128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card = game.first</a:t>
            </a:r>
          </a:p>
        </p:txBody>
      </p:sp>
      <p:sp>
        <p:nvSpPr>
          <p:cNvPr id="6" name="print(card is game.board.cards[0])  # True">
            <a:extLst xmlns:a="http://schemas.openxmlformats.org/drawingml/2006/main">
              <a:ext uri="{FF2B5EF4-FFF2-40B4-BE49-F238E27FC236}">
                <a16:creationId xmlns:a16="http://schemas.microsoft.com/office/drawing/2014/main" id="{E10F16CA-4625-4076-92E5-3214804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game.board.cards[0])  # True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CE268-A2FE-4F88-A2D3-B1C13CC8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new_game = Game(sample=True)">
            <a:extLst xmlns:a="http://schemas.openxmlformats.org/drawingml/2006/main">
              <a:ext uri="{FF2B5EF4-FFF2-40B4-BE49-F238E27FC236}">
                <a16:creationId xmlns:a16="http://schemas.microsoft.com/office/drawing/2014/main" id="{C7B36176-E938-4839-BEEB-9A4A9640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new_game = Game(sample=True)</a:t>
            </a:r>
          </a:p>
        </p:txBody>
      </p:sp>
      <p:sp>
        <p:nvSpPr>
          <p:cNvPr id="9" name="print(card is new_game.board.cards[0])  # False">
            <a:extLst xmlns:a="http://schemas.openxmlformats.org/drawingml/2006/main">
              <a:ext uri="{FF2B5EF4-FFF2-40B4-BE49-F238E27FC236}">
                <a16:creationId xmlns:a16="http://schemas.microsoft.com/office/drawing/2014/main" id="{D9561342-AAE5-414F-B91D-A291054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 is new_game.board.cards[0])  # False</a:t>
            </a:r>
          </a:p>
        </p:txBody>
      </p:sp>
      <p:sp>
        <p:nvSpPr>
          <p:cNvPr id="10" name="print(card.face_up)                    # True">
            <a:extLst xmlns:a="http://schemas.openxmlformats.org/drawingml/2006/main">
              <a:ext uri="{FF2B5EF4-FFF2-40B4-BE49-F238E27FC236}">
                <a16:creationId xmlns:a16="http://schemas.microsoft.com/office/drawing/2014/main" id="{8E967189-2534-4C99-8527-306AF692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print(card.face_up)                    # True</a:t>
            </a:r>
          </a:p>
        </p:txBody>
      </p:sp>
      <p:sp>
        <p:nvSpPr>
          <p:cNvPr id="11" name="新しいゲームは Board と Card を新しく生成します。">
            <a:extLst xmlns:a="http://schemas.openxmlformats.org/drawingml/2006/main">
              <a:ext uri="{FF2B5EF4-FFF2-40B4-BE49-F238E27FC236}">
                <a16:creationId xmlns:a16="http://schemas.microsoft.com/office/drawing/2014/main" id="{62C4130E-140B-4CBD-9206-FD47407E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新しいゲームは Board と Card を新しく生成します。</a:t>
            </a:r>
          </a:p>
        </p:txBody>
      </p:sp>
      <p:sp>
        <p:nvSpPr>
          <p:cNvPr id="12" name="変数 card は前のゲームの実体を引き続き参照できます。">
            <a:extLst xmlns:a="http://schemas.openxmlformats.org/drawingml/2006/main">
              <a:ext uri="{FF2B5EF4-FFF2-40B4-BE49-F238E27FC236}">
                <a16:creationId xmlns:a16="http://schemas.microsoft.com/office/drawing/2014/main" id="{55DD2CAA-163C-4ED6-8348-DE44E128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変数 card は前のゲームの実体を引き続き参照できます。</a:t>
            </a:r>
          </a:p>
        </p:txBody>
      </p:sp>
      <p:sp>
        <p:nvSpPr>
          <p:cNvPr id="13" name="model.py">
            <a:extLst xmlns:a="http://schemas.openxmlformats.org/drawingml/2006/main">
              <a:ext uri="{FF2B5EF4-FFF2-40B4-BE49-F238E27FC236}">
                <a16:creationId xmlns:a16="http://schemas.microsoft.com/office/drawing/2014/main" id="{8C1527DB-DB6A-490F-A698-C3875817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model.py</a:t>
            </a:r>
          </a:p>
        </p:txBody>
      </p:sp>
      <p:sp>
        <p:nvSpPr>
          <p:cNvPr id="14" name="16">
            <a:extLst xmlns:a="http://schemas.openxmlformats.org/drawingml/2006/main">
              <a:ext uri="{FF2B5EF4-FFF2-40B4-BE49-F238E27FC236}">
                <a16:creationId xmlns:a16="http://schemas.microsoft.com/office/drawing/2014/main" id="{9AA19E5F-116C-4C38-B1D4-2AD91A89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444378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ython サンプルの実行">
            <a:extLst xmlns:a="http://schemas.openxmlformats.org/drawingml/2006/main">
              <a:ext uri="{FF2B5EF4-FFF2-40B4-BE49-F238E27FC236}">
                <a16:creationId xmlns:a16="http://schemas.microsoft.com/office/drawing/2014/main" id="{3A93E072-19EE-4F9D-BCC5-84F5B95A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Python サンプルの実行</a:t>
            </a:r>
          </a:p>
        </p:txBody>
      </p:sp>
      <p:sp>
        <p:nvSpPr>
          <p:cNvPr id="2" name="Python 3.12 以降。追加パッケージ不要。">
            <a:extLst xmlns:a="http://schemas.openxmlformats.org/drawingml/2006/main">
              <a:ext uri="{FF2B5EF4-FFF2-40B4-BE49-F238E27FC236}">
                <a16:creationId xmlns:a16="http://schemas.microsoft.com/office/drawing/2014/main" id="{908AD7B0-22A3-47CD-8ABF-2ED65880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3.12 以降。追加パッケージ不要。</a:t>
            </a:r>
          </a:p>
        </p:txBody>
      </p:sp>
      <p:sp>
        <p:nvSpPr>
          <p:cNvPr id="3" name="python main.py --lang ja --sample">
            <a:extLst xmlns:a="http://schemas.openxmlformats.org/drawingml/2006/main">
              <a:ext uri="{FF2B5EF4-FFF2-40B4-BE49-F238E27FC236}">
                <a16:creationId xmlns:a16="http://schemas.microsoft.com/office/drawing/2014/main" id="{92023A23-F0D2-40F6-91D6-31125711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main.py --lang ja --sample</a:t>
            </a:r>
          </a:p>
        </p:txBody>
      </p:sp>
      <p:sp>
        <p:nvSpPr>
          <p:cNvPr id="4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7D20ABA9-398E-4326-92F0-E99CA7C9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5" name="展開した memory_oop フォルダーでターミナルを開きます。">
            <a:extLst xmlns:a="http://schemas.openxmlformats.org/drawingml/2006/main">
              <a:ext uri="{FF2B5EF4-FFF2-40B4-BE49-F238E27FC236}">
                <a16:creationId xmlns:a16="http://schemas.microsoft.com/office/drawing/2014/main" id="{FA7DC254-8EBD-4990-A18E-39ECF4DA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展開した memory_oop フォルダーでターミナルを開きます。</a:t>
            </a:r>
          </a:p>
        </p:txBody>
      </p:sp>
      <p:sp>
        <p:nvSpPr>
          <p:cNvPr id="6" name="コマンド：pick C01、step、inspect C01、confirm、sample、quit。">
            <a:extLst xmlns:a="http://schemas.openxmlformats.org/drawingml/2006/main">
              <a:ext uri="{FF2B5EF4-FFF2-40B4-BE49-F238E27FC236}">
                <a16:creationId xmlns:a16="http://schemas.microsoft.com/office/drawing/2014/main" id="{3268BA8E-F114-41ED-9A76-69EA2D72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コマンド：pick C01、step、inspect C01、confirm、sample、quit。</a:t>
            </a:r>
          </a:p>
        </p:txBody>
      </p:sp>
      <p:sp>
        <p:nvSpPr>
          <p:cNvPr id="7" name="Terminal / PowerShell">
            <a:extLst xmlns:a="http://schemas.openxmlformats.org/drawingml/2006/main">
              <a:ext uri="{FF2B5EF4-FFF2-40B4-BE49-F238E27FC236}">
                <a16:creationId xmlns:a16="http://schemas.microsoft.com/office/drawing/2014/main" id="{7BE516D0-E80F-4AC6-84B3-F532DF6F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 / PowerShell</a:t>
            </a:r>
          </a:p>
        </p:txBody>
      </p:sp>
      <p:sp>
        <p:nvSpPr>
          <p:cNvPr id="8" name="17">
            <a:extLst xmlns:a="http://schemas.openxmlformats.org/drawingml/2006/main">
              <a:ext uri="{FF2B5EF4-FFF2-40B4-BE49-F238E27FC236}">
                <a16:creationId xmlns:a16="http://schemas.microsoft.com/office/drawing/2014/main" id="{F6676886-F168-43AA-A4BC-2922B630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8336773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演習と参考資料">
            <a:extLst xmlns:a="http://schemas.openxmlformats.org/drawingml/2006/main">
              <a:ext uri="{FF2B5EF4-FFF2-40B4-BE49-F238E27FC236}">
                <a16:creationId xmlns:a16="http://schemas.microsoft.com/office/drawing/2014/main" id="{EE523E99-40BC-401D-8132-5F156927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演習と参考資料</a:t>
            </a:r>
          </a:p>
        </p:txBody>
      </p:sp>
      <p:sp>
        <p:nvSpPr>
          <p:cNvPr id="2" name="観察できる状態でルールを確認">
            <a:extLst xmlns:a="http://schemas.openxmlformats.org/drawingml/2006/main">
              <a:ext uri="{FF2B5EF4-FFF2-40B4-BE49-F238E27FC236}">
                <a16:creationId xmlns:a16="http://schemas.microsoft.com/office/drawing/2014/main" id="{8913B0C0-3329-44C3-B09D-9989BE35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観察できる状態でルールを確認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82AFF8C-09BF-444C-AE45-BDADE15C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一致後に hide() を呼び、表のままであることを確認。">
            <a:extLst xmlns:a="http://schemas.openxmlformats.org/drawingml/2006/main">
              <a:ext uri="{FF2B5EF4-FFF2-40B4-BE49-F238E27FC236}">
                <a16:creationId xmlns:a16="http://schemas.microsoft.com/office/drawing/2014/main" id="{6250CCDF-5523-4825-BCED-E137A351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一致後に hide() を呼び、表のままであることを確認。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19FF7D1-0E6E-435A-9B9B-FAA5EB3B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6" name="card の参照を残して新しいゲームを作り、同一性を比較。">
            <a:extLst xmlns:a="http://schemas.openxmlformats.org/drawingml/2006/main">
              <a:ext uri="{FF2B5EF4-FFF2-40B4-BE49-F238E27FC236}">
                <a16:creationId xmlns:a16="http://schemas.microsoft.com/office/drawing/2014/main" id="{CF60E22F-F355-4E66-B016-3306E287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28950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card の参照を残して新しいゲームを作り、同一性を比較。</a:t>
            </a:r>
          </a:p>
        </p:txBody>
      </p:sp>
      <p:sp>
        <p:nvSpPr>
          <p:cNvPr id="7" name="03">
            <a:extLst xmlns:a="http://schemas.openxmlformats.org/drawingml/2006/main">
              <a:ext uri="{FF2B5EF4-FFF2-40B4-BE49-F238E27FC236}">
                <a16:creationId xmlns:a16="http://schemas.microsoft.com/office/drawing/2014/main" id="{23C67B5A-E460-4790-83D3-6146F63F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05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2475" b="1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8" name="ウェブ版のオブジェクト同一性は ===、Python は is で確認します。">
            <a:extLst xmlns:a="http://schemas.openxmlformats.org/drawingml/2006/main">
              <a:ext uri="{FF2B5EF4-FFF2-40B4-BE49-F238E27FC236}">
                <a16:creationId xmlns:a16="http://schemas.microsoft.com/office/drawing/2014/main" id="{4CF32C4D-71B1-4985-AFD3-5A8DFD40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05275"/>
            <a:ext cx="9858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2100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ウェブ版のオブジェクト同一性は ===、Python は is で確認します。</a:t>
            </a:r>
          </a:p>
        </p:txBody>
      </p:sp>
      <p:sp>
        <p:nvSpPr>
          <p:cNvPr id="9" name="Python · Classes  https://docs.python.org/3.12/tutorial/classes.html">
            <a:extLst xmlns:a="http://schemas.openxmlformats.org/drawingml/2006/main">
              <a:ext uri="{FF2B5EF4-FFF2-40B4-BE49-F238E27FC236}">
                <a16:creationId xmlns:a16="http://schemas.microsoft.com/office/drawing/2014/main" id="{3576A61F-405A-4EA6-81E6-0C8CF163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768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Python · Classes  </a:t>
            </a:r>
            <a:r>
              <a:rPr sz="1500" b="0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515d90f2d2fa497b"/>
              </a:rPr>
              <a:t>https://docs.python.org/3.12/tutorial/classes.html</a:t>
            </a:r>
          </a:p>
        </p:txBody>
      </p:sp>
      <p:sp>
        <p:nvSpPr>
          <p:cNvPr id="10" name="Python · Identity  https://docs.python.org/3.12/reference/expressions.">
            <a:extLst xmlns:a="http://schemas.openxmlformats.org/drawingml/2006/main">
              <a:ext uri="{FF2B5EF4-FFF2-40B4-BE49-F238E27FC236}">
                <a16:creationId xmlns:a16="http://schemas.microsoft.com/office/drawing/2014/main" id="{DF1156C9-FE63-428C-866F-82E011A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245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87C62"/>
                </a:solidFill>
                <a:latin typeface="Yu Gothic"/>
                <a:ea typeface="Yu Gothic"/>
                <a:cs typeface="Yu Gothic"/>
              </a:rPr>
              <a:t>Python · Identity  </a:t>
            </a:r>
            <a:r>
              <a:rPr sz="1500" b="0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ad5655173d1546ad"/>
              </a:rPr>
              <a:t>https://docs.python.org/3.12/reference/expressions.html#is-not</a:t>
            </a:r>
          </a:p>
        </p:txBody>
      </p:sp>
      <p:sp>
        <p:nvSpPr>
          <p:cNvPr id="11" name="18">
            <a:extLst xmlns:a="http://schemas.openxmlformats.org/drawingml/2006/main">
              <a:ext uri="{FF2B5EF4-FFF2-40B4-BE49-F238E27FC236}">
                <a16:creationId xmlns:a16="http://schemas.microsoft.com/office/drawing/2014/main" id="{F3BAB991-0652-46A2-AC99-EF983821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buNone/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8325122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ygame 版のインストールと実行">
            <a:extLst xmlns:a="http://schemas.openxmlformats.org/drawingml/2006/main">
              <a:ext uri="{FF2B5EF4-FFF2-40B4-BE49-F238E27FC236}">
                <a16:creationId xmlns:a16="http://schemas.microsoft.com/office/drawing/2014/main" id="{B97B120D-EEBA-4BDE-84DE-FEFE7CB7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Pygame 版のインストールと実行</a:t>
            </a:r>
          </a:p>
        </p:txBody>
      </p:sp>
      <p:sp>
        <p:nvSpPr>
          <p:cNvPr id="2" name="ZIP を展開し、memory_oop フォルダーでターミナルを開く">
            <a:extLst xmlns:a="http://schemas.openxmlformats.org/drawingml/2006/main">
              <a:ext uri="{FF2B5EF4-FFF2-40B4-BE49-F238E27FC236}">
                <a16:creationId xmlns:a16="http://schemas.microsoft.com/office/drawing/2014/main" id="{2C6C9BBE-2B89-42B5-8772-5EFF02182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ZIP を展開し、memory_oop フォルダーでターミナルを開く</a:t>
            </a:r>
          </a:p>
        </p:txBody>
      </p:sp>
      <p:sp>
        <p:nvSpPr>
          <p:cNvPr id="3" name="python -m pip install -r requirements.txt">
            <a:extLst xmlns:a="http://schemas.openxmlformats.org/drawingml/2006/main">
              <a:ext uri="{FF2B5EF4-FFF2-40B4-BE49-F238E27FC236}">
                <a16:creationId xmlns:a16="http://schemas.microsoft.com/office/drawing/2014/main" id="{BC52D676-2948-4C61-820D-29482A96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pip install -r requirements.txt</a:t>
            </a:r>
          </a:p>
        </p:txBody>
      </p:sp>
      <p:sp>
        <p:nvSpPr>
          <p:cNvPr id="4" name="python pygame_app.py --lang ja">
            <a:extLst xmlns:a="http://schemas.openxmlformats.org/drawingml/2006/main">
              <a:ext uri="{FF2B5EF4-FFF2-40B4-BE49-F238E27FC236}">
                <a16:creationId xmlns:a16="http://schemas.microsoft.com/office/drawing/2014/main" id="{E29153D4-EAF5-4138-99C6-132F3436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pygame_app.py --lang ja</a:t>
            </a:r>
          </a:p>
        </p:txBody>
      </p:sp>
      <p:sp>
        <p:nvSpPr>
          <p:cNvPr id="5" name="python pygame_app.py --lang ja --sample">
            <a:extLst xmlns:a="http://schemas.openxmlformats.org/drawingml/2006/main">
              <a:ext uri="{FF2B5EF4-FFF2-40B4-BE49-F238E27FC236}">
                <a16:creationId xmlns:a16="http://schemas.microsoft.com/office/drawing/2014/main" id="{2C700F19-6DDE-4BFB-B650-BF640BC1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pygame_app.py --lang ja --sample</a:t>
            </a:r>
          </a:p>
        </p:txBody>
      </p:sp>
      <p:sp>
        <p:nvSpPr>
          <p:cNvPr id="6" name="python -m unittest discover -s tests -v">
            <a:extLst xmlns:a="http://schemas.openxmlformats.org/drawingml/2006/main">
              <a:ext uri="{FF2B5EF4-FFF2-40B4-BE49-F238E27FC236}">
                <a16:creationId xmlns:a16="http://schemas.microsoft.com/office/drawing/2014/main" id="{A8F0C091-BC66-4AE3-A036-4D3EEDB5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python -m unittest discover -s tests -v</a:t>
            </a:r>
          </a:p>
        </p:txBody>
      </p:sp>
      <p:sp>
        <p:nvSpPr>
          <p:cNvPr id="7" name="Python 3.12 / Pygame 2.6.1。初回はネット接続が必要。">
            <a:extLst xmlns:a="http://schemas.openxmlformats.org/drawingml/2006/main">
              <a:ext uri="{FF2B5EF4-FFF2-40B4-BE49-F238E27FC236}">
                <a16:creationId xmlns:a16="http://schemas.microsoft.com/office/drawing/2014/main" id="{F0984A04-9FFE-4E7E-8CB4-BCA4785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Python 3.12 / Pygame 2.6.1。初回はネット接続が必要。</a:t>
            </a:r>
          </a:p>
        </p:txBody>
      </p:sp>
      <p:sp>
        <p:nvSpPr>
          <p:cNvPr id="8" name="--sample：固定盤面でコマ送り。導入後はオフライン対応。">
            <a:extLst xmlns:a="http://schemas.openxmlformats.org/drawingml/2006/main">
              <a:ext uri="{FF2B5EF4-FFF2-40B4-BE49-F238E27FC236}">
                <a16:creationId xmlns:a16="http://schemas.microsoft.com/office/drawing/2014/main" id="{26A8A171-89BA-4D07-B830-F2902166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--sample：固定盤面でコマ送り。導入後はオフライン対応。</a:t>
            </a:r>
          </a:p>
        </p:txBody>
      </p:sp>
      <p:sp>
        <p:nvSpPr>
          <p:cNvPr id="9" name="Terminal / PowerShell">
            <a:extLst xmlns:a="http://schemas.openxmlformats.org/drawingml/2006/main">
              <a:ext uri="{FF2B5EF4-FFF2-40B4-BE49-F238E27FC236}">
                <a16:creationId xmlns:a16="http://schemas.microsoft.com/office/drawing/2014/main" id="{12AD90FA-9B2D-457B-87A4-9CD52091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Terminal / PowerShell</a:t>
            </a:r>
          </a:p>
        </p:txBody>
      </p:sp>
      <p:sp>
        <p:nvSpPr>
          <p:cNvPr id="10" name="19">
            <a:extLst xmlns:a="http://schemas.openxmlformats.org/drawingml/2006/main">
              <a:ext uri="{FF2B5EF4-FFF2-40B4-BE49-F238E27FC236}">
                <a16:creationId xmlns:a16="http://schemas.microsoft.com/office/drawing/2014/main" id="{4E33E847-CCD2-4ADC-962E-37AEC6F0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192328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ygame デスクトップ版">
            <a:extLst xmlns:a="http://schemas.openxmlformats.org/drawingml/2006/main">
              <a:ext uri="{FF2B5EF4-FFF2-40B4-BE49-F238E27FC236}">
                <a16:creationId xmlns:a16="http://schemas.microsoft.com/office/drawing/2014/main" id="{EC7CAEC5-80BF-4EAF-A982-5096452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Pygame デスクトップ版</a:t>
            </a:r>
          </a:p>
        </p:txBody>
      </p:sp>
      <p:sp>
        <p:nvSpPr>
          <p:cNvPr id="2" name="同じルールを Python オブジェクトで実行">
            <a:extLst xmlns:a="http://schemas.openxmlformats.org/drawingml/2006/main">
              <a:ext uri="{FF2B5EF4-FFF2-40B4-BE49-F238E27FC236}">
                <a16:creationId xmlns:a16="http://schemas.microsoft.com/office/drawing/2014/main" id="{18BCA863-1F29-4FF2-958D-381A1DF5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同じルールを Python オブジェクトで実行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1516-7D0F-44B4-BF18-E05BC03588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4dc1b566049fe"/>
          <a:stretch xmlns:a="http://schemas.openxmlformats.org/drawingml/2006/main"/>
        </p:blipFill>
        <p:spPr>
          <a:xfrm xmlns:a="http://schemas.openxmlformats.org/drawingml/2006/main">
            <a:off x="571500" y="1764506"/>
            <a:ext cx="7353300" cy="4595813"/>
          </a:xfrm>
          <a:prstGeom xmlns:a="http://schemas.openxmlformats.org/drawingml/2006/main" prst="rect">
            <a:avLst/>
          </a:prstGeom>
        </p:spPr>
      </p:pic>
      <p:sp>
        <p:nvSpPr>
          <p:cNvPr id="4" name="オブジェクト名と参照の観察に対応。">
            <a:extLst xmlns:a="http://schemas.openxmlformats.org/drawingml/2006/main">
              <a:ext uri="{FF2B5EF4-FFF2-40B4-BE49-F238E27FC236}">
                <a16:creationId xmlns:a16="http://schemas.microsoft.com/office/drawing/2014/main" id="{FBB78288-E6FE-4AD6-9190-EF0BF889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8120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オブジェクト名と参照の観察に対応。</a:t>
            </a:r>
          </a:p>
        </p:txBody>
      </p:sp>
      <p:sp>
        <p:nvSpPr>
          <p:cNvPr id="5" name="絵が一致しても、比較と確定は別の段階です。">
            <a:extLst xmlns:a="http://schemas.openxmlformats.org/drawingml/2006/main">
              <a:ext uri="{FF2B5EF4-FFF2-40B4-BE49-F238E27FC236}">
                <a16:creationId xmlns:a16="http://schemas.microsoft.com/office/drawing/2014/main" id="{B36D0A08-BBDA-4EEF-AC2B-DAB27704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62325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絵が一致しても、比較と確定は別の段階です。</a:t>
            </a:r>
          </a:p>
        </p:txBody>
      </p:sp>
      <p:sp>
        <p:nvSpPr>
          <p:cNvPr id="6" name="Pygame / Python サンプルをダウンロード">
            <a:extLst xmlns:a="http://schemas.openxmlformats.org/drawingml/2006/main">
              <a:ext uri="{FF2B5EF4-FFF2-40B4-BE49-F238E27FC236}">
                <a16:creationId xmlns:a16="http://schemas.microsoft.com/office/drawing/2014/main" id="{A59F633F-4E6D-47B6-BD2D-DD57551E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87C62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87C62"/>
                </a:solidFill>
                <a:latin typeface="Yu Gothic"/>
                <a:ea typeface="Yu Gothic"/>
                <a:cs typeface="Yu Gothic"/>
                <a:hlinkClick xmlns:r="http://schemas.openxmlformats.org/officeDocument/2006/relationships" r:id="Rb5bad41a6b674af5"/>
              </a:rPr>
              <a:t>Pygame / Python サンプルをダウンロード</a:t>
            </a:r>
          </a:p>
        </p:txBody>
      </p:sp>
      <p:sp>
        <p:nvSpPr>
          <p:cNvPr id="7" name="20">
            <a:extLst xmlns:a="http://schemas.openxmlformats.org/drawingml/2006/main">
              <a:ext uri="{FF2B5EF4-FFF2-40B4-BE49-F238E27FC236}">
                <a16:creationId xmlns:a16="http://schemas.microsoft.com/office/drawing/2014/main" id="{5E3F53DD-ADA5-4C47-9DFC-407E2B42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71788344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デスクトップ版の操作">
            <a:extLst xmlns:a="http://schemas.openxmlformats.org/drawingml/2006/main">
              <a:ext uri="{FF2B5EF4-FFF2-40B4-BE49-F238E27FC236}">
                <a16:creationId xmlns:a16="http://schemas.microsoft.com/office/drawing/2014/main" id="{94D5EEEB-F1B3-46DA-97A2-E3C78551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デスクトップ版の操作</a:t>
            </a:r>
          </a:p>
        </p:txBody>
      </p:sp>
      <p:sp>
        <p:nvSpPr>
          <p:cNvPr id="2" name="マウスとキーボードに対応。サイズ変更でも状態を保持">
            <a:extLst xmlns:a="http://schemas.openxmlformats.org/drawingml/2006/main">
              <a:ext uri="{FF2B5EF4-FFF2-40B4-BE49-F238E27FC236}">
                <a16:creationId xmlns:a16="http://schemas.microsoft.com/office/drawing/2014/main" id="{AB41E684-2A57-4693-A4F7-AB223A8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マウスとキーボードに対応。サイズ変更でも状態を保持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C5EF1-921F-4895-A311-0C787C60203D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動作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左クリック / Enter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現在のカードを選択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右クリック / 方向キー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めくらずに観察対象を変更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N / 次のステップ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コマ送りで一段階進む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Space / 手番を確定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通常プレイで比較と確定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M / L / R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モード / 名前 / 新しいゲーム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F1 / F2 / 1–3 / Esc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一致例 / 不一致例 / 言語 / 終了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右クリックと方向キーは観察対象だけを変更。言語の切替でも盤面は保持。">
            <a:extLst xmlns:a="http://schemas.openxmlformats.org/drawingml/2006/main">
              <a:ext uri="{FF2B5EF4-FFF2-40B4-BE49-F238E27FC236}">
                <a16:creationId xmlns:a16="http://schemas.microsoft.com/office/drawing/2014/main" id="{2EE94CE0-BD01-4063-A59D-82AA37EC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右クリックと方向キーは観察対象だけを変更。言語の切替でも盤面は保持。</a:t>
            </a:r>
          </a:p>
        </p:txBody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7976FF4E-C651-4B40-A406-04FD60D8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443850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5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ygameApp とモデルの役割">
            <a:extLst xmlns:a="http://schemas.openxmlformats.org/drawingml/2006/main">
              <a:ext uri="{FF2B5EF4-FFF2-40B4-BE49-F238E27FC236}">
                <a16:creationId xmlns:a16="http://schemas.microsoft.com/office/drawing/2014/main" id="{5523FBAE-E603-420B-BD58-8C95391D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172C40"/>
                </a:solidFill>
                <a:latin typeface="Yu Gothic"/>
                <a:ea typeface="Yu Gothic"/>
                <a:cs typeface="Yu Gothic"/>
              </a:rPr>
              <a:t>PygameApp とモデルの役割</a:t>
            </a:r>
          </a:p>
        </p:txBody>
      </p:sp>
      <p:sp>
        <p:nvSpPr>
          <p:cNvPr id="2" name="PygameApp が Game を持ち、既存の Board と Card を利用">
            <a:extLst xmlns:a="http://schemas.openxmlformats.org/drawingml/2006/main">
              <a:ext uri="{FF2B5EF4-FFF2-40B4-BE49-F238E27FC236}">
                <a16:creationId xmlns:a16="http://schemas.microsoft.com/office/drawing/2014/main" id="{7111A3C2-6860-4B00-AEEB-6191590A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PygameApp が Game を持ち、既存の Board と Card を利用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1615-C368-42D4-836E-F04EC38EA6F5}"/>
              </a:ext>
            </a:extLst>
          </p:cNvPr>
          <p:cNvGraphicFramePr/>
          <p:nvPr/>
        </p:nvGraphicFramePr>
        <p:xfrm>
          <a:off xmlns:a="http://schemas.openxmlformats.org/drawingml/2006/main" x="571500" y="178117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7810500"/>
              </a:tblGrid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ファイル・クラス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EDF4FB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T w="9525">
                      <a:solidFill>
                        <a:srgbClr val="CCD6DF"/>
                      </a:solidFill>
                      <a:prstDash val="solid"/>
                    </a:lnT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172C40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model.py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Card・Board・Game：状態と一致のルール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PygameApp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Game を保持し、入力・描画・ウィンドウを管理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pygame_text.py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中英日の画面テキスト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assets/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CD6DF"/>
                      </a:solidFill>
                      <a:prstDash val="solid"/>
                    </a:lnL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 lIns="123825" tIns="66675" rIns="104775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72C40"/>
                          </a:solidFill>
                          <a:latin typeface="Yu Gothic"/>
                          <a:ea typeface="Yu Gothic"/>
                          <a:cs typeface="Yu Gothic"/>
                        </a:rPr>
                        <a:t>同梱の Noto フォントと OFL ライセンス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CD6DF"/>
                      </a:solidFill>
                      <a:prstDash val="solid"/>
                    </a:lnR>
                    <a:lnB w="9525">
                      <a:solidFill>
                        <a:srgbClr val="CCD6DF"/>
                      </a:solidFill>
                      <a:prstDash val="soli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PygameApp → Game → Board → Card。カードの継承階層は追加しません。">
            <a:extLst xmlns:a="http://schemas.openxmlformats.org/drawingml/2006/main">
              <a:ext uri="{FF2B5EF4-FFF2-40B4-BE49-F238E27FC236}">
                <a16:creationId xmlns:a16="http://schemas.microsoft.com/office/drawing/2014/main" id="{DBF7A5C0-A493-40CB-B236-495BF26D5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575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PygameApp → Game → Board → Card。カードの継承階層は追加しません。</a:t>
            </a:r>
          </a:p>
        </p:txBody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F8B8A220-D430-4FE3-894A-92C0E166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5B7082"/>
                </a:solidFill>
                <a:latin typeface="Yu Gothic"/>
                <a:ea typeface="Yu Gothic"/>
                <a:cs typeface="Yu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70394882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イベントループと画面更新">
            <a:extLst xmlns:a="http://schemas.openxmlformats.org/drawingml/2006/main">
              <a:ext uri="{FF2B5EF4-FFF2-40B4-BE49-F238E27FC236}">
                <a16:creationId xmlns:a16="http://schemas.microsoft.com/office/drawing/2014/main" id="{8A994929-F7D7-4586-8643-CB876F5D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イベントループと画面更新</a:t>
            </a:r>
          </a:p>
        </p:txBody>
      </p:sp>
      <p:sp>
        <p:nvSpPr>
          <p:cNvPr id="2" name="pygame_app.py · PygameApp.run">
            <a:extLst xmlns:a="http://schemas.openxmlformats.org/drawingml/2006/main">
              <a:ext uri="{FF2B5EF4-FFF2-40B4-BE49-F238E27FC236}">
                <a16:creationId xmlns:a16="http://schemas.microsoft.com/office/drawing/2014/main" id="{91309E07-8BBE-41D5-A12C-A7DC5D82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pygame_app.py · PygameApp.run</a:t>
            </a:r>
          </a:p>
        </p:txBody>
      </p:sp>
      <p:sp>
        <p:nvSpPr>
          <p:cNvPr id="3" name="def run(self):">
            <a:extLst xmlns:a="http://schemas.openxmlformats.org/drawingml/2006/main">
              <a:ext uri="{FF2B5EF4-FFF2-40B4-BE49-F238E27FC236}">
                <a16:creationId xmlns:a16="http://schemas.microsoft.com/office/drawing/2014/main" id="{19600274-6595-47B3-A50F-FD40954D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run(self):</a:t>
            </a:r>
          </a:p>
        </p:txBody>
      </p:sp>
      <p:sp>
        <p:nvSpPr>
          <p:cNvPr id="4" name="    while self.running:">
            <a:extLst xmlns:a="http://schemas.openxmlformats.org/drawingml/2006/main">
              <a:ext uri="{FF2B5EF4-FFF2-40B4-BE49-F238E27FC236}">
                <a16:creationId xmlns:a16="http://schemas.microsoft.com/office/drawing/2014/main" id="{8D151519-1D53-4045-898E-1C22D262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while self.running:</a:t>
            </a:r>
          </a:p>
        </p:txBody>
      </p:sp>
      <p:sp>
        <p:nvSpPr>
          <p:cNvPr id="5" name="        for event in pygame.event.get():">
            <a:extLst xmlns:a="http://schemas.openxmlformats.org/drawingml/2006/main">
              <a:ext uri="{FF2B5EF4-FFF2-40B4-BE49-F238E27FC236}">
                <a16:creationId xmlns:a16="http://schemas.microsoft.com/office/drawing/2014/main" id="{1563B6E8-0D91-4FC9-88AD-3ECFD2A7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for event in pygame.event.get():</a:t>
            </a:r>
          </a:p>
        </p:txBody>
      </p:sp>
      <p:sp>
        <p:nvSpPr>
          <p:cNvPr id="6" name="            self.handle_event(event)">
            <a:extLst xmlns:a="http://schemas.openxmlformats.org/drawingml/2006/main">
              <a:ext uri="{FF2B5EF4-FFF2-40B4-BE49-F238E27FC236}">
                <a16:creationId xmlns:a16="http://schemas.microsoft.com/office/drawing/2014/main" id="{DFC8C875-8997-41B3-8792-82503FF4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self.handle_event(event)</a:t>
            </a:r>
          </a:p>
        </p:txBody>
      </p:sp>
      <p:sp>
        <p:nvSpPr>
          <p:cNvPr id="7" name="        self.draw()">
            <a:extLst xmlns:a="http://schemas.openxmlformats.org/drawingml/2006/main">
              <a:ext uri="{FF2B5EF4-FFF2-40B4-BE49-F238E27FC236}">
                <a16:creationId xmlns:a16="http://schemas.microsoft.com/office/drawing/2014/main" id="{F9976414-4316-439E-99A7-EC3BA54D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self.draw()</a:t>
            </a:r>
          </a:p>
        </p:txBody>
      </p:sp>
      <p:sp>
        <p:nvSpPr>
          <p:cNvPr id="8" name="        self.present()">
            <a:extLst xmlns:a="http://schemas.openxmlformats.org/drawingml/2006/main">
              <a:ext uri="{FF2B5EF4-FFF2-40B4-BE49-F238E27FC236}">
                <a16:creationId xmlns:a16="http://schemas.microsoft.com/office/drawing/2014/main" id="{D3495F93-7132-4E4E-8802-6EBE96AA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self.present()</a:t>
            </a:r>
          </a:p>
        </p:txBody>
      </p:sp>
      <p:sp>
        <p:nvSpPr>
          <p:cNvPr id="9" name="        pygame.display.flip()">
            <a:extLst xmlns:a="http://schemas.openxmlformats.org/drawingml/2006/main">
              <a:ext uri="{FF2B5EF4-FFF2-40B4-BE49-F238E27FC236}">
                <a16:creationId xmlns:a16="http://schemas.microsoft.com/office/drawing/2014/main" id="{4A4815C0-0692-4023-8F96-50916A9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pygame.display.flip()</a:t>
            </a:r>
          </a:p>
        </p:txBody>
      </p:sp>
      <p:sp>
        <p:nvSpPr>
          <p:cNvPr id="10" name="        self.clock.tick(60)">
            <a:extLst xmlns:a="http://schemas.openxmlformats.org/drawingml/2006/main">
              <a:ext uri="{FF2B5EF4-FFF2-40B4-BE49-F238E27FC236}">
                <a16:creationId xmlns:a16="http://schemas.microsoft.com/office/drawing/2014/main" id="{312C7E6B-A442-4E55-BE55-44E31991B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self.clock.tick(60)</a:t>
            </a:r>
          </a:p>
        </p:txBody>
      </p:sp>
      <p:sp>
        <p:nvSpPr>
          <p:cNvPr id="11" name="    pygame.quit()">
            <a:extLst xmlns:a="http://schemas.openxmlformats.org/drawingml/2006/main">
              <a:ext uri="{FF2B5EF4-FFF2-40B4-BE49-F238E27FC236}">
                <a16:creationId xmlns:a16="http://schemas.microsoft.com/office/drawing/2014/main" id="{6CB8EFFA-FEBB-4449-A3DE-FB4D26B2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pygame.quit()</a:t>
            </a:r>
          </a:p>
        </p:txBody>
      </p:sp>
      <p:sp>
        <p:nvSpPr>
          <p:cNvPr id="12" name="各ループでイベント処理、描画、画面更新を行います。">
            <a:extLst xmlns:a="http://schemas.openxmlformats.org/drawingml/2006/main">
              <a:ext uri="{FF2B5EF4-FFF2-40B4-BE49-F238E27FC236}">
                <a16:creationId xmlns:a16="http://schemas.microsoft.com/office/drawing/2014/main" id="{777134B8-4CD3-4511-9CFF-A9FB15E94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各ループでイベント処理、描画、画面更新を行います。</a:t>
            </a:r>
          </a:p>
        </p:txBody>
      </p:sp>
      <p:sp>
        <p:nvSpPr>
          <p:cNvPr id="13" name="tick(60) は更新頻度を制限。描画だけでは手番は進みません。">
            <a:extLst xmlns:a="http://schemas.openxmlformats.org/drawingml/2006/main">
              <a:ext uri="{FF2B5EF4-FFF2-40B4-BE49-F238E27FC236}">
                <a16:creationId xmlns:a16="http://schemas.microsoft.com/office/drawing/2014/main" id="{5273D105-6E15-4F96-8354-826BAFE01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tick(60) は更新頻度を制限。描画だけでは手番は進みません。</a:t>
            </a:r>
          </a:p>
        </p:txBody>
      </p:sp>
      <p:sp>
        <p:nvSpPr>
          <p:cNvPr id="14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8EFF4743-4967-4F1F-95DF-D32BB86E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5" name="23">
            <a:extLst xmlns:a="http://schemas.openxmlformats.org/drawingml/2006/main">
              <a:ext uri="{FF2B5EF4-FFF2-40B4-BE49-F238E27FC236}">
                <a16:creationId xmlns:a16="http://schemas.microsoft.com/office/drawing/2014/main" id="{74D32667-1FDF-4F8A-A7A0-21CB8302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9194018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マウス位置からカードを特定">
            <a:extLst xmlns:a="http://schemas.openxmlformats.org/drawingml/2006/main">
              <a:ext uri="{FF2B5EF4-FFF2-40B4-BE49-F238E27FC236}">
                <a16:creationId xmlns:a16="http://schemas.microsoft.com/office/drawing/2014/main" id="{8A6760FF-6163-4BFF-B84F-06EE86A3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マウス位置からカードを特定</a:t>
            </a:r>
          </a:p>
        </p:txBody>
      </p:sp>
      <p:sp>
        <p:nvSpPr>
          <p:cNvPr id="2" name="pygame_app.py · PygameApp.click_card">
            <a:extLst xmlns:a="http://schemas.openxmlformats.org/drawingml/2006/main">
              <a:ext uri="{FF2B5EF4-FFF2-40B4-BE49-F238E27FC236}">
                <a16:creationId xmlns:a16="http://schemas.microsoft.com/office/drawing/2014/main" id="{54A3C20D-CBCE-484B-A12D-1961EFE4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pygame_app.py · PygameApp.click_card</a:t>
            </a:r>
          </a:p>
        </p:txBody>
      </p:sp>
      <p:sp>
        <p:nvSpPr>
          <p:cNvPr id="3" name="def click_card(self, pos, inspect_only=False):">
            <a:extLst xmlns:a="http://schemas.openxmlformats.org/drawingml/2006/main">
              <a:ext uri="{FF2B5EF4-FFF2-40B4-BE49-F238E27FC236}">
                <a16:creationId xmlns:a16="http://schemas.microsoft.com/office/drawing/2014/main" id="{45287C91-B50F-4C67-98FE-27254664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click_card(self, pos, inspect_only=False):</a:t>
            </a:r>
          </a:p>
        </p:txBody>
      </p:sp>
      <p:sp>
        <p:nvSpPr>
          <p:cNvPr id="4" name="    for index, rect in enumerate(self.card_rects):">
            <a:extLst xmlns:a="http://schemas.openxmlformats.org/drawingml/2006/main">
              <a:ext uri="{FF2B5EF4-FFF2-40B4-BE49-F238E27FC236}">
                <a16:creationId xmlns:a16="http://schemas.microsoft.com/office/drawing/2014/main" id="{E57AD302-808D-4F36-826A-3E1A017F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index, rect in enumerate(self.card_rects):</a:t>
            </a:r>
          </a:p>
        </p:txBody>
      </p:sp>
      <p:sp>
        <p:nvSpPr>
          <p:cNvPr id="5" name="        if rect.collidepoint(pos):">
            <a:extLst xmlns:a="http://schemas.openxmlformats.org/drawingml/2006/main">
              <a:ext uri="{FF2B5EF4-FFF2-40B4-BE49-F238E27FC236}">
                <a16:creationId xmlns:a16="http://schemas.microsoft.com/office/drawing/2014/main" id="{A7DC0AFB-5356-48D7-BD9D-6A856471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rect.collidepoint(pos):</a:t>
            </a:r>
          </a:p>
        </p:txBody>
      </p:sp>
      <p:sp>
        <p:nvSpPr>
          <p:cNvPr id="6" name="            if inspect_only:">
            <a:extLst xmlns:a="http://schemas.openxmlformats.org/drawingml/2006/main">
              <a:ext uri="{FF2B5EF4-FFF2-40B4-BE49-F238E27FC236}">
                <a16:creationId xmlns:a16="http://schemas.microsoft.com/office/drawing/2014/main" id="{AF86759A-E0C5-497F-9BB1-530E8A28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if inspect_only:</a:t>
            </a:r>
          </a:p>
        </p:txBody>
      </p:sp>
      <p:sp>
        <p:nvSpPr>
          <p:cNvPr id="7" name="                self.selected = index">
            <a:extLst xmlns:a="http://schemas.openxmlformats.org/drawingml/2006/main">
              <a:ext uri="{FF2B5EF4-FFF2-40B4-BE49-F238E27FC236}">
                <a16:creationId xmlns:a16="http://schemas.microsoft.com/office/drawing/2014/main" id="{81DD727B-3315-43F1-A6EE-3C593851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self.selected = index</a:t>
            </a:r>
          </a:p>
        </p:txBody>
      </p:sp>
      <p:sp>
        <p:nvSpPr>
          <p:cNvPr id="8" name="            else:">
            <a:extLst xmlns:a="http://schemas.openxmlformats.org/drawingml/2006/main">
              <a:ext uri="{FF2B5EF4-FFF2-40B4-BE49-F238E27FC236}">
                <a16:creationId xmlns:a16="http://schemas.microsoft.com/office/drawing/2014/main" id="{848CA86D-E148-4065-A78D-E77457CBA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else:</a:t>
            </a:r>
          </a:p>
        </p:txBody>
      </p:sp>
      <p:sp>
        <p:nvSpPr>
          <p:cNvPr id="9" name="                self.pick(index)">
            <a:extLst xmlns:a="http://schemas.openxmlformats.org/drawingml/2006/main">
              <a:ext uri="{FF2B5EF4-FFF2-40B4-BE49-F238E27FC236}">
                <a16:creationId xmlns:a16="http://schemas.microsoft.com/office/drawing/2014/main" id="{AACFF510-2DA0-4CB9-B9DA-EC0FC7F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self.pick(index)</a:t>
            </a:r>
          </a:p>
        </p:txBody>
      </p:sp>
      <p:sp>
        <p:nvSpPr>
          <p:cNvPr id="10" name="            return True">
            <a:extLst xmlns:a="http://schemas.openxmlformats.org/drawingml/2006/main">
              <a:ext uri="{FF2B5EF4-FFF2-40B4-BE49-F238E27FC236}">
                <a16:creationId xmlns:a16="http://schemas.microsoft.com/office/drawing/2014/main" id="{93F1886B-85D5-4CC2-A2C5-90976B93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 True</a:t>
            </a:r>
          </a:p>
        </p:txBody>
      </p:sp>
      <p:sp>
        <p:nvSpPr>
          <p:cNvPr id="11" name="    return False">
            <a:extLst xmlns:a="http://schemas.openxmlformats.org/drawingml/2006/main">
              <a:ext uri="{FF2B5EF4-FFF2-40B4-BE49-F238E27FC236}">
                <a16:creationId xmlns:a16="http://schemas.microsoft.com/office/drawing/2014/main" id="{45F53F4D-2368-4970-8209-15FDE5B5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return False</a:t>
            </a:r>
          </a:p>
        </p:txBody>
      </p:sp>
      <p:sp>
        <p:nvSpPr>
          <p:cNvPr id="12" name="click() がウィンドウ座標を 1280 × 800 の論理座標に変換。">
            <a:extLst xmlns:a="http://schemas.openxmlformats.org/drawingml/2006/main">
              <a:ext uri="{FF2B5EF4-FFF2-40B4-BE49-F238E27FC236}">
                <a16:creationId xmlns:a16="http://schemas.microsoft.com/office/drawing/2014/main" id="{BE08B3B0-A4D8-4D1F-B767-4A116F75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click() がウィンドウ座標を 1280 × 800 の論理座標に変換。</a:t>
            </a:r>
          </a:p>
        </p:txBody>
      </p:sp>
      <p:sp>
        <p:nvSpPr>
          <p:cNvPr id="13" name="Rect.collidepoint() で特定。右クリックは selected のみ変更。">
            <a:extLst xmlns:a="http://schemas.openxmlformats.org/drawingml/2006/main">
              <a:ext uri="{FF2B5EF4-FFF2-40B4-BE49-F238E27FC236}">
                <a16:creationId xmlns:a16="http://schemas.microsoft.com/office/drawing/2014/main" id="{2F9DE130-43C5-4492-92DC-CE24CDE4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Rect.collidepoint() で特定。右クリックは selected のみ変更。</a:t>
            </a:r>
          </a:p>
        </p:txBody>
      </p:sp>
      <p:sp>
        <p:nvSpPr>
          <p:cNvPr id="14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FB989722-82D9-4AA4-A964-F5F5B70D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5" name="24">
            <a:extLst xmlns:a="http://schemas.openxmlformats.org/drawingml/2006/main">
              <a:ext uri="{FF2B5EF4-FFF2-40B4-BE49-F238E27FC236}">
                <a16:creationId xmlns:a16="http://schemas.microsoft.com/office/drawing/2014/main" id="{FCB44EE1-B432-4BC8-AB9F-2635E986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39359254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選択とコマ送りの呼び出し">
            <a:extLst xmlns:a="http://schemas.openxmlformats.org/drawingml/2006/main">
              <a:ext uri="{FF2B5EF4-FFF2-40B4-BE49-F238E27FC236}">
                <a16:creationId xmlns:a16="http://schemas.microsoft.com/office/drawing/2014/main" id="{49EB9DAC-54DD-4B84-9813-1F70EEF9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選択とコマ送りの呼び出し</a:t>
            </a:r>
          </a:p>
        </p:txBody>
      </p:sp>
      <p:sp>
        <p:nvSpPr>
          <p:cNvPr id="2" name="pygame_app.py · PygameApp.pick / advance">
            <a:extLst xmlns:a="http://schemas.openxmlformats.org/drawingml/2006/main">
              <a:ext uri="{FF2B5EF4-FFF2-40B4-BE49-F238E27FC236}">
                <a16:creationId xmlns:a16="http://schemas.microsoft.com/office/drawing/2014/main" id="{8EA5CA83-D203-4213-8C6B-5122453C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pygame_app.py · PygameApp.pick / advance</a:t>
            </a:r>
          </a:p>
        </p:txBody>
      </p:sp>
      <p:sp>
        <p:nvSpPr>
          <p:cNvPr id="3" name="def pick(self, index):">
            <a:extLst xmlns:a="http://schemas.openxmlformats.org/drawingml/2006/main">
              <a:ext uri="{FF2B5EF4-FFF2-40B4-BE49-F238E27FC236}">
                <a16:creationId xmlns:a16="http://schemas.microsoft.com/office/drawing/2014/main" id="{5BF1D485-7D79-4947-AFBC-95A46BC0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pick(self, index):</a:t>
            </a:r>
          </a:p>
        </p:txBody>
      </p:sp>
      <p:sp>
        <p:nvSpPr>
          <p:cNvPr id="4" name="    self.selected = index">
            <a:extLst xmlns:a="http://schemas.openxmlformats.org/drawingml/2006/main">
              <a:ext uri="{FF2B5EF4-FFF2-40B4-BE49-F238E27FC236}">
                <a16:creationId xmlns:a16="http://schemas.microsoft.com/office/drawing/2014/main" id="{7F948710-9D96-4202-9C5B-73901EC3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self.selected = index</a:t>
            </a:r>
          </a:p>
        </p:txBody>
      </p:sp>
      <p:sp>
        <p:nvSpPr>
          <p:cNvPr id="5" name="    card = self.game.board.cards[index]">
            <a:extLst xmlns:a="http://schemas.openxmlformats.org/drawingml/2006/main">
              <a:ext uri="{FF2B5EF4-FFF2-40B4-BE49-F238E27FC236}">
                <a16:creationId xmlns:a16="http://schemas.microsoft.com/office/drawing/2014/main" id="{1B8552DC-2FEB-4975-98A9-0BBE2E08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card = self.game.board.cards[index]</a:t>
            </a:r>
          </a:p>
        </p:txBody>
      </p:sp>
      <p:sp>
        <p:nvSpPr>
          <p:cNvPr id="6" name="    if self.observe:">
            <a:extLst xmlns:a="http://schemas.openxmlformats.org/drawingml/2006/main">
              <a:ext uri="{FF2B5EF4-FFF2-40B4-BE49-F238E27FC236}">
                <a16:creationId xmlns:a16="http://schemas.microsoft.com/office/drawing/2014/main" id="{AE600B4B-11AC-4467-8A68-DDC6C90F1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self.observe:</a:t>
            </a:r>
          </a:p>
        </p:txBody>
      </p:sp>
      <p:sp>
        <p:nvSpPr>
          <p:cNvPr id="7" name="        self.game.queue(card.name)">
            <a:extLst xmlns:a="http://schemas.openxmlformats.org/drawingml/2006/main">
              <a:ext uri="{FF2B5EF4-FFF2-40B4-BE49-F238E27FC236}">
                <a16:creationId xmlns:a16="http://schemas.microsoft.com/office/drawing/2014/main" id="{5C13F3D0-454A-4B26-9F4E-45E51C1D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self.game.queue(card.name)</a:t>
            </a:r>
          </a:p>
        </p:txBody>
      </p:sp>
      <p:sp>
        <p:nvSpPr>
          <p:cNvPr id="8" name="    else:">
            <a:extLst xmlns:a="http://schemas.openxmlformats.org/drawingml/2006/main">
              <a:ext uri="{FF2B5EF4-FFF2-40B4-BE49-F238E27FC236}">
                <a16:creationId xmlns:a16="http://schemas.microsoft.com/office/drawing/2014/main" id="{B3573399-4C95-4990-A210-06ED9FC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9" name="        self.game.play(card.name)">
            <a:extLst xmlns:a="http://schemas.openxmlformats.org/drawingml/2006/main">
              <a:ext uri="{FF2B5EF4-FFF2-40B4-BE49-F238E27FC236}">
                <a16:creationId xmlns:a16="http://schemas.microsoft.com/office/drawing/2014/main" id="{49AE0E3E-E258-4BD9-B863-C87BFAC0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self.game.play(card.name)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B94A3-7592-4DC7-878C-3BE1D65E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def advance(self):">
            <a:extLst xmlns:a="http://schemas.openxmlformats.org/drawingml/2006/main">
              <a:ext uri="{FF2B5EF4-FFF2-40B4-BE49-F238E27FC236}">
                <a16:creationId xmlns:a16="http://schemas.microsoft.com/office/drawing/2014/main" id="{91E9444A-9E66-4D18-B2D1-526BBFFA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95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advance(self):</a:t>
            </a:r>
          </a:p>
        </p:txBody>
      </p:sp>
      <p:sp>
        <p:nvSpPr>
          <p:cNvPr id="12" name="    if self.observe or self.game.pending:">
            <a:extLst xmlns:a="http://schemas.openxmlformats.org/drawingml/2006/main">
              <a:ext uri="{FF2B5EF4-FFF2-40B4-BE49-F238E27FC236}">
                <a16:creationId xmlns:a16="http://schemas.microsoft.com/office/drawing/2014/main" id="{30D9AC03-6F8A-4BD9-96F5-68AF2D4E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self.observe or self.game.pending:</a:t>
            </a:r>
          </a:p>
        </p:txBody>
      </p:sp>
      <p:sp>
        <p:nvSpPr>
          <p:cNvPr id="13" name="        self.game.step()">
            <a:extLst xmlns:a="http://schemas.openxmlformats.org/drawingml/2006/main">
              <a:ext uri="{FF2B5EF4-FFF2-40B4-BE49-F238E27FC236}">
                <a16:creationId xmlns:a16="http://schemas.microsoft.com/office/drawing/2014/main" id="{CD5ECFCE-D4A2-42F3-9AA1-533BCEBC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self.game.step()</a:t>
            </a:r>
          </a:p>
        </p:txBody>
      </p:sp>
      <p:sp>
        <p:nvSpPr>
          <p:cNvPr id="14" name="    else:">
            <a:extLst xmlns:a="http://schemas.openxmlformats.org/drawingml/2006/main">
              <a:ext uri="{FF2B5EF4-FFF2-40B4-BE49-F238E27FC236}">
                <a16:creationId xmlns:a16="http://schemas.microsoft.com/office/drawing/2014/main" id="{898C9C88-ABE0-4ACC-AA08-6458AF66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else:</a:t>
            </a:r>
          </a:p>
        </p:txBody>
      </p:sp>
      <p:sp>
        <p:nvSpPr>
          <p:cNvPr id="15" name="        self.game.finish_turn()">
            <a:extLst xmlns:a="http://schemas.openxmlformats.org/drawingml/2006/main">
              <a:ext uri="{FF2B5EF4-FFF2-40B4-BE49-F238E27FC236}">
                <a16:creationId xmlns:a16="http://schemas.microsoft.com/office/drawing/2014/main" id="{5CB6EC68-1F22-4313-A0C1-0C273EF2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006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self.game.finish_turn()</a:t>
            </a:r>
          </a:p>
        </p:txBody>
      </p:sp>
      <p:sp>
        <p:nvSpPr>
          <p:cNvPr id="16" name="コマ送り：queue() は参照を保存し、step() が次の段階を実行。">
            <a:extLst xmlns:a="http://schemas.openxmlformats.org/drawingml/2006/main">
              <a:ext uri="{FF2B5EF4-FFF2-40B4-BE49-F238E27FC236}">
                <a16:creationId xmlns:a16="http://schemas.microsoft.com/office/drawing/2014/main" id="{CE3CBFE9-B228-4518-89A3-05A78D17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コマ送り：queue() は参照を保存し、step() が次の段階を実行。</a:t>
            </a:r>
          </a:p>
        </p:txBody>
      </p:sp>
      <p:sp>
        <p:nvSpPr>
          <p:cNvPr id="17" name="通常プレイ：play() でめくり、finish_turn() で比較と確定。">
            <a:extLst xmlns:a="http://schemas.openxmlformats.org/drawingml/2006/main">
              <a:ext uri="{FF2B5EF4-FFF2-40B4-BE49-F238E27FC236}">
                <a16:creationId xmlns:a16="http://schemas.microsoft.com/office/drawing/2014/main" id="{287EC50F-8E70-489E-83E2-220A25A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通常プレイ：play() でめくり、finish_turn() で比較と確定。</a:t>
            </a:r>
          </a:p>
        </p:txBody>
      </p:sp>
      <p:sp>
        <p:nvSpPr>
          <p:cNvPr id="18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208E65FE-97D3-437F-ABB8-BD31A1C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9" name="25">
            <a:extLst xmlns:a="http://schemas.openxmlformats.org/drawingml/2006/main">
              <a:ext uri="{FF2B5EF4-FFF2-40B4-BE49-F238E27FC236}">
                <a16:creationId xmlns:a16="http://schemas.microsoft.com/office/drawing/2014/main" id="{52653E68-2A7D-4DC1-A6C3-17AA5760E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2003898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オブジェクトの状態を描画">
            <a:extLst xmlns:a="http://schemas.openxmlformats.org/drawingml/2006/main">
              <a:ext uri="{FF2B5EF4-FFF2-40B4-BE49-F238E27FC236}">
                <a16:creationId xmlns:a16="http://schemas.microsoft.com/office/drawing/2014/main" id="{1CFDC214-8799-444C-A046-EA2619B5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オブジェクトの状態を描画</a:t>
            </a:r>
          </a:p>
        </p:txBody>
      </p:sp>
      <p:sp>
        <p:nvSpPr>
          <p:cNvPr id="2" name="draw_card() の抜粋。絵と選択枠の描画は省略">
            <a:extLst xmlns:a="http://schemas.openxmlformats.org/drawingml/2006/main">
              <a:ext uri="{FF2B5EF4-FFF2-40B4-BE49-F238E27FC236}">
                <a16:creationId xmlns:a16="http://schemas.microsoft.com/office/drawing/2014/main" id="{9ECC7AE1-1C8F-49E6-8FB8-5B596456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draw_card() の抜粋。絵と選択枠の描画は省略</a:t>
            </a:r>
          </a:p>
        </p:txBody>
      </p:sp>
      <p:sp>
        <p:nvSpPr>
          <p:cNvPr id="3" name="def draw_card(self, card, rect, selected=False):">
            <a:extLst xmlns:a="http://schemas.openxmlformats.org/drawingml/2006/main">
              <a:ext uri="{FF2B5EF4-FFF2-40B4-BE49-F238E27FC236}">
                <a16:creationId xmlns:a16="http://schemas.microsoft.com/office/drawing/2014/main" id="{6365B359-B985-49A4-9F10-2AE96257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draw_card(self, card, rect, selected=False):</a:t>
            </a:r>
          </a:p>
        </p:txBody>
      </p:sp>
      <p:sp>
        <p:nvSpPr>
          <p:cNvPr id="4" name="    color = FACE if card.face_up else BACK">
            <a:extLst xmlns:a="http://schemas.openxmlformats.org/drawingml/2006/main">
              <a:ext uri="{FF2B5EF4-FFF2-40B4-BE49-F238E27FC236}">
                <a16:creationId xmlns:a16="http://schemas.microsoft.com/office/drawing/2014/main" id="{B117557D-26FD-4CA2-971E-046DF482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color = FACE if card.face_up else BACK</a:t>
            </a:r>
          </a:p>
        </p:txBody>
      </p:sp>
      <p:sp>
        <p:nvSpPr>
          <p:cNvPr id="5" name="    pygame.draw.rect(self.screen, color, rect, border_radius=10)">
            <a:extLst xmlns:a="http://schemas.openxmlformats.org/drawingml/2006/main">
              <a:ext uri="{FF2B5EF4-FFF2-40B4-BE49-F238E27FC236}">
                <a16:creationId xmlns:a16="http://schemas.microsoft.com/office/drawing/2014/main" id="{17587A2B-832A-4FB2-8C40-5F9E1771B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pygame.draw.rect(self.screen, color, rect, border_radius=10)</a:t>
            </a:r>
          </a:p>
        </p:txBody>
      </p:sp>
      <p:sp>
        <p:nvSpPr>
          <p:cNvPr id="6" name="    # ... symbol and selection rendering ...">
            <a:extLst xmlns:a="http://schemas.openxmlformats.org/drawingml/2006/main">
              <a:ext uri="{FF2B5EF4-FFF2-40B4-BE49-F238E27FC236}">
                <a16:creationId xmlns:a16="http://schemas.microsoft.com/office/drawing/2014/main" id="{774D30B0-6B7C-419F-9E22-49849AC3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# ... symbol and selection rendering ...</a:t>
            </a:r>
          </a:p>
        </p:txBody>
      </p:sp>
      <p:sp>
        <p:nvSpPr>
          <p:cNvPr id="7" name="    if self.labels:">
            <a:extLst xmlns:a="http://schemas.openxmlformats.org/drawingml/2006/main">
              <a:ext uri="{FF2B5EF4-FFF2-40B4-BE49-F238E27FC236}">
                <a16:creationId xmlns:a16="http://schemas.microsoft.com/office/drawing/2014/main" id="{55DE1D88-1373-495E-BF56-B103CE29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if self.labels:</a:t>
            </a:r>
          </a:p>
        </p:txBody>
      </p:sp>
      <p:sp>
        <p:nvSpPr>
          <p:cNvPr id="8" name="        self.text(f'{card.name}: Card',">
            <a:extLst xmlns:a="http://schemas.openxmlformats.org/drawingml/2006/main">
              <a:ext uri="{FF2B5EF4-FFF2-40B4-BE49-F238E27FC236}">
                <a16:creationId xmlns:a16="http://schemas.microsoft.com/office/drawing/2014/main" id="{7C3505C0-95BA-409D-84EC-3E91250B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self.text(f'{card.name}: Card',</a:t>
            </a:r>
          </a:p>
        </p:txBody>
      </p:sp>
      <p:sp>
        <p:nvSpPr>
          <p:cNvPr id="9" name="                  (rect.x + 16, rect.y + 91), 16,">
            <a:extLst xmlns:a="http://schemas.openxmlformats.org/drawingml/2006/main">
              <a:ext uri="{FF2B5EF4-FFF2-40B4-BE49-F238E27FC236}">
                <a16:creationId xmlns:a16="http://schemas.microsoft.com/office/drawing/2014/main" id="{D3A4627F-8E5C-44D5-A204-ED35DF99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(rect.x + 16, rect.y + 91), 16,</a:t>
            </a:r>
          </a:p>
        </p:txBody>
      </p:sp>
      <p:sp>
        <p:nvSpPr>
          <p:cNvPr id="10" name="                  INK if card.face_up else WHITE)">
            <a:extLst xmlns:a="http://schemas.openxmlformats.org/drawingml/2006/main">
              <a:ext uri="{FF2B5EF4-FFF2-40B4-BE49-F238E27FC236}">
                <a16:creationId xmlns:a16="http://schemas.microsoft.com/office/drawing/2014/main" id="{82F37D71-3BBD-4D62-A157-E63EEC74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9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      INK if card.face_up else WHITE)</a:t>
            </a:r>
          </a:p>
        </p:txBody>
      </p:sp>
      <p:sp>
        <p:nvSpPr>
          <p:cNvPr id="11" name="face_up でカードの色を決め、labels で名前の表示を切替。">
            <a:extLst xmlns:a="http://schemas.openxmlformats.org/drawingml/2006/main">
              <a:ext uri="{FF2B5EF4-FFF2-40B4-BE49-F238E27FC236}">
                <a16:creationId xmlns:a16="http://schemas.microsoft.com/office/drawing/2014/main" id="{D714D7AE-6FDE-4109-AB6E-2E8FCE6D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face_up でカードの色を決め、labels で名前の表示を切替。</a:t>
            </a:r>
          </a:p>
        </p:txBody>
      </p:sp>
      <p:sp>
        <p:nvSpPr>
          <p:cNvPr id="12" name="描画は Card の属性を読み、ルールはモデルのメソッドで処理。">
            <a:extLst xmlns:a="http://schemas.openxmlformats.org/drawingml/2006/main">
              <a:ext uri="{FF2B5EF4-FFF2-40B4-BE49-F238E27FC236}">
                <a16:creationId xmlns:a16="http://schemas.microsoft.com/office/drawing/2014/main" id="{23A730C1-8653-4401-8C1E-0AEDB3D7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描画は Card の属性を読み、ルールはモデルのメソッドで処理。</a:t>
            </a:r>
          </a:p>
        </p:txBody>
      </p:sp>
      <p:sp>
        <p:nvSpPr>
          <p:cNvPr id="13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E5217AF0-596F-4E60-8DB8-535A41DB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4" name="26">
            <a:extLst xmlns:a="http://schemas.openxmlformats.org/drawingml/2006/main">
              <a:ext uri="{FF2B5EF4-FFF2-40B4-BE49-F238E27FC236}">
                <a16:creationId xmlns:a16="http://schemas.microsoft.com/office/drawing/2014/main" id="{85910400-3F87-49B4-BACE-DCB46258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0758422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42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参照と同一性の観察">
            <a:extLst xmlns:a="http://schemas.openxmlformats.org/drawingml/2006/main">
              <a:ext uri="{FF2B5EF4-FFF2-40B4-BE49-F238E27FC236}">
                <a16:creationId xmlns:a16="http://schemas.microsoft.com/office/drawing/2014/main" id="{F4737F01-9531-4F43-AD49-6D81BA97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095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3300" b="1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参照と同一性の観察</a:t>
            </a:r>
          </a:p>
        </p:txBody>
      </p:sp>
      <p:sp>
        <p:nvSpPr>
          <p:cNvPr id="2" name="pygame_app.py · PygameApp.draw_identity">
            <a:extLst xmlns:a="http://schemas.openxmlformats.org/drawingml/2006/main">
              <a:ext uri="{FF2B5EF4-FFF2-40B4-BE49-F238E27FC236}">
                <a16:creationId xmlns:a16="http://schemas.microsoft.com/office/drawing/2014/main" id="{690AA39B-52CE-486B-9F37-2F4B48FA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162050"/>
            <a:ext cx="11001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pygame_app.py · PygameApp.draw_identity</a:t>
            </a:r>
          </a:p>
        </p:txBody>
      </p:sp>
      <p:sp>
        <p:nvSpPr>
          <p:cNvPr id="3" name="def draw_identity(self, card):">
            <a:extLst xmlns:a="http://schemas.openxmlformats.org/drawingml/2006/main">
              <a:ext uri="{FF2B5EF4-FFF2-40B4-BE49-F238E27FC236}">
                <a16:creationId xmlns:a16="http://schemas.microsoft.com/office/drawing/2014/main" id="{DC7BCA4D-568D-417F-9DE5-556C8C65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def draw_identity(self, card):</a:t>
            </a:r>
          </a:p>
        </p:txBody>
      </p:sp>
      <p:sp>
        <p:nvSpPr>
          <p:cNvPr id="4" name="    for key in ('first', 'second', 'pending'):">
            <a:extLst xmlns:a="http://schemas.openxmlformats.org/drawingml/2006/main">
              <a:ext uri="{FF2B5EF4-FFF2-40B4-BE49-F238E27FC236}">
                <a16:creationId xmlns:a16="http://schemas.microsoft.com/office/drawing/2014/main" id="{91EC0419-DAF3-4215-AB2D-8B6AB892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526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for key in ('first', 'second', 'pending'):</a:t>
            </a:r>
          </a:p>
        </p:txBody>
      </p:sp>
      <p:sp>
        <p:nvSpPr>
          <p:cNvPr id="5" name="        if getattr(self.game, key) is card:">
            <a:extLst xmlns:a="http://schemas.openxmlformats.org/drawingml/2006/main">
              <a:ext uri="{FF2B5EF4-FFF2-40B4-BE49-F238E27FC236}">
                <a16:creationId xmlns:a16="http://schemas.microsoft.com/office/drawing/2014/main" id="{6134FB8A-268E-48D6-B8D7-912EF2E5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if getattr(self.game, key) is card:</a:t>
            </a:r>
          </a:p>
        </p:txBody>
      </p:sp>
      <p:sp>
        <p:nvSpPr>
          <p:cNvPr id="6" name="            self.text(f'game.{key} is', (840, 560), 18, GREEN)">
            <a:extLst xmlns:a="http://schemas.openxmlformats.org/drawingml/2006/main">
              <a:ext uri="{FF2B5EF4-FFF2-40B4-BE49-F238E27FC236}">
                <a16:creationId xmlns:a16="http://schemas.microsoft.com/office/drawing/2014/main" id="{C5EEB8C6-F63C-4815-8B7E-EA705F4D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43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self.text(f'game.{key} is', (840, 560), 18, GREEN)</a:t>
            </a:r>
          </a:p>
        </p:txBody>
      </p:sp>
      <p:sp>
        <p:nvSpPr>
          <p:cNvPr id="7" name="            self.text(f'game.board.cards[{self.selected}]', (840, 586)">
            <a:extLst xmlns:a="http://schemas.openxmlformats.org/drawingml/2006/main">
              <a:ext uri="{FF2B5EF4-FFF2-40B4-BE49-F238E27FC236}">
                <a16:creationId xmlns:a16="http://schemas.microsoft.com/office/drawing/2014/main" id="{1542B4E8-1FE1-4EF2-930E-61A00FCF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self.text(f'game.board.cards[{self.selected}]', (840, 586), 18, GREEN)</a:t>
            </a:r>
          </a:p>
        </p:txBody>
      </p:sp>
      <p:sp>
        <p:nvSpPr>
          <p:cNvPr id="8" name="            self.text('True · ' + self.t['same'], (840, 612), 16, GREE">
            <a:extLst xmlns:a="http://schemas.openxmlformats.org/drawingml/2006/main">
              <a:ext uri="{FF2B5EF4-FFF2-40B4-BE49-F238E27FC236}">
                <a16:creationId xmlns:a16="http://schemas.microsoft.com/office/drawing/2014/main" id="{0F904C5D-FE90-4A70-9718-BFF24742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self.text('True · ' + self.t['same'], (840, 612), 16, GREEN)</a:t>
            </a:r>
          </a:p>
        </p:txBody>
      </p:sp>
      <p:sp>
        <p:nvSpPr>
          <p:cNvPr id="9" name="            return">
            <a:extLst xmlns:a="http://schemas.openxmlformats.org/drawingml/2006/main">
              <a:ext uri="{FF2B5EF4-FFF2-40B4-BE49-F238E27FC236}">
                <a16:creationId xmlns:a16="http://schemas.microsoft.com/office/drawing/2014/main" id="{7CDF61D2-D2E7-4428-9AB0-7BCC2B4A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        return</a:t>
            </a:r>
          </a:p>
        </p:txBody>
      </p:sp>
      <p:sp>
        <p:nvSpPr>
          <p:cNvPr id="10" name="    self.text(self.t['no_ref'], (840, 572), 16, MUTED)">
            <a:extLst xmlns:a="http://schemas.openxmlformats.org/drawingml/2006/main">
              <a:ext uri="{FF2B5EF4-FFF2-40B4-BE49-F238E27FC236}">
                <a16:creationId xmlns:a16="http://schemas.microsoft.com/office/drawing/2014/main" id="{59B2C3F5-CD4D-40DB-B6FD-208323A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243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    self.text(self.t['no_ref'], (840, 572), 16, MUTED)</a:t>
            </a:r>
          </a:p>
        </p:txBody>
      </p:sp>
      <p:sp>
        <p:nvSpPr>
          <p:cNvPr id="11" name="表示する is 式は実際の Python オブジェクトの参照を比較。">
            <a:extLst xmlns:a="http://schemas.openxmlformats.org/drawingml/2006/main">
              <a:ext uri="{FF2B5EF4-FFF2-40B4-BE49-F238E27FC236}">
                <a16:creationId xmlns:a16="http://schemas.microsoft.com/office/drawing/2014/main" id="{97645F9C-A07A-499A-B22F-C8D3B7E1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表示する is 式は実際の Python オブジェクトの参照を比較。</a:t>
            </a:r>
          </a:p>
        </p:txBody>
      </p:sp>
      <p:sp>
        <p:nvSpPr>
          <p:cNvPr id="12" name="確定後に first と second を消しても、Board は元の Card を保持。">
            <a:extLst xmlns:a="http://schemas.openxmlformats.org/drawingml/2006/main">
              <a:ext uri="{FF2B5EF4-FFF2-40B4-BE49-F238E27FC236}">
                <a16:creationId xmlns:a16="http://schemas.microsoft.com/office/drawing/2014/main" id="{0D693636-0B6A-4420-A139-B9D1B79B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90550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68EDBE"/>
                </a:solidFill>
                <a:latin typeface="Yu Gothic"/>
                <a:ea typeface="Yu Gothic"/>
                <a:cs typeface="Yu Gothic"/>
              </a:rPr>
              <a:t>確定後に first と second を消しても、Board は元の Card を保持。</a:t>
            </a:r>
          </a:p>
        </p:txBody>
      </p:sp>
      <p:sp>
        <p:nvSpPr>
          <p:cNvPr id="13" name="pygame_app.py">
            <a:extLst xmlns:a="http://schemas.openxmlformats.org/drawingml/2006/main">
              <a:ext uri="{FF2B5EF4-FFF2-40B4-BE49-F238E27FC236}">
                <a16:creationId xmlns:a16="http://schemas.microsoft.com/office/drawing/2014/main" id="{B5682B8B-B6F3-402C-B447-EDFB274F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defPPr>
            <a:lvl1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1pPr>
            <a:lvl2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2pPr>
            <a:lvl3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3pPr>
            <a:lvl4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4pPr>
            <a:lvl5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5pPr>
            <a:lvl6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6pPr>
            <a:lvl7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7pPr>
            <a:lvl8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8pPr>
            <a:lvl9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EDF4FB"/>
                </a:solidFill>
                <a:latin typeface="Consolas"/>
                <a:ea typeface="Consolas"/>
                <a:cs typeface="Consolas"/>
              </a:rPr>
              <a:t>pygame_app.py</a:t>
            </a:r>
          </a:p>
        </p:txBody>
      </p:sp>
      <p:sp>
        <p:nvSpPr>
          <p:cNvPr id="14" name="27">
            <a:extLst xmlns:a="http://schemas.openxmlformats.org/drawingml/2006/main">
              <a:ext uri="{FF2B5EF4-FFF2-40B4-BE49-F238E27FC236}">
                <a16:creationId xmlns:a16="http://schemas.microsoft.com/office/drawing/2014/main" id="{97E9D79A-BFC4-480D-B7B3-F8F7E84C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5151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EDF4FB"/>
                </a:solidFill>
                <a:latin typeface="Yu Gothic"/>
                <a:ea typeface="Yu Gothic"/>
                <a:cs typeface="Yu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19337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2026-10-21T03:35:42.7510000Z</dcterms:created>
  <dcterms:modified xsi:type="dcterms:W3CDTF">2026-10-21T03:35:42.7510000Z</dcterms:modified>
</coreProperties>
</file>