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3d58631644caa" /><Relationship Type="http://schemas.openxmlformats.org/officeDocument/2006/relationships/extended-properties" Target="/docProps/app.xml" Id="R009466e8b35f439e" /><Relationship Type="http://schemas.openxmlformats.org/officeDocument/2006/relationships/officeDocument" Target="/ppt/presentation.xml" Id="Re5484a5cfe2c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b248e28c245a8"/>
  </p:sldMasterIdLst>
  <p:notesMasterIdLst>
    <p:notesMasterId xmlns:r="http://schemas.openxmlformats.org/officeDocument/2006/relationships" r:id="R3da5e60c655e4090"/>
  </p:notesMasterIdLst>
  <p:sldIdLst>
    <p:sldId xmlns:r="http://schemas.openxmlformats.org/officeDocument/2006/relationships" id="256" r:id="R1055081a962d4b1b"/>
    <p:sldId xmlns:r="http://schemas.openxmlformats.org/officeDocument/2006/relationships" id="257" r:id="Rb755e8b6a34341c6"/>
    <p:sldId xmlns:r="http://schemas.openxmlformats.org/officeDocument/2006/relationships" id="258" r:id="R296e065c599c46b5"/>
    <p:sldId xmlns:r="http://schemas.openxmlformats.org/officeDocument/2006/relationships" id="259" r:id="Rbc2601b3562e4f9e"/>
    <p:sldId xmlns:r="http://schemas.openxmlformats.org/officeDocument/2006/relationships" id="260" r:id="R41658c9015ad4149"/>
    <p:sldId xmlns:r="http://schemas.openxmlformats.org/officeDocument/2006/relationships" id="261" r:id="Rd9680028703d4475"/>
    <p:sldId xmlns:r="http://schemas.openxmlformats.org/officeDocument/2006/relationships" id="262" r:id="R6d51585a5b1b4b8a"/>
    <p:sldId xmlns:r="http://schemas.openxmlformats.org/officeDocument/2006/relationships" id="263" r:id="Ra583cc7ba37d4358"/>
    <p:sldId xmlns:r="http://schemas.openxmlformats.org/officeDocument/2006/relationships" id="264" r:id="Rda506449e3bf4810"/>
    <p:sldId xmlns:r="http://schemas.openxmlformats.org/officeDocument/2006/relationships" id="265" r:id="R5be8ca3bfe8a492f"/>
    <p:sldId xmlns:r="http://schemas.openxmlformats.org/officeDocument/2006/relationships" id="266" r:id="Rd826d055f72243fd"/>
    <p:sldId xmlns:r="http://schemas.openxmlformats.org/officeDocument/2006/relationships" id="267" r:id="R540342861c904e35"/>
    <p:sldId xmlns:r="http://schemas.openxmlformats.org/officeDocument/2006/relationships" id="268" r:id="R28eac96f1609433f"/>
    <p:sldId xmlns:r="http://schemas.openxmlformats.org/officeDocument/2006/relationships" id="269" r:id="R1e9d6c70187d41e6"/>
    <p:sldId xmlns:r="http://schemas.openxmlformats.org/officeDocument/2006/relationships" id="270" r:id="R5e9222dd6d954152"/>
    <p:sldId xmlns:r="http://schemas.openxmlformats.org/officeDocument/2006/relationships" id="271" r:id="R09740b88f1d84203"/>
    <p:sldId xmlns:r="http://schemas.openxmlformats.org/officeDocument/2006/relationships" id="272" r:id="R48478878d6bc4558"/>
    <p:sldId xmlns:r="http://schemas.openxmlformats.org/officeDocument/2006/relationships" id="273" r:id="Rb7063bc773d64543"/>
    <p:sldId xmlns:r="http://schemas.openxmlformats.org/officeDocument/2006/relationships" id="274" r:id="Rd60e6d5dfaaa4a4d"/>
    <p:sldId xmlns:r="http://schemas.openxmlformats.org/officeDocument/2006/relationships" id="275" r:id="R8d7cca56486848db"/>
    <p:sldId xmlns:r="http://schemas.openxmlformats.org/officeDocument/2006/relationships" id="276" r:id="Rc51b40592bbc4fd8"/>
    <p:sldId xmlns:r="http://schemas.openxmlformats.org/officeDocument/2006/relationships" id="277" r:id="R56afd9dea0204589"/>
    <p:sldId xmlns:r="http://schemas.openxmlformats.org/officeDocument/2006/relationships" id="278" r:id="Re20d1a66fda441c8"/>
    <p:sldId xmlns:r="http://schemas.openxmlformats.org/officeDocument/2006/relationships" id="279" r:id="Red17a12ea9fa4f0e"/>
    <p:sldId xmlns:r="http://schemas.openxmlformats.org/officeDocument/2006/relationships" id="280" r:id="R11f35fc3f3084594"/>
    <p:sldId xmlns:r="http://schemas.openxmlformats.org/officeDocument/2006/relationships" id="281" r:id="R5734a3def3534bc3"/>
    <p:sldId xmlns:r="http://schemas.openxmlformats.org/officeDocument/2006/relationships" id="282" r:id="R9ed279171a544d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10315f631f4ef0" /><Relationship Type="http://schemas.openxmlformats.org/officeDocument/2006/relationships/slideMaster" Target="/ppt/slideMasters/slideMaster1.xml" Id="Rfd7b248e28c245a8" /><Relationship Type="http://schemas.openxmlformats.org/officeDocument/2006/relationships/notesMaster" Target="/ppt/notesMasters/notesMaster1.xml" Id="R3da5e60c655e4090" /><Relationship Type="http://schemas.openxmlformats.org/officeDocument/2006/relationships/presProps" Target="/ppt/presProps.xml" Id="R4fe2891c5d424c2f" /><Relationship Type="http://schemas.openxmlformats.org/officeDocument/2006/relationships/tableStyles" Target="/ppt/tableStyles.xml" Id="Rf11fa4d9d2cc4ae0" /><Relationship Type="http://schemas.openxmlformats.org/officeDocument/2006/relationships/slide" Target="/ppt/slides/slide1.xml" Id="R1055081a962d4b1b" /><Relationship Type="http://schemas.openxmlformats.org/officeDocument/2006/relationships/slide" Target="/ppt/slides/slide2.xml" Id="Rb755e8b6a34341c6" /><Relationship Type="http://schemas.openxmlformats.org/officeDocument/2006/relationships/slide" Target="/ppt/slides/slide3.xml" Id="R296e065c599c46b5" /><Relationship Type="http://schemas.openxmlformats.org/officeDocument/2006/relationships/slide" Target="/ppt/slides/slide4.xml" Id="Rbc2601b3562e4f9e" /><Relationship Type="http://schemas.openxmlformats.org/officeDocument/2006/relationships/slide" Target="/ppt/slides/slide5.xml" Id="R41658c9015ad4149" /><Relationship Type="http://schemas.openxmlformats.org/officeDocument/2006/relationships/slide" Target="/ppt/slides/slide6.xml" Id="Rd9680028703d4475" /><Relationship Type="http://schemas.openxmlformats.org/officeDocument/2006/relationships/slide" Target="/ppt/slides/slide7.xml" Id="R6d51585a5b1b4b8a" /><Relationship Type="http://schemas.openxmlformats.org/officeDocument/2006/relationships/slide" Target="/ppt/slides/slide8.xml" Id="Ra583cc7ba37d4358" /><Relationship Type="http://schemas.openxmlformats.org/officeDocument/2006/relationships/slide" Target="/ppt/slides/slide9.xml" Id="Rda506449e3bf4810" /><Relationship Type="http://schemas.openxmlformats.org/officeDocument/2006/relationships/slide" Target="/ppt/slides/slide10.xml" Id="R5be8ca3bfe8a492f" /><Relationship Type="http://schemas.openxmlformats.org/officeDocument/2006/relationships/slide" Target="/ppt/slides/slide11.xml" Id="Rd826d055f72243fd" /><Relationship Type="http://schemas.openxmlformats.org/officeDocument/2006/relationships/slide" Target="/ppt/slides/slide12.xml" Id="R540342861c904e35" /><Relationship Type="http://schemas.openxmlformats.org/officeDocument/2006/relationships/slide" Target="/ppt/slides/slide13.xml" Id="R28eac96f1609433f" /><Relationship Type="http://schemas.openxmlformats.org/officeDocument/2006/relationships/slide" Target="/ppt/slides/slide14.xml" Id="R1e9d6c70187d41e6" /><Relationship Type="http://schemas.openxmlformats.org/officeDocument/2006/relationships/slide" Target="/ppt/slides/slide15.xml" Id="R5e9222dd6d954152" /><Relationship Type="http://schemas.openxmlformats.org/officeDocument/2006/relationships/slide" Target="/ppt/slides/slide16.xml" Id="R09740b88f1d84203" /><Relationship Type="http://schemas.openxmlformats.org/officeDocument/2006/relationships/slide" Target="/ppt/slides/slide17.xml" Id="R48478878d6bc4558" /><Relationship Type="http://schemas.openxmlformats.org/officeDocument/2006/relationships/slide" Target="/ppt/slides/slide18.xml" Id="Rb7063bc773d64543" /><Relationship Type="http://schemas.openxmlformats.org/officeDocument/2006/relationships/slide" Target="/ppt/slides/slide19.xml" Id="Rd60e6d5dfaaa4a4d" /><Relationship Type="http://schemas.openxmlformats.org/officeDocument/2006/relationships/slide" Target="/ppt/slides/slide20.xml" Id="R8d7cca56486848db" /><Relationship Type="http://schemas.openxmlformats.org/officeDocument/2006/relationships/slide" Target="/ppt/slides/slide21.xml" Id="Rc51b40592bbc4fd8" /><Relationship Type="http://schemas.openxmlformats.org/officeDocument/2006/relationships/slide" Target="/ppt/slides/slide22.xml" Id="R56afd9dea0204589" /><Relationship Type="http://schemas.openxmlformats.org/officeDocument/2006/relationships/slide" Target="/ppt/slides/slide23.xml" Id="Re20d1a66fda441c8" /><Relationship Type="http://schemas.openxmlformats.org/officeDocument/2006/relationships/slide" Target="/ppt/slides/slide24.xml" Id="Red17a12ea9fa4f0e" /><Relationship Type="http://schemas.openxmlformats.org/officeDocument/2006/relationships/slide" Target="/ppt/slides/slide25.xml" Id="R11f35fc3f3084594" /><Relationship Type="http://schemas.openxmlformats.org/officeDocument/2006/relationships/slide" Target="/ppt/slides/slide26.xml" Id="R5734a3def3534bc3" /><Relationship Type="http://schemas.openxmlformats.org/officeDocument/2006/relationships/slide" Target="/ppt/slides/slide27.xml" Id="R9ed279171a54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0fc130e05b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c8d180fec4a35" /><Relationship Type="http://schemas.openxmlformats.org/officeDocument/2006/relationships/notesMaster" Target="/ppt/notesMasters/notesMaster1.xml" Id="R35c8f8de495c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2547f1a104aba" /><Relationship Type="http://schemas.openxmlformats.org/officeDocument/2006/relationships/notesMaster" Target="/ppt/notesMasters/notesMaster1.xml" Id="Rce13305dd9ad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0574cb72f42e7" /><Relationship Type="http://schemas.openxmlformats.org/officeDocument/2006/relationships/notesMaster" Target="/ppt/notesMasters/notesMaster1.xml" Id="R41513bebbccc42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2e520112904161" /><Relationship Type="http://schemas.openxmlformats.org/officeDocument/2006/relationships/notesMaster" Target="/ppt/notesMasters/notesMaster1.xml" Id="R692f2eefe33c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2271bc4d064318" /><Relationship Type="http://schemas.openxmlformats.org/officeDocument/2006/relationships/notesMaster" Target="/ppt/notesMasters/notesMaster1.xml" Id="Ra90c9779446c43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88d8a94a354117" /><Relationship Type="http://schemas.openxmlformats.org/officeDocument/2006/relationships/notesMaster" Target="/ppt/notesMasters/notesMaster1.xml" Id="R874e853ad73a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8c067a672e4c7a" /><Relationship Type="http://schemas.openxmlformats.org/officeDocument/2006/relationships/notesMaster" Target="/ppt/notesMasters/notesMaster1.xml" Id="Rc8d9b13cf258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aec3b0209f4ac7" /><Relationship Type="http://schemas.openxmlformats.org/officeDocument/2006/relationships/notesMaster" Target="/ppt/notesMasters/notesMaster1.xml" Id="Rcd37c1e4114943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cc309a90a4402" /><Relationship Type="http://schemas.openxmlformats.org/officeDocument/2006/relationships/notesMaster" Target="/ppt/notesMasters/notesMaster1.xml" Id="R1dee54837baf4d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c79fa62df64fd0" /><Relationship Type="http://schemas.openxmlformats.org/officeDocument/2006/relationships/notesMaster" Target="/ppt/notesMasters/notesMaster1.xml" Id="Rab991a3d520e4d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3aa200294b4650" /><Relationship Type="http://schemas.openxmlformats.org/officeDocument/2006/relationships/notesMaster" Target="/ppt/notesMasters/notesMaster1.xml" Id="Ra44eafb4311042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ae6313b48b43fc" /><Relationship Type="http://schemas.openxmlformats.org/officeDocument/2006/relationships/notesMaster" Target="/ppt/notesMasters/notesMaster1.xml" Id="R5d7902995ef343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00dc16d6e94a58" /><Relationship Type="http://schemas.openxmlformats.org/officeDocument/2006/relationships/notesMaster" Target="/ppt/notesMasters/notesMaster1.xml" Id="Rd8e9a8afec3343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0d3f9a53734f81" /><Relationship Type="http://schemas.openxmlformats.org/officeDocument/2006/relationships/notesMaster" Target="/ppt/notesMasters/notesMaster1.xml" Id="R73779cfdac5342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e563de33bc4714" /><Relationship Type="http://schemas.openxmlformats.org/officeDocument/2006/relationships/notesMaster" Target="/ppt/notesMasters/notesMaster1.xml" Id="R9c266825740a45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1dfb3cd2e14027" /><Relationship Type="http://schemas.openxmlformats.org/officeDocument/2006/relationships/notesMaster" Target="/ppt/notesMasters/notesMaster1.xml" Id="R86a5afad57fe45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4995031dbf4455" /><Relationship Type="http://schemas.openxmlformats.org/officeDocument/2006/relationships/notesMaster" Target="/ppt/notesMasters/notesMaster1.xml" Id="R6b9be40a4f0f49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a9b02c20b14ec3" /><Relationship Type="http://schemas.openxmlformats.org/officeDocument/2006/relationships/notesMaster" Target="/ppt/notesMasters/notesMaster1.xml" Id="R5d48e2fd64d244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15b7f36af44404" /><Relationship Type="http://schemas.openxmlformats.org/officeDocument/2006/relationships/notesMaster" Target="/ppt/notesMasters/notesMaster1.xml" Id="R6baa41f8f0c143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6debdd971340f5" /><Relationship Type="http://schemas.openxmlformats.org/officeDocument/2006/relationships/notesMaster" Target="/ppt/notesMasters/notesMaster1.xml" Id="Rd464184ba4e74d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95d1390c034a56" /><Relationship Type="http://schemas.openxmlformats.org/officeDocument/2006/relationships/notesMaster" Target="/ppt/notesMasters/notesMaster1.xml" Id="R5d60d82c29b042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49b13f18c74d55" /><Relationship Type="http://schemas.openxmlformats.org/officeDocument/2006/relationships/notesMaster" Target="/ppt/notesMasters/notesMaster1.xml" Id="R409b64ac672f42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537970040e466f" /><Relationship Type="http://schemas.openxmlformats.org/officeDocument/2006/relationships/notesMaster" Target="/ppt/notesMasters/notesMaster1.xml" Id="Rd765b6100b6441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9d3a784b3a450b" /><Relationship Type="http://schemas.openxmlformats.org/officeDocument/2006/relationships/notesMaster" Target="/ppt/notesMasters/notesMaster1.xml" Id="R3b779dc8b4cd41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f60543ea6442c7" /><Relationship Type="http://schemas.openxmlformats.org/officeDocument/2006/relationships/notesMaster" Target="/ppt/notesMasters/notesMaster1.xml" Id="R9eca39d67a204a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f640ba248d4605" /><Relationship Type="http://schemas.openxmlformats.org/officeDocument/2006/relationships/notesMaster" Target="/ppt/notesMasters/notesMaster1.xml" Id="R0392fddb2e7640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4ea569333a4abc" /><Relationship Type="http://schemas.openxmlformats.org/officeDocument/2006/relationships/notesMaster" Target="/ppt/notesMasters/notesMaster1.xml" Id="Rff76c0d6156e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https://pypi.org/project/pygame/2.6.1/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https://www.pygame.org/docs/ref/rect.html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072cb452b45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0ac4bd20142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346fb2ecb42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afa491eda49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21ee6a4e842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592a31606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6BA7BE-33AE-4E9E-9A6A-45479A3A1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92FF65-36A8-4382-9DE8-79C0CE9793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61C9BA-5AB5-470A-BF80-F2163B3AA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BCEEB0-BBB4-41CB-A7DC-C6125979F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83D01A-983B-439C-9ECD-C66B04B148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021224-6EFD-4F99-8EEC-C6B873813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26EEEB-4E6A-45D1-8F52-42FF903B5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B98452-1A4C-42E1-B710-FFC16ECE16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6D229-263F-40DE-91B4-3BBE098C3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3D0D8-3C86-4264-B602-03B6F7B05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61eb46d6442a0" /><Relationship Type="http://schemas.openxmlformats.org/officeDocument/2006/relationships/slideLayout" Target="/ppt/slideLayouts/slideLayout1.xml" Id="Re89f6ea7e9b34ddb" /><Relationship Type="http://schemas.openxmlformats.org/officeDocument/2006/relationships/slideLayout" Target="/ppt/slideLayouts/slideLayout2.xml" Id="R11cb1bbf7fc94f94" /><Relationship Type="http://schemas.openxmlformats.org/officeDocument/2006/relationships/slideLayout" Target="/ppt/slideLayouts/slideLayout3.xml" Id="R1720304638464a69" /><Relationship Type="http://schemas.openxmlformats.org/officeDocument/2006/relationships/slideLayout" Target="/ppt/slideLayouts/slideLayout4.xml" Id="R758afd8696bc40ca" /><Relationship Type="http://schemas.openxmlformats.org/officeDocument/2006/relationships/slideLayout" Target="/ppt/slideLayouts/slideLayout5.xml" Id="R51ee8a3b0ecd4f30" /><Relationship Type="http://schemas.openxmlformats.org/officeDocument/2006/relationships/slideLayout" Target="/ppt/slideLayouts/slideLayout6.xml" Id="R08fac6ab8840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9f6ea7e9b34ddb"/>
    <p:sldLayoutId xmlns:r="http://schemas.openxmlformats.org/officeDocument/2006/relationships" id="2147483650" r:id="R11cb1bbf7fc94f94"/>
    <p:sldLayoutId xmlns:r="http://schemas.openxmlformats.org/officeDocument/2006/relationships" id="2147483651" r:id="R1720304638464a69"/>
    <p:sldLayoutId xmlns:r="http://schemas.openxmlformats.org/officeDocument/2006/relationships" id="2147483652" r:id="R758afd8696bc40ca"/>
    <p:sldLayoutId xmlns:r="http://schemas.openxmlformats.org/officeDocument/2006/relationships" id="2147483653" r:id="R51ee8a3b0ecd4f30"/>
    <p:sldLayoutId xmlns:r="http://schemas.openxmlformats.org/officeDocument/2006/relationships" id="2147483654" r:id="R08fac6ab8840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d5fbae244467a" /><Relationship Type="http://schemas.openxmlformats.org/officeDocument/2006/relationships/hyperlink" Target="https://minhuangyuntech.github.io/oo2026/memory/play/" TargetMode="External" Id="Rc9fa6f0ab9e64ad4" /><Relationship Type="http://schemas.openxmlformats.org/officeDocument/2006/relationships/notesSlide" Target="/ppt/notesSlides/notesSlide1.xml" Id="Rbfebeb0d4503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747255818489b" /><Relationship Type="http://schemas.openxmlformats.org/officeDocument/2006/relationships/image" Target="/ppt/media/image.jpeg" Id="R6ffe2c55a7234b4e" /><Relationship Type="http://schemas.openxmlformats.org/officeDocument/2006/relationships/hyperlink" Target="https://minhuangyuntech.github.io/oo2026/memory/play/" TargetMode="External" Id="R5d2a00c5411a40eb" /><Relationship Type="http://schemas.openxmlformats.org/officeDocument/2006/relationships/hyperlink" Target="https://minhuangyuntech.github.io/oo2026/memory/play/" TargetMode="External" Id="R748265b1d3ea4ac7" /><Relationship Type="http://schemas.openxmlformats.org/officeDocument/2006/relationships/notesSlide" Target="/ppt/notesSlides/notesSlide2.xml" Id="Rda47a390769942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d5afce136469b" /><Relationship Type="http://schemas.openxmlformats.org/officeDocument/2006/relationships/notesSlide" Target="/ppt/notesSlides/notesSlide3.xml" Id="R61194565efef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c68fffa704718" /><Relationship Type="http://schemas.openxmlformats.org/officeDocument/2006/relationships/notesSlide" Target="/ppt/notesSlides/notesSlide4.xml" Id="Rf711fdc68d5a4f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8ebdac87e4ee6" /><Relationship Type="http://schemas.openxmlformats.org/officeDocument/2006/relationships/notesSlide" Target="/ppt/notesSlides/notesSlide5.xml" Id="R824edf1c522442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afd42832d42ef" /><Relationship Type="http://schemas.openxmlformats.org/officeDocument/2006/relationships/notesSlide" Target="/ppt/notesSlides/notesSlide6.xml" Id="R47cc85dcacdd41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194ad5de9495b" /><Relationship Type="http://schemas.openxmlformats.org/officeDocument/2006/relationships/notesSlide" Target="/ppt/notesSlides/notesSlide7.xml" Id="Ra0c7a66dc21e4c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faeba09f84b86" /><Relationship Type="http://schemas.openxmlformats.org/officeDocument/2006/relationships/notesSlide" Target="/ppt/notesSlides/notesSlide8.xml" Id="R148b106cacb746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455a3f2b6496e" /><Relationship Type="http://schemas.openxmlformats.org/officeDocument/2006/relationships/notesSlide" Target="/ppt/notesSlides/notesSlide9.xml" Id="Re22a80e8540945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c05d7d1284340" /><Relationship Type="http://schemas.openxmlformats.org/officeDocument/2006/relationships/notesSlide" Target="/ppt/notesSlides/notesSlide10.xml" Id="R6e9d15b1de9144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4c4ceae93474f" /><Relationship Type="http://schemas.openxmlformats.org/officeDocument/2006/relationships/notesSlide" Target="/ppt/notesSlides/notesSlide11.xml" Id="Re82fdad12aa746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8c25457ae4092" /><Relationship Type="http://schemas.openxmlformats.org/officeDocument/2006/relationships/notesSlide" Target="/ppt/notesSlides/notesSlide12.xml" Id="Rbd83c43ac6ea46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3af7af970417b" /><Relationship Type="http://schemas.openxmlformats.org/officeDocument/2006/relationships/notesSlide" Target="/ppt/notesSlides/notesSlide13.xml" Id="R26b5a4ea4d044b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053b06bf84478" /><Relationship Type="http://schemas.openxmlformats.org/officeDocument/2006/relationships/notesSlide" Target="/ppt/notesSlides/notesSlide14.xml" Id="Raaceab8f9a3749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7f9aaf4c041b7" /><Relationship Type="http://schemas.openxmlformats.org/officeDocument/2006/relationships/notesSlide" Target="/ppt/notesSlides/notesSlide15.xml" Id="Rf258970607f14c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2f510e9074d76" /><Relationship Type="http://schemas.openxmlformats.org/officeDocument/2006/relationships/notesSlide" Target="/ppt/notesSlides/notesSlide16.xml" Id="R109c40a11bd143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eeb11fc50454e" /><Relationship Type="http://schemas.openxmlformats.org/officeDocument/2006/relationships/notesSlide" Target="/ppt/notesSlides/notesSlide17.xml" Id="Rb1266fd7a70248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22efb4f874716" /><Relationship Type="http://schemas.openxmlformats.org/officeDocument/2006/relationships/hyperlink" Target="https://docs.python.org/3.12/tutorial/classes.html" TargetMode="External" Id="R7174a64d32b443cc" /><Relationship Type="http://schemas.openxmlformats.org/officeDocument/2006/relationships/hyperlink" Target="https://docs.python.org/3.12/reference/expressions.html#is-not" TargetMode="External" Id="R19b3649e844345e5" /><Relationship Type="http://schemas.openxmlformats.org/officeDocument/2006/relationships/notesSlide" Target="/ppt/notesSlides/notesSlide18.xml" Id="Rdee61e6a1f4444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af92383be4451" /><Relationship Type="http://schemas.openxmlformats.org/officeDocument/2006/relationships/notesSlide" Target="/ppt/notesSlides/notesSlide19.xml" Id="R8ec564d9a7354f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bb370d0ca4987" /><Relationship Type="http://schemas.openxmlformats.org/officeDocument/2006/relationships/image" Target="/ppt/media/image.png" Id="R07598794352d4755" /><Relationship Type="http://schemas.openxmlformats.org/officeDocument/2006/relationships/hyperlink" Target="https://minhuangyuntech.github.io/oo2026/materials/memory-oop-trilingual.zip" TargetMode="External" Id="Rd0a7a268fb4e428e" /><Relationship Type="http://schemas.openxmlformats.org/officeDocument/2006/relationships/notesSlide" Target="/ppt/notesSlides/notesSlide20.xml" Id="R1c0fa150a2ca4f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c71b230144f8f" /><Relationship Type="http://schemas.openxmlformats.org/officeDocument/2006/relationships/notesSlide" Target="/ppt/notesSlides/notesSlide21.xml" Id="Rfd1fb289044c45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bfbfe758140be" /><Relationship Type="http://schemas.openxmlformats.org/officeDocument/2006/relationships/notesSlide" Target="/ppt/notesSlides/notesSlide22.xml" Id="Rf7de56b23f0d46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bb3bddf1b43cc" /><Relationship Type="http://schemas.openxmlformats.org/officeDocument/2006/relationships/notesSlide" Target="/ppt/notesSlides/notesSlide23.xml" Id="R7cbad036c49f42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d523d76e748b4" /><Relationship Type="http://schemas.openxmlformats.org/officeDocument/2006/relationships/notesSlide" Target="/ppt/notesSlides/notesSlide24.xml" Id="R5c3b6c9fbc0142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f74d8a45bf46c9" /><Relationship Type="http://schemas.openxmlformats.org/officeDocument/2006/relationships/notesSlide" Target="/ppt/notesSlides/notesSlide25.xml" Id="R9f4daad00bc94b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484dd48774701" /><Relationship Type="http://schemas.openxmlformats.org/officeDocument/2006/relationships/notesSlide" Target="/ppt/notesSlides/notesSlide26.xml" Id="R4bfee73d16e04d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9586e6fd84d84" /><Relationship Type="http://schemas.openxmlformats.org/officeDocument/2006/relationships/notesSlide" Target="/ppt/notesSlides/notesSlide27.xml" Id="R6f03503e239f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YTHON OOP  /  CARD MATCHING">
            <a:extLst xmlns:a="http://schemas.openxmlformats.org/drawingml/2006/main">
              <a:ext uri="{FF2B5EF4-FFF2-40B4-BE49-F238E27FC236}">
                <a16:creationId xmlns:a16="http://schemas.microsoft.com/office/drawing/2014/main" id="{2B7F17A5-EEE2-4771-9191-B91A866B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OOP  /  CARD MATCHING</a:t>
            </a:r>
          </a:p>
        </p:txBody>
      </p:sp>
      <p:sp>
        <p:nvSpPr>
          <p:cNvPr id="2" name="翻牌配對與物件狀態">
            <a:extLst xmlns:a="http://schemas.openxmlformats.org/drawingml/2006/main">
              <a:ext uri="{FF2B5EF4-FFF2-40B4-BE49-F238E27FC236}">
                <a16:creationId xmlns:a16="http://schemas.microsoft.com/office/drawing/2014/main" id="{7C3125F2-D38F-432E-B36F-FA114D72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62125"/>
            <a:ext cx="11001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翻牌配對與物件狀態</a:t>
            </a:r>
          </a:p>
        </p:txBody>
      </p:sp>
      <p:sp>
        <p:nvSpPr>
          <p:cNvPr id="3" name="Card · Board · Game">
            <a:extLst xmlns:a="http://schemas.openxmlformats.org/drawingml/2006/main">
              <a:ext uri="{FF2B5EF4-FFF2-40B4-BE49-F238E27FC236}">
                <a16:creationId xmlns:a16="http://schemas.microsoft.com/office/drawing/2014/main" id="{D92FCA32-04DB-431F-AB51-FB05A8C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Card · Board · Game</a:t>
            </a:r>
          </a:p>
        </p:txBody>
      </p:sp>
      <p:sp>
        <p:nvSpPr>
          <p:cNvPr id="4" name="一張牌是一個物件。&#10;用單步操作觀察狀態與參照。">
            <a:extLst xmlns:a="http://schemas.openxmlformats.org/drawingml/2006/main">
              <a:ext uri="{FF2B5EF4-FFF2-40B4-BE49-F238E27FC236}">
                <a16:creationId xmlns:a16="http://schemas.microsoft.com/office/drawing/2014/main" id="{DAB20E9B-8F82-420E-831D-FBA3546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一張牌是一個物件。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用單步操作觀察狀態與參照。</a:t>
            </a:r>
          </a:p>
        </p:txBody>
      </p:sp>
      <p:sp>
        <p:nvSpPr>
          <p:cNvPr id="5" name="https://minhuangyuntech.github.io/oo2026/memory/play/">
            <a:extLst xmlns:a="http://schemas.openxmlformats.org/drawingml/2006/main">
              <a:ext uri="{FF2B5EF4-FFF2-40B4-BE49-F238E27FC236}">
                <a16:creationId xmlns:a16="http://schemas.microsoft.com/office/drawing/2014/main" id="{EFD8D5CF-65CE-4F31-9400-7B8547B7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c9fa6f0ab9e64ad4"/>
              </a:rPr>
              <a:t>https://minhuangyuntech.github.io/oo2026/memory/play/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2FE55259-FF38-447D-9FC5-0D3DCB7E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2292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線上遊戲與物件標籤">
            <a:extLst xmlns:a="http://schemas.openxmlformats.org/drawingml/2006/main">
              <a:ext uri="{FF2B5EF4-FFF2-40B4-BE49-F238E27FC236}">
                <a16:creationId xmlns:a16="http://schemas.microsoft.com/office/drawing/2014/main" id="{D4B0057F-3C3D-41C9-9C4D-99C46812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線上遊戲與物件標籤</a:t>
            </a:r>
          </a:p>
        </p:txBody>
      </p:sp>
      <p:sp>
        <p:nvSpPr>
          <p:cNvPr id="2" name="12 張牌、6 組圖案，直接用瀏覽器遊玩">
            <a:extLst xmlns:a="http://schemas.openxmlformats.org/drawingml/2006/main">
              <a:ext uri="{FF2B5EF4-FFF2-40B4-BE49-F238E27FC236}">
                <a16:creationId xmlns:a16="http://schemas.microsoft.com/office/drawing/2014/main" id="{13AA5BCB-155C-4B17-BFFD-67A5FB0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12 張牌、6 組圖案，直接用瀏覽器遊玩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03AC-C05F-4D58-A2E1-C193D446F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e2c55a7234b4e"/>
          <a:stretch xmlns:a="http://schemas.openxmlformats.org/drawingml/2006/main"/>
        </p:blipFill>
        <p:spPr>
          <a:xfrm xmlns:a="http://schemas.openxmlformats.org/drawingml/2006/main">
            <a:off x="823341" y="1781175"/>
            <a:ext cx="6354317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一般遊玩：選兩張牌，再確認這一回合。">
            <a:extLst xmlns:a="http://schemas.openxmlformats.org/drawingml/2006/main">
              <a:ext uri="{FF2B5EF4-FFF2-40B4-BE49-F238E27FC236}">
                <a16:creationId xmlns:a16="http://schemas.microsoft.com/office/drawing/2014/main" id="{A808ACA1-FB40-423A-A826-4E1D356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一般遊玩：選兩張牌，再確認這一回合。</a:t>
            </a:r>
          </a:p>
        </p:txBody>
      </p:sp>
      <p:sp>
        <p:nvSpPr>
          <p:cNvPr id="5" name="單步觀察：選牌後逐步翻開、比較、結算。">
            <a:extLst xmlns:a="http://schemas.openxmlformats.org/drawingml/2006/main">
              <a:ext uri="{FF2B5EF4-FFF2-40B4-BE49-F238E27FC236}">
                <a16:creationId xmlns:a16="http://schemas.microsoft.com/office/drawing/2014/main" id="{F571047A-485C-4877-888A-91D447A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單步觀察：選牌後逐步翻開、比較、結算。</a:t>
            </a:r>
          </a:p>
        </p:txBody>
      </p:sp>
      <p:sp>
        <p:nvSpPr>
          <p:cNvPr id="6" name="直接玩線上版">
            <a:extLst xmlns:a="http://schemas.openxmlformats.org/drawingml/2006/main">
              <a:ext uri="{FF2B5EF4-FFF2-40B4-BE49-F238E27FC236}">
                <a16:creationId xmlns:a16="http://schemas.microsoft.com/office/drawing/2014/main" id="{CEA3CD7A-AB64-4FFD-B1D9-0F73B24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768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5d2a00c5411a40eb"/>
              </a:rPr>
              <a:t>直接玩線上版</a:t>
            </a:r>
          </a:p>
        </p:txBody>
      </p:sp>
      <p:sp>
        <p:nvSpPr>
          <p:cNvPr id="7" name="https://minhuangyuntech.github.io/oo2026/memory/play/">
            <a:extLst xmlns:a="http://schemas.openxmlformats.org/drawingml/2006/main">
              <a:ext uri="{FF2B5EF4-FFF2-40B4-BE49-F238E27FC236}">
                <a16:creationId xmlns:a16="http://schemas.microsoft.com/office/drawing/2014/main" id="{6756D6CB-E20D-407C-A036-09A9BA9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197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48265b1d3ea4ac7"/>
              </a:rPr>
              <a:t>https://minhuangyuntech.github.io/oo2026/memory/play/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6CF0E83-4E71-461C-ACAD-9EB409F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3667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遊玩與觀察操作">
            <a:extLst xmlns:a="http://schemas.openxmlformats.org/drawingml/2006/main">
              <a:ext uri="{FF2B5EF4-FFF2-40B4-BE49-F238E27FC236}">
                <a16:creationId xmlns:a16="http://schemas.microsoft.com/office/drawing/2014/main" id="{4B893B5B-6EE5-44F7-B15C-EEEC104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遊玩與觀察操作</a:t>
            </a:r>
          </a:p>
        </p:txBody>
      </p:sp>
      <p:sp>
        <p:nvSpPr>
          <p:cNvPr id="2" name="滑鼠、觸控與鍵盤皆可操作">
            <a:extLst xmlns:a="http://schemas.openxmlformats.org/drawingml/2006/main">
              <a:ext uri="{FF2B5EF4-FFF2-40B4-BE49-F238E27FC236}">
                <a16:creationId xmlns:a16="http://schemas.microsoft.com/office/drawing/2014/main" id="{C73D3178-6FD8-4669-878F-8DB7895C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滑鼠、觸控與鍵盤皆可操作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13EE1-B1FC-4345-B6DD-11180C7FF6F9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一般遊玩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選兩張牌，按「確認這一回合」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單步觀察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選牌後逐步翻開、比較、結算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 / 物件標籤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切換 C01: Card 等標籤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物件檢視器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只切換檢視對象，不會翻牌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固定範例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建立新一局，開啟單步觀察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新遊戲／洗牌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建立新的物件與隨機棋盤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切換語言保留目前棋盤與進度。重新整理頁面會建立新遊戲。">
            <a:extLst xmlns:a="http://schemas.openxmlformats.org/drawingml/2006/main">
              <a:ext uri="{FF2B5EF4-FFF2-40B4-BE49-F238E27FC236}">
                <a16:creationId xmlns:a16="http://schemas.microsoft.com/office/drawing/2014/main" id="{5C8FE7FB-2D23-44F6-94E3-BBB51BB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切換語言保留目前棋盤與進度。重新整理頁面會建立新遊戲。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3227EE6C-9741-4FE2-96DD-08CFB1AE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177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個類別的責任">
            <a:extLst xmlns:a="http://schemas.openxmlformats.org/drawingml/2006/main">
              <a:ext uri="{FF2B5EF4-FFF2-40B4-BE49-F238E27FC236}">
                <a16:creationId xmlns:a16="http://schemas.microsoft.com/office/drawing/2014/main" id="{704EBAE5-73D3-43EE-8A28-AD5B1364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三個類別的責任</a:t>
            </a:r>
          </a:p>
        </p:txBody>
      </p:sp>
      <p:sp>
        <p:nvSpPr>
          <p:cNvPr id="2" name="讓資料與操作留在負責的物件裡">
            <a:extLst xmlns:a="http://schemas.openxmlformats.org/drawingml/2006/main">
              <a:ext uri="{FF2B5EF4-FFF2-40B4-BE49-F238E27FC236}">
                <a16:creationId xmlns:a16="http://schemas.microsoft.com/office/drawing/2014/main" id="{6C65E5EB-111F-45F8-A79A-63D27F6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讓資料與操作留在負責的物件裡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E058-FC67-456A-ABFB-C69ABE142ACA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67250"/>
                <a:gridCol w="466725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name, pair_id, face_up, 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翻開、蓋回、標記配對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cards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建立與查找 12 張牌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first, second, pending, 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協調選牌、比較與結算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畫面讀取模型狀態，按鈕呼叫模型方法。">
            <a:extLst xmlns:a="http://schemas.openxmlformats.org/drawingml/2006/main">
              <a:ext uri="{FF2B5EF4-FFF2-40B4-BE49-F238E27FC236}">
                <a16:creationId xmlns:a16="http://schemas.microsoft.com/office/drawing/2014/main" id="{66D6DA38-88AE-48CD-BD58-C61C47E8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畫面讀取模型狀態，按鈕呼叫模型方法。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835E09E3-27E4-4AD9-BA14-435BCAC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7917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UML 類別圖">
            <a:extLst xmlns:a="http://schemas.openxmlformats.org/drawingml/2006/main">
              <a:ext uri="{FF2B5EF4-FFF2-40B4-BE49-F238E27FC236}">
                <a16:creationId xmlns:a16="http://schemas.microsoft.com/office/drawing/2014/main" id="{90D14C04-EAF2-4E1B-9767-1628969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UML 類別圖</a:t>
            </a:r>
          </a:p>
        </p:txBody>
      </p:sp>
      <p:sp>
        <p:nvSpPr>
          <p:cNvPr id="2" name="方框分為名稱、屬性、方法；箭頭表示可導覽的關聯">
            <a:extLst xmlns:a="http://schemas.openxmlformats.org/drawingml/2006/main">
              <a:ext uri="{FF2B5EF4-FFF2-40B4-BE49-F238E27FC236}">
                <a16:creationId xmlns:a16="http://schemas.microsoft.com/office/drawing/2014/main" id="{25F8F566-C3F8-4435-BAAB-C3082306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方框分為名稱、屬性、方法；箭頭表示可導覽的關聯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19806-C0EC-4086-BCB6-B035B5EA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4D381C17-F9DF-421C-AE84-BD65D60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575AB-2D5C-4C8E-8FA4-E69C929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board: Board&#10;first: Card [0..1]&#10;second: Card [0..1]&#10;pending: Card [0..">
            <a:extLst xmlns:a="http://schemas.openxmlformats.org/drawingml/2006/main">
              <a:ext uri="{FF2B5EF4-FFF2-40B4-BE49-F238E27FC236}">
                <a16:creationId xmlns:a16="http://schemas.microsoft.com/office/drawing/2014/main" id="{01F01459-1B8B-42C8-9BD8-B310A81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board: Board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first: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second: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pending: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phase, turns, matches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1328-E6B0-414A-8A12-E5B6B845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queue(name)&#10;step(), compare(), settle()">
            <a:extLst xmlns:a="http://schemas.openxmlformats.org/drawingml/2006/main">
              <a:ext uri="{FF2B5EF4-FFF2-40B4-BE49-F238E27FC236}">
                <a16:creationId xmlns:a16="http://schemas.microsoft.com/office/drawing/2014/main" id="{A98D2FED-B919-4D4C-BF8E-AF4EA7A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queue(name)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step(), compare(), settle()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7FD85-68E0-4530-9992-C40A484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2476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0" name="Board">
            <a:extLst xmlns:a="http://schemas.openxmlformats.org/drawingml/2006/main">
              <a:ext uri="{FF2B5EF4-FFF2-40B4-BE49-F238E27FC236}">
                <a16:creationId xmlns:a16="http://schemas.microsoft.com/office/drawing/2014/main" id="{4C66738B-9E39-4B41-AB91-352555C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621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rPr>
              <a:t>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A417E-2B52-416A-95F3-F7EC5AC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234315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2" name="cards: list[Card]&#10;complete: bool">
            <a:extLst xmlns:a="http://schemas.openxmlformats.org/drawingml/2006/main">
              <a:ext uri="{FF2B5EF4-FFF2-40B4-BE49-F238E27FC236}">
                <a16:creationId xmlns:a16="http://schemas.microsoft.com/office/drawing/2014/main" id="{E7FA88A1-CE92-4F04-95E5-23DF362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57450"/>
            <a:ext cx="2171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cards: list[Card]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complete: bool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E7633-288E-4D92-A868-1FFFE40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909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4" name="get(name)">
            <a:extLst xmlns:a="http://schemas.openxmlformats.org/drawingml/2006/main">
              <a:ext uri="{FF2B5EF4-FFF2-40B4-BE49-F238E27FC236}">
                <a16:creationId xmlns:a16="http://schemas.microsoft.com/office/drawing/2014/main" id="{9B8A7280-5554-446D-B982-FA882755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33850"/>
            <a:ext cx="2171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get(name)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8107E-6F0A-4EBA-9CAE-7BF5192F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0C09E573-B915-41ED-B3A5-435CC151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83546-347C-4207-B4BD-8271854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8" name="name, pair_id&#10;face_up, matched">
            <a:extLst xmlns:a="http://schemas.openxmlformats.org/drawingml/2006/main">
              <a:ext uri="{FF2B5EF4-FFF2-40B4-BE49-F238E27FC236}">
                <a16:creationId xmlns:a16="http://schemas.microsoft.com/office/drawing/2014/main" id="{5FAA85A7-EB26-4937-A35B-7ED5430F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name, pair_id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face_up, matched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129A7-3B81-4A60-909A-F6BED02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0" name="reveal()&#10;hide(), mark_matched()">
            <a:extLst xmlns:a="http://schemas.openxmlformats.org/drawingml/2006/main">
              <a:ext uri="{FF2B5EF4-FFF2-40B4-BE49-F238E27FC236}">
                <a16:creationId xmlns:a16="http://schemas.microsoft.com/office/drawing/2014/main" id="{DFD6B211-D24F-4941-9F8C-802BEA9C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reveal()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hide(), mark_matched()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B922F-2489-497F-84FA-2A7E02D9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2857500"/>
            <a:ext cx="1095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B54EB-F325-422E-BD83-A7936050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18176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F48B5-C158-43D0-B9C4-ED5F4AD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18176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board">
            <a:extLst xmlns:a="http://schemas.openxmlformats.org/drawingml/2006/main">
              <a:ext uri="{FF2B5EF4-FFF2-40B4-BE49-F238E27FC236}">
                <a16:creationId xmlns:a16="http://schemas.microsoft.com/office/drawing/2014/main" id="{8D09CB3C-8B54-46CE-9F19-BC36D2F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board</a:t>
            </a:r>
          </a:p>
        </p:txBody>
      </p:sp>
      <p:sp>
        <p:nvSpPr>
          <p:cNvPr id="25" name="1">
            <a:extLst xmlns:a="http://schemas.openxmlformats.org/drawingml/2006/main">
              <a:ext uri="{FF2B5EF4-FFF2-40B4-BE49-F238E27FC236}">
                <a16:creationId xmlns:a16="http://schemas.microsoft.com/office/drawing/2014/main" id="{2A962CC9-2FAF-47AF-A920-4C83A9E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527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B5848-7953-4CFD-9D14-E0441071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857500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8DD4A-0117-4563-9027-725C16F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85301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7A434-4E22-4E17-B5A8-2B9499C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385301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cards">
            <a:extLst xmlns:a="http://schemas.openxmlformats.org/drawingml/2006/main">
              <a:ext uri="{FF2B5EF4-FFF2-40B4-BE49-F238E27FC236}">
                <a16:creationId xmlns:a16="http://schemas.microsoft.com/office/drawing/2014/main" id="{ACA370CD-F53D-4F81-87D3-9F486963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cards</a:t>
            </a:r>
          </a:p>
        </p:txBody>
      </p:sp>
      <p:sp>
        <p:nvSpPr>
          <p:cNvPr id="30" name="12">
            <a:extLst xmlns:a="http://schemas.openxmlformats.org/drawingml/2006/main">
              <a:ext uri="{FF2B5EF4-FFF2-40B4-BE49-F238E27FC236}">
                <a16:creationId xmlns:a16="http://schemas.microsoft.com/office/drawing/2014/main" id="{29232F9B-B3F2-4FAE-9390-916469D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1" name="first / second / pending : Card [0..1]">
            <a:extLst xmlns:a="http://schemas.openxmlformats.org/drawingml/2006/main">
              <a:ext uri="{FF2B5EF4-FFF2-40B4-BE49-F238E27FC236}">
                <a16:creationId xmlns:a16="http://schemas.microsoft.com/office/drawing/2014/main" id="{FFE0DEC7-CDAB-4D15-8781-E966D95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first / second / pending : Card [0..1]</a:t>
            </a:r>
          </a:p>
        </p:txBody>
      </p:sp>
      <p:sp>
        <p:nvSpPr>
          <p:cNvPr id="32" name="一個 Game 對應一個 Board，Board 保存 12 張 Card。">
            <a:extLst xmlns:a="http://schemas.openxmlformats.org/drawingml/2006/main">
              <a:ext uri="{FF2B5EF4-FFF2-40B4-BE49-F238E27FC236}">
                <a16:creationId xmlns:a16="http://schemas.microsoft.com/office/drawing/2014/main" id="{72481775-85D9-44A5-92D6-2687126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一個 Game 對應一個 Board，Board 保存 12 張 Card。</a:t>
            </a:r>
          </a:p>
        </p:txBody>
      </p:sp>
      <p:sp>
        <p:nvSpPr>
          <p:cNvPr id="33" name="first、second、pending 各參照零或一張 Card。本例以關聯合作。">
            <a:extLst xmlns:a="http://schemas.openxmlformats.org/drawingml/2006/main">
              <a:ext uri="{FF2B5EF4-FFF2-40B4-BE49-F238E27FC236}">
                <a16:creationId xmlns:a16="http://schemas.microsoft.com/office/drawing/2014/main" id="{75A1CB48-522B-4004-824D-5D314A5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first、second、pending 各參照零或一張 Card。本例以關聯合作。</a:t>
            </a:r>
          </a:p>
        </p:txBody>
      </p:sp>
      <p:sp>
        <p:nvSpPr>
          <p:cNvPr id="34" name="05">
            <a:extLst xmlns:a="http://schemas.openxmlformats.org/drawingml/2006/main">
              <a:ext uri="{FF2B5EF4-FFF2-40B4-BE49-F238E27FC236}">
                <a16:creationId xmlns:a16="http://schemas.microsoft.com/office/drawing/2014/main" id="{62D588CF-5975-4B21-B79E-8937305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9904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兩張相同圖案，兩個不同物件">
            <a:extLst xmlns:a="http://schemas.openxmlformats.org/drawingml/2006/main">
              <a:ext uri="{FF2B5EF4-FFF2-40B4-BE49-F238E27FC236}">
                <a16:creationId xmlns:a16="http://schemas.microsoft.com/office/drawing/2014/main" id="{F2474B06-D226-4340-8F9D-3126A19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兩張相同圖案，兩個不同物件</a:t>
            </a:r>
          </a:p>
        </p:txBody>
      </p:sp>
      <p:sp>
        <p:nvSpPr>
          <p:cNvPr id="2" name="固定棋盤：C01 與 C02 的 pair_id 都是 moon">
            <a:extLst xmlns:a="http://schemas.openxmlformats.org/drawingml/2006/main">
              <a:ext uri="{FF2B5EF4-FFF2-40B4-BE49-F238E27FC236}">
                <a16:creationId xmlns:a16="http://schemas.microsoft.com/office/drawing/2014/main" id="{8B659670-2220-4070-B174-31A77C0A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固定棋盤：C01 與 C02 的 pair_id 都是 moon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6C540-7DC4-4275-99DE-AD29F37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4" name="game : Game">
            <a:extLst xmlns:a="http://schemas.openxmlformats.org/drawingml/2006/main">
              <a:ext uri="{FF2B5EF4-FFF2-40B4-BE49-F238E27FC236}">
                <a16:creationId xmlns:a16="http://schemas.microsoft.com/office/drawing/2014/main" id="{68E019E4-2B7C-469E-8F82-116D5CF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game :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0ABC6-7687-4F33-B866-447B9CA9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362200"/>
            <a:ext cx="13620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A0257-4E49-46DF-A70B-1175974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46697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7" name="first → C01&#10;second → C02">
            <a:extLst xmlns:a="http://schemas.openxmlformats.org/drawingml/2006/main">
              <a:ext uri="{FF2B5EF4-FFF2-40B4-BE49-F238E27FC236}">
                <a16:creationId xmlns:a16="http://schemas.microsoft.com/office/drawing/2014/main" id="{E044B6EC-D85E-477B-8A20-D8119B1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first → C01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second → C02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5DB61-2414-4C76-AC1D-77BE701D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9" name="board : Board">
            <a:extLst xmlns:a="http://schemas.openxmlformats.org/drawingml/2006/main">
              <a:ext uri="{FF2B5EF4-FFF2-40B4-BE49-F238E27FC236}">
                <a16:creationId xmlns:a16="http://schemas.microsoft.com/office/drawing/2014/main" id="{B350EE44-719A-492D-84C6-5BACC51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board : 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C8682-2346-4B95-BCBE-26542D47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600575"/>
            <a:ext cx="16097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40116-935C-4F25-B195-FFCDDC7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70535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2" name="cards[0] → C01&#10;cards[1] → C02">
            <a:extLst xmlns:a="http://schemas.openxmlformats.org/drawingml/2006/main">
              <a:ext uri="{FF2B5EF4-FFF2-40B4-BE49-F238E27FC236}">
                <a16:creationId xmlns:a16="http://schemas.microsoft.com/office/drawing/2014/main" id="{BA49A9E9-2920-4EF1-876A-1CEBF204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cards[0] → C01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cards[1] → C02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E66A8-57DC-4D14-8BA1-E06F1A5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4" name="C01 : Card">
            <a:extLst xmlns:a="http://schemas.openxmlformats.org/drawingml/2006/main">
              <a:ext uri="{FF2B5EF4-FFF2-40B4-BE49-F238E27FC236}">
                <a16:creationId xmlns:a16="http://schemas.microsoft.com/office/drawing/2014/main" id="{4F22D92C-DB15-4557-929A-1609AA0A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rPr>
              <a:t>C01 :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41213-18E6-4493-AC76-71CEC85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23622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E8B59-2CC8-4198-A0F8-6391A1A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246697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7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FB0C2C1D-2C4B-4C0F-B860-020FCE61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pair_id = "moon"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face_up =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E95CD-48F3-43EF-B19C-FC750C8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9" name="C02 : Card">
            <a:extLst xmlns:a="http://schemas.openxmlformats.org/drawingml/2006/main">
              <a:ext uri="{FF2B5EF4-FFF2-40B4-BE49-F238E27FC236}">
                <a16:creationId xmlns:a16="http://schemas.microsoft.com/office/drawing/2014/main" id="{AC046C49-C09B-4B1D-9004-5DC9B65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rPr>
              <a:t>C02 :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14614-1C85-41B8-8C47-D5DB6B3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6005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E420C-19C6-4400-A50E-6BD2708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705350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2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A0F616A5-EA8C-4B6D-B803-D3B3FE27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29175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pair_id = "moon"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face_up =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69C8E-89CF-45E6-ADFC-0C50F2C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667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6B914-2EB2-4CF7-A076-A7114C0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2667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03F69-AF24-4D36-B5BC-F8BEC584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2616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992C4-554E-4092-BF86-DAB5C02C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143250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81137-F471-45AD-8629-17C1BBE3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3143250"/>
            <a:ext cx="0" cy="1476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E508BB-D8E3-4941-A2C4-DA7D3CB9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61962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CD8D1-2C02-4EDE-808C-1D945E77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46196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09306-772D-4CB4-A97A-5A640E2C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45693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34072-6DED-4E52-BED8-DCE43F0A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8577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BD9214-7BC2-4D59-952F-9928561A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62750" y="3143250"/>
            <a:ext cx="0" cy="17145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C8A653-9E0D-478D-B0E7-27C5C2C3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1F92B-79AB-4116-80A2-0D593BD1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31432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57DA86-899C-4820-BF33-92F0A34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30930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12669-C178-4F8F-BB4F-6037C182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5334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8659B-A186-4B72-82D8-F2C273FF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5334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81D35-951C-46B5-9BCF-18B3BF15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5283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9" name="C01 is C02  →  False">
            <a:extLst xmlns:a="http://schemas.openxmlformats.org/drawingml/2006/main">
              <a:ext uri="{FF2B5EF4-FFF2-40B4-BE49-F238E27FC236}">
                <a16:creationId xmlns:a16="http://schemas.microsoft.com/office/drawing/2014/main" id="{1BA3DBC6-F2E3-4DC2-8BFE-24D13E9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7654B2"/>
                </a:solidFill>
                <a:latin typeface="Microsoft JhengHei"/>
                <a:ea typeface="Microsoft JhengHei"/>
                <a:cs typeface="Microsoft JhengHei"/>
              </a:rPr>
              <a:t>C01 is C02  →  False</a:t>
            </a:r>
          </a:p>
        </p:txBody>
      </p:sp>
      <p:sp>
        <p:nvSpPr>
          <p:cNvPr id="40" name="C01 與 C02 是兩個實體，face_up 可各自改變。">
            <a:extLst xmlns:a="http://schemas.openxmlformats.org/drawingml/2006/main">
              <a:ext uri="{FF2B5EF4-FFF2-40B4-BE49-F238E27FC236}">
                <a16:creationId xmlns:a16="http://schemas.microsoft.com/office/drawing/2014/main" id="{84E0EEA8-7A92-43E3-8C24-6212975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C01 與 C02 是兩個實體，face_up 可各自改變。</a:t>
            </a:r>
          </a:p>
        </p:txBody>
      </p:sp>
      <p:sp>
        <p:nvSpPr>
          <p:cNvPr id="41" name="Game.first 與 Board.cards[0] 可以參照同一張牌。">
            <a:extLst xmlns:a="http://schemas.openxmlformats.org/drawingml/2006/main">
              <a:ext uri="{FF2B5EF4-FFF2-40B4-BE49-F238E27FC236}">
                <a16:creationId xmlns:a16="http://schemas.microsoft.com/office/drawing/2014/main" id="{97834BE0-FF24-4C13-A3AD-35D8D6F5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Game.first 與 Board.cards[0] 可以參照同一張牌。</a:t>
            </a:r>
          </a:p>
        </p:txBody>
      </p:sp>
      <p:sp>
        <p:nvSpPr>
          <p:cNvPr id="42" name="06">
            <a:extLst xmlns:a="http://schemas.openxmlformats.org/drawingml/2006/main">
              <a:ext uri="{FF2B5EF4-FFF2-40B4-BE49-F238E27FC236}">
                <a16:creationId xmlns:a16="http://schemas.microsoft.com/office/drawing/2014/main" id="{58487B4F-F29F-48D7-A1CD-B8223F2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5950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rd 的三種狀態">
            <a:extLst xmlns:a="http://schemas.openxmlformats.org/drawingml/2006/main">
              <a:ext uri="{FF2B5EF4-FFF2-40B4-BE49-F238E27FC236}">
                <a16:creationId xmlns:a16="http://schemas.microsoft.com/office/drawing/2014/main" id="{0B64997F-8F72-41F9-BFC9-9B778ED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Card 的三種狀態</a:t>
            </a:r>
          </a:p>
        </p:txBody>
      </p:sp>
      <p:sp>
        <p:nvSpPr>
          <p:cNvPr id="2" name="兩個布林屬性，描述畫面上的牌">
            <a:extLst xmlns:a="http://schemas.openxmlformats.org/drawingml/2006/main">
              <a:ext uri="{FF2B5EF4-FFF2-40B4-BE49-F238E27FC236}">
                <a16:creationId xmlns:a16="http://schemas.microsoft.com/office/drawing/2014/main" id="{3A42AC6C-2A2F-4027-B63E-EEFDECA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兩個布林屬性，描述畫面上的牌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5F331-F437-4BA0-BD89-7F7AD4585548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096000"/>
                <a:gridCol w="2476500"/>
                <a:gridCol w="247650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畫面狀態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face_up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牌背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已翻開，尚未配對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已配對，保持正面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已配對的牌會保持正面；hide() 不會把它蓋回。">
            <a:extLst xmlns:a="http://schemas.openxmlformats.org/drawingml/2006/main">
              <a:ext uri="{FF2B5EF4-FFF2-40B4-BE49-F238E27FC236}">
                <a16:creationId xmlns:a16="http://schemas.microsoft.com/office/drawing/2014/main" id="{02A0788A-F661-4C2A-8CEC-CEA6A684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已配對的牌會保持正面；hide() 不會把它蓋回。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FCBA987F-040D-442D-8641-C620521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55447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rd：資料與翻牌行為">
            <a:extLst xmlns:a="http://schemas.openxmlformats.org/drawingml/2006/main">
              <a:ext uri="{FF2B5EF4-FFF2-40B4-BE49-F238E27FC236}">
                <a16:creationId xmlns:a16="http://schemas.microsoft.com/office/drawing/2014/main" id="{9A14F64F-7137-45A1-92A9-741CA521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Card：資料與翻牌行為</a:t>
            </a:r>
          </a:p>
        </p:txBody>
      </p:sp>
      <p:sp>
        <p:nvSpPr>
          <p:cNvPr id="2" name="model.py · Card">
            <a:extLst xmlns:a="http://schemas.openxmlformats.org/drawingml/2006/main">
              <a:ext uri="{FF2B5EF4-FFF2-40B4-BE49-F238E27FC236}">
                <a16:creationId xmlns:a16="http://schemas.microsoft.com/office/drawing/2014/main" id="{E9ABEFF8-5B68-49F9-B383-17EF630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model.py · Card</a:t>
            </a:r>
          </a:p>
        </p:txBody>
      </p:sp>
      <p:sp>
        <p:nvSpPr>
          <p:cNvPr id="3" name="class Card:">
            <a:extLst xmlns:a="http://schemas.openxmlformats.org/drawingml/2006/main">
              <a:ext uri="{FF2B5EF4-FFF2-40B4-BE49-F238E27FC236}">
                <a16:creationId xmlns:a16="http://schemas.microsoft.com/office/drawing/2014/main" id="{131074AE-7DD3-48A9-8CE9-E0A8239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Card:</a:t>
            </a:r>
          </a:p>
        </p:txBody>
      </p:sp>
      <p:sp>
        <p:nvSpPr>
          <p:cNvPr id="4" name="    def __init__(self, name, pair_id):">
            <a:extLst xmlns:a="http://schemas.openxmlformats.org/drawingml/2006/main">
              <a:ext uri="{FF2B5EF4-FFF2-40B4-BE49-F238E27FC236}">
                <a16:creationId xmlns:a16="http://schemas.microsoft.com/office/drawing/2014/main" id="{351DF5B1-0190-46ED-9C22-CFA1092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pair_id):</a:t>
            </a:r>
          </a:p>
        </p:txBody>
      </p:sp>
      <p:sp>
        <p:nvSpPr>
          <p:cNvPr id="5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3C07937-EB9B-4092-BE83-283F706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6" name="        self.pair_id = pair_id">
            <a:extLst xmlns:a="http://schemas.openxmlformats.org/drawingml/2006/main">
              <a:ext uri="{FF2B5EF4-FFF2-40B4-BE49-F238E27FC236}">
                <a16:creationId xmlns:a16="http://schemas.microsoft.com/office/drawing/2014/main" id="{A3E115BA-F637-429E-A0DE-C0EC01E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self.pair_id = pair_id</a:t>
            </a:r>
          </a:p>
        </p:txBody>
      </p:sp>
      <p:sp>
        <p:nvSpPr>
          <p:cNvPr id="7" name="        self.face_up = False">
            <a:extLst xmlns:a="http://schemas.openxmlformats.org/drawingml/2006/main">
              <a:ext uri="{FF2B5EF4-FFF2-40B4-BE49-F238E27FC236}">
                <a16:creationId xmlns:a16="http://schemas.microsoft.com/office/drawing/2014/main" id="{20732318-1ED2-4831-B46A-C5E52408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False</a:t>
            </a:r>
          </a:p>
        </p:txBody>
      </p:sp>
      <p:sp>
        <p:nvSpPr>
          <p:cNvPr id="8" name="        self.matched = False">
            <a:extLst xmlns:a="http://schemas.openxmlformats.org/drawingml/2006/main">
              <a:ext uri="{FF2B5EF4-FFF2-40B4-BE49-F238E27FC236}">
                <a16:creationId xmlns:a16="http://schemas.microsoft.com/office/drawing/2014/main" id="{CB3430A1-28EE-4B7C-9D29-5B9D4F7B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self.matched =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F833-5B40-4EF0-B1CE-B9F0845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    def reveal(self):">
            <a:extLst xmlns:a="http://schemas.openxmlformats.org/drawingml/2006/main">
              <a:ext uri="{FF2B5EF4-FFF2-40B4-BE49-F238E27FC236}">
                <a16:creationId xmlns:a16="http://schemas.microsoft.com/office/drawing/2014/main" id="{16EBC565-B3A3-4DC2-B987-6CEAE23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reveal(self):</a:t>
            </a:r>
          </a:p>
        </p:txBody>
      </p:sp>
      <p:sp>
        <p:nvSpPr>
          <p:cNvPr id="11" name="        if self.face_up or self.matched:">
            <a:extLst xmlns:a="http://schemas.openxmlformats.org/drawingml/2006/main">
              <a:ext uri="{FF2B5EF4-FFF2-40B4-BE49-F238E27FC236}">
                <a16:creationId xmlns:a16="http://schemas.microsoft.com/office/drawing/2014/main" id="{B8100C9A-DD6B-4A44-881E-537683B1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self.face_up or self.matched:</a:t>
            </a:r>
          </a:p>
        </p:txBody>
      </p:sp>
      <p:sp>
        <p:nvSpPr>
          <p:cNvPr id="12" name="    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B8E1E69E-4601-4D8C-BA8E-4EA6835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 False</a:t>
            </a:r>
          </a:p>
        </p:txBody>
      </p:sp>
      <p:sp>
        <p:nvSpPr>
          <p:cNvPr id="13" name="        self.face_up = True">
            <a:extLst xmlns:a="http://schemas.openxmlformats.org/drawingml/2006/main">
              <a:ext uri="{FF2B5EF4-FFF2-40B4-BE49-F238E27FC236}">
                <a16:creationId xmlns:a16="http://schemas.microsoft.com/office/drawing/2014/main" id="{C00AB284-2B2E-43B6-AB78-52B484AE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True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6B19007F-07AD-43B1-A8C0-01CFAAE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reveal() 拒絕重複翻開及已配對的牌。">
            <a:extLst xmlns:a="http://schemas.openxmlformats.org/drawingml/2006/main">
              <a:ext uri="{FF2B5EF4-FFF2-40B4-BE49-F238E27FC236}">
                <a16:creationId xmlns:a16="http://schemas.microsoft.com/office/drawing/2014/main" id="{0A313C32-8538-40D2-893C-6941F81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reveal() 拒絕重複翻開及已配對的牌。</a:t>
            </a:r>
          </a:p>
        </p:txBody>
      </p:sp>
      <p:sp>
        <p:nvSpPr>
          <p:cNvPr id="16" name="本例屬性可直接讀寫；程式流程透過方法維持規則。">
            <a:extLst xmlns:a="http://schemas.openxmlformats.org/drawingml/2006/main">
              <a:ext uri="{FF2B5EF4-FFF2-40B4-BE49-F238E27FC236}">
                <a16:creationId xmlns:a16="http://schemas.microsoft.com/office/drawing/2014/main" id="{523920F4-A2D7-48AE-8688-1D7DB71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本例屬性可直接讀寫；程式流程透過方法維持規則。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06D982F8-C22D-4794-88CA-08991F8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08">
            <a:extLst xmlns:a="http://schemas.openxmlformats.org/drawingml/2006/main">
              <a:ext uri="{FF2B5EF4-FFF2-40B4-BE49-F238E27FC236}">
                <a16:creationId xmlns:a16="http://schemas.microsoft.com/office/drawing/2014/main" id="{6E5B3DC4-411C-4A62-8398-6D647B3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5366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oard：建立與保存卡牌">
            <a:extLst xmlns:a="http://schemas.openxmlformats.org/drawingml/2006/main">
              <a:ext uri="{FF2B5EF4-FFF2-40B4-BE49-F238E27FC236}">
                <a16:creationId xmlns:a16="http://schemas.microsoft.com/office/drawing/2014/main" id="{CC5719BB-4A8F-4203-83F9-18D444C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Board：建立與保存卡牌</a:t>
            </a:r>
          </a:p>
        </p:txBody>
      </p:sp>
      <p:sp>
        <p:nvSpPr>
          <p:cNvPr id="2" name="model.py · Board.__init__">
            <a:extLst xmlns:a="http://schemas.openxmlformats.org/drawingml/2006/main">
              <a:ext uri="{FF2B5EF4-FFF2-40B4-BE49-F238E27FC236}">
                <a16:creationId xmlns:a16="http://schemas.microsoft.com/office/drawing/2014/main" id="{2DEEDDB9-5C32-45EA-AE57-06455187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model.py · Board.__init__</a:t>
            </a:r>
          </a:p>
        </p:txBody>
      </p:sp>
      <p:sp>
        <p:nvSpPr>
          <p:cNvPr id="3" name="def __init__(self, sample=False):">
            <a:extLst xmlns:a="http://schemas.openxmlformats.org/drawingml/2006/main">
              <a:ext uri="{FF2B5EF4-FFF2-40B4-BE49-F238E27FC236}">
                <a16:creationId xmlns:a16="http://schemas.microsoft.com/office/drawing/2014/main" id="{9B6D6FA2-0624-416B-8E06-90BE7D0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sample=False):</a:t>
            </a:r>
          </a:p>
        </p:txBody>
      </p:sp>
      <p:sp>
        <p:nvSpPr>
          <p:cNvPr id="4" name="    pairs = SAMPLE.copy()">
            <a:extLst xmlns:a="http://schemas.openxmlformats.org/drawingml/2006/main">
              <a:ext uri="{FF2B5EF4-FFF2-40B4-BE49-F238E27FC236}">
                <a16:creationId xmlns:a16="http://schemas.microsoft.com/office/drawing/2014/main" id="{D1337950-5449-4E44-BCD6-DF5353C1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pairs = SAMPLE.copy()</a:t>
            </a:r>
          </a:p>
        </p:txBody>
      </p:sp>
      <p:sp>
        <p:nvSpPr>
          <p:cNvPr id="5" name="    if not sample:">
            <a:extLst xmlns:a="http://schemas.openxmlformats.org/drawingml/2006/main">
              <a:ext uri="{FF2B5EF4-FFF2-40B4-BE49-F238E27FC236}">
                <a16:creationId xmlns:a16="http://schemas.microsoft.com/office/drawing/2014/main" id="{B75FDF51-7820-43DE-919C-99844DB0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not sample:</a:t>
            </a:r>
          </a:p>
        </p:txBody>
      </p:sp>
      <p:sp>
        <p:nvSpPr>
          <p:cNvPr id="6" name="        shuffle(pairs)">
            <a:extLst xmlns:a="http://schemas.openxmlformats.org/drawingml/2006/main">
              <a:ext uri="{FF2B5EF4-FFF2-40B4-BE49-F238E27FC236}">
                <a16:creationId xmlns:a16="http://schemas.microsoft.com/office/drawing/2014/main" id="{F3D209DC-A614-481E-9FCA-EABAACAF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shuffle(pairs)</a:t>
            </a:r>
          </a:p>
        </p:txBody>
      </p:sp>
      <p:sp>
        <p:nvSpPr>
          <p:cNvPr id="7" name="    self.cards = [Card(f'C{i+1:02}', pair)">
            <a:extLst xmlns:a="http://schemas.openxmlformats.org/drawingml/2006/main">
              <a:ext uri="{FF2B5EF4-FFF2-40B4-BE49-F238E27FC236}">
                <a16:creationId xmlns:a16="http://schemas.microsoft.com/office/drawing/2014/main" id="{A7A3C691-DCA2-4D9E-8F4F-D618073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self.cards = [Card(f'C{i+1:02}', pair)</a:t>
            </a:r>
          </a:p>
        </p:txBody>
      </p:sp>
      <p:sp>
        <p:nvSpPr>
          <p:cNvPr id="8" name="                  for i, pair in enumerate(pairs)]">
            <a:extLst xmlns:a="http://schemas.openxmlformats.org/drawingml/2006/main">
              <a:ext uri="{FF2B5EF4-FFF2-40B4-BE49-F238E27FC236}">
                <a16:creationId xmlns:a16="http://schemas.microsoft.com/office/drawing/2014/main" id="{321F2EFA-2256-42F1-924D-63B5AD85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for i, pair in enumerate(pairs)]</a:t>
            </a:r>
          </a:p>
        </p:txBody>
      </p:sp>
      <p:sp>
        <p:nvSpPr>
          <p:cNvPr id="9" name="每次呼叫 Card(...) 都建立新的實體。">
            <a:extLst xmlns:a="http://schemas.openxmlformats.org/drawingml/2006/main">
              <a:ext uri="{FF2B5EF4-FFF2-40B4-BE49-F238E27FC236}">
                <a16:creationId xmlns:a16="http://schemas.microsoft.com/office/drawing/2014/main" id="{05188389-279F-4CD6-9B7B-CE5D102E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每次呼叫 Card(...) 都建立新的實體。</a:t>
            </a:r>
          </a:p>
        </p:txBody>
      </p:sp>
      <p:sp>
        <p:nvSpPr>
          <p:cNvPr id="10" name="sample=True 保留固定順序；一般遊戲會洗牌。">
            <a:extLst xmlns:a="http://schemas.openxmlformats.org/drawingml/2006/main">
              <a:ext uri="{FF2B5EF4-FFF2-40B4-BE49-F238E27FC236}">
                <a16:creationId xmlns:a16="http://schemas.microsoft.com/office/drawing/2014/main" id="{2FE1CF36-0830-42F7-985D-29BD456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sample=True 保留固定順序；一般遊戲會洗牌。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ABD83D4C-7F27-46D6-9524-A9CF8D70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09">
            <a:extLst xmlns:a="http://schemas.openxmlformats.org/drawingml/2006/main">
              <a:ext uri="{FF2B5EF4-FFF2-40B4-BE49-F238E27FC236}">
                <a16:creationId xmlns:a16="http://schemas.microsoft.com/office/drawing/2014/main" id="{0233E63D-7283-442E-A27E-9393B483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9904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選牌：先保存 pending 參照">
            <a:extLst xmlns:a="http://schemas.openxmlformats.org/drawingml/2006/main">
              <a:ext uri="{FF2B5EF4-FFF2-40B4-BE49-F238E27FC236}">
                <a16:creationId xmlns:a16="http://schemas.microsoft.com/office/drawing/2014/main" id="{A76C4404-BE3D-446A-ADF2-51FD0EC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選牌：先保存 pending 參照</a:t>
            </a:r>
          </a:p>
        </p:txBody>
      </p:sp>
      <p:sp>
        <p:nvSpPr>
          <p:cNvPr id="2" name="model.py · Game.queue">
            <a:extLst xmlns:a="http://schemas.openxmlformats.org/drawingml/2006/main">
              <a:ext uri="{FF2B5EF4-FFF2-40B4-BE49-F238E27FC236}">
                <a16:creationId xmlns:a16="http://schemas.microsoft.com/office/drawing/2014/main" id="{8BFDBD3A-1E0D-4045-9756-DEFB7C0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model.py · Game.queue</a:t>
            </a:r>
          </a:p>
        </p:txBody>
      </p:sp>
      <p:sp>
        <p:nvSpPr>
          <p:cNvPr id="3" name="def queue(self, name):">
            <a:extLst xmlns:a="http://schemas.openxmlformats.org/drawingml/2006/main">
              <a:ext uri="{FF2B5EF4-FFF2-40B4-BE49-F238E27FC236}">
                <a16:creationId xmlns:a16="http://schemas.microsoft.com/office/drawing/2014/main" id="{189EC1E5-E517-46D7-A3AB-925E0B1A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queue(self, name):</a:t>
            </a:r>
          </a:p>
        </p:txBody>
      </p:sp>
      <p:sp>
        <p:nvSpPr>
          <p:cNvPr id="4" name="    if self.phase not in ('first', 'second') or self.pending:">
            <a:extLst xmlns:a="http://schemas.openxmlformats.org/drawingml/2006/main">
              <a:ext uri="{FF2B5EF4-FFF2-40B4-BE49-F238E27FC236}">
                <a16:creationId xmlns:a16="http://schemas.microsoft.com/office/drawing/2014/main" id="{3DD1748A-2F83-41A5-B402-7FE381A0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not in ('first', 'second') or self.pending: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B9A14977-1EE9-4DE7-9547-7090501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card = self.board.get(name)">
            <a:extLst xmlns:a="http://schemas.openxmlformats.org/drawingml/2006/main">
              <a:ext uri="{FF2B5EF4-FFF2-40B4-BE49-F238E27FC236}">
                <a16:creationId xmlns:a16="http://schemas.microsoft.com/office/drawing/2014/main" id="{E74ED34F-1239-490F-814E-ABD83290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card = self.board.get(name)</a:t>
            </a:r>
          </a:p>
        </p:txBody>
      </p:sp>
      <p:sp>
        <p:nvSpPr>
          <p:cNvPr id="7" name="    if card is None or card.face_up or card.matched:">
            <a:extLst xmlns:a="http://schemas.openxmlformats.org/drawingml/2006/main">
              <a:ext uri="{FF2B5EF4-FFF2-40B4-BE49-F238E27FC236}">
                <a16:creationId xmlns:a16="http://schemas.microsoft.com/office/drawing/2014/main" id="{18F0B057-1323-4D99-9E65-DA25E36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card is None or card.face_up or card.matched:</a:t>
            </a:r>
          </a:p>
        </p:txBody>
      </p:sp>
      <p:sp>
        <p:nvSpPr>
          <p:cNvPr id="8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255EB5E8-7761-4BDB-BC22-84D94DB3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9" name="    self.pending = card">
            <a:extLst xmlns:a="http://schemas.openxmlformats.org/drawingml/2006/main">
              <a:ext uri="{FF2B5EF4-FFF2-40B4-BE49-F238E27FC236}">
                <a16:creationId xmlns:a16="http://schemas.microsoft.com/office/drawing/2014/main" id="{E11C8F51-ED2F-488D-9AF9-A4F6055A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self.pending = card</a:t>
            </a:r>
          </a:p>
        </p:txBody>
      </p:sp>
      <p:sp>
        <p:nvSpPr>
          <p:cNvPr id="10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7E68EBF9-9A14-48E9-84D5-F6E4C0A7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11" name="選牌尚未改變 face_up，按下一步才翻開。">
            <a:extLst xmlns:a="http://schemas.openxmlformats.org/drawingml/2006/main">
              <a:ext uri="{FF2B5EF4-FFF2-40B4-BE49-F238E27FC236}">
                <a16:creationId xmlns:a16="http://schemas.microsoft.com/office/drawing/2014/main" id="{B95A2570-B638-46ED-BA45-1FCBCD9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選牌尚未改變 face_up，按下一步才翻開。</a:t>
            </a:r>
          </a:p>
        </p:txBody>
      </p:sp>
      <p:sp>
        <p:nvSpPr>
          <p:cNvPr id="12" name="同一張已翻開的牌不能再作為第二張。">
            <a:extLst xmlns:a="http://schemas.openxmlformats.org/drawingml/2006/main">
              <a:ext uri="{FF2B5EF4-FFF2-40B4-BE49-F238E27FC236}">
                <a16:creationId xmlns:a16="http://schemas.microsoft.com/office/drawing/2014/main" id="{695314A8-1F39-49C1-8F58-77ABC8A6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同一張已翻開的牌不能再作為第二張。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22EF1ED5-56CC-4CA8-B8E6-48EDC700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4C0E16FF-D58C-4AEB-B0D2-D6D1159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44679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單步：翻開等待中的牌">
            <a:extLst xmlns:a="http://schemas.openxmlformats.org/drawingml/2006/main">
              <a:ext uri="{FF2B5EF4-FFF2-40B4-BE49-F238E27FC236}">
                <a16:creationId xmlns:a16="http://schemas.microsoft.com/office/drawing/2014/main" id="{DD7605F5-F996-4EF3-BBE4-A709BDD4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單步：翻開等待中的牌</a:t>
            </a:r>
          </a:p>
        </p:txBody>
      </p:sp>
      <p:sp>
        <p:nvSpPr>
          <p:cNvPr id="2" name="Game.step() 的翻牌分支；其餘分支呼叫 compare()、settle()">
            <a:extLst xmlns:a="http://schemas.openxmlformats.org/drawingml/2006/main">
              <a:ext uri="{FF2B5EF4-FFF2-40B4-BE49-F238E27FC236}">
                <a16:creationId xmlns:a16="http://schemas.microsoft.com/office/drawing/2014/main" id="{09021BC3-2FD7-433A-8BBB-F0AC65C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Game.step() 的翻牌分支；其餘分支呼叫 compare()、settle()</a:t>
            </a:r>
          </a:p>
        </p:txBody>
      </p:sp>
      <p:sp>
        <p:nvSpPr>
          <p:cNvPr id="3" name="def step(self):">
            <a:extLst xmlns:a="http://schemas.openxmlformats.org/drawingml/2006/main">
              <a:ext uri="{FF2B5EF4-FFF2-40B4-BE49-F238E27FC236}">
                <a16:creationId xmlns:a16="http://schemas.microsoft.com/office/drawing/2014/main" id="{0E3F83AA-54B5-4D2C-B86C-3E5E483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step(self):</a:t>
            </a:r>
          </a:p>
        </p:txBody>
      </p:sp>
      <p:sp>
        <p:nvSpPr>
          <p:cNvPr id="4" name="    if self.pending and self.phase in ('first', 'second'):">
            <a:extLst xmlns:a="http://schemas.openxmlformats.org/drawingml/2006/main">
              <a:ext uri="{FF2B5EF4-FFF2-40B4-BE49-F238E27FC236}">
                <a16:creationId xmlns:a16="http://schemas.microsoft.com/office/drawing/2014/main" id="{FCE60A51-30EF-4868-95C5-B87FCD4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self.pending and self.phase in ('first', 'second'):</a:t>
            </a:r>
          </a:p>
        </p:txBody>
      </p:sp>
      <p:sp>
        <p:nvSpPr>
          <p:cNvPr id="5" name="        card = self.pending">
            <a:extLst xmlns:a="http://schemas.openxmlformats.org/drawingml/2006/main">
              <a:ext uri="{FF2B5EF4-FFF2-40B4-BE49-F238E27FC236}">
                <a16:creationId xmlns:a16="http://schemas.microsoft.com/office/drawing/2014/main" id="{E00E78A5-8F38-46A9-92A8-0FCFEC18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 = self.pending</a:t>
            </a:r>
          </a:p>
        </p:txBody>
      </p:sp>
      <p:sp>
        <p:nvSpPr>
          <p:cNvPr id="6" name="        self.pending = None">
            <a:extLst xmlns:a="http://schemas.openxmlformats.org/drawingml/2006/main">
              <a:ext uri="{FF2B5EF4-FFF2-40B4-BE49-F238E27FC236}">
                <a16:creationId xmlns:a16="http://schemas.microsoft.com/office/drawing/2014/main" id="{EC8E3D0A-3B7A-4B43-9D1E-D8D4023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self.pending = None</a:t>
            </a:r>
          </a:p>
        </p:txBody>
      </p:sp>
      <p:sp>
        <p:nvSpPr>
          <p:cNvPr id="7" name="        card.reveal()">
            <a:extLst xmlns:a="http://schemas.openxmlformats.org/drawingml/2006/main">
              <a:ext uri="{FF2B5EF4-FFF2-40B4-BE49-F238E27FC236}">
                <a16:creationId xmlns:a16="http://schemas.microsoft.com/office/drawing/2014/main" id="{F911A026-7E66-4542-8211-CAFD23B4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card.reveal()</a:t>
            </a:r>
          </a:p>
        </p:txBody>
      </p:sp>
      <p:sp>
        <p:nvSpPr>
          <p:cNvPr id="8" name="        if self.phase == 'first':">
            <a:extLst xmlns:a="http://schemas.openxmlformats.org/drawingml/2006/main">
              <a:ext uri="{FF2B5EF4-FFF2-40B4-BE49-F238E27FC236}">
                <a16:creationId xmlns:a16="http://schemas.microsoft.com/office/drawing/2014/main" id="{6DA79F0A-E85A-4F9D-8C68-94404AC6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self.phase == 'first':</a:t>
            </a:r>
          </a:p>
        </p:txBody>
      </p:sp>
      <p:sp>
        <p:nvSpPr>
          <p:cNvPr id="9" name="            self.first = card">
            <a:extLst xmlns:a="http://schemas.openxmlformats.org/drawingml/2006/main">
              <a:ext uri="{FF2B5EF4-FFF2-40B4-BE49-F238E27FC236}">
                <a16:creationId xmlns:a16="http://schemas.microsoft.com/office/drawing/2014/main" id="{28DD48FA-59B1-47BD-8212-921C4573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self.first = card</a:t>
            </a:r>
          </a:p>
        </p:txBody>
      </p:sp>
      <p:sp>
        <p:nvSpPr>
          <p:cNvPr id="10" name="            self.phase = 'second'">
            <a:extLst xmlns:a="http://schemas.openxmlformats.org/drawingml/2006/main">
              <a:ext uri="{FF2B5EF4-FFF2-40B4-BE49-F238E27FC236}">
                <a16:creationId xmlns:a16="http://schemas.microsoft.com/office/drawing/2014/main" id="{0574CD04-016E-4EEE-BF38-D0D0317E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'second'</a:t>
            </a:r>
          </a:p>
        </p:txBody>
      </p:sp>
      <p:sp>
        <p:nvSpPr>
          <p:cNvPr id="11" name="        else:">
            <a:extLst xmlns:a="http://schemas.openxmlformats.org/drawingml/2006/main">
              <a:ext uri="{FF2B5EF4-FFF2-40B4-BE49-F238E27FC236}">
                <a16:creationId xmlns:a16="http://schemas.microsoft.com/office/drawing/2014/main" id="{1E4EEAA2-0169-4C02-9210-1BD0254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12" name="            self.second = card">
            <a:extLst xmlns:a="http://schemas.openxmlformats.org/drawingml/2006/main">
              <a:ext uri="{FF2B5EF4-FFF2-40B4-BE49-F238E27FC236}">
                <a16:creationId xmlns:a16="http://schemas.microsoft.com/office/drawing/2014/main" id="{15ECF7B0-276D-4BB6-95DB-F5DDE322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self.second = card</a:t>
            </a:r>
          </a:p>
        </p:txBody>
      </p:sp>
      <p:sp>
        <p:nvSpPr>
          <p:cNvPr id="13" name="            self.phase = 'compare'">
            <a:extLst xmlns:a="http://schemas.openxmlformats.org/drawingml/2006/main">
              <a:ext uri="{FF2B5EF4-FFF2-40B4-BE49-F238E27FC236}">
                <a16:creationId xmlns:a16="http://schemas.microsoft.com/office/drawing/2014/main" id="{1A6927B5-4E73-4C8C-9292-96AB2738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'compare'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111C7B6D-1214-4E16-839F-012F0257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first、second 各自參照 Board 中選取的牌。">
            <a:extLst xmlns:a="http://schemas.openxmlformats.org/drawingml/2006/main">
              <a:ext uri="{FF2B5EF4-FFF2-40B4-BE49-F238E27FC236}">
                <a16:creationId xmlns:a16="http://schemas.microsoft.com/office/drawing/2014/main" id="{96DCA892-10BD-4A86-A00E-D81086A1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first、second 各自參照 Board 中選取的牌。</a:t>
            </a:r>
          </a:p>
        </p:txBody>
      </p:sp>
      <p:sp>
        <p:nvSpPr>
          <p:cNvPr id="16" name="一次 step() 只完成一個階段。">
            <a:extLst xmlns:a="http://schemas.openxmlformats.org/drawingml/2006/main">
              <a:ext uri="{FF2B5EF4-FFF2-40B4-BE49-F238E27FC236}">
                <a16:creationId xmlns:a16="http://schemas.microsoft.com/office/drawing/2014/main" id="{F530A4A2-FFCA-4784-B538-ABE60193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一次 step() 只完成一個階段。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8803C5AD-0EEA-45A6-8648-6629C83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11">
            <a:extLst xmlns:a="http://schemas.openxmlformats.org/drawingml/2006/main">
              <a:ext uri="{FF2B5EF4-FFF2-40B4-BE49-F238E27FC236}">
                <a16:creationId xmlns:a16="http://schemas.microsoft.com/office/drawing/2014/main" id="{08870693-9FB0-41AF-85CD-8EA0326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6484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比較：檢查 pair_id">
            <a:extLst xmlns:a="http://schemas.openxmlformats.org/drawingml/2006/main">
              <a:ext uri="{FF2B5EF4-FFF2-40B4-BE49-F238E27FC236}">
                <a16:creationId xmlns:a16="http://schemas.microsoft.com/office/drawing/2014/main" id="{154F3976-9537-426E-B1C1-CDE9AE8B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比較：檢查 pair_id</a:t>
            </a:r>
          </a:p>
        </p:txBody>
      </p:sp>
      <p:sp>
        <p:nvSpPr>
          <p:cNvPr id="2" name="model.py · Game.compare">
            <a:extLst xmlns:a="http://schemas.openxmlformats.org/drawingml/2006/main">
              <a:ext uri="{FF2B5EF4-FFF2-40B4-BE49-F238E27FC236}">
                <a16:creationId xmlns:a16="http://schemas.microsoft.com/office/drawing/2014/main" id="{A73618D3-C162-4E9D-9A20-8B5127B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model.py · Game.compare</a:t>
            </a:r>
          </a:p>
        </p:txBody>
      </p:sp>
      <p:sp>
        <p:nvSpPr>
          <p:cNvPr id="3" name="def compare(self):">
            <a:extLst xmlns:a="http://schemas.openxmlformats.org/drawingml/2006/main">
              <a:ext uri="{FF2B5EF4-FFF2-40B4-BE49-F238E27FC236}">
                <a16:creationId xmlns:a16="http://schemas.microsoft.com/office/drawing/2014/main" id="{0926E166-0B2A-4AF7-8392-700E2F8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compare(self):</a:t>
            </a:r>
          </a:p>
        </p:txBody>
      </p:sp>
      <p:sp>
        <p:nvSpPr>
          <p:cNvPr id="4" name="    if self.phase != 'compar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A90335F9-0562-4AED-8079-6D1CE6F6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'compare'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E9EF6325-DF91-4F07-8FEF-51B2C21D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self.result = self.first.pair_id == self.second.pair_id">
            <a:extLst xmlns:a="http://schemas.openxmlformats.org/drawingml/2006/main">
              <a:ext uri="{FF2B5EF4-FFF2-40B4-BE49-F238E27FC236}">
                <a16:creationId xmlns:a16="http://schemas.microsoft.com/office/drawing/2014/main" id="{EC4DF9CA-CE27-4D17-81C1-FAFB2AF8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self.first.pair_id == self.second.pair_id</a:t>
            </a:r>
          </a:p>
        </p:txBody>
      </p:sp>
      <p:sp>
        <p:nvSpPr>
          <p:cNvPr id="7" name="    self.turns += 1">
            <a:extLst xmlns:a="http://schemas.openxmlformats.org/drawingml/2006/main">
              <a:ext uri="{FF2B5EF4-FFF2-40B4-BE49-F238E27FC236}">
                <a16:creationId xmlns:a16="http://schemas.microsoft.com/office/drawing/2014/main" id="{50E3C311-A02C-45E3-AAAE-0A3DAA4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self.turns += 1</a:t>
            </a:r>
          </a:p>
        </p:txBody>
      </p:sp>
      <p:sp>
        <p:nvSpPr>
          <p:cNvPr id="8" name="    self.phase = 'resolve'">
            <a:extLst xmlns:a="http://schemas.openxmlformats.org/drawingml/2006/main">
              <a:ext uri="{FF2B5EF4-FFF2-40B4-BE49-F238E27FC236}">
                <a16:creationId xmlns:a16="http://schemas.microsoft.com/office/drawing/2014/main" id="{462FBB68-7358-4146-ABDB-4EC59A61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'resolve'</a:t>
            </a:r>
          </a:p>
        </p:txBody>
      </p:sp>
      <p:sp>
        <p:nvSpPr>
          <p:cNvPr id="9" name="比較圖案值，並增加一次比較次數。">
            <a:extLst xmlns:a="http://schemas.openxmlformats.org/drawingml/2006/main">
              <a:ext uri="{FF2B5EF4-FFF2-40B4-BE49-F238E27FC236}">
                <a16:creationId xmlns:a16="http://schemas.microsoft.com/office/drawing/2014/main" id="{91C9BBF6-4458-4EBF-AE27-03D0360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比較圖案值，並增加一次比較次數。</a:t>
            </a:r>
          </a:p>
        </p:txBody>
      </p:sp>
      <p:sp>
        <p:nvSpPr>
          <p:cNvPr id="10" name="此時 matched 仍為 False，等待下一步結算。">
            <a:extLst xmlns:a="http://schemas.openxmlformats.org/drawingml/2006/main">
              <a:ext uri="{FF2B5EF4-FFF2-40B4-BE49-F238E27FC236}">
                <a16:creationId xmlns:a16="http://schemas.microsoft.com/office/drawing/2014/main" id="{0FF39DE9-FA18-4F39-9B26-ACDD50B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此時 matched 仍為 False，等待下一步結算。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958A7592-F6C4-4E94-B98A-D461900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BEE7E900-F8BD-41EF-B588-14101060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429865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結算：保留或蓋回">
            <a:extLst xmlns:a="http://schemas.openxmlformats.org/drawingml/2006/main">
              <a:ext uri="{FF2B5EF4-FFF2-40B4-BE49-F238E27FC236}">
                <a16:creationId xmlns:a16="http://schemas.microsoft.com/office/drawing/2014/main" id="{D2313843-463A-4695-B217-4B4146A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結算：保留或蓋回</a:t>
            </a:r>
          </a:p>
        </p:txBody>
      </p:sp>
      <p:sp>
        <p:nvSpPr>
          <p:cNvPr id="2" name="model.py · Game.settle">
            <a:extLst xmlns:a="http://schemas.openxmlformats.org/drawingml/2006/main">
              <a:ext uri="{FF2B5EF4-FFF2-40B4-BE49-F238E27FC236}">
                <a16:creationId xmlns:a16="http://schemas.microsoft.com/office/drawing/2014/main" id="{FEAF0A91-9C16-401A-8B8F-B500BAB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model.py · Game.settle</a:t>
            </a:r>
          </a:p>
        </p:txBody>
      </p:sp>
      <p:sp>
        <p:nvSpPr>
          <p:cNvPr id="3" name="def settle(self):">
            <a:extLst xmlns:a="http://schemas.openxmlformats.org/drawingml/2006/main">
              <a:ext uri="{FF2B5EF4-FFF2-40B4-BE49-F238E27FC236}">
                <a16:creationId xmlns:a16="http://schemas.microsoft.com/office/drawing/2014/main" id="{21F6DEB5-93F9-4EFC-A75D-EBA7B01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settle(self):</a:t>
            </a:r>
          </a:p>
        </p:txBody>
      </p:sp>
      <p:sp>
        <p:nvSpPr>
          <p:cNvPr id="4" name="    if self.phase != 'resolv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7354C592-1BC4-4CE5-A975-E09C7BE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'resolve'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AFF9DA7D-8F52-4B1F-A87E-60ACFC7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if self.result:">
            <a:extLst xmlns:a="http://schemas.openxmlformats.org/drawingml/2006/main">
              <a:ext uri="{FF2B5EF4-FFF2-40B4-BE49-F238E27FC236}">
                <a16:creationId xmlns:a16="http://schemas.microsoft.com/office/drawing/2014/main" id="{DA880D08-BF26-4253-827F-3607141C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self.result:</a:t>
            </a:r>
          </a:p>
        </p:txBody>
      </p:sp>
      <p:sp>
        <p:nvSpPr>
          <p:cNvPr id="7" name="        self.first.mark_matched()">
            <a:extLst xmlns:a="http://schemas.openxmlformats.org/drawingml/2006/main">
              <a:ext uri="{FF2B5EF4-FFF2-40B4-BE49-F238E27FC236}">
                <a16:creationId xmlns:a16="http://schemas.microsoft.com/office/drawing/2014/main" id="{17EF3038-8DDC-48AA-A60A-64A16CC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self.first.mark_matched()</a:t>
            </a:r>
          </a:p>
        </p:txBody>
      </p:sp>
      <p:sp>
        <p:nvSpPr>
          <p:cNvPr id="8" name="        self.second.mark_matched()">
            <a:extLst xmlns:a="http://schemas.openxmlformats.org/drawingml/2006/main">
              <a:ext uri="{FF2B5EF4-FFF2-40B4-BE49-F238E27FC236}">
                <a16:creationId xmlns:a16="http://schemas.microsoft.com/office/drawing/2014/main" id="{48022F40-40EC-4865-8751-A2438E07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self.second.mark_matched()</a:t>
            </a:r>
          </a:p>
        </p:txBody>
      </p:sp>
      <p:sp>
        <p:nvSpPr>
          <p:cNvPr id="9" name="        self.matches += 1">
            <a:extLst xmlns:a="http://schemas.openxmlformats.org/drawingml/2006/main">
              <a:ext uri="{FF2B5EF4-FFF2-40B4-BE49-F238E27FC236}">
                <a16:creationId xmlns:a16="http://schemas.microsoft.com/office/drawing/2014/main" id="{8FB181EB-FB76-4E03-BCAA-C750472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self.matches += 1</a:t>
            </a:r>
          </a:p>
        </p:txBody>
      </p:sp>
      <p:sp>
        <p:nvSpPr>
          <p:cNvPr id="10" name="    else:">
            <a:extLst xmlns:a="http://schemas.openxmlformats.org/drawingml/2006/main">
              <a:ext uri="{FF2B5EF4-FFF2-40B4-BE49-F238E27FC236}">
                <a16:creationId xmlns:a16="http://schemas.microsoft.com/office/drawing/2014/main" id="{9E997478-1367-4441-82BA-F50FAC4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1" name="        self.first.hide()">
            <a:extLst xmlns:a="http://schemas.openxmlformats.org/drawingml/2006/main">
              <a:ext uri="{FF2B5EF4-FFF2-40B4-BE49-F238E27FC236}">
                <a16:creationId xmlns:a16="http://schemas.microsoft.com/office/drawing/2014/main" id="{2A0BC18F-CBD4-4BD9-BBD2-914C5FA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self.first.hide()</a:t>
            </a:r>
          </a:p>
        </p:txBody>
      </p:sp>
      <p:sp>
        <p:nvSpPr>
          <p:cNvPr id="12" name="        self.second.hide()">
            <a:extLst xmlns:a="http://schemas.openxmlformats.org/drawingml/2006/main">
              <a:ext uri="{FF2B5EF4-FFF2-40B4-BE49-F238E27FC236}">
                <a16:creationId xmlns:a16="http://schemas.microsoft.com/office/drawing/2014/main" id="{8BE4DC93-D04C-422F-994F-BB7FD5D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self.second.hide()</a:t>
            </a:r>
          </a:p>
        </p:txBody>
      </p:sp>
      <p:sp>
        <p:nvSpPr>
          <p:cNvPr id="13" name="    self.first = self.second = None">
            <a:extLst xmlns:a="http://schemas.openxmlformats.org/drawingml/2006/main">
              <a:ext uri="{FF2B5EF4-FFF2-40B4-BE49-F238E27FC236}">
                <a16:creationId xmlns:a16="http://schemas.microsoft.com/office/drawing/2014/main" id="{D4FF37F5-5CAC-4CE7-BF82-1BDDFBB0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self.first = self.second = None</a:t>
            </a:r>
          </a:p>
        </p:txBody>
      </p:sp>
      <p:sp>
        <p:nvSpPr>
          <p:cNvPr id="14" name="    self.result = None">
            <a:extLst xmlns:a="http://schemas.openxmlformats.org/drawingml/2006/main">
              <a:ext uri="{FF2B5EF4-FFF2-40B4-BE49-F238E27FC236}">
                <a16:creationId xmlns:a16="http://schemas.microsoft.com/office/drawing/2014/main" id="{A9C399FC-3D85-45F8-889C-875BD48D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None</a:t>
            </a:r>
          </a:p>
        </p:txBody>
      </p:sp>
      <p:sp>
        <p:nvSpPr>
          <p:cNvPr id="15" name="    self.phase = 'won' if self.board.complete else 'first'">
            <a:extLst xmlns:a="http://schemas.openxmlformats.org/drawingml/2006/main">
              <a:ext uri="{FF2B5EF4-FFF2-40B4-BE49-F238E27FC236}">
                <a16:creationId xmlns:a16="http://schemas.microsoft.com/office/drawing/2014/main" id="{E58399A9-7769-4835-A65D-01A81AF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'won' if self.board.complete else 'first'</a:t>
            </a:r>
          </a:p>
        </p:txBody>
      </p:sp>
      <p:sp>
        <p:nvSpPr>
          <p:cNvPr id="16" name="相同圖案標記已配對；不同圖案呼叫 hide()。">
            <a:extLst xmlns:a="http://schemas.openxmlformats.org/drawingml/2006/main">
              <a:ext uri="{FF2B5EF4-FFF2-40B4-BE49-F238E27FC236}">
                <a16:creationId xmlns:a16="http://schemas.microsoft.com/office/drawing/2014/main" id="{8F8BD180-4DC7-4C1C-972A-776FF234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相同圖案標記已配對；不同圖案呼叫 hide()。</a:t>
            </a:r>
          </a:p>
        </p:txBody>
      </p:sp>
      <p:sp>
        <p:nvSpPr>
          <p:cNvPr id="17" name="清空暫存參照後，牌仍由 Board 保存。">
            <a:extLst xmlns:a="http://schemas.openxmlformats.org/drawingml/2006/main">
              <a:ext uri="{FF2B5EF4-FFF2-40B4-BE49-F238E27FC236}">
                <a16:creationId xmlns:a16="http://schemas.microsoft.com/office/drawing/2014/main" id="{11C1B077-A224-4165-BEC8-DD769DA4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清空暫存參照後，牌仍由 Board 保存。</a:t>
            </a:r>
          </a:p>
        </p:txBody>
      </p:sp>
      <p:sp>
        <p:nvSpPr>
          <p:cNvPr id="18" name="model.py">
            <a:extLst xmlns:a="http://schemas.openxmlformats.org/drawingml/2006/main">
              <a:ext uri="{FF2B5EF4-FFF2-40B4-BE49-F238E27FC236}">
                <a16:creationId xmlns:a16="http://schemas.microsoft.com/office/drawing/2014/main" id="{35099183-BFB7-4446-9B03-51391309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9" name="13">
            <a:extLst xmlns:a="http://schemas.openxmlformats.org/drawingml/2006/main">
              <a:ext uri="{FF2B5EF4-FFF2-40B4-BE49-F238E27FC236}">
                <a16:creationId xmlns:a16="http://schemas.microsoft.com/office/drawing/2014/main" id="{DC586123-FA7E-42CC-9D80-9BC1387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9597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成功範例：C01 與 C02">
            <a:extLst xmlns:a="http://schemas.openxmlformats.org/drawingml/2006/main">
              <a:ext uri="{FF2B5EF4-FFF2-40B4-BE49-F238E27FC236}">
                <a16:creationId xmlns:a16="http://schemas.microsoft.com/office/drawing/2014/main" id="{B8D4424E-EF79-40CB-A17E-AC0DC10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成功範例：C01 與 C02</a:t>
            </a:r>
          </a:p>
        </p:txBody>
      </p:sp>
      <p:sp>
        <p:nvSpPr>
          <p:cNvPr id="2" name="載入「配對成功」範例，依序選牌並按 N">
            <a:extLst xmlns:a="http://schemas.openxmlformats.org/drawingml/2006/main">
              <a:ext uri="{FF2B5EF4-FFF2-40B4-BE49-F238E27FC236}">
                <a16:creationId xmlns:a16="http://schemas.microsoft.com/office/drawing/2014/main" id="{0E0A36A9-1A3A-4588-A384-5637F6BF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載入「配對成功」範例，依序選牌並按 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D4131-0704-44D3-ABCD-2DCA923E8E83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可觀察結果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 C01，按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second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 → C01，face_up = 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 C02，按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second → C02，兩張正面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 N：比較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 = True，turns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 N：結算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matched = True，matches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選牌只是排入 pending。每次 N 才推進一個階段。">
            <a:extLst xmlns:a="http://schemas.openxmlformats.org/drawingml/2006/main">
              <a:ext uri="{FF2B5EF4-FFF2-40B4-BE49-F238E27FC236}">
                <a16:creationId xmlns:a16="http://schemas.microsoft.com/office/drawing/2014/main" id="{4061F6D5-FEB9-4D4B-84CD-81AA3689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選牌只是排入 pending。每次 N 才推進一個階段。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D7BB12B9-20B2-4B79-9377-58BA81F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51570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失敗範例：C03 與 C04">
            <a:extLst xmlns:a="http://schemas.openxmlformats.org/drawingml/2006/main">
              <a:ext uri="{FF2B5EF4-FFF2-40B4-BE49-F238E27FC236}">
                <a16:creationId xmlns:a16="http://schemas.microsoft.com/office/drawing/2014/main" id="{97760089-BB76-4E53-BDFC-159A70FF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失敗範例：C03 與 C04</a:t>
            </a:r>
          </a:p>
        </p:txBody>
      </p:sp>
      <p:sp>
        <p:nvSpPr>
          <p:cNvPr id="2" name="載入「配對失敗」範例，比較 leaf 與 sun">
            <a:extLst xmlns:a="http://schemas.openxmlformats.org/drawingml/2006/main">
              <a:ext uri="{FF2B5EF4-FFF2-40B4-BE49-F238E27FC236}">
                <a16:creationId xmlns:a16="http://schemas.microsoft.com/office/drawing/2014/main" id="{248D8E57-6F59-4A2C-A172-664383EB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載入「配對失敗」範例，比較 leaf 與 sun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69FFA-B734-46BD-BA37-F7B6B081F0AC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可觀察結果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 C03，N；選 C04，N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leaf 與 sun 都是正面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 N：比較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 = False，turns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 N：結算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兩張 face_up = 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檢視 Board.cards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仍保存原物件，matches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蓋回後仍是原來的 Card，不會重新建立兩張牌。">
            <a:extLst xmlns:a="http://schemas.openxmlformats.org/drawingml/2006/main">
              <a:ext uri="{FF2B5EF4-FFF2-40B4-BE49-F238E27FC236}">
                <a16:creationId xmlns:a16="http://schemas.microsoft.com/office/drawing/2014/main" id="{B1C0F890-DF68-4960-A1D3-3A19F5E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蓋回後仍是原來的 Card，不會重新建立兩張牌。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877CC2F1-7E13-4343-B9FD-A66543A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2611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參照、重設與物件身分">
            <a:extLst xmlns:a="http://schemas.openxmlformats.org/drawingml/2006/main">
              <a:ext uri="{FF2B5EF4-FFF2-40B4-BE49-F238E27FC236}">
                <a16:creationId xmlns:a16="http://schemas.microsoft.com/office/drawing/2014/main" id="{4421CF2F-B67A-431A-80A2-1D2E313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參照、重設與物件身分</a:t>
            </a:r>
          </a:p>
        </p:txBody>
      </p:sp>
      <p:sp>
        <p:nvSpPr>
          <p:cNvPr id="2" name="Python 的 is 檢查物件身分">
            <a:extLst xmlns:a="http://schemas.openxmlformats.org/drawingml/2006/main">
              <a:ext uri="{FF2B5EF4-FFF2-40B4-BE49-F238E27FC236}">
                <a16:creationId xmlns:a16="http://schemas.microsoft.com/office/drawing/2014/main" id="{F08C9A71-E1FC-4C11-AEE6-7EC5178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的 is 檢查物件身分</a:t>
            </a:r>
          </a:p>
        </p:txBody>
      </p:sp>
      <p:sp>
        <p:nvSpPr>
          <p:cNvPr id="3" name="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7516D18D-623D-4119-96DF-382F6F1D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 = Game(sample=True)</a:t>
            </a:r>
          </a:p>
        </p:txBody>
      </p:sp>
      <p:sp>
        <p:nvSpPr>
          <p:cNvPr id="4" name="game.play('C01')">
            <a:extLst xmlns:a="http://schemas.openxmlformats.org/drawingml/2006/main">
              <a:ext uri="{FF2B5EF4-FFF2-40B4-BE49-F238E27FC236}">
                <a16:creationId xmlns:a16="http://schemas.microsoft.com/office/drawing/2014/main" id="{B223A1CD-B111-4B1C-B18F-92D701EE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game.play('C01')</a:t>
            </a:r>
          </a:p>
        </p:txBody>
      </p:sp>
      <p:sp>
        <p:nvSpPr>
          <p:cNvPr id="5" name="card = game.first">
            <a:extLst xmlns:a="http://schemas.openxmlformats.org/drawingml/2006/main">
              <a:ext uri="{FF2B5EF4-FFF2-40B4-BE49-F238E27FC236}">
                <a16:creationId xmlns:a16="http://schemas.microsoft.com/office/drawing/2014/main" id="{BCDB7652-522D-4209-93EE-83C1F9F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card = game.first</a:t>
            </a:r>
          </a:p>
        </p:txBody>
      </p:sp>
      <p:sp>
        <p:nvSpPr>
          <p:cNvPr id="6" name="print(card is game.board.cards[0])  # True">
            <a:extLst xmlns:a="http://schemas.openxmlformats.org/drawingml/2006/main">
              <a:ext uri="{FF2B5EF4-FFF2-40B4-BE49-F238E27FC236}">
                <a16:creationId xmlns:a16="http://schemas.microsoft.com/office/drawing/2014/main" id="{A5471D89-3530-4533-BCFE-70D092B1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game.board.cards[0])  #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EB25E-8635-4C3D-9961-2C77CE3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new_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725C5CC5-FD40-4C50-8C72-121B57F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new_game = Game(sample=True)</a:t>
            </a:r>
          </a:p>
        </p:txBody>
      </p:sp>
      <p:sp>
        <p:nvSpPr>
          <p:cNvPr id="9" name="print(card is new_game.board.cards[0])  # False">
            <a:extLst xmlns:a="http://schemas.openxmlformats.org/drawingml/2006/main">
              <a:ext uri="{FF2B5EF4-FFF2-40B4-BE49-F238E27FC236}">
                <a16:creationId xmlns:a16="http://schemas.microsoft.com/office/drawing/2014/main" id="{2BDEFA4D-5F82-49F2-B7AC-78E6455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new_game.board.cards[0])  # False</a:t>
            </a:r>
          </a:p>
        </p:txBody>
      </p:sp>
      <p:sp>
        <p:nvSpPr>
          <p:cNvPr id="10" name="print(card.face_up)                    # True">
            <a:extLst xmlns:a="http://schemas.openxmlformats.org/drawingml/2006/main">
              <a:ext uri="{FF2B5EF4-FFF2-40B4-BE49-F238E27FC236}">
                <a16:creationId xmlns:a16="http://schemas.microsoft.com/office/drawing/2014/main" id="{A2800E00-D618-43A3-B5A3-CB87EE5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print(card.face_up)                    # True</a:t>
            </a:r>
          </a:p>
        </p:txBody>
      </p:sp>
      <p:sp>
        <p:nvSpPr>
          <p:cNvPr id="11" name="新遊戲建立新的 Board 與 Card。">
            <a:extLst xmlns:a="http://schemas.openxmlformats.org/drawingml/2006/main">
              <a:ext uri="{FF2B5EF4-FFF2-40B4-BE49-F238E27FC236}">
                <a16:creationId xmlns:a16="http://schemas.microsoft.com/office/drawing/2014/main" id="{5ABF81FE-48A5-4F6A-988B-2251ABCB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新遊戲建立新的 Board 與 Card。</a:t>
            </a:r>
          </a:p>
        </p:txBody>
      </p:sp>
      <p:sp>
        <p:nvSpPr>
          <p:cNvPr id="12" name="外部變數 card 仍能參照上一局的物件。">
            <a:extLst xmlns:a="http://schemas.openxmlformats.org/drawingml/2006/main">
              <a:ext uri="{FF2B5EF4-FFF2-40B4-BE49-F238E27FC236}">
                <a16:creationId xmlns:a16="http://schemas.microsoft.com/office/drawing/2014/main" id="{F4FBE69A-E059-4AD7-97C0-6FC5969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外部變數 card 仍能參照上一局的物件。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D892C577-2C00-4C4A-819E-DAB804A5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2749B47C-DC72-425C-AC9C-E0EE93DF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50715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執行 Python 範例">
            <a:extLst xmlns:a="http://schemas.openxmlformats.org/drawingml/2006/main">
              <a:ext uri="{FF2B5EF4-FFF2-40B4-BE49-F238E27FC236}">
                <a16:creationId xmlns:a16="http://schemas.microsoft.com/office/drawing/2014/main" id="{3D969D14-11B7-4BB6-BC5F-659FF480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執行 Python 範例</a:t>
            </a:r>
          </a:p>
        </p:txBody>
      </p:sp>
      <p:sp>
        <p:nvSpPr>
          <p:cNvPr id="2" name="Python 3.12+，不需安裝額外套件">
            <a:extLst xmlns:a="http://schemas.openxmlformats.org/drawingml/2006/main">
              <a:ext uri="{FF2B5EF4-FFF2-40B4-BE49-F238E27FC236}">
                <a16:creationId xmlns:a16="http://schemas.microsoft.com/office/drawing/2014/main" id="{9C41A4B7-D190-4861-A02C-A4258C7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3.12+，不需安裝額外套件</a:t>
            </a:r>
          </a:p>
        </p:txBody>
      </p:sp>
      <p:sp>
        <p:nvSpPr>
          <p:cNvPr id="3" name="python main.py --lang zh --sample">
            <a:extLst xmlns:a="http://schemas.openxmlformats.org/drawingml/2006/main">
              <a:ext uri="{FF2B5EF4-FFF2-40B4-BE49-F238E27FC236}">
                <a16:creationId xmlns:a16="http://schemas.microsoft.com/office/drawing/2014/main" id="{00D1894D-8A18-4A53-A042-F032A624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main.py --lang zh --sample</a:t>
            </a:r>
          </a:p>
        </p:txBody>
      </p:sp>
      <p:sp>
        <p:nvSpPr>
          <p:cNvPr id="4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07EAA620-5328-488A-95E1-E8C0F9B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5" name="在解壓縮後的 memory_oop 資料夾開啟終端機。">
            <a:extLst xmlns:a="http://schemas.openxmlformats.org/drawingml/2006/main">
              <a:ext uri="{FF2B5EF4-FFF2-40B4-BE49-F238E27FC236}">
                <a16:creationId xmlns:a16="http://schemas.microsoft.com/office/drawing/2014/main" id="{51C0E504-8911-4915-A8BE-30BB686E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在解壓縮後的 memory_oop 資料夾開啟終端機。</a:t>
            </a:r>
          </a:p>
        </p:txBody>
      </p:sp>
      <p:sp>
        <p:nvSpPr>
          <p:cNvPr id="6" name="指令：pick C01、step、inspect C01、confirm、sample、quit。">
            <a:extLst xmlns:a="http://schemas.openxmlformats.org/drawingml/2006/main">
              <a:ext uri="{FF2B5EF4-FFF2-40B4-BE49-F238E27FC236}">
                <a16:creationId xmlns:a16="http://schemas.microsoft.com/office/drawing/2014/main" id="{C5D25DBE-0DAC-40EF-A933-73B45795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指令：pick C01、step、inspect C01、confirm、sample、quit。</a:t>
            </a:r>
          </a:p>
        </p:txBody>
      </p:sp>
      <p:sp>
        <p:nvSpPr>
          <p:cNvPr id="7" name="Terminal / PowerShell">
            <a:extLst xmlns:a="http://schemas.openxmlformats.org/drawingml/2006/main">
              <a:ext uri="{FF2B5EF4-FFF2-40B4-BE49-F238E27FC236}">
                <a16:creationId xmlns:a16="http://schemas.microsoft.com/office/drawing/2014/main" id="{0FFA3FFB-088F-4C48-8DAF-E8164E6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 / PowerShell</a:t>
            </a:r>
          </a:p>
        </p:txBody>
      </p:sp>
      <p:sp>
        <p:nvSpPr>
          <p:cNvPr id="8" name="17">
            <a:extLst xmlns:a="http://schemas.openxmlformats.org/drawingml/2006/main">
              <a:ext uri="{FF2B5EF4-FFF2-40B4-BE49-F238E27FC236}">
                <a16:creationId xmlns:a16="http://schemas.microsoft.com/office/drawing/2014/main" id="{0C1F8E26-282B-4816-9296-76022BB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5840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練習與參考">
            <a:extLst xmlns:a="http://schemas.openxmlformats.org/drawingml/2006/main">
              <a:ext uri="{FF2B5EF4-FFF2-40B4-BE49-F238E27FC236}">
                <a16:creationId xmlns:a16="http://schemas.microsoft.com/office/drawing/2014/main" id="{00CA404B-FE40-4955-AF78-2B87E04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練習與參考</a:t>
            </a:r>
          </a:p>
        </p:txBody>
      </p:sp>
      <p:sp>
        <p:nvSpPr>
          <p:cNvPr id="2" name="從可觀察的狀態檢查程式規則">
            <a:extLst xmlns:a="http://schemas.openxmlformats.org/drawingml/2006/main">
              <a:ext uri="{FF2B5EF4-FFF2-40B4-BE49-F238E27FC236}">
                <a16:creationId xmlns:a16="http://schemas.microsoft.com/office/drawing/2014/main" id="{31BF6AF0-CC98-4722-B4AD-3553A07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從可觀察的狀態檢查程式規則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89BD372-A3AB-451B-9046-5D55B322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配對後呼叫 hide()，確認牌仍為正面。">
            <a:extLst xmlns:a="http://schemas.openxmlformats.org/drawingml/2006/main">
              <a:ext uri="{FF2B5EF4-FFF2-40B4-BE49-F238E27FC236}">
                <a16:creationId xmlns:a16="http://schemas.microsoft.com/office/drawing/2014/main" id="{7631254C-E37B-41F1-AD6D-A3B30CDE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配對後呼叫 hide()，確認牌仍為正面。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23566D0-7963-40C9-A07B-40A51CB1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先保留 card 參照再建立新遊戲，比較物件身分。">
            <a:extLst xmlns:a="http://schemas.openxmlformats.org/drawingml/2006/main">
              <a:ext uri="{FF2B5EF4-FFF2-40B4-BE49-F238E27FC236}">
                <a16:creationId xmlns:a16="http://schemas.microsoft.com/office/drawing/2014/main" id="{0C14A1F9-6FD9-46C6-9B44-B4D1BC0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先保留 card 參照再建立新遊戲，比較物件身分。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92581061-C8CE-4403-AB1E-5B184864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對照 TypeScript 與 Python：=== 用於網頁物件身分，is 用於 Python。">
            <a:extLst xmlns:a="http://schemas.openxmlformats.org/drawingml/2006/main">
              <a:ext uri="{FF2B5EF4-FFF2-40B4-BE49-F238E27FC236}">
                <a16:creationId xmlns:a16="http://schemas.microsoft.com/office/drawing/2014/main" id="{C2791178-902F-456B-8DD3-F15DB8B0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0527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對照 TypeScript 與 Python：=== 用於網頁物件身分，is 用於 Python。</a:t>
            </a:r>
          </a:p>
        </p:txBody>
      </p:sp>
      <p:sp>
        <p:nvSpPr>
          <p:cNvPr id="9" name="Python · Classes  https://docs.python.org/3.12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A1B26C72-86A5-4F08-A67B-2A26DE1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Python · Classes  </a:t>
            </a:r>
            <a:r>
              <a: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7174a64d32b443cc"/>
              </a:rPr>
              <a:t>https://docs.python.org/3.12/tutorial/classes.html</a:t>
            </a:r>
          </a:p>
        </p:txBody>
      </p:sp>
      <p:sp>
        <p:nvSpPr>
          <p:cNvPr id="10" name="Python · Identity  https://docs.python.org/3.12/reference/expressions.">
            <a:extLst xmlns:a="http://schemas.openxmlformats.org/drawingml/2006/main">
              <a:ext uri="{FF2B5EF4-FFF2-40B4-BE49-F238E27FC236}">
                <a16:creationId xmlns:a16="http://schemas.microsoft.com/office/drawing/2014/main" id="{AB908318-596B-4574-B074-F48017C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Python · Identity  </a:t>
            </a:r>
            <a:r>
              <a:rPr sz="1500" b="0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19b3649e844345e5"/>
              </a:rPr>
              <a:t>https://docs.python.org/3.12/reference/expressions.html#is-not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B2C1384C-97A1-4368-84D1-5DC3D3B8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56977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安裝與執行 Pygame 版">
            <a:extLst xmlns:a="http://schemas.openxmlformats.org/drawingml/2006/main">
              <a:ext uri="{FF2B5EF4-FFF2-40B4-BE49-F238E27FC236}">
                <a16:creationId xmlns:a16="http://schemas.microsoft.com/office/drawing/2014/main" id="{9B662929-D4D9-4001-9DE1-45C2188B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安裝與執行 Pygame 版</a:t>
            </a:r>
          </a:p>
        </p:txBody>
      </p:sp>
      <p:sp>
        <p:nvSpPr>
          <p:cNvPr id="2" name="下載 ZIP，解壓縮後在 memory_oop 資料夾開啟終端機">
            <a:extLst xmlns:a="http://schemas.openxmlformats.org/drawingml/2006/main">
              <a:ext uri="{FF2B5EF4-FFF2-40B4-BE49-F238E27FC236}">
                <a16:creationId xmlns:a16="http://schemas.microsoft.com/office/drawing/2014/main" id="{F4EFB081-312B-4B54-994C-43025667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下載 ZIP，解壓縮後在 memory_oop 資料夾開啟終端機</a:t>
            </a:r>
          </a:p>
        </p:txBody>
      </p:sp>
      <p:sp>
        <p:nvSpPr>
          <p:cNvPr id="3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5DAA8A7C-5EF4-4D6C-8DF4-535E0A4F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4" name="python pygame_app.py --lang zh">
            <a:extLst xmlns:a="http://schemas.openxmlformats.org/drawingml/2006/main">
              <a:ext uri="{FF2B5EF4-FFF2-40B4-BE49-F238E27FC236}">
                <a16:creationId xmlns:a16="http://schemas.microsoft.com/office/drawing/2014/main" id="{1022A6D2-0294-4062-A3FC-224EA30C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pygame_app.py --lang zh</a:t>
            </a:r>
          </a:p>
        </p:txBody>
      </p:sp>
      <p:sp>
        <p:nvSpPr>
          <p:cNvPr id="5" name="python pygame_app.py --lang zh --sample">
            <a:extLst xmlns:a="http://schemas.openxmlformats.org/drawingml/2006/main">
              <a:ext uri="{FF2B5EF4-FFF2-40B4-BE49-F238E27FC236}">
                <a16:creationId xmlns:a16="http://schemas.microsoft.com/office/drawing/2014/main" id="{657AB21D-0A01-4DB4-A6CA-3340DF8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pygame_app.py --lang zh --sample</a:t>
            </a:r>
          </a:p>
        </p:txBody>
      </p:sp>
      <p:sp>
        <p:nvSpPr>
          <p:cNvPr id="6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935999EE-6D63-4367-9D08-155C84EF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7" name="使用 Python 3.12 與 Pygame 2.6.1。首次安裝套件需要網路。">
            <a:extLst xmlns:a="http://schemas.openxmlformats.org/drawingml/2006/main">
              <a:ext uri="{FF2B5EF4-FFF2-40B4-BE49-F238E27FC236}">
                <a16:creationId xmlns:a16="http://schemas.microsoft.com/office/drawing/2014/main" id="{58117541-B0A2-44DB-8017-FCEC705F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使用 Python 3.12 與 Pygame 2.6.1。首次安裝套件需要網路。</a:t>
            </a:r>
          </a:p>
        </p:txBody>
      </p:sp>
      <p:sp>
        <p:nvSpPr>
          <p:cNvPr id="8" name="--sample 開啟固定棋盤與單步觀察。安裝後可離線遊玩。">
            <a:extLst xmlns:a="http://schemas.openxmlformats.org/drawingml/2006/main">
              <a:ext uri="{FF2B5EF4-FFF2-40B4-BE49-F238E27FC236}">
                <a16:creationId xmlns:a16="http://schemas.microsoft.com/office/drawing/2014/main" id="{8F3982BD-0BE8-4E3A-A6B6-6142DD76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--sample 開啟固定棋盤與單步觀察。安裝後可離線遊玩。</a:t>
            </a:r>
          </a:p>
        </p:txBody>
      </p:sp>
      <p:sp>
        <p:nvSpPr>
          <p:cNvPr id="9" name="Terminal / PowerShell">
            <a:extLst xmlns:a="http://schemas.openxmlformats.org/drawingml/2006/main">
              <a:ext uri="{FF2B5EF4-FFF2-40B4-BE49-F238E27FC236}">
                <a16:creationId xmlns:a16="http://schemas.microsoft.com/office/drawing/2014/main" id="{8ABC23A6-81C6-45DA-BD91-A6646E19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 / PowerShell</a:t>
            </a:r>
          </a:p>
        </p:txBody>
      </p:sp>
      <p:sp>
        <p:nvSpPr>
          <p:cNvPr id="10" name="19">
            <a:extLst xmlns:a="http://schemas.openxmlformats.org/drawingml/2006/main">
              <a:ext uri="{FF2B5EF4-FFF2-40B4-BE49-F238E27FC236}">
                <a16:creationId xmlns:a16="http://schemas.microsoft.com/office/drawing/2014/main" id="{7679688F-6305-4963-B8E2-1FFDF80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638484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ygame 桌面版">
            <a:extLst xmlns:a="http://schemas.openxmlformats.org/drawingml/2006/main">
              <a:ext uri="{FF2B5EF4-FFF2-40B4-BE49-F238E27FC236}">
                <a16:creationId xmlns:a16="http://schemas.microsoft.com/office/drawing/2014/main" id="{F466947F-50C0-494C-8264-A41812F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Pygame 桌面版</a:t>
            </a:r>
          </a:p>
        </p:txBody>
      </p:sp>
      <p:sp>
        <p:nvSpPr>
          <p:cNvPr id="2" name="與網頁版共用配對規則，以 Python 物件直接運作">
            <a:extLst xmlns:a="http://schemas.openxmlformats.org/drawingml/2006/main">
              <a:ext uri="{FF2B5EF4-FFF2-40B4-BE49-F238E27FC236}">
                <a16:creationId xmlns:a16="http://schemas.microsoft.com/office/drawing/2014/main" id="{5023524E-629E-4D2D-8784-8E42E022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與網頁版共用配對規則，以 Python 物件直接運作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30453-6DAD-49B1-ACD5-4695A29BA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98794352d4755"/>
          <a:stretch xmlns:a="http://schemas.openxmlformats.org/drawingml/2006/main"/>
        </p:blipFill>
        <p:spPr>
          <a:xfrm xmlns:a="http://schemas.openxmlformats.org/drawingml/2006/main">
            <a:off x="571500" y="1764506"/>
            <a:ext cx="7353300" cy="4595813"/>
          </a:xfrm>
          <a:prstGeom xmlns:a="http://schemas.openxmlformats.org/drawingml/2006/main" prst="rect">
            <a:avLst/>
          </a:prstGeom>
        </p:spPr>
      </p:pic>
      <p:sp>
        <p:nvSpPr>
          <p:cNvPr id="4" name="物件標籤與參照檢視器保留。">
            <a:extLst xmlns:a="http://schemas.openxmlformats.org/drawingml/2006/main">
              <a:ext uri="{FF2B5EF4-FFF2-40B4-BE49-F238E27FC236}">
                <a16:creationId xmlns:a16="http://schemas.microsoft.com/office/drawing/2014/main" id="{D9D28669-D213-4CC2-81D9-388ABC25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物件標籤與參照檢視器保留。</a:t>
            </a:r>
          </a:p>
        </p:txBody>
      </p:sp>
      <p:sp>
        <p:nvSpPr>
          <p:cNvPr id="5" name="比較與結算是兩個步驟。">
            <a:extLst xmlns:a="http://schemas.openxmlformats.org/drawingml/2006/main">
              <a:ext uri="{FF2B5EF4-FFF2-40B4-BE49-F238E27FC236}">
                <a16:creationId xmlns:a16="http://schemas.microsoft.com/office/drawing/2014/main" id="{2D515244-13F2-4901-AD29-CE79424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623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比較與結算是兩個步驟。</a:t>
            </a:r>
          </a:p>
        </p:txBody>
      </p:sp>
      <p:sp>
        <p:nvSpPr>
          <p:cNvPr id="6" name="下載 Pygame / Python 範例">
            <a:extLst xmlns:a="http://schemas.openxmlformats.org/drawingml/2006/main">
              <a:ext uri="{FF2B5EF4-FFF2-40B4-BE49-F238E27FC236}">
                <a16:creationId xmlns:a16="http://schemas.microsoft.com/office/drawing/2014/main" id="{690B1D36-A3F3-4224-9E35-C96F591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d0a7a268fb4e428e"/>
              </a:rPr>
              <a:t>下載 Pygame / Python 範例</a:t>
            </a:r>
          </a:p>
        </p:txBody>
      </p:sp>
      <p:sp>
        <p:nvSpPr>
          <p:cNvPr id="7" name="20">
            <a:extLst xmlns:a="http://schemas.openxmlformats.org/drawingml/2006/main">
              <a:ext uri="{FF2B5EF4-FFF2-40B4-BE49-F238E27FC236}">
                <a16:creationId xmlns:a16="http://schemas.microsoft.com/office/drawing/2014/main" id="{85F8D2FE-A5C2-40A8-9F0C-8F5379FB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66925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桌面版操作">
            <a:extLst xmlns:a="http://schemas.openxmlformats.org/drawingml/2006/main">
              <a:ext uri="{FF2B5EF4-FFF2-40B4-BE49-F238E27FC236}">
                <a16:creationId xmlns:a16="http://schemas.microsoft.com/office/drawing/2014/main" id="{5FE9C7FB-7566-4547-A8F0-9BF6BC6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桌面版操作</a:t>
            </a:r>
          </a:p>
        </p:txBody>
      </p:sp>
      <p:sp>
        <p:nvSpPr>
          <p:cNvPr id="2" name="滑鼠與鍵盤皆可操作，視窗縮放不改變遊戲狀態">
            <a:extLst xmlns:a="http://schemas.openxmlformats.org/drawingml/2006/main">
              <a:ext uri="{FF2B5EF4-FFF2-40B4-BE49-F238E27FC236}">
                <a16:creationId xmlns:a16="http://schemas.microsoft.com/office/drawing/2014/main" id="{DB67A9F2-C05A-486A-A606-1D9217A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滑鼠與鍵盤皆可操作，視窗縮放不改變遊戲狀態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12501-4BAB-4322-8BF1-3E0FB5C2D71D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左鍵／Enter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選取目前的牌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右鍵／方向鍵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只切換檢視對象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N／下一步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觀察模式前進一個階段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Space／確認回合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一般模式比較並結算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 / L / 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切換模式／標籤／新遊戲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F1 / F2 / 1–3 / Esc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成功範例／失敗範例／語言／結束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右鍵與方向鍵只改變檢視對象。切換語言保留目前棋盤。">
            <a:extLst xmlns:a="http://schemas.openxmlformats.org/drawingml/2006/main">
              <a:ext uri="{FF2B5EF4-FFF2-40B4-BE49-F238E27FC236}">
                <a16:creationId xmlns:a16="http://schemas.microsoft.com/office/drawing/2014/main" id="{F5E38BA7-2849-4D0C-9A59-D37D4A07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右鍵與方向鍵只改變檢視對象。切換語言保留目前棋盤。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2FE2FB1A-381E-40BC-9227-567BB42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970297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gameApp 與模型的分工">
            <a:extLst xmlns:a="http://schemas.openxmlformats.org/drawingml/2006/main">
              <a:ext uri="{FF2B5EF4-FFF2-40B4-BE49-F238E27FC236}">
                <a16:creationId xmlns:a16="http://schemas.microsoft.com/office/drawing/2014/main" id="{6F2A17C3-EDC7-4CD4-8A1B-DFFD115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PygameApp 與模型的分工</a:t>
            </a:r>
          </a:p>
        </p:txBody>
      </p:sp>
      <p:sp>
        <p:nvSpPr>
          <p:cNvPr id="2" name="PygameApp 持有 Game，沿用既有的 Board 與 Card">
            <a:extLst xmlns:a="http://schemas.openxmlformats.org/drawingml/2006/main">
              <a:ext uri="{FF2B5EF4-FFF2-40B4-BE49-F238E27FC236}">
                <a16:creationId xmlns:a16="http://schemas.microsoft.com/office/drawing/2014/main" id="{7FA877B6-AB4A-46F5-B65B-3E0A8CA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PygameApp 持有 Game，沿用既有的 Board 與 Card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A379A-00C6-4436-A6FD-FC421848B737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檔案或類別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model.py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Card、Board、Game：狀態與配對規則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PygameApp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 Game，處理輸入、繪圖與視窗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pygame_text.py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中英日介面文字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assets/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隨附 Noto 字型與 OFL 授權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PygameApp → Game → Board → Card。沒有新增卡牌的繼承階層。">
            <a:extLst xmlns:a="http://schemas.openxmlformats.org/drawingml/2006/main">
              <a:ext uri="{FF2B5EF4-FFF2-40B4-BE49-F238E27FC236}">
                <a16:creationId xmlns:a16="http://schemas.microsoft.com/office/drawing/2014/main" id="{A713DA14-FFE8-4392-AA83-20D9F28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PygameApp → Game → Board → Card。沒有新增卡牌的繼承階層。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EF29AB6E-296A-4457-A548-0EC3846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708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426535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事件迴圈與畫面更新">
            <a:extLst xmlns:a="http://schemas.openxmlformats.org/drawingml/2006/main">
              <a:ext uri="{FF2B5EF4-FFF2-40B4-BE49-F238E27FC236}">
                <a16:creationId xmlns:a16="http://schemas.microsoft.com/office/drawing/2014/main" id="{4DF66990-B84E-490D-BAE6-8B447FD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事件迴圈與畫面更新</a:t>
            </a:r>
          </a:p>
        </p:txBody>
      </p:sp>
      <p:sp>
        <p:nvSpPr>
          <p:cNvPr id="2" name="pygame_app.py · PygameApp.run">
            <a:extLst xmlns:a="http://schemas.openxmlformats.org/drawingml/2006/main">
              <a:ext uri="{FF2B5EF4-FFF2-40B4-BE49-F238E27FC236}">
                <a16:creationId xmlns:a16="http://schemas.microsoft.com/office/drawing/2014/main" id="{39884887-C6CF-48D4-A3D5-A7A839A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pygame_app.py · PygameApp.run</a:t>
            </a:r>
          </a:p>
        </p:txBody>
      </p:sp>
      <p:sp>
        <p:nvSpPr>
          <p:cNvPr id="3" name="def run(self):">
            <a:extLst xmlns:a="http://schemas.openxmlformats.org/drawingml/2006/main">
              <a:ext uri="{FF2B5EF4-FFF2-40B4-BE49-F238E27FC236}">
                <a16:creationId xmlns:a16="http://schemas.microsoft.com/office/drawing/2014/main" id="{47AC7D7F-7C0F-4540-8307-49B7BCD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run(self):</a:t>
            </a:r>
          </a:p>
        </p:txBody>
      </p:sp>
      <p:sp>
        <p:nvSpPr>
          <p:cNvPr id="4" name="    while self.running:">
            <a:extLst xmlns:a="http://schemas.openxmlformats.org/drawingml/2006/main">
              <a:ext uri="{FF2B5EF4-FFF2-40B4-BE49-F238E27FC236}">
                <a16:creationId xmlns:a16="http://schemas.microsoft.com/office/drawing/2014/main" id="{282414CE-159C-4C9C-9298-A78204C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while self.running:</a:t>
            </a:r>
          </a:p>
        </p:txBody>
      </p:sp>
      <p:sp>
        <p:nvSpPr>
          <p:cNvPr id="5" name="        for event in pygame.event.get():">
            <a:extLst xmlns:a="http://schemas.openxmlformats.org/drawingml/2006/main">
              <a:ext uri="{FF2B5EF4-FFF2-40B4-BE49-F238E27FC236}">
                <a16:creationId xmlns:a16="http://schemas.microsoft.com/office/drawing/2014/main" id="{E6FD5DEF-5FFD-43F1-B348-0B06214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for event in pygame.event.get():</a:t>
            </a:r>
          </a:p>
        </p:txBody>
      </p:sp>
      <p:sp>
        <p:nvSpPr>
          <p:cNvPr id="6" name="            self.handle_event(event)">
            <a:extLst xmlns:a="http://schemas.openxmlformats.org/drawingml/2006/main">
              <a:ext uri="{FF2B5EF4-FFF2-40B4-BE49-F238E27FC236}">
                <a16:creationId xmlns:a16="http://schemas.microsoft.com/office/drawing/2014/main" id="{9DA17758-FB9A-47A6-B29D-6DA2F95C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self.handle_event(event)</a:t>
            </a:r>
          </a:p>
        </p:txBody>
      </p:sp>
      <p:sp>
        <p:nvSpPr>
          <p:cNvPr id="7" name="        self.draw()">
            <a:extLst xmlns:a="http://schemas.openxmlformats.org/drawingml/2006/main">
              <a:ext uri="{FF2B5EF4-FFF2-40B4-BE49-F238E27FC236}">
                <a16:creationId xmlns:a16="http://schemas.microsoft.com/office/drawing/2014/main" id="{FE0F4C70-E3D0-46F7-8761-8229FB2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self.draw()</a:t>
            </a:r>
          </a:p>
        </p:txBody>
      </p:sp>
      <p:sp>
        <p:nvSpPr>
          <p:cNvPr id="8" name="        self.present()">
            <a:extLst xmlns:a="http://schemas.openxmlformats.org/drawingml/2006/main">
              <a:ext uri="{FF2B5EF4-FFF2-40B4-BE49-F238E27FC236}">
                <a16:creationId xmlns:a16="http://schemas.microsoft.com/office/drawing/2014/main" id="{410364E3-FEB9-4C5A-ADB0-6AA97176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self.present()</a:t>
            </a:r>
          </a:p>
        </p:txBody>
      </p:sp>
      <p:sp>
        <p:nvSpPr>
          <p:cNvPr id="9" name="        pygame.display.flip()">
            <a:extLst xmlns:a="http://schemas.openxmlformats.org/drawingml/2006/main">
              <a:ext uri="{FF2B5EF4-FFF2-40B4-BE49-F238E27FC236}">
                <a16:creationId xmlns:a16="http://schemas.microsoft.com/office/drawing/2014/main" id="{90641EF5-9C64-4D8C-A77E-3FCF9D4F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pygame.display.flip()</a:t>
            </a:r>
          </a:p>
        </p:txBody>
      </p:sp>
      <p:sp>
        <p:nvSpPr>
          <p:cNvPr id="10" name="        self.clock.tick(60)">
            <a:extLst xmlns:a="http://schemas.openxmlformats.org/drawingml/2006/main">
              <a:ext uri="{FF2B5EF4-FFF2-40B4-BE49-F238E27FC236}">
                <a16:creationId xmlns:a16="http://schemas.microsoft.com/office/drawing/2014/main" id="{2EA3E366-4842-4087-AAEC-82235F7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self.clock.tick(60)</a:t>
            </a:r>
          </a:p>
        </p:txBody>
      </p:sp>
      <p:sp>
        <p:nvSpPr>
          <p:cNvPr id="11" name="    pygame.quit()">
            <a:extLst xmlns:a="http://schemas.openxmlformats.org/drawingml/2006/main">
              <a:ext uri="{FF2B5EF4-FFF2-40B4-BE49-F238E27FC236}">
                <a16:creationId xmlns:a16="http://schemas.microsoft.com/office/drawing/2014/main" id="{681B1F57-3917-4E37-B3E6-CD36907E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pygame.quit()</a:t>
            </a:r>
          </a:p>
        </p:txBody>
      </p:sp>
      <p:sp>
        <p:nvSpPr>
          <p:cNvPr id="12" name="每一輪先處理事件，再繪圖並更新視窗。">
            <a:extLst xmlns:a="http://schemas.openxmlformats.org/drawingml/2006/main">
              <a:ext uri="{FF2B5EF4-FFF2-40B4-BE49-F238E27FC236}">
                <a16:creationId xmlns:a16="http://schemas.microsoft.com/office/drawing/2014/main" id="{5763251B-07A5-42B6-9013-CC8E08B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每一輪先處理事件，再繪圖並更新視窗。</a:t>
            </a:r>
          </a:p>
        </p:txBody>
      </p:sp>
      <p:sp>
        <p:nvSpPr>
          <p:cNvPr id="13" name="tick(60) 限制更新頻率；繪圖本身不會推進配對狀態。">
            <a:extLst xmlns:a="http://schemas.openxmlformats.org/drawingml/2006/main">
              <a:ext uri="{FF2B5EF4-FFF2-40B4-BE49-F238E27FC236}">
                <a16:creationId xmlns:a16="http://schemas.microsoft.com/office/drawing/2014/main" id="{B52DC3B1-F6AC-4A6F-9409-2DB260DD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tick(60) 限制更新頻率；繪圖本身不會推進配對狀態。</a:t>
            </a:r>
          </a:p>
        </p:txBody>
      </p:sp>
      <p:sp>
        <p:nvSpPr>
          <p:cNvPr id="14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09C7EE9D-6562-47F4-B461-9DFE3D0D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5" name="23">
            <a:extLst xmlns:a="http://schemas.openxmlformats.org/drawingml/2006/main">
              <a:ext uri="{FF2B5EF4-FFF2-40B4-BE49-F238E27FC236}">
                <a16:creationId xmlns:a16="http://schemas.microsoft.com/office/drawing/2014/main" id="{C5E9012D-D635-4E49-8220-C42C51A5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43499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滑鼠位置對應到卡牌">
            <a:extLst xmlns:a="http://schemas.openxmlformats.org/drawingml/2006/main">
              <a:ext uri="{FF2B5EF4-FFF2-40B4-BE49-F238E27FC236}">
                <a16:creationId xmlns:a16="http://schemas.microsoft.com/office/drawing/2014/main" id="{4A6A17A0-3960-40B8-8473-C1915D6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滑鼠位置對應到卡牌</a:t>
            </a:r>
          </a:p>
        </p:txBody>
      </p:sp>
      <p:sp>
        <p:nvSpPr>
          <p:cNvPr id="2" name="pygame_app.py · PygameApp.click_card">
            <a:extLst xmlns:a="http://schemas.openxmlformats.org/drawingml/2006/main">
              <a:ext uri="{FF2B5EF4-FFF2-40B4-BE49-F238E27FC236}">
                <a16:creationId xmlns:a16="http://schemas.microsoft.com/office/drawing/2014/main" id="{57D1BA93-06EC-4A50-967F-1C9811DF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pygame_app.py · PygameApp.click_card</a:t>
            </a:r>
          </a:p>
        </p:txBody>
      </p:sp>
      <p:sp>
        <p:nvSpPr>
          <p:cNvPr id="3" name="def click_card(self, pos, inspect_only=False):">
            <a:extLst xmlns:a="http://schemas.openxmlformats.org/drawingml/2006/main">
              <a:ext uri="{FF2B5EF4-FFF2-40B4-BE49-F238E27FC236}">
                <a16:creationId xmlns:a16="http://schemas.microsoft.com/office/drawing/2014/main" id="{BCDA15E8-4F10-4FB8-ADF9-40750590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click_card(self, pos, inspect_only=False):</a:t>
            </a:r>
          </a:p>
        </p:txBody>
      </p:sp>
      <p:sp>
        <p:nvSpPr>
          <p:cNvPr id="4" name="    for index, rect in enumerate(self.card_rects):">
            <a:extLst xmlns:a="http://schemas.openxmlformats.org/drawingml/2006/main">
              <a:ext uri="{FF2B5EF4-FFF2-40B4-BE49-F238E27FC236}">
                <a16:creationId xmlns:a16="http://schemas.microsoft.com/office/drawing/2014/main" id="{F87494DF-C1FD-4D19-B65A-72888A20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index, rect in enumerate(self.card_rects):</a:t>
            </a:r>
          </a:p>
        </p:txBody>
      </p:sp>
      <p:sp>
        <p:nvSpPr>
          <p:cNvPr id="5" name="        if rect.collidepoint(pos):">
            <a:extLst xmlns:a="http://schemas.openxmlformats.org/drawingml/2006/main">
              <a:ext uri="{FF2B5EF4-FFF2-40B4-BE49-F238E27FC236}">
                <a16:creationId xmlns:a16="http://schemas.microsoft.com/office/drawing/2014/main" id="{9A8D214D-66B1-4C1D-B8B0-FB1E694C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rect.collidepoint(pos):</a:t>
            </a:r>
          </a:p>
        </p:txBody>
      </p:sp>
      <p:sp>
        <p:nvSpPr>
          <p:cNvPr id="6" name="            if inspect_only:">
            <a:extLst xmlns:a="http://schemas.openxmlformats.org/drawingml/2006/main">
              <a:ext uri="{FF2B5EF4-FFF2-40B4-BE49-F238E27FC236}">
                <a16:creationId xmlns:a16="http://schemas.microsoft.com/office/drawing/2014/main" id="{ED41F1CB-19D8-4901-95B3-AA5F4BDF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if inspect_only:</a:t>
            </a:r>
          </a:p>
        </p:txBody>
      </p:sp>
      <p:sp>
        <p:nvSpPr>
          <p:cNvPr id="7" name="                self.selected = index">
            <a:extLst xmlns:a="http://schemas.openxmlformats.org/drawingml/2006/main">
              <a:ext uri="{FF2B5EF4-FFF2-40B4-BE49-F238E27FC236}">
                <a16:creationId xmlns:a16="http://schemas.microsoft.com/office/drawing/2014/main" id="{B626EAAC-B21F-4C02-A493-E866F5E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self.selected = index</a:t>
            </a:r>
          </a:p>
        </p:txBody>
      </p:sp>
      <p:sp>
        <p:nvSpPr>
          <p:cNvPr id="8" name="            else:">
            <a:extLst xmlns:a="http://schemas.openxmlformats.org/drawingml/2006/main">
              <a:ext uri="{FF2B5EF4-FFF2-40B4-BE49-F238E27FC236}">
                <a16:creationId xmlns:a16="http://schemas.microsoft.com/office/drawing/2014/main" id="{A636605C-9069-4B9B-8712-210A281B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else:</a:t>
            </a:r>
          </a:p>
        </p:txBody>
      </p:sp>
      <p:sp>
        <p:nvSpPr>
          <p:cNvPr id="9" name="                self.pick(index)">
            <a:extLst xmlns:a="http://schemas.openxmlformats.org/drawingml/2006/main">
              <a:ext uri="{FF2B5EF4-FFF2-40B4-BE49-F238E27FC236}">
                <a16:creationId xmlns:a16="http://schemas.microsoft.com/office/drawing/2014/main" id="{C833A7BC-BA3E-472A-AB2E-6F9D0C2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self.pick(index)</a:t>
            </a:r>
          </a:p>
        </p:txBody>
      </p:sp>
      <p:sp>
        <p:nvSpPr>
          <p:cNvPr id="10" name="            return True">
            <a:extLst xmlns:a="http://schemas.openxmlformats.org/drawingml/2006/main">
              <a:ext uri="{FF2B5EF4-FFF2-40B4-BE49-F238E27FC236}">
                <a16:creationId xmlns:a16="http://schemas.microsoft.com/office/drawing/2014/main" id="{5C6EA043-B15C-4123-B4AB-9BABC3D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 True</a:t>
            </a:r>
          </a:p>
        </p:txBody>
      </p:sp>
      <p:sp>
        <p:nvSpPr>
          <p:cNvPr id="11" name="    return False">
            <a:extLst xmlns:a="http://schemas.openxmlformats.org/drawingml/2006/main">
              <a:ext uri="{FF2B5EF4-FFF2-40B4-BE49-F238E27FC236}">
                <a16:creationId xmlns:a16="http://schemas.microsoft.com/office/drawing/2014/main" id="{921CAE11-1520-4562-98F9-C7DCE105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12" name="click() 先將視窗座標轉為 1280 × 800 的邏輯座標。">
            <a:extLst xmlns:a="http://schemas.openxmlformats.org/drawingml/2006/main">
              <a:ext uri="{FF2B5EF4-FFF2-40B4-BE49-F238E27FC236}">
                <a16:creationId xmlns:a16="http://schemas.microsoft.com/office/drawing/2014/main" id="{94D1B39A-0D3C-46A3-B302-ADA6BC17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click() 先將視窗座標轉為 1280 × 800 的邏輯座標。</a:t>
            </a:r>
          </a:p>
        </p:txBody>
      </p:sp>
      <p:sp>
        <p:nvSpPr>
          <p:cNvPr id="13" name="Rect.collidepoint() 找到牌；右鍵只改變 selected。">
            <a:extLst xmlns:a="http://schemas.openxmlformats.org/drawingml/2006/main">
              <a:ext uri="{FF2B5EF4-FFF2-40B4-BE49-F238E27FC236}">
                <a16:creationId xmlns:a16="http://schemas.microsoft.com/office/drawing/2014/main" id="{11C2C976-3111-40EC-BDDE-79B0BEAD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Rect.collidepoint() 找到牌；右鍵只改變 selected。</a:t>
            </a:r>
          </a:p>
        </p:txBody>
      </p:sp>
      <p:sp>
        <p:nvSpPr>
          <p:cNvPr id="14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8C22A533-02BC-4630-BF0A-8EAF4E4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5" name="24">
            <a:extLst xmlns:a="http://schemas.openxmlformats.org/drawingml/2006/main">
              <a:ext uri="{FF2B5EF4-FFF2-40B4-BE49-F238E27FC236}">
                <a16:creationId xmlns:a16="http://schemas.microsoft.com/office/drawing/2014/main" id="{05B4E8D4-2A75-47A1-A23F-E513EDB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462913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選牌與單步呼叫">
            <a:extLst xmlns:a="http://schemas.openxmlformats.org/drawingml/2006/main">
              <a:ext uri="{FF2B5EF4-FFF2-40B4-BE49-F238E27FC236}">
                <a16:creationId xmlns:a16="http://schemas.microsoft.com/office/drawing/2014/main" id="{26D6CA90-D00C-44FD-A6CB-13243A1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選牌與單步呼叫</a:t>
            </a:r>
          </a:p>
        </p:txBody>
      </p:sp>
      <p:sp>
        <p:nvSpPr>
          <p:cNvPr id="2" name="pygame_app.py · PygameApp.pick / advance">
            <a:extLst xmlns:a="http://schemas.openxmlformats.org/drawingml/2006/main">
              <a:ext uri="{FF2B5EF4-FFF2-40B4-BE49-F238E27FC236}">
                <a16:creationId xmlns:a16="http://schemas.microsoft.com/office/drawing/2014/main" id="{AE45F4B1-8354-4AEB-8A36-686331E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pygame_app.py · PygameApp.pick / advance</a:t>
            </a:r>
          </a:p>
        </p:txBody>
      </p:sp>
      <p:sp>
        <p:nvSpPr>
          <p:cNvPr id="3" name="def pick(self, index):">
            <a:extLst xmlns:a="http://schemas.openxmlformats.org/drawingml/2006/main">
              <a:ext uri="{FF2B5EF4-FFF2-40B4-BE49-F238E27FC236}">
                <a16:creationId xmlns:a16="http://schemas.microsoft.com/office/drawing/2014/main" id="{67F31200-9A2A-4CEF-99B2-D93232D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pick(self, index):</a:t>
            </a:r>
          </a:p>
        </p:txBody>
      </p:sp>
      <p:sp>
        <p:nvSpPr>
          <p:cNvPr id="4" name="    self.selected = index">
            <a:extLst xmlns:a="http://schemas.openxmlformats.org/drawingml/2006/main">
              <a:ext uri="{FF2B5EF4-FFF2-40B4-BE49-F238E27FC236}">
                <a16:creationId xmlns:a16="http://schemas.microsoft.com/office/drawing/2014/main" id="{5E4D57BD-833A-4F5E-9073-777068A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self.selected = index</a:t>
            </a:r>
          </a:p>
        </p:txBody>
      </p:sp>
      <p:sp>
        <p:nvSpPr>
          <p:cNvPr id="5" name="    card = self.game.board.cards[index]">
            <a:extLst xmlns:a="http://schemas.openxmlformats.org/drawingml/2006/main">
              <a:ext uri="{FF2B5EF4-FFF2-40B4-BE49-F238E27FC236}">
                <a16:creationId xmlns:a16="http://schemas.microsoft.com/office/drawing/2014/main" id="{B4750AD5-BA4D-4D58-9AA2-60F1A5B5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card = self.game.board.cards[index]</a:t>
            </a:r>
          </a:p>
        </p:txBody>
      </p:sp>
      <p:sp>
        <p:nvSpPr>
          <p:cNvPr id="6" name="    if self.observe:">
            <a:extLst xmlns:a="http://schemas.openxmlformats.org/drawingml/2006/main">
              <a:ext uri="{FF2B5EF4-FFF2-40B4-BE49-F238E27FC236}">
                <a16:creationId xmlns:a16="http://schemas.microsoft.com/office/drawing/2014/main" id="{8893CA84-77A8-48C5-B7B7-4494366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self.observe:</a:t>
            </a:r>
          </a:p>
        </p:txBody>
      </p:sp>
      <p:sp>
        <p:nvSpPr>
          <p:cNvPr id="7" name="        self.game.queue(card.name)">
            <a:extLst xmlns:a="http://schemas.openxmlformats.org/drawingml/2006/main">
              <a:ext uri="{FF2B5EF4-FFF2-40B4-BE49-F238E27FC236}">
                <a16:creationId xmlns:a16="http://schemas.microsoft.com/office/drawing/2014/main" id="{716B4526-1D0E-4E86-A5C2-3F482B0E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self.game.queue(card.name)</a:t>
            </a:r>
          </a:p>
        </p:txBody>
      </p:sp>
      <p:sp>
        <p:nvSpPr>
          <p:cNvPr id="8" name="    else:">
            <a:extLst xmlns:a="http://schemas.openxmlformats.org/drawingml/2006/main">
              <a:ext uri="{FF2B5EF4-FFF2-40B4-BE49-F238E27FC236}">
                <a16:creationId xmlns:a16="http://schemas.microsoft.com/office/drawing/2014/main" id="{7CB03C33-FDAE-4BA2-8525-356FF41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9" name="        self.game.play(card.name)">
            <a:extLst xmlns:a="http://schemas.openxmlformats.org/drawingml/2006/main">
              <a:ext uri="{FF2B5EF4-FFF2-40B4-BE49-F238E27FC236}">
                <a16:creationId xmlns:a16="http://schemas.microsoft.com/office/drawing/2014/main" id="{FDCEBB7B-811F-44C7-B4B2-C6ADAC0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self.game.play(card.name)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CC9C3-9BD9-46D6-AF96-4E91FAE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def advance(self):">
            <a:extLst xmlns:a="http://schemas.openxmlformats.org/drawingml/2006/main">
              <a:ext uri="{FF2B5EF4-FFF2-40B4-BE49-F238E27FC236}">
                <a16:creationId xmlns:a16="http://schemas.microsoft.com/office/drawing/2014/main" id="{91F2AE6C-282F-4AE3-AF6D-64DC6BF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advance(self):</a:t>
            </a:r>
          </a:p>
        </p:txBody>
      </p:sp>
      <p:sp>
        <p:nvSpPr>
          <p:cNvPr id="12" name="    if self.observe or self.game.pending:">
            <a:extLst xmlns:a="http://schemas.openxmlformats.org/drawingml/2006/main">
              <a:ext uri="{FF2B5EF4-FFF2-40B4-BE49-F238E27FC236}">
                <a16:creationId xmlns:a16="http://schemas.microsoft.com/office/drawing/2014/main" id="{238FF4BC-FB78-40B8-8AF9-A51953B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self.observe or self.game.pending:</a:t>
            </a:r>
          </a:p>
        </p:txBody>
      </p:sp>
      <p:sp>
        <p:nvSpPr>
          <p:cNvPr id="13" name="        self.game.step()">
            <a:extLst xmlns:a="http://schemas.openxmlformats.org/drawingml/2006/main">
              <a:ext uri="{FF2B5EF4-FFF2-40B4-BE49-F238E27FC236}">
                <a16:creationId xmlns:a16="http://schemas.microsoft.com/office/drawing/2014/main" id="{2D5AAEDE-D74C-4EB9-9EFC-5340D7F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self.game.step()</a:t>
            </a:r>
          </a:p>
        </p:txBody>
      </p:sp>
      <p:sp>
        <p:nvSpPr>
          <p:cNvPr id="14" name="    else:">
            <a:extLst xmlns:a="http://schemas.openxmlformats.org/drawingml/2006/main">
              <a:ext uri="{FF2B5EF4-FFF2-40B4-BE49-F238E27FC236}">
                <a16:creationId xmlns:a16="http://schemas.microsoft.com/office/drawing/2014/main" id="{E2BFE65E-5DCE-4A1B-ABD1-5D4E38AF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5" name="        self.game.finish_turn()">
            <a:extLst xmlns:a="http://schemas.openxmlformats.org/drawingml/2006/main">
              <a:ext uri="{FF2B5EF4-FFF2-40B4-BE49-F238E27FC236}">
                <a16:creationId xmlns:a16="http://schemas.microsoft.com/office/drawing/2014/main" id="{D23F2750-1212-49AE-A500-F4EC619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self.game.finish_turn()</a:t>
            </a:r>
          </a:p>
        </p:txBody>
      </p:sp>
      <p:sp>
        <p:nvSpPr>
          <p:cNvPr id="16" name="觀察模式：queue() 只保存參照，step() 才執行下一階段。">
            <a:extLst xmlns:a="http://schemas.openxmlformats.org/drawingml/2006/main">
              <a:ext uri="{FF2B5EF4-FFF2-40B4-BE49-F238E27FC236}">
                <a16:creationId xmlns:a16="http://schemas.microsoft.com/office/drawing/2014/main" id="{E21BA916-36CC-4297-8DE6-D69202BF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觀察模式：queue() 只保存參照，step() 才執行下一階段。</a:t>
            </a:r>
          </a:p>
        </p:txBody>
      </p:sp>
      <p:sp>
        <p:nvSpPr>
          <p:cNvPr id="17" name="一般模式：play() 立即翻牌，finish_turn() 完成比較與結算。">
            <a:extLst xmlns:a="http://schemas.openxmlformats.org/drawingml/2006/main">
              <a:ext uri="{FF2B5EF4-FFF2-40B4-BE49-F238E27FC236}">
                <a16:creationId xmlns:a16="http://schemas.microsoft.com/office/drawing/2014/main" id="{3AFF37FD-2E3A-4850-9C98-B3C4B39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一般模式：play() 立即翻牌，finish_turn() 完成比較與結算。</a:t>
            </a:r>
          </a:p>
        </p:txBody>
      </p:sp>
      <p:sp>
        <p:nvSpPr>
          <p:cNvPr id="18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0B2A376F-AD73-4B4D-AC71-873BC76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9" name="25">
            <a:extLst xmlns:a="http://schemas.openxmlformats.org/drawingml/2006/main">
              <a:ext uri="{FF2B5EF4-FFF2-40B4-BE49-F238E27FC236}">
                <a16:creationId xmlns:a16="http://schemas.microsoft.com/office/drawing/2014/main" id="{A96F0949-1384-4384-81C5-AFFBD59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934208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由物件狀態繪製卡牌">
            <a:extLst xmlns:a="http://schemas.openxmlformats.org/drawingml/2006/main">
              <a:ext uri="{FF2B5EF4-FFF2-40B4-BE49-F238E27FC236}">
                <a16:creationId xmlns:a16="http://schemas.microsoft.com/office/drawing/2014/main" id="{B8B9C0B0-DABA-4835-B386-71974C9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由物件狀態繪製卡牌</a:t>
            </a:r>
          </a:p>
        </p:txBody>
      </p:sp>
      <p:sp>
        <p:nvSpPr>
          <p:cNvPr id="2" name="draw_card() 節錄，省略圖案與選取外框的繪製">
            <a:extLst xmlns:a="http://schemas.openxmlformats.org/drawingml/2006/main">
              <a:ext uri="{FF2B5EF4-FFF2-40B4-BE49-F238E27FC236}">
                <a16:creationId xmlns:a16="http://schemas.microsoft.com/office/drawing/2014/main" id="{E8D702FD-0728-4894-926F-6F498704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draw_card() 節錄，省略圖案與選取外框的繪製</a:t>
            </a:r>
          </a:p>
        </p:txBody>
      </p:sp>
      <p:sp>
        <p:nvSpPr>
          <p:cNvPr id="3" name="def draw_card(self, card, rect, selected=False):">
            <a:extLst xmlns:a="http://schemas.openxmlformats.org/drawingml/2006/main">
              <a:ext uri="{FF2B5EF4-FFF2-40B4-BE49-F238E27FC236}">
                <a16:creationId xmlns:a16="http://schemas.microsoft.com/office/drawing/2014/main" id="{AA15AC24-590C-409C-8DF7-0C10B39F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draw_card(self, card, rect, selected=False):</a:t>
            </a:r>
          </a:p>
        </p:txBody>
      </p:sp>
      <p:sp>
        <p:nvSpPr>
          <p:cNvPr id="4" name="    color = FACE if card.face_up else BACK">
            <a:extLst xmlns:a="http://schemas.openxmlformats.org/drawingml/2006/main">
              <a:ext uri="{FF2B5EF4-FFF2-40B4-BE49-F238E27FC236}">
                <a16:creationId xmlns:a16="http://schemas.microsoft.com/office/drawing/2014/main" id="{8A7929AE-421B-4C7E-BE07-3184659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color = FACE if card.face_up else BACK</a:t>
            </a:r>
          </a:p>
        </p:txBody>
      </p:sp>
      <p:sp>
        <p:nvSpPr>
          <p:cNvPr id="5" name="    pygame.draw.rect(self.screen, color, rect, border_radius=10)">
            <a:extLst xmlns:a="http://schemas.openxmlformats.org/drawingml/2006/main">
              <a:ext uri="{FF2B5EF4-FFF2-40B4-BE49-F238E27FC236}">
                <a16:creationId xmlns:a16="http://schemas.microsoft.com/office/drawing/2014/main" id="{5F620AA8-90E5-424E-8106-9C064791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pygame.draw.rect(self.screen, color, rect, border_radius=10)</a:t>
            </a:r>
          </a:p>
        </p:txBody>
      </p:sp>
      <p:sp>
        <p:nvSpPr>
          <p:cNvPr id="6" name="    # ... symbol and selection rendering ...">
            <a:extLst xmlns:a="http://schemas.openxmlformats.org/drawingml/2006/main">
              <a:ext uri="{FF2B5EF4-FFF2-40B4-BE49-F238E27FC236}">
                <a16:creationId xmlns:a16="http://schemas.microsoft.com/office/drawing/2014/main" id="{66646A41-0FD5-4319-951A-E35D3AE1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# ... symbol and selection rendering ...</a:t>
            </a:r>
          </a:p>
        </p:txBody>
      </p:sp>
      <p:sp>
        <p:nvSpPr>
          <p:cNvPr id="7" name="    if self.labels:">
            <a:extLst xmlns:a="http://schemas.openxmlformats.org/drawingml/2006/main">
              <a:ext uri="{FF2B5EF4-FFF2-40B4-BE49-F238E27FC236}">
                <a16:creationId xmlns:a16="http://schemas.microsoft.com/office/drawing/2014/main" id="{FBF21832-27DD-4EE4-BE0E-2B63754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self.labels:</a:t>
            </a:r>
          </a:p>
        </p:txBody>
      </p:sp>
      <p:sp>
        <p:nvSpPr>
          <p:cNvPr id="8" name="        self.text(f'{card.name}: Card',">
            <a:extLst xmlns:a="http://schemas.openxmlformats.org/drawingml/2006/main">
              <a:ext uri="{FF2B5EF4-FFF2-40B4-BE49-F238E27FC236}">
                <a16:creationId xmlns:a16="http://schemas.microsoft.com/office/drawing/2014/main" id="{90DD00A8-6A1F-4340-8772-94E62E7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self.text(f'{card.name}: Card',</a:t>
            </a:r>
          </a:p>
        </p:txBody>
      </p:sp>
      <p:sp>
        <p:nvSpPr>
          <p:cNvPr id="9" name="                  (rect.x + 16, rect.y + 91), 16,">
            <a:extLst xmlns:a="http://schemas.openxmlformats.org/drawingml/2006/main">
              <a:ext uri="{FF2B5EF4-FFF2-40B4-BE49-F238E27FC236}">
                <a16:creationId xmlns:a16="http://schemas.microsoft.com/office/drawing/2014/main" id="{F97446C0-C647-4934-B20B-3C261CA2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(rect.x + 16, rect.y + 91), 16,</a:t>
            </a:r>
          </a:p>
        </p:txBody>
      </p:sp>
      <p:sp>
        <p:nvSpPr>
          <p:cNvPr id="10" name="                  INK if card.face_up else WHITE)">
            <a:extLst xmlns:a="http://schemas.openxmlformats.org/drawingml/2006/main">
              <a:ext uri="{FF2B5EF4-FFF2-40B4-BE49-F238E27FC236}">
                <a16:creationId xmlns:a16="http://schemas.microsoft.com/office/drawing/2014/main" id="{C67EC11A-3212-426F-963F-2F26EC5C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INK if card.face_up else WHITE)</a:t>
            </a:r>
          </a:p>
        </p:txBody>
      </p:sp>
      <p:sp>
        <p:nvSpPr>
          <p:cNvPr id="11" name="face_up 決定牌面顏色，labels 決定是否畫出物件名稱。">
            <a:extLst xmlns:a="http://schemas.openxmlformats.org/drawingml/2006/main">
              <a:ext uri="{FF2B5EF4-FFF2-40B4-BE49-F238E27FC236}">
                <a16:creationId xmlns:a16="http://schemas.microsoft.com/office/drawing/2014/main" id="{DEDF5D90-127A-41FD-8B24-B2F160C5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face_up 決定牌面顏色，labels 決定是否畫出物件名稱。</a:t>
            </a:r>
          </a:p>
        </p:txBody>
      </p:sp>
      <p:sp>
        <p:nvSpPr>
          <p:cNvPr id="12" name="繪圖讀取 Card 屬性；翻牌規則由模型的方法處理。">
            <a:extLst xmlns:a="http://schemas.openxmlformats.org/drawingml/2006/main">
              <a:ext uri="{FF2B5EF4-FFF2-40B4-BE49-F238E27FC236}">
                <a16:creationId xmlns:a16="http://schemas.microsoft.com/office/drawing/2014/main" id="{B14F5F94-67D2-4253-AC75-4316CB7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繪圖讀取 Card 屬性；翻牌規則由模型的方法處理。</a:t>
            </a:r>
          </a:p>
        </p:txBody>
      </p:sp>
      <p:sp>
        <p:nvSpPr>
          <p:cNvPr id="13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36796291-FDD3-453F-9268-2120D966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4" name="26">
            <a:extLst xmlns:a="http://schemas.openxmlformats.org/drawingml/2006/main">
              <a:ext uri="{FF2B5EF4-FFF2-40B4-BE49-F238E27FC236}">
                <a16:creationId xmlns:a16="http://schemas.microsoft.com/office/drawing/2014/main" id="{F609AAEC-78EE-476A-81AE-02F0452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935773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檢視參照與物件身分">
            <a:extLst xmlns:a="http://schemas.openxmlformats.org/drawingml/2006/main">
              <a:ext uri="{FF2B5EF4-FFF2-40B4-BE49-F238E27FC236}">
                <a16:creationId xmlns:a16="http://schemas.microsoft.com/office/drawing/2014/main" id="{51C05508-7A35-49F5-8880-AE678617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檢視參照與物件身分</a:t>
            </a:r>
          </a:p>
        </p:txBody>
      </p:sp>
      <p:sp>
        <p:nvSpPr>
          <p:cNvPr id="2" name="pygame_app.py · PygameApp.draw_identity">
            <a:extLst xmlns:a="http://schemas.openxmlformats.org/drawingml/2006/main">
              <a:ext uri="{FF2B5EF4-FFF2-40B4-BE49-F238E27FC236}">
                <a16:creationId xmlns:a16="http://schemas.microsoft.com/office/drawing/2014/main" id="{A9C511AE-1C7C-4DD7-87EA-6BCB21FC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pygame_app.py · PygameApp.draw_identity</a:t>
            </a:r>
          </a:p>
        </p:txBody>
      </p:sp>
      <p:sp>
        <p:nvSpPr>
          <p:cNvPr id="3" name="def draw_identity(self, card):">
            <a:extLst xmlns:a="http://schemas.openxmlformats.org/drawingml/2006/main">
              <a:ext uri="{FF2B5EF4-FFF2-40B4-BE49-F238E27FC236}">
                <a16:creationId xmlns:a16="http://schemas.microsoft.com/office/drawing/2014/main" id="{49DD7913-8E83-4F1D-B54E-D9850EB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draw_identity(self, card):</a:t>
            </a:r>
          </a:p>
        </p:txBody>
      </p:sp>
      <p:sp>
        <p:nvSpPr>
          <p:cNvPr id="4" name="    for key in ('first', 'second', 'pending'):">
            <a:extLst xmlns:a="http://schemas.openxmlformats.org/drawingml/2006/main">
              <a:ext uri="{FF2B5EF4-FFF2-40B4-BE49-F238E27FC236}">
                <a16:creationId xmlns:a16="http://schemas.microsoft.com/office/drawing/2014/main" id="{5E2F4F1D-F083-461F-826D-0549A545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key in ('first', 'second', 'pending'):</a:t>
            </a:r>
          </a:p>
        </p:txBody>
      </p:sp>
      <p:sp>
        <p:nvSpPr>
          <p:cNvPr id="5" name="        if getattr(self.game, key) is card:">
            <a:extLst xmlns:a="http://schemas.openxmlformats.org/drawingml/2006/main">
              <a:ext uri="{FF2B5EF4-FFF2-40B4-BE49-F238E27FC236}">
                <a16:creationId xmlns:a16="http://schemas.microsoft.com/office/drawing/2014/main" id="{6A70A92A-D2F6-409E-913E-FFC1784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getattr(self.game, key) is card:</a:t>
            </a:r>
          </a:p>
        </p:txBody>
      </p:sp>
      <p:sp>
        <p:nvSpPr>
          <p:cNvPr id="6" name="            self.text(f'game.{key} is', (840, 560), 18, GREEN)">
            <a:extLst xmlns:a="http://schemas.openxmlformats.org/drawingml/2006/main">
              <a:ext uri="{FF2B5EF4-FFF2-40B4-BE49-F238E27FC236}">
                <a16:creationId xmlns:a16="http://schemas.microsoft.com/office/drawing/2014/main" id="{8A8935DE-FE41-4D1F-A827-B31EAEFF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self.text(f'game.{key} is', (840, 560), 18, GREEN)</a:t>
            </a:r>
          </a:p>
        </p:txBody>
      </p:sp>
      <p:sp>
        <p:nvSpPr>
          <p:cNvPr id="7" name="            self.text(f'game.board.cards[{self.selected}]', (840, 586)">
            <a:extLst xmlns:a="http://schemas.openxmlformats.org/drawingml/2006/main">
              <a:ext uri="{FF2B5EF4-FFF2-40B4-BE49-F238E27FC236}">
                <a16:creationId xmlns:a16="http://schemas.microsoft.com/office/drawing/2014/main" id="{CE97CC35-A693-4627-BD2E-4845CEAA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self.text(f'game.board.cards[{self.selected}]', (840, 586), 18, GREEN)</a:t>
            </a:r>
          </a:p>
        </p:txBody>
      </p:sp>
      <p:sp>
        <p:nvSpPr>
          <p:cNvPr id="8" name="            self.text('True · ' + self.t['same'], (840, 612), 16, GREE">
            <a:extLst xmlns:a="http://schemas.openxmlformats.org/drawingml/2006/main">
              <a:ext uri="{FF2B5EF4-FFF2-40B4-BE49-F238E27FC236}">
                <a16:creationId xmlns:a16="http://schemas.microsoft.com/office/drawing/2014/main" id="{CCD31E17-3ADF-4C1A-8EA3-318EAF2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self.text('True · ' + self.t['same'], (840, 612), 16, GREEN)</a:t>
            </a:r>
          </a:p>
        </p:txBody>
      </p:sp>
      <p:sp>
        <p:nvSpPr>
          <p:cNvPr id="9" name="            return">
            <a:extLst xmlns:a="http://schemas.openxmlformats.org/drawingml/2006/main">
              <a:ext uri="{FF2B5EF4-FFF2-40B4-BE49-F238E27FC236}">
                <a16:creationId xmlns:a16="http://schemas.microsoft.com/office/drawing/2014/main" id="{011FC102-F476-47B1-9C66-2739DE96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</p:txBody>
      </p:sp>
      <p:sp>
        <p:nvSpPr>
          <p:cNvPr id="10" name="    self.text(self.t['no_ref'], (840, 572), 16, MUTED)">
            <a:extLst xmlns:a="http://schemas.openxmlformats.org/drawingml/2006/main">
              <a:ext uri="{FF2B5EF4-FFF2-40B4-BE49-F238E27FC236}">
                <a16:creationId xmlns:a16="http://schemas.microsoft.com/office/drawing/2014/main" id="{F9B46251-F17A-40FE-9B26-C8A3AF58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self.text(self.t['no_ref'], (840, 572), 16, MUTED)</a:t>
            </a:r>
          </a:p>
        </p:txBody>
      </p:sp>
      <p:sp>
        <p:nvSpPr>
          <p:cNvPr id="11" name="畫面上的 is 直接比較 Python 物件參照。">
            <a:extLst xmlns:a="http://schemas.openxmlformats.org/drawingml/2006/main">
              <a:ext uri="{FF2B5EF4-FFF2-40B4-BE49-F238E27FC236}">
                <a16:creationId xmlns:a16="http://schemas.microsoft.com/office/drawing/2014/main" id="{EA51B110-172C-4E46-8E8A-E2DE160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畫面上的 is 直接比較 Python 物件參照。</a:t>
            </a:r>
          </a:p>
        </p:txBody>
      </p:sp>
      <p:sp>
        <p:nvSpPr>
          <p:cNvPr id="12" name="配對後 first、second 清空，但 Board 仍持有原本的 Card。">
            <a:extLst xmlns:a="http://schemas.openxmlformats.org/drawingml/2006/main">
              <a:ext uri="{FF2B5EF4-FFF2-40B4-BE49-F238E27FC236}">
                <a16:creationId xmlns:a16="http://schemas.microsoft.com/office/drawing/2014/main" id="{A8F6BC71-F69D-4D53-AFDF-0A47082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配對後 first、second 清空，但 Board 仍持有原本的 Card。</a:t>
            </a:r>
          </a:p>
        </p:txBody>
      </p:sp>
      <p:sp>
        <p:nvSpPr>
          <p:cNvPr id="13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3D18388A-FD9C-444E-B096-3352F3A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B8391BE9-AA76-48D2-9312-F46E307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17027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2026-10-21T03:35:37.8170000Z</dcterms:created>
  <dcterms:modified xsi:type="dcterms:W3CDTF">2026-10-21T03:35:37.8170000Z</dcterms:modified>
</coreProperties>
</file>