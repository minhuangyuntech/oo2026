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b466fa39564b72" /><Relationship Type="http://schemas.openxmlformats.org/officeDocument/2006/relationships/extended-properties" Target="/docProps/app.xml" Id="R3eeb1710f658457f" /><Relationship Type="http://schemas.openxmlformats.org/officeDocument/2006/relationships/officeDocument" Target="/ppt/presentation.xml" Id="R03e13f2d319547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03e76672e44dc4"/>
  </p:sldMasterIdLst>
  <p:notesMasterIdLst>
    <p:notesMasterId xmlns:r="http://schemas.openxmlformats.org/officeDocument/2006/relationships" r:id="R4c240c491d96460f"/>
  </p:notesMasterIdLst>
  <p:sldIdLst>
    <p:sldId xmlns:r="http://schemas.openxmlformats.org/officeDocument/2006/relationships" id="256" r:id="Rc0eaadcd00a147ea"/>
    <p:sldId xmlns:r="http://schemas.openxmlformats.org/officeDocument/2006/relationships" id="257" r:id="R880aa521057e4c68"/>
    <p:sldId xmlns:r="http://schemas.openxmlformats.org/officeDocument/2006/relationships" id="258" r:id="Rbc12b14aefee4a3d"/>
    <p:sldId xmlns:r="http://schemas.openxmlformats.org/officeDocument/2006/relationships" id="259" r:id="Re8bfb0f6e36f43b5"/>
    <p:sldId xmlns:r="http://schemas.openxmlformats.org/officeDocument/2006/relationships" id="260" r:id="R28b3bda5ed5b4b02"/>
    <p:sldId xmlns:r="http://schemas.openxmlformats.org/officeDocument/2006/relationships" id="261" r:id="R34d4017535da40d1"/>
    <p:sldId xmlns:r="http://schemas.openxmlformats.org/officeDocument/2006/relationships" id="262" r:id="R4af12b9f8d0541c9"/>
    <p:sldId xmlns:r="http://schemas.openxmlformats.org/officeDocument/2006/relationships" id="263" r:id="R5c5df95b2931449b"/>
    <p:sldId xmlns:r="http://schemas.openxmlformats.org/officeDocument/2006/relationships" id="264" r:id="Rbf8d9d3db6944437"/>
    <p:sldId xmlns:r="http://schemas.openxmlformats.org/officeDocument/2006/relationships" id="265" r:id="R43cdfb88be0a409d"/>
    <p:sldId xmlns:r="http://schemas.openxmlformats.org/officeDocument/2006/relationships" id="266" r:id="R9a4614d4d86e4944"/>
    <p:sldId xmlns:r="http://schemas.openxmlformats.org/officeDocument/2006/relationships" id="267" r:id="Rebe9341cc1174be8"/>
    <p:sldId xmlns:r="http://schemas.openxmlformats.org/officeDocument/2006/relationships" id="268" r:id="Rfc857507c0c646a4"/>
    <p:sldId xmlns:r="http://schemas.openxmlformats.org/officeDocument/2006/relationships" id="269" r:id="Re1f7d5534a8343fe"/>
    <p:sldId xmlns:r="http://schemas.openxmlformats.org/officeDocument/2006/relationships" id="270" r:id="Re398fa19bd2543e2"/>
    <p:sldId xmlns:r="http://schemas.openxmlformats.org/officeDocument/2006/relationships" id="271" r:id="Raa283aaa76bb4ec6"/>
    <p:sldId xmlns:r="http://schemas.openxmlformats.org/officeDocument/2006/relationships" id="272" r:id="R6f3c639e0aa14f0f"/>
    <p:sldId xmlns:r="http://schemas.openxmlformats.org/officeDocument/2006/relationships" id="273" r:id="R721bc7a8206246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3f34e5ce6944d0" /><Relationship Type="http://schemas.openxmlformats.org/officeDocument/2006/relationships/slideMaster" Target="/ppt/slideMasters/slideMaster1.xml" Id="Rfc03e76672e44dc4" /><Relationship Type="http://schemas.openxmlformats.org/officeDocument/2006/relationships/notesMaster" Target="/ppt/notesMasters/notesMaster1.xml" Id="R4c240c491d96460f" /><Relationship Type="http://schemas.openxmlformats.org/officeDocument/2006/relationships/presProps" Target="/ppt/presProps.xml" Id="R1f350ff72202453b" /><Relationship Type="http://schemas.openxmlformats.org/officeDocument/2006/relationships/tableStyles" Target="/ppt/tableStyles.xml" Id="Rf3e0bfcd88134c1c" /><Relationship Type="http://schemas.openxmlformats.org/officeDocument/2006/relationships/slide" Target="/ppt/slides/slide1.xml" Id="Rc0eaadcd00a147ea" /><Relationship Type="http://schemas.openxmlformats.org/officeDocument/2006/relationships/slide" Target="/ppt/slides/slide2.xml" Id="R880aa521057e4c68" /><Relationship Type="http://schemas.openxmlformats.org/officeDocument/2006/relationships/slide" Target="/ppt/slides/slide3.xml" Id="Rbc12b14aefee4a3d" /><Relationship Type="http://schemas.openxmlformats.org/officeDocument/2006/relationships/slide" Target="/ppt/slides/slide4.xml" Id="Re8bfb0f6e36f43b5" /><Relationship Type="http://schemas.openxmlformats.org/officeDocument/2006/relationships/slide" Target="/ppt/slides/slide5.xml" Id="R28b3bda5ed5b4b02" /><Relationship Type="http://schemas.openxmlformats.org/officeDocument/2006/relationships/slide" Target="/ppt/slides/slide6.xml" Id="R34d4017535da40d1" /><Relationship Type="http://schemas.openxmlformats.org/officeDocument/2006/relationships/slide" Target="/ppt/slides/slide7.xml" Id="R4af12b9f8d0541c9" /><Relationship Type="http://schemas.openxmlformats.org/officeDocument/2006/relationships/slide" Target="/ppt/slides/slide8.xml" Id="R5c5df95b2931449b" /><Relationship Type="http://schemas.openxmlformats.org/officeDocument/2006/relationships/slide" Target="/ppt/slides/slide9.xml" Id="Rbf8d9d3db6944437" /><Relationship Type="http://schemas.openxmlformats.org/officeDocument/2006/relationships/slide" Target="/ppt/slides/slide10.xml" Id="R43cdfb88be0a409d" /><Relationship Type="http://schemas.openxmlformats.org/officeDocument/2006/relationships/slide" Target="/ppt/slides/slide11.xml" Id="R9a4614d4d86e4944" /><Relationship Type="http://schemas.openxmlformats.org/officeDocument/2006/relationships/slide" Target="/ppt/slides/slide12.xml" Id="Rebe9341cc1174be8" /><Relationship Type="http://schemas.openxmlformats.org/officeDocument/2006/relationships/slide" Target="/ppt/slides/slide13.xml" Id="Rfc857507c0c646a4" /><Relationship Type="http://schemas.openxmlformats.org/officeDocument/2006/relationships/slide" Target="/ppt/slides/slide14.xml" Id="Re1f7d5534a8343fe" /><Relationship Type="http://schemas.openxmlformats.org/officeDocument/2006/relationships/slide" Target="/ppt/slides/slide15.xml" Id="Re398fa19bd2543e2" /><Relationship Type="http://schemas.openxmlformats.org/officeDocument/2006/relationships/slide" Target="/ppt/slides/slide16.xml" Id="Raa283aaa76bb4ec6" /><Relationship Type="http://schemas.openxmlformats.org/officeDocument/2006/relationships/slide" Target="/ppt/slides/slide17.xml" Id="R6f3c639e0aa14f0f" /><Relationship Type="http://schemas.openxmlformats.org/officeDocument/2006/relationships/slide" Target="/ppt/slides/slide18.xml" Id="R721bc7a8206246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35728331ae4c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19d2b12b124918" /><Relationship Type="http://schemas.openxmlformats.org/officeDocument/2006/relationships/notesMaster" Target="/ppt/notesMasters/notesMaster1.xml" Id="R9916b7c3b07f4b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e5c94b95954319" /><Relationship Type="http://schemas.openxmlformats.org/officeDocument/2006/relationships/notesMaster" Target="/ppt/notesMasters/notesMaster1.xml" Id="Rd0f5e5ced49344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2df48e592d45a7" /><Relationship Type="http://schemas.openxmlformats.org/officeDocument/2006/relationships/notesMaster" Target="/ppt/notesMasters/notesMaster1.xml" Id="R446750aa307849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3cab50700b44ea" /><Relationship Type="http://schemas.openxmlformats.org/officeDocument/2006/relationships/notesMaster" Target="/ppt/notesMasters/notesMaster1.xml" Id="Rdb3fefbd00374a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c1545fd43e4298" /><Relationship Type="http://schemas.openxmlformats.org/officeDocument/2006/relationships/notesMaster" Target="/ppt/notesMasters/notesMaster1.xml" Id="R0f78ad03e1b547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96198fd2aa4cf3" /><Relationship Type="http://schemas.openxmlformats.org/officeDocument/2006/relationships/notesMaster" Target="/ppt/notesMasters/notesMaster1.xml" Id="R64fd9f00daad4e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4d169d62fc4cac" /><Relationship Type="http://schemas.openxmlformats.org/officeDocument/2006/relationships/notesMaster" Target="/ppt/notesMasters/notesMaster1.xml" Id="R7f56b05faa4841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db379803784fea" /><Relationship Type="http://schemas.openxmlformats.org/officeDocument/2006/relationships/notesMaster" Target="/ppt/notesMasters/notesMaster1.xml" Id="R4830bdd1254145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ce8689255b4e5c" /><Relationship Type="http://schemas.openxmlformats.org/officeDocument/2006/relationships/notesMaster" Target="/ppt/notesMasters/notesMaster1.xml" Id="R736a1bb8cd6f44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c23d5b0f7e46ee" /><Relationship Type="http://schemas.openxmlformats.org/officeDocument/2006/relationships/notesMaster" Target="/ppt/notesMasters/notesMaster1.xml" Id="R8c9c85b3ab944d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35fbc2aad749c5" /><Relationship Type="http://schemas.openxmlformats.org/officeDocument/2006/relationships/notesMaster" Target="/ppt/notesMasters/notesMaster1.xml" Id="R923377780b5b41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20e01660b54147" /><Relationship Type="http://schemas.openxmlformats.org/officeDocument/2006/relationships/notesMaster" Target="/ppt/notesMasters/notesMaster1.xml" Id="Ra778d05dcf8642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32459a7dbd48ce" /><Relationship Type="http://schemas.openxmlformats.org/officeDocument/2006/relationships/notesMaster" Target="/ppt/notesMasters/notesMaster1.xml" Id="R29faaa687db846c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ef8c98012e4794" /><Relationship Type="http://schemas.openxmlformats.org/officeDocument/2006/relationships/notesMaster" Target="/ppt/notesMasters/notesMaster1.xml" Id="R337b5454653044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1656b0ae9441a0" /><Relationship Type="http://schemas.openxmlformats.org/officeDocument/2006/relationships/notesMaster" Target="/ppt/notesMasters/notesMaster1.xml" Id="Rfcdeea887796444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8ebfe9b18574ae5" /><Relationship Type="http://schemas.openxmlformats.org/officeDocument/2006/relationships/notesMaster" Target="/ppt/notesMasters/notesMaster1.xml" Id="R8e3e4f3ee1f241a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32bceadc433479a" /><Relationship Type="http://schemas.openxmlformats.org/officeDocument/2006/relationships/notesMaster" Target="/ppt/notesMasters/notesMaster1.xml" Id="R1cc4c01dba1e43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0f04cd7bba4332" /><Relationship Type="http://schemas.openxmlformats.org/officeDocument/2006/relationships/notesMaster" Target="/ppt/notesMasters/notesMaster1.xml" Id="R3c12dfde469d4f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55f77dd2444c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9bb95919b46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1fe0061f244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db64dfeb6841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c20c4e0e947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c1c681f8a84e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6BA7BE-33AE-4E9E-9A6A-45479A3A1C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692FF65-36A8-4382-9DE8-79C0CE97935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561C9BA-5AB5-470A-BF80-F2163B3AAD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BCEEB0-BBB4-41CB-A7DC-C6125979F1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F83D01A-983B-439C-9ECD-C66B04B148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9021224-6EFD-4F99-8EEC-C6B873813F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D26EEEB-4E6A-45D1-8F52-42FF903B59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EB98452-1A4C-42E1-B710-FFC16ECE16C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66D229-263F-40DE-91B4-3BBE098C3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13D0D8-3C86-4264-B602-03B6F7B05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edb34188ff455d" /><Relationship Type="http://schemas.openxmlformats.org/officeDocument/2006/relationships/slideLayout" Target="/ppt/slideLayouts/slideLayout1.xml" Id="R6221f760026e46e4" /><Relationship Type="http://schemas.openxmlformats.org/officeDocument/2006/relationships/slideLayout" Target="/ppt/slideLayouts/slideLayout2.xml" Id="Rb89577d570b144ce" /><Relationship Type="http://schemas.openxmlformats.org/officeDocument/2006/relationships/slideLayout" Target="/ppt/slideLayouts/slideLayout3.xml" Id="Re6ee5bff27cc4c2f" /><Relationship Type="http://schemas.openxmlformats.org/officeDocument/2006/relationships/slideLayout" Target="/ppt/slideLayouts/slideLayout4.xml" Id="Rd12810ebb2aa4148" /><Relationship Type="http://schemas.openxmlformats.org/officeDocument/2006/relationships/slideLayout" Target="/ppt/slideLayouts/slideLayout5.xml" Id="R582f4d92127e4c1e" /><Relationship Type="http://schemas.openxmlformats.org/officeDocument/2006/relationships/slideLayout" Target="/ppt/slideLayouts/slideLayout6.xml" Id="R31887e42f81a47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21f760026e46e4"/>
    <p:sldLayoutId xmlns:r="http://schemas.openxmlformats.org/officeDocument/2006/relationships" id="2147483650" r:id="Rb89577d570b144ce"/>
    <p:sldLayoutId xmlns:r="http://schemas.openxmlformats.org/officeDocument/2006/relationships" id="2147483651" r:id="Re6ee5bff27cc4c2f"/>
    <p:sldLayoutId xmlns:r="http://schemas.openxmlformats.org/officeDocument/2006/relationships" id="2147483652" r:id="Rd12810ebb2aa4148"/>
    <p:sldLayoutId xmlns:r="http://schemas.openxmlformats.org/officeDocument/2006/relationships" id="2147483653" r:id="R582f4d92127e4c1e"/>
    <p:sldLayoutId xmlns:r="http://schemas.openxmlformats.org/officeDocument/2006/relationships" id="2147483654" r:id="R31887e42f81a47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63c3bc492a4295" /><Relationship Type="http://schemas.openxmlformats.org/officeDocument/2006/relationships/hyperlink" Target="https://minhuangyuntech.github.io/oo2026/memory/play/" TargetMode="External" Id="R71d52c8704f84b7d" /><Relationship Type="http://schemas.openxmlformats.org/officeDocument/2006/relationships/notesSlide" Target="/ppt/notesSlides/notesSlide1.xml" Id="Re6fdbb96cbe545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924245cc5d401f" /><Relationship Type="http://schemas.openxmlformats.org/officeDocument/2006/relationships/image" Target="/ppt/media/image.jpeg" Id="Re0a3bb2599434a26" /><Relationship Type="http://schemas.openxmlformats.org/officeDocument/2006/relationships/hyperlink" Target="https://minhuangyuntech.github.io/oo2026/memory/play/" TargetMode="External" Id="Ra1d916d4c156468b" /><Relationship Type="http://schemas.openxmlformats.org/officeDocument/2006/relationships/hyperlink" Target="https://minhuangyuntech.github.io/oo2026/memory/play/" TargetMode="External" Id="R667d98d317504bad" /><Relationship Type="http://schemas.openxmlformats.org/officeDocument/2006/relationships/notesSlide" Target="/ppt/notesSlides/notesSlide2.xml" Id="R7190c844d7ef42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b7c4983e9e48f4" /><Relationship Type="http://schemas.openxmlformats.org/officeDocument/2006/relationships/notesSlide" Target="/ppt/notesSlides/notesSlide3.xml" Id="Rf97a7c25993f4b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4218c46bab4895" /><Relationship Type="http://schemas.openxmlformats.org/officeDocument/2006/relationships/notesSlide" Target="/ppt/notesSlides/notesSlide4.xml" Id="R36980682ffe043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9e3b4814494f01" /><Relationship Type="http://schemas.openxmlformats.org/officeDocument/2006/relationships/notesSlide" Target="/ppt/notesSlides/notesSlide5.xml" Id="R38255d325c9248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cc34d765e4889" /><Relationship Type="http://schemas.openxmlformats.org/officeDocument/2006/relationships/notesSlide" Target="/ppt/notesSlides/notesSlide6.xml" Id="R5c4299b7052f47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4c99ac8f324769" /><Relationship Type="http://schemas.openxmlformats.org/officeDocument/2006/relationships/notesSlide" Target="/ppt/notesSlides/notesSlide7.xml" Id="Ra22e9170d9c74d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d85cd21e7c4b89" /><Relationship Type="http://schemas.openxmlformats.org/officeDocument/2006/relationships/notesSlide" Target="/ppt/notesSlides/notesSlide8.xml" Id="R54971adfb76548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a5ab3e28814b0c" /><Relationship Type="http://schemas.openxmlformats.org/officeDocument/2006/relationships/notesSlide" Target="/ppt/notesSlides/notesSlide9.xml" Id="R75fc80219a7a47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a1aabe0d0b41dc" /><Relationship Type="http://schemas.openxmlformats.org/officeDocument/2006/relationships/notesSlide" Target="/ppt/notesSlides/notesSlide10.xml" Id="R646253c728e543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d551ee60d947f4" /><Relationship Type="http://schemas.openxmlformats.org/officeDocument/2006/relationships/notesSlide" Target="/ppt/notesSlides/notesSlide11.xml" Id="R179e10df0f8446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a61c0cfcc6427c" /><Relationship Type="http://schemas.openxmlformats.org/officeDocument/2006/relationships/notesSlide" Target="/ppt/notesSlides/notesSlide12.xml" Id="Rb30fdd6c4b9141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411d7c5f1f4a9e" /><Relationship Type="http://schemas.openxmlformats.org/officeDocument/2006/relationships/notesSlide" Target="/ppt/notesSlides/notesSlide13.xml" Id="Rf3beae31ed7248e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cd941eaf894740" /><Relationship Type="http://schemas.openxmlformats.org/officeDocument/2006/relationships/notesSlide" Target="/ppt/notesSlides/notesSlide14.xml" Id="R9ae60d63917345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94e8e944ae4147" /><Relationship Type="http://schemas.openxmlformats.org/officeDocument/2006/relationships/notesSlide" Target="/ppt/notesSlides/notesSlide15.xml" Id="R97a4a498236d496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1da10661ec42d8" /><Relationship Type="http://schemas.openxmlformats.org/officeDocument/2006/relationships/notesSlide" Target="/ppt/notesSlides/notesSlide16.xml" Id="Rb1f8b603670940b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9346022c474011" /><Relationship Type="http://schemas.openxmlformats.org/officeDocument/2006/relationships/notesSlide" Target="/ppt/notesSlides/notesSlide17.xml" Id="R511a7255cd444ad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a1de7293db4c2d" /><Relationship Type="http://schemas.openxmlformats.org/officeDocument/2006/relationships/hyperlink" Target="https://docs.python.org/3.12/tutorial/classes.html" TargetMode="External" Id="R2adb5cdcd444420d" /><Relationship Type="http://schemas.openxmlformats.org/officeDocument/2006/relationships/hyperlink" Target="https://docs.python.org/3.12/reference/expressions.html#is-not" TargetMode="External" Id="R00f8937109b947b9" /><Relationship Type="http://schemas.openxmlformats.org/officeDocument/2006/relationships/notesSlide" Target="/ppt/notesSlides/notesSlide18.xml" Id="R09db311059ff46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YTHON OOP  /  CARD MATCHING">
            <a:extLst xmlns:a="http://schemas.openxmlformats.org/drawingml/2006/main">
              <a:ext uri="{FF2B5EF4-FFF2-40B4-BE49-F238E27FC236}">
                <a16:creationId xmlns:a16="http://schemas.microsoft.com/office/drawing/2014/main" id="{2B7F17A5-EEE2-4771-9191-B91A866B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PYTHON OOP  /  CARD MATCHING</a:t>
            </a:r>
          </a:p>
        </p:txBody>
      </p:sp>
      <p:sp>
        <p:nvSpPr>
          <p:cNvPr id="2" name="翻牌配對與物件狀態">
            <a:extLst xmlns:a="http://schemas.openxmlformats.org/drawingml/2006/main">
              <a:ext uri="{FF2B5EF4-FFF2-40B4-BE49-F238E27FC236}">
                <a16:creationId xmlns:a16="http://schemas.microsoft.com/office/drawing/2014/main" id="{7C3125F2-D38F-432E-B36F-FA114D72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62125"/>
            <a:ext cx="11001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翻牌配對與物件狀態</a:t>
            </a:r>
          </a:p>
        </p:txBody>
      </p:sp>
      <p:sp>
        <p:nvSpPr>
          <p:cNvPr id="3" name="Card · Board · Game">
            <a:extLst xmlns:a="http://schemas.openxmlformats.org/drawingml/2006/main">
              <a:ext uri="{FF2B5EF4-FFF2-40B4-BE49-F238E27FC236}">
                <a16:creationId xmlns:a16="http://schemas.microsoft.com/office/drawing/2014/main" id="{D92FCA32-04DB-431F-AB51-FB05A8CA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Card · Board · Game</a:t>
            </a:r>
          </a:p>
        </p:txBody>
      </p:sp>
      <p:sp>
        <p:nvSpPr>
          <p:cNvPr id="4" name="一張牌是一個物件。&#10;用單步操作觀察狀態與參照。">
            <a:extLst xmlns:a="http://schemas.openxmlformats.org/drawingml/2006/main">
              <a:ext uri="{FF2B5EF4-FFF2-40B4-BE49-F238E27FC236}">
                <a16:creationId xmlns:a16="http://schemas.microsoft.com/office/drawing/2014/main" id="{DAB20E9B-8F82-420E-831D-FBA3546F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一張牌是一個物件。</a:t>
            </a:r>
          </a:p>
          <a:p xmlns:a="http://schemas.openxmlformats.org/drawingml/2006/main">
            <a: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用單步操作觀察狀態與參照。</a:t>
            </a:r>
          </a:p>
        </p:txBody>
      </p:sp>
      <p:sp>
        <p:nvSpPr>
          <p:cNvPr id="5" name="https://minhuangyuntech.github.io/oo2026/memory/play/">
            <a:extLst xmlns:a="http://schemas.openxmlformats.org/drawingml/2006/main">
              <a:ext uri="{FF2B5EF4-FFF2-40B4-BE49-F238E27FC236}">
                <a16:creationId xmlns:a16="http://schemas.microsoft.com/office/drawing/2014/main" id="{EFD8D5CF-65CE-4F31-9400-7B8547B7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71d52c8704f84b7d"/>
              </a:rPr>
              <a:t>https://minhuangyuntech.github.io/oo2026/memory/play/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2FE55259-FF38-447D-9FC5-0D3DCB7E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022922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線上遊戲與物件標籤">
            <a:extLst xmlns:a="http://schemas.openxmlformats.org/drawingml/2006/main">
              <a:ext uri="{FF2B5EF4-FFF2-40B4-BE49-F238E27FC236}">
                <a16:creationId xmlns:a16="http://schemas.microsoft.com/office/drawing/2014/main" id="{D4B0057F-3C3D-41C9-9C4D-99C46812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線上遊戲與物件標籤</a:t>
            </a:r>
          </a:p>
        </p:txBody>
      </p:sp>
      <p:sp>
        <p:nvSpPr>
          <p:cNvPr id="2" name="12 張牌、6 組圖案，直接用瀏覽器遊玩">
            <a:extLst xmlns:a="http://schemas.openxmlformats.org/drawingml/2006/main">
              <a:ext uri="{FF2B5EF4-FFF2-40B4-BE49-F238E27FC236}">
                <a16:creationId xmlns:a16="http://schemas.microsoft.com/office/drawing/2014/main" id="{13AA5BCB-155C-4B17-BFFD-67A5FB0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12 張牌、6 組圖案，直接用瀏覽器遊玩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56B1E-3B8A-4624-8919-61D9E474E9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3bb2599434a26"/>
          <a:stretch xmlns:a="http://schemas.openxmlformats.org/drawingml/2006/main"/>
        </p:blipFill>
        <p:spPr>
          <a:xfrm xmlns:a="http://schemas.openxmlformats.org/drawingml/2006/main">
            <a:off x="823341" y="1781175"/>
            <a:ext cx="6354317" cy="4610100"/>
          </a:xfrm>
          <a:prstGeom xmlns:a="http://schemas.openxmlformats.org/drawingml/2006/main" prst="rect">
            <a:avLst/>
          </a:prstGeom>
        </p:spPr>
      </p:pic>
      <p:sp>
        <p:nvSpPr>
          <p:cNvPr id="4" name="一般遊玩：選兩張牌，再確認這一回合。">
            <a:extLst xmlns:a="http://schemas.openxmlformats.org/drawingml/2006/main">
              <a:ext uri="{FF2B5EF4-FFF2-40B4-BE49-F238E27FC236}">
                <a16:creationId xmlns:a16="http://schemas.microsoft.com/office/drawing/2014/main" id="{A808ACA1-FB40-423A-A826-4E1D3560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一般遊玩：選兩張牌，再確認這一回合。</a:t>
            </a:r>
          </a:p>
        </p:txBody>
      </p:sp>
      <p:sp>
        <p:nvSpPr>
          <p:cNvPr id="5" name="單步觀察：選牌後逐步翻開、比較、結算。">
            <a:extLst xmlns:a="http://schemas.openxmlformats.org/drawingml/2006/main">
              <a:ext uri="{FF2B5EF4-FFF2-40B4-BE49-F238E27FC236}">
                <a16:creationId xmlns:a16="http://schemas.microsoft.com/office/drawing/2014/main" id="{F571047A-485C-4877-888A-91D447A7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7662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單步觀察：選牌後逐步翻開、比較、結算。</a:t>
            </a:r>
          </a:p>
        </p:txBody>
      </p:sp>
      <p:sp>
        <p:nvSpPr>
          <p:cNvPr id="6" name="直接玩線上版">
            <a:extLst xmlns:a="http://schemas.openxmlformats.org/drawingml/2006/main">
              <a:ext uri="{FF2B5EF4-FFF2-40B4-BE49-F238E27FC236}">
                <a16:creationId xmlns:a16="http://schemas.microsoft.com/office/drawing/2014/main" id="{CEA3CD7A-AB64-4FFD-B1D9-0F73B247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76850"/>
            <a:ext cx="3667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a1d916d4c156468b"/>
              </a:rPr>
              <a:t>直接玩線上版</a:t>
            </a:r>
          </a:p>
        </p:txBody>
      </p:sp>
      <p:sp>
        <p:nvSpPr>
          <p:cNvPr id="7" name="https://minhuangyuntech.github.io/oo2026/memory/play/">
            <a:extLst xmlns:a="http://schemas.openxmlformats.org/drawingml/2006/main">
              <a:ext uri="{FF2B5EF4-FFF2-40B4-BE49-F238E27FC236}">
                <a16:creationId xmlns:a16="http://schemas.microsoft.com/office/drawing/2014/main" id="{6756D6CB-E20D-407C-A036-09A9BA94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9775"/>
            <a:ext cx="3667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667d98d317504bad"/>
              </a:rPr>
              <a:t>https://minhuangyuntech.github.io/oo2026/memory/play/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66CF0E83-4E71-461C-ACAD-9EB409F1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53667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遊玩與觀察操作">
            <a:extLst xmlns:a="http://schemas.openxmlformats.org/drawingml/2006/main">
              <a:ext uri="{FF2B5EF4-FFF2-40B4-BE49-F238E27FC236}">
                <a16:creationId xmlns:a16="http://schemas.microsoft.com/office/drawing/2014/main" id="{4B893B5B-6EE5-44F7-B15C-EEEC104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遊玩與觀察操作</a:t>
            </a:r>
          </a:p>
        </p:txBody>
      </p:sp>
      <p:sp>
        <p:nvSpPr>
          <p:cNvPr id="2" name="滑鼠、觸控與鍵盤皆可操作">
            <a:extLst xmlns:a="http://schemas.openxmlformats.org/drawingml/2006/main">
              <a:ext uri="{FF2B5EF4-FFF2-40B4-BE49-F238E27FC236}">
                <a16:creationId xmlns:a16="http://schemas.microsoft.com/office/drawing/2014/main" id="{C73D3178-6FD8-4669-878F-8DB7895C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滑鼠、觸控與鍵盤皆可操作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45DD3-AC67-4517-817C-AAEE65CD27A9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一般遊玩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選兩張牌，按「確認這一回合」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單步觀察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選牌後逐步翻開、比較、結算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 / 物件標籤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切換 C01: Card 等標籤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物件檢視器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只切換檢視對象，不會翻牌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固定範例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建立新一局，開啟單步觀察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新遊戲／洗牌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建立新的物件與隨機棋盤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切換語言保留目前棋盤與進度。重新整理頁面會建立新遊戲。">
            <a:extLst xmlns:a="http://schemas.openxmlformats.org/drawingml/2006/main">
              <a:ext uri="{FF2B5EF4-FFF2-40B4-BE49-F238E27FC236}">
                <a16:creationId xmlns:a16="http://schemas.microsoft.com/office/drawing/2014/main" id="{5C8FE7FB-2D23-44F6-94E3-BBB51BBB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切換語言保留目前棋盤與進度。重新整理頁面會建立新遊戲。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3227EE6C-9741-4FE2-96DD-08CFB1AE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91773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三個類別的責任">
            <a:extLst xmlns:a="http://schemas.openxmlformats.org/drawingml/2006/main">
              <a:ext uri="{FF2B5EF4-FFF2-40B4-BE49-F238E27FC236}">
                <a16:creationId xmlns:a16="http://schemas.microsoft.com/office/drawing/2014/main" id="{704EBAE5-73D3-43EE-8A28-AD5B1364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三個類別的責任</a:t>
            </a:r>
          </a:p>
        </p:txBody>
      </p:sp>
      <p:sp>
        <p:nvSpPr>
          <p:cNvPr id="2" name="讓資料與操作留在負責的物件裡">
            <a:extLst xmlns:a="http://schemas.openxmlformats.org/drawingml/2006/main">
              <a:ext uri="{FF2B5EF4-FFF2-40B4-BE49-F238E27FC236}">
                <a16:creationId xmlns:a16="http://schemas.microsoft.com/office/drawing/2014/main" id="{6C65E5EB-111F-45F8-A79A-63D27F63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讓資料與操作留在負責的物件裡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C9724-8D59-45F4-84CE-859764F73A79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714500"/>
                <a:gridCol w="4667250"/>
                <a:gridCol w="466725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責任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name, pair_id, face_up, 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翻開、蓋回、標記配對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Board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cards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建立與查找 12 張牌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first, second, pending, 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協調選牌、比較與結算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畫面讀取模型狀態，按鈕呼叫模型方法。">
            <a:extLst xmlns:a="http://schemas.openxmlformats.org/drawingml/2006/main">
              <a:ext uri="{FF2B5EF4-FFF2-40B4-BE49-F238E27FC236}">
                <a16:creationId xmlns:a16="http://schemas.microsoft.com/office/drawing/2014/main" id="{66D6DA38-88AE-48CD-BD58-C61C47E8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畫面讀取模型狀態，按鈕呼叫模型方法。</a:t>
            </a:r>
          </a:p>
        </p:txBody>
      </p:sp>
      <p:sp>
        <p:nvSpPr>
          <p:cNvPr id="5" name="04">
            <a:extLst xmlns:a="http://schemas.openxmlformats.org/drawingml/2006/main">
              <a:ext uri="{FF2B5EF4-FFF2-40B4-BE49-F238E27FC236}">
                <a16:creationId xmlns:a16="http://schemas.microsoft.com/office/drawing/2014/main" id="{835E09E3-27E4-4AD9-BA14-435BCAC1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079172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UML 類別圖">
            <a:extLst xmlns:a="http://schemas.openxmlformats.org/drawingml/2006/main">
              <a:ext uri="{FF2B5EF4-FFF2-40B4-BE49-F238E27FC236}">
                <a16:creationId xmlns:a16="http://schemas.microsoft.com/office/drawing/2014/main" id="{90D14C04-EAF2-4E1B-9767-16289692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UML 類別圖</a:t>
            </a:r>
          </a:p>
        </p:txBody>
      </p:sp>
      <p:sp>
        <p:nvSpPr>
          <p:cNvPr id="2" name="方框分為名稱、屬性、方法；箭頭表示可導覽的關聯">
            <a:extLst xmlns:a="http://schemas.openxmlformats.org/drawingml/2006/main">
              <a:ext uri="{FF2B5EF4-FFF2-40B4-BE49-F238E27FC236}">
                <a16:creationId xmlns:a16="http://schemas.microsoft.com/office/drawing/2014/main" id="{25F8F566-C3F8-4435-BAAB-C3082306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方框分為名稱、屬性、方法；箭頭表示可導覽的關聯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19806-C0EC-4086-BCB6-B035B5EA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4D381C17-F9DF-421C-AE84-BD65D608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575AB-2D5C-4C8E-8FA4-E69C9290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board: Board&#10;first: Card [0..1]&#10;second: Card [0..1]&#10;pending: Card [0..">
            <a:extLst xmlns:a="http://schemas.openxmlformats.org/drawingml/2006/main">
              <a:ext uri="{FF2B5EF4-FFF2-40B4-BE49-F238E27FC236}">
                <a16:creationId xmlns:a16="http://schemas.microsoft.com/office/drawing/2014/main" id="{01F01459-1B8B-42C8-9BD8-B310A814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board: Board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first: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second: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pending: Card [0..1]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phase, turns, matches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A1328-E6B0-414A-8A12-E5B6B845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queue(name)&#10;step(), compare(), settle()">
            <a:extLst xmlns:a="http://schemas.openxmlformats.org/drawingml/2006/main">
              <a:ext uri="{FF2B5EF4-FFF2-40B4-BE49-F238E27FC236}">
                <a16:creationId xmlns:a16="http://schemas.microsoft.com/office/drawing/2014/main" id="{A98D2FED-B919-4D4C-BF8E-AF4EA7A1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queue(name)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step(), compare(), settle()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7FD85-68E0-4530-9992-C40A484E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57375"/>
            <a:ext cx="247650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0" name="Board">
            <a:extLst xmlns:a="http://schemas.openxmlformats.org/drawingml/2006/main">
              <a:ext uri="{FF2B5EF4-FFF2-40B4-BE49-F238E27FC236}">
                <a16:creationId xmlns:a16="http://schemas.microsoft.com/office/drawing/2014/main" id="{4C66738B-9E39-4B41-AB91-352555C9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962150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rPr>
              <a:t>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DA417E-2B52-416A-95F3-F7EC5AC6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2343150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2" name="cards: list[Card]&#10;complete: bool">
            <a:extLst xmlns:a="http://schemas.openxmlformats.org/drawingml/2006/main">
              <a:ext uri="{FF2B5EF4-FFF2-40B4-BE49-F238E27FC236}">
                <a16:creationId xmlns:a16="http://schemas.microsoft.com/office/drawing/2014/main" id="{E7FA88A1-CE92-4F04-95E5-23DF3627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457450"/>
            <a:ext cx="21717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cards: list[Card]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complete: bool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E7633-288E-4D92-A868-1FFFE40F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3990975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4" name="get(name)">
            <a:extLst xmlns:a="http://schemas.openxmlformats.org/drawingml/2006/main">
              <a:ext uri="{FF2B5EF4-FFF2-40B4-BE49-F238E27FC236}">
                <a16:creationId xmlns:a16="http://schemas.microsoft.com/office/drawing/2014/main" id="{9B8A7280-5554-446D-B982-FA882755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133850"/>
            <a:ext cx="2171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get(name)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8107E-6F0A-4EBA-9CAE-7BF5192F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0C09E573-B915-41ED-B3A5-435CC151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Card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83546-347C-4207-B4BD-8271854A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8" name="name, pair_id&#10;face_up, matched">
            <a:extLst xmlns:a="http://schemas.openxmlformats.org/drawingml/2006/main">
              <a:ext uri="{FF2B5EF4-FFF2-40B4-BE49-F238E27FC236}">
                <a16:creationId xmlns:a16="http://schemas.microsoft.com/office/drawing/2014/main" id="{5FAA85A7-EB26-4937-A35B-7ED5430F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name, pair_id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face_up, matched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129A7-3B81-4A60-909A-F6BED025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0" name="reveal()&#10;hide(), mark_matched()">
            <a:extLst xmlns:a="http://schemas.openxmlformats.org/drawingml/2006/main">
              <a:ext uri="{FF2B5EF4-FFF2-40B4-BE49-F238E27FC236}">
                <a16:creationId xmlns:a16="http://schemas.microsoft.com/office/drawing/2014/main" id="{DFD6B211-D24F-4941-9F8C-802BEA9C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reveal()</a:t>
            </a:r>
          </a:p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hide(), mark_matched()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B922F-2489-497F-84FA-2A7E02D9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14750" y="2857500"/>
            <a:ext cx="1095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6B54EB-F325-422E-BD83-A7936050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718176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F48B5-C158-43D0-B9C4-ED5F4AD6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718176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board">
            <a:extLst xmlns:a="http://schemas.openxmlformats.org/drawingml/2006/main">
              <a:ext uri="{FF2B5EF4-FFF2-40B4-BE49-F238E27FC236}">
                <a16:creationId xmlns:a16="http://schemas.microsoft.com/office/drawing/2014/main" id="{8D09CB3C-8B54-46CE-9F19-BC36D2F4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476500"/>
            <a:ext cx="904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board</a:t>
            </a:r>
          </a:p>
        </p:txBody>
      </p:sp>
      <p:sp>
        <p:nvSpPr>
          <p:cNvPr id="25" name="1">
            <a:extLst xmlns:a="http://schemas.openxmlformats.org/drawingml/2006/main">
              <a:ext uri="{FF2B5EF4-FFF2-40B4-BE49-F238E27FC236}">
                <a16:creationId xmlns:a16="http://schemas.microsoft.com/office/drawing/2014/main" id="{2A962CC9-2FAF-47AF-A920-4C83A9E7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95275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5B5848-7953-4CFD-9D14-E0441071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86625" y="2857500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88DD4A-0117-4563-9027-725C16F0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385301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97A434-4E22-4E17-B5A8-2B9499C1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385301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cards">
            <a:extLst xmlns:a="http://schemas.openxmlformats.org/drawingml/2006/main">
              <a:ext uri="{FF2B5EF4-FFF2-40B4-BE49-F238E27FC236}">
                <a16:creationId xmlns:a16="http://schemas.microsoft.com/office/drawing/2014/main" id="{ACA370CD-F53D-4F81-87D3-9F486963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cards</a:t>
            </a:r>
          </a:p>
        </p:txBody>
      </p:sp>
      <p:sp>
        <p:nvSpPr>
          <p:cNvPr id="30" name="12">
            <a:extLst xmlns:a="http://schemas.openxmlformats.org/drawingml/2006/main">
              <a:ext uri="{FF2B5EF4-FFF2-40B4-BE49-F238E27FC236}">
                <a16:creationId xmlns:a16="http://schemas.microsoft.com/office/drawing/2014/main" id="{29232F9B-B3F2-4FAE-9390-916469D8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527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1" name="first / second / pending : Card [0..1]">
            <a:extLst xmlns:a="http://schemas.openxmlformats.org/drawingml/2006/main">
              <a:ext uri="{FF2B5EF4-FFF2-40B4-BE49-F238E27FC236}">
                <a16:creationId xmlns:a16="http://schemas.microsoft.com/office/drawing/2014/main" id="{FFE0DEC7-CDAB-4D15-8781-E966D956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first / second / pending : Card [0..1]</a:t>
            </a:r>
          </a:p>
        </p:txBody>
      </p:sp>
      <p:sp>
        <p:nvSpPr>
          <p:cNvPr id="32" name="一個 Game 對應一個 Board，Board 保存 12 張 Card。">
            <a:extLst xmlns:a="http://schemas.openxmlformats.org/drawingml/2006/main">
              <a:ext uri="{FF2B5EF4-FFF2-40B4-BE49-F238E27FC236}">
                <a16:creationId xmlns:a16="http://schemas.microsoft.com/office/drawing/2014/main" id="{72481775-85D9-44A5-92D6-26871269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一個 Game 對應一個 Board，Board 保存 12 張 Card。</a:t>
            </a:r>
          </a:p>
        </p:txBody>
      </p:sp>
      <p:sp>
        <p:nvSpPr>
          <p:cNvPr id="33" name="first、second、pending 各參照零或一張 Card。本例以關聯合作。">
            <a:extLst xmlns:a="http://schemas.openxmlformats.org/drawingml/2006/main">
              <a:ext uri="{FF2B5EF4-FFF2-40B4-BE49-F238E27FC236}">
                <a16:creationId xmlns:a16="http://schemas.microsoft.com/office/drawing/2014/main" id="{75A1CB48-522B-4004-824D-5D314A54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first、second、pending 各參照零或一張 Card。本例以關聯合作。</a:t>
            </a:r>
          </a:p>
        </p:txBody>
      </p:sp>
      <p:sp>
        <p:nvSpPr>
          <p:cNvPr id="34" name="05">
            <a:extLst xmlns:a="http://schemas.openxmlformats.org/drawingml/2006/main">
              <a:ext uri="{FF2B5EF4-FFF2-40B4-BE49-F238E27FC236}">
                <a16:creationId xmlns:a16="http://schemas.microsoft.com/office/drawing/2014/main" id="{62D588CF-5975-4B21-B79E-89373055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999042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兩張相同圖案，兩個不同物件">
            <a:extLst xmlns:a="http://schemas.openxmlformats.org/drawingml/2006/main">
              <a:ext uri="{FF2B5EF4-FFF2-40B4-BE49-F238E27FC236}">
                <a16:creationId xmlns:a16="http://schemas.microsoft.com/office/drawing/2014/main" id="{F2474B06-D226-4340-8F9D-3126A197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兩張相同圖案，兩個不同物件</a:t>
            </a:r>
          </a:p>
        </p:txBody>
      </p:sp>
      <p:sp>
        <p:nvSpPr>
          <p:cNvPr id="2" name="固定棋盤：C01 與 C02 的 pair_id 都是 moon">
            <a:extLst xmlns:a="http://schemas.openxmlformats.org/drawingml/2006/main">
              <a:ext uri="{FF2B5EF4-FFF2-40B4-BE49-F238E27FC236}">
                <a16:creationId xmlns:a16="http://schemas.microsoft.com/office/drawing/2014/main" id="{8B659670-2220-4070-B174-31A77C0A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固定棋盤：C01 與 C02 的 pair_id 都是 moon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6C540-7DC4-4275-99DE-AD29F37B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4" name="game : Game">
            <a:extLst xmlns:a="http://schemas.openxmlformats.org/drawingml/2006/main">
              <a:ext uri="{FF2B5EF4-FFF2-40B4-BE49-F238E27FC236}">
                <a16:creationId xmlns:a16="http://schemas.microsoft.com/office/drawing/2014/main" id="{68E019E4-2B7C-469E-8F82-116D5CF8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game : 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0ABC6-7687-4F33-B866-447B9CA9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362200"/>
            <a:ext cx="13620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A0257-4E49-46DF-A70B-11759745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466975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7" name="first → C01&#10;second → C02">
            <a:extLst xmlns:a="http://schemas.openxmlformats.org/drawingml/2006/main">
              <a:ext uri="{FF2B5EF4-FFF2-40B4-BE49-F238E27FC236}">
                <a16:creationId xmlns:a16="http://schemas.microsoft.com/office/drawing/2014/main" id="{E044B6EC-D85E-477B-8A20-D8119B12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first → C01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second → C02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5DB61-2414-4C76-AC1D-77BE701D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9" name="board : Board">
            <a:extLst xmlns:a="http://schemas.openxmlformats.org/drawingml/2006/main">
              <a:ext uri="{FF2B5EF4-FFF2-40B4-BE49-F238E27FC236}">
                <a16:creationId xmlns:a16="http://schemas.microsoft.com/office/drawing/2014/main" id="{B350EE44-719A-492D-84C6-5BACC51B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board : 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C8682-2346-4B95-BCBE-26542D47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600575"/>
            <a:ext cx="16097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40116-935C-4F25-B195-FFCDDC7D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70535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2" name="cards[0] → C01&#10;cards[1] → C02">
            <a:extLst xmlns:a="http://schemas.openxmlformats.org/drawingml/2006/main">
              <a:ext uri="{FF2B5EF4-FFF2-40B4-BE49-F238E27FC236}">
                <a16:creationId xmlns:a16="http://schemas.microsoft.com/office/drawing/2014/main" id="{BA49A9E9-2920-4EF1-876A-1CEBF204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cards[0] → C01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cards[1] → C02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E66A8-57DC-4D14-8BA1-E06F1A53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4" name="C01 : Card">
            <a:extLst xmlns:a="http://schemas.openxmlformats.org/drawingml/2006/main">
              <a:ext uri="{FF2B5EF4-FFF2-40B4-BE49-F238E27FC236}">
                <a16:creationId xmlns:a16="http://schemas.microsoft.com/office/drawing/2014/main" id="{4F22D92C-DB15-4557-929A-1609AA0A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47875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rPr>
              <a:t>C01 :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41213-18E6-4493-AC76-71CEC853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236220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3E8B59-2CC8-4198-A0F8-6391A1A5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2466975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7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FB0C2C1D-2C4B-4C0F-B860-020FCE61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pair_id = "moon"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face_up = 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5E95CD-48F3-43EF-B19C-FC750C8D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9" name="C02 : Card">
            <a:extLst xmlns:a="http://schemas.openxmlformats.org/drawingml/2006/main">
              <a:ext uri="{FF2B5EF4-FFF2-40B4-BE49-F238E27FC236}">
                <a16:creationId xmlns:a16="http://schemas.microsoft.com/office/drawing/2014/main" id="{AC046C49-C09B-4B1D-9004-5DC9B65E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rPr>
              <a:t>C02 : Card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14614-1C85-41B8-8C47-D5DB6B38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4600575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3E420C-19C6-4400-A50E-6BD2708A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4705350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2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A0F616A5-EA8C-4B6D-B803-D3B3FE27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29175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pair_id = "moon"</a:t>
            </a:r>
          </a:p>
          <a:p xmlns:a="http://schemas.openxmlformats.org/drawingml/2006/main">
            <a:pPr algn="l">
              <a:def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face_up = True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869C8E-89CF-45E6-ADFC-0C50F2C7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2667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B6B914-2EB2-4CF7-A076-A7114C0F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2667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903F69-AF24-4D36-B5BC-F8BEC584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2616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F992C4-554E-4092-BF86-DAB5C02C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3143250"/>
            <a:ext cx="1952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781137-F471-45AD-8629-17C1BBE3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3143250"/>
            <a:ext cx="0" cy="1476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E508BB-D8E3-4941-A2C4-DA7D3CB9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461962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2CD8D1-2C02-4EDE-808C-1D945E77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46196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09306-772D-4CB4-A97A-5A640E2C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45693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834072-6DED-4E52-BED8-DCE43F0A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4857750"/>
            <a:ext cx="3238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BD9214-7BC2-4D59-952F-9928561A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762750" y="3143250"/>
            <a:ext cx="0" cy="17145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C8A653-9E0D-478D-B0E7-27C5C2C3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2750" y="314325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D1F92B-79AB-4116-80A2-0D593BD1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31432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57DA86-899C-4820-BF33-92F0A34F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30930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E12669-C178-4F8F-BB4F-6037C182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5334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38659B-A186-4B72-82D8-F2C273FF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5334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581D35-951C-46B5-9BCF-18B3BF15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5283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9" name="C01 is C02  →  False">
            <a:extLst xmlns:a="http://schemas.openxmlformats.org/drawingml/2006/main">
              <a:ext uri="{FF2B5EF4-FFF2-40B4-BE49-F238E27FC236}">
                <a16:creationId xmlns:a16="http://schemas.microsoft.com/office/drawing/2014/main" id="{1BA3DBC6-F2E3-4DC2-8BFE-24D13E90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rPr>
              <a:t>C01 is C02  →  False</a:t>
            </a:r>
          </a:p>
        </p:txBody>
      </p:sp>
      <p:sp>
        <p:nvSpPr>
          <p:cNvPr id="40" name="C01 與 C02 是兩個實體，face_up 可各自改變。">
            <a:extLst xmlns:a="http://schemas.openxmlformats.org/drawingml/2006/main">
              <a:ext uri="{FF2B5EF4-FFF2-40B4-BE49-F238E27FC236}">
                <a16:creationId xmlns:a16="http://schemas.microsoft.com/office/drawing/2014/main" id="{84E0EEA8-7A92-43E3-8C24-62129751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C01 與 C02 是兩個實體，face_up 可各自改變。</a:t>
            </a:r>
          </a:p>
        </p:txBody>
      </p:sp>
      <p:sp>
        <p:nvSpPr>
          <p:cNvPr id="41" name="Game.first 與 Board.cards[0] 可以參照同一張牌。">
            <a:extLst xmlns:a="http://schemas.openxmlformats.org/drawingml/2006/main">
              <a:ext uri="{FF2B5EF4-FFF2-40B4-BE49-F238E27FC236}">
                <a16:creationId xmlns:a16="http://schemas.microsoft.com/office/drawing/2014/main" id="{97834BE0-FF24-4C13-A3AD-35D8D6F5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Game.first 與 Board.cards[0] 可以參照同一張牌。</a:t>
            </a:r>
          </a:p>
        </p:txBody>
      </p:sp>
      <p:sp>
        <p:nvSpPr>
          <p:cNvPr id="42" name="06">
            <a:extLst xmlns:a="http://schemas.openxmlformats.org/drawingml/2006/main">
              <a:ext uri="{FF2B5EF4-FFF2-40B4-BE49-F238E27FC236}">
                <a16:creationId xmlns:a16="http://schemas.microsoft.com/office/drawing/2014/main" id="{58487B4F-F29F-48D7-A1CD-B8223F2C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759502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rd 的三種狀態">
            <a:extLst xmlns:a="http://schemas.openxmlformats.org/drawingml/2006/main">
              <a:ext uri="{FF2B5EF4-FFF2-40B4-BE49-F238E27FC236}">
                <a16:creationId xmlns:a16="http://schemas.microsoft.com/office/drawing/2014/main" id="{0B64997F-8F72-41F9-BFC9-9B778EDC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Card 的三種狀態</a:t>
            </a:r>
          </a:p>
        </p:txBody>
      </p:sp>
      <p:sp>
        <p:nvSpPr>
          <p:cNvPr id="2" name="兩個布林屬性，描述畫面上的牌">
            <a:extLst xmlns:a="http://schemas.openxmlformats.org/drawingml/2006/main">
              <a:ext uri="{FF2B5EF4-FFF2-40B4-BE49-F238E27FC236}">
                <a16:creationId xmlns:a16="http://schemas.microsoft.com/office/drawing/2014/main" id="{3A42AC6C-2A2F-4027-B63E-EEFDECA3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兩個布林屬性，描述畫面上的牌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1A7F5-BC4F-489B-8E0F-665CE9A1E852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096000"/>
                <a:gridCol w="2476500"/>
                <a:gridCol w="247650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畫面狀態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face_up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牌背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已翻開，尚未配對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已配對，保持正面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已配對的牌會保持正面；hide() 不會把它蓋回。">
            <a:extLst xmlns:a="http://schemas.openxmlformats.org/drawingml/2006/main">
              <a:ext uri="{FF2B5EF4-FFF2-40B4-BE49-F238E27FC236}">
                <a16:creationId xmlns:a16="http://schemas.microsoft.com/office/drawing/2014/main" id="{02A0788A-F661-4C2A-8CEC-CEA6A684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已配對的牌會保持正面；hide() 不會把它蓋回。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FCBA987F-040D-442D-8641-C6205219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855447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ard：資料與翻牌行為">
            <a:extLst xmlns:a="http://schemas.openxmlformats.org/drawingml/2006/main">
              <a:ext uri="{FF2B5EF4-FFF2-40B4-BE49-F238E27FC236}">
                <a16:creationId xmlns:a16="http://schemas.microsoft.com/office/drawing/2014/main" id="{9A14F64F-7137-45A1-92A9-741CA52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Card：資料與翻牌行為</a:t>
            </a:r>
          </a:p>
        </p:txBody>
      </p:sp>
      <p:sp>
        <p:nvSpPr>
          <p:cNvPr id="2" name="model.py · Card">
            <a:extLst xmlns:a="http://schemas.openxmlformats.org/drawingml/2006/main">
              <a:ext uri="{FF2B5EF4-FFF2-40B4-BE49-F238E27FC236}">
                <a16:creationId xmlns:a16="http://schemas.microsoft.com/office/drawing/2014/main" id="{E9ABEFF8-5B68-49F9-B383-17EF630E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model.py · Card</a:t>
            </a:r>
          </a:p>
        </p:txBody>
      </p:sp>
      <p:sp>
        <p:nvSpPr>
          <p:cNvPr id="3" name="class Card:">
            <a:extLst xmlns:a="http://schemas.openxmlformats.org/drawingml/2006/main">
              <a:ext uri="{FF2B5EF4-FFF2-40B4-BE49-F238E27FC236}">
                <a16:creationId xmlns:a16="http://schemas.microsoft.com/office/drawing/2014/main" id="{131074AE-7DD3-48A9-8CE9-E0A8239A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Card:</a:t>
            </a:r>
          </a:p>
        </p:txBody>
      </p:sp>
      <p:sp>
        <p:nvSpPr>
          <p:cNvPr id="4" name="    def __init__(self, name, pair_id):">
            <a:extLst xmlns:a="http://schemas.openxmlformats.org/drawingml/2006/main">
              <a:ext uri="{FF2B5EF4-FFF2-40B4-BE49-F238E27FC236}">
                <a16:creationId xmlns:a16="http://schemas.microsoft.com/office/drawing/2014/main" id="{351DF5B1-0190-46ED-9C22-CFA10923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pair_id):</a:t>
            </a:r>
          </a:p>
        </p:txBody>
      </p:sp>
      <p:sp>
        <p:nvSpPr>
          <p:cNvPr id="5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73C07937-EB9B-4092-BE83-283F7061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6" name="        self.pair_id = pair_id">
            <a:extLst xmlns:a="http://schemas.openxmlformats.org/drawingml/2006/main">
              <a:ext uri="{FF2B5EF4-FFF2-40B4-BE49-F238E27FC236}">
                <a16:creationId xmlns:a16="http://schemas.microsoft.com/office/drawing/2014/main" id="{A3E115BA-F637-429E-A0DE-C0EC01E4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self.pair_id = pair_id</a:t>
            </a:r>
          </a:p>
        </p:txBody>
      </p:sp>
      <p:sp>
        <p:nvSpPr>
          <p:cNvPr id="7" name="        self.face_up = False">
            <a:extLst xmlns:a="http://schemas.openxmlformats.org/drawingml/2006/main">
              <a:ext uri="{FF2B5EF4-FFF2-40B4-BE49-F238E27FC236}">
                <a16:creationId xmlns:a16="http://schemas.microsoft.com/office/drawing/2014/main" id="{20732318-1ED2-4831-B46A-C5E52408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False</a:t>
            </a:r>
          </a:p>
        </p:txBody>
      </p:sp>
      <p:sp>
        <p:nvSpPr>
          <p:cNvPr id="8" name="        self.matched = False">
            <a:extLst xmlns:a="http://schemas.openxmlformats.org/drawingml/2006/main">
              <a:ext uri="{FF2B5EF4-FFF2-40B4-BE49-F238E27FC236}">
                <a16:creationId xmlns:a16="http://schemas.microsoft.com/office/drawing/2014/main" id="{CB3430A1-28EE-4B7C-9D29-5B9D4F7B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self.matched =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9F833-5B40-4EF0-B1CE-B9F0845E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    def reveal(self):">
            <a:extLst xmlns:a="http://schemas.openxmlformats.org/drawingml/2006/main">
              <a:ext uri="{FF2B5EF4-FFF2-40B4-BE49-F238E27FC236}">
                <a16:creationId xmlns:a16="http://schemas.microsoft.com/office/drawing/2014/main" id="{16EBC565-B3A3-4DC2-B987-6CEAE238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reveal(self):</a:t>
            </a:r>
          </a:p>
        </p:txBody>
      </p:sp>
      <p:sp>
        <p:nvSpPr>
          <p:cNvPr id="11" name="        if self.face_up or self.matched:">
            <a:extLst xmlns:a="http://schemas.openxmlformats.org/drawingml/2006/main">
              <a:ext uri="{FF2B5EF4-FFF2-40B4-BE49-F238E27FC236}">
                <a16:creationId xmlns:a16="http://schemas.microsoft.com/office/drawing/2014/main" id="{B8100C9A-DD6B-4A44-881E-537683B1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self.face_up or self.matched:</a:t>
            </a:r>
          </a:p>
        </p:txBody>
      </p:sp>
      <p:sp>
        <p:nvSpPr>
          <p:cNvPr id="12" name="    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B8E1E69E-4601-4D8C-BA8E-4EA6835C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return False</a:t>
            </a:r>
          </a:p>
        </p:txBody>
      </p:sp>
      <p:sp>
        <p:nvSpPr>
          <p:cNvPr id="13" name="        self.face_up = True">
            <a:extLst xmlns:a="http://schemas.openxmlformats.org/drawingml/2006/main">
              <a:ext uri="{FF2B5EF4-FFF2-40B4-BE49-F238E27FC236}">
                <a16:creationId xmlns:a16="http://schemas.microsoft.com/office/drawing/2014/main" id="{C00AB284-2B2E-43B6-AB78-52B484AE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True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6B19007F-07AD-43B1-A8C0-01CFAAE3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reveal() 拒絕重複翻開及已配對的牌。">
            <a:extLst xmlns:a="http://schemas.openxmlformats.org/drawingml/2006/main">
              <a:ext uri="{FF2B5EF4-FFF2-40B4-BE49-F238E27FC236}">
                <a16:creationId xmlns:a16="http://schemas.microsoft.com/office/drawing/2014/main" id="{0A313C32-8538-40D2-893C-6941F81E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reveal() 拒絕重複翻開及已配對的牌。</a:t>
            </a:r>
          </a:p>
        </p:txBody>
      </p:sp>
      <p:sp>
        <p:nvSpPr>
          <p:cNvPr id="16" name="本例屬性可直接讀寫；程式流程透過方法維持規則。">
            <a:extLst xmlns:a="http://schemas.openxmlformats.org/drawingml/2006/main">
              <a:ext uri="{FF2B5EF4-FFF2-40B4-BE49-F238E27FC236}">
                <a16:creationId xmlns:a16="http://schemas.microsoft.com/office/drawing/2014/main" id="{523920F4-A2D7-48AE-8688-1D7DB714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本例屬性可直接讀寫；程式流程透過方法維持規則。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06D982F8-C22D-4794-88CA-08991F86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08">
            <a:extLst xmlns:a="http://schemas.openxmlformats.org/drawingml/2006/main">
              <a:ext uri="{FF2B5EF4-FFF2-40B4-BE49-F238E27FC236}">
                <a16:creationId xmlns:a16="http://schemas.microsoft.com/office/drawing/2014/main" id="{6E5B3DC4-411C-4A62-8398-6D647B3C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353666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ard：建立與保存卡牌">
            <a:extLst xmlns:a="http://schemas.openxmlformats.org/drawingml/2006/main">
              <a:ext uri="{FF2B5EF4-FFF2-40B4-BE49-F238E27FC236}">
                <a16:creationId xmlns:a16="http://schemas.microsoft.com/office/drawing/2014/main" id="{CC5719BB-4A8F-4203-83F9-18D444C7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Board：建立與保存卡牌</a:t>
            </a:r>
          </a:p>
        </p:txBody>
      </p:sp>
      <p:sp>
        <p:nvSpPr>
          <p:cNvPr id="2" name="model.py · Board.__init__">
            <a:extLst xmlns:a="http://schemas.openxmlformats.org/drawingml/2006/main">
              <a:ext uri="{FF2B5EF4-FFF2-40B4-BE49-F238E27FC236}">
                <a16:creationId xmlns:a16="http://schemas.microsoft.com/office/drawing/2014/main" id="{2DEEDDB9-5C32-45EA-AE57-06455187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model.py · Board.__init__</a:t>
            </a:r>
          </a:p>
        </p:txBody>
      </p:sp>
      <p:sp>
        <p:nvSpPr>
          <p:cNvPr id="3" name="def __init__(self, sample=False):">
            <a:extLst xmlns:a="http://schemas.openxmlformats.org/drawingml/2006/main">
              <a:ext uri="{FF2B5EF4-FFF2-40B4-BE49-F238E27FC236}">
                <a16:creationId xmlns:a16="http://schemas.microsoft.com/office/drawing/2014/main" id="{9B6D6FA2-0624-416B-8E06-90BE7D0E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sample=False):</a:t>
            </a:r>
          </a:p>
        </p:txBody>
      </p:sp>
      <p:sp>
        <p:nvSpPr>
          <p:cNvPr id="4" name="    pairs = SAMPLE.copy()">
            <a:extLst xmlns:a="http://schemas.openxmlformats.org/drawingml/2006/main">
              <a:ext uri="{FF2B5EF4-FFF2-40B4-BE49-F238E27FC236}">
                <a16:creationId xmlns:a16="http://schemas.microsoft.com/office/drawing/2014/main" id="{D1337950-5449-4E44-BCD6-DF5353C1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pairs = SAMPLE.copy()</a:t>
            </a:r>
          </a:p>
        </p:txBody>
      </p:sp>
      <p:sp>
        <p:nvSpPr>
          <p:cNvPr id="5" name="    if not sample:">
            <a:extLst xmlns:a="http://schemas.openxmlformats.org/drawingml/2006/main">
              <a:ext uri="{FF2B5EF4-FFF2-40B4-BE49-F238E27FC236}">
                <a16:creationId xmlns:a16="http://schemas.microsoft.com/office/drawing/2014/main" id="{B75FDF51-7820-43DE-919C-99844DB0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not sample:</a:t>
            </a:r>
          </a:p>
        </p:txBody>
      </p:sp>
      <p:sp>
        <p:nvSpPr>
          <p:cNvPr id="6" name="        shuffle(pairs)">
            <a:extLst xmlns:a="http://schemas.openxmlformats.org/drawingml/2006/main">
              <a:ext uri="{FF2B5EF4-FFF2-40B4-BE49-F238E27FC236}">
                <a16:creationId xmlns:a16="http://schemas.microsoft.com/office/drawing/2014/main" id="{F3D209DC-A614-481E-9FCA-EABAACA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shuffle(pairs)</a:t>
            </a:r>
          </a:p>
        </p:txBody>
      </p:sp>
      <p:sp>
        <p:nvSpPr>
          <p:cNvPr id="7" name="    self.cards = [Card(f'C{i+1:02}', pair)">
            <a:extLst xmlns:a="http://schemas.openxmlformats.org/drawingml/2006/main">
              <a:ext uri="{FF2B5EF4-FFF2-40B4-BE49-F238E27FC236}">
                <a16:creationId xmlns:a16="http://schemas.microsoft.com/office/drawing/2014/main" id="{A7A3C691-DCA2-4D9E-8F4F-D618073A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self.cards = [Card(f'C{i+1:02}', pair)</a:t>
            </a:r>
          </a:p>
        </p:txBody>
      </p:sp>
      <p:sp>
        <p:nvSpPr>
          <p:cNvPr id="8" name="                  for i, pair in enumerate(pairs)]">
            <a:extLst xmlns:a="http://schemas.openxmlformats.org/drawingml/2006/main">
              <a:ext uri="{FF2B5EF4-FFF2-40B4-BE49-F238E27FC236}">
                <a16:creationId xmlns:a16="http://schemas.microsoft.com/office/drawing/2014/main" id="{321F2EFA-2256-42F1-924D-63B5AD85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  for i, pair in enumerate(pairs)]</a:t>
            </a:r>
          </a:p>
        </p:txBody>
      </p:sp>
      <p:sp>
        <p:nvSpPr>
          <p:cNvPr id="9" name="每次呼叫 Card(...) 都建立新的實體。">
            <a:extLst xmlns:a="http://schemas.openxmlformats.org/drawingml/2006/main">
              <a:ext uri="{FF2B5EF4-FFF2-40B4-BE49-F238E27FC236}">
                <a16:creationId xmlns:a16="http://schemas.microsoft.com/office/drawing/2014/main" id="{05188389-279F-4CD6-9B7B-CE5D102E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每次呼叫 Card(...) 都建立新的實體。</a:t>
            </a:r>
          </a:p>
        </p:txBody>
      </p:sp>
      <p:sp>
        <p:nvSpPr>
          <p:cNvPr id="10" name="sample=True 保留固定順序；一般遊戲會洗牌。">
            <a:extLst xmlns:a="http://schemas.openxmlformats.org/drawingml/2006/main">
              <a:ext uri="{FF2B5EF4-FFF2-40B4-BE49-F238E27FC236}">
                <a16:creationId xmlns:a16="http://schemas.microsoft.com/office/drawing/2014/main" id="{2FE1CF36-0830-42F7-985D-29BD456F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sample=True 保留固定順序；一般遊戲會洗牌。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ABD83D4C-7F27-46D6-9524-A9CF8D70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09">
            <a:extLst xmlns:a="http://schemas.openxmlformats.org/drawingml/2006/main">
              <a:ext uri="{FF2B5EF4-FFF2-40B4-BE49-F238E27FC236}">
                <a16:creationId xmlns:a16="http://schemas.microsoft.com/office/drawing/2014/main" id="{0233E63D-7283-442E-A27E-9393B483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099041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選牌：先保存 pending 參照">
            <a:extLst xmlns:a="http://schemas.openxmlformats.org/drawingml/2006/main">
              <a:ext uri="{FF2B5EF4-FFF2-40B4-BE49-F238E27FC236}">
                <a16:creationId xmlns:a16="http://schemas.microsoft.com/office/drawing/2014/main" id="{A76C4404-BE3D-446A-ADF2-51FD0EC2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選牌：先保存 pending 參照</a:t>
            </a:r>
          </a:p>
        </p:txBody>
      </p:sp>
      <p:sp>
        <p:nvSpPr>
          <p:cNvPr id="2" name="model.py · Game.queue">
            <a:extLst xmlns:a="http://schemas.openxmlformats.org/drawingml/2006/main">
              <a:ext uri="{FF2B5EF4-FFF2-40B4-BE49-F238E27FC236}">
                <a16:creationId xmlns:a16="http://schemas.microsoft.com/office/drawing/2014/main" id="{8BFDBD3A-1E0D-4045-9756-DEFB7C0E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model.py · Game.queue</a:t>
            </a:r>
          </a:p>
        </p:txBody>
      </p:sp>
      <p:sp>
        <p:nvSpPr>
          <p:cNvPr id="3" name="def queue(self, name):">
            <a:extLst xmlns:a="http://schemas.openxmlformats.org/drawingml/2006/main">
              <a:ext uri="{FF2B5EF4-FFF2-40B4-BE49-F238E27FC236}">
                <a16:creationId xmlns:a16="http://schemas.microsoft.com/office/drawing/2014/main" id="{189EC1E5-E517-46D7-A3AB-925E0B1A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queue(self, name):</a:t>
            </a:r>
          </a:p>
        </p:txBody>
      </p:sp>
      <p:sp>
        <p:nvSpPr>
          <p:cNvPr id="4" name="    if self.phase not in ('first', 'second') or self.pending:">
            <a:extLst xmlns:a="http://schemas.openxmlformats.org/drawingml/2006/main">
              <a:ext uri="{FF2B5EF4-FFF2-40B4-BE49-F238E27FC236}">
                <a16:creationId xmlns:a16="http://schemas.microsoft.com/office/drawing/2014/main" id="{3DD1748A-2F83-41A5-B402-7FE381A0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not in ('first', 'second') or self.pending: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B9A14977-1EE9-4DE7-9547-7090501C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card = self.board.get(name)">
            <a:extLst xmlns:a="http://schemas.openxmlformats.org/drawingml/2006/main">
              <a:ext uri="{FF2B5EF4-FFF2-40B4-BE49-F238E27FC236}">
                <a16:creationId xmlns:a16="http://schemas.microsoft.com/office/drawing/2014/main" id="{E74ED34F-1239-490F-814E-ABD83290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card = self.board.get(name)</a:t>
            </a:r>
          </a:p>
        </p:txBody>
      </p:sp>
      <p:sp>
        <p:nvSpPr>
          <p:cNvPr id="7" name="    if card is None or card.face_up or card.matched:">
            <a:extLst xmlns:a="http://schemas.openxmlformats.org/drawingml/2006/main">
              <a:ext uri="{FF2B5EF4-FFF2-40B4-BE49-F238E27FC236}">
                <a16:creationId xmlns:a16="http://schemas.microsoft.com/office/drawing/2014/main" id="{18F0B057-1323-4D99-9E65-DA25E365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card is None or card.face_up or card.matched:</a:t>
            </a:r>
          </a:p>
        </p:txBody>
      </p:sp>
      <p:sp>
        <p:nvSpPr>
          <p:cNvPr id="8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255EB5E8-7761-4BDB-BC22-84D94DB3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9" name="    self.pending = card">
            <a:extLst xmlns:a="http://schemas.openxmlformats.org/drawingml/2006/main">
              <a:ext uri="{FF2B5EF4-FFF2-40B4-BE49-F238E27FC236}">
                <a16:creationId xmlns:a16="http://schemas.microsoft.com/office/drawing/2014/main" id="{E11C8F51-ED2F-488D-9AF9-A4F6055A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self.pending = card</a:t>
            </a:r>
          </a:p>
        </p:txBody>
      </p:sp>
      <p:sp>
        <p:nvSpPr>
          <p:cNvPr id="10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7E68EBF9-9A14-48E9-84D5-F6E4C0A7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11" name="選牌尚未改變 face_up，按下一步才翻開。">
            <a:extLst xmlns:a="http://schemas.openxmlformats.org/drawingml/2006/main">
              <a:ext uri="{FF2B5EF4-FFF2-40B4-BE49-F238E27FC236}">
                <a16:creationId xmlns:a16="http://schemas.microsoft.com/office/drawing/2014/main" id="{B95A2570-B638-46ED-BA45-1FCBCD91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選牌尚未改變 face_up，按下一步才翻開。</a:t>
            </a:r>
          </a:p>
        </p:txBody>
      </p:sp>
      <p:sp>
        <p:nvSpPr>
          <p:cNvPr id="12" name="同一張已翻開的牌不能再作為第二張。">
            <a:extLst xmlns:a="http://schemas.openxmlformats.org/drawingml/2006/main">
              <a:ext uri="{FF2B5EF4-FFF2-40B4-BE49-F238E27FC236}">
                <a16:creationId xmlns:a16="http://schemas.microsoft.com/office/drawing/2014/main" id="{695314A8-1F39-49C1-8F58-77ABC8A6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同一張已翻開的牌不能再作為第二張。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22EF1ED5-56CC-4CA8-B8E6-48EDC700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0E16FF-D58C-4AEB-B0D2-D6D1159A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344679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單步：翻開等待中的牌">
            <a:extLst xmlns:a="http://schemas.openxmlformats.org/drawingml/2006/main">
              <a:ext uri="{FF2B5EF4-FFF2-40B4-BE49-F238E27FC236}">
                <a16:creationId xmlns:a16="http://schemas.microsoft.com/office/drawing/2014/main" id="{DD7605F5-F996-4EF3-BBE4-A709BDD4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單步：翻開等待中的牌</a:t>
            </a:r>
          </a:p>
        </p:txBody>
      </p:sp>
      <p:sp>
        <p:nvSpPr>
          <p:cNvPr id="2" name="Game.step() 的翻牌分支；其餘分支呼叫 compare()、settle()">
            <a:extLst xmlns:a="http://schemas.openxmlformats.org/drawingml/2006/main">
              <a:ext uri="{FF2B5EF4-FFF2-40B4-BE49-F238E27FC236}">
                <a16:creationId xmlns:a16="http://schemas.microsoft.com/office/drawing/2014/main" id="{09021BC3-2FD7-433A-8BBB-F0AC65CF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Game.step() 的翻牌分支；其餘分支呼叫 compare()、settle()</a:t>
            </a:r>
          </a:p>
        </p:txBody>
      </p:sp>
      <p:sp>
        <p:nvSpPr>
          <p:cNvPr id="3" name="def step(self):">
            <a:extLst xmlns:a="http://schemas.openxmlformats.org/drawingml/2006/main">
              <a:ext uri="{FF2B5EF4-FFF2-40B4-BE49-F238E27FC236}">
                <a16:creationId xmlns:a16="http://schemas.microsoft.com/office/drawing/2014/main" id="{0E3F83AA-54B5-4D2C-B86C-3E5E4831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step(self):</a:t>
            </a:r>
          </a:p>
        </p:txBody>
      </p:sp>
      <p:sp>
        <p:nvSpPr>
          <p:cNvPr id="4" name="    if self.pending and self.phase in ('first', 'second'):">
            <a:extLst xmlns:a="http://schemas.openxmlformats.org/drawingml/2006/main">
              <a:ext uri="{FF2B5EF4-FFF2-40B4-BE49-F238E27FC236}">
                <a16:creationId xmlns:a16="http://schemas.microsoft.com/office/drawing/2014/main" id="{FCE60A51-30EF-4868-95C5-B87FCD41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self.pending and self.phase in ('first', 'second'):</a:t>
            </a:r>
          </a:p>
        </p:txBody>
      </p:sp>
      <p:sp>
        <p:nvSpPr>
          <p:cNvPr id="5" name="        card = self.pending">
            <a:extLst xmlns:a="http://schemas.openxmlformats.org/drawingml/2006/main">
              <a:ext uri="{FF2B5EF4-FFF2-40B4-BE49-F238E27FC236}">
                <a16:creationId xmlns:a16="http://schemas.microsoft.com/office/drawing/2014/main" id="{E00E78A5-8F38-46A9-92A8-0FCFEC18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 = self.pending</a:t>
            </a:r>
          </a:p>
        </p:txBody>
      </p:sp>
      <p:sp>
        <p:nvSpPr>
          <p:cNvPr id="6" name="        self.pending = None">
            <a:extLst xmlns:a="http://schemas.openxmlformats.org/drawingml/2006/main">
              <a:ext uri="{FF2B5EF4-FFF2-40B4-BE49-F238E27FC236}">
                <a16:creationId xmlns:a16="http://schemas.microsoft.com/office/drawing/2014/main" id="{EC8E3D0A-3B7A-4B43-9D1E-D8D4023D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self.pending = None</a:t>
            </a:r>
          </a:p>
        </p:txBody>
      </p:sp>
      <p:sp>
        <p:nvSpPr>
          <p:cNvPr id="7" name="        card.reveal()">
            <a:extLst xmlns:a="http://schemas.openxmlformats.org/drawingml/2006/main">
              <a:ext uri="{FF2B5EF4-FFF2-40B4-BE49-F238E27FC236}">
                <a16:creationId xmlns:a16="http://schemas.microsoft.com/office/drawing/2014/main" id="{F911A026-7E66-4542-8211-CAFD23B4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card.reveal()</a:t>
            </a:r>
          </a:p>
        </p:txBody>
      </p:sp>
      <p:sp>
        <p:nvSpPr>
          <p:cNvPr id="8" name="        if self.phase == 'first':">
            <a:extLst xmlns:a="http://schemas.openxmlformats.org/drawingml/2006/main">
              <a:ext uri="{FF2B5EF4-FFF2-40B4-BE49-F238E27FC236}">
                <a16:creationId xmlns:a16="http://schemas.microsoft.com/office/drawing/2014/main" id="{6DA79F0A-E85A-4F9D-8C68-94404AC6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self.phase == 'first':</a:t>
            </a:r>
          </a:p>
        </p:txBody>
      </p:sp>
      <p:sp>
        <p:nvSpPr>
          <p:cNvPr id="9" name="            self.first = card">
            <a:extLst xmlns:a="http://schemas.openxmlformats.org/drawingml/2006/main">
              <a:ext uri="{FF2B5EF4-FFF2-40B4-BE49-F238E27FC236}">
                <a16:creationId xmlns:a16="http://schemas.microsoft.com/office/drawing/2014/main" id="{28DD48FA-59B1-47BD-8212-921C4573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self.first = card</a:t>
            </a:r>
          </a:p>
        </p:txBody>
      </p:sp>
      <p:sp>
        <p:nvSpPr>
          <p:cNvPr id="10" name="            self.phase = 'second'">
            <a:extLst xmlns:a="http://schemas.openxmlformats.org/drawingml/2006/main">
              <a:ext uri="{FF2B5EF4-FFF2-40B4-BE49-F238E27FC236}">
                <a16:creationId xmlns:a16="http://schemas.microsoft.com/office/drawing/2014/main" id="{0574CD04-016E-4EEE-BF38-D0D0317E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'second'</a:t>
            </a:r>
          </a:p>
        </p:txBody>
      </p:sp>
      <p:sp>
        <p:nvSpPr>
          <p:cNvPr id="11" name="        else:">
            <a:extLst xmlns:a="http://schemas.openxmlformats.org/drawingml/2006/main">
              <a:ext uri="{FF2B5EF4-FFF2-40B4-BE49-F238E27FC236}">
                <a16:creationId xmlns:a16="http://schemas.microsoft.com/office/drawing/2014/main" id="{1E4EEAA2-0169-4C02-9210-1BD02542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12" name="            self.second = card">
            <a:extLst xmlns:a="http://schemas.openxmlformats.org/drawingml/2006/main">
              <a:ext uri="{FF2B5EF4-FFF2-40B4-BE49-F238E27FC236}">
                <a16:creationId xmlns:a16="http://schemas.microsoft.com/office/drawing/2014/main" id="{15ECF7B0-276D-4BB6-95DB-F5DDE322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self.second = card</a:t>
            </a:r>
          </a:p>
        </p:txBody>
      </p:sp>
      <p:sp>
        <p:nvSpPr>
          <p:cNvPr id="13" name="            self.phase = 'compare'">
            <a:extLst xmlns:a="http://schemas.openxmlformats.org/drawingml/2006/main">
              <a:ext uri="{FF2B5EF4-FFF2-40B4-BE49-F238E27FC236}">
                <a16:creationId xmlns:a16="http://schemas.microsoft.com/office/drawing/2014/main" id="{1A6927B5-4E73-4C8C-9292-96AB2738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'compare'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111C7B6D-1214-4E16-839F-012F0257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first、second 各自參照 Board 中選取的牌。">
            <a:extLst xmlns:a="http://schemas.openxmlformats.org/drawingml/2006/main">
              <a:ext uri="{FF2B5EF4-FFF2-40B4-BE49-F238E27FC236}">
                <a16:creationId xmlns:a16="http://schemas.microsoft.com/office/drawing/2014/main" id="{96DCA892-10BD-4A86-A00E-D81086A1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first、second 各自參照 Board 中選取的牌。</a:t>
            </a:r>
          </a:p>
        </p:txBody>
      </p:sp>
      <p:sp>
        <p:nvSpPr>
          <p:cNvPr id="16" name="一次 step() 只完成一個階段。">
            <a:extLst xmlns:a="http://schemas.openxmlformats.org/drawingml/2006/main">
              <a:ext uri="{FF2B5EF4-FFF2-40B4-BE49-F238E27FC236}">
                <a16:creationId xmlns:a16="http://schemas.microsoft.com/office/drawing/2014/main" id="{F530A4A2-FFCA-4784-B538-ABE60193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一次 step() 只完成一個階段。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8803C5AD-0EEA-45A6-8648-6629C834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11">
            <a:extLst xmlns:a="http://schemas.openxmlformats.org/drawingml/2006/main">
              <a:ext uri="{FF2B5EF4-FFF2-40B4-BE49-F238E27FC236}">
                <a16:creationId xmlns:a16="http://schemas.microsoft.com/office/drawing/2014/main" id="{08870693-9FB0-41AF-85CD-8EA03269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664843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比較：檢查 pair_id">
            <a:extLst xmlns:a="http://schemas.openxmlformats.org/drawingml/2006/main">
              <a:ext uri="{FF2B5EF4-FFF2-40B4-BE49-F238E27FC236}">
                <a16:creationId xmlns:a16="http://schemas.microsoft.com/office/drawing/2014/main" id="{154F3976-9537-426E-B1C1-CDE9AE8B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比較：檢查 pair_id</a:t>
            </a:r>
          </a:p>
        </p:txBody>
      </p:sp>
      <p:sp>
        <p:nvSpPr>
          <p:cNvPr id="2" name="model.py · Game.compare">
            <a:extLst xmlns:a="http://schemas.openxmlformats.org/drawingml/2006/main">
              <a:ext uri="{FF2B5EF4-FFF2-40B4-BE49-F238E27FC236}">
                <a16:creationId xmlns:a16="http://schemas.microsoft.com/office/drawing/2014/main" id="{A73618D3-C162-4E9D-9A20-8B5127BA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model.py · Game.compare</a:t>
            </a:r>
          </a:p>
        </p:txBody>
      </p:sp>
      <p:sp>
        <p:nvSpPr>
          <p:cNvPr id="3" name="def compare(self):">
            <a:extLst xmlns:a="http://schemas.openxmlformats.org/drawingml/2006/main">
              <a:ext uri="{FF2B5EF4-FFF2-40B4-BE49-F238E27FC236}">
                <a16:creationId xmlns:a16="http://schemas.microsoft.com/office/drawing/2014/main" id="{0926E166-0B2A-4AF7-8392-700E2F82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compare(self):</a:t>
            </a:r>
          </a:p>
        </p:txBody>
      </p:sp>
      <p:sp>
        <p:nvSpPr>
          <p:cNvPr id="4" name="    if self.phase != 'compar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A90335F9-0562-4AED-8079-6D1CE6F6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'compare'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E9EF6325-DF91-4F07-8FEF-51B2C21D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self.result = self.first.pair_id == self.second.pair_id">
            <a:extLst xmlns:a="http://schemas.openxmlformats.org/drawingml/2006/main">
              <a:ext uri="{FF2B5EF4-FFF2-40B4-BE49-F238E27FC236}">
                <a16:creationId xmlns:a16="http://schemas.microsoft.com/office/drawing/2014/main" id="{EC4DF9CA-CE27-4D17-81C1-FAFB2AF8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self.first.pair_id == self.second.pair_id</a:t>
            </a:r>
          </a:p>
        </p:txBody>
      </p:sp>
      <p:sp>
        <p:nvSpPr>
          <p:cNvPr id="7" name="    self.turns += 1">
            <a:extLst xmlns:a="http://schemas.openxmlformats.org/drawingml/2006/main">
              <a:ext uri="{FF2B5EF4-FFF2-40B4-BE49-F238E27FC236}">
                <a16:creationId xmlns:a16="http://schemas.microsoft.com/office/drawing/2014/main" id="{50E3C311-A02C-45E3-AAAE-0A3DAA4A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self.turns += 1</a:t>
            </a:r>
          </a:p>
        </p:txBody>
      </p:sp>
      <p:sp>
        <p:nvSpPr>
          <p:cNvPr id="8" name="    self.phase = 'resolve'">
            <a:extLst xmlns:a="http://schemas.openxmlformats.org/drawingml/2006/main">
              <a:ext uri="{FF2B5EF4-FFF2-40B4-BE49-F238E27FC236}">
                <a16:creationId xmlns:a16="http://schemas.microsoft.com/office/drawing/2014/main" id="{462FBB68-7358-4146-ABDB-4EC59A61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'resolve'</a:t>
            </a:r>
          </a:p>
        </p:txBody>
      </p:sp>
      <p:sp>
        <p:nvSpPr>
          <p:cNvPr id="9" name="比較圖案值，並增加一次比較次數。">
            <a:extLst xmlns:a="http://schemas.openxmlformats.org/drawingml/2006/main">
              <a:ext uri="{FF2B5EF4-FFF2-40B4-BE49-F238E27FC236}">
                <a16:creationId xmlns:a16="http://schemas.microsoft.com/office/drawing/2014/main" id="{91C9BBF6-4458-4EBF-AE27-03D03608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比較圖案值，並增加一次比較次數。</a:t>
            </a:r>
          </a:p>
        </p:txBody>
      </p:sp>
      <p:sp>
        <p:nvSpPr>
          <p:cNvPr id="10" name="此時 matched 仍為 False，等待下一步結算。">
            <a:extLst xmlns:a="http://schemas.openxmlformats.org/drawingml/2006/main">
              <a:ext uri="{FF2B5EF4-FFF2-40B4-BE49-F238E27FC236}">
                <a16:creationId xmlns:a16="http://schemas.microsoft.com/office/drawing/2014/main" id="{0FF39DE9-FA18-4F39-9B26-ACDD50BB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此時 matched 仍為 False，等待下一步結算。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958A7592-F6C4-4E94-B98A-D4619002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BEE7E900-F8BD-41EF-B588-14101060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429865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結算：保留或蓋回">
            <a:extLst xmlns:a="http://schemas.openxmlformats.org/drawingml/2006/main">
              <a:ext uri="{FF2B5EF4-FFF2-40B4-BE49-F238E27FC236}">
                <a16:creationId xmlns:a16="http://schemas.microsoft.com/office/drawing/2014/main" id="{D2313843-463A-4695-B217-4B4146A3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結算：保留或蓋回</a:t>
            </a:r>
          </a:p>
        </p:txBody>
      </p:sp>
      <p:sp>
        <p:nvSpPr>
          <p:cNvPr id="2" name="model.py · Game.settle">
            <a:extLst xmlns:a="http://schemas.openxmlformats.org/drawingml/2006/main">
              <a:ext uri="{FF2B5EF4-FFF2-40B4-BE49-F238E27FC236}">
                <a16:creationId xmlns:a16="http://schemas.microsoft.com/office/drawing/2014/main" id="{FEAF0A91-9C16-401A-8B8F-B500BAB9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model.py · Game.settle</a:t>
            </a:r>
          </a:p>
        </p:txBody>
      </p:sp>
      <p:sp>
        <p:nvSpPr>
          <p:cNvPr id="3" name="def settle(self):">
            <a:extLst xmlns:a="http://schemas.openxmlformats.org/drawingml/2006/main">
              <a:ext uri="{FF2B5EF4-FFF2-40B4-BE49-F238E27FC236}">
                <a16:creationId xmlns:a16="http://schemas.microsoft.com/office/drawing/2014/main" id="{21F6DEB5-93F9-4EFC-A75D-EBA7B015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settle(self):</a:t>
            </a:r>
          </a:p>
        </p:txBody>
      </p:sp>
      <p:sp>
        <p:nvSpPr>
          <p:cNvPr id="4" name="    if self.phase != 'resolv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7354C592-1BC4-4CE5-A975-E09C7BE4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'resolve'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AFF9DA7D-8F52-4B1F-A87E-60ACFC7C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if self.result:">
            <a:extLst xmlns:a="http://schemas.openxmlformats.org/drawingml/2006/main">
              <a:ext uri="{FF2B5EF4-FFF2-40B4-BE49-F238E27FC236}">
                <a16:creationId xmlns:a16="http://schemas.microsoft.com/office/drawing/2014/main" id="{DA880D08-BF26-4253-827F-3607141C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self.result:</a:t>
            </a:r>
          </a:p>
        </p:txBody>
      </p:sp>
      <p:sp>
        <p:nvSpPr>
          <p:cNvPr id="7" name="        self.first.mark_matched()">
            <a:extLst xmlns:a="http://schemas.openxmlformats.org/drawingml/2006/main">
              <a:ext uri="{FF2B5EF4-FFF2-40B4-BE49-F238E27FC236}">
                <a16:creationId xmlns:a16="http://schemas.microsoft.com/office/drawing/2014/main" id="{17EF3038-8DDC-48AA-A60A-64A16CC8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self.first.mark_matched()</a:t>
            </a:r>
          </a:p>
        </p:txBody>
      </p:sp>
      <p:sp>
        <p:nvSpPr>
          <p:cNvPr id="8" name="        self.second.mark_matched()">
            <a:extLst xmlns:a="http://schemas.openxmlformats.org/drawingml/2006/main">
              <a:ext uri="{FF2B5EF4-FFF2-40B4-BE49-F238E27FC236}">
                <a16:creationId xmlns:a16="http://schemas.microsoft.com/office/drawing/2014/main" id="{48022F40-40EC-4865-8751-A2438E07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self.second.mark_matched()</a:t>
            </a:r>
          </a:p>
        </p:txBody>
      </p:sp>
      <p:sp>
        <p:nvSpPr>
          <p:cNvPr id="9" name="        self.matches += 1">
            <a:extLst xmlns:a="http://schemas.openxmlformats.org/drawingml/2006/main">
              <a:ext uri="{FF2B5EF4-FFF2-40B4-BE49-F238E27FC236}">
                <a16:creationId xmlns:a16="http://schemas.microsoft.com/office/drawing/2014/main" id="{8FB181EB-FB76-4E03-BCAA-C7504720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self.matches += 1</a:t>
            </a:r>
          </a:p>
        </p:txBody>
      </p:sp>
      <p:sp>
        <p:nvSpPr>
          <p:cNvPr id="10" name="    else:">
            <a:extLst xmlns:a="http://schemas.openxmlformats.org/drawingml/2006/main">
              <a:ext uri="{FF2B5EF4-FFF2-40B4-BE49-F238E27FC236}">
                <a16:creationId xmlns:a16="http://schemas.microsoft.com/office/drawing/2014/main" id="{9E997478-1367-4441-82BA-F50FAC4F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11" name="        self.first.hide()">
            <a:extLst xmlns:a="http://schemas.openxmlformats.org/drawingml/2006/main">
              <a:ext uri="{FF2B5EF4-FFF2-40B4-BE49-F238E27FC236}">
                <a16:creationId xmlns:a16="http://schemas.microsoft.com/office/drawing/2014/main" id="{2A0BC18F-CBD4-4BD9-BBD2-914C5FAF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self.first.hide()</a:t>
            </a:r>
          </a:p>
        </p:txBody>
      </p:sp>
      <p:sp>
        <p:nvSpPr>
          <p:cNvPr id="12" name="        self.second.hide()">
            <a:extLst xmlns:a="http://schemas.openxmlformats.org/drawingml/2006/main">
              <a:ext uri="{FF2B5EF4-FFF2-40B4-BE49-F238E27FC236}">
                <a16:creationId xmlns:a16="http://schemas.microsoft.com/office/drawing/2014/main" id="{8BE4DC93-D04C-422F-994F-BB7FD5D2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self.second.hide()</a:t>
            </a:r>
          </a:p>
        </p:txBody>
      </p:sp>
      <p:sp>
        <p:nvSpPr>
          <p:cNvPr id="13" name="    self.first = self.second = None">
            <a:extLst xmlns:a="http://schemas.openxmlformats.org/drawingml/2006/main">
              <a:ext uri="{FF2B5EF4-FFF2-40B4-BE49-F238E27FC236}">
                <a16:creationId xmlns:a16="http://schemas.microsoft.com/office/drawing/2014/main" id="{D4FF37F5-5CAC-4CE7-BF82-1BDDFBB0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self.first = self.second = None</a:t>
            </a:r>
          </a:p>
        </p:txBody>
      </p:sp>
      <p:sp>
        <p:nvSpPr>
          <p:cNvPr id="14" name="    self.result = None">
            <a:extLst xmlns:a="http://schemas.openxmlformats.org/drawingml/2006/main">
              <a:ext uri="{FF2B5EF4-FFF2-40B4-BE49-F238E27FC236}">
                <a16:creationId xmlns:a16="http://schemas.microsoft.com/office/drawing/2014/main" id="{A9C399FC-3D85-45F8-889C-875BD48D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None</a:t>
            </a:r>
          </a:p>
        </p:txBody>
      </p:sp>
      <p:sp>
        <p:nvSpPr>
          <p:cNvPr id="15" name="    self.phase = 'won' if self.board.complete else 'first'">
            <a:extLst xmlns:a="http://schemas.openxmlformats.org/drawingml/2006/main">
              <a:ext uri="{FF2B5EF4-FFF2-40B4-BE49-F238E27FC236}">
                <a16:creationId xmlns:a16="http://schemas.microsoft.com/office/drawing/2014/main" id="{E58399A9-7769-4835-A65D-01A81AF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006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'won' if self.board.complete else 'first'</a:t>
            </a:r>
          </a:p>
        </p:txBody>
      </p:sp>
      <p:sp>
        <p:nvSpPr>
          <p:cNvPr id="16" name="相同圖案標記已配對；不同圖案呼叫 hide()。">
            <a:extLst xmlns:a="http://schemas.openxmlformats.org/drawingml/2006/main">
              <a:ext uri="{FF2B5EF4-FFF2-40B4-BE49-F238E27FC236}">
                <a16:creationId xmlns:a16="http://schemas.microsoft.com/office/drawing/2014/main" id="{8F8BD180-4DC7-4C1C-972A-776FF234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相同圖案標記已配對；不同圖案呼叫 hide()。</a:t>
            </a:r>
          </a:p>
        </p:txBody>
      </p:sp>
      <p:sp>
        <p:nvSpPr>
          <p:cNvPr id="17" name="清空暫存參照後，牌仍由 Board 保存。">
            <a:extLst xmlns:a="http://schemas.openxmlformats.org/drawingml/2006/main">
              <a:ext uri="{FF2B5EF4-FFF2-40B4-BE49-F238E27FC236}">
                <a16:creationId xmlns:a16="http://schemas.microsoft.com/office/drawing/2014/main" id="{11C1B077-A224-4165-BEC8-DD769DA4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清空暫存參照後，牌仍由 Board 保存。</a:t>
            </a:r>
          </a:p>
        </p:txBody>
      </p:sp>
      <p:sp>
        <p:nvSpPr>
          <p:cNvPr id="18" name="model.py">
            <a:extLst xmlns:a="http://schemas.openxmlformats.org/drawingml/2006/main">
              <a:ext uri="{FF2B5EF4-FFF2-40B4-BE49-F238E27FC236}">
                <a16:creationId xmlns:a16="http://schemas.microsoft.com/office/drawing/2014/main" id="{35099183-BFB7-4446-9B03-51391309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9" name="13">
            <a:extLst xmlns:a="http://schemas.openxmlformats.org/drawingml/2006/main">
              <a:ext uri="{FF2B5EF4-FFF2-40B4-BE49-F238E27FC236}">
                <a16:creationId xmlns:a16="http://schemas.microsoft.com/office/drawing/2014/main" id="{DC586123-FA7E-42CC-9D80-9BC13875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495970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成功範例：C01 與 C02">
            <a:extLst xmlns:a="http://schemas.openxmlformats.org/drawingml/2006/main">
              <a:ext uri="{FF2B5EF4-FFF2-40B4-BE49-F238E27FC236}">
                <a16:creationId xmlns:a16="http://schemas.microsoft.com/office/drawing/2014/main" id="{B8D4424E-EF79-40CB-A17E-AC0DC10A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成功範例：C01 與 C02</a:t>
            </a:r>
          </a:p>
        </p:txBody>
      </p:sp>
      <p:sp>
        <p:nvSpPr>
          <p:cNvPr id="2" name="載入「配對成功」範例，依序選牌並按 N">
            <a:extLst xmlns:a="http://schemas.openxmlformats.org/drawingml/2006/main">
              <a:ext uri="{FF2B5EF4-FFF2-40B4-BE49-F238E27FC236}">
                <a16:creationId xmlns:a16="http://schemas.microsoft.com/office/drawing/2014/main" id="{0E0A36A9-1A3A-4588-A384-5637F6BF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載入「配對成功」範例，依序選牌並按 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413D4-4E1D-48E2-AE6C-232374131CB5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可觀察結果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 C01，按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second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first → C01，face_up = 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 C02，按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second → C02，兩張正面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 N：比較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result = True，turns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 N：結算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matched = True，matches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選牌只是排入 pending。每次 N 才推進一個階段。">
            <a:extLst xmlns:a="http://schemas.openxmlformats.org/drawingml/2006/main">
              <a:ext uri="{FF2B5EF4-FFF2-40B4-BE49-F238E27FC236}">
                <a16:creationId xmlns:a16="http://schemas.microsoft.com/office/drawing/2014/main" id="{4061F6D5-FEB9-4D4B-84CD-81AA3689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選牌只是排入 pending。每次 N 才推進一個階段。</a:t>
            </a:r>
          </a:p>
        </p:txBody>
      </p:sp>
      <p:sp>
        <p:nvSpPr>
          <p:cNvPr id="5" name="14">
            <a:extLst xmlns:a="http://schemas.openxmlformats.org/drawingml/2006/main">
              <a:ext uri="{FF2B5EF4-FFF2-40B4-BE49-F238E27FC236}">
                <a16:creationId xmlns:a16="http://schemas.microsoft.com/office/drawing/2014/main" id="{D7BB12B9-20B2-4B79-9377-58BA81FC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051570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失敗範例：C03 與 C04">
            <a:extLst xmlns:a="http://schemas.openxmlformats.org/drawingml/2006/main">
              <a:ext uri="{FF2B5EF4-FFF2-40B4-BE49-F238E27FC236}">
                <a16:creationId xmlns:a16="http://schemas.microsoft.com/office/drawing/2014/main" id="{97760089-BB76-4E53-BDFC-159A70FF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失敗範例：C03 與 C04</a:t>
            </a:r>
          </a:p>
        </p:txBody>
      </p:sp>
      <p:sp>
        <p:nvSpPr>
          <p:cNvPr id="2" name="載入「配對失敗」範例，比較 leaf 與 sun">
            <a:extLst xmlns:a="http://schemas.openxmlformats.org/drawingml/2006/main">
              <a:ext uri="{FF2B5EF4-FFF2-40B4-BE49-F238E27FC236}">
                <a16:creationId xmlns:a16="http://schemas.microsoft.com/office/drawing/2014/main" id="{248D8E57-6F59-4A2C-A172-664383EB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載入「配對失敗」範例，比較 leaf 與 sun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AF639-D102-44D9-BAD5-F7C545BA11FB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操作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可觀察結果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 C03，N；選 C04，N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leaf 與 sun 都是正面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 N：比較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result = False，turns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 N：結算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兩張 face_up = 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檢視 Board.cards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仍保存原物件，matches =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蓋回後仍是原來的 Card，不會重新建立兩張牌。">
            <a:extLst xmlns:a="http://schemas.openxmlformats.org/drawingml/2006/main">
              <a:ext uri="{FF2B5EF4-FFF2-40B4-BE49-F238E27FC236}">
                <a16:creationId xmlns:a16="http://schemas.microsoft.com/office/drawing/2014/main" id="{B1C0F890-DF68-4960-A1D3-3A19F5EC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蓋回後仍是原來的 Card，不會重新建立兩張牌。</a:t>
            </a:r>
          </a:p>
        </p:txBody>
      </p:sp>
      <p:sp>
        <p:nvSpPr>
          <p:cNvPr id="5" name="15">
            <a:extLst xmlns:a="http://schemas.openxmlformats.org/drawingml/2006/main">
              <a:ext uri="{FF2B5EF4-FFF2-40B4-BE49-F238E27FC236}">
                <a16:creationId xmlns:a16="http://schemas.microsoft.com/office/drawing/2014/main" id="{877CC2F1-7E13-4343-B9FD-A66543AF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6261167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參照、重設與物件身分">
            <a:extLst xmlns:a="http://schemas.openxmlformats.org/drawingml/2006/main">
              <a:ext uri="{FF2B5EF4-FFF2-40B4-BE49-F238E27FC236}">
                <a16:creationId xmlns:a16="http://schemas.microsoft.com/office/drawing/2014/main" id="{4421CF2F-B67A-431A-80A2-1D2E313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參照、重設與物件身分</a:t>
            </a:r>
          </a:p>
        </p:txBody>
      </p:sp>
      <p:sp>
        <p:nvSpPr>
          <p:cNvPr id="2" name="Python 的 is 檢查物件身分">
            <a:extLst xmlns:a="http://schemas.openxmlformats.org/drawingml/2006/main">
              <a:ext uri="{FF2B5EF4-FFF2-40B4-BE49-F238E27FC236}">
                <a16:creationId xmlns:a16="http://schemas.microsoft.com/office/drawing/2014/main" id="{F08C9A71-E1FC-4C11-AEE6-7EC5178E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Python 的 is 檢查物件身分</a:t>
            </a:r>
          </a:p>
        </p:txBody>
      </p:sp>
      <p:sp>
        <p:nvSpPr>
          <p:cNvPr id="3" name="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7516D18D-623D-4119-96DF-382F6F1D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 = Game(sample=True)</a:t>
            </a:r>
          </a:p>
        </p:txBody>
      </p:sp>
      <p:sp>
        <p:nvSpPr>
          <p:cNvPr id="4" name="game.play('C01')">
            <a:extLst xmlns:a="http://schemas.openxmlformats.org/drawingml/2006/main">
              <a:ext uri="{FF2B5EF4-FFF2-40B4-BE49-F238E27FC236}">
                <a16:creationId xmlns:a16="http://schemas.microsoft.com/office/drawing/2014/main" id="{B223A1CD-B111-4B1C-B18F-92D701EE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game.play('C01')</a:t>
            </a:r>
          </a:p>
        </p:txBody>
      </p:sp>
      <p:sp>
        <p:nvSpPr>
          <p:cNvPr id="5" name="card = game.first">
            <a:extLst xmlns:a="http://schemas.openxmlformats.org/drawingml/2006/main">
              <a:ext uri="{FF2B5EF4-FFF2-40B4-BE49-F238E27FC236}">
                <a16:creationId xmlns:a16="http://schemas.microsoft.com/office/drawing/2014/main" id="{BCDB7652-522D-4209-93EE-83C1F9FA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card = game.first</a:t>
            </a:r>
          </a:p>
        </p:txBody>
      </p:sp>
      <p:sp>
        <p:nvSpPr>
          <p:cNvPr id="6" name="print(card is game.board.cards[0])  # True">
            <a:extLst xmlns:a="http://schemas.openxmlformats.org/drawingml/2006/main">
              <a:ext uri="{FF2B5EF4-FFF2-40B4-BE49-F238E27FC236}">
                <a16:creationId xmlns:a16="http://schemas.microsoft.com/office/drawing/2014/main" id="{A5471D89-3530-4533-BCFE-70D092B1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game.board.cards[0])  # True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EB25E-8635-4C3D-9961-2C77CE3C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new_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725C5CC5-FD40-4C50-8C72-121B57F8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new_game = Game(sample=True)</a:t>
            </a:r>
          </a:p>
        </p:txBody>
      </p:sp>
      <p:sp>
        <p:nvSpPr>
          <p:cNvPr id="9" name="print(card is new_game.board.cards[0])  # False">
            <a:extLst xmlns:a="http://schemas.openxmlformats.org/drawingml/2006/main">
              <a:ext uri="{FF2B5EF4-FFF2-40B4-BE49-F238E27FC236}">
                <a16:creationId xmlns:a16="http://schemas.microsoft.com/office/drawing/2014/main" id="{2BDEFA4D-5F82-49F2-B7AC-78E64553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new_game.board.cards[0])  # False</a:t>
            </a:r>
          </a:p>
        </p:txBody>
      </p:sp>
      <p:sp>
        <p:nvSpPr>
          <p:cNvPr id="10" name="print(card.face_up)                    # True">
            <a:extLst xmlns:a="http://schemas.openxmlformats.org/drawingml/2006/main">
              <a:ext uri="{FF2B5EF4-FFF2-40B4-BE49-F238E27FC236}">
                <a16:creationId xmlns:a16="http://schemas.microsoft.com/office/drawing/2014/main" id="{A2800E00-D618-43A3-B5A3-CB87EE5C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print(card.face_up)                    # True</a:t>
            </a:r>
          </a:p>
        </p:txBody>
      </p:sp>
      <p:sp>
        <p:nvSpPr>
          <p:cNvPr id="11" name="新遊戲建立新的 Board 與 Card。">
            <a:extLst xmlns:a="http://schemas.openxmlformats.org/drawingml/2006/main">
              <a:ext uri="{FF2B5EF4-FFF2-40B4-BE49-F238E27FC236}">
                <a16:creationId xmlns:a16="http://schemas.microsoft.com/office/drawing/2014/main" id="{5ABF81FE-48A5-4F6A-988B-2251ABCB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新遊戲建立新的 Board 與 Card。</a:t>
            </a:r>
          </a:p>
        </p:txBody>
      </p:sp>
      <p:sp>
        <p:nvSpPr>
          <p:cNvPr id="12" name="外部變數 card 仍能參照上一局的物件。">
            <a:extLst xmlns:a="http://schemas.openxmlformats.org/drawingml/2006/main">
              <a:ext uri="{FF2B5EF4-FFF2-40B4-BE49-F238E27FC236}">
                <a16:creationId xmlns:a16="http://schemas.microsoft.com/office/drawing/2014/main" id="{F4FBE69A-E059-4AD7-97C0-6FC59696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外部變數 card 仍能參照上一局的物件。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D892C577-2C00-4C4A-819E-DAB804A5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749B47C-DC72-425C-AC9C-E0EE93DF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4507151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執行 Python 範例">
            <a:extLst xmlns:a="http://schemas.openxmlformats.org/drawingml/2006/main">
              <a:ext uri="{FF2B5EF4-FFF2-40B4-BE49-F238E27FC236}">
                <a16:creationId xmlns:a16="http://schemas.microsoft.com/office/drawing/2014/main" id="{3D969D14-11B7-4BB6-BC5F-659FF480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執行 Python 範例</a:t>
            </a:r>
          </a:p>
        </p:txBody>
      </p:sp>
      <p:sp>
        <p:nvSpPr>
          <p:cNvPr id="2" name="Python 3.12+，不需安裝額外套件">
            <a:extLst xmlns:a="http://schemas.openxmlformats.org/drawingml/2006/main">
              <a:ext uri="{FF2B5EF4-FFF2-40B4-BE49-F238E27FC236}">
                <a16:creationId xmlns:a16="http://schemas.microsoft.com/office/drawing/2014/main" id="{9C41A4B7-D190-4861-A02C-A4258C7B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Python 3.12+，不需安裝額外套件</a:t>
            </a:r>
          </a:p>
        </p:txBody>
      </p:sp>
      <p:sp>
        <p:nvSpPr>
          <p:cNvPr id="3" name="python main.py --lang zh --sample">
            <a:extLst xmlns:a="http://schemas.openxmlformats.org/drawingml/2006/main">
              <a:ext uri="{FF2B5EF4-FFF2-40B4-BE49-F238E27FC236}">
                <a16:creationId xmlns:a16="http://schemas.microsoft.com/office/drawing/2014/main" id="{00D1894D-8A18-4A53-A042-F032A624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main.py --lang zh --sample</a:t>
            </a:r>
          </a:p>
        </p:txBody>
      </p:sp>
      <p:sp>
        <p:nvSpPr>
          <p:cNvPr id="4" name="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07EAA620-5328-488A-95E1-E8C0F9BB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-m unittest discover -s tests -v</a:t>
            </a:r>
          </a:p>
        </p:txBody>
      </p:sp>
      <p:sp>
        <p:nvSpPr>
          <p:cNvPr id="5" name="在解壓縮後的 memory_oop 資料夾開啟終端機。">
            <a:extLst xmlns:a="http://schemas.openxmlformats.org/drawingml/2006/main">
              <a:ext uri="{FF2B5EF4-FFF2-40B4-BE49-F238E27FC236}">
                <a16:creationId xmlns:a16="http://schemas.microsoft.com/office/drawing/2014/main" id="{51C0E504-8911-4915-A8BE-30BB686E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在解壓縮後的 memory_oop 資料夾開啟終端機。</a:t>
            </a:r>
          </a:p>
        </p:txBody>
      </p:sp>
      <p:sp>
        <p:nvSpPr>
          <p:cNvPr id="6" name="指令：pick C01、step、inspect C01、confirm、sample、quit。">
            <a:extLst xmlns:a="http://schemas.openxmlformats.org/drawingml/2006/main">
              <a:ext uri="{FF2B5EF4-FFF2-40B4-BE49-F238E27FC236}">
                <a16:creationId xmlns:a16="http://schemas.microsoft.com/office/drawing/2014/main" id="{C5D25DBE-0DAC-40EF-A933-73B45795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指令：pick C01、step、inspect C01、confirm、sample、quit。</a:t>
            </a:r>
          </a:p>
        </p:txBody>
      </p:sp>
      <p:sp>
        <p:nvSpPr>
          <p:cNvPr id="7" name="Terminal / PowerShell">
            <a:extLst xmlns:a="http://schemas.openxmlformats.org/drawingml/2006/main">
              <a:ext uri="{FF2B5EF4-FFF2-40B4-BE49-F238E27FC236}">
                <a16:creationId xmlns:a16="http://schemas.microsoft.com/office/drawing/2014/main" id="{0FFA3FFB-088F-4C48-8DAF-E8164E6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 / PowerShell</a:t>
            </a:r>
          </a:p>
        </p:txBody>
      </p:sp>
      <p:sp>
        <p:nvSpPr>
          <p:cNvPr id="8" name="17">
            <a:extLst xmlns:a="http://schemas.openxmlformats.org/drawingml/2006/main">
              <a:ext uri="{FF2B5EF4-FFF2-40B4-BE49-F238E27FC236}">
                <a16:creationId xmlns:a16="http://schemas.microsoft.com/office/drawing/2014/main" id="{0C1F8E26-282B-4816-9296-76022BB3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95840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練習與參考">
            <a:extLst xmlns:a="http://schemas.openxmlformats.org/drawingml/2006/main">
              <a:ext uri="{FF2B5EF4-FFF2-40B4-BE49-F238E27FC236}">
                <a16:creationId xmlns:a16="http://schemas.microsoft.com/office/drawing/2014/main" id="{00CA404B-FE40-4955-AF78-2B87E046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練習與參考</a:t>
            </a:r>
          </a:p>
        </p:txBody>
      </p:sp>
      <p:sp>
        <p:nvSpPr>
          <p:cNvPr id="2" name="從可觀察的狀態檢查程式規則">
            <a:extLst xmlns:a="http://schemas.openxmlformats.org/drawingml/2006/main">
              <a:ext uri="{FF2B5EF4-FFF2-40B4-BE49-F238E27FC236}">
                <a16:creationId xmlns:a16="http://schemas.microsoft.com/office/drawing/2014/main" id="{31BF6AF0-CC98-4722-B4AD-3553A07C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從可觀察的狀態檢查程式規則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589BD372-A3AB-451B-9046-5D55B322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配對後呼叫 hide()，確認牌仍為正面。">
            <a:extLst xmlns:a="http://schemas.openxmlformats.org/drawingml/2006/main">
              <a:ext uri="{FF2B5EF4-FFF2-40B4-BE49-F238E27FC236}">
                <a16:creationId xmlns:a16="http://schemas.microsoft.com/office/drawing/2014/main" id="{7631254C-E37B-41F1-AD6D-A3B30CDE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配對後呼叫 hide()，確認牌仍為正面。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923566D0-7963-40C9-A07B-40A51CB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先保留 card 參照再建立新遊戲，比較物件身分。">
            <a:extLst xmlns:a="http://schemas.openxmlformats.org/drawingml/2006/main">
              <a:ext uri="{FF2B5EF4-FFF2-40B4-BE49-F238E27FC236}">
                <a16:creationId xmlns:a16="http://schemas.microsoft.com/office/drawing/2014/main" id="{0C14A1F9-6FD9-46C6-9B44-B4D1BC0C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028950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先保留 card 參照再建立新遊戲，比較物件身分。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92581061-C8CE-4403-AB1E-5B184864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0527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對照 TypeScript 與 Python：=== 用於網頁物件身分，is 用於 Python。">
            <a:extLst xmlns:a="http://schemas.openxmlformats.org/drawingml/2006/main">
              <a:ext uri="{FF2B5EF4-FFF2-40B4-BE49-F238E27FC236}">
                <a16:creationId xmlns:a16="http://schemas.microsoft.com/office/drawing/2014/main" id="{C2791178-902F-456B-8DD3-F15DB8B0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0527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對照 TypeScript 與 Python：=== 用於網頁物件身分，is 用於 Python。</a:t>
            </a:r>
          </a:p>
        </p:txBody>
      </p:sp>
      <p:sp>
        <p:nvSpPr>
          <p:cNvPr id="9" name="Python · Classes  https://docs.python.org/3.12/tutorial/classes.html">
            <a:extLst xmlns:a="http://schemas.openxmlformats.org/drawingml/2006/main">
              <a:ext uri="{FF2B5EF4-FFF2-40B4-BE49-F238E27FC236}">
                <a16:creationId xmlns:a16="http://schemas.microsoft.com/office/drawing/2014/main" id="{A1B26C72-86A5-4F08-A67B-2A26DE17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7687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Python · Classes  </a:t>
            </a:r>
            <a:r>
              <a: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2adb5cdcd444420d"/>
              </a:rPr>
              <a:t>https://docs.python.org/3.12/tutorial/classes.html</a:t>
            </a:r>
          </a:p>
        </p:txBody>
      </p:sp>
      <p:sp>
        <p:nvSpPr>
          <p:cNvPr id="10" name="Python · Identity  https://docs.python.org/3.12/reference/expressions.">
            <a:extLst xmlns:a="http://schemas.openxmlformats.org/drawingml/2006/main">
              <a:ext uri="{FF2B5EF4-FFF2-40B4-BE49-F238E27FC236}">
                <a16:creationId xmlns:a16="http://schemas.microsoft.com/office/drawing/2014/main" id="{AB908318-596B-4574-B074-F48017C7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2455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Python · Identity  </a:t>
            </a:r>
            <a:r>
              <a:rPr sz="1500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00f8937109b947b9"/>
              </a:rPr>
              <a:t>https://docs.python.org/3.12/reference/expressions.html#is-not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B2C1384C-97A1-4368-84D1-5DC3D3B8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156977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2026-10-21T01:51:22.9810000Z</dcterms:created>
  <dcterms:modified xsi:type="dcterms:W3CDTF">2026-10-21T01:51:22.9820000Z</dcterms:modified>
</coreProperties>
</file>