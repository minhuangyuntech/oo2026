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5c549620b04d29" /><Relationship Type="http://schemas.openxmlformats.org/officeDocument/2006/relationships/extended-properties" Target="/docProps/app.xml" Id="R681684f7263e41e1" /><Relationship Type="http://schemas.openxmlformats.org/officeDocument/2006/relationships/officeDocument" Target="/ppt/presentation.xml" Id="R9a9ef63351d0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61c9b39d34599"/>
  </p:sldMasterIdLst>
  <p:notesMasterIdLst>
    <p:notesMasterId xmlns:r="http://schemas.openxmlformats.org/officeDocument/2006/relationships" r:id="R721c9a87b03f4b04"/>
  </p:notesMasterIdLst>
  <p:sldIdLst>
    <p:sldId xmlns:r="http://schemas.openxmlformats.org/officeDocument/2006/relationships" id="256" r:id="R85e303e6bbc04309"/>
    <p:sldId xmlns:r="http://schemas.openxmlformats.org/officeDocument/2006/relationships" id="257" r:id="Rf6001c45fb2b4d91"/>
    <p:sldId xmlns:r="http://schemas.openxmlformats.org/officeDocument/2006/relationships" id="258" r:id="R09aba9aa7aa549a4"/>
    <p:sldId xmlns:r="http://schemas.openxmlformats.org/officeDocument/2006/relationships" id="259" r:id="Rfbbc086cc316488e"/>
    <p:sldId xmlns:r="http://schemas.openxmlformats.org/officeDocument/2006/relationships" id="260" r:id="Rfc9224dad58d45c8"/>
    <p:sldId xmlns:r="http://schemas.openxmlformats.org/officeDocument/2006/relationships" id="261" r:id="Rd52f14293085453a"/>
    <p:sldId xmlns:r="http://schemas.openxmlformats.org/officeDocument/2006/relationships" id="262" r:id="R78e6ca2bc3754ba9"/>
    <p:sldId xmlns:r="http://schemas.openxmlformats.org/officeDocument/2006/relationships" id="263" r:id="Rc7a28acd6cd04e55"/>
    <p:sldId xmlns:r="http://schemas.openxmlformats.org/officeDocument/2006/relationships" id="264" r:id="R2870ab1511fe4c75"/>
    <p:sldId xmlns:r="http://schemas.openxmlformats.org/officeDocument/2006/relationships" id="265" r:id="Re70228de68384b6b"/>
    <p:sldId xmlns:r="http://schemas.openxmlformats.org/officeDocument/2006/relationships" id="266" r:id="R54776e6e263b45f3"/>
    <p:sldId xmlns:r="http://schemas.openxmlformats.org/officeDocument/2006/relationships" id="267" r:id="Rb8ee859fb2ef41c9"/>
    <p:sldId xmlns:r="http://schemas.openxmlformats.org/officeDocument/2006/relationships" id="268" r:id="R7dd7e647b391473d"/>
    <p:sldId xmlns:r="http://schemas.openxmlformats.org/officeDocument/2006/relationships" id="269" r:id="R2c8e0292db374176"/>
    <p:sldId xmlns:r="http://schemas.openxmlformats.org/officeDocument/2006/relationships" id="270" r:id="R9fa04cbf83994bd6"/>
    <p:sldId xmlns:r="http://schemas.openxmlformats.org/officeDocument/2006/relationships" id="271" r:id="Rcba3805d55144731"/>
    <p:sldId xmlns:r="http://schemas.openxmlformats.org/officeDocument/2006/relationships" id="272" r:id="R537679730446450c"/>
    <p:sldId xmlns:r="http://schemas.openxmlformats.org/officeDocument/2006/relationships" id="273" r:id="R75110e3d2b154ef4"/>
    <p:sldId xmlns:r="http://schemas.openxmlformats.org/officeDocument/2006/relationships" id="274" r:id="Recb76a7ffea34b4b"/>
    <p:sldId xmlns:r="http://schemas.openxmlformats.org/officeDocument/2006/relationships" id="275" r:id="Rb717ff34222d414f"/>
    <p:sldId xmlns:r="http://schemas.openxmlformats.org/officeDocument/2006/relationships" id="276" r:id="R5085eff94ab64722"/>
    <p:sldId xmlns:r="http://schemas.openxmlformats.org/officeDocument/2006/relationships" id="277" r:id="R3a10759301784d76"/>
    <p:sldId xmlns:r="http://schemas.openxmlformats.org/officeDocument/2006/relationships" id="278" r:id="R69808f7aad1a4ac5"/>
    <p:sldId xmlns:r="http://schemas.openxmlformats.org/officeDocument/2006/relationships" id="279" r:id="R098ad3faadaf458a"/>
    <p:sldId xmlns:r="http://schemas.openxmlformats.org/officeDocument/2006/relationships" id="280" r:id="Re9620091376c4093"/>
    <p:sldId xmlns:r="http://schemas.openxmlformats.org/officeDocument/2006/relationships" id="281" r:id="R11a91d84df834478"/>
    <p:sldId xmlns:r="http://schemas.openxmlformats.org/officeDocument/2006/relationships" id="282" r:id="R489fae09ad294480"/>
    <p:sldId xmlns:r="http://schemas.openxmlformats.org/officeDocument/2006/relationships" id="283" r:id="R24f1cb3763f64a8a"/>
    <p:sldId xmlns:r="http://schemas.openxmlformats.org/officeDocument/2006/relationships" id="284" r:id="R95e5ead0eeae42a2"/>
    <p:sldId xmlns:r="http://schemas.openxmlformats.org/officeDocument/2006/relationships" id="285" r:id="Rd2db9b38694046b2"/>
    <p:sldId xmlns:r="http://schemas.openxmlformats.org/officeDocument/2006/relationships" id="286" r:id="R5fa4c3359ceb4be6"/>
    <p:sldId xmlns:r="http://schemas.openxmlformats.org/officeDocument/2006/relationships" id="287" r:id="Rc2a14e84473749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384083dd5471e" /><Relationship Type="http://schemas.openxmlformats.org/officeDocument/2006/relationships/slideMaster" Target="/ppt/slideMasters/slideMaster1.xml" Id="R99661c9b39d34599" /><Relationship Type="http://schemas.openxmlformats.org/officeDocument/2006/relationships/notesMaster" Target="/ppt/notesMasters/notesMaster1.xml" Id="R721c9a87b03f4b04" /><Relationship Type="http://schemas.openxmlformats.org/officeDocument/2006/relationships/presProps" Target="/ppt/presProps.xml" Id="R43c902456e064626" /><Relationship Type="http://schemas.openxmlformats.org/officeDocument/2006/relationships/tableStyles" Target="/ppt/tableStyles.xml" Id="R3eb2dc3e513f4e19" /><Relationship Type="http://schemas.openxmlformats.org/officeDocument/2006/relationships/slide" Target="/ppt/slides/slide1.xml" Id="R85e303e6bbc04309" /><Relationship Type="http://schemas.openxmlformats.org/officeDocument/2006/relationships/slide" Target="/ppt/slides/slide2.xml" Id="Rf6001c45fb2b4d91" /><Relationship Type="http://schemas.openxmlformats.org/officeDocument/2006/relationships/slide" Target="/ppt/slides/slide3.xml" Id="R09aba9aa7aa549a4" /><Relationship Type="http://schemas.openxmlformats.org/officeDocument/2006/relationships/slide" Target="/ppt/slides/slide4.xml" Id="Rfbbc086cc316488e" /><Relationship Type="http://schemas.openxmlformats.org/officeDocument/2006/relationships/slide" Target="/ppt/slides/slide5.xml" Id="Rfc9224dad58d45c8" /><Relationship Type="http://schemas.openxmlformats.org/officeDocument/2006/relationships/slide" Target="/ppt/slides/slide6.xml" Id="Rd52f14293085453a" /><Relationship Type="http://schemas.openxmlformats.org/officeDocument/2006/relationships/slide" Target="/ppt/slides/slide7.xml" Id="R78e6ca2bc3754ba9" /><Relationship Type="http://schemas.openxmlformats.org/officeDocument/2006/relationships/slide" Target="/ppt/slides/slide8.xml" Id="Rc7a28acd6cd04e55" /><Relationship Type="http://schemas.openxmlformats.org/officeDocument/2006/relationships/slide" Target="/ppt/slides/slide9.xml" Id="R2870ab1511fe4c75" /><Relationship Type="http://schemas.openxmlformats.org/officeDocument/2006/relationships/slide" Target="/ppt/slides/slide10.xml" Id="Re70228de68384b6b" /><Relationship Type="http://schemas.openxmlformats.org/officeDocument/2006/relationships/slide" Target="/ppt/slides/slide11.xml" Id="R54776e6e263b45f3" /><Relationship Type="http://schemas.openxmlformats.org/officeDocument/2006/relationships/slide" Target="/ppt/slides/slide12.xml" Id="Rb8ee859fb2ef41c9" /><Relationship Type="http://schemas.openxmlformats.org/officeDocument/2006/relationships/slide" Target="/ppt/slides/slide13.xml" Id="R7dd7e647b391473d" /><Relationship Type="http://schemas.openxmlformats.org/officeDocument/2006/relationships/slide" Target="/ppt/slides/slide14.xml" Id="R2c8e0292db374176" /><Relationship Type="http://schemas.openxmlformats.org/officeDocument/2006/relationships/slide" Target="/ppt/slides/slide15.xml" Id="R9fa04cbf83994bd6" /><Relationship Type="http://schemas.openxmlformats.org/officeDocument/2006/relationships/slide" Target="/ppt/slides/slide16.xml" Id="Rcba3805d55144731" /><Relationship Type="http://schemas.openxmlformats.org/officeDocument/2006/relationships/slide" Target="/ppt/slides/slide17.xml" Id="R537679730446450c" /><Relationship Type="http://schemas.openxmlformats.org/officeDocument/2006/relationships/slide" Target="/ppt/slides/slide18.xml" Id="R75110e3d2b154ef4" /><Relationship Type="http://schemas.openxmlformats.org/officeDocument/2006/relationships/slide" Target="/ppt/slides/slide19.xml" Id="Recb76a7ffea34b4b" /><Relationship Type="http://schemas.openxmlformats.org/officeDocument/2006/relationships/slide" Target="/ppt/slides/slide20.xml" Id="Rb717ff34222d414f" /><Relationship Type="http://schemas.openxmlformats.org/officeDocument/2006/relationships/slide" Target="/ppt/slides/slide21.xml" Id="R5085eff94ab64722" /><Relationship Type="http://schemas.openxmlformats.org/officeDocument/2006/relationships/slide" Target="/ppt/slides/slide22.xml" Id="R3a10759301784d76" /><Relationship Type="http://schemas.openxmlformats.org/officeDocument/2006/relationships/slide" Target="/ppt/slides/slide23.xml" Id="R69808f7aad1a4ac5" /><Relationship Type="http://schemas.openxmlformats.org/officeDocument/2006/relationships/slide" Target="/ppt/slides/slide24.xml" Id="R098ad3faadaf458a" /><Relationship Type="http://schemas.openxmlformats.org/officeDocument/2006/relationships/slide" Target="/ppt/slides/slide25.xml" Id="Re9620091376c4093" /><Relationship Type="http://schemas.openxmlformats.org/officeDocument/2006/relationships/slide" Target="/ppt/slides/slide26.xml" Id="R11a91d84df834478" /><Relationship Type="http://schemas.openxmlformats.org/officeDocument/2006/relationships/slide" Target="/ppt/slides/slide27.xml" Id="R489fae09ad294480" /><Relationship Type="http://schemas.openxmlformats.org/officeDocument/2006/relationships/slide" Target="/ppt/slides/slide28.xml" Id="R24f1cb3763f64a8a" /><Relationship Type="http://schemas.openxmlformats.org/officeDocument/2006/relationships/slide" Target="/ppt/slides/slide29.xml" Id="R95e5ead0eeae42a2" /><Relationship Type="http://schemas.openxmlformats.org/officeDocument/2006/relationships/slide" Target="/ppt/slides/slide30.xml" Id="Rd2db9b38694046b2" /><Relationship Type="http://schemas.openxmlformats.org/officeDocument/2006/relationships/slide" Target="/ppt/slides/slide31.xml" Id="R5fa4c3359ceb4be6" /><Relationship Type="http://schemas.openxmlformats.org/officeDocument/2006/relationships/slide" Target="/ppt/slides/slide32.xml" Id="Rc2a14e84473749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61240080bc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f88c745b14076" /><Relationship Type="http://schemas.openxmlformats.org/officeDocument/2006/relationships/notesMaster" Target="/ppt/notesMasters/notesMaster1.xml" Id="Rc3a1dfb5afe949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db123b08ba4cf4" /><Relationship Type="http://schemas.openxmlformats.org/officeDocument/2006/relationships/notesMaster" Target="/ppt/notesMasters/notesMaster1.xml" Id="R41f5fc1af95f48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8c8d2dd8a445b" /><Relationship Type="http://schemas.openxmlformats.org/officeDocument/2006/relationships/notesMaster" Target="/ppt/notesMasters/notesMaster1.xml" Id="R992d153fbc0d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0429b96a70468f" /><Relationship Type="http://schemas.openxmlformats.org/officeDocument/2006/relationships/notesMaster" Target="/ppt/notesMasters/notesMaster1.xml" Id="R64415bdf851a4e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3cea085ee74ced" /><Relationship Type="http://schemas.openxmlformats.org/officeDocument/2006/relationships/notesMaster" Target="/ppt/notesMasters/notesMaster1.xml" Id="Re818647e5a9c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d80d5481a94972" /><Relationship Type="http://schemas.openxmlformats.org/officeDocument/2006/relationships/notesMaster" Target="/ppt/notesMasters/notesMaster1.xml" Id="Rd39cb4dc5889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c73ebd35b34b54" /><Relationship Type="http://schemas.openxmlformats.org/officeDocument/2006/relationships/notesMaster" Target="/ppt/notesMasters/notesMaster1.xml" Id="R18e707eda61b42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d3cd7373444d5f" /><Relationship Type="http://schemas.openxmlformats.org/officeDocument/2006/relationships/notesMaster" Target="/ppt/notesMasters/notesMaster1.xml" Id="Rc7e1b5fef17942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e261ddc16142e1" /><Relationship Type="http://schemas.openxmlformats.org/officeDocument/2006/relationships/notesMaster" Target="/ppt/notesMasters/notesMaster1.xml" Id="R1098bd60fe5241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eb05407dd7446f" /><Relationship Type="http://schemas.openxmlformats.org/officeDocument/2006/relationships/notesMaster" Target="/ppt/notesMasters/notesMaster1.xml" Id="R591942b0f71546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aad789b31b43e4" /><Relationship Type="http://schemas.openxmlformats.org/officeDocument/2006/relationships/notesMaster" Target="/ppt/notesMasters/notesMaster1.xml" Id="R1642f10096e349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d45f67516046e4" /><Relationship Type="http://schemas.openxmlformats.org/officeDocument/2006/relationships/notesMaster" Target="/ppt/notesMasters/notesMaster1.xml" Id="Rf57b524c0d7243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3f019d24cc4db0" /><Relationship Type="http://schemas.openxmlformats.org/officeDocument/2006/relationships/notesMaster" Target="/ppt/notesMasters/notesMaster1.xml" Id="Re0b21546701a4a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7a7415ed924997" /><Relationship Type="http://schemas.openxmlformats.org/officeDocument/2006/relationships/notesMaster" Target="/ppt/notesMasters/notesMaster1.xml" Id="R25cc7b8ff6664c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7b65d832e5428d" /><Relationship Type="http://schemas.openxmlformats.org/officeDocument/2006/relationships/notesMaster" Target="/ppt/notesMasters/notesMaster1.xml" Id="R1faa42e7600742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b174f6a7a54cf6" /><Relationship Type="http://schemas.openxmlformats.org/officeDocument/2006/relationships/notesMaster" Target="/ppt/notesMasters/notesMaster1.xml" Id="R5a984abc4b3c4a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d69d1b57fc4df2" /><Relationship Type="http://schemas.openxmlformats.org/officeDocument/2006/relationships/notesMaster" Target="/ppt/notesMasters/notesMaster1.xml" Id="R1360c476932c49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783dc159424ceb" /><Relationship Type="http://schemas.openxmlformats.org/officeDocument/2006/relationships/notesMaster" Target="/ppt/notesMasters/notesMaster1.xml" Id="R871412c9434b48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dea5f56efc43ab" /><Relationship Type="http://schemas.openxmlformats.org/officeDocument/2006/relationships/notesMaster" Target="/ppt/notesMasters/notesMaster1.xml" Id="R02cab55b3d3742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60f3e573cb4d5d" /><Relationship Type="http://schemas.openxmlformats.org/officeDocument/2006/relationships/notesMaster" Target="/ppt/notesMasters/notesMaster1.xml" Id="Re7d1cce6055f45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8440317d1546fa" /><Relationship Type="http://schemas.openxmlformats.org/officeDocument/2006/relationships/notesMaster" Target="/ppt/notesMasters/notesMaster1.xml" Id="R89b94afe925f42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44f8c95b5341cd" /><Relationship Type="http://schemas.openxmlformats.org/officeDocument/2006/relationships/notesMaster" Target="/ppt/notesMasters/notesMaster1.xml" Id="R6e0b67b0114e42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dac09581a74ded" /><Relationship Type="http://schemas.openxmlformats.org/officeDocument/2006/relationships/notesMaster" Target="/ppt/notesMasters/notesMaster1.xml" Id="R434836aebe8742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f178408298490c" /><Relationship Type="http://schemas.openxmlformats.org/officeDocument/2006/relationships/notesMaster" Target="/ppt/notesMasters/notesMaster1.xml" Id="R6df57fc8177041c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f0ab68394564a2a" /><Relationship Type="http://schemas.openxmlformats.org/officeDocument/2006/relationships/notesMaster" Target="/ppt/notesMasters/notesMaster1.xml" Id="Rb4f6c2447d6246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f51e0253c64de0" /><Relationship Type="http://schemas.openxmlformats.org/officeDocument/2006/relationships/notesMaster" Target="/ppt/notesMasters/notesMaster1.xml" Id="Ra1bc75547e50458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ea9b0fdd19482c" /><Relationship Type="http://schemas.openxmlformats.org/officeDocument/2006/relationships/notesMaster" Target="/ppt/notesMasters/notesMaster1.xml" Id="Rdf7619f5d5f64d2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807aa27f4224b01" /><Relationship Type="http://schemas.openxmlformats.org/officeDocument/2006/relationships/notesMaster" Target="/ppt/notesMasters/notesMaster1.xml" Id="R572ed98c06ce4f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11780422dab4509" /><Relationship Type="http://schemas.openxmlformats.org/officeDocument/2006/relationships/notesMaster" Target="/ppt/notesMasters/notesMaster1.xml" Id="R50e7a82535d440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623ae1a3254824" /><Relationship Type="http://schemas.openxmlformats.org/officeDocument/2006/relationships/notesMaster" Target="/ppt/notesMasters/notesMaster1.xml" Id="R2d7199fafeb74aa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a79b68966f423b" /><Relationship Type="http://schemas.openxmlformats.org/officeDocument/2006/relationships/notesMaster" Target="/ppt/notesMasters/notesMaster1.xml" Id="R99484aed264f4a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02671d67c354663" /><Relationship Type="http://schemas.openxmlformats.org/officeDocument/2006/relationships/notesMaster" Target="/ppt/notesMasters/notesMaster1.xml" Id="Rb005e16413db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https://minhuangyuntech.github.io/oo2026/pygame/play/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b97b20df243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0f56ac83b43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a2c35acf145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2904b8ae840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e077b843949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41f0e28ec45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06A9CA-55BF-4223-9BD5-02291FACA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BF64CB-0DF4-46D9-819F-0B33B0B47E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52854E-640B-4EBA-BA29-AF042CEE4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001243-EC6C-462D-90CF-1A22A9B47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A356AE-2EB0-4E70-A292-05339EF1A2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A9C227-8AD1-45AC-9B03-4402845FFC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1FACF8-85E4-4117-9B7A-65B4F6C415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5171C9-42D7-4F81-9183-3FBF61A0B1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FA8C05-2383-4396-BD74-1EDB37473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2118DB-BC25-4BE8-B6F3-D28C57071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bc9e3884bb4ae2" /><Relationship Type="http://schemas.openxmlformats.org/officeDocument/2006/relationships/slideLayout" Target="/ppt/slideLayouts/slideLayout1.xml" Id="Rf7c7bb29d4c94be7" /><Relationship Type="http://schemas.openxmlformats.org/officeDocument/2006/relationships/slideLayout" Target="/ppt/slideLayouts/slideLayout2.xml" Id="R00c2e671d8474596" /><Relationship Type="http://schemas.openxmlformats.org/officeDocument/2006/relationships/slideLayout" Target="/ppt/slideLayouts/slideLayout3.xml" Id="Re3fd8657f6994685" /><Relationship Type="http://schemas.openxmlformats.org/officeDocument/2006/relationships/slideLayout" Target="/ppt/slideLayouts/slideLayout4.xml" Id="Rdc25e46f3df6452e" /><Relationship Type="http://schemas.openxmlformats.org/officeDocument/2006/relationships/slideLayout" Target="/ppt/slideLayouts/slideLayout5.xml" Id="R0940a1a8d3ce4bcf" /><Relationship Type="http://schemas.openxmlformats.org/officeDocument/2006/relationships/slideLayout" Target="/ppt/slideLayouts/slideLayout6.xml" Id="R5eab817f3387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7bb29d4c94be7"/>
    <p:sldLayoutId xmlns:r="http://schemas.openxmlformats.org/officeDocument/2006/relationships" id="2147483650" r:id="R00c2e671d8474596"/>
    <p:sldLayoutId xmlns:r="http://schemas.openxmlformats.org/officeDocument/2006/relationships" id="2147483651" r:id="Re3fd8657f6994685"/>
    <p:sldLayoutId xmlns:r="http://schemas.openxmlformats.org/officeDocument/2006/relationships" id="2147483652" r:id="Rdc25e46f3df6452e"/>
    <p:sldLayoutId xmlns:r="http://schemas.openxmlformats.org/officeDocument/2006/relationships" id="2147483653" r:id="R0940a1a8d3ce4bcf"/>
    <p:sldLayoutId xmlns:r="http://schemas.openxmlformats.org/officeDocument/2006/relationships" id="2147483654" r:id="R5eab817f3387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e73ea08ad4f21" /><Relationship Type="http://schemas.openxmlformats.org/officeDocument/2006/relationships/notesSlide" Target="/ppt/notesSlides/notesSlide1.xml" Id="Rbe35c6ba06a84e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1527fe2524a2e" /><Relationship Type="http://schemas.openxmlformats.org/officeDocument/2006/relationships/notesSlide" Target="/ppt/notesSlides/notesSlide2.xml" Id="R3e4dbbd067944f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4be283d16470d" /><Relationship Type="http://schemas.openxmlformats.org/officeDocument/2006/relationships/image" Target="/ppt/media/image.png" Id="R9f7dbad2c67a493d" /><Relationship Type="http://schemas.openxmlformats.org/officeDocument/2006/relationships/notesSlide" Target="/ppt/notesSlides/notesSlide3.xml" Id="R08f12378a19849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68c58858c45d2" /><Relationship Type="http://schemas.openxmlformats.org/officeDocument/2006/relationships/notesSlide" Target="/ppt/notesSlides/notesSlide4.xml" Id="R7b9b1f5d36714f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f216ca09640b5" /><Relationship Type="http://schemas.openxmlformats.org/officeDocument/2006/relationships/notesSlide" Target="/ppt/notesSlides/notesSlide5.xml" Id="Rf673ca8c562b4e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ec042b58b414a" /><Relationship Type="http://schemas.openxmlformats.org/officeDocument/2006/relationships/notesSlide" Target="/ppt/notesSlides/notesSlide6.xml" Id="Reba3663ddb294d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fed0a4f2349d0" /><Relationship Type="http://schemas.openxmlformats.org/officeDocument/2006/relationships/notesSlide" Target="/ppt/notesSlides/notesSlide7.xml" Id="R0e03c8ea28c44d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183d31acb4e9b" /><Relationship Type="http://schemas.openxmlformats.org/officeDocument/2006/relationships/notesSlide" Target="/ppt/notesSlides/notesSlide8.xml" Id="Raab3fc921c5645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657335ef247b4" /><Relationship Type="http://schemas.openxmlformats.org/officeDocument/2006/relationships/notesSlide" Target="/ppt/notesSlides/notesSlide9.xml" Id="R4edc71a82f3a47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80d9dd8cb40ff" /><Relationship Type="http://schemas.openxmlformats.org/officeDocument/2006/relationships/notesSlide" Target="/ppt/notesSlides/notesSlide10.xml" Id="Rb31391656d2841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e953077294548" /><Relationship Type="http://schemas.openxmlformats.org/officeDocument/2006/relationships/notesSlide" Target="/ppt/notesSlides/notesSlide11.xml" Id="Ra1de09e8faa241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43d2303fa408b" /><Relationship Type="http://schemas.openxmlformats.org/officeDocument/2006/relationships/notesSlide" Target="/ppt/notesSlides/notesSlide12.xml" Id="Re6c7af55d1e946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ed655d16a4bce" /><Relationship Type="http://schemas.openxmlformats.org/officeDocument/2006/relationships/notesSlide" Target="/ppt/notesSlides/notesSlide13.xml" Id="Rc7ab574c9f1f4c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dfd01f7fd4347" /><Relationship Type="http://schemas.openxmlformats.org/officeDocument/2006/relationships/notesSlide" Target="/ppt/notesSlides/notesSlide14.xml" Id="R3333153209e24f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7996a24e546f9" /><Relationship Type="http://schemas.openxmlformats.org/officeDocument/2006/relationships/notesSlide" Target="/ppt/notesSlides/notesSlide15.xml" Id="Rda1a70013efe43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b00bcf1824735" /><Relationship Type="http://schemas.openxmlformats.org/officeDocument/2006/relationships/notesSlide" Target="/ppt/notesSlides/notesSlide16.xml" Id="Ra6f8e779fbea4c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a3cd3dd5054a61" /><Relationship Type="http://schemas.openxmlformats.org/officeDocument/2006/relationships/notesSlide" Target="/ppt/notesSlides/notesSlide17.xml" Id="R86a0d78531a64c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9b067dcfa459c" /><Relationship Type="http://schemas.openxmlformats.org/officeDocument/2006/relationships/notesSlide" Target="/ppt/notesSlides/notesSlide18.xml" Id="R9a69d7a8c7f54f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c149ecd7a41ec" /><Relationship Type="http://schemas.openxmlformats.org/officeDocument/2006/relationships/notesSlide" Target="/ppt/notesSlides/notesSlide19.xml" Id="Ree77557fc11945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d6f4a45c24313" /><Relationship Type="http://schemas.openxmlformats.org/officeDocument/2006/relationships/notesSlide" Target="/ppt/notesSlides/notesSlide20.xml" Id="R1f1b6adee3f44c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3dcbffeb44be7" /><Relationship Type="http://schemas.openxmlformats.org/officeDocument/2006/relationships/notesSlide" Target="/ppt/notesSlides/notesSlide21.xml" Id="Re6674819b3b547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0acba19f04413" /><Relationship Type="http://schemas.openxmlformats.org/officeDocument/2006/relationships/notesSlide" Target="/ppt/notesSlides/notesSlide22.xml" Id="R149c3598b8c94b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8e215540a4897" /><Relationship Type="http://schemas.openxmlformats.org/officeDocument/2006/relationships/notesSlide" Target="/ppt/notesSlides/notesSlide23.xml" Id="Rb050f32bfb7043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aa9590ccf4128" /><Relationship Type="http://schemas.openxmlformats.org/officeDocument/2006/relationships/notesSlide" Target="/ppt/notesSlides/notesSlide24.xml" Id="Rc4783f9e725048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0cb1a16364cac" /><Relationship Type="http://schemas.openxmlformats.org/officeDocument/2006/relationships/notesSlide" Target="/ppt/notesSlides/notesSlide25.xml" Id="Race868ac3d3745d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4472c67c54249" /><Relationship Type="http://schemas.openxmlformats.org/officeDocument/2006/relationships/notesSlide" Target="/ppt/notesSlides/notesSlide26.xml" Id="Rd2c918d190ca4ba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b6b740e9f4d76" /><Relationship Type="http://schemas.openxmlformats.org/officeDocument/2006/relationships/notesSlide" Target="/ppt/notesSlides/notesSlide27.xml" Id="R6c7d8fa5ac6f43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122b6bb034a27" /><Relationship Type="http://schemas.openxmlformats.org/officeDocument/2006/relationships/image" Target="/ppt/media/image.jpeg" Id="Rb528c9c6766147fa" /><Relationship Type="http://schemas.openxmlformats.org/officeDocument/2006/relationships/hyperlink" Target="https://minhuangyuntech.github.io/oo2026/pygame/play/" TargetMode="External" Id="R6c112a8deba942be" /><Relationship Type="http://schemas.openxmlformats.org/officeDocument/2006/relationships/notesSlide" Target="/ppt/notesSlides/notesSlide28.xml" Id="R93d8487a087840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19cece6eb4089" /><Relationship Type="http://schemas.openxmlformats.org/officeDocument/2006/relationships/hyperlink" Target="https://minhuangyuntech.github.io/oo2026/materials/week-8-examples.zip" TargetMode="External" Id="R74db62b2f65f4f11" /><Relationship Type="http://schemas.openxmlformats.org/officeDocument/2006/relationships/notesSlide" Target="/ppt/notesSlides/notesSlide29.xml" Id="Re84d42e62f0f42c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b9509b7594ee4" /><Relationship Type="http://schemas.openxmlformats.org/officeDocument/2006/relationships/notesSlide" Target="/ppt/notesSlides/notesSlide30.xml" Id="Rafb9471c0a264f8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121792b6248d0" /><Relationship Type="http://schemas.openxmlformats.org/officeDocument/2006/relationships/notesSlide" Target="/ppt/notesSlides/notesSlide31.xml" Id="R58543ba37b4e49b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896e278ae43c5" /><Relationship Type="http://schemas.openxmlformats.org/officeDocument/2006/relationships/hyperlink" Target="https://docs.python.org/3.12/library/abc.html" TargetMode="External" Id="R0f0f2edf7c674c90" /><Relationship Type="http://schemas.openxmlformats.org/officeDocument/2006/relationships/hyperlink" Target="https://docs.python.org/3.12/library/typing.html#typing.Protocol" TargetMode="External" Id="R1364fd03afa14e67" /><Relationship Type="http://schemas.openxmlformats.org/officeDocument/2006/relationships/notesSlide" Target="/ppt/notesSlides/notesSlide32.xml" Id="Ra5c61c39adf6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第 8 週">
            <a:extLst xmlns:a="http://schemas.openxmlformats.org/drawingml/2006/main">
              <a:ext uri="{FF2B5EF4-FFF2-40B4-BE49-F238E27FC236}">
                <a16:creationId xmlns:a16="http://schemas.microsoft.com/office/drawing/2014/main" id="{B44330E0-1C89-44ED-84CC-DF0EC86E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100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OOP  /  第 8 週</a:t>
            </a:r>
          </a:p>
        </p:txBody>
      </p:sp>
      <p:sp>
        <p:nvSpPr>
          <p:cNvPr id="2" name="多型、抽象化與介面">
            <a:extLst xmlns:a="http://schemas.openxmlformats.org/drawingml/2006/main">
              <a:ext uri="{FF2B5EF4-FFF2-40B4-BE49-F238E27FC236}">
                <a16:creationId xmlns:a16="http://schemas.microsoft.com/office/drawing/2014/main" id="{DB5E94A9-70ED-4E89-82A9-6ACFBE3C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11049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多型、抽象化與介面</a:t>
            </a:r>
          </a:p>
        </p:txBody>
      </p:sp>
      <p:sp>
        <p:nvSpPr>
          <p:cNvPr id="3" name="以射擊遊戲理解共同介面與可替換物件">
            <a:extLst xmlns:a="http://schemas.openxmlformats.org/drawingml/2006/main">
              <a:ext uri="{FF2B5EF4-FFF2-40B4-BE49-F238E27FC236}">
                <a16:creationId xmlns:a16="http://schemas.microsoft.com/office/drawing/2014/main" id="{3295E9B3-85D8-4964-8C66-5252B30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以射擊遊戲理解共同介面與可替換物件</a:t>
            </a:r>
          </a:p>
        </p:txBody>
      </p:sp>
      <p:sp>
        <p:nvSpPr>
          <p:cNvPr id="4" name="Enemy · update(dt) · ABC · Protocol · Motion">
            <a:extLst xmlns:a="http://schemas.openxmlformats.org/drawingml/2006/main">
              <a:ext uri="{FF2B5EF4-FFF2-40B4-BE49-F238E27FC236}">
                <a16:creationId xmlns:a16="http://schemas.microsoft.com/office/drawing/2014/main" id="{38FD5DC0-9F88-4F4A-A161-10090109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8EDBE"/>
                </a:solidFill>
                <a:latin typeface="Consolas"/>
                <a:ea typeface="Consolas"/>
                <a:cs typeface="Consolas"/>
              </a:rPr>
              <a:t>Enemy · update(dt) · ABC · Protocol · Motion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7910F0A-0397-497D-8E63-558DE01E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4340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本週學習內容">
            <a:extLst xmlns:a="http://schemas.openxmlformats.org/drawingml/2006/main">
              <a:ext uri="{FF2B5EF4-FFF2-40B4-BE49-F238E27FC236}">
                <a16:creationId xmlns:a16="http://schemas.microsoft.com/office/drawing/2014/main" id="{41266C7E-08A0-4060-B81B-DE19BEE6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本週學習內容</a:t>
            </a:r>
          </a:p>
        </p:txBody>
      </p:sp>
      <p:sp>
        <p:nvSpPr>
          <p:cNvPr id="2" name="同一個呼叫，可以交給不同物件完成">
            <a:extLst xmlns:a="http://schemas.openxmlformats.org/drawingml/2006/main">
              <a:ext uri="{FF2B5EF4-FFF2-40B4-BE49-F238E27FC236}">
                <a16:creationId xmlns:a16="http://schemas.microsoft.com/office/drawing/2014/main" id="{6118311C-D8D5-4FCE-8E3B-8F953A8E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同一個呼叫，可以交給不同物件完成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3E909C7-7F6E-4389-9697-B4FA4189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追蹤 update(dt)，理解多型與動態繫結。">
            <a:extLst xmlns:a="http://schemas.openxmlformats.org/drawingml/2006/main">
              <a:ext uri="{FF2B5EF4-FFF2-40B4-BE49-F238E27FC236}">
                <a16:creationId xmlns:a16="http://schemas.microsoft.com/office/drawing/2014/main" id="{2A645239-1542-4278-93D7-D9C2B16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追蹤 update(dt)，理解多型與動態繫結。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FFD380E2-1119-45A4-BE27-0C281D1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比較鴨子型別、ABC 與 Protocol。">
            <a:extLst xmlns:a="http://schemas.openxmlformats.org/drawingml/2006/main">
              <a:ext uri="{FF2B5EF4-FFF2-40B4-BE49-F238E27FC236}">
                <a16:creationId xmlns:a16="http://schemas.microsoft.com/office/drawing/2014/main" id="{16852471-5E02-4A97-A36F-3B9262C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比較鴨子型別、ABC 與 Protocol。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42D9BB30-AF01-4B06-BE28-16694A71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新增敵人行為，並以組合替換移動策略。">
            <a:extLst xmlns:a="http://schemas.openxmlformats.org/drawingml/2006/main">
              <a:ext uri="{FF2B5EF4-FFF2-40B4-BE49-F238E27FC236}">
                <a16:creationId xmlns:a16="http://schemas.microsoft.com/office/drawing/2014/main" id="{C7DE57F9-1606-4A16-8BE9-26E2ADFC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新增敵人行為，並以組合替換移動策略。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1E644D9D-87C9-4AFC-A39F-D5D31A4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5437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原射擊遊戲中的物件">
            <a:extLst xmlns:a="http://schemas.openxmlformats.org/drawingml/2006/main">
              <a:ext uri="{FF2B5EF4-FFF2-40B4-BE49-F238E27FC236}">
                <a16:creationId xmlns:a16="http://schemas.microsoft.com/office/drawing/2014/main" id="{F3C183C2-315C-4900-8822-07D8595F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原射擊遊戲中的物件</a:t>
            </a:r>
          </a:p>
        </p:txBody>
      </p:sp>
      <p:sp>
        <p:nvSpPr>
          <p:cNvPr id="2" name="Game 管理 Player、Enemy 與 Bullet">
            <a:extLst xmlns:a="http://schemas.openxmlformats.org/drawingml/2006/main">
              <a:ext uri="{FF2B5EF4-FFF2-40B4-BE49-F238E27FC236}">
                <a16:creationId xmlns:a16="http://schemas.microsoft.com/office/drawing/2014/main" id="{3705762F-C558-4A04-AC9D-EDDA1D19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Game 管理 Player、Enemy 與 Bullet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70DA8-F88F-4569-8851-60DA5A2D2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dbad2c67a493d"/>
          <a:stretch xmlns:a="http://schemas.openxmlformats.org/drawingml/2006/main"/>
        </p:blipFill>
        <p:spPr>
          <a:xfrm xmlns:a="http://schemas.openxmlformats.org/drawingml/2006/main">
            <a:off x="678656" y="1838325"/>
            <a:ext cx="6786563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每個角色保存自己的位置、速度與狀態。">
            <a:extLst xmlns:a="http://schemas.openxmlformats.org/drawingml/2006/main">
              <a:ext uri="{FF2B5EF4-FFF2-40B4-BE49-F238E27FC236}">
                <a16:creationId xmlns:a16="http://schemas.microsoft.com/office/drawing/2014/main" id="{5B7772FF-1E9A-4516-9424-645C27A3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每個角色保存自己的位置、速度與狀態。</a:t>
            </a:r>
          </a:p>
        </p:txBody>
      </p:sp>
      <p:sp>
        <p:nvSpPr>
          <p:cNvPr id="5" name="Game 透過群組呼叫更新，角色負責自己的行為。">
            <a:extLst xmlns:a="http://schemas.openxmlformats.org/drawingml/2006/main">
              <a:ext uri="{FF2B5EF4-FFF2-40B4-BE49-F238E27FC236}">
                <a16:creationId xmlns:a16="http://schemas.microsoft.com/office/drawing/2014/main" id="{A4033E3B-2586-4C58-B98C-63C179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71900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Game 透過群組呼叫更新，角色負責自己的行為。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A373A46E-ED19-4508-AED6-748ADB42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7990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既有類別與更新責任">
            <a:extLst xmlns:a="http://schemas.openxmlformats.org/drawingml/2006/main">
              <a:ext uri="{FF2B5EF4-FFF2-40B4-BE49-F238E27FC236}">
                <a16:creationId xmlns:a16="http://schemas.microsoft.com/office/drawing/2014/main" id="{A89103D6-638D-4D41-9C45-F7051FF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既有類別與更新責任</a:t>
            </a:r>
          </a:p>
        </p:txBody>
      </p:sp>
      <p:sp>
        <p:nvSpPr>
          <p:cNvPr id="2" name="Enemy 直接沿用 Actor.update()">
            <a:extLst xmlns:a="http://schemas.openxmlformats.org/drawingml/2006/main">
              <a:ext uri="{FF2B5EF4-FFF2-40B4-BE49-F238E27FC236}">
                <a16:creationId xmlns:a16="http://schemas.microsoft.com/office/drawing/2014/main" id="{8558AF05-9ED4-4C73-83AA-FEB6CDDC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Enemy 直接沿用 Actor.update()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64F80-327F-4B83-9C58-97D971F95E7A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 velocity 移動並同步 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共同移動，再限制範圍與更新冷卻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沿用 Actor 的移動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共同移動，再移除離開畫面的子彈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繼承的方法也能參與多型，不必每個子類別都覆寫。">
            <a:extLst xmlns:a="http://schemas.openxmlformats.org/drawingml/2006/main">
              <a:ext uri="{FF2B5EF4-FFF2-40B4-BE49-F238E27FC236}">
                <a16:creationId xmlns:a16="http://schemas.microsoft.com/office/drawing/2014/main" id="{9C54D688-9352-4D64-8AA2-F77EA295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繼承的方法也能參與多型，不必每個子類別都覆寫。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CFDE8E13-3FEB-41F9-A174-C5DE024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9558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一次呼叫，更新整個群組">
            <a:extLst xmlns:a="http://schemas.openxmlformats.org/drawingml/2006/main">
              <a:ext uri="{FF2B5EF4-FFF2-40B4-BE49-F238E27FC236}">
                <a16:creationId xmlns:a16="http://schemas.microsoft.com/office/drawing/2014/main" id="{9A743E3A-4FB3-43C7-8DC6-B61FC37E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一次呼叫，更新整個群組</a:t>
            </a:r>
          </a:p>
        </p:txBody>
      </p:sp>
      <p:sp>
        <p:nvSpPr>
          <p:cNvPr id="2" name="原遊戲 game.py 的 Game.update()">
            <a:extLst xmlns:a="http://schemas.openxmlformats.org/drawingml/2006/main">
              <a:ext uri="{FF2B5EF4-FFF2-40B4-BE49-F238E27FC236}">
                <a16:creationId xmlns:a16="http://schemas.microsoft.com/office/drawing/2014/main" id="{F3F843E4-7E3B-4777-8E49-E99D0F5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原遊戲 game.py 的 Game.update()</a:t>
            </a:r>
          </a:p>
        </p:txBody>
      </p:sp>
      <p:sp>
        <p:nvSpPr>
          <p:cNvPr id="3" name="self.all_sprites.update(dt)">
            <a:extLst xmlns:a="http://schemas.openxmlformats.org/drawingml/2006/main">
              <a:ext uri="{FF2B5EF4-FFF2-40B4-BE49-F238E27FC236}">
                <a16:creationId xmlns:a16="http://schemas.microsoft.com/office/drawing/2014/main" id="{D5D31D00-5DF4-4C0D-9F0C-7C25EF0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self.all_sprites.update(dt)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419D4-7100-44E3-8ABE-36F23F3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# Conceptual equivalent:">
            <a:extLst xmlns:a="http://schemas.openxmlformats.org/drawingml/2006/main">
              <a:ext uri="{FF2B5EF4-FFF2-40B4-BE49-F238E27FC236}">
                <a16:creationId xmlns:a16="http://schemas.microsoft.com/office/drawing/2014/main" id="{58ADCB97-A6BA-44FF-AF91-71C8960F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Conceptual equivalent:</a:t>
            </a:r>
          </a:p>
        </p:txBody>
      </p:sp>
      <p:sp>
        <p:nvSpPr>
          <p:cNvPr id="6" name="for actor in self.all_sprites:">
            <a:extLst xmlns:a="http://schemas.openxmlformats.org/drawingml/2006/main">
              <a:ext uri="{FF2B5EF4-FFF2-40B4-BE49-F238E27FC236}">
                <a16:creationId xmlns:a16="http://schemas.microsoft.com/office/drawing/2014/main" id="{74530D99-CB66-447D-A1CA-2B311916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actor in self.all_sprites:</a:t>
            </a:r>
          </a:p>
        </p:txBody>
      </p:sp>
      <p:sp>
        <p:nvSpPr>
          <p:cNvPr id="7" name="    actor.update(dt)">
            <a:extLst xmlns:a="http://schemas.openxmlformats.org/drawingml/2006/main">
              <a:ext uri="{FF2B5EF4-FFF2-40B4-BE49-F238E27FC236}">
                <a16:creationId xmlns:a16="http://schemas.microsoft.com/office/drawing/2014/main" id="{17B1DA3D-9A67-4814-B276-0DD2715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actor.update(dt)</a:t>
            </a:r>
          </a:p>
        </p:txBody>
      </p:sp>
      <p:sp>
        <p:nvSpPr>
          <p:cNvPr id="8" name="Group.update(dt) 把同一個 dt 傳給每個 Sprite 的 update。">
            <a:extLst xmlns:a="http://schemas.openxmlformats.org/drawingml/2006/main">
              <a:ext uri="{FF2B5EF4-FFF2-40B4-BE49-F238E27FC236}">
                <a16:creationId xmlns:a16="http://schemas.microsoft.com/office/drawing/2014/main" id="{A991A936-6DAC-441A-8632-6BD522E0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Group.update(dt) 把同一個 dt 傳給每個 Sprite 的 update。</a:t>
            </a:r>
          </a:p>
        </p:txBody>
      </p:sp>
      <p:sp>
        <p:nvSpPr>
          <p:cNvPr id="9" name="群組不會收集各 update 的回傳值。">
            <a:extLst xmlns:a="http://schemas.openxmlformats.org/drawingml/2006/main">
              <a:ext uri="{FF2B5EF4-FFF2-40B4-BE49-F238E27FC236}">
                <a16:creationId xmlns:a16="http://schemas.microsoft.com/office/drawing/2014/main" id="{04433726-5EBA-4A7A-8508-C2C18393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群組不會收集各 update 的回傳值。</a:t>
            </a:r>
          </a:p>
        </p:txBody>
      </p:sp>
      <p:sp>
        <p:nvSpPr>
          <p:cNvPr id="10" name="game.py / Game.update">
            <a:extLst xmlns:a="http://schemas.openxmlformats.org/drawingml/2006/main">
              <a:ext uri="{FF2B5EF4-FFF2-40B4-BE49-F238E27FC236}">
                <a16:creationId xmlns:a16="http://schemas.microsoft.com/office/drawing/2014/main" id="{41B19236-9616-478B-BB52-212A87A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/ Game.update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398CE8F9-955D-4702-9696-D8E9C70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1689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動態繫結的呼叫路徑">
            <a:extLst xmlns:a="http://schemas.openxmlformats.org/drawingml/2006/main">
              <a:ext uri="{FF2B5EF4-FFF2-40B4-BE49-F238E27FC236}">
                <a16:creationId xmlns:a16="http://schemas.microsoft.com/office/drawing/2014/main" id="{FBBDDB14-C604-4448-8FF6-2C266694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動態繫結的呼叫路徑</a:t>
            </a:r>
          </a:p>
        </p:txBody>
      </p:sp>
      <p:sp>
        <p:nvSpPr>
          <p:cNvPr id="2" name="呼叫時依物件的實際類別尋找方法">
            <a:extLst xmlns:a="http://schemas.openxmlformats.org/drawingml/2006/main">
              <a:ext uri="{FF2B5EF4-FFF2-40B4-BE49-F238E27FC236}">
                <a16:creationId xmlns:a16="http://schemas.microsoft.com/office/drawing/2014/main" id="{024099EC-B0F4-437B-9FA5-97F306BF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呼叫時依物件的實際類別尋找方法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D096C-9A87-4D91-A5EC-82A1BF8A6771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3714750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實際物件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找到的方法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後續呼叫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player: 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super().update(dt)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E01: 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Actor.update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B01: 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Bullet.update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super().update(dt)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迴圈變數都叫 actor，實際參照的物件可以不同。">
            <a:extLst xmlns:a="http://schemas.openxmlformats.org/drawingml/2006/main">
              <a:ext uri="{FF2B5EF4-FFF2-40B4-BE49-F238E27FC236}">
                <a16:creationId xmlns:a16="http://schemas.microsoft.com/office/drawing/2014/main" id="{B902C192-6F55-40E8-989F-CEBBF6A9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迴圈變數都叫 actor，實際參照的物件可以不同。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D8A3C4C0-0D18-4C1F-BCC9-09DAA076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645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共同移動與 dt">
            <a:extLst xmlns:a="http://schemas.openxmlformats.org/drawingml/2006/main">
              <a:ext uri="{FF2B5EF4-FFF2-40B4-BE49-F238E27FC236}">
                <a16:creationId xmlns:a16="http://schemas.microsoft.com/office/drawing/2014/main" id="{F6071B32-92C9-46D2-99C4-56144055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共同移動與 dt</a:t>
            </a:r>
          </a:p>
        </p:txBody>
      </p:sp>
      <p:sp>
        <p:nvSpPr>
          <p:cNvPr id="2" name="dt 的單位是秒，velocity 的單位是像素／秒">
            <a:extLst xmlns:a="http://schemas.openxmlformats.org/drawingml/2006/main">
              <a:ext uri="{FF2B5EF4-FFF2-40B4-BE49-F238E27FC236}">
                <a16:creationId xmlns:a16="http://schemas.microsoft.com/office/drawing/2014/main" id="{1148B59B-746F-4F82-9C69-6749C25B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dt 的單位是秒，velocity 的單位是像素／秒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587C7DD1-116E-4B48-97DC-58E8882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673CBEE4-24B7-47D4-9954-A1F13F5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+= self.velocity * dt</a:t>
            </a:r>
          </a:p>
        </p:txBody>
      </p:sp>
      <p:sp>
        <p:nvSpPr>
          <p:cNvPr id="5" name="    self.rect.center = (round(self.pos.x), round(self.pos.y))">
            <a:extLst xmlns:a="http://schemas.openxmlformats.org/drawingml/2006/main">
              <a:ext uri="{FF2B5EF4-FFF2-40B4-BE49-F238E27FC236}">
                <a16:creationId xmlns:a16="http://schemas.microsoft.com/office/drawing/2014/main" id="{61319804-F9BF-485C-B73E-65BAD646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self.rect.center = (round(self.pos.x), round(self.pos.y))</a:t>
            </a:r>
          </a:p>
        </p:txBody>
      </p:sp>
      <p:sp>
        <p:nvSpPr>
          <p:cNvPr id="6" name="子彈速度 −620，dt=0.5 時，y 減少 310 像素。">
            <a:extLst xmlns:a="http://schemas.openxmlformats.org/drawingml/2006/main">
              <a:ext uri="{FF2B5EF4-FFF2-40B4-BE49-F238E27FC236}">
                <a16:creationId xmlns:a16="http://schemas.microsoft.com/office/drawing/2014/main" id="{3F397DE7-1614-48FC-85B9-56013FC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子彈速度 −620，dt=0.5 時，y 減少 310 像素。</a:t>
            </a:r>
          </a:p>
        </p:txBody>
      </p:sp>
      <p:sp>
        <p:nvSpPr>
          <p:cNvPr id="7" name="pos 保留小數，rect 使用整數座標進行繪圖與碰撞。">
            <a:extLst xmlns:a="http://schemas.openxmlformats.org/drawingml/2006/main">
              <a:ext uri="{FF2B5EF4-FFF2-40B4-BE49-F238E27FC236}">
                <a16:creationId xmlns:a16="http://schemas.microsoft.com/office/drawing/2014/main" id="{5130D321-3A12-467B-A539-086090FD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pos 保留小數，rect 使用整數座標進行繪圖與碰撞。</a:t>
            </a:r>
          </a:p>
        </p:txBody>
      </p:sp>
      <p:sp>
        <p:nvSpPr>
          <p:cNvPr id="8" name="actors.py / Actor.update">
            <a:extLst xmlns:a="http://schemas.openxmlformats.org/drawingml/2006/main">
              <a:ext uri="{FF2B5EF4-FFF2-40B4-BE49-F238E27FC236}">
                <a16:creationId xmlns:a16="http://schemas.microsoft.com/office/drawing/2014/main" id="{EFEAF0D6-6E0C-4116-B70C-8BF1468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Actor.update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A763B2D9-C293-4905-8514-2B81192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6241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覆寫與 super()">
            <a:extLst xmlns:a="http://schemas.openxmlformats.org/drawingml/2006/main">
              <a:ext uri="{FF2B5EF4-FFF2-40B4-BE49-F238E27FC236}">
                <a16:creationId xmlns:a16="http://schemas.microsoft.com/office/drawing/2014/main" id="{2CEE5558-9E95-4BC1-897B-270F850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覆寫與 super()</a:t>
            </a:r>
          </a:p>
        </p:txBody>
      </p:sp>
      <p:sp>
        <p:nvSpPr>
          <p:cNvPr id="2" name="Bullet 在共同移動後加入自己的規則">
            <a:extLst xmlns:a="http://schemas.openxmlformats.org/drawingml/2006/main">
              <a:ext uri="{FF2B5EF4-FFF2-40B4-BE49-F238E27FC236}">
                <a16:creationId xmlns:a16="http://schemas.microsoft.com/office/drawing/2014/main" id="{FAC0F749-9B3E-41E9-B518-018F8D2D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Bullet 在共同移動後加入自己的規則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BC5F4E61-E1B8-4A7B-991D-F712421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E32DAFB8-899E-47F3-82D0-A5DEAD1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super().update(dt)</a:t>
            </a:r>
          </a:p>
        </p:txBody>
      </p:sp>
      <p:sp>
        <p:nvSpPr>
          <p:cNvPr id="5" name="    if self.rect.bottom &lt; PLAY_AREA.top:">
            <a:extLst xmlns:a="http://schemas.openxmlformats.org/drawingml/2006/main">
              <a:ext uri="{FF2B5EF4-FFF2-40B4-BE49-F238E27FC236}">
                <a16:creationId xmlns:a16="http://schemas.microsoft.com/office/drawing/2014/main" id="{32BCCF66-0D66-4581-A003-5FB7BA61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self.rect.bottom &lt; PLAY_AREA.top:</a:t>
            </a:r>
          </a:p>
        </p:txBody>
      </p:sp>
      <p:sp>
        <p:nvSpPr>
          <p:cNvPr id="6" name="        self.kill()">
            <a:extLst xmlns:a="http://schemas.openxmlformats.org/drawingml/2006/main">
              <a:ext uri="{FF2B5EF4-FFF2-40B4-BE49-F238E27FC236}">
                <a16:creationId xmlns:a16="http://schemas.microsoft.com/office/drawing/2014/main" id="{6BD134B8-6F74-44A9-9E40-8530164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self.kill()</a:t>
            </a:r>
          </a:p>
        </p:txBody>
      </p:sp>
      <p:sp>
        <p:nvSpPr>
          <p:cNvPr id="7" name="此單一繼承鏈中，super().update(dt) 呼叫 Actor.update。">
            <a:extLst xmlns:a="http://schemas.openxmlformats.org/drawingml/2006/main">
              <a:ext uri="{FF2B5EF4-FFF2-40B4-BE49-F238E27FC236}">
                <a16:creationId xmlns:a16="http://schemas.microsoft.com/office/drawing/2014/main" id="{BF9BF008-4820-4627-8FEF-9370A68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此單一繼承鏈中，super().update(dt) 呼叫 Actor.update。</a:t>
            </a:r>
          </a:p>
        </p:txBody>
      </p:sp>
      <p:sp>
        <p:nvSpPr>
          <p:cNvPr id="8" name="子彈離開上方邊界時，kill() 將它從所有群組移除。">
            <a:extLst xmlns:a="http://schemas.openxmlformats.org/drawingml/2006/main">
              <a:ext uri="{FF2B5EF4-FFF2-40B4-BE49-F238E27FC236}">
                <a16:creationId xmlns:a16="http://schemas.microsoft.com/office/drawing/2014/main" id="{EFB2163B-E8EE-4DA7-8459-0141617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子彈離開上方邊界時，kill() 將它從所有群組移除。</a:t>
            </a:r>
          </a:p>
        </p:txBody>
      </p:sp>
      <p:sp>
        <p:nvSpPr>
          <p:cNvPr id="9" name="actors.py / Bullet.update">
            <a:extLst xmlns:a="http://schemas.openxmlformats.org/drawingml/2006/main">
              <a:ext uri="{FF2B5EF4-FFF2-40B4-BE49-F238E27FC236}">
                <a16:creationId xmlns:a16="http://schemas.microsoft.com/office/drawing/2014/main" id="{466DACD0-BA9F-4667-A9D6-3964BF67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Bullet.update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86B39865-62AC-4DA3-91A4-BD8E4B2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9299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新增左右擺動的敵人">
            <a:extLst xmlns:a="http://schemas.openxmlformats.org/drawingml/2006/main">
              <a:ext uri="{FF2B5EF4-FFF2-40B4-BE49-F238E27FC236}">
                <a16:creationId xmlns:a16="http://schemas.microsoft.com/office/drawing/2014/main" id="{45E3E32C-2C35-4AE7-BD2A-640D8EC4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新增左右擺動的敵人</a:t>
            </a:r>
          </a:p>
        </p:txBody>
      </p:sp>
      <p:sp>
        <p:nvSpPr>
          <p:cNvPr id="2" name="第 8 週新增的 WeavingEnemy">
            <a:extLst xmlns:a="http://schemas.openxmlformats.org/drawingml/2006/main">
              <a:ext uri="{FF2B5EF4-FFF2-40B4-BE49-F238E27FC236}">
                <a16:creationId xmlns:a16="http://schemas.microsoft.com/office/drawing/2014/main" id="{7B44DF6B-24B6-4E2A-917D-D6F0883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第 8 週新增的 WeavingEnemy</a:t>
            </a:r>
          </a:p>
        </p:txBody>
      </p:sp>
      <p:sp>
        <p:nvSpPr>
          <p:cNvPr id="3" name="class WeavingEnemy(Enemy):">
            <a:extLst xmlns:a="http://schemas.openxmlformats.org/drawingml/2006/main">
              <a:ext uri="{FF2B5EF4-FFF2-40B4-BE49-F238E27FC236}">
                <a16:creationId xmlns:a16="http://schemas.microsoft.com/office/drawing/2014/main" id="{B47AA5CB-4473-4976-BDD5-7DDE221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WeavingEnemy(Enemy):</a:t>
            </a:r>
          </a:p>
        </p:txBody>
      </p:sp>
      <p:sp>
        <p:nvSpPr>
          <p:cNvPr id="4" name="    def __init__(self, name, position, speed=80, hp=1):">
            <a:extLst xmlns:a="http://schemas.openxmlformats.org/drawingml/2006/main">
              <a:ext uri="{FF2B5EF4-FFF2-40B4-BE49-F238E27FC236}">
                <a16:creationId xmlns:a16="http://schemas.microsoft.com/office/drawing/2014/main" id="{835DEF52-EC77-42E9-BC4E-F1940058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speed=80, hp=1):</a:t>
            </a:r>
          </a:p>
        </p:txBody>
      </p:sp>
      <p:sp>
        <p:nvSpPr>
          <p:cNvPr id="5" name="        super().__init__(name, position, speed, hp)">
            <a:extLst xmlns:a="http://schemas.openxmlformats.org/drawingml/2006/main">
              <a:ext uri="{FF2B5EF4-FFF2-40B4-BE49-F238E27FC236}">
                <a16:creationId xmlns:a16="http://schemas.microsoft.com/office/drawing/2014/main" id="{2B288964-B975-49C6-BF3D-5F892483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speed, hp)</a:t>
            </a:r>
          </a:p>
        </p:txBody>
      </p:sp>
      <p:sp>
        <p:nvSpPr>
          <p:cNvPr id="6" name="        self.elapsed = 0.0">
            <a:extLst xmlns:a="http://schemas.openxmlformats.org/drawingml/2006/main">
              <a:ext uri="{FF2B5EF4-FFF2-40B4-BE49-F238E27FC236}">
                <a16:creationId xmlns:a16="http://schemas.microsoft.com/office/drawing/2014/main" id="{49D6A6F6-2857-4608-A4B3-571B105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= 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FDB54-010C-4DBF-8103-F82A6594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35CC8A8E-DBEC-456F-A1A6-30493E46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9" name="        self.elapsed += dt">
            <a:extLst xmlns:a="http://schemas.openxmlformats.org/drawingml/2006/main">
              <a:ext uri="{FF2B5EF4-FFF2-40B4-BE49-F238E27FC236}">
                <a16:creationId xmlns:a16="http://schemas.microsoft.com/office/drawing/2014/main" id="{CEA4C4F2-FE27-45B3-9AC9-FB100E0E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+= dt</a:t>
            </a:r>
          </a:p>
        </p:txBody>
      </p:sp>
      <p:sp>
        <p:nvSpPr>
          <p:cNvPr id="10" name="        self.velocity.x = 100 * cos(3 * self.elapsed)">
            <a:extLst xmlns:a="http://schemas.openxmlformats.org/drawingml/2006/main">
              <a:ext uri="{FF2B5EF4-FFF2-40B4-BE49-F238E27FC236}">
                <a16:creationId xmlns:a16="http://schemas.microsoft.com/office/drawing/2014/main" id="{6BFD2CAA-7F9B-41FD-A805-9C9311EF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self.velocity.x = 100 * cos(3 * self.elapsed)</a:t>
            </a:r>
          </a:p>
        </p:txBody>
      </p:sp>
      <p:sp>
        <p:nvSpPr>
          <p:cNvPr id="11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FD7481E7-0226-47E2-A3EB-559071A1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12" name="elapsed 累積秒數，cos() 讓水平速度週期變化。">
            <a:extLst xmlns:a="http://schemas.openxmlformats.org/drawingml/2006/main">
              <a:ext uri="{FF2B5EF4-FFF2-40B4-BE49-F238E27FC236}">
                <a16:creationId xmlns:a16="http://schemas.microsoft.com/office/drawing/2014/main" id="{961598DB-D91A-470F-8A3C-51615CD0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elapsed 累積秒數，cos() 讓水平速度週期變化。</a:t>
            </a:r>
          </a:p>
        </p:txBody>
      </p:sp>
      <p:sp>
        <p:nvSpPr>
          <p:cNvPr id="13" name="生命值、受傷與群組操作仍沿用 Enemy。">
            <a:extLst xmlns:a="http://schemas.openxmlformats.org/drawingml/2006/main">
              <a:ext uri="{FF2B5EF4-FFF2-40B4-BE49-F238E27FC236}">
                <a16:creationId xmlns:a16="http://schemas.microsoft.com/office/drawing/2014/main" id="{71BB9387-4F7D-4C76-830A-0BD3463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生命值、受傷與群組操作仍沿用 Enemy。</a:t>
            </a:r>
          </a:p>
        </p:txBody>
      </p:sp>
      <p:sp>
        <p:nvSpPr>
          <p:cNvPr id="14" name="extension.py / WeavingEnemy">
            <a:extLst xmlns:a="http://schemas.openxmlformats.org/drawingml/2006/main">
              <a:ext uri="{FF2B5EF4-FFF2-40B4-BE49-F238E27FC236}">
                <a16:creationId xmlns:a16="http://schemas.microsoft.com/office/drawing/2014/main" id="{8DA23D7C-8D36-4E83-A6D9-D7D953E7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/ WeavingEnemy</a:t>
            </a:r>
          </a:p>
        </p:txBody>
      </p:sp>
      <p:sp>
        <p:nvSpPr>
          <p:cNvPr id="15" name="09">
            <a:extLst xmlns:a="http://schemas.openxmlformats.org/drawingml/2006/main">
              <a:ext uri="{FF2B5EF4-FFF2-40B4-BE49-F238E27FC236}">
                <a16:creationId xmlns:a16="http://schemas.microsoft.com/office/drawing/2014/main" id="{2FA18EBF-7C1C-4FAB-B15A-B2471D7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5869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敵人加入同一群組">
            <a:extLst xmlns:a="http://schemas.openxmlformats.org/drawingml/2006/main">
              <a:ext uri="{FF2B5EF4-FFF2-40B4-BE49-F238E27FC236}">
                <a16:creationId xmlns:a16="http://schemas.microsoft.com/office/drawing/2014/main" id="{6BB88DE2-77B9-4E49-85F8-13F42AB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新敵人加入同一群組</a:t>
            </a:r>
          </a:p>
        </p:txBody>
      </p:sp>
      <p:sp>
        <p:nvSpPr>
          <p:cNvPr id="2" name="物件建立處選類別，更新處維持共同呼叫">
            <a:extLst xmlns:a="http://schemas.openxmlformats.org/drawingml/2006/main">
              <a:ext uri="{FF2B5EF4-FFF2-40B4-BE49-F238E27FC236}">
                <a16:creationId xmlns:a16="http://schemas.microsoft.com/office/drawing/2014/main" id="{79CA7725-14BC-436F-B1E5-DEE0C7B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物件建立處選類別，更新處維持共同呼叫</a:t>
            </a:r>
          </a:p>
        </p:txBody>
      </p:sp>
      <p:sp>
        <p:nvSpPr>
          <p:cNvPr id="3" name="from actors import Enemy">
            <a:extLst xmlns:a="http://schemas.openxmlformats.org/drawingml/2006/main">
              <a:ext uri="{FF2B5EF4-FFF2-40B4-BE49-F238E27FC236}">
                <a16:creationId xmlns:a16="http://schemas.microsoft.com/office/drawing/2014/main" id="{F8D5A8CB-DE6E-4DF6-97C0-919AF183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actors import Enemy</a:t>
            </a:r>
          </a:p>
        </p:txBody>
      </p:sp>
      <p:sp>
        <p:nvSpPr>
          <p:cNvPr id="4" name="from extension import WeavingEnemy">
            <a:extLst xmlns:a="http://schemas.openxmlformats.org/drawingml/2006/main">
              <a:ext uri="{FF2B5EF4-FFF2-40B4-BE49-F238E27FC236}">
                <a16:creationId xmlns:a16="http://schemas.microsoft.com/office/drawing/2014/main" id="{53C2F7AE-CB32-44FE-8B0D-32AB7A3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extension import WeavingEnemy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3A16-2132-4CC1-A2B8-F4DA7448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a = Enemy(&quot;E01&quot;, (180, 180))">
            <a:extLst xmlns:a="http://schemas.openxmlformats.org/drawingml/2006/main">
              <a:ext uri="{FF2B5EF4-FFF2-40B4-BE49-F238E27FC236}">
                <a16:creationId xmlns:a16="http://schemas.microsoft.com/office/drawing/2014/main" id="{3622AAFA-678A-4D72-9392-F27A9EC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 = Enemy("E01", (180, 180))</a:t>
            </a:r>
          </a:p>
        </p:txBody>
      </p:sp>
      <p:sp>
        <p:nvSpPr>
          <p:cNvPr id="7" name="b = WeavingEnemy(&quot;E02&quot;, (395, 235))">
            <a:extLst xmlns:a="http://schemas.openxmlformats.org/drawingml/2006/main">
              <a:ext uri="{FF2B5EF4-FFF2-40B4-BE49-F238E27FC236}">
                <a16:creationId xmlns:a16="http://schemas.microsoft.com/office/drawing/2014/main" id="{7497F451-003D-454E-83F2-2232B8EE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WeavingEnemy("E02", (395, 235))</a:t>
            </a:r>
          </a:p>
        </p:txBody>
      </p:sp>
      <p:sp>
        <p:nvSpPr>
          <p:cNvPr id="8" name="group = pygame.sprite.Group(a, b)">
            <a:extLst xmlns:a="http://schemas.openxmlformats.org/drawingml/2006/main">
              <a:ext uri="{FF2B5EF4-FFF2-40B4-BE49-F238E27FC236}">
                <a16:creationId xmlns:a16="http://schemas.microsoft.com/office/drawing/2014/main" id="{7E6DE0AF-947D-49E7-9145-910B5DE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group = pygame.sprite.Group(a, b)</a:t>
            </a:r>
          </a:p>
        </p:txBody>
      </p:sp>
      <p:sp>
        <p:nvSpPr>
          <p:cNvPr id="9" name="group.update(1 / 60)">
            <a:extLst xmlns:a="http://schemas.openxmlformats.org/drawingml/2006/main">
              <a:ext uri="{FF2B5EF4-FFF2-40B4-BE49-F238E27FC236}">
                <a16:creationId xmlns:a16="http://schemas.microsoft.com/office/drawing/2014/main" id="{53CA63A4-EC25-40AD-8B9D-F7380371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group.update(1 / 60)</a:t>
            </a:r>
          </a:p>
        </p:txBody>
      </p:sp>
      <p:sp>
        <p:nvSpPr>
          <p:cNvPr id="10" name="原版 Enemy 與新敵人都能接收 update(dt)。">
            <a:extLst xmlns:a="http://schemas.openxmlformats.org/drawingml/2006/main">
              <a:ext uri="{FF2B5EF4-FFF2-40B4-BE49-F238E27FC236}">
                <a16:creationId xmlns:a16="http://schemas.microsoft.com/office/drawing/2014/main" id="{8D269A57-B2D6-406E-9118-86AB1A4B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原版 Enemy 與新敵人都能接收 update(dt)。</a:t>
            </a:r>
          </a:p>
        </p:txBody>
      </p:sp>
      <p:sp>
        <p:nvSpPr>
          <p:cNvPr id="11" name="完整遊戲的生成邏輯在 demo_game.py。">
            <a:extLst xmlns:a="http://schemas.openxmlformats.org/drawingml/2006/main">
              <a:ext uri="{FF2B5EF4-FFF2-40B4-BE49-F238E27FC236}">
                <a16:creationId xmlns:a16="http://schemas.microsoft.com/office/drawing/2014/main" id="{6CA2394C-FDFC-4DA6-9797-B53B9419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完整遊戲的生成邏輯在 demo_game.py。</a:t>
            </a:r>
          </a:p>
        </p:txBody>
      </p:sp>
      <p:sp>
        <p:nvSpPr>
          <p:cNvPr id="12" name="demo_game.py / Week8Game.spawn_enemy (concept)">
            <a:extLst xmlns:a="http://schemas.openxmlformats.org/drawingml/2006/main">
              <a:ext uri="{FF2B5EF4-FFF2-40B4-BE49-F238E27FC236}">
                <a16:creationId xmlns:a16="http://schemas.microsoft.com/office/drawing/2014/main" id="{7DDF7467-0977-4224-986C-1D034346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demo_game.py / Week8Game.spawn_enemy (concept)</a:t>
            </a:r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F05B0EBC-D106-4F81-9C89-5320FA78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353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鴨子型別與 Spark">
            <a:extLst xmlns:a="http://schemas.openxmlformats.org/drawingml/2006/main">
              <a:ext uri="{FF2B5EF4-FFF2-40B4-BE49-F238E27FC236}">
                <a16:creationId xmlns:a16="http://schemas.microsoft.com/office/drawing/2014/main" id="{9D2E2F48-7736-47FC-AC22-68ECE95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鴨子型別與 Spark</a:t>
            </a:r>
          </a:p>
        </p:txBody>
      </p:sp>
      <p:sp>
        <p:nvSpPr>
          <p:cNvPr id="2" name="能回應需要的操作，就能參與該流程">
            <a:extLst xmlns:a="http://schemas.openxmlformats.org/drawingml/2006/main">
              <a:ext uri="{FF2B5EF4-FFF2-40B4-BE49-F238E27FC236}">
                <a16:creationId xmlns:a16="http://schemas.microsoft.com/office/drawing/2014/main" id="{463D52FE-4596-4EFD-9587-6472E87A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能回應需要的操作，就能參與該流程</a:t>
            </a:r>
          </a:p>
        </p:txBody>
      </p:sp>
      <p:sp>
        <p:nvSpPr>
          <p:cNvPr id="3" name="class Spark:">
            <a:extLst xmlns:a="http://schemas.openxmlformats.org/drawingml/2006/main">
              <a:ext uri="{FF2B5EF4-FFF2-40B4-BE49-F238E27FC236}">
                <a16:creationId xmlns:a16="http://schemas.microsoft.com/office/drawing/2014/main" id="{AEAFEE4B-F6FD-4707-A6D5-FCDC59D8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Spark:</a:t>
            </a:r>
          </a:p>
        </p:txBody>
      </p:sp>
      <p:sp>
        <p:nvSpPr>
          <p:cNvPr id="4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0BFA8176-4EA5-4EB1-93B4-3CB297C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5" name="        self.ttl = 1.0">
            <a:extLst xmlns:a="http://schemas.openxmlformats.org/drawingml/2006/main">
              <a:ext uri="{FF2B5EF4-FFF2-40B4-BE49-F238E27FC236}">
                <a16:creationId xmlns:a16="http://schemas.microsoft.com/office/drawing/2014/main" id="{72BD2008-F581-4AB9-AE17-50CE85F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self.ttl =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FC273-8679-4707-8CFA-926E193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77FFAFBF-06F2-4C7A-891D-12239CD3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self.ttl = max(0.0, self.ttl - dt)">
            <a:extLst xmlns:a="http://schemas.openxmlformats.org/drawingml/2006/main">
              <a:ext uri="{FF2B5EF4-FFF2-40B4-BE49-F238E27FC236}">
                <a16:creationId xmlns:a16="http://schemas.microsoft.com/office/drawing/2014/main" id="{096FF09C-F4F7-426D-974B-86EAACAB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self.ttl = max(0.0, self.ttl - dt)</a:t>
            </a:r>
          </a:p>
        </p:txBody>
      </p:sp>
      <p:sp>
        <p:nvSpPr>
          <p:cNvPr id="9" name="Spark 保存剩餘時間 ttl，與 Enemy 沒有繼承關係。">
            <a:extLst xmlns:a="http://schemas.openxmlformats.org/drawingml/2006/main">
              <a:ext uri="{FF2B5EF4-FFF2-40B4-BE49-F238E27FC236}">
                <a16:creationId xmlns:a16="http://schemas.microsoft.com/office/drawing/2014/main" id="{90BB3FCA-FEC9-4D33-ABD9-5F213BC2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Spark 保存剩餘時間 ttl，與 Enemy 沒有繼承關係。</a:t>
            </a:r>
          </a:p>
        </p:txBody>
      </p:sp>
      <p:sp>
        <p:nvSpPr>
          <p:cNvPr id="10" name="Spark 可放入一般更新清單。Pygame 群組仍需要 Sprite 的配合。">
            <a:extLst xmlns:a="http://schemas.openxmlformats.org/drawingml/2006/main">
              <a:ext uri="{FF2B5EF4-FFF2-40B4-BE49-F238E27FC236}">
                <a16:creationId xmlns:a16="http://schemas.microsoft.com/office/drawing/2014/main" id="{C81DBC02-9500-48B1-A2AE-8E567F7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Spark 可放入一般更新清單。Pygame 群組仍需要 Sprite 的配合。</a:t>
            </a:r>
          </a:p>
        </p:txBody>
      </p:sp>
      <p:sp>
        <p:nvSpPr>
          <p:cNvPr id="11" name="contracts.py / Spark">
            <a:extLst xmlns:a="http://schemas.openxmlformats.org/drawingml/2006/main">
              <a:ext uri="{FF2B5EF4-FFF2-40B4-BE49-F238E27FC236}">
                <a16:creationId xmlns:a16="http://schemas.microsoft.com/office/drawing/2014/main" id="{D571F66D-8B36-47F6-920B-2821BCD1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Spark</a:t>
            </a:r>
          </a:p>
        </p:txBody>
      </p:sp>
      <p:sp>
        <p:nvSpPr>
          <p:cNvPr id="12" name="11">
            <a:extLst xmlns:a="http://schemas.openxmlformats.org/drawingml/2006/main">
              <a:ext uri="{FF2B5EF4-FFF2-40B4-BE49-F238E27FC236}">
                <a16:creationId xmlns:a16="http://schemas.microsoft.com/office/drawing/2014/main" id="{D210B554-6788-49F3-8A5B-A15A53F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2478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呼叫需要相容的方法">
            <a:extLst xmlns:a="http://schemas.openxmlformats.org/drawingml/2006/main">
              <a:ext uri="{FF2B5EF4-FFF2-40B4-BE49-F238E27FC236}">
                <a16:creationId xmlns:a16="http://schemas.microsoft.com/office/drawing/2014/main" id="{AC3AFBFC-F80A-42E9-84DE-6A536835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呼叫需要相容的方法</a:t>
            </a:r>
          </a:p>
        </p:txBody>
      </p:sp>
      <p:sp>
        <p:nvSpPr>
          <p:cNvPr id="2" name="方法名稱與參數都會影響實際呼叫">
            <a:extLst xmlns:a="http://schemas.openxmlformats.org/drawingml/2006/main">
              <a:ext uri="{FF2B5EF4-FFF2-40B4-BE49-F238E27FC236}">
                <a16:creationId xmlns:a16="http://schemas.microsoft.com/office/drawing/2014/main" id="{24678033-BB92-411B-8167-E0863317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方法名稱與參數都會影響實際呼叫</a:t>
            </a:r>
          </a:p>
        </p:txBody>
      </p:sp>
      <p:sp>
        <p:nvSpPr>
          <p:cNvPr id="3" name="class BadClock:">
            <a:extLst xmlns:a="http://schemas.openxmlformats.org/drawingml/2006/main">
              <a:ext uri="{FF2B5EF4-FFF2-40B4-BE49-F238E27FC236}">
                <a16:creationId xmlns:a16="http://schemas.microsoft.com/office/drawing/2014/main" id="{4E5F212C-0DC4-40BF-8BB3-555DA03A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BadClock:</a:t>
            </a:r>
          </a:p>
        </p:txBody>
      </p:sp>
      <p:sp>
        <p:nvSpPr>
          <p:cNvPr id="4" name="    def update(self):">
            <a:extLst xmlns:a="http://schemas.openxmlformats.org/drawingml/2006/main">
              <a:ext uri="{FF2B5EF4-FFF2-40B4-BE49-F238E27FC236}">
                <a16:creationId xmlns:a16="http://schemas.microsoft.com/office/drawing/2014/main" id="{F95AD334-9B91-48D9-817F-D4BF3F1E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update(self):</a:t>
            </a:r>
          </a:p>
        </p:txBody>
      </p:sp>
      <p:sp>
        <p:nvSpPr>
          <p:cNvPr id="5" name="        pass">
            <a:extLst xmlns:a="http://schemas.openxmlformats.org/drawingml/2006/main">
              <a:ext uri="{FF2B5EF4-FFF2-40B4-BE49-F238E27FC236}">
                <a16:creationId xmlns:a16="http://schemas.microsoft.com/office/drawing/2014/main" id="{8E5B1728-2976-4C21-84BD-F3F0D6CB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97567-98EC-41D2-B08C-A8FE9C1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bad = BadClock()">
            <a:extLst xmlns:a="http://schemas.openxmlformats.org/drawingml/2006/main">
              <a:ext uri="{FF2B5EF4-FFF2-40B4-BE49-F238E27FC236}">
                <a16:creationId xmlns:a16="http://schemas.microsoft.com/office/drawing/2014/main" id="{66D4F47E-A24A-4CC6-9B64-0D9E9298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 = BadClock()</a:t>
            </a:r>
          </a:p>
        </p:txBody>
      </p:sp>
      <p:sp>
        <p:nvSpPr>
          <p:cNvPr id="8" name="bad.update(0.5)  # TypeError">
            <a:extLst xmlns:a="http://schemas.openxmlformats.org/drawingml/2006/main">
              <a:ext uri="{FF2B5EF4-FFF2-40B4-BE49-F238E27FC236}">
                <a16:creationId xmlns:a16="http://schemas.microsoft.com/office/drawing/2014/main" id="{F2CFF6F1-869A-440F-9BAE-72993AD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bad.update(0.5)  # TypeError</a:t>
            </a:r>
          </a:p>
        </p:txBody>
      </p:sp>
      <p:sp>
        <p:nvSpPr>
          <p:cNvPr id="9" name="沒有 update 時會發生 AttributeError。">
            <a:extLst xmlns:a="http://schemas.openxmlformats.org/drawingml/2006/main">
              <a:ext uri="{FF2B5EF4-FFF2-40B4-BE49-F238E27FC236}">
                <a16:creationId xmlns:a16="http://schemas.microsoft.com/office/drawing/2014/main" id="{BFBB7029-8501-4640-A400-1BDC463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沒有 update 時會發生 AttributeError。</a:t>
            </a:r>
          </a:p>
        </p:txBody>
      </p:sp>
      <p:sp>
        <p:nvSpPr>
          <p:cNvPr id="10" name="update 存在，但不接受 dt，也無法完成這次呼叫。">
            <a:extLst xmlns:a="http://schemas.openxmlformats.org/drawingml/2006/main">
              <a:ext uri="{FF2B5EF4-FFF2-40B4-BE49-F238E27FC236}">
                <a16:creationId xmlns:a16="http://schemas.microsoft.com/office/drawing/2014/main" id="{D420CEF2-CAC4-48A0-8D42-F76414B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update 存在，但不接受 dt，也無法完成這次呼叫。</a:t>
            </a:r>
          </a:p>
        </p:txBody>
      </p:sp>
      <p:sp>
        <p:nvSpPr>
          <p:cNvPr id="11" name="contracts.py / BadClock">
            <a:extLst xmlns:a="http://schemas.openxmlformats.org/drawingml/2006/main">
              <a:ext uri="{FF2B5EF4-FFF2-40B4-BE49-F238E27FC236}">
                <a16:creationId xmlns:a16="http://schemas.microsoft.com/office/drawing/2014/main" id="{BA479529-B1D1-480A-9FA0-75FBF48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BadClock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4855F52B-9B1F-4100-AF68-11EDE53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38329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更新介面的契約">
            <a:extLst xmlns:a="http://schemas.openxmlformats.org/drawingml/2006/main">
              <a:ext uri="{FF2B5EF4-FFF2-40B4-BE49-F238E27FC236}">
                <a16:creationId xmlns:a16="http://schemas.microsoft.com/office/drawing/2014/main" id="{E244CB45-1347-4D60-9515-B03A0338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更新介面的契約</a:t>
            </a:r>
          </a:p>
        </p:txBody>
      </p:sp>
      <p:sp>
        <p:nvSpPr>
          <p:cNvPr id="2" name="共同介面也包含行為與單位的約定">
            <a:extLst xmlns:a="http://schemas.openxmlformats.org/drawingml/2006/main">
              <a:ext uri="{FF2B5EF4-FFF2-40B4-BE49-F238E27FC236}">
                <a16:creationId xmlns:a16="http://schemas.microsoft.com/office/drawing/2014/main" id="{21E368DA-7EF5-4713-BB67-5D73A6F5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共同介面也包含行為與單位的約定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6714-B555-49FE-B9A9-927AD78CFC7C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本例的約定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dt: float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經過秒數，dt ≥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副作用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更新自身狀態，必要時同步 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抽象化讓使用者只依賴必要的操作，將實作細節留在物件內部。">
            <a:extLst xmlns:a="http://schemas.openxmlformats.org/drawingml/2006/main">
              <a:ext uri="{FF2B5EF4-FFF2-40B4-BE49-F238E27FC236}">
                <a16:creationId xmlns:a16="http://schemas.microsoft.com/office/drawing/2014/main" id="{70277D1E-CD8D-494F-B692-69AE939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抽象化讓使用者只依賴必要的操作，將實作細節留在物件內部。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04277C8C-3903-484A-9B73-916B5164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775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抽象類別 ABC">
            <a:extLst xmlns:a="http://schemas.openxmlformats.org/drawingml/2006/main">
              <a:ext uri="{FF2B5EF4-FFF2-40B4-BE49-F238E27FC236}">
                <a16:creationId xmlns:a16="http://schemas.microsoft.com/office/drawing/2014/main" id="{87CE1155-8F4F-46DF-8C47-47811F1C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抽象類別 ABC</a:t>
            </a:r>
          </a:p>
        </p:txBody>
      </p:sp>
      <p:sp>
        <p:nvSpPr>
          <p:cNvPr id="2" name="用抽象方法表達子類別必須完成的操作">
            <a:extLst xmlns:a="http://schemas.openxmlformats.org/drawingml/2006/main">
              <a:ext uri="{FF2B5EF4-FFF2-40B4-BE49-F238E27FC236}">
                <a16:creationId xmlns:a16="http://schemas.microsoft.com/office/drawing/2014/main" id="{57F9FB62-E4AB-48C0-9B75-725B6A14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用抽象方法表達子類別必須完成的操作</a:t>
            </a:r>
          </a:p>
        </p:txBody>
      </p:sp>
      <p:sp>
        <p:nvSpPr>
          <p:cNvPr id="3" name="from abc import ABC, abstractmethod">
            <a:extLst xmlns:a="http://schemas.openxmlformats.org/drawingml/2006/main">
              <a:ext uri="{FF2B5EF4-FFF2-40B4-BE49-F238E27FC236}">
                <a16:creationId xmlns:a16="http://schemas.microsoft.com/office/drawing/2014/main" id="{C5A0B355-A7D9-44BB-A654-92A4EB2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abc import ABC, abstractmethod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28B8D-950E-409E-9084-402FCDC0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UpdateableABC(ABC):">
            <a:extLst xmlns:a="http://schemas.openxmlformats.org/drawingml/2006/main">
              <a:ext uri="{FF2B5EF4-FFF2-40B4-BE49-F238E27FC236}">
                <a16:creationId xmlns:a16="http://schemas.microsoft.com/office/drawing/2014/main" id="{4C96EA1F-5883-48AF-BE37-FDA0B31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UpdateableABC(ABC):</a:t>
            </a:r>
          </a:p>
        </p:txBody>
      </p:sp>
      <p:sp>
        <p:nvSpPr>
          <p:cNvPr id="6" name="    @abstractmethod">
            <a:extLst xmlns:a="http://schemas.openxmlformats.org/drawingml/2006/main">
              <a:ext uri="{FF2B5EF4-FFF2-40B4-BE49-F238E27FC236}">
                <a16:creationId xmlns:a16="http://schemas.microsoft.com/office/drawing/2014/main" id="{998CB720-924E-471C-AC24-D96DAEBE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@abstractmethod</a:t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6700A2F2-023B-4CAF-BF4C-FF25AD6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pass">
            <a:extLst xmlns:a="http://schemas.openxmlformats.org/drawingml/2006/main">
              <a:ext uri="{FF2B5EF4-FFF2-40B4-BE49-F238E27FC236}">
                <a16:creationId xmlns:a16="http://schemas.microsoft.com/office/drawing/2014/main" id="{C7B0DDF8-A9C3-42B9-8660-9E3D4A64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pass</a:t>
            </a:r>
          </a:p>
        </p:txBody>
      </p:sp>
      <p:sp>
        <p:nvSpPr>
          <p:cNvPr id="9" name="這是獨立的簡化模型，原遊戲 Actor 仍是具體類別。">
            <a:extLst xmlns:a="http://schemas.openxmlformats.org/drawingml/2006/main">
              <a:ext uri="{FF2B5EF4-FFF2-40B4-BE49-F238E27FC236}">
                <a16:creationId xmlns:a16="http://schemas.microsoft.com/office/drawing/2014/main" id="{70079BEF-820D-413B-B33E-DED653F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這是獨立的簡化模型，原遊戲 Actor 仍是具體類別。</a:t>
            </a:r>
          </a:p>
        </p:txBody>
      </p:sp>
      <p:sp>
        <p:nvSpPr>
          <p:cNvPr id="10" name="ABC 來自 abc 模組，abstractmethod 標記必要的方法。">
            <a:extLst xmlns:a="http://schemas.openxmlformats.org/drawingml/2006/main">
              <a:ext uri="{FF2B5EF4-FFF2-40B4-BE49-F238E27FC236}">
                <a16:creationId xmlns:a16="http://schemas.microsoft.com/office/drawing/2014/main" id="{45907B89-EB43-41C2-801E-64C28E1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ABC 來自 abc 模組，abstractmethod 標記必要的方法。</a:t>
            </a:r>
          </a:p>
        </p:txBody>
      </p:sp>
      <p:sp>
        <p:nvSpPr>
          <p:cNvPr id="11" name="contracts.py / UpdateableABC">
            <a:extLst xmlns:a="http://schemas.openxmlformats.org/drawingml/2006/main">
              <a:ext uri="{FF2B5EF4-FFF2-40B4-BE49-F238E27FC236}">
                <a16:creationId xmlns:a16="http://schemas.microsoft.com/office/drawing/2014/main" id="{BF0C09F1-8CD0-4AEA-AFC5-24358720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UpdateableABC</a:t>
            </a:r>
          </a:p>
        </p:txBody>
      </p:sp>
      <p:sp>
        <p:nvSpPr>
          <p:cNvPr id="12" name="14">
            <a:extLst xmlns:a="http://schemas.openxmlformats.org/drawingml/2006/main">
              <a:ext uri="{FF2B5EF4-FFF2-40B4-BE49-F238E27FC236}">
                <a16:creationId xmlns:a16="http://schemas.microsoft.com/office/drawing/2014/main" id="{67A320CF-B35A-48C8-888D-527142CA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1611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尚未完成的抽象方法">
            <a:extLst xmlns:a="http://schemas.openxmlformats.org/drawingml/2006/main">
              <a:ext uri="{FF2B5EF4-FFF2-40B4-BE49-F238E27FC236}">
                <a16:creationId xmlns:a16="http://schemas.microsoft.com/office/drawing/2014/main" id="{E5BF98FD-16C0-4719-A675-309B0963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尚未完成的抽象方法</a:t>
            </a:r>
          </a:p>
        </p:txBody>
      </p:sp>
      <p:sp>
        <p:nvSpPr>
          <p:cNvPr id="2" name="抽象方法未完成時，Python 拒絕建立實體">
            <a:extLst xmlns:a="http://schemas.openxmlformats.org/drawingml/2006/main">
              <a:ext uri="{FF2B5EF4-FFF2-40B4-BE49-F238E27FC236}">
                <a16:creationId xmlns:a16="http://schemas.microsoft.com/office/drawing/2014/main" id="{631F1A27-B396-4922-8EDF-7AA06905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抽象方法未完成時，Python 拒絕建立實體</a:t>
            </a:r>
          </a:p>
        </p:txBody>
      </p:sp>
      <p:sp>
        <p:nvSpPr>
          <p:cNvPr id="3" name="class Incomplete(UpdateableABC):">
            <a:extLst xmlns:a="http://schemas.openxmlformats.org/drawingml/2006/main">
              <a:ext uri="{FF2B5EF4-FFF2-40B4-BE49-F238E27FC236}">
                <a16:creationId xmlns:a16="http://schemas.microsoft.com/office/drawing/2014/main" id="{29E32A06-6243-4451-9159-2C876E13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Incomplete(UpdateableABC):</a:t>
            </a:r>
          </a:p>
        </p:txBody>
      </p:sp>
      <p:sp>
        <p:nvSpPr>
          <p:cNvPr id="4" name="    pass">
            <a:extLst xmlns:a="http://schemas.openxmlformats.org/drawingml/2006/main">
              <a:ext uri="{FF2B5EF4-FFF2-40B4-BE49-F238E27FC236}">
                <a16:creationId xmlns:a16="http://schemas.microsoft.com/office/drawing/2014/main" id="{901AE05B-2376-4337-94C7-1BE18B4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7F0B5-FBC1-48DB-A15E-77049BD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Incomplete()  # TypeError">
            <a:extLst xmlns:a="http://schemas.openxmlformats.org/drawingml/2006/main">
              <a:ext uri="{FF2B5EF4-FFF2-40B4-BE49-F238E27FC236}">
                <a16:creationId xmlns:a16="http://schemas.microsoft.com/office/drawing/2014/main" id="{8E567D6D-2CCE-437B-9CE8-77FA5736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Incomplete()  # TypeError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61DCA-23AC-4115-9371-55204F7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# Still abstract:">
            <a:extLst xmlns:a="http://schemas.openxmlformats.org/drawingml/2006/main">
              <a:ext uri="{FF2B5EF4-FFF2-40B4-BE49-F238E27FC236}">
                <a16:creationId xmlns:a16="http://schemas.microsoft.com/office/drawing/2014/main" id="{2277F821-6AD3-48DD-BF3F-69D6EB7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Still abstract:</a:t>
            </a:r>
          </a:p>
        </p:txBody>
      </p:sp>
      <p:sp>
        <p:nvSpPr>
          <p:cNvPr id="9" name="UpdateableABC()  # TypeError">
            <a:extLst xmlns:a="http://schemas.openxmlformats.org/drawingml/2006/main">
              <a:ext uri="{FF2B5EF4-FFF2-40B4-BE49-F238E27FC236}">
                <a16:creationId xmlns:a16="http://schemas.microsoft.com/office/drawing/2014/main" id="{7268279A-4CE6-4330-8BFA-83E6745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UpdateableABC()  # TypeError</a:t>
            </a:r>
          </a:p>
        </p:txBody>
      </p:sp>
      <p:sp>
        <p:nvSpPr>
          <p:cNvPr id="10" name="pass 本身不會建立抽象規則，關鍵是 ABC 與裝飾器。">
            <a:extLst xmlns:a="http://schemas.openxmlformats.org/drawingml/2006/main">
              <a:ext uri="{FF2B5EF4-FFF2-40B4-BE49-F238E27FC236}">
                <a16:creationId xmlns:a16="http://schemas.microsoft.com/office/drawing/2014/main" id="{BC288D7A-6F91-44FE-91EA-0C8970AA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pass 本身不會建立抽象規則，關鍵是 ABC 與裝飾器。</a:t>
            </a:r>
          </a:p>
        </p:txBody>
      </p:sp>
      <p:sp>
        <p:nvSpPr>
          <p:cNvPr id="11" name="ABC 不會完整檢查覆寫方法的簽章與行為。">
            <a:extLst xmlns:a="http://schemas.openxmlformats.org/drawingml/2006/main">
              <a:ext uri="{FF2B5EF4-FFF2-40B4-BE49-F238E27FC236}">
                <a16:creationId xmlns:a16="http://schemas.microsoft.com/office/drawing/2014/main" id="{345EDB2A-6097-491F-B8EC-541433F8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ABC 不會完整檢查覆寫方法的簽章與行為。</a:t>
            </a:r>
          </a:p>
        </p:txBody>
      </p:sp>
      <p:sp>
        <p:nvSpPr>
          <p:cNvPr id="12" name="contracts.py / abstract-class example">
            <a:extLst xmlns:a="http://schemas.openxmlformats.org/drawingml/2006/main">
              <a:ext uri="{FF2B5EF4-FFF2-40B4-BE49-F238E27FC236}">
                <a16:creationId xmlns:a16="http://schemas.microsoft.com/office/drawing/2014/main" id="{C94C8E40-545E-4FEC-8AD0-7119B2AD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abstract-class example</a:t>
            </a:r>
          </a:p>
        </p:txBody>
      </p:sp>
      <p:sp>
        <p:nvSpPr>
          <p:cNvPr id="13" name="15">
            <a:extLst xmlns:a="http://schemas.openxmlformats.org/drawingml/2006/main">
              <a:ext uri="{FF2B5EF4-FFF2-40B4-BE49-F238E27FC236}">
                <a16:creationId xmlns:a16="http://schemas.microsoft.com/office/drawing/2014/main" id="{B4EE6F96-9B5E-4396-BD33-31B61AA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7067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完成抽象規格的子類別">
            <a:extLst xmlns:a="http://schemas.openxmlformats.org/drawingml/2006/main">
              <a:ext uri="{FF2B5EF4-FFF2-40B4-BE49-F238E27FC236}">
                <a16:creationId xmlns:a16="http://schemas.microsoft.com/office/drawing/2014/main" id="{6363A9E3-9CBB-4CCF-84D1-A63BD190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完成抽象規格的子類別</a:t>
            </a:r>
          </a:p>
        </p:txBody>
      </p:sp>
      <p:sp>
        <p:nvSpPr>
          <p:cNvPr id="2" name="FallingTarget 完成 update(dt)">
            <a:extLst xmlns:a="http://schemas.openxmlformats.org/drawingml/2006/main">
              <a:ext uri="{FF2B5EF4-FFF2-40B4-BE49-F238E27FC236}">
                <a16:creationId xmlns:a16="http://schemas.microsoft.com/office/drawing/2014/main" id="{4E76A542-ADF6-4980-A1B1-30805ED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FallingTarget 完成 update(dt)</a:t>
            </a:r>
          </a:p>
        </p:txBody>
      </p:sp>
      <p:sp>
        <p:nvSpPr>
          <p:cNvPr id="3" name="class FallingTarget(UpdateableABC):">
            <a:extLst xmlns:a="http://schemas.openxmlformats.org/drawingml/2006/main">
              <a:ext uri="{FF2B5EF4-FFF2-40B4-BE49-F238E27FC236}">
                <a16:creationId xmlns:a16="http://schemas.microsoft.com/office/drawing/2014/main" id="{59EE81C4-DAE9-4AE7-A309-367968A0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FallingTarget(UpdateableABC):</a:t>
            </a:r>
          </a:p>
        </p:txBody>
      </p:sp>
      <p:sp>
        <p:nvSpPr>
          <p:cNvPr id="4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877ADE01-5AB5-4693-BEA2-AF39BA73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5" name="        self.y = 0.0">
            <a:extLst xmlns:a="http://schemas.openxmlformats.org/drawingml/2006/main">
              <a:ext uri="{FF2B5EF4-FFF2-40B4-BE49-F238E27FC236}">
                <a16:creationId xmlns:a16="http://schemas.microsoft.com/office/drawing/2014/main" id="{8831EF74-BCD8-4F88-81A8-BDDE5D4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self.y = 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AE3B3-1568-4B2E-B639-D47EB990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CC202E83-7A8D-4F2D-B81D-91D1AA7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self.y += 80.0 * dt">
            <a:extLst xmlns:a="http://schemas.openxmlformats.org/drawingml/2006/main">
              <a:ext uri="{FF2B5EF4-FFF2-40B4-BE49-F238E27FC236}">
                <a16:creationId xmlns:a16="http://schemas.microsoft.com/office/drawing/2014/main" id="{F769B24F-8ED1-4B89-A911-E3108AA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self.y += 80.0 * dt</a:t>
            </a:r>
          </a:p>
        </p:txBody>
      </p:sp>
      <p:sp>
        <p:nvSpPr>
          <p:cNvPr id="9" name="建立物件後，update(0.5) 讓 y 從 0.0 變成 40.0。">
            <a:extLst xmlns:a="http://schemas.openxmlformats.org/drawingml/2006/main">
              <a:ext uri="{FF2B5EF4-FFF2-40B4-BE49-F238E27FC236}">
                <a16:creationId xmlns:a16="http://schemas.microsoft.com/office/drawing/2014/main" id="{E119863B-F150-4405-B936-AC3DDAE9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建立物件後，update(0.5) 讓 y 從 0.0 變成 40.0。</a:t>
            </a:r>
          </a:p>
        </p:txBody>
      </p:sp>
      <p:sp>
        <p:nvSpPr>
          <p:cNvPr id="10" name="抽象類別也可提供共用實作或一般方法。">
            <a:extLst xmlns:a="http://schemas.openxmlformats.org/drawingml/2006/main">
              <a:ext uri="{FF2B5EF4-FFF2-40B4-BE49-F238E27FC236}">
                <a16:creationId xmlns:a16="http://schemas.microsoft.com/office/drawing/2014/main" id="{A84FE9D3-31F7-4FED-B250-CAF16A72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抽象類別也可提供共用實作或一般方法。</a:t>
            </a:r>
          </a:p>
        </p:txBody>
      </p:sp>
      <p:sp>
        <p:nvSpPr>
          <p:cNvPr id="11" name="contracts.py / FallingTarget">
            <a:extLst xmlns:a="http://schemas.openxmlformats.org/drawingml/2006/main">
              <a:ext uri="{FF2B5EF4-FFF2-40B4-BE49-F238E27FC236}">
                <a16:creationId xmlns:a16="http://schemas.microsoft.com/office/drawing/2014/main" id="{127328FB-6BF6-455D-ABC8-8981EF93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FallingTarget</a:t>
            </a:r>
          </a:p>
        </p:txBody>
      </p:sp>
      <p:sp>
        <p:nvSpPr>
          <p:cNvPr id="12" name="16">
            <a:extLst xmlns:a="http://schemas.openxmlformats.org/drawingml/2006/main">
              <a:ext uri="{FF2B5EF4-FFF2-40B4-BE49-F238E27FC236}">
                <a16:creationId xmlns:a16="http://schemas.microsoft.com/office/drawing/2014/main" id="{C14EE5D8-3DE8-4EEB-B6E0-24A56574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11504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otocol 描述需要的能力">
            <a:extLst xmlns:a="http://schemas.openxmlformats.org/drawingml/2006/main">
              <a:ext uri="{FF2B5EF4-FFF2-40B4-BE49-F238E27FC236}">
                <a16:creationId xmlns:a16="http://schemas.microsoft.com/office/drawing/2014/main" id="{E018C518-F6CB-47A1-A53A-9F8CFA3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Protocol 描述需要的能力</a:t>
            </a:r>
          </a:p>
        </p:txBody>
      </p:sp>
      <p:sp>
        <p:nvSpPr>
          <p:cNvPr id="2" name="依結構判定相容性，不要求明確繼承">
            <a:extLst xmlns:a="http://schemas.openxmlformats.org/drawingml/2006/main">
              <a:ext uri="{FF2B5EF4-FFF2-40B4-BE49-F238E27FC236}">
                <a16:creationId xmlns:a16="http://schemas.microsoft.com/office/drawing/2014/main" id="{2ADA1132-BD0D-479A-95BC-CB82D243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依結構判定相容性，不要求明確繼承</a:t>
            </a:r>
          </a:p>
        </p:txBody>
      </p:sp>
      <p:sp>
        <p:nvSpPr>
          <p:cNvPr id="3" name="from typing import Protocol">
            <a:extLst xmlns:a="http://schemas.openxmlformats.org/drawingml/2006/main">
              <a:ext uri="{FF2B5EF4-FFF2-40B4-BE49-F238E27FC236}">
                <a16:creationId xmlns:a16="http://schemas.microsoft.com/office/drawing/2014/main" id="{7BC82D38-D7FF-4B39-9F36-8E7BCFB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</a:t>
            </a:r>
          </a:p>
        </p:txBody>
      </p:sp>
      <p:sp>
        <p:nvSpPr>
          <p:cNvPr id="4" name="from collections.abc import Iterable">
            <a:extLst xmlns:a="http://schemas.openxmlformats.org/drawingml/2006/main">
              <a:ext uri="{FF2B5EF4-FFF2-40B4-BE49-F238E27FC236}">
                <a16:creationId xmlns:a16="http://schemas.microsoft.com/office/drawing/2014/main" id="{F62F5368-D171-4A1A-9236-24965382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collections.abc import Iterable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808B5-C80D-4171-A4E2-32FB4B08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class Updatable(Protocol):">
            <a:extLst xmlns:a="http://schemas.openxmlformats.org/drawingml/2006/main">
              <a:ext uri="{FF2B5EF4-FFF2-40B4-BE49-F238E27FC236}">
                <a16:creationId xmlns:a16="http://schemas.microsoft.com/office/drawing/2014/main" id="{174F7379-F640-4647-A063-A90B6C05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Updatable(Protocol):</a:t>
            </a:r>
          </a:p>
        </p:txBody>
      </p:sp>
      <p:sp>
        <p:nvSpPr>
          <p:cNvPr id="7" name="    def update(self, dt: float) -&gt; None: ...">
            <a:extLst xmlns:a="http://schemas.openxmlformats.org/drawingml/2006/main">
              <a:ext uri="{FF2B5EF4-FFF2-40B4-BE49-F238E27FC236}">
                <a16:creationId xmlns:a16="http://schemas.microsoft.com/office/drawing/2014/main" id="{E4CDDFC5-D787-494C-987A-D5CB832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119DE-8F30-4637-B0A2-B85F08FE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def tick_all(items: Iterable[Updatable]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C31139D5-8517-40D8-8708-5932408B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tick_all(items: Iterable[Updatable], dt: float) -&gt; None:</a:t>
            </a:r>
          </a:p>
        </p:txBody>
      </p:sp>
      <p:sp>
        <p:nvSpPr>
          <p:cNvPr id="10" name="    for item in items:">
            <a:extLst xmlns:a="http://schemas.openxmlformats.org/drawingml/2006/main">
              <a:ext uri="{FF2B5EF4-FFF2-40B4-BE49-F238E27FC236}">
                <a16:creationId xmlns:a16="http://schemas.microsoft.com/office/drawing/2014/main" id="{F95D00A4-48E2-4267-8467-27DF54A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item in items:</a:t>
            </a:r>
          </a:p>
        </p:txBody>
      </p:sp>
      <p:sp>
        <p:nvSpPr>
          <p:cNvPr id="11" name="        item.update(dt)">
            <a:extLst xmlns:a="http://schemas.openxmlformats.org/drawingml/2006/main">
              <a:ext uri="{FF2B5EF4-FFF2-40B4-BE49-F238E27FC236}">
                <a16:creationId xmlns:a16="http://schemas.microsoft.com/office/drawing/2014/main" id="{FF249758-40D9-4F53-B9D9-0EB59AE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item.update(dt)</a:t>
            </a:r>
          </a:p>
        </p:txBody>
      </p:sp>
      <p:sp>
        <p:nvSpPr>
          <p:cNvPr id="12" name="tick_all 只需要每個項目能接收 update(dt)。">
            <a:extLst xmlns:a="http://schemas.openxmlformats.org/drawingml/2006/main">
              <a:ext uri="{FF2B5EF4-FFF2-40B4-BE49-F238E27FC236}">
                <a16:creationId xmlns:a16="http://schemas.microsoft.com/office/drawing/2014/main" id="{7A3FA5DF-1405-4976-876D-F7F9ECA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tick_all 只需要每個項目能接收 update(dt)。</a:t>
            </a:r>
          </a:p>
        </p:txBody>
      </p:sp>
      <p:sp>
        <p:nvSpPr>
          <p:cNvPr id="13" name="Iterable 允許清單、元組等可走訪的來源。">
            <a:extLst xmlns:a="http://schemas.openxmlformats.org/drawingml/2006/main">
              <a:ext uri="{FF2B5EF4-FFF2-40B4-BE49-F238E27FC236}">
                <a16:creationId xmlns:a16="http://schemas.microsoft.com/office/drawing/2014/main" id="{3BD50B22-7AB8-4F82-80A5-6FC3EFBD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Iterable 允許清單、元組等可走訪的來源。</a:t>
            </a:r>
          </a:p>
        </p:txBody>
      </p:sp>
      <p:sp>
        <p:nvSpPr>
          <p:cNvPr id="14" name="contracts.py / Updatable, tick_all">
            <a:extLst xmlns:a="http://schemas.openxmlformats.org/drawingml/2006/main">
              <a:ext uri="{FF2B5EF4-FFF2-40B4-BE49-F238E27FC236}">
                <a16:creationId xmlns:a16="http://schemas.microsoft.com/office/drawing/2014/main" id="{694B0E0F-6016-442D-A3C8-0C143637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Updatable, tick_all</a:t>
            </a:r>
          </a:p>
        </p:txBody>
      </p:sp>
      <p:sp>
        <p:nvSpPr>
          <p:cNvPr id="15" name="17">
            <a:extLst xmlns:a="http://schemas.openxmlformats.org/drawingml/2006/main">
              <a:ext uri="{FF2B5EF4-FFF2-40B4-BE49-F238E27FC236}">
                <a16:creationId xmlns:a16="http://schemas.microsoft.com/office/drawing/2014/main" id="{D0E730B6-2C5D-4FED-B5C3-5FBF977F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411188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不同類別共用一個更新函式">
            <a:extLst xmlns:a="http://schemas.openxmlformats.org/drawingml/2006/main">
              <a:ext uri="{FF2B5EF4-FFF2-40B4-BE49-F238E27FC236}">
                <a16:creationId xmlns:a16="http://schemas.microsoft.com/office/drawing/2014/main" id="{FC57B98F-C650-4E01-8E78-9BA7BD7A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不同類別共用一個更新函式</a:t>
            </a:r>
          </a:p>
        </p:txBody>
      </p:sp>
      <p:sp>
        <p:nvSpPr>
          <p:cNvPr id="2" name="FallingTarget 與 Spark 都符合 Updatable">
            <a:extLst xmlns:a="http://schemas.openxmlformats.org/drawingml/2006/main">
              <a:ext uri="{FF2B5EF4-FFF2-40B4-BE49-F238E27FC236}">
                <a16:creationId xmlns:a16="http://schemas.microsoft.com/office/drawing/2014/main" id="{DE33286A-8EA2-41FF-AA23-4390E5D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FallingTarget 與 Spark 都符合 Updatable</a:t>
            </a:r>
          </a:p>
        </p:txBody>
      </p:sp>
      <p:sp>
        <p:nvSpPr>
          <p:cNvPr id="3" name="from contracts import FallingTarget, Spark, tick_all">
            <a:extLst xmlns:a="http://schemas.openxmlformats.org/drawingml/2006/main">
              <a:ext uri="{FF2B5EF4-FFF2-40B4-BE49-F238E27FC236}">
                <a16:creationId xmlns:a16="http://schemas.microsoft.com/office/drawing/2014/main" id="{09A71216-A287-43D1-A83A-F1CF5BE3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FallingTarget, Spark, tick_all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7541C-6BAA-4C07-81E9-58F234C7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target = FallingTarget()">
            <a:extLst xmlns:a="http://schemas.openxmlformats.org/drawingml/2006/main">
              <a:ext uri="{FF2B5EF4-FFF2-40B4-BE49-F238E27FC236}">
                <a16:creationId xmlns:a16="http://schemas.microsoft.com/office/drawing/2014/main" id="{0921629C-B4F3-44EE-A168-613718C5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target = FallingTarget()</a:t>
            </a:r>
          </a:p>
        </p:txBody>
      </p:sp>
      <p:sp>
        <p:nvSpPr>
          <p:cNvPr id="6" name="spark = Spark()">
            <a:extLst xmlns:a="http://schemas.openxmlformats.org/drawingml/2006/main">
              <a:ext uri="{FF2B5EF4-FFF2-40B4-BE49-F238E27FC236}">
                <a16:creationId xmlns:a16="http://schemas.microsoft.com/office/drawing/2014/main" id="{3F65A154-713E-4A46-8F51-D4F4AE98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spark = Spark()</a:t>
            </a:r>
          </a:p>
        </p:txBody>
      </p:sp>
      <p:sp>
        <p:nvSpPr>
          <p:cNvPr id="7" name="tick_all([target, spark], 0.5)">
            <a:extLst xmlns:a="http://schemas.openxmlformats.org/drawingml/2006/main">
              <a:ext uri="{FF2B5EF4-FFF2-40B4-BE49-F238E27FC236}">
                <a16:creationId xmlns:a16="http://schemas.microsoft.com/office/drawing/2014/main" id="{481F923B-AA3D-4B0C-A177-39C4071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tick_all([target, spark], 0.5)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2C2BC-6797-4054-8E3D-B68D4507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print(target.y, spark.ttl)">
            <a:extLst xmlns:a="http://schemas.openxmlformats.org/drawingml/2006/main">
              <a:ext uri="{FF2B5EF4-FFF2-40B4-BE49-F238E27FC236}">
                <a16:creationId xmlns:a16="http://schemas.microsoft.com/office/drawing/2014/main" id="{E0A05F0A-228C-452D-A916-0F5C8997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print(target.y, spark.ttl)</a:t>
            </a:r>
          </a:p>
        </p:txBody>
      </p:sp>
      <p:sp>
        <p:nvSpPr>
          <p:cNvPr id="10" name="# 40.0 0.5">
            <a:extLst xmlns:a="http://schemas.openxmlformats.org/drawingml/2006/main">
              <a:ext uri="{FF2B5EF4-FFF2-40B4-BE49-F238E27FC236}">
                <a16:creationId xmlns:a16="http://schemas.microsoft.com/office/drawing/2014/main" id="{711A197D-0BC6-4256-AF3F-E4747A6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40.0 0.5</a:t>
            </a:r>
          </a:p>
        </p:txBody>
      </p:sp>
      <p:sp>
        <p:nvSpPr>
          <p:cNvPr id="11" name="Spark 不必寫 class Spark(Updatable)。">
            <a:extLst xmlns:a="http://schemas.openxmlformats.org/drawingml/2006/main">
              <a:ext uri="{FF2B5EF4-FFF2-40B4-BE49-F238E27FC236}">
                <a16:creationId xmlns:a16="http://schemas.microsoft.com/office/drawing/2014/main" id="{24FBD861-4FA8-4CAC-BCB2-0C0E2A7C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Spark 不必寫 class Spark(Updatable)。</a:t>
            </a:r>
          </a:p>
        </p:txBody>
      </p:sp>
      <p:sp>
        <p:nvSpPr>
          <p:cNvPr id="12" name="同一個 dt 對不同物件產生不同狀態變化。">
            <a:extLst xmlns:a="http://schemas.openxmlformats.org/drawingml/2006/main">
              <a:ext uri="{FF2B5EF4-FFF2-40B4-BE49-F238E27FC236}">
                <a16:creationId xmlns:a16="http://schemas.microsoft.com/office/drawing/2014/main" id="{2EE8A15A-2721-44D7-BD93-C63CF59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同一個 dt 對不同物件產生不同狀態變化。</a:t>
            </a:r>
          </a:p>
        </p:txBody>
      </p:sp>
      <p:sp>
        <p:nvSpPr>
          <p:cNvPr id="13" name="contracts.py / executable example">
            <a:extLst xmlns:a="http://schemas.openxmlformats.org/drawingml/2006/main">
              <a:ext uri="{FF2B5EF4-FFF2-40B4-BE49-F238E27FC236}">
                <a16:creationId xmlns:a16="http://schemas.microsoft.com/office/drawing/2014/main" id="{69E30749-DB1A-4F5E-94E2-F41151FF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executable example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0C854A51-55C7-469A-A8A9-36F80ED2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9819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靜態檢查找出不相容的方法">
            <a:extLst xmlns:a="http://schemas.openxmlformats.org/drawingml/2006/main">
              <a:ext uri="{FF2B5EF4-FFF2-40B4-BE49-F238E27FC236}">
                <a16:creationId xmlns:a16="http://schemas.microsoft.com/office/drawing/2014/main" id="{3CC14446-6AAB-4DB9-94B7-0A1DB55A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靜態檢查找出不相容的方法</a:t>
            </a:r>
          </a:p>
        </p:txBody>
      </p:sp>
      <p:sp>
        <p:nvSpPr>
          <p:cNvPr id="2" name="typing_error.py 是刻意保留的錯誤範例">
            <a:extLst xmlns:a="http://schemas.openxmlformats.org/drawingml/2006/main">
              <a:ext uri="{FF2B5EF4-FFF2-40B4-BE49-F238E27FC236}">
                <a16:creationId xmlns:a16="http://schemas.microsoft.com/office/drawing/2014/main" id="{AF999CBF-1B9F-4871-8A9A-BEE6793A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typing_error.py 是刻意保留的錯誤範例</a:t>
            </a:r>
          </a:p>
        </p:txBody>
      </p:sp>
      <p:sp>
        <p:nvSpPr>
          <p:cNvPr id="3" name="from contracts import BadClock, Updatable">
            <a:extLst xmlns:a="http://schemas.openxmlformats.org/drawingml/2006/main">
              <a:ext uri="{FF2B5EF4-FFF2-40B4-BE49-F238E27FC236}">
                <a16:creationId xmlns:a16="http://schemas.microsoft.com/office/drawing/2014/main" id="{412EF52E-EB22-4E03-9B58-4433864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BadClock, Updatable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8A643-8ACC-4E72-A19C-7BA34CE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bad: Updatable = BadClock()">
            <a:extLst xmlns:a="http://schemas.openxmlformats.org/drawingml/2006/main">
              <a:ext uri="{FF2B5EF4-FFF2-40B4-BE49-F238E27FC236}">
                <a16:creationId xmlns:a16="http://schemas.microsoft.com/office/drawing/2014/main" id="{4ED83FD6-B786-427E-BA74-6B87735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bad: Updatable = BadClock()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E19E6-D44F-4B51-B3F4-A95CBE51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# mypy: incompatible types in assignment">
            <a:extLst xmlns:a="http://schemas.openxmlformats.org/drawingml/2006/main">
              <a:ext uri="{FF2B5EF4-FFF2-40B4-BE49-F238E27FC236}">
                <a16:creationId xmlns:a16="http://schemas.microsoft.com/office/drawing/2014/main" id="{98FC285A-D0C2-4EAE-B415-91A11121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mypy: incompatible types in assignment</a:t>
            </a:r>
          </a:p>
        </p:txBody>
      </p:sp>
      <p:sp>
        <p:nvSpPr>
          <p:cNvPr id="8" name="mypy 預期 update(self, dt: float)，但 BadClock 缺少 dt。">
            <a:extLst xmlns:a="http://schemas.openxmlformats.org/drawingml/2006/main">
              <a:ext uri="{FF2B5EF4-FFF2-40B4-BE49-F238E27FC236}">
                <a16:creationId xmlns:a16="http://schemas.microsoft.com/office/drawing/2014/main" id="{DF6D9A03-A845-4D51-B111-4E356963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mypy 預期 update(self, dt: float)，但 BadClock 缺少 dt。</a:t>
            </a:r>
          </a:p>
        </p:txBody>
      </p:sp>
      <p:sp>
        <p:nvSpPr>
          <p:cNvPr id="9" name="型別提示支援檢查，Python 不會自動執行 mypy。">
            <a:extLst xmlns:a="http://schemas.openxmlformats.org/drawingml/2006/main">
              <a:ext uri="{FF2B5EF4-FFF2-40B4-BE49-F238E27FC236}">
                <a16:creationId xmlns:a16="http://schemas.microsoft.com/office/drawing/2014/main" id="{68129F72-693D-4FEE-AC3C-3D7473E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型別提示支援檢查，Python 不會自動執行 mypy。</a:t>
            </a:r>
          </a:p>
        </p:txBody>
      </p:sp>
      <p:sp>
        <p:nvSpPr>
          <p:cNvPr id="10" name="typing_error.py">
            <a:extLst xmlns:a="http://schemas.openxmlformats.org/drawingml/2006/main">
              <a:ext uri="{FF2B5EF4-FFF2-40B4-BE49-F238E27FC236}">
                <a16:creationId xmlns:a16="http://schemas.microsoft.com/office/drawing/2014/main" id="{4AE7A28B-76E3-4DDB-B52D-84BB330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typing_error.py</a:t>
            </a:r>
          </a:p>
        </p:txBody>
      </p:sp>
      <p:sp>
        <p:nvSpPr>
          <p:cNvPr id="11" name="19">
            <a:extLst xmlns:a="http://schemas.openxmlformats.org/drawingml/2006/main">
              <a:ext uri="{FF2B5EF4-FFF2-40B4-BE49-F238E27FC236}">
                <a16:creationId xmlns:a16="http://schemas.microsoft.com/office/drawing/2014/main" id="{A259300A-842C-4FAA-8253-7CCD630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729159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ntime_checkable 的範圍">
            <a:extLst xmlns:a="http://schemas.openxmlformats.org/drawingml/2006/main">
              <a:ext uri="{FF2B5EF4-FFF2-40B4-BE49-F238E27FC236}">
                <a16:creationId xmlns:a16="http://schemas.microsoft.com/office/drawing/2014/main" id="{6EDE5001-FCE4-4E89-BC7C-87B96E2F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runtime_checkable 的範圍</a:t>
            </a:r>
          </a:p>
        </p:txBody>
      </p:sp>
      <p:sp>
        <p:nvSpPr>
          <p:cNvPr id="2" name="執行時檢查成員存在，不驗證完整方法簽章">
            <a:extLst xmlns:a="http://schemas.openxmlformats.org/drawingml/2006/main">
              <a:ext uri="{FF2B5EF4-FFF2-40B4-BE49-F238E27FC236}">
                <a16:creationId xmlns:a16="http://schemas.microsoft.com/office/drawing/2014/main" id="{A4E10064-E616-446B-8716-DA7F4B0C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執行時檢查成員存在，不驗證完整方法簽章</a:t>
            </a:r>
          </a:p>
        </p:txBody>
      </p:sp>
      <p:sp>
        <p:nvSpPr>
          <p:cNvPr id="3" name="from typing import Protocol, runtime_checkable">
            <a:extLst xmlns:a="http://schemas.openxmlformats.org/drawingml/2006/main">
              <a:ext uri="{FF2B5EF4-FFF2-40B4-BE49-F238E27FC236}">
                <a16:creationId xmlns:a16="http://schemas.microsoft.com/office/drawing/2014/main" id="{46A75807-94B4-4619-B133-9B161B8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Protocol, runtime_checkable</a:t>
            </a:r>
          </a:p>
        </p:txBody>
      </p:sp>
      <p:sp>
        <p:nvSpPr>
          <p:cNvPr id="4" name="from contracts import BadClock">
            <a:extLst xmlns:a="http://schemas.openxmlformats.org/drawingml/2006/main">
              <a:ext uri="{FF2B5EF4-FFF2-40B4-BE49-F238E27FC236}">
                <a16:creationId xmlns:a16="http://schemas.microsoft.com/office/drawing/2014/main" id="{699B87E1-DC76-420A-B3C7-3C3320A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BadClock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A9D89-42BD-4F22-A3A5-3686AF23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@runtime_checkable">
            <a:extLst xmlns:a="http://schemas.openxmlformats.org/drawingml/2006/main">
              <a:ext uri="{FF2B5EF4-FFF2-40B4-BE49-F238E27FC236}">
                <a16:creationId xmlns:a16="http://schemas.microsoft.com/office/drawing/2014/main" id="{B97C9554-BF9B-4D82-AC93-D49B705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@runtime_checkable</a:t>
            </a:r>
          </a:p>
        </p:txBody>
      </p:sp>
      <p:sp>
        <p:nvSpPr>
          <p:cNvPr id="7" name="class CanUpdate(Protocol):">
            <a:extLst xmlns:a="http://schemas.openxmlformats.org/drawingml/2006/main">
              <a:ext uri="{FF2B5EF4-FFF2-40B4-BE49-F238E27FC236}">
                <a16:creationId xmlns:a16="http://schemas.microsoft.com/office/drawing/2014/main" id="{8E5D0D9D-F42F-4FEA-8D60-7EFF71B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CanUpdate(Protocol):</a:t>
            </a:r>
          </a:p>
        </p:txBody>
      </p:sp>
      <p:sp>
        <p:nvSpPr>
          <p:cNvPr id="8" name="    def update(self, dt: float) -&gt; None: ...">
            <a:extLst xmlns:a="http://schemas.openxmlformats.org/drawingml/2006/main">
              <a:ext uri="{FF2B5EF4-FFF2-40B4-BE49-F238E27FC236}">
                <a16:creationId xmlns:a16="http://schemas.microsoft.com/office/drawing/2014/main" id="{BAF3FDD4-C39C-42C8-B191-780428F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 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9DCBE-0172-4227-909C-BD4E6F3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print(isinstance(BadClock(), CanUpdate))">
            <a:extLst xmlns:a="http://schemas.openxmlformats.org/drawingml/2006/main">
              <a:ext uri="{FF2B5EF4-FFF2-40B4-BE49-F238E27FC236}">
                <a16:creationId xmlns:a16="http://schemas.microsoft.com/office/drawing/2014/main" id="{1884A700-E8CA-4192-BB08-262C840F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print(isinstance(BadClock(), CanUpdate))</a:t>
            </a:r>
          </a:p>
        </p:txBody>
      </p:sp>
      <p:sp>
        <p:nvSpPr>
          <p:cNvPr id="11" name="# True">
            <a:extLst xmlns:a="http://schemas.openxmlformats.org/drawingml/2006/main">
              <a:ext uri="{FF2B5EF4-FFF2-40B4-BE49-F238E27FC236}">
                <a16:creationId xmlns:a16="http://schemas.microsoft.com/office/drawing/2014/main" id="{F87ED865-A438-4B7D-91B8-9B41EA3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True</a:t>
            </a:r>
          </a:p>
        </p:txBody>
      </p:sp>
      <p:sp>
        <p:nvSpPr>
          <p:cNvPr id="12" name="isinstance 回傳 True，不代表 update(0.5) 一定成功。">
            <a:extLst xmlns:a="http://schemas.openxmlformats.org/drawingml/2006/main">
              <a:ext uri="{FF2B5EF4-FFF2-40B4-BE49-F238E27FC236}">
                <a16:creationId xmlns:a16="http://schemas.microsoft.com/office/drawing/2014/main" id="{2A64AF76-A550-44D0-8D71-A0BCDD5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isinstance 回傳 True，不代表 update(0.5) 一定成功。</a:t>
            </a:r>
          </a:p>
        </p:txBody>
      </p:sp>
      <p:sp>
        <p:nvSpPr>
          <p:cNvPr id="13" name="一般 Protocol 未加此裝飾器時，不能拿來做這種 isinstance 檢查。">
            <a:extLst xmlns:a="http://schemas.openxmlformats.org/drawingml/2006/main">
              <a:ext uri="{FF2B5EF4-FFF2-40B4-BE49-F238E27FC236}">
                <a16:creationId xmlns:a16="http://schemas.microsoft.com/office/drawing/2014/main" id="{DA4915B1-F23A-4061-B3AA-3AC24E79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一般 Protocol 未加此裝飾器時，不能拿來做這種 isinstance 檢查。</a:t>
            </a:r>
          </a:p>
        </p:txBody>
      </p:sp>
      <p:sp>
        <p:nvSpPr>
          <p:cNvPr id="14" name="contracts.py / CanUpdate">
            <a:extLst xmlns:a="http://schemas.openxmlformats.org/drawingml/2006/main">
              <a:ext uri="{FF2B5EF4-FFF2-40B4-BE49-F238E27FC236}">
                <a16:creationId xmlns:a16="http://schemas.microsoft.com/office/drawing/2014/main" id="{64BC9D0D-2F58-44D3-B2AE-9F88981C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CanUpdate</a:t>
            </a:r>
          </a:p>
        </p:txBody>
      </p:sp>
      <p:sp>
        <p:nvSpPr>
          <p:cNvPr id="15" name="20">
            <a:extLst xmlns:a="http://schemas.openxmlformats.org/drawingml/2006/main">
              <a:ext uri="{FF2B5EF4-FFF2-40B4-BE49-F238E27FC236}">
                <a16:creationId xmlns:a16="http://schemas.microsoft.com/office/drawing/2014/main" id="{3C8BC569-DA91-4757-A96A-8DA9914F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003278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種介面方式的比較">
            <a:extLst xmlns:a="http://schemas.openxmlformats.org/drawingml/2006/main">
              <a:ext uri="{FF2B5EF4-FFF2-40B4-BE49-F238E27FC236}">
                <a16:creationId xmlns:a16="http://schemas.microsoft.com/office/drawing/2014/main" id="{0C693C24-5059-4A77-9A82-2B6CF986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三種介面方式的比較</a:t>
            </a:r>
          </a:p>
        </p:txBody>
      </p:sp>
      <p:sp>
        <p:nvSpPr>
          <p:cNvPr id="2" name="依需要選擇約束與檢查方式">
            <a:extLst xmlns:a="http://schemas.openxmlformats.org/drawingml/2006/main">
              <a:ext uri="{FF2B5EF4-FFF2-40B4-BE49-F238E27FC236}">
                <a16:creationId xmlns:a16="http://schemas.microsoft.com/office/drawing/2014/main" id="{CC79261A-5932-404D-B89D-93EEDC4E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依需要選擇約束與檢查方式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37B76-07A0-4A34-B45E-9D2558966DD2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33875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相容依據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主要檢查時機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鴨子型別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實際呼叫需要的操作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執行呼叫時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繼承及抽象方法實作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建立實體時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方法與屬性的結構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主要由靜態檢查器檢查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三種方式都能配合多型。ABC 與 Protocol 也可以在同一專案共存。">
            <a:extLst xmlns:a="http://schemas.openxmlformats.org/drawingml/2006/main">
              <a:ext uri="{FF2B5EF4-FFF2-40B4-BE49-F238E27FC236}">
                <a16:creationId xmlns:a16="http://schemas.microsoft.com/office/drawing/2014/main" id="{4A783682-C1B8-4C97-9CF7-B0E351EC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三種方式都能配合多型。ABC 與 Protocol 也可以在同一專案共存。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C2A06207-CDDA-49A5-9E40-5859A460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275657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型別相容與行為正確">
            <a:extLst xmlns:a="http://schemas.openxmlformats.org/drawingml/2006/main">
              <a:ext uri="{FF2B5EF4-FFF2-40B4-BE49-F238E27FC236}">
                <a16:creationId xmlns:a16="http://schemas.microsoft.com/office/drawing/2014/main" id="{461C7BAA-A6D9-41B1-B833-409E42B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型別相容與行為正確</a:t>
            </a:r>
          </a:p>
        </p:txBody>
      </p:sp>
      <p:sp>
        <p:nvSpPr>
          <p:cNvPr id="2" name="介面定義可接受的呼叫，測試檢查狀態變化">
            <a:extLst xmlns:a="http://schemas.openxmlformats.org/drawingml/2006/main">
              <a:ext uri="{FF2B5EF4-FFF2-40B4-BE49-F238E27FC236}">
                <a16:creationId xmlns:a16="http://schemas.microsoft.com/office/drawing/2014/main" id="{8359477F-3FAB-447D-BEEC-8130AD58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介面定義可接受的呼叫，測試檢查狀態變化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824176C-24D5-4741-AEA1-D00B135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update(dt) 的 dt 都以秒為單位，避免一個類別誤用毫秒。">
            <a:extLst xmlns:a="http://schemas.openxmlformats.org/drawingml/2006/main">
              <a:ext uri="{FF2B5EF4-FFF2-40B4-BE49-F238E27FC236}">
                <a16:creationId xmlns:a16="http://schemas.microsoft.com/office/drawing/2014/main" id="{21CD4670-B28F-47B3-9253-194F2623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update(dt) 的 dt 都以秒為單位，避免一個類別誤用毫秒。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A29B7303-D2FD-49E0-8EB2-E8BF0982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覆寫方法仍接受原本呼叫，不新增必填參數。">
            <a:extLst xmlns:a="http://schemas.openxmlformats.org/drawingml/2006/main">
              <a:ext uri="{FF2B5EF4-FFF2-40B4-BE49-F238E27FC236}">
                <a16:creationId xmlns:a16="http://schemas.microsoft.com/office/drawing/2014/main" id="{DBDCC662-D62A-455F-9BE0-19AD943B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覆寫方法仍接受原本呼叫，不新增必填參數。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7E858A2E-AE1B-40D6-BF37-9A8DB17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測試也檢查位置、生命與 rect 是否維持一致。">
            <a:extLst xmlns:a="http://schemas.openxmlformats.org/drawingml/2006/main">
              <a:ext uri="{FF2B5EF4-FFF2-40B4-BE49-F238E27FC236}">
                <a16:creationId xmlns:a16="http://schemas.microsoft.com/office/drawing/2014/main" id="{E023AA30-5C8E-4343-A447-F35F982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測試也檢查位置、生命與 rect 是否維持一致。</a:t>
            </a:r>
          </a:p>
        </p:txBody>
      </p:sp>
      <p:sp>
        <p:nvSpPr>
          <p:cNvPr id="9" name="22">
            <a:extLst xmlns:a="http://schemas.openxmlformats.org/drawingml/2006/main">
              <a:ext uri="{FF2B5EF4-FFF2-40B4-BE49-F238E27FC236}">
                <a16:creationId xmlns:a16="http://schemas.microsoft.com/office/drawing/2014/main" id="{A39D4A98-A58E-4E83-91BF-3DD742F3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612013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以組合分離移動行為">
            <a:extLst xmlns:a="http://schemas.openxmlformats.org/drawingml/2006/main">
              <a:ext uri="{FF2B5EF4-FFF2-40B4-BE49-F238E27FC236}">
                <a16:creationId xmlns:a16="http://schemas.microsoft.com/office/drawing/2014/main" id="{7119BD8C-CB6D-4BFA-A4D8-3396BE01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以組合分離移動行為</a:t>
            </a:r>
          </a:p>
        </p:txBody>
      </p:sp>
      <p:sp>
        <p:nvSpPr>
          <p:cNvPr id="2" name="Enemy 持有 Motion，將速度計算交給它">
            <a:extLst xmlns:a="http://schemas.openxmlformats.org/drawingml/2006/main">
              <a:ext uri="{FF2B5EF4-FFF2-40B4-BE49-F238E27FC236}">
                <a16:creationId xmlns:a16="http://schemas.microsoft.com/office/drawing/2014/main" id="{C59FFA96-CE0B-46E2-8DC5-52AFBC4D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Enemy 持有 Motion，將速度計算交給它</a:t>
            </a:r>
          </a:p>
        </p:txBody>
      </p:sp>
      <p:sp>
        <p:nvSpPr>
          <p:cNvPr id="3" name="from typing import Protocol">
            <a:extLst xmlns:a="http://schemas.openxmlformats.org/drawingml/2006/main">
              <a:ext uri="{FF2B5EF4-FFF2-40B4-BE49-F238E27FC236}">
                <a16:creationId xmlns:a16="http://schemas.microsoft.com/office/drawing/2014/main" id="{7F32472B-A517-4069-ACF3-C70B8DB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D66A3-F1CF-4B07-BE39-58B5961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Motion(Protocol):">
            <a:extLst xmlns:a="http://schemas.openxmlformats.org/drawingml/2006/main">
              <a:ext uri="{FF2B5EF4-FFF2-40B4-BE49-F238E27FC236}">
                <a16:creationId xmlns:a16="http://schemas.microsoft.com/office/drawing/2014/main" id="{76BC3453-2309-4144-9009-DB3A124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Motion(Protocol):</a:t>
            </a:r>
          </a:p>
        </p:txBody>
      </p:sp>
      <p:sp>
        <p:nvSpPr>
          <p:cNvPr id="6" name="    def velocity(self, dt: float) -&gt; tuple[float, float]: ...">
            <a:extLst xmlns:a="http://schemas.openxmlformats.org/drawingml/2006/main">
              <a:ext uri="{FF2B5EF4-FFF2-40B4-BE49-F238E27FC236}">
                <a16:creationId xmlns:a16="http://schemas.microsoft.com/office/drawing/2014/main" id="{0D8C1E13-4529-4311-82AD-9FAA697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 ...</a:t>
            </a:r>
          </a:p>
        </p:txBody>
      </p:sp>
      <p:sp>
        <p:nvSpPr>
          <p:cNvPr id="7" name="Motion 只描述 velocity(dt)，回傳 (vx, vy)。">
            <a:extLst xmlns:a="http://schemas.openxmlformats.org/drawingml/2006/main">
              <a:ext uri="{FF2B5EF4-FFF2-40B4-BE49-F238E27FC236}">
                <a16:creationId xmlns:a16="http://schemas.microsoft.com/office/drawing/2014/main" id="{C8DAB2A7-9BB0-496E-8B4E-44A1BA87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Motion 只描述 velocity(dt)，回傳 (vx, vy)。</a:t>
            </a:r>
          </a:p>
        </p:txBody>
      </p:sp>
      <p:sp>
        <p:nvSpPr>
          <p:cNvPr id="8" name="回傳值是速度，尚未乘上 dt。">
            <a:extLst xmlns:a="http://schemas.openxmlformats.org/drawingml/2006/main">
              <a:ext uri="{FF2B5EF4-FFF2-40B4-BE49-F238E27FC236}">
                <a16:creationId xmlns:a16="http://schemas.microsoft.com/office/drawing/2014/main" id="{B5DAB474-4745-4DE9-9F28-945B8227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回傳值是速度，尚未乘上 dt。</a:t>
            </a:r>
          </a:p>
        </p:txBody>
      </p:sp>
      <p:sp>
        <p:nvSpPr>
          <p:cNvPr id="9" name="motion.py / Motion">
            <a:extLst xmlns:a="http://schemas.openxmlformats.org/drawingml/2006/main">
              <a:ext uri="{FF2B5EF4-FFF2-40B4-BE49-F238E27FC236}">
                <a16:creationId xmlns:a16="http://schemas.microsoft.com/office/drawing/2014/main" id="{B0B48AB8-4CB8-4367-AA77-6C4C78C1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Motion</a:t>
            </a:r>
          </a:p>
        </p:txBody>
      </p:sp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CA068BF1-5AB2-4271-9035-650B804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694241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直線與擺動兩種策略">
            <a:extLst xmlns:a="http://schemas.openxmlformats.org/drawingml/2006/main">
              <a:ext uri="{FF2B5EF4-FFF2-40B4-BE49-F238E27FC236}">
                <a16:creationId xmlns:a16="http://schemas.microsoft.com/office/drawing/2014/main" id="{E15E6DA6-C255-4E08-B2FE-D561185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直線與擺動兩種策略</a:t>
            </a:r>
          </a:p>
        </p:txBody>
      </p:sp>
      <p:sp>
        <p:nvSpPr>
          <p:cNvPr id="2" name="相同 velocity(dt)，產生不同速度">
            <a:extLst xmlns:a="http://schemas.openxmlformats.org/drawingml/2006/main">
              <a:ext uri="{FF2B5EF4-FFF2-40B4-BE49-F238E27FC236}">
                <a16:creationId xmlns:a16="http://schemas.microsoft.com/office/drawing/2014/main" id="{070490BE-E093-45A8-B733-BD756858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相同 velocity(dt)，產生不同速度</a:t>
            </a:r>
          </a:p>
        </p:txBody>
      </p:sp>
      <p:sp>
        <p:nvSpPr>
          <p:cNvPr id="3" name="from math import cos">
            <a:extLst xmlns:a="http://schemas.openxmlformats.org/drawingml/2006/main">
              <a:ext uri="{FF2B5EF4-FFF2-40B4-BE49-F238E27FC236}">
                <a16:creationId xmlns:a16="http://schemas.microsoft.com/office/drawing/2014/main" id="{E13610B1-48EF-4EB6-8EFB-9136083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math import cos</a:t>
            </a:r>
          </a:p>
        </p:txBody>
      </p:sp>
      <p:sp>
        <p:nvSpPr>
          <p:cNvPr id="4" name="class Straight:">
            <a:extLst xmlns:a="http://schemas.openxmlformats.org/drawingml/2006/main">
              <a:ext uri="{FF2B5EF4-FFF2-40B4-BE49-F238E27FC236}">
                <a16:creationId xmlns:a16="http://schemas.microsoft.com/office/drawing/2014/main" id="{83790A71-D239-4033-8721-2B72304E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Straight:</a:t>
            </a:r>
          </a:p>
        </p:txBody>
      </p:sp>
      <p:sp>
        <p:nvSpPr>
          <p:cNvPr id="5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C232E128-9B15-497B-AFDF-3C15CA6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6" name="        return (0.0, 80.0)">
            <a:extLst xmlns:a="http://schemas.openxmlformats.org/drawingml/2006/main">
              <a:ext uri="{FF2B5EF4-FFF2-40B4-BE49-F238E27FC236}">
                <a16:creationId xmlns:a16="http://schemas.microsoft.com/office/drawing/2014/main" id="{6BC7B14D-16C0-4E45-B385-C0AED126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(0.0, 80.0)</a:t>
            </a:r>
          </a:p>
        </p:txBody>
      </p:sp>
      <p:sp>
        <p:nvSpPr>
          <p:cNvPr id="7" name="class Weave:">
            <a:extLst xmlns:a="http://schemas.openxmlformats.org/drawingml/2006/main">
              <a:ext uri="{FF2B5EF4-FFF2-40B4-BE49-F238E27FC236}">
                <a16:creationId xmlns:a16="http://schemas.microsoft.com/office/drawing/2014/main" id="{C912BC95-E794-4E48-9616-AC64C2CC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Weave:</a:t>
            </a:r>
          </a:p>
        </p:txBody>
      </p:sp>
      <p:sp>
        <p:nvSpPr>
          <p:cNvPr id="8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BF1683E7-C118-4F57-B99D-D917525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9" name="        self.elapsed = 0.0">
            <a:extLst xmlns:a="http://schemas.openxmlformats.org/drawingml/2006/main">
              <a:ext uri="{FF2B5EF4-FFF2-40B4-BE49-F238E27FC236}">
                <a16:creationId xmlns:a16="http://schemas.microsoft.com/office/drawing/2014/main" id="{99BEDC9B-90D2-42FE-8A18-AD505110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= 0.0</a:t>
            </a:r>
          </a:p>
        </p:txBody>
      </p:sp>
      <p:sp>
        <p:nvSpPr>
          <p:cNvPr id="10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46272BD3-198E-449A-A399-BF5454C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11" name="        self.elapsed += dt">
            <a:extLst xmlns:a="http://schemas.openxmlformats.org/drawingml/2006/main">
              <a:ext uri="{FF2B5EF4-FFF2-40B4-BE49-F238E27FC236}">
                <a16:creationId xmlns:a16="http://schemas.microsoft.com/office/drawing/2014/main" id="{174F62FD-51D0-4EDD-B2F2-28E6172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+= dt</a:t>
            </a:r>
          </a:p>
        </p:txBody>
      </p:sp>
      <p:sp>
        <p:nvSpPr>
          <p:cNvPr id="12" name="        return (100.0 * cos(3.0 * self.elapsed), 80.0)">
            <a:extLst xmlns:a="http://schemas.openxmlformats.org/drawingml/2006/main">
              <a:ext uri="{FF2B5EF4-FFF2-40B4-BE49-F238E27FC236}">
                <a16:creationId xmlns:a16="http://schemas.microsoft.com/office/drawing/2014/main" id="{1466A25A-F336-445D-9D6D-E453D367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(100.0 * cos(3.0 * self.elapsed), 80.0)</a:t>
            </a:r>
          </a:p>
        </p:txBody>
      </p:sp>
      <p:sp>
        <p:nvSpPr>
          <p:cNvPr id="13" name="Straight 不需保存時間，Weave 用 elapsed 保存自己的進度。">
            <a:extLst xmlns:a="http://schemas.openxmlformats.org/drawingml/2006/main">
              <a:ext uri="{FF2B5EF4-FFF2-40B4-BE49-F238E27FC236}">
                <a16:creationId xmlns:a16="http://schemas.microsoft.com/office/drawing/2014/main" id="{68619289-AF34-451D-8FEF-BECF053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Straight 不需保存時間，Weave 用 elapsed 保存自己的進度。</a:t>
            </a:r>
          </a:p>
        </p:txBody>
      </p:sp>
      <p:sp>
        <p:nvSpPr>
          <p:cNvPr id="14" name="每個敵人建立自己的 Weave，避免共用可變時間狀態。">
            <a:extLst xmlns:a="http://schemas.openxmlformats.org/drawingml/2006/main">
              <a:ext uri="{FF2B5EF4-FFF2-40B4-BE49-F238E27FC236}">
                <a16:creationId xmlns:a16="http://schemas.microsoft.com/office/drawing/2014/main" id="{C3C9E06C-7236-448A-9F84-DFD915D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每個敵人建立自己的 Weave，避免共用可變時間狀態。</a:t>
            </a:r>
          </a:p>
        </p:txBody>
      </p:sp>
      <p:sp>
        <p:nvSpPr>
          <p:cNvPr id="15" name="motion.py / Straight, Weave">
            <a:extLst xmlns:a="http://schemas.openxmlformats.org/drawingml/2006/main">
              <a:ext uri="{FF2B5EF4-FFF2-40B4-BE49-F238E27FC236}">
                <a16:creationId xmlns:a16="http://schemas.microsoft.com/office/drawing/2014/main" id="{79135D82-3AA4-41E4-AFA3-09BC5BD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Straight, Weave</a:t>
            </a:r>
          </a:p>
        </p:txBody>
      </p:sp>
      <p:sp>
        <p:nvSpPr>
          <p:cNvPr id="16" name="24">
            <a:extLst xmlns:a="http://schemas.openxmlformats.org/drawingml/2006/main">
              <a:ext uri="{FF2B5EF4-FFF2-40B4-BE49-F238E27FC236}">
                <a16:creationId xmlns:a16="http://schemas.microsoft.com/office/drawing/2014/main" id="{AAAA5DC3-6C43-4B36-8E50-28EBFBB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274537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trategyEnemy 委派速度計算">
            <a:extLst xmlns:a="http://schemas.openxmlformats.org/drawingml/2006/main">
              <a:ext uri="{FF2B5EF4-FFF2-40B4-BE49-F238E27FC236}">
                <a16:creationId xmlns:a16="http://schemas.microsoft.com/office/drawing/2014/main" id="{9BD4C2FA-F9C5-4359-B94F-A0C8F5E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StrategyEnemy 委派速度計算</a:t>
            </a:r>
          </a:p>
        </p:txBody>
      </p:sp>
      <p:sp>
        <p:nvSpPr>
          <p:cNvPr id="2" name="繼承 Enemy 的角色功能，同時持有移動策略">
            <a:extLst xmlns:a="http://schemas.openxmlformats.org/drawingml/2006/main">
              <a:ext uri="{FF2B5EF4-FFF2-40B4-BE49-F238E27FC236}">
                <a16:creationId xmlns:a16="http://schemas.microsoft.com/office/drawing/2014/main" id="{AEDFDD04-CB21-4145-86F5-B9A3FB8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繼承 Enemy 的角色功能，同時持有移動策略</a:t>
            </a:r>
          </a:p>
        </p:txBody>
      </p:sp>
      <p:sp>
        <p:nvSpPr>
          <p:cNvPr id="3" name="class StrategyEnemy(Enemy):">
            <a:extLst xmlns:a="http://schemas.openxmlformats.org/drawingml/2006/main">
              <a:ext uri="{FF2B5EF4-FFF2-40B4-BE49-F238E27FC236}">
                <a16:creationId xmlns:a16="http://schemas.microsoft.com/office/drawing/2014/main" id="{4378C34A-F30A-4D67-96C9-790F161D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StrategyEnemy(Enemy):</a:t>
            </a:r>
          </a:p>
        </p:txBody>
      </p:sp>
      <p:sp>
        <p:nvSpPr>
          <p:cNvPr id="4" name="    def __init__(self, name, position, motion: Motion):">
            <a:extLst xmlns:a="http://schemas.openxmlformats.org/drawingml/2006/main">
              <a:ext uri="{FF2B5EF4-FFF2-40B4-BE49-F238E27FC236}">
                <a16:creationId xmlns:a16="http://schemas.microsoft.com/office/drawing/2014/main" id="{E6DD3BEB-831B-46CD-BB3A-680950D2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motion: Motion):</a:t>
            </a:r>
          </a:p>
        </p:txBody>
      </p:sp>
      <p:sp>
        <p:nvSpPr>
          <p:cNvPr id="5" name="        super().__init__(name, position)">
            <a:extLst xmlns:a="http://schemas.openxmlformats.org/drawingml/2006/main">
              <a:ext uri="{FF2B5EF4-FFF2-40B4-BE49-F238E27FC236}">
                <a16:creationId xmlns:a16="http://schemas.microsoft.com/office/drawing/2014/main" id="{882DB318-C037-4546-A4AA-D7625E3B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position)</a:t>
            </a:r>
          </a:p>
        </p:txBody>
      </p:sp>
      <p:sp>
        <p:nvSpPr>
          <p:cNvPr id="6" name="        self.motion = motion">
            <a:extLst xmlns:a="http://schemas.openxmlformats.org/drawingml/2006/main">
              <a:ext uri="{FF2B5EF4-FFF2-40B4-BE49-F238E27FC236}">
                <a16:creationId xmlns:a16="http://schemas.microsoft.com/office/drawing/2014/main" id="{4EF9B5DE-330D-4AE4-A469-62301B7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self.motion =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D5E20-5487-4178-8A5C-CA42127B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3C72B51A-9225-4A82-980A-CA3802D4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9" name="        vx, vy = self.motion.velocity(dt)">
            <a:extLst xmlns:a="http://schemas.openxmlformats.org/drawingml/2006/main">
              <a:ext uri="{FF2B5EF4-FFF2-40B4-BE49-F238E27FC236}">
                <a16:creationId xmlns:a16="http://schemas.microsoft.com/office/drawing/2014/main" id="{E56CBA18-FD6E-47D2-8E71-A436E327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vx, vy = self.motion.velocity(dt)</a:t>
            </a:r>
          </a:p>
        </p:txBody>
      </p:sp>
      <p:sp>
        <p:nvSpPr>
          <p:cNvPr id="10" name="        self.velocity.update(vx, vy)">
            <a:extLst xmlns:a="http://schemas.openxmlformats.org/drawingml/2006/main">
              <a:ext uri="{FF2B5EF4-FFF2-40B4-BE49-F238E27FC236}">
                <a16:creationId xmlns:a16="http://schemas.microsoft.com/office/drawing/2014/main" id="{C34CAACA-FCD7-460A-AA78-5CD0088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self.velocity.update(vx, vy)</a:t>
            </a:r>
          </a:p>
        </p:txBody>
      </p:sp>
      <p:sp>
        <p:nvSpPr>
          <p:cNvPr id="11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43653E4B-E554-4AE5-AB14-17E4F499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12" name="先取得速度，再由 Actor.update 將速度乘上 dt。">
            <a:extLst xmlns:a="http://schemas.openxmlformats.org/drawingml/2006/main">
              <a:ext uri="{FF2B5EF4-FFF2-40B4-BE49-F238E27FC236}">
                <a16:creationId xmlns:a16="http://schemas.microsoft.com/office/drawing/2014/main" id="{D8B1281A-C33F-4E67-BF57-B4532C4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先取得速度，再由 Actor.update 將速度乘上 dt。</a:t>
            </a:r>
          </a:p>
        </p:txBody>
      </p:sp>
      <p:sp>
        <p:nvSpPr>
          <p:cNvPr id="13" name="本例使用物件參照合作，不能只憑持有屬性就判定 UML 強組合。">
            <a:extLst xmlns:a="http://schemas.openxmlformats.org/drawingml/2006/main">
              <a:ext uri="{FF2B5EF4-FFF2-40B4-BE49-F238E27FC236}">
                <a16:creationId xmlns:a16="http://schemas.microsoft.com/office/drawing/2014/main" id="{CB1DAE4F-E0D9-4F0B-BB70-4CB4391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本例使用物件參照合作，不能只憑持有屬性就判定 UML 強組合。</a:t>
            </a:r>
          </a:p>
        </p:txBody>
      </p:sp>
      <p:sp>
        <p:nvSpPr>
          <p:cNvPr id="14" name="extension.py / StrategyEnemy">
            <a:extLst xmlns:a="http://schemas.openxmlformats.org/drawingml/2006/main">
              <a:ext uri="{FF2B5EF4-FFF2-40B4-BE49-F238E27FC236}">
                <a16:creationId xmlns:a16="http://schemas.microsoft.com/office/drawing/2014/main" id="{21A55B70-2B7F-4C8C-A814-0D1C10E3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/ StrategyEnemy</a:t>
            </a:r>
          </a:p>
        </p:txBody>
      </p:sp>
      <p:sp>
        <p:nvSpPr>
          <p:cNvPr id="15" name="25">
            <a:extLst xmlns:a="http://schemas.openxmlformats.org/drawingml/2006/main">
              <a:ext uri="{FF2B5EF4-FFF2-40B4-BE49-F238E27FC236}">
                <a16:creationId xmlns:a16="http://schemas.microsoft.com/office/drawing/2014/main" id="{96828141-2742-48D9-99C9-A5422CA9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449933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保留敵人物件，替換策略">
            <a:extLst xmlns:a="http://schemas.openxmlformats.org/drawingml/2006/main">
              <a:ext uri="{FF2B5EF4-FFF2-40B4-BE49-F238E27FC236}">
                <a16:creationId xmlns:a16="http://schemas.microsoft.com/office/drawing/2014/main" id="{F3ECEEA0-4BDF-4833-BF73-4A8FEA8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保留敵人物件，替換策略</a:t>
            </a:r>
          </a:p>
        </p:txBody>
      </p:sp>
      <p:sp>
        <p:nvSpPr>
          <p:cNvPr id="2" name="改變 motion 參照，不必重建 Enemy">
            <a:extLst xmlns:a="http://schemas.openxmlformats.org/drawingml/2006/main">
              <a:ext uri="{FF2B5EF4-FFF2-40B4-BE49-F238E27FC236}">
                <a16:creationId xmlns:a16="http://schemas.microsoft.com/office/drawing/2014/main" id="{F2D894E2-1ABE-4396-9537-C8578E5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改變 motion 參照，不必重建 Enemy</a:t>
            </a:r>
          </a:p>
        </p:txBody>
      </p:sp>
      <p:sp>
        <p:nvSpPr>
          <p:cNvPr id="3" name="from extension import StrategyEnemy">
            <a:extLst xmlns:a="http://schemas.openxmlformats.org/drawingml/2006/main">
              <a:ext uri="{FF2B5EF4-FFF2-40B4-BE49-F238E27FC236}">
                <a16:creationId xmlns:a16="http://schemas.microsoft.com/office/drawing/2014/main" id="{477765F1-1BCC-47A9-BA19-553A3795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extension import StrategyEnemy</a:t>
            </a:r>
          </a:p>
        </p:txBody>
      </p:sp>
      <p:sp>
        <p:nvSpPr>
          <p:cNvPr id="4" name="from motion import Straight, Weave">
            <a:extLst xmlns:a="http://schemas.openxmlformats.org/drawingml/2006/main">
              <a:ext uri="{FF2B5EF4-FFF2-40B4-BE49-F238E27FC236}">
                <a16:creationId xmlns:a16="http://schemas.microsoft.com/office/drawing/2014/main" id="{D399046C-5397-4561-9E6E-2ACFE6A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motion import Straight, Weave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2755B-DDCA-49B4-8F1D-9E2CCF76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enemy = StrategyEnemy(&quot;E03&quot;, (620, 175), Weave())">
            <a:extLst xmlns:a="http://schemas.openxmlformats.org/drawingml/2006/main">
              <a:ext uri="{FF2B5EF4-FFF2-40B4-BE49-F238E27FC236}">
                <a16:creationId xmlns:a16="http://schemas.microsoft.com/office/drawing/2014/main" id="{092EFBF2-95BB-4254-8631-AA49D84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StrategyEnemy("E03", (620, 175), Weave())</a:t>
            </a:r>
          </a:p>
        </p:txBody>
      </p:sp>
      <p:sp>
        <p:nvSpPr>
          <p:cNvPr id="7" name="original = enemy">
            <a:extLst xmlns:a="http://schemas.openxmlformats.org/drawingml/2006/main">
              <a:ext uri="{FF2B5EF4-FFF2-40B4-BE49-F238E27FC236}">
                <a16:creationId xmlns:a16="http://schemas.microsoft.com/office/drawing/2014/main" id="{3ADBB560-DD23-4641-A66F-2B9DA4C1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original = enemy</a:t>
            </a:r>
          </a:p>
        </p:txBody>
      </p:sp>
      <p:sp>
        <p:nvSpPr>
          <p:cNvPr id="8" name="enemy.motion = Straight()">
            <a:extLst xmlns:a="http://schemas.openxmlformats.org/drawingml/2006/main">
              <a:ext uri="{FF2B5EF4-FFF2-40B4-BE49-F238E27FC236}">
                <a16:creationId xmlns:a16="http://schemas.microsoft.com/office/drawing/2014/main" id="{3223C454-1E78-4D43-A932-512ED1E1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enemy.motion = Straight()</a:t>
            </a:r>
          </a:p>
        </p:txBody>
      </p:sp>
      <p:sp>
        <p:nvSpPr>
          <p:cNvPr id="9" name="print(enemy is original)  # True">
            <a:extLst xmlns:a="http://schemas.openxmlformats.org/drawingml/2006/main">
              <a:ext uri="{FF2B5EF4-FFF2-40B4-BE49-F238E27FC236}">
                <a16:creationId xmlns:a16="http://schemas.microsoft.com/office/drawing/2014/main" id="{61DDDE6B-CF69-436F-833E-68452C9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 is original)  # True</a:t>
            </a:r>
          </a:p>
        </p:txBody>
      </p:sp>
      <p:sp>
        <p:nvSpPr>
          <p:cNvPr id="10" name="enemy 的身分、位置及 hp 保留。下一次更新使用新策略。">
            <a:extLst xmlns:a="http://schemas.openxmlformats.org/drawingml/2006/main">
              <a:ext uri="{FF2B5EF4-FFF2-40B4-BE49-F238E27FC236}">
                <a16:creationId xmlns:a16="http://schemas.microsoft.com/office/drawing/2014/main" id="{CC924621-F924-4017-8BC1-646DCC99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enemy 的身分、位置及 hp 保留。下一次更新使用新策略。</a:t>
            </a:r>
          </a:p>
        </p:txBody>
      </p:sp>
      <p:sp>
        <p:nvSpPr>
          <p:cNvPr id="11" name="第 8 週遊戲按 C 切換 StrategyEnemy 的直線／擺動策略。">
            <a:extLst xmlns:a="http://schemas.openxmlformats.org/drawingml/2006/main">
              <a:ext uri="{FF2B5EF4-FFF2-40B4-BE49-F238E27FC236}">
                <a16:creationId xmlns:a16="http://schemas.microsoft.com/office/drawing/2014/main" id="{752E7BD8-FB22-4BA4-9F03-7AF5837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第 8 週遊戲按 C 切換 StrategyEnemy 的直線／擺動策略。</a:t>
            </a:r>
          </a:p>
        </p:txBody>
      </p:sp>
      <p:sp>
        <p:nvSpPr>
          <p:cNvPr id="12" name="extension.py + motion.py">
            <a:extLst xmlns:a="http://schemas.openxmlformats.org/drawingml/2006/main">
              <a:ext uri="{FF2B5EF4-FFF2-40B4-BE49-F238E27FC236}">
                <a16:creationId xmlns:a16="http://schemas.microsoft.com/office/drawing/2014/main" id="{E4BEE8FF-3552-4845-84F0-72EACA8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+ motion.py</a:t>
            </a:r>
          </a:p>
        </p:txBody>
      </p:sp>
      <p:sp>
        <p:nvSpPr>
          <p:cNvPr id="13" name="26">
            <a:extLst xmlns:a="http://schemas.openxmlformats.org/drawingml/2006/main">
              <a:ext uri="{FF2B5EF4-FFF2-40B4-BE49-F238E27FC236}">
                <a16:creationId xmlns:a16="http://schemas.microsoft.com/office/drawing/2014/main" id="{FE7CF3D0-78CE-41E9-86E6-B048FC2F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573180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繼承與組合的選擇">
            <a:extLst xmlns:a="http://schemas.openxmlformats.org/drawingml/2006/main">
              <a:ext uri="{FF2B5EF4-FFF2-40B4-BE49-F238E27FC236}">
                <a16:creationId xmlns:a16="http://schemas.microsoft.com/office/drawing/2014/main" id="{DBE6415C-87E3-4438-B3B8-A20AE98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繼承與組合的選擇</a:t>
            </a:r>
          </a:p>
        </p:txBody>
      </p:sp>
      <p:sp>
        <p:nvSpPr>
          <p:cNvPr id="2" name="依物件身分與行為變化決定關係">
            <a:extLst xmlns:a="http://schemas.openxmlformats.org/drawingml/2006/main">
              <a:ext uri="{FF2B5EF4-FFF2-40B4-BE49-F238E27FC236}">
                <a16:creationId xmlns:a16="http://schemas.microsoft.com/office/drawing/2014/main" id="{3945EEBB-7EE9-4B55-80F2-7F56E44B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依物件身分與行為變化決定關係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0BE8C-DE0F-4835-9EA6-0B2FD2FF665A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2381250"/>
                <a:gridCol w="4381500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是一種 Enemy，沿用受傷規則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繼承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WeavingEnemy(Enemy)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同一敵人需要切換移動方式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enemy.motion = Straight()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無共同父類別但能更新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tick_all([target, spark], 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trategyEnemy 同時使用繼承與組合，兩者可以互補。">
            <a:extLst xmlns:a="http://schemas.openxmlformats.org/drawingml/2006/main">
              <a:ext uri="{FF2B5EF4-FFF2-40B4-BE49-F238E27FC236}">
                <a16:creationId xmlns:a16="http://schemas.microsoft.com/office/drawing/2014/main" id="{182734A4-EBE1-4ED6-A6EA-5B4376A5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StrategyEnemy 同時使用繼承與組合，兩者可以互補。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A3D74410-57DC-4741-BA35-34256536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959359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線上版的暫停觀察">
            <a:extLst xmlns:a="http://schemas.openxmlformats.org/drawingml/2006/main">
              <a:ext uri="{FF2B5EF4-FFF2-40B4-BE49-F238E27FC236}">
                <a16:creationId xmlns:a16="http://schemas.microsoft.com/office/drawing/2014/main" id="{8A33E107-AA7A-4252-9F0E-3BA00EA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線上版的暫停觀察</a:t>
            </a:r>
          </a:p>
        </p:txBody>
      </p:sp>
      <p:sp>
        <p:nvSpPr>
          <p:cNvPr id="2" name="線上版保留原遊戲，新增策略在第 8 週下載包">
            <a:extLst xmlns:a="http://schemas.openxmlformats.org/drawingml/2006/main">
              <a:ext uri="{FF2B5EF4-FFF2-40B4-BE49-F238E27FC236}">
                <a16:creationId xmlns:a16="http://schemas.microsoft.com/office/drawing/2014/main" id="{AC13E518-A120-4196-A8DA-BBCE2B76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線上版保留原遊戲，新增策略在第 8 週下載包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018FD-AE69-457B-9E8C-91F17B8544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8c9c6766147fa"/>
          <a:stretch xmlns:a="http://schemas.openxmlformats.org/drawingml/2006/main"/>
        </p:blipFill>
        <p:spPr>
          <a:xfrm xmlns:a="http://schemas.openxmlformats.org/drawingml/2006/main">
            <a:off x="571500" y="1938135"/>
            <a:ext cx="5238750" cy="4324755"/>
          </a:xfrm>
          <a:prstGeom xmlns:a="http://schemas.openxmlformats.org/drawingml/2006/main" prst="rect">
            <a:avLst/>
          </a:prstGeom>
        </p:spPr>
      </p:pic>
      <p:sp>
        <p:nvSpPr>
          <p:cNvPr id="4" name="載入觀察範例，選 B01，再按 N 前進一影格。">
            <a:extLst xmlns:a="http://schemas.openxmlformats.org/drawingml/2006/main">
              <a:ext uri="{FF2B5EF4-FFF2-40B4-BE49-F238E27FC236}">
                <a16:creationId xmlns:a16="http://schemas.microsoft.com/office/drawing/2014/main" id="{FC01B9FE-52A0-469E-8B32-46046372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載入觀察範例，選 B01，再按 N 前進一影格。</a:t>
            </a:r>
          </a:p>
        </p:txBody>
      </p:sp>
      <p:sp>
        <p:nvSpPr>
          <p:cNvPr id="5" name="B01.y 約從 490.0 變為 479.7，owner 仍是同一個 Player。">
            <a:extLst xmlns:a="http://schemas.openxmlformats.org/drawingml/2006/main">
              <a:ext uri="{FF2B5EF4-FFF2-40B4-BE49-F238E27FC236}">
                <a16:creationId xmlns:a16="http://schemas.microsoft.com/office/drawing/2014/main" id="{F0A6E1F8-D049-4B86-BB7B-9E47B48C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B01.y 約從 490.0 變為 479.7，owner 仍是同一個 Player。</a:t>
            </a:r>
          </a:p>
        </p:txBody>
      </p:sp>
      <p:sp>
        <p:nvSpPr>
          <p:cNvPr id="6" name="開啟原版線上遊戲 ↗">
            <a:extLst xmlns:a="http://schemas.openxmlformats.org/drawingml/2006/main">
              <a:ext uri="{FF2B5EF4-FFF2-40B4-BE49-F238E27FC236}">
                <a16:creationId xmlns:a16="http://schemas.microsoft.com/office/drawing/2014/main" id="{09D261DF-A9D1-450B-846A-B36D4DF9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c112a8deba942be"/>
              </a:rPr>
              <a:t>開啟原版線上遊戲 ↗</a:t>
            </a:r>
          </a:p>
        </p:txBody>
      </p:sp>
      <p:sp>
        <p:nvSpPr>
          <p:cNvPr id="7" name="28">
            <a:extLst xmlns:a="http://schemas.openxmlformats.org/drawingml/2006/main">
              <a:ext uri="{FF2B5EF4-FFF2-40B4-BE49-F238E27FC236}">
                <a16:creationId xmlns:a16="http://schemas.microsoft.com/office/drawing/2014/main" id="{04225E34-DB41-4F6C-B5F5-E48C0A63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974826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下載與執行第 8 週範例">
            <a:extLst xmlns:a="http://schemas.openxmlformats.org/drawingml/2006/main">
              <a:ext uri="{FF2B5EF4-FFF2-40B4-BE49-F238E27FC236}">
                <a16:creationId xmlns:a16="http://schemas.microsoft.com/office/drawing/2014/main" id="{D4FFBA1A-DDB6-413A-B261-362D622B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下載與執行第 8 週範例</a:t>
            </a:r>
          </a:p>
        </p:txBody>
      </p:sp>
      <p:sp>
        <p:nvSpPr>
          <p:cNvPr id="2" name="解壓縮 ZIP 後，在 week8_examples 資料夾執行">
            <a:extLst xmlns:a="http://schemas.openxmlformats.org/drawingml/2006/main">
              <a:ext uri="{FF2B5EF4-FFF2-40B4-BE49-F238E27FC236}">
                <a16:creationId xmlns:a16="http://schemas.microsoft.com/office/drawing/2014/main" id="{267E24CB-8E80-453F-BB0A-EB7BF4D1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解壓縮 ZIP 後，在 week8_examples 資料夾執行</a:t>
            </a:r>
          </a:p>
        </p:txBody>
      </p:sp>
      <p:sp>
        <p:nvSpPr>
          <p:cNvPr id="3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0854FDC9-9ECB-4774-A8B7-685AB5C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4" name="python contracts.py">
            <a:extLst xmlns:a="http://schemas.openxmlformats.org/drawingml/2006/main">
              <a:ext uri="{FF2B5EF4-FFF2-40B4-BE49-F238E27FC236}">
                <a16:creationId xmlns:a16="http://schemas.microsoft.com/office/drawing/2014/main" id="{BAD4692D-509D-4F1E-BB42-D528DAB1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contracts.py</a:t>
            </a:r>
          </a:p>
        </p:txBody>
      </p:sp>
      <p:sp>
        <p:nvSpPr>
          <p:cNvPr id="5" name="python demo_game.py --lang zh">
            <a:extLst xmlns:a="http://schemas.openxmlformats.org/drawingml/2006/main">
              <a:ext uri="{FF2B5EF4-FFF2-40B4-BE49-F238E27FC236}">
                <a16:creationId xmlns:a16="http://schemas.microsoft.com/office/drawing/2014/main" id="{B00A3A17-253A-4F86-AA69-08C07A8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demo_game.py --lang zh</a:t>
            </a:r>
          </a:p>
        </p:txBody>
      </p:sp>
      <p:sp>
        <p:nvSpPr>
          <p:cNvPr id="6" name="python -m mypy --strict contracts.py motion.py">
            <a:extLst xmlns:a="http://schemas.openxmlformats.org/drawingml/2006/main">
              <a:ext uri="{FF2B5EF4-FFF2-40B4-BE49-F238E27FC236}">
                <a16:creationId xmlns:a16="http://schemas.microsoft.com/office/drawing/2014/main" id="{26BF289E-BCF5-404B-BF7D-BB83AB5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mypy --strict contracts.py motion.py</a:t>
            </a:r>
          </a:p>
        </p:txBody>
      </p:sp>
      <p:sp>
        <p:nvSpPr>
          <p:cNvPr id="7" name="python -m mypy --strict typing_error.py">
            <a:extLst xmlns:a="http://schemas.openxmlformats.org/drawingml/2006/main">
              <a:ext uri="{FF2B5EF4-FFF2-40B4-BE49-F238E27FC236}">
                <a16:creationId xmlns:a16="http://schemas.microsoft.com/office/drawing/2014/main" id="{148C4F2F-1B86-4C57-BAB2-DEDD5BEB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mypy --strict typing_error.py</a:t>
            </a:r>
          </a:p>
        </p:txBody>
      </p:sp>
      <p:sp>
        <p:nvSpPr>
          <p:cNvPr id="8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6A8C3D6B-A798-4186-85C1-90CDB643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9" name="Python 3.12+。一般操作沿用原遊戲，C 切換策略，P 暫停、N 單步。">
            <a:extLst xmlns:a="http://schemas.openxmlformats.org/drawingml/2006/main">
              <a:ext uri="{FF2B5EF4-FFF2-40B4-BE49-F238E27FC236}">
                <a16:creationId xmlns:a16="http://schemas.microsoft.com/office/drawing/2014/main" id="{8E1CE1D4-C5D8-4ECC-B697-B4DE64D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3.12+。一般操作沿用原遊戲，C 切換策略，P 暫停、N 單步。</a:t>
            </a:r>
          </a:p>
        </p:txBody>
      </p:sp>
      <p:sp>
        <p:nvSpPr>
          <p:cNvPr id="10" name="英文／日文介面把 zh 改為 en／ja。typing_error.py 應回報型別錯誤。">
            <a:extLst xmlns:a="http://schemas.openxmlformats.org/drawingml/2006/main">
              <a:ext uri="{FF2B5EF4-FFF2-40B4-BE49-F238E27FC236}">
                <a16:creationId xmlns:a16="http://schemas.microsoft.com/office/drawing/2014/main" id="{DFE98A60-A8A3-42CE-AA97-525ABF1C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英文／日文介面把 zh 改為 en／ja。typing_error.py 應回報型別錯誤。</a:t>
            </a:r>
          </a:p>
        </p:txBody>
      </p:sp>
      <p:sp>
        <p:nvSpPr>
          <p:cNvPr id="11" name="下載第 8 週範例 ZIP ↗">
            <a:extLst xmlns:a="http://schemas.openxmlformats.org/drawingml/2006/main">
              <a:ext uri="{FF2B5EF4-FFF2-40B4-BE49-F238E27FC236}">
                <a16:creationId xmlns:a16="http://schemas.microsoft.com/office/drawing/2014/main" id="{FB43651E-F9D6-48F5-B9CC-306CF74F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4db62b2f65f4f11"/>
              </a:rPr>
              <a:t>下載第 8 週範例 ZIP ↗</a:t>
            </a:r>
          </a:p>
        </p:txBody>
      </p:sp>
      <p:sp>
        <p:nvSpPr>
          <p:cNvPr id="12" name="week8_examples/">
            <a:extLst xmlns:a="http://schemas.openxmlformats.org/drawingml/2006/main">
              <a:ext uri="{FF2B5EF4-FFF2-40B4-BE49-F238E27FC236}">
                <a16:creationId xmlns:a16="http://schemas.microsoft.com/office/drawing/2014/main" id="{C98ED99C-61F9-4920-968C-C63BE90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week8_examples/</a:t>
            </a:r>
          </a:p>
        </p:txBody>
      </p:sp>
      <p:sp>
        <p:nvSpPr>
          <p:cNvPr id="13" name="29">
            <a:extLst xmlns:a="http://schemas.openxmlformats.org/drawingml/2006/main">
              <a:ext uri="{FF2B5EF4-FFF2-40B4-BE49-F238E27FC236}">
                <a16:creationId xmlns:a16="http://schemas.microsoft.com/office/drawing/2014/main" id="{16CA04EE-A221-44D3-B630-C3424128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364631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練習：停止移動的策略">
            <a:extLst xmlns:a="http://schemas.openxmlformats.org/drawingml/2006/main">
              <a:ext uri="{FF2B5EF4-FFF2-40B4-BE49-F238E27FC236}">
                <a16:creationId xmlns:a16="http://schemas.microsoft.com/office/drawing/2014/main" id="{D1D562AD-C928-4EE6-81D5-C51CD70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練習：停止移動的策略</a:t>
            </a:r>
          </a:p>
        </p:txBody>
      </p:sp>
      <p:sp>
        <p:nvSpPr>
          <p:cNvPr id="2" name="新增 Freeze，讓既有敵人停在原地">
            <a:extLst xmlns:a="http://schemas.openxmlformats.org/drawingml/2006/main">
              <a:ext uri="{FF2B5EF4-FFF2-40B4-BE49-F238E27FC236}">
                <a16:creationId xmlns:a16="http://schemas.microsoft.com/office/drawing/2014/main" id="{794ED000-249D-422B-8119-0740E28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新增 Freeze，讓既有敵人停在原地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9502383F-AB78-44D5-9431-04D9138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實作 velocity(dt)，回傳水平與垂直速度 0。">
            <a:extLst xmlns:a="http://schemas.openxmlformats.org/drawingml/2006/main">
              <a:ext uri="{FF2B5EF4-FFF2-40B4-BE49-F238E27FC236}">
                <a16:creationId xmlns:a16="http://schemas.microsoft.com/office/drawing/2014/main" id="{7B2F73D2-9174-4168-B1EB-939CD128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實作 velocity(dt)，回傳水平與垂直速度 0。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4FB32F6-BCF5-42EC-9795-8947179D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把 enemy.motion 換成 Freeze()，再呼叫 update(0.5)。">
            <a:extLst xmlns:a="http://schemas.openxmlformats.org/drawingml/2006/main">
              <a:ext uri="{FF2B5EF4-FFF2-40B4-BE49-F238E27FC236}">
                <a16:creationId xmlns:a16="http://schemas.microsoft.com/office/drawing/2014/main" id="{02A9DEE9-C9DD-4D0F-9A51-9D1EEA5A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把 enemy.motion 換成 Freeze()，再呼叫 update(0.5)。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98566D6-516E-4617-A317-4CDDB5D2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確認位置不變，且 enemy 身分與 hp 都保留。">
            <a:extLst xmlns:a="http://schemas.openxmlformats.org/drawingml/2006/main">
              <a:ext uri="{FF2B5EF4-FFF2-40B4-BE49-F238E27FC236}">
                <a16:creationId xmlns:a16="http://schemas.microsoft.com/office/drawing/2014/main" id="{CB462B02-4933-4424-A829-3590775F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確認位置不變，且 enemy 身分與 hp 都保留。</a:t>
            </a:r>
          </a:p>
        </p:txBody>
      </p:sp>
      <p:sp>
        <p:nvSpPr>
          <p:cNvPr id="9" name="30">
            <a:extLst xmlns:a="http://schemas.openxmlformats.org/drawingml/2006/main">
              <a:ext uri="{FF2B5EF4-FFF2-40B4-BE49-F238E27FC236}">
                <a16:creationId xmlns:a16="http://schemas.microsoft.com/office/drawing/2014/main" id="{5DA88E4C-CA26-48CE-9EE9-63594FDB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166183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練習解答與狀態檢查">
            <a:extLst xmlns:a="http://schemas.openxmlformats.org/drawingml/2006/main">
              <a:ext uri="{FF2B5EF4-FFF2-40B4-BE49-F238E27FC236}">
                <a16:creationId xmlns:a16="http://schemas.microsoft.com/office/drawing/2014/main" id="{B8CFFFB7-8981-4323-B4A0-2C34EAF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練習解答與狀態檢查</a:t>
            </a:r>
          </a:p>
        </p:txBody>
      </p:sp>
      <p:sp>
        <p:nvSpPr>
          <p:cNvPr id="2" name="更換行為物件即可重用原本更新流程">
            <a:extLst xmlns:a="http://schemas.openxmlformats.org/drawingml/2006/main">
              <a:ext uri="{FF2B5EF4-FFF2-40B4-BE49-F238E27FC236}">
                <a16:creationId xmlns:a16="http://schemas.microsoft.com/office/drawing/2014/main" id="{4A0EF978-8B01-43C1-9EAC-14E4C5E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更換行為物件即可重用原本更新流程</a:t>
            </a:r>
          </a:p>
        </p:txBody>
      </p:sp>
      <p:sp>
        <p:nvSpPr>
          <p:cNvPr id="3" name="class Freeze:">
            <a:extLst xmlns:a="http://schemas.openxmlformats.org/drawingml/2006/main">
              <a:ext uri="{FF2B5EF4-FFF2-40B4-BE49-F238E27FC236}">
                <a16:creationId xmlns:a16="http://schemas.microsoft.com/office/drawing/2014/main" id="{33546A32-FDF4-4A91-B902-42623D53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Freeze:</a:t>
            </a:r>
          </a:p>
        </p:txBody>
      </p:sp>
      <p:sp>
        <p:nvSpPr>
          <p:cNvPr id="4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62ACCDC3-E2D2-4EE1-B793-8BF8FA13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5" name="        return (0.0, 0.0)">
            <a:extLst xmlns:a="http://schemas.openxmlformats.org/drawingml/2006/main">
              <a:ext uri="{FF2B5EF4-FFF2-40B4-BE49-F238E27FC236}">
                <a16:creationId xmlns:a16="http://schemas.microsoft.com/office/drawing/2014/main" id="{CF0F0B70-EE04-4398-A1FD-825E4B6F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(0.0, 0.0)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3BCAA-D1D7-4BFB-BA34-69CC2F34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enemy.motion = Freeze()">
            <a:extLst xmlns:a="http://schemas.openxmlformats.org/drawingml/2006/main">
              <a:ext uri="{FF2B5EF4-FFF2-40B4-BE49-F238E27FC236}">
                <a16:creationId xmlns:a16="http://schemas.microsoft.com/office/drawing/2014/main" id="{52FC256B-F725-4877-86AB-AED75FCC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enemy.motion = Freeze()</a:t>
            </a:r>
          </a:p>
        </p:txBody>
      </p:sp>
      <p:sp>
        <p:nvSpPr>
          <p:cNvPr id="8" name="before = tuple(enemy.pos)">
            <a:extLst xmlns:a="http://schemas.openxmlformats.org/drawingml/2006/main">
              <a:ext uri="{FF2B5EF4-FFF2-40B4-BE49-F238E27FC236}">
                <a16:creationId xmlns:a16="http://schemas.microsoft.com/office/drawing/2014/main" id="{37EDCBA6-657F-42D3-9687-A85651C3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before = tuple(enemy.pos)</a:t>
            </a:r>
          </a:p>
        </p:txBody>
      </p:sp>
      <p:sp>
        <p:nvSpPr>
          <p:cNvPr id="9" name="original = enemy">
            <a:extLst xmlns:a="http://schemas.openxmlformats.org/drawingml/2006/main">
              <a:ext uri="{FF2B5EF4-FFF2-40B4-BE49-F238E27FC236}">
                <a16:creationId xmlns:a16="http://schemas.microsoft.com/office/drawing/2014/main" id="{AB44FD3F-1E47-41F5-8302-34096F8E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original = enemy</a:t>
            </a:r>
          </a:p>
        </p:txBody>
      </p:sp>
      <p:sp>
        <p:nvSpPr>
          <p:cNvPr id="10" name="enemy.update(0.5)">
            <a:extLst xmlns:a="http://schemas.openxmlformats.org/drawingml/2006/main">
              <a:ext uri="{FF2B5EF4-FFF2-40B4-BE49-F238E27FC236}">
                <a16:creationId xmlns:a16="http://schemas.microsoft.com/office/drawing/2014/main" id="{2F6DDB79-0F06-4C3A-A2E2-88AA5B6E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enemy.update(0.5)</a:t>
            </a:r>
          </a:p>
        </p:txBody>
      </p:sp>
      <p:sp>
        <p:nvSpPr>
          <p:cNvPr id="11" name="assert tuple(enemy.pos) == before">
            <a:extLst xmlns:a="http://schemas.openxmlformats.org/drawingml/2006/main">
              <a:ext uri="{FF2B5EF4-FFF2-40B4-BE49-F238E27FC236}">
                <a16:creationId xmlns:a16="http://schemas.microsoft.com/office/drawing/2014/main" id="{C2306AAE-6DF2-49BD-B5FF-FC07E358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assert tuple(enemy.pos) == before</a:t>
            </a:r>
          </a:p>
        </p:txBody>
      </p:sp>
      <p:sp>
        <p:nvSpPr>
          <p:cNvPr id="12" name="assert enemy is original">
            <a:extLst xmlns:a="http://schemas.openxmlformats.org/drawingml/2006/main">
              <a:ext uri="{FF2B5EF4-FFF2-40B4-BE49-F238E27FC236}">
                <a16:creationId xmlns:a16="http://schemas.microsoft.com/office/drawing/2014/main" id="{F320464A-B152-4C37-847C-3D9CF18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assert enemy is original</a:t>
            </a:r>
          </a:p>
        </p:txBody>
      </p:sp>
      <p:sp>
        <p:nvSpPr>
          <p:cNvPr id="13" name="Freeze 依結構符合 Motion，不必明確繼承 Motion。">
            <a:extLst xmlns:a="http://schemas.openxmlformats.org/drawingml/2006/main">
              <a:ext uri="{FF2B5EF4-FFF2-40B4-BE49-F238E27FC236}">
                <a16:creationId xmlns:a16="http://schemas.microsoft.com/office/drawing/2014/main" id="{C52B7F15-AAA9-4778-9028-CF24D78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Freeze 依結構符合 Motion，不必明確繼承 Motion。</a:t>
            </a:r>
          </a:p>
        </p:txBody>
      </p:sp>
      <p:sp>
        <p:nvSpPr>
          <p:cNvPr id="14" name="完整測試也確認 hp、rect 與群組關係。">
            <a:extLst xmlns:a="http://schemas.openxmlformats.org/drawingml/2006/main">
              <a:ext uri="{FF2B5EF4-FFF2-40B4-BE49-F238E27FC236}">
                <a16:creationId xmlns:a16="http://schemas.microsoft.com/office/drawing/2014/main" id="{6B5A6C04-A06B-45AF-A995-49AF23E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完整測試也確認 hp、rect 與群組關係。</a:t>
            </a:r>
          </a:p>
        </p:txBody>
      </p:sp>
      <p:sp>
        <p:nvSpPr>
          <p:cNvPr id="15" name="motion.py / Freeze; tests/test_week8.py">
            <a:extLst xmlns:a="http://schemas.openxmlformats.org/drawingml/2006/main">
              <a:ext uri="{FF2B5EF4-FFF2-40B4-BE49-F238E27FC236}">
                <a16:creationId xmlns:a16="http://schemas.microsoft.com/office/drawing/2014/main" id="{4523817A-6EBE-40EB-89C2-CF4750B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Freeze; tests/test_week8.py</a:t>
            </a:r>
          </a:p>
        </p:txBody>
      </p:sp>
      <p:sp>
        <p:nvSpPr>
          <p:cNvPr id="16" name="31">
            <a:extLst xmlns:a="http://schemas.openxmlformats.org/drawingml/2006/main">
              <a:ext uri="{FF2B5EF4-FFF2-40B4-BE49-F238E27FC236}">
                <a16:creationId xmlns:a16="http://schemas.microsoft.com/office/drawing/2014/main" id="{47DE058F-E8C2-46C8-A9DD-D8BE9026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62204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本週重點與參考">
            <a:extLst xmlns:a="http://schemas.openxmlformats.org/drawingml/2006/main">
              <a:ext uri="{FF2B5EF4-FFF2-40B4-BE49-F238E27FC236}">
                <a16:creationId xmlns:a16="http://schemas.microsoft.com/office/drawing/2014/main" id="{3871796C-9B45-4818-9B57-A7AD328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本週重點與參考</a:t>
            </a:r>
          </a:p>
        </p:txBody>
      </p:sp>
      <p:sp>
        <p:nvSpPr>
          <p:cNvPr id="2" name="共同介面讓物件能夠替換與合作">
            <a:extLst xmlns:a="http://schemas.openxmlformats.org/drawingml/2006/main">
              <a:ext uri="{FF2B5EF4-FFF2-40B4-BE49-F238E27FC236}">
                <a16:creationId xmlns:a16="http://schemas.microsoft.com/office/drawing/2014/main" id="{7C27CBC0-DCD0-4527-8536-B78FBB53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共同介面讓物件能夠替換與合作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8FE0216-859B-4790-A706-54ADD4DA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多型依實際物件選擇行為，繼承與鴨子型別都能支援。">
            <a:extLst xmlns:a="http://schemas.openxmlformats.org/drawingml/2006/main">
              <a:ext uri="{FF2B5EF4-FFF2-40B4-BE49-F238E27FC236}">
                <a16:creationId xmlns:a16="http://schemas.microsoft.com/office/drawing/2014/main" id="{4DC39598-0EE9-40BD-A371-C1F2A28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多型依實際物件選擇行為，繼承與鴨子型別都能支援。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FA1E8FF2-2D65-47CD-8D62-29B8CCC8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ABC 規範實作責任，Protocol 描述結構相容性。">
            <a:extLst xmlns:a="http://schemas.openxmlformats.org/drawingml/2006/main">
              <a:ext uri="{FF2B5EF4-FFF2-40B4-BE49-F238E27FC236}">
                <a16:creationId xmlns:a16="http://schemas.microsoft.com/office/drawing/2014/main" id="{ED55E716-7329-4733-A43C-9C68EA21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ABC 規範實作責任，Protocol 描述結構相容性。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46B16CEF-89D4-4899-9CC2-634EF8BD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組合讓行為可替換，測試確認介面背後的約定。">
            <a:extLst xmlns:a="http://schemas.openxmlformats.org/drawingml/2006/main">
              <a:ext uri="{FF2B5EF4-FFF2-40B4-BE49-F238E27FC236}">
                <a16:creationId xmlns:a16="http://schemas.microsoft.com/office/drawing/2014/main" id="{34AD79C9-92A8-4492-9EE1-531B7C7F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組合讓行為可替換，測試確認介面背後的約定。</a:t>
            </a:r>
          </a:p>
        </p:txBody>
      </p:sp>
      <p:sp>
        <p:nvSpPr>
          <p:cNvPr id="9" name="Python 抽象類別 ↗">
            <a:extLst xmlns:a="http://schemas.openxmlformats.org/drawingml/2006/main">
              <a:ext uri="{FF2B5EF4-FFF2-40B4-BE49-F238E27FC236}">
                <a16:creationId xmlns:a16="http://schemas.microsoft.com/office/drawing/2014/main" id="{E648DD38-877C-4938-BB12-A838BE9E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0f0f2edf7c674c90"/>
              </a:rPr>
              <a:t>Python 抽象類別 ↗</a:t>
            </a:r>
          </a:p>
        </p:txBody>
      </p:sp>
      <p:sp>
        <p:nvSpPr>
          <p:cNvPr id="10" name="Python Protocol ↗">
            <a:extLst xmlns:a="http://schemas.openxmlformats.org/drawingml/2006/main">
              <a:ext uri="{FF2B5EF4-FFF2-40B4-BE49-F238E27FC236}">
                <a16:creationId xmlns:a16="http://schemas.microsoft.com/office/drawing/2014/main" id="{875BAE49-7890-4844-A81E-E168898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8102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364fd03afa14e67"/>
              </a:rPr>
              <a:t>Python Protocol ↗</a:t>
            </a:r>
          </a:p>
        </p:txBody>
      </p:sp>
      <p:sp>
        <p:nvSpPr>
          <p:cNvPr id="11" name="32">
            <a:extLst xmlns:a="http://schemas.openxmlformats.org/drawingml/2006/main">
              <a:ext uri="{FF2B5EF4-FFF2-40B4-BE49-F238E27FC236}">
                <a16:creationId xmlns:a16="http://schemas.microsoft.com/office/drawing/2014/main" id="{7E8410EF-467E-4F3D-95F1-65932405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47617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2026-10-28T04:39:59.5100000Z</dcterms:created>
  <dcterms:modified xsi:type="dcterms:W3CDTF">2026-10-28T04:39:59.5100000Z</dcterms:modified>
</coreProperties>
</file>