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4952d6ed82f491b" /><Relationship Type="http://schemas.openxmlformats.org/officeDocument/2006/relationships/extended-properties" Target="/docProps/app.xml" Id="Raecde53553564722" /><Relationship Type="http://schemas.openxmlformats.org/officeDocument/2006/relationships/officeDocument" Target="/ppt/presentation.xml" Id="R3c8219ad241e4e4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abf95f8975c43a7"/>
  </p:sldMasterIdLst>
  <p:notesMasterIdLst>
    <p:notesMasterId xmlns:r="http://schemas.openxmlformats.org/officeDocument/2006/relationships" r:id="R6763a8a0ce4d4e11"/>
  </p:notesMasterIdLst>
  <p:sldIdLst>
    <p:sldId xmlns:r="http://schemas.openxmlformats.org/officeDocument/2006/relationships" id="256" r:id="Re32d9e274ba44712"/>
    <p:sldId xmlns:r="http://schemas.openxmlformats.org/officeDocument/2006/relationships" id="257" r:id="R7fd07b262a7e4169"/>
    <p:sldId xmlns:r="http://schemas.openxmlformats.org/officeDocument/2006/relationships" id="258" r:id="R47b7e4813ae341d5"/>
    <p:sldId xmlns:r="http://schemas.openxmlformats.org/officeDocument/2006/relationships" id="259" r:id="Rc202914420724348"/>
    <p:sldId xmlns:r="http://schemas.openxmlformats.org/officeDocument/2006/relationships" id="260" r:id="R1890152e16d04c02"/>
    <p:sldId xmlns:r="http://schemas.openxmlformats.org/officeDocument/2006/relationships" id="261" r:id="Rb49411414054496e"/>
    <p:sldId xmlns:r="http://schemas.openxmlformats.org/officeDocument/2006/relationships" id="262" r:id="Ra8b3cbdbb2074c08"/>
    <p:sldId xmlns:r="http://schemas.openxmlformats.org/officeDocument/2006/relationships" id="263" r:id="R7203f5224d4941cb"/>
    <p:sldId xmlns:r="http://schemas.openxmlformats.org/officeDocument/2006/relationships" id="264" r:id="R4ceb638d03a149f3"/>
    <p:sldId xmlns:r="http://schemas.openxmlformats.org/officeDocument/2006/relationships" id="265" r:id="Rac9a68198d4e4c5e"/>
    <p:sldId xmlns:r="http://schemas.openxmlformats.org/officeDocument/2006/relationships" id="266" r:id="R0e4ee8c4fc794e37"/>
    <p:sldId xmlns:r="http://schemas.openxmlformats.org/officeDocument/2006/relationships" id="267" r:id="R14b771d7569c41bc"/>
    <p:sldId xmlns:r="http://schemas.openxmlformats.org/officeDocument/2006/relationships" id="268" r:id="R3c014a6ffa8b4d3b"/>
    <p:sldId xmlns:r="http://schemas.openxmlformats.org/officeDocument/2006/relationships" id="269" r:id="R4bebd1ea4ed04a77"/>
    <p:sldId xmlns:r="http://schemas.openxmlformats.org/officeDocument/2006/relationships" id="270" r:id="R935ada8e16984dc6"/>
    <p:sldId xmlns:r="http://schemas.openxmlformats.org/officeDocument/2006/relationships" id="271" r:id="R4d1c1e1799404ec5"/>
    <p:sldId xmlns:r="http://schemas.openxmlformats.org/officeDocument/2006/relationships" id="272" r:id="R8cb9ca162e064d56"/>
    <p:sldId xmlns:r="http://schemas.openxmlformats.org/officeDocument/2006/relationships" id="273" r:id="Rc8897f0e548846d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8847efcae8e472e" /><Relationship Type="http://schemas.openxmlformats.org/officeDocument/2006/relationships/slideMaster" Target="/ppt/slideMasters/slideMaster1.xml" Id="Rdabf95f8975c43a7" /><Relationship Type="http://schemas.openxmlformats.org/officeDocument/2006/relationships/notesMaster" Target="/ppt/notesMasters/notesMaster1.xml" Id="R6763a8a0ce4d4e11" /><Relationship Type="http://schemas.openxmlformats.org/officeDocument/2006/relationships/presProps" Target="/ppt/presProps.xml" Id="Rc6920a75c23d49c5" /><Relationship Type="http://schemas.openxmlformats.org/officeDocument/2006/relationships/tableStyles" Target="/ppt/tableStyles.xml" Id="R07601d1a02d44581" /><Relationship Type="http://schemas.openxmlformats.org/officeDocument/2006/relationships/slide" Target="/ppt/slides/slide1.xml" Id="Re32d9e274ba44712" /><Relationship Type="http://schemas.openxmlformats.org/officeDocument/2006/relationships/slide" Target="/ppt/slides/slide2.xml" Id="R7fd07b262a7e4169" /><Relationship Type="http://schemas.openxmlformats.org/officeDocument/2006/relationships/slide" Target="/ppt/slides/slide3.xml" Id="R47b7e4813ae341d5" /><Relationship Type="http://schemas.openxmlformats.org/officeDocument/2006/relationships/slide" Target="/ppt/slides/slide4.xml" Id="Rc202914420724348" /><Relationship Type="http://schemas.openxmlformats.org/officeDocument/2006/relationships/slide" Target="/ppt/slides/slide5.xml" Id="R1890152e16d04c02" /><Relationship Type="http://schemas.openxmlformats.org/officeDocument/2006/relationships/slide" Target="/ppt/slides/slide6.xml" Id="Rb49411414054496e" /><Relationship Type="http://schemas.openxmlformats.org/officeDocument/2006/relationships/slide" Target="/ppt/slides/slide7.xml" Id="Ra8b3cbdbb2074c08" /><Relationship Type="http://schemas.openxmlformats.org/officeDocument/2006/relationships/slide" Target="/ppt/slides/slide8.xml" Id="R7203f5224d4941cb" /><Relationship Type="http://schemas.openxmlformats.org/officeDocument/2006/relationships/slide" Target="/ppt/slides/slide9.xml" Id="R4ceb638d03a149f3" /><Relationship Type="http://schemas.openxmlformats.org/officeDocument/2006/relationships/slide" Target="/ppt/slides/slide10.xml" Id="Rac9a68198d4e4c5e" /><Relationship Type="http://schemas.openxmlformats.org/officeDocument/2006/relationships/slide" Target="/ppt/slides/slide11.xml" Id="R0e4ee8c4fc794e37" /><Relationship Type="http://schemas.openxmlformats.org/officeDocument/2006/relationships/slide" Target="/ppt/slides/slide12.xml" Id="R14b771d7569c41bc" /><Relationship Type="http://schemas.openxmlformats.org/officeDocument/2006/relationships/slide" Target="/ppt/slides/slide13.xml" Id="R3c014a6ffa8b4d3b" /><Relationship Type="http://schemas.openxmlformats.org/officeDocument/2006/relationships/slide" Target="/ppt/slides/slide14.xml" Id="R4bebd1ea4ed04a77" /><Relationship Type="http://schemas.openxmlformats.org/officeDocument/2006/relationships/slide" Target="/ppt/slides/slide15.xml" Id="R935ada8e16984dc6" /><Relationship Type="http://schemas.openxmlformats.org/officeDocument/2006/relationships/slide" Target="/ppt/slides/slide16.xml" Id="R4d1c1e1799404ec5" /><Relationship Type="http://schemas.openxmlformats.org/officeDocument/2006/relationships/slide" Target="/ppt/slides/slide17.xml" Id="R8cb9ca162e064d56" /><Relationship Type="http://schemas.openxmlformats.org/officeDocument/2006/relationships/slide" Target="/ppt/slides/slide18.xml" Id="Rc8897f0e548846d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3ca8cc4f84546b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1d2e83240d74ce0" /><Relationship Type="http://schemas.openxmlformats.org/officeDocument/2006/relationships/notesMaster" Target="/ppt/notesMasters/notesMaster1.xml" Id="Redc419a2048c4a5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8d5bd32ff1147d4" /><Relationship Type="http://schemas.openxmlformats.org/officeDocument/2006/relationships/notesMaster" Target="/ppt/notesMasters/notesMaster1.xml" Id="Radf067b84b6f440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ff8b5d51ddf43bd" /><Relationship Type="http://schemas.openxmlformats.org/officeDocument/2006/relationships/notesMaster" Target="/ppt/notesMasters/notesMaster1.xml" Id="R06d422097a5b413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58b860100054de3" /><Relationship Type="http://schemas.openxmlformats.org/officeDocument/2006/relationships/notesMaster" Target="/ppt/notesMasters/notesMaster1.xml" Id="R4ac3646f15c14d7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f8c7b3e21614151" /><Relationship Type="http://schemas.openxmlformats.org/officeDocument/2006/relationships/notesMaster" Target="/ppt/notesMasters/notesMaster1.xml" Id="R3ed15ef2e74a4ea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2c7f73354f844ab" /><Relationship Type="http://schemas.openxmlformats.org/officeDocument/2006/relationships/notesMaster" Target="/ppt/notesMasters/notesMaster1.xml" Id="R344c5f6cae2947a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fb52e3ac7884d07" /><Relationship Type="http://schemas.openxmlformats.org/officeDocument/2006/relationships/notesMaster" Target="/ppt/notesMasters/notesMaster1.xml" Id="R2987732d071a42c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5f985cc153e4307" /><Relationship Type="http://schemas.openxmlformats.org/officeDocument/2006/relationships/notesMaster" Target="/ppt/notesMasters/notesMaster1.xml" Id="R46df58cd8ea14b5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db176ad2fbb4bee" /><Relationship Type="http://schemas.openxmlformats.org/officeDocument/2006/relationships/notesMaster" Target="/ppt/notesMasters/notesMaster1.xml" Id="Rb97f832424be4bb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be4b66a48b94164" /><Relationship Type="http://schemas.openxmlformats.org/officeDocument/2006/relationships/notesMaster" Target="/ppt/notesMasters/notesMaster1.xml" Id="Racde9b7c4a5d42d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e814fff0ebc4a59" /><Relationship Type="http://schemas.openxmlformats.org/officeDocument/2006/relationships/notesMaster" Target="/ppt/notesMasters/notesMaster1.xml" Id="R174e39903397442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c2c976ab79e41a4" /><Relationship Type="http://schemas.openxmlformats.org/officeDocument/2006/relationships/notesMaster" Target="/ppt/notesMasters/notesMaster1.xml" Id="R95aff4a485b44c9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96750034d984f8a" /><Relationship Type="http://schemas.openxmlformats.org/officeDocument/2006/relationships/notesMaster" Target="/ppt/notesMasters/notesMaster1.xml" Id="R6a0503dd637d44c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89afaca3a3748ab" /><Relationship Type="http://schemas.openxmlformats.org/officeDocument/2006/relationships/notesMaster" Target="/ppt/notesMasters/notesMaster1.xml" Id="Rb94d6f9f75dc41d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3c3779751154094" /><Relationship Type="http://schemas.openxmlformats.org/officeDocument/2006/relationships/notesMaster" Target="/ppt/notesMasters/notesMaster1.xml" Id="Rde1fb36a973f436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a8e1cd699b547a9" /><Relationship Type="http://schemas.openxmlformats.org/officeDocument/2006/relationships/notesMaster" Target="/ppt/notesMasters/notesMaster1.xml" Id="Rf576e2bb40464cf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4a7436eb8b44f39" /><Relationship Type="http://schemas.openxmlformats.org/officeDocument/2006/relationships/notesMaster" Target="/ppt/notesMasters/notesMaster1.xml" Id="Rb81c87d3087c498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bb7d0a4e65d4e57" /><Relationship Type="http://schemas.openxmlformats.org/officeDocument/2006/relationships/notesMaster" Target="/ppt/notesMasters/notesMaster1.xml" Id="R39ee3bbe545a4ca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https://minhuangyuntech.github.io/oo2026/en/memory/play/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https://minhuangyuntech.github.io/oo2026/en/memory/play/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https://minhuangyuntech.github.io/oo2026/en/memory/play/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https://minhuangyuntech.github.io/oo2026/en/memory/play/</a:t>
            </a:r>
          </a:p>
          <a:p xmlns:a="http://schemas.openxmlformats.org/drawingml/2006/main">
            <a:r>
              <a:t>https://docs.python.org/3.12/tutorial/classes.html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https://minhuangyuntech.github.io/oo2026/en/memory/play/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https://minhuangyuntech.github.io/oo2026/en/memory/play/</a:t>
            </a:r>
          </a:p>
          <a:p xmlns:a="http://schemas.openxmlformats.org/drawingml/2006/main">
            <a:r>
              <a:t>https://docs.python.org/3.12/reference/expressions.html#is-not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https://minhuangyuntech.github.io/oo2026/en/memory/play/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https://minhuangyuntech.github.io/oo2026/en/memory/play/</a:t>
            </a:r>
          </a:p>
          <a:p xmlns:a="http://schemas.openxmlformats.org/drawingml/2006/main">
            <a:r>
              <a:t>https://docs.python.org/3.12/tutorial/classes.html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https://minhuangyuntech.github.io/oo2026/en/memory/play/</a:t>
            </a:r>
          </a:p>
          <a:p xmlns:a="http://schemas.openxmlformats.org/drawingml/2006/main">
            <a:r>
              <a:t>https://docs.python.org/3.12/tutorial/classes.html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https://minhuangyuntech.github.io/oo2026/en/memory/play/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https://minhuangyuntech.github.io/oo2026/en/memory/play/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https://minhuangyuntech.github.io/oo2026/en/memory/play/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https://minhuangyuntech.github.io/oo2026/en/memory/play/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https://minhuangyuntech.github.io/oo2026/en/memory/play/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https://minhuangyuntech.github.io/oo2026/en/memory/play/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https://minhuangyuntech.github.io/oo2026/en/memory/play/</a:t>
            </a:r>
          </a:p>
          <a:p xmlns:a="http://schemas.openxmlformats.org/drawingml/2006/main">
            <a:r>
              <a:t>https://docs.python.org/3.12/reference/expressions.html#is-not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https://minhuangyuntech.github.io/oo2026/en/memory/play/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https://minhuangyuntech.github.io/oo2026/en/memory/play/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82711c26e0482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b504a385f0474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9cf866095249c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6abb96342f4d7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a0923c7a874c8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ffb58e27a24ad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0C76E5E-D0DB-47F7-A706-748F57814C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0B11730-A6C6-4DE7-A9E4-4C449939278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8C255F1-B2AC-4484-AE24-5C217F742E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85C5AE9-E488-421E-9BC0-53074FE0D1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0E34E2B-AC74-4FF0-967E-0CDA3B97E82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9E6C65C-370B-48ED-912F-5A1B71B466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F40E23E-DD0B-4AED-A482-6BD93A5C6D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5C29ABC-D1FE-4845-AF30-A8160B6C1EA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A6AD834-E3D2-454F-B13E-2136C41257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C1E823A-8985-44D3-93D9-BE58B1E6D03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87ce6c1f50148da" /><Relationship Type="http://schemas.openxmlformats.org/officeDocument/2006/relationships/slideLayout" Target="/ppt/slideLayouts/slideLayout1.xml" Id="R28ca4d4ab8bf4b62" /><Relationship Type="http://schemas.openxmlformats.org/officeDocument/2006/relationships/slideLayout" Target="/ppt/slideLayouts/slideLayout2.xml" Id="Ree84e00048ab4154" /><Relationship Type="http://schemas.openxmlformats.org/officeDocument/2006/relationships/slideLayout" Target="/ppt/slideLayouts/slideLayout3.xml" Id="Rcfd96b91ab714487" /><Relationship Type="http://schemas.openxmlformats.org/officeDocument/2006/relationships/slideLayout" Target="/ppt/slideLayouts/slideLayout4.xml" Id="Rf9b964f47c514989" /><Relationship Type="http://schemas.openxmlformats.org/officeDocument/2006/relationships/slideLayout" Target="/ppt/slideLayouts/slideLayout5.xml" Id="R511cf4ed93464254" /><Relationship Type="http://schemas.openxmlformats.org/officeDocument/2006/relationships/slideLayout" Target="/ppt/slideLayouts/slideLayout6.xml" Id="R6ace6cc68f1447b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8ca4d4ab8bf4b62"/>
    <p:sldLayoutId xmlns:r="http://schemas.openxmlformats.org/officeDocument/2006/relationships" id="2147483650" r:id="Ree84e00048ab4154"/>
    <p:sldLayoutId xmlns:r="http://schemas.openxmlformats.org/officeDocument/2006/relationships" id="2147483651" r:id="Rcfd96b91ab714487"/>
    <p:sldLayoutId xmlns:r="http://schemas.openxmlformats.org/officeDocument/2006/relationships" id="2147483652" r:id="Rf9b964f47c514989"/>
    <p:sldLayoutId xmlns:r="http://schemas.openxmlformats.org/officeDocument/2006/relationships" id="2147483653" r:id="R511cf4ed93464254"/>
    <p:sldLayoutId xmlns:r="http://schemas.openxmlformats.org/officeDocument/2006/relationships" id="2147483654" r:id="R6ace6cc68f1447b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bb55e174d94bd6" /><Relationship Type="http://schemas.openxmlformats.org/officeDocument/2006/relationships/hyperlink" Target="https://minhuangyuntech.github.io/oo2026/en/memory/play/" TargetMode="External" Id="R10212608aec040a5" /><Relationship Type="http://schemas.openxmlformats.org/officeDocument/2006/relationships/notesSlide" Target="/ppt/notesSlides/notesSlide1.xml" Id="Ra4eca335d99f49c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23de4b258b43c9" /><Relationship Type="http://schemas.openxmlformats.org/officeDocument/2006/relationships/image" Target="/ppt/media/image.jpeg" Id="R1d3a7d41e6c64309" /><Relationship Type="http://schemas.openxmlformats.org/officeDocument/2006/relationships/hyperlink" Target="https://minhuangyuntech.github.io/oo2026/en/memory/play/" TargetMode="External" Id="R1092b85d757945eb" /><Relationship Type="http://schemas.openxmlformats.org/officeDocument/2006/relationships/hyperlink" Target="https://minhuangyuntech.github.io/oo2026/en/memory/play/" TargetMode="External" Id="Rf6c4f3f6d2844f37" /><Relationship Type="http://schemas.openxmlformats.org/officeDocument/2006/relationships/notesSlide" Target="/ppt/notesSlides/notesSlide2.xml" Id="Rc7df562d4e484f3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51fb649b4c49e6" /><Relationship Type="http://schemas.openxmlformats.org/officeDocument/2006/relationships/notesSlide" Target="/ppt/notesSlides/notesSlide3.xml" Id="Rf89bbe61caae4cc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140484520f421a" /><Relationship Type="http://schemas.openxmlformats.org/officeDocument/2006/relationships/notesSlide" Target="/ppt/notesSlides/notesSlide4.xml" Id="Rc54c7b4744b54db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2072006e3e42bb" /><Relationship Type="http://schemas.openxmlformats.org/officeDocument/2006/relationships/notesSlide" Target="/ppt/notesSlides/notesSlide5.xml" Id="R0fea5330c59f41b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ac65bbe08e44f6" /><Relationship Type="http://schemas.openxmlformats.org/officeDocument/2006/relationships/notesSlide" Target="/ppt/notesSlides/notesSlide6.xml" Id="R567ce94304ca495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8aa1de66f04a52" /><Relationship Type="http://schemas.openxmlformats.org/officeDocument/2006/relationships/notesSlide" Target="/ppt/notesSlides/notesSlide7.xml" Id="R768b71cfd69147a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a609691ab24f9a" /><Relationship Type="http://schemas.openxmlformats.org/officeDocument/2006/relationships/notesSlide" Target="/ppt/notesSlides/notesSlide8.xml" Id="R9c7518aae7e3465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9b2c2e1c094f58" /><Relationship Type="http://schemas.openxmlformats.org/officeDocument/2006/relationships/notesSlide" Target="/ppt/notesSlides/notesSlide9.xml" Id="R92dfbe573edb4d9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73aa2c209b4a92" /><Relationship Type="http://schemas.openxmlformats.org/officeDocument/2006/relationships/notesSlide" Target="/ppt/notesSlides/notesSlide10.xml" Id="R246b6f34d0d3460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64a98d094b4c03" /><Relationship Type="http://schemas.openxmlformats.org/officeDocument/2006/relationships/notesSlide" Target="/ppt/notesSlides/notesSlide11.xml" Id="R5576203ddb51442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71479079794d62" /><Relationship Type="http://schemas.openxmlformats.org/officeDocument/2006/relationships/notesSlide" Target="/ppt/notesSlides/notesSlide12.xml" Id="R493c014d481342b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47653f5e414765" /><Relationship Type="http://schemas.openxmlformats.org/officeDocument/2006/relationships/notesSlide" Target="/ppt/notesSlides/notesSlide13.xml" Id="R3c24797a7052405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ca93a332804c14" /><Relationship Type="http://schemas.openxmlformats.org/officeDocument/2006/relationships/notesSlide" Target="/ppt/notesSlides/notesSlide14.xml" Id="Rde9855d7a288465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9a7ca23b5540d5" /><Relationship Type="http://schemas.openxmlformats.org/officeDocument/2006/relationships/notesSlide" Target="/ppt/notesSlides/notesSlide15.xml" Id="Rc21323c78dcb413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0fb8fb4f1e4b57" /><Relationship Type="http://schemas.openxmlformats.org/officeDocument/2006/relationships/notesSlide" Target="/ppt/notesSlides/notesSlide16.xml" Id="R09bc0b3c5f4e4a6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2f177370184797" /><Relationship Type="http://schemas.openxmlformats.org/officeDocument/2006/relationships/notesSlide" Target="/ppt/notesSlides/notesSlide17.xml" Id="Re0c46ef9437a4d3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42f91a924d4edd" /><Relationship Type="http://schemas.openxmlformats.org/officeDocument/2006/relationships/hyperlink" Target="https://docs.python.org/3.12/tutorial/classes.html" TargetMode="External" Id="R2cf6d8e4221743d3" /><Relationship Type="http://schemas.openxmlformats.org/officeDocument/2006/relationships/hyperlink" Target="https://docs.python.org/3.12/reference/expressions.html#is-not" TargetMode="External" Id="R83012c670f524908" /><Relationship Type="http://schemas.openxmlformats.org/officeDocument/2006/relationships/notesSlide" Target="/ppt/notesSlides/notesSlide18.xml" Id="Rcac37340679f4af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PYTHON OOP  /  CARD MATCHING">
            <a:extLst xmlns:a="http://schemas.openxmlformats.org/drawingml/2006/main">
              <a:ext uri="{FF2B5EF4-FFF2-40B4-BE49-F238E27FC236}">
                <a16:creationId xmlns:a16="http://schemas.microsoft.com/office/drawing/2014/main" id="{1531D71F-77BB-4E67-A187-B74876E5D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875" b="1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875" b="1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875" b="1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875" b="1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875" b="1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875" b="1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875" b="1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875" b="1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875" b="1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68EDBE"/>
                </a:solidFill>
                <a:latin typeface="Aptos"/>
                <a:ea typeface="Aptos"/>
                <a:cs typeface="Aptos"/>
              </a:rPr>
              <a:t>PYTHON OOP  /  CARD MATCHING</a:t>
            </a:r>
          </a:p>
        </p:txBody>
      </p:sp>
      <p:sp>
        <p:nvSpPr>
          <p:cNvPr id="2" name="Card matching &amp; object state">
            <a:extLst xmlns:a="http://schemas.openxmlformats.org/drawingml/2006/main">
              <a:ext uri="{FF2B5EF4-FFF2-40B4-BE49-F238E27FC236}">
                <a16:creationId xmlns:a16="http://schemas.microsoft.com/office/drawing/2014/main" id="{6083B016-480A-49B1-A2C1-99C3582E6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762125"/>
            <a:ext cx="11001375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25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defPPr>
            <a:lvl1pPr algn="l">
              <a:defRPr sz="525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1pPr>
            <a:lvl2pPr algn="l">
              <a:defRPr sz="525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2pPr>
            <a:lvl3pPr algn="l">
              <a:defRPr sz="525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3pPr>
            <a:lvl4pPr algn="l">
              <a:defRPr sz="525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4pPr>
            <a:lvl5pPr algn="l">
              <a:defRPr sz="525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5pPr>
            <a:lvl6pPr algn="l">
              <a:defRPr sz="525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6pPr>
            <a:lvl7pPr algn="l">
              <a:defRPr sz="525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7pPr>
            <a:lvl8pPr algn="l">
              <a:defRPr sz="525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8pPr>
            <a:lvl9pPr algn="l">
              <a:defRPr sz="525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525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pPr>
            <a:r>
              <a:rPr sz="5250" b="1">
                <a:solidFill>
                  <a:srgbClr val="EDF4FB"/>
                </a:solidFill>
                <a:latin typeface="Aptos"/>
                <a:ea typeface="Aptos"/>
                <a:cs typeface="Aptos"/>
              </a:rPr>
              <a:t>Card matching &amp; object state</a:t>
            </a:r>
          </a:p>
        </p:txBody>
      </p:sp>
      <p:sp>
        <p:nvSpPr>
          <p:cNvPr id="3" name="Card · Board · Game">
            <a:extLst xmlns:a="http://schemas.openxmlformats.org/drawingml/2006/main">
              <a:ext uri="{FF2B5EF4-FFF2-40B4-BE49-F238E27FC236}">
                <a16:creationId xmlns:a16="http://schemas.microsoft.com/office/drawing/2014/main" id="{FA3D5EBA-B329-4495-9189-380CCE3B1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27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27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27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27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27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27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27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27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27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7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2700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Card · Board · Game</a:t>
            </a:r>
          </a:p>
        </p:txBody>
      </p:sp>
      <p:sp>
        <p:nvSpPr>
          <p:cNvPr id="4" name="Each card is an object.&#10;Step through state changes and references.">
            <a:extLst xmlns:a="http://schemas.openxmlformats.org/drawingml/2006/main">
              <a:ext uri="{FF2B5EF4-FFF2-40B4-BE49-F238E27FC236}">
                <a16:creationId xmlns:a16="http://schemas.microsoft.com/office/drawing/2014/main" id="{DEC0182E-C2F6-4CD8-AEA8-56A9B20BB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0625"/>
            <a:ext cx="10572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defPPr>
            <a:lvl1pPr algn="l">
              <a:defRPr sz="2025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1pPr>
            <a:lvl2pPr algn="l">
              <a:defRPr sz="2025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2pPr>
            <a:lvl3pPr algn="l">
              <a:defRPr sz="2025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3pPr>
            <a:lvl4pPr algn="l">
              <a:defRPr sz="2025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4pPr>
            <a:lvl5pPr algn="l">
              <a:defRPr sz="2025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5pPr>
            <a:lvl6pPr algn="l">
              <a:defRPr sz="2025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6pPr>
            <a:lvl7pPr algn="l">
              <a:defRPr sz="2025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7pPr>
            <a:lvl8pPr algn="l">
              <a:defRPr sz="2025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8pPr>
            <a:lvl9pPr algn="l">
              <a:defRPr sz="2025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EDF4FB"/>
                </a:solidFill>
                <a:latin typeface="Aptos"/>
                <a:ea typeface="Aptos"/>
                <a:cs typeface="Aptos"/>
              </a:rPr>
              <a:t>Each card is an object.</a:t>
            </a:r>
          </a:p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EDF4FB"/>
                </a:solidFill>
                <a:latin typeface="Aptos"/>
                <a:ea typeface="Aptos"/>
                <a:cs typeface="Aptos"/>
              </a:rPr>
              <a:t>Step through state changes and references.</a:t>
            </a:r>
          </a:p>
        </p:txBody>
      </p:sp>
      <p:sp>
        <p:nvSpPr>
          <p:cNvPr id="5" name="https://minhuangyuntech.github.io/oo2026/en/memory/play/">
            <a:extLst xmlns:a="http://schemas.openxmlformats.org/drawingml/2006/main">
              <a:ext uri="{FF2B5EF4-FFF2-40B4-BE49-F238E27FC236}">
                <a16:creationId xmlns:a16="http://schemas.microsoft.com/office/drawing/2014/main" id="{41D797A2-9994-40EF-82DA-AFACEA6BC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8EDBE"/>
                </a:solidFill>
                <a:latin typeface="Aptos"/>
                <a:ea typeface="Aptos"/>
                <a:cs typeface="Aptos"/>
                <a:hlinkClick xmlns:r="http://schemas.openxmlformats.org/officeDocument/2006/relationships" r:id="R10212608aec040a5"/>
              </a:rPr>
              <a:t>https://minhuangyuntech.github.io/oo2026/en/memory/play/</a:t>
            </a:r>
          </a:p>
        </p:txBody>
      </p:sp>
      <p:sp>
        <p:nvSpPr>
          <p:cNvPr id="6" name="01">
            <a:extLst xmlns:a="http://schemas.openxmlformats.org/drawingml/2006/main">
              <a:ext uri="{FF2B5EF4-FFF2-40B4-BE49-F238E27FC236}">
                <a16:creationId xmlns:a16="http://schemas.microsoft.com/office/drawing/2014/main" id="{C758E635-435B-4BE4-8E2F-D540662A2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DF4F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122390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rowser game &amp; object labels">
            <a:extLst xmlns:a="http://schemas.openxmlformats.org/drawingml/2006/main">
              <a:ext uri="{FF2B5EF4-FFF2-40B4-BE49-F238E27FC236}">
                <a16:creationId xmlns:a16="http://schemas.microsoft.com/office/drawing/2014/main" id="{536045FA-3BA4-49CE-8C8C-F2881E2E4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95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defPPr>
            <a:lvl1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1pPr>
            <a:lvl2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2pPr>
            <a:lvl3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3pPr>
            <a:lvl4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4pPr>
            <a:lvl5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5pPr>
            <a:lvl6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6pPr>
            <a:lvl7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7pPr>
            <a:lvl8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8pPr>
            <a:lvl9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72C40"/>
                </a:solidFill>
                <a:latin typeface="Aptos"/>
                <a:ea typeface="Aptos"/>
                <a:cs typeface="Aptos"/>
              </a:rPr>
              <a:t>Browser game &amp; object labels</a:t>
            </a:r>
          </a:p>
        </p:txBody>
      </p:sp>
      <p:sp>
        <p:nvSpPr>
          <p:cNvPr id="2" name="12 cards, 6 pairs. Play directly in your browser.">
            <a:extLst xmlns:a="http://schemas.openxmlformats.org/drawingml/2006/main">
              <a:ext uri="{FF2B5EF4-FFF2-40B4-BE49-F238E27FC236}">
                <a16:creationId xmlns:a16="http://schemas.microsoft.com/office/drawing/2014/main" id="{A7356DA2-4D8A-4764-903F-C39C48985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62050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5B7082"/>
                </a:solidFill>
                <a:latin typeface="Aptos"/>
                <a:ea typeface="Aptos"/>
                <a:cs typeface="Aptos"/>
              </a:rPr>
              <a:t>12 cards, 6 pairs. Play directly in your browser.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0F99FC-0F4F-41B0-ADB5-F79CCC75292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3a7d41e6c64309"/>
          <a:stretch xmlns:a="http://schemas.openxmlformats.org/drawingml/2006/main"/>
        </p:blipFill>
        <p:spPr>
          <a:xfrm xmlns:a="http://schemas.openxmlformats.org/drawingml/2006/main">
            <a:off x="968079" y="1781175"/>
            <a:ext cx="6064843" cy="4610100"/>
          </a:xfrm>
          <a:prstGeom xmlns:a="http://schemas.openxmlformats.org/drawingml/2006/main" prst="rect">
            <a:avLst/>
          </a:prstGeom>
        </p:spPr>
      </p:pic>
      <p:sp>
        <p:nvSpPr>
          <p:cNvPr id="4" name="Normal play: choose two cards, then confirm the turn.">
            <a:extLst xmlns:a="http://schemas.openxmlformats.org/drawingml/2006/main">
              <a:ext uri="{FF2B5EF4-FFF2-40B4-BE49-F238E27FC236}">
                <a16:creationId xmlns:a16="http://schemas.microsoft.com/office/drawing/2014/main" id="{AFB50E2D-C734-43D9-9539-361807AE5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047875"/>
            <a:ext cx="36671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defPPr>
            <a:lvl1pPr algn="l">
              <a:defRPr sz="20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1pPr>
            <a:lvl2pPr algn="l">
              <a:defRPr sz="20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2pPr>
            <a:lvl3pPr algn="l">
              <a:defRPr sz="20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3pPr>
            <a:lvl4pPr algn="l">
              <a:defRPr sz="20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4pPr>
            <a:lvl5pPr algn="l">
              <a:defRPr sz="20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5pPr>
            <a:lvl6pPr algn="l">
              <a:defRPr sz="20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6pPr>
            <a:lvl7pPr algn="l">
              <a:defRPr sz="20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7pPr>
            <a:lvl8pPr algn="l">
              <a:defRPr sz="20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8pPr>
            <a:lvl9pPr algn="l">
              <a:defRPr sz="20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72C40"/>
                </a:solidFill>
                <a:latin typeface="Aptos"/>
                <a:ea typeface="Aptos"/>
                <a:cs typeface="Aptos"/>
              </a:rPr>
              <a:t>Normal play: choose two cards, then confirm the turn.</a:t>
            </a:r>
          </a:p>
        </p:txBody>
      </p:sp>
      <p:sp>
        <p:nvSpPr>
          <p:cNvPr id="5" name="Step mode: queue, reveal, compare, and settle.">
            <a:extLst xmlns:a="http://schemas.openxmlformats.org/drawingml/2006/main">
              <a:ext uri="{FF2B5EF4-FFF2-40B4-BE49-F238E27FC236}">
                <a16:creationId xmlns:a16="http://schemas.microsoft.com/office/drawing/2014/main" id="{1EE66B02-8489-4CDA-AAD1-1119DA16E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476625"/>
            <a:ext cx="36671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defPPr>
            <a:lvl1pPr algn="l">
              <a:defRPr sz="20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1pPr>
            <a:lvl2pPr algn="l">
              <a:defRPr sz="20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2pPr>
            <a:lvl3pPr algn="l">
              <a:defRPr sz="20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3pPr>
            <a:lvl4pPr algn="l">
              <a:defRPr sz="20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4pPr>
            <a:lvl5pPr algn="l">
              <a:defRPr sz="20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5pPr>
            <a:lvl6pPr algn="l">
              <a:defRPr sz="20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6pPr>
            <a:lvl7pPr algn="l">
              <a:defRPr sz="20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7pPr>
            <a:lvl8pPr algn="l">
              <a:defRPr sz="20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8pPr>
            <a:lvl9pPr algn="l">
              <a:defRPr sz="20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72C40"/>
                </a:solidFill>
                <a:latin typeface="Aptos"/>
                <a:ea typeface="Aptos"/>
                <a:cs typeface="Aptos"/>
              </a:rPr>
              <a:t>Step mode: queue, reveal, compare, and settle.</a:t>
            </a:r>
          </a:p>
        </p:txBody>
      </p:sp>
      <p:sp>
        <p:nvSpPr>
          <p:cNvPr id="6" name="Play in your browser">
            <a:extLst xmlns:a="http://schemas.openxmlformats.org/drawingml/2006/main">
              <a:ext uri="{FF2B5EF4-FFF2-40B4-BE49-F238E27FC236}">
                <a16:creationId xmlns:a16="http://schemas.microsoft.com/office/drawing/2014/main" id="{588AD463-5766-46A6-AEF3-6B5380B6E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276850"/>
            <a:ext cx="3667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defPPr>
            <a:lvl1pPr algn="l">
              <a:defRPr sz="195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1pPr>
            <a:lvl2pPr algn="l">
              <a:defRPr sz="195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2pPr>
            <a:lvl3pPr algn="l">
              <a:defRPr sz="195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3pPr>
            <a:lvl4pPr algn="l">
              <a:defRPr sz="195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4pPr>
            <a:lvl5pPr algn="l">
              <a:defRPr sz="195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5pPr>
            <a:lvl6pPr algn="l">
              <a:defRPr sz="195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6pPr>
            <a:lvl7pPr algn="l">
              <a:defRPr sz="195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7pPr>
            <a:lvl8pPr algn="l">
              <a:defRPr sz="195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8pPr>
            <a:lvl9pPr algn="l">
              <a:defRPr sz="195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87C62"/>
                </a:solidFill>
                <a:latin typeface="Aptos"/>
                <a:ea typeface="Aptos"/>
                <a:cs typeface="Aptos"/>
                <a:hlinkClick xmlns:r="http://schemas.openxmlformats.org/officeDocument/2006/relationships" r:id="R1092b85d757945eb"/>
              </a:rPr>
              <a:t>Play in your browser</a:t>
            </a:r>
          </a:p>
        </p:txBody>
      </p:sp>
      <p:sp>
        <p:nvSpPr>
          <p:cNvPr id="7" name="https://minhuangyuntech.github.io/oo2026/en/memory/play/">
            <a:extLst xmlns:a="http://schemas.openxmlformats.org/drawingml/2006/main">
              <a:ext uri="{FF2B5EF4-FFF2-40B4-BE49-F238E27FC236}">
                <a16:creationId xmlns:a16="http://schemas.microsoft.com/office/drawing/2014/main" id="{5D8168D3-2BD3-4BEC-B3E0-826FC8A8C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819775"/>
            <a:ext cx="3667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7082"/>
                </a:solidFill>
                <a:latin typeface="Aptos"/>
                <a:ea typeface="Aptos"/>
                <a:cs typeface="Aptos"/>
                <a:hlinkClick xmlns:r="http://schemas.openxmlformats.org/officeDocument/2006/relationships" r:id="Rf6c4f3f6d2844f37"/>
              </a:rPr>
              <a:t>https://minhuangyuntech.github.io/oo2026/en/memory/play/</a:t>
            </a:r>
          </a:p>
        </p:txBody>
      </p:sp>
      <p:sp>
        <p:nvSpPr>
          <p:cNvPr id="8" name="02">
            <a:extLst xmlns:a="http://schemas.openxmlformats.org/drawingml/2006/main">
              <a:ext uri="{FF2B5EF4-FFF2-40B4-BE49-F238E27FC236}">
                <a16:creationId xmlns:a16="http://schemas.microsoft.com/office/drawing/2014/main" id="{FCEE041F-8180-4BB7-8723-EC789DF30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7082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9151421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lay &amp; inspection controls">
            <a:extLst xmlns:a="http://schemas.openxmlformats.org/drawingml/2006/main">
              <a:ext uri="{FF2B5EF4-FFF2-40B4-BE49-F238E27FC236}">
                <a16:creationId xmlns:a16="http://schemas.microsoft.com/office/drawing/2014/main" id="{7DE6CD43-6233-4106-970F-A55CB83B0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95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defPPr>
            <a:lvl1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1pPr>
            <a:lvl2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2pPr>
            <a:lvl3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3pPr>
            <a:lvl4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4pPr>
            <a:lvl5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5pPr>
            <a:lvl6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6pPr>
            <a:lvl7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7pPr>
            <a:lvl8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8pPr>
            <a:lvl9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72C40"/>
                </a:solidFill>
                <a:latin typeface="Aptos"/>
                <a:ea typeface="Aptos"/>
                <a:cs typeface="Aptos"/>
              </a:rPr>
              <a:t>Play &amp; inspection controls</a:t>
            </a:r>
          </a:p>
        </p:txBody>
      </p:sp>
      <p:sp>
        <p:nvSpPr>
          <p:cNvPr id="2" name="Use a mouse, touch, or keyboard">
            <a:extLst xmlns:a="http://schemas.openxmlformats.org/drawingml/2006/main">
              <a:ext uri="{FF2B5EF4-FFF2-40B4-BE49-F238E27FC236}">
                <a16:creationId xmlns:a16="http://schemas.microsoft.com/office/drawing/2014/main" id="{CE0E377B-873C-430A-895E-0001C1851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62050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5B7082"/>
                </a:solidFill>
                <a:latin typeface="Aptos"/>
                <a:ea typeface="Aptos"/>
                <a:cs typeface="Aptos"/>
              </a:rPr>
              <a:t>Use a mouse, touch, or keyboard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DB8D37-88E9-4BA8-94CD-19448394B6BE}"/>
              </a:ext>
            </a:extLst>
          </p:cNvPr>
          <p:cNvGraphicFramePr/>
          <p:nvPr/>
        </p:nvGraphicFramePr>
        <p:xfrm>
          <a:off xmlns:a="http://schemas.openxmlformats.org/drawingml/2006/main" x="571500" y="1781175"/>
          <a:ext xmlns:a="http://schemas.openxmlformats.org/drawingml/2006/main" cx="11049000" cy="4000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238500"/>
                <a:gridCol w="7810500"/>
              </a:tblGrid>
              <a:tr h="571500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EDF4FB"/>
                          </a:solidFill>
                          <a:latin typeface="Aptos"/>
                          <a:ea typeface="Aptos"/>
                          <a:cs typeface="Aptos"/>
                        </a:rPr>
                        <a:t>Control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172C40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EDF4FB"/>
                          </a:solidFill>
                          <a:latin typeface="Aptos"/>
                          <a:ea typeface="Aptos"/>
                          <a:cs typeface="Aptos"/>
                        </a:rPr>
                        <a:t>Result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172C40"/>
                    </a:solidFill>
                  </a:tcPr>
                </a:tc>
              </a:tr>
              <a:tr h="571500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2C40"/>
                          </a:solidFill>
                          <a:latin typeface="Aptos"/>
                          <a:ea typeface="Aptos"/>
                          <a:cs typeface="Aptos"/>
                        </a:rPr>
                        <a:t>Normal play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Aptos"/>
                          <a:ea typeface="Aptos"/>
                          <a:cs typeface="Aptos"/>
                        </a:rPr>
                        <a:t>Choose two cards; confirm the turn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2C40"/>
                          </a:solidFill>
                          <a:latin typeface="Aptos"/>
                          <a:ea typeface="Aptos"/>
                          <a:cs typeface="Aptos"/>
                        </a:rPr>
                        <a:t>Step mode / 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Aptos"/>
                          <a:ea typeface="Aptos"/>
                          <a:cs typeface="Aptos"/>
                        </a:rPr>
                        <a:t>Reveal, compare, and settle separately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571500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2C40"/>
                          </a:solidFill>
                          <a:latin typeface="Aptos"/>
                          <a:ea typeface="Aptos"/>
                          <a:cs typeface="Aptos"/>
                        </a:rPr>
                        <a:t>L / Object labels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Aptos"/>
                          <a:ea typeface="Aptos"/>
                          <a:cs typeface="Aptos"/>
                        </a:rPr>
                        <a:t>Toggle labels such as C01: Card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2C40"/>
                          </a:solidFill>
                          <a:latin typeface="Aptos"/>
                          <a:ea typeface="Aptos"/>
                          <a:cs typeface="Aptos"/>
                        </a:rPr>
                        <a:t>Object inspector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Aptos"/>
                          <a:ea typeface="Aptos"/>
                          <a:cs typeface="Aptos"/>
                        </a:rPr>
                        <a:t>Inspect a card without revealing it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571500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2C40"/>
                          </a:solidFill>
                          <a:latin typeface="Aptos"/>
                          <a:ea typeface="Aptos"/>
                          <a:cs typeface="Aptos"/>
                        </a:rPr>
                        <a:t>Fixed examples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Aptos"/>
                          <a:ea typeface="Aptos"/>
                          <a:cs typeface="Aptos"/>
                        </a:rPr>
                        <a:t>Create a new game in step mode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2C40"/>
                          </a:solidFill>
                          <a:latin typeface="Aptos"/>
                          <a:ea typeface="Aptos"/>
                          <a:cs typeface="Aptos"/>
                        </a:rPr>
                        <a:t>New game / shuffle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Aptos"/>
                          <a:ea typeface="Aptos"/>
                          <a:cs typeface="Aptos"/>
                        </a:rPr>
                        <a:t>Create new objects and a shuffled board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4" name="Switching languages preserves the board and progress. Reloading starts">
            <a:extLst xmlns:a="http://schemas.openxmlformats.org/drawingml/2006/main">
              <a:ext uri="{FF2B5EF4-FFF2-40B4-BE49-F238E27FC236}">
                <a16:creationId xmlns:a16="http://schemas.microsoft.com/office/drawing/2014/main" id="{CCD79D03-3B32-474B-8AF8-D9FB39308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817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defPPr>
            <a:lvl1pPr algn="l">
              <a:defRPr sz="157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1pPr>
            <a:lvl2pPr algn="l">
              <a:defRPr sz="157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2pPr>
            <a:lvl3pPr algn="l">
              <a:defRPr sz="157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3pPr>
            <a:lvl4pPr algn="l">
              <a:defRPr sz="157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4pPr>
            <a:lvl5pPr algn="l">
              <a:defRPr sz="157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5pPr>
            <a:lvl6pPr algn="l">
              <a:defRPr sz="157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6pPr>
            <a:lvl7pPr algn="l">
              <a:defRPr sz="157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7pPr>
            <a:lvl8pPr algn="l">
              <a:defRPr sz="157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8pPr>
            <a:lvl9pPr algn="l">
              <a:defRPr sz="157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B7082"/>
                </a:solidFill>
                <a:latin typeface="Aptos"/>
                <a:ea typeface="Aptos"/>
                <a:cs typeface="Aptos"/>
              </a:rPr>
              <a:t>Switching languages preserves the board and progress. Reloading starts a new game.</a:t>
            </a:r>
          </a:p>
        </p:txBody>
      </p:sp>
      <p:sp>
        <p:nvSpPr>
          <p:cNvPr id="5" name="03">
            <a:extLst xmlns:a="http://schemas.openxmlformats.org/drawingml/2006/main">
              <a:ext uri="{FF2B5EF4-FFF2-40B4-BE49-F238E27FC236}">
                <a16:creationId xmlns:a16="http://schemas.microsoft.com/office/drawing/2014/main" id="{DF3AE4FA-37B3-4BE5-8B98-8CD4AC827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7082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4480640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hree class responsibilities">
            <a:extLst xmlns:a="http://schemas.openxmlformats.org/drawingml/2006/main">
              <a:ext uri="{FF2B5EF4-FFF2-40B4-BE49-F238E27FC236}">
                <a16:creationId xmlns:a16="http://schemas.microsoft.com/office/drawing/2014/main" id="{00858638-BDE6-4CA3-BE8F-FD7E0C3D2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95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defPPr>
            <a:lvl1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1pPr>
            <a:lvl2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2pPr>
            <a:lvl3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3pPr>
            <a:lvl4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4pPr>
            <a:lvl5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5pPr>
            <a:lvl6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6pPr>
            <a:lvl7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7pPr>
            <a:lvl8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8pPr>
            <a:lvl9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72C40"/>
                </a:solidFill>
                <a:latin typeface="Aptos"/>
                <a:ea typeface="Aptos"/>
                <a:cs typeface="Aptos"/>
              </a:rPr>
              <a:t>Three class responsibilities</a:t>
            </a:r>
          </a:p>
        </p:txBody>
      </p:sp>
      <p:sp>
        <p:nvSpPr>
          <p:cNvPr id="2" name="Keep data and behavior in the responsible object">
            <a:extLst xmlns:a="http://schemas.openxmlformats.org/drawingml/2006/main">
              <a:ext uri="{FF2B5EF4-FFF2-40B4-BE49-F238E27FC236}">
                <a16:creationId xmlns:a16="http://schemas.microsoft.com/office/drawing/2014/main" id="{2D756332-6F30-4ADA-816F-D3A6D3AD1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62050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5B7082"/>
                </a:solidFill>
                <a:latin typeface="Aptos"/>
                <a:ea typeface="Aptos"/>
                <a:cs typeface="Aptos"/>
              </a:rPr>
              <a:t>Keep data and behavior in the responsible object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60E7E5-C431-4BAD-8904-30186B5E4D67}"/>
              </a:ext>
            </a:extLst>
          </p:cNvPr>
          <p:cNvGraphicFramePr/>
          <p:nvPr/>
        </p:nvGraphicFramePr>
        <p:xfrm>
          <a:off xmlns:a="http://schemas.openxmlformats.org/drawingml/2006/main" x="571500" y="1781175"/>
          <a:ext xmlns:a="http://schemas.openxmlformats.org/drawingml/2006/main" cx="11049000" cy="4000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714500"/>
                <a:gridCol w="4667250"/>
                <a:gridCol w="4667250"/>
              </a:tblGrid>
              <a:tr h="1000125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EDF4FB"/>
                          </a:solidFill>
                          <a:latin typeface="Aptos"/>
                          <a:ea typeface="Aptos"/>
                          <a:cs typeface="Aptos"/>
                        </a:rPr>
                        <a:t>Class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172C40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EDF4FB"/>
                          </a:solidFill>
                          <a:latin typeface="Aptos"/>
                          <a:ea typeface="Aptos"/>
                          <a:cs typeface="Aptos"/>
                        </a:rPr>
                        <a:t>Data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172C40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EDF4FB"/>
                          </a:solidFill>
                          <a:latin typeface="Aptos"/>
                          <a:ea typeface="Aptos"/>
                          <a:cs typeface="Aptos"/>
                        </a:rPr>
                        <a:t>Responsibility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172C40"/>
                    </a:solidFill>
                  </a:tcPr>
                </a:tc>
              </a:tr>
              <a:tr h="1000125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2C40"/>
                          </a:solidFill>
                          <a:latin typeface="Aptos"/>
                          <a:ea typeface="Aptos"/>
                          <a:cs typeface="Aptos"/>
                        </a:rPr>
                        <a:t>Card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Aptos"/>
                          <a:ea typeface="Aptos"/>
                          <a:cs typeface="Aptos"/>
                        </a:rPr>
                        <a:t>name, pair_id, face_up, matched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Aptos"/>
                          <a:ea typeface="Aptos"/>
                          <a:cs typeface="Aptos"/>
                        </a:rPr>
                        <a:t>Reveal, hide, mark matched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00125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2C40"/>
                          </a:solidFill>
                          <a:latin typeface="Aptos"/>
                          <a:ea typeface="Aptos"/>
                          <a:cs typeface="Aptos"/>
                        </a:rPr>
                        <a:t>Board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Aptos"/>
                          <a:ea typeface="Aptos"/>
                          <a:cs typeface="Aptos"/>
                        </a:rPr>
                        <a:t>cards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Aptos"/>
                          <a:ea typeface="Aptos"/>
                          <a:cs typeface="Aptos"/>
                        </a:rPr>
                        <a:t>Create and find 12 cards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1000125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2C40"/>
                          </a:solidFill>
                          <a:latin typeface="Aptos"/>
                          <a:ea typeface="Aptos"/>
                          <a:cs typeface="Aptos"/>
                        </a:rPr>
                        <a:t>Game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Aptos"/>
                          <a:ea typeface="Aptos"/>
                          <a:cs typeface="Aptos"/>
                        </a:rPr>
                        <a:t>first, second, pending, phase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Aptos"/>
                          <a:ea typeface="Aptos"/>
                          <a:cs typeface="Aptos"/>
                        </a:rPr>
                        <a:t>Coordinate selection and turns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he view reads model state. Buttons call model methods.">
            <a:extLst xmlns:a="http://schemas.openxmlformats.org/drawingml/2006/main">
              <a:ext uri="{FF2B5EF4-FFF2-40B4-BE49-F238E27FC236}">
                <a16:creationId xmlns:a16="http://schemas.microsoft.com/office/drawing/2014/main" id="{6502B84F-77B7-456F-869B-D65C5AF23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817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defPPr>
            <a:lvl1pPr algn="l">
              <a:defRPr sz="157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1pPr>
            <a:lvl2pPr algn="l">
              <a:defRPr sz="157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2pPr>
            <a:lvl3pPr algn="l">
              <a:defRPr sz="157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3pPr>
            <a:lvl4pPr algn="l">
              <a:defRPr sz="157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4pPr>
            <a:lvl5pPr algn="l">
              <a:defRPr sz="157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5pPr>
            <a:lvl6pPr algn="l">
              <a:defRPr sz="157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6pPr>
            <a:lvl7pPr algn="l">
              <a:defRPr sz="157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7pPr>
            <a:lvl8pPr algn="l">
              <a:defRPr sz="157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8pPr>
            <a:lvl9pPr algn="l">
              <a:defRPr sz="157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B7082"/>
                </a:solidFill>
                <a:latin typeface="Aptos"/>
                <a:ea typeface="Aptos"/>
                <a:cs typeface="Aptos"/>
              </a:rPr>
              <a:t>The view reads model state. Buttons call model methods.</a:t>
            </a:r>
          </a:p>
        </p:txBody>
      </p:sp>
      <p:sp>
        <p:nvSpPr>
          <p:cNvPr id="5" name="04">
            <a:extLst xmlns:a="http://schemas.openxmlformats.org/drawingml/2006/main">
              <a:ext uri="{FF2B5EF4-FFF2-40B4-BE49-F238E27FC236}">
                <a16:creationId xmlns:a16="http://schemas.microsoft.com/office/drawing/2014/main" id="{EAA8D25F-CA4F-4E45-90DB-DA0DC8DDB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7082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5823776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UML class diagram">
            <a:extLst xmlns:a="http://schemas.openxmlformats.org/drawingml/2006/main">
              <a:ext uri="{FF2B5EF4-FFF2-40B4-BE49-F238E27FC236}">
                <a16:creationId xmlns:a16="http://schemas.microsoft.com/office/drawing/2014/main" id="{25531EC6-0808-48E7-B478-6AE329DA5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95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defPPr>
            <a:lvl1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1pPr>
            <a:lvl2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2pPr>
            <a:lvl3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3pPr>
            <a:lvl4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4pPr>
            <a:lvl5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5pPr>
            <a:lvl6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6pPr>
            <a:lvl7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7pPr>
            <a:lvl8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8pPr>
            <a:lvl9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72C40"/>
                </a:solidFill>
                <a:latin typeface="Aptos"/>
                <a:ea typeface="Aptos"/>
                <a:cs typeface="Aptos"/>
              </a:rPr>
              <a:t>UML class diagram</a:t>
            </a:r>
          </a:p>
        </p:txBody>
      </p:sp>
      <p:sp>
        <p:nvSpPr>
          <p:cNvPr id="2" name="Name, attributes, methods. Arrows show navigable associations.">
            <a:extLst xmlns:a="http://schemas.openxmlformats.org/drawingml/2006/main">
              <a:ext uri="{FF2B5EF4-FFF2-40B4-BE49-F238E27FC236}">
                <a16:creationId xmlns:a16="http://schemas.microsoft.com/office/drawing/2014/main" id="{1C7F9A0C-9B41-4C79-940D-381BBA7F8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62050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5B7082"/>
                </a:solidFill>
                <a:latin typeface="Aptos"/>
                <a:ea typeface="Aptos"/>
                <a:cs typeface="Aptos"/>
              </a:rPr>
              <a:t>Name, attributes, methods. Arrows show navigable associations.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375706-5D72-490F-84A3-EE89608FE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57375"/>
            <a:ext cx="3143250" cy="3095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2C40"/>
            </a:solidFill>
          </a:ln>
        </p:spPr>
      </p:sp>
      <p:sp>
        <p:nvSpPr>
          <p:cNvPr id="4" name="Game">
            <a:extLst xmlns:a="http://schemas.openxmlformats.org/drawingml/2006/main">
              <a:ext uri="{FF2B5EF4-FFF2-40B4-BE49-F238E27FC236}">
                <a16:creationId xmlns:a16="http://schemas.microsoft.com/office/drawing/2014/main" id="{D561C7B6-115D-41E1-97C5-E4B32C699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62150"/>
            <a:ext cx="2838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defPPr>
            <a:lvl1pPr algn="l">
              <a:defRPr sz="2175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1pPr>
            <a:lvl2pPr algn="l">
              <a:defRPr sz="2175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2pPr>
            <a:lvl3pPr algn="l">
              <a:defRPr sz="2175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3pPr>
            <a:lvl4pPr algn="l">
              <a:defRPr sz="2175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4pPr>
            <a:lvl5pPr algn="l">
              <a:defRPr sz="2175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5pPr>
            <a:lvl6pPr algn="l">
              <a:defRPr sz="2175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6pPr>
            <a:lvl7pPr algn="l">
              <a:defRPr sz="2175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7pPr>
            <a:lvl8pPr algn="l">
              <a:defRPr sz="2175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8pPr>
            <a:lvl9pPr algn="l">
              <a:defRPr sz="2175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72C40"/>
                </a:solidFill>
                <a:latin typeface="Aptos"/>
                <a:ea typeface="Aptos"/>
                <a:cs typeface="Aptos"/>
              </a:rPr>
              <a:t>Game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D9447D-6FE0-4CB2-8E1A-C59F34EC8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71500" y="2343150"/>
            <a:ext cx="3143250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172C40"/>
            </a:solidFill>
          </a:ln>
        </p:spPr>
      </p:sp>
      <p:sp>
        <p:nvSpPr>
          <p:cNvPr id="6" name="board: Board&#10;first: Card [0..1]&#10;second: Card [0..1]&#10;pending: Card [0..">
            <a:extLst xmlns:a="http://schemas.openxmlformats.org/drawingml/2006/main">
              <a:ext uri="{FF2B5EF4-FFF2-40B4-BE49-F238E27FC236}">
                <a16:creationId xmlns:a16="http://schemas.microsoft.com/office/drawing/2014/main" id="{E6D666A7-2BB1-43F9-9E0E-8DE60FAEC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28384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defPPr>
            <a:lvl1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1pPr>
            <a:lvl2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2pPr>
            <a:lvl3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3pPr>
            <a:lvl4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4pPr>
            <a:lvl5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5pPr>
            <a:lvl6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6pPr>
            <a:lvl7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7pPr>
            <a:lvl8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8pPr>
            <a:lvl9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C40"/>
                </a:solidFill>
                <a:latin typeface="Aptos"/>
                <a:ea typeface="Aptos"/>
                <a:cs typeface="Aptos"/>
              </a:rPr>
              <a:t>board: Board</a:t>
            </a:r>
          </a:p>
          <a:p xmlns:a="http://schemas.openxmlformats.org/drawingml/2006/main">
            <a: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C40"/>
                </a:solidFill>
                <a:latin typeface="Aptos"/>
                <a:ea typeface="Aptos"/>
                <a:cs typeface="Aptos"/>
              </a:rPr>
              <a:t>first: Card [0..1]</a:t>
            </a:r>
          </a:p>
          <a:p xmlns:a="http://schemas.openxmlformats.org/drawingml/2006/main">
            <a: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C40"/>
                </a:solidFill>
                <a:latin typeface="Aptos"/>
                <a:ea typeface="Aptos"/>
                <a:cs typeface="Aptos"/>
              </a:rPr>
              <a:t>second: Card [0..1]</a:t>
            </a:r>
          </a:p>
          <a:p xmlns:a="http://schemas.openxmlformats.org/drawingml/2006/main">
            <a: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C40"/>
                </a:solidFill>
                <a:latin typeface="Aptos"/>
                <a:ea typeface="Aptos"/>
                <a:cs typeface="Aptos"/>
              </a:rPr>
              <a:t>pending: Card [0..1]</a:t>
            </a:r>
          </a:p>
          <a:p xmlns:a="http://schemas.openxmlformats.org/drawingml/2006/main">
            <a: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C40"/>
                </a:solidFill>
                <a:latin typeface="Aptos"/>
                <a:ea typeface="Aptos"/>
                <a:cs typeface="Aptos"/>
              </a:rPr>
              <a:t>phase, turns, matches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882011-828A-425F-A509-8219F38E7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71500" y="3990975"/>
            <a:ext cx="3143250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172C40"/>
            </a:solidFill>
          </a:ln>
        </p:spPr>
      </p:sp>
      <p:sp>
        <p:nvSpPr>
          <p:cNvPr id="8" name="queue(name)&#10;step(), compare(), settle()">
            <a:extLst xmlns:a="http://schemas.openxmlformats.org/drawingml/2006/main">
              <a:ext uri="{FF2B5EF4-FFF2-40B4-BE49-F238E27FC236}">
                <a16:creationId xmlns:a16="http://schemas.microsoft.com/office/drawing/2014/main" id="{AA289BB8-F26A-43BF-BCED-EC90B4DC6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33850"/>
            <a:ext cx="28384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defPPr>
            <a:lvl1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1pPr>
            <a:lvl2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2pPr>
            <a:lvl3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3pPr>
            <a:lvl4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4pPr>
            <a:lvl5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5pPr>
            <a:lvl6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6pPr>
            <a:lvl7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7pPr>
            <a:lvl8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8pPr>
            <a:lvl9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C40"/>
                </a:solidFill>
                <a:latin typeface="Aptos"/>
                <a:ea typeface="Aptos"/>
                <a:cs typeface="Aptos"/>
              </a:rPr>
              <a:t>queue(name)</a:t>
            </a:r>
          </a:p>
          <a:p xmlns:a="http://schemas.openxmlformats.org/drawingml/2006/main">
            <a: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C40"/>
                </a:solidFill>
                <a:latin typeface="Aptos"/>
                <a:ea typeface="Aptos"/>
                <a:cs typeface="Aptos"/>
              </a:rPr>
              <a:t>step(), compare(), settle()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1201B2-ADB4-4773-9A86-E9B8F7505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857375"/>
            <a:ext cx="2476500" cy="3095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654B2"/>
            </a:solidFill>
          </a:ln>
        </p:spPr>
      </p:sp>
      <p:sp>
        <p:nvSpPr>
          <p:cNvPr id="10" name="Board">
            <a:extLst xmlns:a="http://schemas.openxmlformats.org/drawingml/2006/main">
              <a:ext uri="{FF2B5EF4-FFF2-40B4-BE49-F238E27FC236}">
                <a16:creationId xmlns:a16="http://schemas.microsoft.com/office/drawing/2014/main" id="{3C386716-5696-4959-A0D9-A84E8D44E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1962150"/>
            <a:ext cx="2171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7654B2"/>
                </a:solidFill>
                <a:latin typeface="Aptos"/>
                <a:ea typeface="Aptos"/>
                <a:cs typeface="Aptos"/>
              </a:defRPr>
            </a:defPPr>
            <a:lvl1pPr algn="l">
              <a:defRPr sz="2175" b="1">
                <a:solidFill>
                  <a:srgbClr val="7654B2"/>
                </a:solidFill>
                <a:latin typeface="Aptos"/>
                <a:ea typeface="Aptos"/>
                <a:cs typeface="Aptos"/>
              </a:defRPr>
            </a:lvl1pPr>
            <a:lvl2pPr algn="l">
              <a:defRPr sz="2175" b="1">
                <a:solidFill>
                  <a:srgbClr val="7654B2"/>
                </a:solidFill>
                <a:latin typeface="Aptos"/>
                <a:ea typeface="Aptos"/>
                <a:cs typeface="Aptos"/>
              </a:defRPr>
            </a:lvl2pPr>
            <a:lvl3pPr algn="l">
              <a:defRPr sz="2175" b="1">
                <a:solidFill>
                  <a:srgbClr val="7654B2"/>
                </a:solidFill>
                <a:latin typeface="Aptos"/>
                <a:ea typeface="Aptos"/>
                <a:cs typeface="Aptos"/>
              </a:defRPr>
            </a:lvl3pPr>
            <a:lvl4pPr algn="l">
              <a:defRPr sz="2175" b="1">
                <a:solidFill>
                  <a:srgbClr val="7654B2"/>
                </a:solidFill>
                <a:latin typeface="Aptos"/>
                <a:ea typeface="Aptos"/>
                <a:cs typeface="Aptos"/>
              </a:defRPr>
            </a:lvl4pPr>
            <a:lvl5pPr algn="l">
              <a:defRPr sz="2175" b="1">
                <a:solidFill>
                  <a:srgbClr val="7654B2"/>
                </a:solidFill>
                <a:latin typeface="Aptos"/>
                <a:ea typeface="Aptos"/>
                <a:cs typeface="Aptos"/>
              </a:defRPr>
            </a:lvl5pPr>
            <a:lvl6pPr algn="l">
              <a:defRPr sz="2175" b="1">
                <a:solidFill>
                  <a:srgbClr val="7654B2"/>
                </a:solidFill>
                <a:latin typeface="Aptos"/>
                <a:ea typeface="Aptos"/>
                <a:cs typeface="Aptos"/>
              </a:defRPr>
            </a:lvl6pPr>
            <a:lvl7pPr algn="l">
              <a:defRPr sz="2175" b="1">
                <a:solidFill>
                  <a:srgbClr val="7654B2"/>
                </a:solidFill>
                <a:latin typeface="Aptos"/>
                <a:ea typeface="Aptos"/>
                <a:cs typeface="Aptos"/>
              </a:defRPr>
            </a:lvl7pPr>
            <a:lvl8pPr algn="l">
              <a:defRPr sz="2175" b="1">
                <a:solidFill>
                  <a:srgbClr val="7654B2"/>
                </a:solidFill>
                <a:latin typeface="Aptos"/>
                <a:ea typeface="Aptos"/>
                <a:cs typeface="Aptos"/>
              </a:defRPr>
            </a:lvl8pPr>
            <a:lvl9pPr algn="l">
              <a:defRPr sz="2175" b="1">
                <a:solidFill>
                  <a:srgbClr val="7654B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7654B2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7654B2"/>
                </a:solidFill>
                <a:latin typeface="Aptos"/>
                <a:ea typeface="Aptos"/>
                <a:cs typeface="Aptos"/>
              </a:rPr>
              <a:t>Board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D681CB-04C3-4941-88D8-811C07765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810125" y="2343150"/>
            <a:ext cx="2476500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7654B2"/>
            </a:solidFill>
          </a:ln>
        </p:spPr>
      </p:sp>
      <p:sp>
        <p:nvSpPr>
          <p:cNvPr id="12" name="cards: list[Card]&#10;complete: bool">
            <a:extLst xmlns:a="http://schemas.openxmlformats.org/drawingml/2006/main">
              <a:ext uri="{FF2B5EF4-FFF2-40B4-BE49-F238E27FC236}">
                <a16:creationId xmlns:a16="http://schemas.microsoft.com/office/drawing/2014/main" id="{337EFB16-D815-4B6A-B963-47EF2A2E5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457450"/>
            <a:ext cx="21717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defPPr>
            <a:lvl1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1pPr>
            <a:lvl2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2pPr>
            <a:lvl3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3pPr>
            <a:lvl4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4pPr>
            <a:lvl5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5pPr>
            <a:lvl6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6pPr>
            <a:lvl7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7pPr>
            <a:lvl8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8pPr>
            <a:lvl9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C40"/>
                </a:solidFill>
                <a:latin typeface="Aptos"/>
                <a:ea typeface="Aptos"/>
                <a:cs typeface="Aptos"/>
              </a:rPr>
              <a:t>cards: list[Card]</a:t>
            </a:r>
          </a:p>
          <a:p xmlns:a="http://schemas.openxmlformats.org/drawingml/2006/main">
            <a: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C40"/>
                </a:solidFill>
                <a:latin typeface="Aptos"/>
                <a:ea typeface="Aptos"/>
                <a:cs typeface="Aptos"/>
              </a:rPr>
              <a:t>complete: bool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DFA571-42D9-4A78-B7D2-287DCE8EF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810125" y="3990975"/>
            <a:ext cx="2476500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7654B2"/>
            </a:solidFill>
          </a:ln>
        </p:spPr>
      </p:sp>
      <p:sp>
        <p:nvSpPr>
          <p:cNvPr id="14" name="get(name)">
            <a:extLst xmlns:a="http://schemas.openxmlformats.org/drawingml/2006/main">
              <a:ext uri="{FF2B5EF4-FFF2-40B4-BE49-F238E27FC236}">
                <a16:creationId xmlns:a16="http://schemas.microsoft.com/office/drawing/2014/main" id="{444076D3-6571-4E13-A2F1-1E70E447D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4133850"/>
            <a:ext cx="21717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defPPr>
            <a:lvl1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1pPr>
            <a:lvl2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2pPr>
            <a:lvl3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3pPr>
            <a:lvl4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4pPr>
            <a:lvl5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5pPr>
            <a:lvl6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6pPr>
            <a:lvl7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7pPr>
            <a:lvl8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8pPr>
            <a:lvl9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C40"/>
                </a:solidFill>
                <a:latin typeface="Aptos"/>
                <a:ea typeface="Aptos"/>
                <a:cs typeface="Aptos"/>
              </a:rPr>
              <a:t>get(name)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0FA4C0-0C66-4A98-A54A-1D7BB9FF8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57375"/>
            <a:ext cx="3143250" cy="3095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87C62"/>
            </a:solidFill>
          </a:ln>
        </p:spPr>
      </p:sp>
      <p:sp>
        <p:nvSpPr>
          <p:cNvPr id="16" name="Card">
            <a:extLst xmlns:a="http://schemas.openxmlformats.org/drawingml/2006/main">
              <a:ext uri="{FF2B5EF4-FFF2-40B4-BE49-F238E27FC236}">
                <a16:creationId xmlns:a16="http://schemas.microsoft.com/office/drawing/2014/main" id="{0B8D9E58-BBEC-4A44-B9A8-74F9300EC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62150"/>
            <a:ext cx="2838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defPPr>
            <a:lvl1pPr algn="l">
              <a:defRPr sz="217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1pPr>
            <a:lvl2pPr algn="l">
              <a:defRPr sz="217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2pPr>
            <a:lvl3pPr algn="l">
              <a:defRPr sz="217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3pPr>
            <a:lvl4pPr algn="l">
              <a:defRPr sz="217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4pPr>
            <a:lvl5pPr algn="l">
              <a:defRPr sz="217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5pPr>
            <a:lvl6pPr algn="l">
              <a:defRPr sz="217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6pPr>
            <a:lvl7pPr algn="l">
              <a:defRPr sz="217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7pPr>
            <a:lvl8pPr algn="l">
              <a:defRPr sz="217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8pPr>
            <a:lvl9pPr algn="l">
              <a:defRPr sz="217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087C62"/>
                </a:solidFill>
                <a:latin typeface="Aptos"/>
                <a:ea typeface="Aptos"/>
                <a:cs typeface="Aptos"/>
              </a:rPr>
              <a:t>Card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D8AAB8-1E4D-46F8-9B78-08204D47D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477250" y="2343150"/>
            <a:ext cx="3143250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087C62"/>
            </a:solidFill>
          </a:ln>
        </p:spPr>
      </p:sp>
      <p:sp>
        <p:nvSpPr>
          <p:cNvPr id="18" name="name, pair_id&#10;face_up, matched">
            <a:extLst xmlns:a="http://schemas.openxmlformats.org/drawingml/2006/main">
              <a:ext uri="{FF2B5EF4-FFF2-40B4-BE49-F238E27FC236}">
                <a16:creationId xmlns:a16="http://schemas.microsoft.com/office/drawing/2014/main" id="{5CCBF44D-A254-4EBB-87BA-B5AB6F404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457450"/>
            <a:ext cx="28384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defPPr>
            <a:lvl1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1pPr>
            <a:lvl2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2pPr>
            <a:lvl3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3pPr>
            <a:lvl4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4pPr>
            <a:lvl5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5pPr>
            <a:lvl6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6pPr>
            <a:lvl7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7pPr>
            <a:lvl8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8pPr>
            <a:lvl9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C40"/>
                </a:solidFill>
                <a:latin typeface="Aptos"/>
                <a:ea typeface="Aptos"/>
                <a:cs typeface="Aptos"/>
              </a:rPr>
              <a:t>name, pair_id</a:t>
            </a:r>
          </a:p>
          <a:p xmlns:a="http://schemas.openxmlformats.org/drawingml/2006/main">
            <a: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C40"/>
                </a:solidFill>
                <a:latin typeface="Aptos"/>
                <a:ea typeface="Aptos"/>
                <a:cs typeface="Aptos"/>
              </a:rPr>
              <a:t>face_up, matched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471902-CB44-4C0C-85A0-6C1AE84A9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477250" y="3990975"/>
            <a:ext cx="3143250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087C62"/>
            </a:solidFill>
          </a:ln>
        </p:spPr>
      </p:sp>
      <p:sp>
        <p:nvSpPr>
          <p:cNvPr id="20" name="reveal()&#10;hide(), mark_matched()">
            <a:extLst xmlns:a="http://schemas.openxmlformats.org/drawingml/2006/main">
              <a:ext uri="{FF2B5EF4-FFF2-40B4-BE49-F238E27FC236}">
                <a16:creationId xmlns:a16="http://schemas.microsoft.com/office/drawing/2014/main" id="{27C3F503-001F-4EC2-830A-E0024BB8F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133850"/>
            <a:ext cx="28384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defPPr>
            <a:lvl1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1pPr>
            <a:lvl2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2pPr>
            <a:lvl3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3pPr>
            <a:lvl4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4pPr>
            <a:lvl5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5pPr>
            <a:lvl6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6pPr>
            <a:lvl7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7pPr>
            <a:lvl8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8pPr>
            <a:lvl9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C40"/>
                </a:solidFill>
                <a:latin typeface="Aptos"/>
                <a:ea typeface="Aptos"/>
                <a:cs typeface="Aptos"/>
              </a:rPr>
              <a:t>reveal()</a:t>
            </a:r>
          </a:p>
          <a:p xmlns:a="http://schemas.openxmlformats.org/drawingml/2006/main">
            <a: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C40"/>
                </a:solidFill>
                <a:latin typeface="Aptos"/>
                <a:ea typeface="Aptos"/>
                <a:cs typeface="Aptos"/>
              </a:rPr>
              <a:t>hide(), mark_matched()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676590-1216-4D81-A404-8B8408141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714750" y="2857500"/>
            <a:ext cx="1095375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172C40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248F85-C0C6-4DE1-B2A0-F711B4EB6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4718176" y="2857500"/>
            <a:ext cx="91949" cy="50232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172C40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01DA33-91F3-4C14-B0A7-CAA00520F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4718176" y="2807268"/>
            <a:ext cx="91949" cy="50232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172C40"/>
            </a:solidFill>
          </a:ln>
        </p:spPr>
      </p:sp>
      <p:sp>
        <p:nvSpPr>
          <p:cNvPr id="24" name="board">
            <a:extLst xmlns:a="http://schemas.openxmlformats.org/drawingml/2006/main">
              <a:ext uri="{FF2B5EF4-FFF2-40B4-BE49-F238E27FC236}">
                <a16:creationId xmlns:a16="http://schemas.microsoft.com/office/drawing/2014/main" id="{0E6DD306-877D-42CE-B654-74F5A3BCB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476500"/>
            <a:ext cx="904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defPPr>
            <a:lvl1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1pPr>
            <a:lvl2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2pPr>
            <a:lvl3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3pPr>
            <a:lvl4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4pPr>
            <a:lvl5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5pPr>
            <a:lvl6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6pPr>
            <a:lvl7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7pPr>
            <a:lvl8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8pPr>
            <a:lvl9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C40"/>
                </a:solidFill>
                <a:latin typeface="Aptos"/>
                <a:ea typeface="Aptos"/>
                <a:cs typeface="Aptos"/>
              </a:rPr>
              <a:t>board</a:t>
            </a:r>
          </a:p>
        </p:txBody>
      </p:sp>
      <p:sp>
        <p:nvSpPr>
          <p:cNvPr id="25" name="1">
            <a:extLst xmlns:a="http://schemas.openxmlformats.org/drawingml/2006/main">
              <a:ext uri="{FF2B5EF4-FFF2-40B4-BE49-F238E27FC236}">
                <a16:creationId xmlns:a16="http://schemas.microsoft.com/office/drawing/2014/main" id="{1C74165C-AE94-4283-937C-3894FE490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952750"/>
            <a:ext cx="238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defPPr>
            <a:lvl1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1pPr>
            <a:lvl2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2pPr>
            <a:lvl3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3pPr>
            <a:lvl4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4pPr>
            <a:lvl5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5pPr>
            <a:lvl6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6pPr>
            <a:lvl7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7pPr>
            <a:lvl8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8pPr>
            <a:lvl9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C40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D3DE66-0382-4B22-9E7B-FE89FE27C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286625" y="2857500"/>
            <a:ext cx="1190625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172C40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A815820-701E-4D71-A437-862274FCA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8385301" y="2857500"/>
            <a:ext cx="91949" cy="50232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172C40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9F47A7-20B4-470D-A2A5-CEDCEA04A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8385301" y="2807268"/>
            <a:ext cx="91949" cy="50232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172C40"/>
            </a:solidFill>
          </a:ln>
        </p:spPr>
      </p:sp>
      <p:sp>
        <p:nvSpPr>
          <p:cNvPr id="29" name="cards">
            <a:extLst xmlns:a="http://schemas.openxmlformats.org/drawingml/2006/main">
              <a:ext uri="{FF2B5EF4-FFF2-40B4-BE49-F238E27FC236}">
                <a16:creationId xmlns:a16="http://schemas.microsoft.com/office/drawing/2014/main" id="{E0C9EBE4-22C8-467C-91B5-A6D88467F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76500"/>
            <a:ext cx="87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defPPr>
            <a:lvl1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1pPr>
            <a:lvl2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2pPr>
            <a:lvl3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3pPr>
            <a:lvl4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4pPr>
            <a:lvl5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5pPr>
            <a:lvl6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6pPr>
            <a:lvl7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7pPr>
            <a:lvl8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8pPr>
            <a:lvl9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C40"/>
                </a:solidFill>
                <a:latin typeface="Aptos"/>
                <a:ea typeface="Aptos"/>
                <a:cs typeface="Aptos"/>
              </a:rPr>
              <a:t>cards</a:t>
            </a:r>
          </a:p>
        </p:txBody>
      </p:sp>
      <p:sp>
        <p:nvSpPr>
          <p:cNvPr id="30" name="12">
            <a:extLst xmlns:a="http://schemas.openxmlformats.org/drawingml/2006/main">
              <a:ext uri="{FF2B5EF4-FFF2-40B4-BE49-F238E27FC236}">
                <a16:creationId xmlns:a16="http://schemas.microsoft.com/office/drawing/2014/main" id="{BC1C9767-4849-4FC5-97A7-66FD88118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9527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defPPr>
            <a:lvl1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1pPr>
            <a:lvl2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2pPr>
            <a:lvl3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3pPr>
            <a:lvl4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4pPr>
            <a:lvl5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5pPr>
            <a:lvl6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6pPr>
            <a:lvl7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7pPr>
            <a:lvl8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8pPr>
            <a:lvl9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C40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31" name="first / second / pending : Card [0..1]">
            <a:extLst xmlns:a="http://schemas.openxmlformats.org/drawingml/2006/main">
              <a:ext uri="{FF2B5EF4-FFF2-40B4-BE49-F238E27FC236}">
                <a16:creationId xmlns:a16="http://schemas.microsoft.com/office/drawing/2014/main" id="{5D34F845-990B-4416-9D0D-46D187AD6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0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defPPr>
            <a:lvl1pPr algn="l">
              <a:defRPr sz="195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1pPr>
            <a:lvl2pPr algn="l">
              <a:defRPr sz="195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2pPr>
            <a:lvl3pPr algn="l">
              <a:defRPr sz="195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3pPr>
            <a:lvl4pPr algn="l">
              <a:defRPr sz="195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4pPr>
            <a:lvl5pPr algn="l">
              <a:defRPr sz="195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5pPr>
            <a:lvl6pPr algn="l">
              <a:defRPr sz="195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6pPr>
            <a:lvl7pPr algn="l">
              <a:defRPr sz="195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7pPr>
            <a:lvl8pPr algn="l">
              <a:defRPr sz="195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8pPr>
            <a:lvl9pPr algn="l">
              <a:defRPr sz="195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5B7082"/>
                </a:solidFill>
                <a:latin typeface="Aptos"/>
                <a:ea typeface="Aptos"/>
                <a:cs typeface="Aptos"/>
              </a:rPr>
              <a:t>first / second / pending : Card [0..1]</a:t>
            </a:r>
          </a:p>
        </p:txBody>
      </p:sp>
      <p:sp>
        <p:nvSpPr>
          <p:cNvPr id="32" name="One Game has one Board. The Board holds 12 Cards.">
            <a:extLst xmlns:a="http://schemas.openxmlformats.org/drawingml/2006/main">
              <a:ext uri="{FF2B5EF4-FFF2-40B4-BE49-F238E27FC236}">
                <a16:creationId xmlns:a16="http://schemas.microsoft.com/office/drawing/2014/main" id="{7D3B7292-B061-4723-A8A0-04C48846E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05525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defPPr>
            <a:lvl1pPr algn="l">
              <a:defRPr sz="14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1pPr>
            <a:lvl2pPr algn="l">
              <a:defRPr sz="14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2pPr>
            <a:lvl3pPr algn="l">
              <a:defRPr sz="14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3pPr>
            <a:lvl4pPr algn="l">
              <a:defRPr sz="14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4pPr>
            <a:lvl5pPr algn="l">
              <a:defRPr sz="14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5pPr>
            <a:lvl6pPr algn="l">
              <a:defRPr sz="14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6pPr>
            <a:lvl7pPr algn="l">
              <a:defRPr sz="14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7pPr>
            <a:lvl8pPr algn="l">
              <a:defRPr sz="14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8pPr>
            <a:lvl9pPr algn="l">
              <a:defRPr sz="14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7082"/>
                </a:solidFill>
                <a:latin typeface="Aptos"/>
                <a:ea typeface="Aptos"/>
                <a:cs typeface="Aptos"/>
              </a:rPr>
              <a:t>One Game has one Board. The Board holds 12 Cards.</a:t>
            </a:r>
          </a:p>
        </p:txBody>
      </p:sp>
      <p:sp>
        <p:nvSpPr>
          <p:cNvPr id="33" name="first, second, and pending each refer to zero or one Card.">
            <a:extLst xmlns:a="http://schemas.openxmlformats.org/drawingml/2006/main">
              <a:ext uri="{FF2B5EF4-FFF2-40B4-BE49-F238E27FC236}">
                <a16:creationId xmlns:a16="http://schemas.microsoft.com/office/drawing/2014/main" id="{C34DC4FE-2293-4FCE-BBA6-59EBBF39B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6105525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defPPr>
            <a:lvl1pPr algn="l">
              <a:defRPr sz="14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1pPr>
            <a:lvl2pPr algn="l">
              <a:defRPr sz="14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2pPr>
            <a:lvl3pPr algn="l">
              <a:defRPr sz="14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3pPr>
            <a:lvl4pPr algn="l">
              <a:defRPr sz="14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4pPr>
            <a:lvl5pPr algn="l">
              <a:defRPr sz="14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5pPr>
            <a:lvl6pPr algn="l">
              <a:defRPr sz="14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6pPr>
            <a:lvl7pPr algn="l">
              <a:defRPr sz="14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7pPr>
            <a:lvl8pPr algn="l">
              <a:defRPr sz="14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8pPr>
            <a:lvl9pPr algn="l">
              <a:defRPr sz="14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7082"/>
                </a:solidFill>
                <a:latin typeface="Aptos"/>
                <a:ea typeface="Aptos"/>
                <a:cs typeface="Aptos"/>
              </a:rPr>
              <a:t>first, second, and pending each refer to zero or one Card.</a:t>
            </a:r>
          </a:p>
        </p:txBody>
      </p:sp>
      <p:sp>
        <p:nvSpPr>
          <p:cNvPr id="34" name="05">
            <a:extLst xmlns:a="http://schemas.openxmlformats.org/drawingml/2006/main">
              <a:ext uri="{FF2B5EF4-FFF2-40B4-BE49-F238E27FC236}">
                <a16:creationId xmlns:a16="http://schemas.microsoft.com/office/drawing/2014/main" id="{656444FE-9203-4D1A-AF54-3F1812418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7082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5824971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Equal pictures, distinct objects">
            <a:extLst xmlns:a="http://schemas.openxmlformats.org/drawingml/2006/main">
              <a:ext uri="{FF2B5EF4-FFF2-40B4-BE49-F238E27FC236}">
                <a16:creationId xmlns:a16="http://schemas.microsoft.com/office/drawing/2014/main" id="{FC499D37-8E33-4354-B60A-AE01C1D7C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95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defPPr>
            <a:lvl1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1pPr>
            <a:lvl2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2pPr>
            <a:lvl3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3pPr>
            <a:lvl4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4pPr>
            <a:lvl5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5pPr>
            <a:lvl6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6pPr>
            <a:lvl7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7pPr>
            <a:lvl8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8pPr>
            <a:lvl9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72C40"/>
                </a:solidFill>
                <a:latin typeface="Aptos"/>
                <a:ea typeface="Aptos"/>
                <a:cs typeface="Aptos"/>
              </a:rPr>
              <a:t>Equal pictures, distinct objects</a:t>
            </a:r>
          </a:p>
        </p:txBody>
      </p:sp>
      <p:sp>
        <p:nvSpPr>
          <p:cNvPr id="2" name="Fixed board: C01 and C02 both have pair_id = moon">
            <a:extLst xmlns:a="http://schemas.openxmlformats.org/drawingml/2006/main">
              <a:ext uri="{FF2B5EF4-FFF2-40B4-BE49-F238E27FC236}">
                <a16:creationId xmlns:a16="http://schemas.microsoft.com/office/drawing/2014/main" id="{EB85E71B-51ED-4137-9665-3E8B2B2B7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62050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5B7082"/>
                </a:solidFill>
                <a:latin typeface="Aptos"/>
                <a:ea typeface="Aptos"/>
                <a:cs typeface="Aptos"/>
              </a:rPr>
              <a:t>Fixed board: C01 and C02 both have pair_id = moon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240F7E-3A13-410D-8C41-D88765536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295275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87C62"/>
            </a:solidFill>
          </a:ln>
        </p:spPr>
      </p:sp>
      <p:sp>
        <p:nvSpPr>
          <p:cNvPr id="4" name="game : Game">
            <a:extLst xmlns:a="http://schemas.openxmlformats.org/drawingml/2006/main">
              <a:ext uri="{FF2B5EF4-FFF2-40B4-BE49-F238E27FC236}">
                <a16:creationId xmlns:a16="http://schemas.microsoft.com/office/drawing/2014/main" id="{0194A674-9E6A-4104-B98E-FD572DE76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47875"/>
            <a:ext cx="2647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defPPr>
            <a:lvl1pPr algn="l">
              <a:defRPr sz="187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1pPr>
            <a:lvl2pPr algn="l">
              <a:defRPr sz="187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2pPr>
            <a:lvl3pPr algn="l">
              <a:defRPr sz="187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3pPr>
            <a:lvl4pPr algn="l">
              <a:defRPr sz="187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4pPr>
            <a:lvl5pPr algn="l">
              <a:defRPr sz="187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5pPr>
            <a:lvl6pPr algn="l">
              <a:defRPr sz="187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6pPr>
            <a:lvl7pPr algn="l">
              <a:defRPr sz="187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7pPr>
            <a:lvl8pPr algn="l">
              <a:defRPr sz="187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8pPr>
            <a:lvl9pPr algn="l">
              <a:defRPr sz="187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87C62"/>
                </a:solidFill>
                <a:latin typeface="Aptos"/>
                <a:ea typeface="Aptos"/>
                <a:cs typeface="Aptos"/>
              </a:rPr>
              <a:t>game : Game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1ED426-EEA5-4301-A866-BE45AB62E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23900" y="2362200"/>
            <a:ext cx="1362075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087C62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79666E-5270-40C4-9B65-A270A1009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71500" y="2466975"/>
            <a:ext cx="2952750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087C62"/>
            </a:solidFill>
          </a:ln>
        </p:spPr>
      </p:sp>
      <p:sp>
        <p:nvSpPr>
          <p:cNvPr id="7" name="first → C01&#10;second → C02">
            <a:extLst xmlns:a="http://schemas.openxmlformats.org/drawingml/2006/main">
              <a:ext uri="{FF2B5EF4-FFF2-40B4-BE49-F238E27FC236}">
                <a16:creationId xmlns:a16="http://schemas.microsoft.com/office/drawing/2014/main" id="{72DE9B83-BE0A-463D-AABC-F3D730803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90800"/>
            <a:ext cx="26479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defPPr>
            <a:lvl1pPr algn="l">
              <a:defRPr sz="16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1pPr>
            <a:lvl2pPr algn="l">
              <a:defRPr sz="16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2pPr>
            <a:lvl3pPr algn="l">
              <a:defRPr sz="16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3pPr>
            <a:lvl4pPr algn="l">
              <a:defRPr sz="16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4pPr>
            <a:lvl5pPr algn="l">
              <a:defRPr sz="16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5pPr>
            <a:lvl6pPr algn="l">
              <a:defRPr sz="16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6pPr>
            <a:lvl7pPr algn="l">
              <a:defRPr sz="16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7pPr>
            <a:lvl8pPr algn="l">
              <a:defRPr sz="16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8pPr>
            <a:lvl9pPr algn="l">
              <a:defRPr sz="16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C40"/>
                </a:solidFill>
                <a:latin typeface="Aptos"/>
                <a:ea typeface="Aptos"/>
                <a:cs typeface="Aptos"/>
              </a:rPr>
              <a:t>first → C01</a:t>
            </a:r>
          </a:p>
          <a:p xmlns:a="http://schemas.openxmlformats.org/drawingml/2006/main">
            <a:pPr algn="l">
              <a:defRPr sz="16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C40"/>
                </a:solidFill>
                <a:latin typeface="Aptos"/>
                <a:ea typeface="Aptos"/>
                <a:cs typeface="Aptos"/>
              </a:rPr>
              <a:t>second → C02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10C53E-AEA0-47A6-BC45-24DA32F3C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0"/>
            <a:ext cx="295275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5B7082"/>
            </a:solidFill>
          </a:ln>
        </p:spPr>
      </p:sp>
      <p:sp>
        <p:nvSpPr>
          <p:cNvPr id="9" name="board : Board">
            <a:extLst xmlns:a="http://schemas.openxmlformats.org/drawingml/2006/main">
              <a:ext uri="{FF2B5EF4-FFF2-40B4-BE49-F238E27FC236}">
                <a16:creationId xmlns:a16="http://schemas.microsoft.com/office/drawing/2014/main" id="{027AB56A-F763-41B9-956D-47E58DA2C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86250"/>
            <a:ext cx="2647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5B7082"/>
                </a:solidFill>
                <a:latin typeface="Aptos"/>
                <a:ea typeface="Aptos"/>
                <a:cs typeface="Aptos"/>
              </a:defRPr>
            </a:defPPr>
            <a:lvl1pPr algn="l">
              <a:defRPr sz="1875" b="1">
                <a:solidFill>
                  <a:srgbClr val="5B7082"/>
                </a:solidFill>
                <a:latin typeface="Aptos"/>
                <a:ea typeface="Aptos"/>
                <a:cs typeface="Aptos"/>
              </a:defRPr>
            </a:lvl1pPr>
            <a:lvl2pPr algn="l">
              <a:defRPr sz="1875" b="1">
                <a:solidFill>
                  <a:srgbClr val="5B7082"/>
                </a:solidFill>
                <a:latin typeface="Aptos"/>
                <a:ea typeface="Aptos"/>
                <a:cs typeface="Aptos"/>
              </a:defRPr>
            </a:lvl2pPr>
            <a:lvl3pPr algn="l">
              <a:defRPr sz="1875" b="1">
                <a:solidFill>
                  <a:srgbClr val="5B7082"/>
                </a:solidFill>
                <a:latin typeface="Aptos"/>
                <a:ea typeface="Aptos"/>
                <a:cs typeface="Aptos"/>
              </a:defRPr>
            </a:lvl3pPr>
            <a:lvl4pPr algn="l">
              <a:defRPr sz="1875" b="1">
                <a:solidFill>
                  <a:srgbClr val="5B7082"/>
                </a:solidFill>
                <a:latin typeface="Aptos"/>
                <a:ea typeface="Aptos"/>
                <a:cs typeface="Aptos"/>
              </a:defRPr>
            </a:lvl4pPr>
            <a:lvl5pPr algn="l">
              <a:defRPr sz="1875" b="1">
                <a:solidFill>
                  <a:srgbClr val="5B7082"/>
                </a:solidFill>
                <a:latin typeface="Aptos"/>
                <a:ea typeface="Aptos"/>
                <a:cs typeface="Aptos"/>
              </a:defRPr>
            </a:lvl5pPr>
            <a:lvl6pPr algn="l">
              <a:defRPr sz="1875" b="1">
                <a:solidFill>
                  <a:srgbClr val="5B7082"/>
                </a:solidFill>
                <a:latin typeface="Aptos"/>
                <a:ea typeface="Aptos"/>
                <a:cs typeface="Aptos"/>
              </a:defRPr>
            </a:lvl6pPr>
            <a:lvl7pPr algn="l">
              <a:defRPr sz="1875" b="1">
                <a:solidFill>
                  <a:srgbClr val="5B7082"/>
                </a:solidFill>
                <a:latin typeface="Aptos"/>
                <a:ea typeface="Aptos"/>
                <a:cs typeface="Aptos"/>
              </a:defRPr>
            </a:lvl7pPr>
            <a:lvl8pPr algn="l">
              <a:defRPr sz="1875" b="1">
                <a:solidFill>
                  <a:srgbClr val="5B7082"/>
                </a:solidFill>
                <a:latin typeface="Aptos"/>
                <a:ea typeface="Aptos"/>
                <a:cs typeface="Aptos"/>
              </a:defRPr>
            </a:lvl8pPr>
            <a:lvl9pPr algn="l">
              <a:defRPr sz="1875" b="1">
                <a:solidFill>
                  <a:srgbClr val="5B708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5B708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5B7082"/>
                </a:solidFill>
                <a:latin typeface="Aptos"/>
                <a:ea typeface="Aptos"/>
                <a:cs typeface="Aptos"/>
              </a:rPr>
              <a:t>board : Board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C225C0-C67B-4A3E-ACAD-E1038B6E9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23900" y="4600575"/>
            <a:ext cx="1609725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5B7082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BA8D1F-C650-4F2E-A4E6-25C5F3B56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71500" y="4705350"/>
            <a:ext cx="2952750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5B7082"/>
            </a:solidFill>
          </a:ln>
        </p:spPr>
      </p:sp>
      <p:sp>
        <p:nvSpPr>
          <p:cNvPr id="12" name="cards[0] → C01&#10;cards[1] → C02">
            <a:extLst xmlns:a="http://schemas.openxmlformats.org/drawingml/2006/main">
              <a:ext uri="{FF2B5EF4-FFF2-40B4-BE49-F238E27FC236}">
                <a16:creationId xmlns:a16="http://schemas.microsoft.com/office/drawing/2014/main" id="{C19A959C-E520-49B8-833B-FB1F7FBED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29175"/>
            <a:ext cx="26479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defPPr>
            <a:lvl1pPr algn="l">
              <a:defRPr sz="16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1pPr>
            <a:lvl2pPr algn="l">
              <a:defRPr sz="16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2pPr>
            <a:lvl3pPr algn="l">
              <a:defRPr sz="16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3pPr>
            <a:lvl4pPr algn="l">
              <a:defRPr sz="16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4pPr>
            <a:lvl5pPr algn="l">
              <a:defRPr sz="16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5pPr>
            <a:lvl6pPr algn="l">
              <a:defRPr sz="16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6pPr>
            <a:lvl7pPr algn="l">
              <a:defRPr sz="16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7pPr>
            <a:lvl8pPr algn="l">
              <a:defRPr sz="16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8pPr>
            <a:lvl9pPr algn="l">
              <a:defRPr sz="16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C40"/>
                </a:solidFill>
                <a:latin typeface="Aptos"/>
                <a:ea typeface="Aptos"/>
                <a:cs typeface="Aptos"/>
              </a:rPr>
              <a:t>cards[0] → C01</a:t>
            </a:r>
          </a:p>
          <a:p xmlns:a="http://schemas.openxmlformats.org/drawingml/2006/main">
            <a:pPr algn="l">
              <a:defRPr sz="16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C40"/>
                </a:solidFill>
                <a:latin typeface="Aptos"/>
                <a:ea typeface="Aptos"/>
                <a:cs typeface="Aptos"/>
              </a:rPr>
              <a:t>cards[1] → C02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6E6E72-7654-4E5C-8E31-D77DAD39D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52625"/>
            <a:ext cx="36195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654B2"/>
            </a:solidFill>
          </a:ln>
        </p:spPr>
      </p:sp>
      <p:sp>
        <p:nvSpPr>
          <p:cNvPr id="14" name="C01 : Card">
            <a:extLst xmlns:a="http://schemas.openxmlformats.org/drawingml/2006/main">
              <a:ext uri="{FF2B5EF4-FFF2-40B4-BE49-F238E27FC236}">
                <a16:creationId xmlns:a16="http://schemas.microsoft.com/office/drawing/2014/main" id="{1759E80E-82BE-4AF6-93DF-EAA31CD0C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47875"/>
            <a:ext cx="331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7654B2"/>
                </a:solidFill>
                <a:latin typeface="Aptos"/>
                <a:ea typeface="Aptos"/>
                <a:cs typeface="Aptos"/>
              </a:defRPr>
            </a:defPPr>
            <a:lvl1pPr algn="l">
              <a:defRPr sz="1875" b="1">
                <a:solidFill>
                  <a:srgbClr val="7654B2"/>
                </a:solidFill>
                <a:latin typeface="Aptos"/>
                <a:ea typeface="Aptos"/>
                <a:cs typeface="Aptos"/>
              </a:defRPr>
            </a:lvl1pPr>
            <a:lvl2pPr algn="l">
              <a:defRPr sz="1875" b="1">
                <a:solidFill>
                  <a:srgbClr val="7654B2"/>
                </a:solidFill>
                <a:latin typeface="Aptos"/>
                <a:ea typeface="Aptos"/>
                <a:cs typeface="Aptos"/>
              </a:defRPr>
            </a:lvl2pPr>
            <a:lvl3pPr algn="l">
              <a:defRPr sz="1875" b="1">
                <a:solidFill>
                  <a:srgbClr val="7654B2"/>
                </a:solidFill>
                <a:latin typeface="Aptos"/>
                <a:ea typeface="Aptos"/>
                <a:cs typeface="Aptos"/>
              </a:defRPr>
            </a:lvl3pPr>
            <a:lvl4pPr algn="l">
              <a:defRPr sz="1875" b="1">
                <a:solidFill>
                  <a:srgbClr val="7654B2"/>
                </a:solidFill>
                <a:latin typeface="Aptos"/>
                <a:ea typeface="Aptos"/>
                <a:cs typeface="Aptos"/>
              </a:defRPr>
            </a:lvl4pPr>
            <a:lvl5pPr algn="l">
              <a:defRPr sz="1875" b="1">
                <a:solidFill>
                  <a:srgbClr val="7654B2"/>
                </a:solidFill>
                <a:latin typeface="Aptos"/>
                <a:ea typeface="Aptos"/>
                <a:cs typeface="Aptos"/>
              </a:defRPr>
            </a:lvl5pPr>
            <a:lvl6pPr algn="l">
              <a:defRPr sz="1875" b="1">
                <a:solidFill>
                  <a:srgbClr val="7654B2"/>
                </a:solidFill>
                <a:latin typeface="Aptos"/>
                <a:ea typeface="Aptos"/>
                <a:cs typeface="Aptos"/>
              </a:defRPr>
            </a:lvl6pPr>
            <a:lvl7pPr algn="l">
              <a:defRPr sz="1875" b="1">
                <a:solidFill>
                  <a:srgbClr val="7654B2"/>
                </a:solidFill>
                <a:latin typeface="Aptos"/>
                <a:ea typeface="Aptos"/>
                <a:cs typeface="Aptos"/>
              </a:defRPr>
            </a:lvl7pPr>
            <a:lvl8pPr algn="l">
              <a:defRPr sz="1875" b="1">
                <a:solidFill>
                  <a:srgbClr val="7654B2"/>
                </a:solidFill>
                <a:latin typeface="Aptos"/>
                <a:ea typeface="Aptos"/>
                <a:cs typeface="Aptos"/>
              </a:defRPr>
            </a:lvl8pPr>
            <a:lvl9pPr algn="l">
              <a:defRPr sz="1875" b="1">
                <a:solidFill>
                  <a:srgbClr val="7654B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7654B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7654B2"/>
                </a:solidFill>
                <a:latin typeface="Aptos"/>
                <a:ea typeface="Aptos"/>
                <a:cs typeface="Aptos"/>
              </a:rPr>
              <a:t>C01 : Card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2CEACF-C388-4E49-B8B4-F817FA968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153400" y="2362200"/>
            <a:ext cx="1238250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7654B2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94F8AE-C5F6-4BB0-A3DF-ED0FB0192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001000" y="2466975"/>
            <a:ext cx="3619500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7654B2"/>
            </a:solidFill>
          </a:ln>
        </p:spPr>
      </p:sp>
      <p:sp>
        <p:nvSpPr>
          <p:cNvPr id="17" name="pair_id = &quot;moon&quot;&#10;face_up = True">
            <a:extLst xmlns:a="http://schemas.openxmlformats.org/drawingml/2006/main">
              <a:ext uri="{FF2B5EF4-FFF2-40B4-BE49-F238E27FC236}">
                <a16:creationId xmlns:a16="http://schemas.microsoft.com/office/drawing/2014/main" id="{5D734FAB-0464-4CA1-B548-AEBC53011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590800"/>
            <a:ext cx="33147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defPPr>
            <a:lvl1pPr algn="l">
              <a:defRPr sz="16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1pPr>
            <a:lvl2pPr algn="l">
              <a:defRPr sz="16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2pPr>
            <a:lvl3pPr algn="l">
              <a:defRPr sz="16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3pPr>
            <a:lvl4pPr algn="l">
              <a:defRPr sz="16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4pPr>
            <a:lvl5pPr algn="l">
              <a:defRPr sz="16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5pPr>
            <a:lvl6pPr algn="l">
              <a:defRPr sz="16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6pPr>
            <a:lvl7pPr algn="l">
              <a:defRPr sz="16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7pPr>
            <a:lvl8pPr algn="l">
              <a:defRPr sz="16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8pPr>
            <a:lvl9pPr algn="l">
              <a:defRPr sz="16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C40"/>
                </a:solidFill>
                <a:latin typeface="Aptos"/>
                <a:ea typeface="Aptos"/>
                <a:cs typeface="Aptos"/>
              </a:rPr>
              <a:t>pair_id = "moon"</a:t>
            </a:r>
          </a:p>
          <a:p xmlns:a="http://schemas.openxmlformats.org/drawingml/2006/main">
            <a:pPr algn="l">
              <a:defRPr sz="16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C40"/>
                </a:solidFill>
                <a:latin typeface="Aptos"/>
                <a:ea typeface="Aptos"/>
                <a:cs typeface="Aptos"/>
              </a:rPr>
              <a:t>face_up = True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8E9C16-F0A2-41A2-AE87-2EA948DA0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191000"/>
            <a:ext cx="36195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654B2"/>
            </a:solidFill>
          </a:ln>
        </p:spPr>
      </p:sp>
      <p:sp>
        <p:nvSpPr>
          <p:cNvPr id="19" name="C02 : Card">
            <a:extLst xmlns:a="http://schemas.openxmlformats.org/drawingml/2006/main">
              <a:ext uri="{FF2B5EF4-FFF2-40B4-BE49-F238E27FC236}">
                <a16:creationId xmlns:a16="http://schemas.microsoft.com/office/drawing/2014/main" id="{E5AF7100-8558-477F-AFFE-5041BEF13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286250"/>
            <a:ext cx="331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7654B2"/>
                </a:solidFill>
                <a:latin typeface="Aptos"/>
                <a:ea typeface="Aptos"/>
                <a:cs typeface="Aptos"/>
              </a:defRPr>
            </a:defPPr>
            <a:lvl1pPr algn="l">
              <a:defRPr sz="1875" b="1">
                <a:solidFill>
                  <a:srgbClr val="7654B2"/>
                </a:solidFill>
                <a:latin typeface="Aptos"/>
                <a:ea typeface="Aptos"/>
                <a:cs typeface="Aptos"/>
              </a:defRPr>
            </a:lvl1pPr>
            <a:lvl2pPr algn="l">
              <a:defRPr sz="1875" b="1">
                <a:solidFill>
                  <a:srgbClr val="7654B2"/>
                </a:solidFill>
                <a:latin typeface="Aptos"/>
                <a:ea typeface="Aptos"/>
                <a:cs typeface="Aptos"/>
              </a:defRPr>
            </a:lvl2pPr>
            <a:lvl3pPr algn="l">
              <a:defRPr sz="1875" b="1">
                <a:solidFill>
                  <a:srgbClr val="7654B2"/>
                </a:solidFill>
                <a:latin typeface="Aptos"/>
                <a:ea typeface="Aptos"/>
                <a:cs typeface="Aptos"/>
              </a:defRPr>
            </a:lvl3pPr>
            <a:lvl4pPr algn="l">
              <a:defRPr sz="1875" b="1">
                <a:solidFill>
                  <a:srgbClr val="7654B2"/>
                </a:solidFill>
                <a:latin typeface="Aptos"/>
                <a:ea typeface="Aptos"/>
                <a:cs typeface="Aptos"/>
              </a:defRPr>
            </a:lvl4pPr>
            <a:lvl5pPr algn="l">
              <a:defRPr sz="1875" b="1">
                <a:solidFill>
                  <a:srgbClr val="7654B2"/>
                </a:solidFill>
                <a:latin typeface="Aptos"/>
                <a:ea typeface="Aptos"/>
                <a:cs typeface="Aptos"/>
              </a:defRPr>
            </a:lvl5pPr>
            <a:lvl6pPr algn="l">
              <a:defRPr sz="1875" b="1">
                <a:solidFill>
                  <a:srgbClr val="7654B2"/>
                </a:solidFill>
                <a:latin typeface="Aptos"/>
                <a:ea typeface="Aptos"/>
                <a:cs typeface="Aptos"/>
              </a:defRPr>
            </a:lvl6pPr>
            <a:lvl7pPr algn="l">
              <a:defRPr sz="1875" b="1">
                <a:solidFill>
                  <a:srgbClr val="7654B2"/>
                </a:solidFill>
                <a:latin typeface="Aptos"/>
                <a:ea typeface="Aptos"/>
                <a:cs typeface="Aptos"/>
              </a:defRPr>
            </a:lvl7pPr>
            <a:lvl8pPr algn="l">
              <a:defRPr sz="1875" b="1">
                <a:solidFill>
                  <a:srgbClr val="7654B2"/>
                </a:solidFill>
                <a:latin typeface="Aptos"/>
                <a:ea typeface="Aptos"/>
                <a:cs typeface="Aptos"/>
              </a:defRPr>
            </a:lvl8pPr>
            <a:lvl9pPr algn="l">
              <a:defRPr sz="1875" b="1">
                <a:solidFill>
                  <a:srgbClr val="7654B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7654B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7654B2"/>
                </a:solidFill>
                <a:latin typeface="Aptos"/>
                <a:ea typeface="Aptos"/>
                <a:cs typeface="Aptos"/>
              </a:rPr>
              <a:t>C02 : Card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0E316A-19EF-47DF-BD99-4E0EFAFCA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153400" y="4600575"/>
            <a:ext cx="1238250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7654B2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D7A10A-406F-4E84-AA60-5010C5A29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001000" y="4705350"/>
            <a:ext cx="3619500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7654B2"/>
            </a:solidFill>
          </a:ln>
        </p:spPr>
      </p:sp>
      <p:sp>
        <p:nvSpPr>
          <p:cNvPr id="22" name="pair_id = &quot;moon&quot;&#10;face_up = True">
            <a:extLst xmlns:a="http://schemas.openxmlformats.org/drawingml/2006/main">
              <a:ext uri="{FF2B5EF4-FFF2-40B4-BE49-F238E27FC236}">
                <a16:creationId xmlns:a16="http://schemas.microsoft.com/office/drawing/2014/main" id="{47D639F4-E769-437C-8A45-1F7B4DDA8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829175"/>
            <a:ext cx="33147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defPPr>
            <a:lvl1pPr algn="l">
              <a:defRPr sz="16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1pPr>
            <a:lvl2pPr algn="l">
              <a:defRPr sz="16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2pPr>
            <a:lvl3pPr algn="l">
              <a:defRPr sz="16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3pPr>
            <a:lvl4pPr algn="l">
              <a:defRPr sz="16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4pPr>
            <a:lvl5pPr algn="l">
              <a:defRPr sz="16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5pPr>
            <a:lvl6pPr algn="l">
              <a:defRPr sz="16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6pPr>
            <a:lvl7pPr algn="l">
              <a:defRPr sz="16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7pPr>
            <a:lvl8pPr algn="l">
              <a:defRPr sz="16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8pPr>
            <a:lvl9pPr algn="l">
              <a:defRPr sz="16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C40"/>
                </a:solidFill>
                <a:latin typeface="Aptos"/>
                <a:ea typeface="Aptos"/>
                <a:cs typeface="Aptos"/>
              </a:rPr>
              <a:t>pair_id = "moon"</a:t>
            </a:r>
          </a:p>
          <a:p xmlns:a="http://schemas.openxmlformats.org/drawingml/2006/main">
            <a:pPr algn="l">
              <a:defRPr sz="165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C40"/>
                </a:solidFill>
                <a:latin typeface="Aptos"/>
                <a:ea typeface="Aptos"/>
                <a:cs typeface="Aptos"/>
              </a:rPr>
              <a:t>face_up = True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B1E7A1-F8B9-4312-9C5F-7113915C6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524250" y="2667000"/>
            <a:ext cx="4476750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087C62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3167FE-0F88-4441-814E-46F496636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7909051" y="2667000"/>
            <a:ext cx="91949" cy="50232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087C62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D0D057-7810-4915-AF6C-51AAC1DF3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7909051" y="2616768"/>
            <a:ext cx="91949" cy="50232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087C62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088F18-0EAF-472A-B287-7C610A1BC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524250" y="3143250"/>
            <a:ext cx="1952625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087C62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9E41C34-812C-464B-BB8B-C619DD85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476875" y="3143250"/>
            <a:ext cx="0" cy="1476375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087C62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13EA837-88E7-47E6-9963-07E064A08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476875" y="4619625"/>
            <a:ext cx="2524125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087C62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3021E16-DF94-403A-BDF1-994AF5985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7909051" y="4619625"/>
            <a:ext cx="91949" cy="50232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087C62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C20045A-66AA-4D21-8E46-6EC7A0459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7909051" y="4569393"/>
            <a:ext cx="91949" cy="50232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087C62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FB19A9F-B415-4208-A3C6-CEA6F77D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524250" y="4857750"/>
            <a:ext cx="3238500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A6B5C4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97B951A-069D-46F6-BF1E-EEBC3ADD7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762750" y="3143250"/>
            <a:ext cx="0" cy="171450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A6B5C4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E7D2718-E56B-4DDF-8D2A-F8B2FDFF5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762750" y="3143250"/>
            <a:ext cx="1238250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5B7082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6D64B7A-25A6-48B1-BEE2-45BF1E73D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7909051" y="3143250"/>
            <a:ext cx="91949" cy="50232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5B7082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131348F-DE6E-4F5D-8CFC-2FEB0E8C0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7909051" y="3093018"/>
            <a:ext cx="91949" cy="50232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5B7082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8F25AD8-AD5C-4A92-933D-AE4A9D7A3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524250" y="5334000"/>
            <a:ext cx="4476750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5B7082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1772A88-7279-4935-90B4-B6EC341B8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7909051" y="5334000"/>
            <a:ext cx="91949" cy="50232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5B7082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F4B9397-6DB9-42E5-AF3D-53B90DF24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7909051" y="5283768"/>
            <a:ext cx="91949" cy="50232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5B7082"/>
            </a:solidFill>
          </a:ln>
        </p:spPr>
      </p:sp>
      <p:sp>
        <p:nvSpPr>
          <p:cNvPr id="39" name="C01 is C02  →  False">
            <a:extLst xmlns:a="http://schemas.openxmlformats.org/drawingml/2006/main">
              <a:ext uri="{FF2B5EF4-FFF2-40B4-BE49-F238E27FC236}">
                <a16:creationId xmlns:a16="http://schemas.microsoft.com/office/drawing/2014/main" id="{7A996438-040C-4AC1-928D-F8A9F28E7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952625"/>
            <a:ext cx="381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7654B2"/>
                </a:solidFill>
                <a:latin typeface="Aptos"/>
                <a:ea typeface="Aptos"/>
                <a:cs typeface="Aptos"/>
              </a:defRPr>
            </a:defPPr>
            <a:lvl1pPr algn="l">
              <a:defRPr sz="1950" b="1">
                <a:solidFill>
                  <a:srgbClr val="7654B2"/>
                </a:solidFill>
                <a:latin typeface="Aptos"/>
                <a:ea typeface="Aptos"/>
                <a:cs typeface="Aptos"/>
              </a:defRPr>
            </a:lvl1pPr>
            <a:lvl2pPr algn="l">
              <a:defRPr sz="1950" b="1">
                <a:solidFill>
                  <a:srgbClr val="7654B2"/>
                </a:solidFill>
                <a:latin typeface="Aptos"/>
                <a:ea typeface="Aptos"/>
                <a:cs typeface="Aptos"/>
              </a:defRPr>
            </a:lvl2pPr>
            <a:lvl3pPr algn="l">
              <a:defRPr sz="1950" b="1">
                <a:solidFill>
                  <a:srgbClr val="7654B2"/>
                </a:solidFill>
                <a:latin typeface="Aptos"/>
                <a:ea typeface="Aptos"/>
                <a:cs typeface="Aptos"/>
              </a:defRPr>
            </a:lvl3pPr>
            <a:lvl4pPr algn="l">
              <a:defRPr sz="1950" b="1">
                <a:solidFill>
                  <a:srgbClr val="7654B2"/>
                </a:solidFill>
                <a:latin typeface="Aptos"/>
                <a:ea typeface="Aptos"/>
                <a:cs typeface="Aptos"/>
              </a:defRPr>
            </a:lvl4pPr>
            <a:lvl5pPr algn="l">
              <a:defRPr sz="1950" b="1">
                <a:solidFill>
                  <a:srgbClr val="7654B2"/>
                </a:solidFill>
                <a:latin typeface="Aptos"/>
                <a:ea typeface="Aptos"/>
                <a:cs typeface="Aptos"/>
              </a:defRPr>
            </a:lvl5pPr>
            <a:lvl6pPr algn="l">
              <a:defRPr sz="1950" b="1">
                <a:solidFill>
                  <a:srgbClr val="7654B2"/>
                </a:solidFill>
                <a:latin typeface="Aptos"/>
                <a:ea typeface="Aptos"/>
                <a:cs typeface="Aptos"/>
              </a:defRPr>
            </a:lvl6pPr>
            <a:lvl7pPr algn="l">
              <a:defRPr sz="1950" b="1">
                <a:solidFill>
                  <a:srgbClr val="7654B2"/>
                </a:solidFill>
                <a:latin typeface="Aptos"/>
                <a:ea typeface="Aptos"/>
                <a:cs typeface="Aptos"/>
              </a:defRPr>
            </a:lvl7pPr>
            <a:lvl8pPr algn="l">
              <a:defRPr sz="1950" b="1">
                <a:solidFill>
                  <a:srgbClr val="7654B2"/>
                </a:solidFill>
                <a:latin typeface="Aptos"/>
                <a:ea typeface="Aptos"/>
                <a:cs typeface="Aptos"/>
              </a:defRPr>
            </a:lvl8pPr>
            <a:lvl9pPr algn="l">
              <a:defRPr sz="1950" b="1">
                <a:solidFill>
                  <a:srgbClr val="7654B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7654B2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7654B2"/>
                </a:solidFill>
                <a:latin typeface="Aptos"/>
                <a:ea typeface="Aptos"/>
                <a:cs typeface="Aptos"/>
              </a:rPr>
              <a:t>C01 is C02  →  False</a:t>
            </a:r>
          </a:p>
        </p:txBody>
      </p:sp>
      <p:sp>
        <p:nvSpPr>
          <p:cNvPr id="40" name="C01 and C02 are separate instances with independent face_up values.">
            <a:extLst xmlns:a="http://schemas.openxmlformats.org/drawingml/2006/main">
              <a:ext uri="{FF2B5EF4-FFF2-40B4-BE49-F238E27FC236}">
                <a16:creationId xmlns:a16="http://schemas.microsoft.com/office/drawing/2014/main" id="{4DB035A2-194F-4407-B897-513A8141E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05525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defPPr>
            <a:lvl1pPr algn="l">
              <a:defRPr sz="14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1pPr>
            <a:lvl2pPr algn="l">
              <a:defRPr sz="14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2pPr>
            <a:lvl3pPr algn="l">
              <a:defRPr sz="14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3pPr>
            <a:lvl4pPr algn="l">
              <a:defRPr sz="14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4pPr>
            <a:lvl5pPr algn="l">
              <a:defRPr sz="14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5pPr>
            <a:lvl6pPr algn="l">
              <a:defRPr sz="14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6pPr>
            <a:lvl7pPr algn="l">
              <a:defRPr sz="14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7pPr>
            <a:lvl8pPr algn="l">
              <a:defRPr sz="14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8pPr>
            <a:lvl9pPr algn="l">
              <a:defRPr sz="14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7082"/>
                </a:solidFill>
                <a:latin typeface="Aptos"/>
                <a:ea typeface="Aptos"/>
                <a:cs typeface="Aptos"/>
              </a:rPr>
              <a:t>C01 and C02 are separate instances with independent face_up values.</a:t>
            </a:r>
          </a:p>
        </p:txBody>
      </p:sp>
      <p:sp>
        <p:nvSpPr>
          <p:cNvPr id="41" name="Game.first and Board.cards[0] can refer to the same card.">
            <a:extLst xmlns:a="http://schemas.openxmlformats.org/drawingml/2006/main">
              <a:ext uri="{FF2B5EF4-FFF2-40B4-BE49-F238E27FC236}">
                <a16:creationId xmlns:a16="http://schemas.microsoft.com/office/drawing/2014/main" id="{F8BE1D21-BC52-4728-85DB-A8F9C10EB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6105525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defPPr>
            <a:lvl1pPr algn="l">
              <a:defRPr sz="14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1pPr>
            <a:lvl2pPr algn="l">
              <a:defRPr sz="14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2pPr>
            <a:lvl3pPr algn="l">
              <a:defRPr sz="14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3pPr>
            <a:lvl4pPr algn="l">
              <a:defRPr sz="14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4pPr>
            <a:lvl5pPr algn="l">
              <a:defRPr sz="14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5pPr>
            <a:lvl6pPr algn="l">
              <a:defRPr sz="14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6pPr>
            <a:lvl7pPr algn="l">
              <a:defRPr sz="14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7pPr>
            <a:lvl8pPr algn="l">
              <a:defRPr sz="14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8pPr>
            <a:lvl9pPr algn="l">
              <a:defRPr sz="14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7082"/>
                </a:solidFill>
                <a:latin typeface="Aptos"/>
                <a:ea typeface="Aptos"/>
                <a:cs typeface="Aptos"/>
              </a:rPr>
              <a:t>Game.first and Board.cards[0] can refer to the same card.</a:t>
            </a:r>
          </a:p>
        </p:txBody>
      </p:sp>
      <p:sp>
        <p:nvSpPr>
          <p:cNvPr id="42" name="06">
            <a:extLst xmlns:a="http://schemas.openxmlformats.org/drawingml/2006/main">
              <a:ext uri="{FF2B5EF4-FFF2-40B4-BE49-F238E27FC236}">
                <a16:creationId xmlns:a16="http://schemas.microsoft.com/office/drawing/2014/main" id="{A243B607-A814-45AE-B336-4B6243E61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7082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9133358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hree Card states">
            <a:extLst xmlns:a="http://schemas.openxmlformats.org/drawingml/2006/main">
              <a:ext uri="{FF2B5EF4-FFF2-40B4-BE49-F238E27FC236}">
                <a16:creationId xmlns:a16="http://schemas.microsoft.com/office/drawing/2014/main" id="{0E472003-F8DC-4B9E-BB93-34C72D2F1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95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defPPr>
            <a:lvl1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1pPr>
            <a:lvl2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2pPr>
            <a:lvl3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3pPr>
            <a:lvl4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4pPr>
            <a:lvl5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5pPr>
            <a:lvl6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6pPr>
            <a:lvl7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7pPr>
            <a:lvl8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8pPr>
            <a:lvl9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72C40"/>
                </a:solidFill>
                <a:latin typeface="Aptos"/>
                <a:ea typeface="Aptos"/>
                <a:cs typeface="Aptos"/>
              </a:rPr>
              <a:t>Three Card states</a:t>
            </a:r>
          </a:p>
        </p:txBody>
      </p:sp>
      <p:sp>
        <p:nvSpPr>
          <p:cNvPr id="2" name="Two Boolean attributes describe the visible state">
            <a:extLst xmlns:a="http://schemas.openxmlformats.org/drawingml/2006/main">
              <a:ext uri="{FF2B5EF4-FFF2-40B4-BE49-F238E27FC236}">
                <a16:creationId xmlns:a16="http://schemas.microsoft.com/office/drawing/2014/main" id="{35D2D653-03EC-4C30-872D-ACCA62C4D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62050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5B7082"/>
                </a:solidFill>
                <a:latin typeface="Aptos"/>
                <a:ea typeface="Aptos"/>
                <a:cs typeface="Aptos"/>
              </a:rPr>
              <a:t>Two Boolean attributes describe the visible state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0000C6-CE97-46C3-B4B3-8C0F5E134633}"/>
              </a:ext>
            </a:extLst>
          </p:cNvPr>
          <p:cNvGraphicFramePr/>
          <p:nvPr/>
        </p:nvGraphicFramePr>
        <p:xfrm>
          <a:off xmlns:a="http://schemas.openxmlformats.org/drawingml/2006/main" x="571500" y="1781175"/>
          <a:ext xmlns:a="http://schemas.openxmlformats.org/drawingml/2006/main" cx="11049000" cy="4000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6096000"/>
                <a:gridCol w="2476500"/>
                <a:gridCol w="2476500"/>
              </a:tblGrid>
              <a:tr h="1000125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EDF4FB"/>
                          </a:solidFill>
                          <a:latin typeface="Aptos"/>
                          <a:ea typeface="Aptos"/>
                          <a:cs typeface="Aptos"/>
                        </a:rPr>
                        <a:t>Visible state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172C40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EDF4FB"/>
                          </a:solidFill>
                          <a:latin typeface="Aptos"/>
                          <a:ea typeface="Aptos"/>
                          <a:cs typeface="Aptos"/>
                        </a:rPr>
                        <a:t>face_up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172C40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EDF4FB"/>
                          </a:solidFill>
                          <a:latin typeface="Aptos"/>
                          <a:ea typeface="Aptos"/>
                          <a:cs typeface="Aptos"/>
                        </a:rPr>
                        <a:t>matched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172C40"/>
                    </a:solidFill>
                  </a:tcPr>
                </a:tc>
              </a:tr>
              <a:tr h="1000125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2C40"/>
                          </a:solidFill>
                          <a:latin typeface="Aptos"/>
                          <a:ea typeface="Aptos"/>
                          <a:cs typeface="Aptos"/>
                        </a:rPr>
                        <a:t>Face down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Aptos"/>
                          <a:ea typeface="Aptos"/>
                          <a:cs typeface="Aptos"/>
                        </a:rPr>
                        <a:t>False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Aptos"/>
                          <a:ea typeface="Aptos"/>
                          <a:cs typeface="Aptos"/>
                        </a:rPr>
                        <a:t>False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00125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2C40"/>
                          </a:solidFill>
                          <a:latin typeface="Aptos"/>
                          <a:ea typeface="Aptos"/>
                          <a:cs typeface="Aptos"/>
                        </a:rPr>
                        <a:t>Revealed, not yet matched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Aptos"/>
                          <a:ea typeface="Aptos"/>
                          <a:cs typeface="Aptos"/>
                        </a:rPr>
                        <a:t>True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Aptos"/>
                          <a:ea typeface="Aptos"/>
                          <a:cs typeface="Aptos"/>
                        </a:rPr>
                        <a:t>False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1000125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2C40"/>
                          </a:solidFill>
                          <a:latin typeface="Aptos"/>
                          <a:ea typeface="Aptos"/>
                          <a:cs typeface="Aptos"/>
                        </a:rPr>
                        <a:t>Matched, stays face up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Aptos"/>
                          <a:ea typeface="Aptos"/>
                          <a:cs typeface="Aptos"/>
                        </a:rPr>
                        <a:t>True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Aptos"/>
                          <a:ea typeface="Aptos"/>
                          <a:cs typeface="Aptos"/>
                        </a:rPr>
                        <a:t>True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A matched card stays face up. hide() leaves it unchanged.">
            <a:extLst xmlns:a="http://schemas.openxmlformats.org/drawingml/2006/main">
              <a:ext uri="{FF2B5EF4-FFF2-40B4-BE49-F238E27FC236}">
                <a16:creationId xmlns:a16="http://schemas.microsoft.com/office/drawing/2014/main" id="{6CDA4CF7-84F1-46D2-A1DA-3AAD6D132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817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defPPr>
            <a:lvl1pPr algn="l">
              <a:defRPr sz="157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1pPr>
            <a:lvl2pPr algn="l">
              <a:defRPr sz="157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2pPr>
            <a:lvl3pPr algn="l">
              <a:defRPr sz="157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3pPr>
            <a:lvl4pPr algn="l">
              <a:defRPr sz="157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4pPr>
            <a:lvl5pPr algn="l">
              <a:defRPr sz="157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5pPr>
            <a:lvl6pPr algn="l">
              <a:defRPr sz="157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6pPr>
            <a:lvl7pPr algn="l">
              <a:defRPr sz="157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7pPr>
            <a:lvl8pPr algn="l">
              <a:defRPr sz="157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8pPr>
            <a:lvl9pPr algn="l">
              <a:defRPr sz="157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B7082"/>
                </a:solidFill>
                <a:latin typeface="Aptos"/>
                <a:ea typeface="Aptos"/>
                <a:cs typeface="Aptos"/>
              </a:rPr>
              <a:t>A matched card stays face up. hide() leaves it unchanged.</a:t>
            </a:r>
          </a:p>
        </p:txBody>
      </p:sp>
      <p:sp>
        <p:nvSpPr>
          <p:cNvPr id="5" name="07">
            <a:extLst xmlns:a="http://schemas.openxmlformats.org/drawingml/2006/main">
              <a:ext uri="{FF2B5EF4-FFF2-40B4-BE49-F238E27FC236}">
                <a16:creationId xmlns:a16="http://schemas.microsoft.com/office/drawing/2014/main" id="{1AB4EF22-C592-424B-B703-04D6D029B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7082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55834745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Card: data and reveal behavior">
            <a:extLst xmlns:a="http://schemas.openxmlformats.org/drawingml/2006/main">
              <a:ext uri="{FF2B5EF4-FFF2-40B4-BE49-F238E27FC236}">
                <a16:creationId xmlns:a16="http://schemas.microsoft.com/office/drawing/2014/main" id="{CD25F629-F5FB-4E80-AA9E-E9BD1C9B2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95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defPPr>
            <a:lvl1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1pPr>
            <a:lvl2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2pPr>
            <a:lvl3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3pPr>
            <a:lvl4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4pPr>
            <a:lvl5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5pPr>
            <a:lvl6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6pPr>
            <a:lvl7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7pPr>
            <a:lvl8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8pPr>
            <a:lvl9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EDF4FB"/>
                </a:solidFill>
                <a:latin typeface="Aptos"/>
                <a:ea typeface="Aptos"/>
                <a:cs typeface="Aptos"/>
              </a:rPr>
              <a:t>Card: data and reveal behavior</a:t>
            </a:r>
          </a:p>
        </p:txBody>
      </p:sp>
      <p:sp>
        <p:nvSpPr>
          <p:cNvPr id="2" name="model.py · Card">
            <a:extLst xmlns:a="http://schemas.openxmlformats.org/drawingml/2006/main">
              <a:ext uri="{FF2B5EF4-FFF2-40B4-BE49-F238E27FC236}">
                <a16:creationId xmlns:a16="http://schemas.microsoft.com/office/drawing/2014/main" id="{3218FCE9-C583-469D-8D41-67B6E1C3D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62050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model.py · Card</a:t>
            </a:r>
          </a:p>
        </p:txBody>
      </p:sp>
      <p:sp>
        <p:nvSpPr>
          <p:cNvPr id="3" name="class Card:">
            <a:extLst xmlns:a="http://schemas.openxmlformats.org/drawingml/2006/main">
              <a:ext uri="{FF2B5EF4-FFF2-40B4-BE49-F238E27FC236}">
                <a16:creationId xmlns:a16="http://schemas.microsoft.com/office/drawing/2014/main" id="{FC33BA64-BAAA-493A-90E3-A13F7DA8E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573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class Card:</a:t>
            </a:r>
          </a:p>
        </p:txBody>
      </p:sp>
      <p:sp>
        <p:nvSpPr>
          <p:cNvPr id="4" name="    def __init__(self, name, pair_id):">
            <a:extLst xmlns:a="http://schemas.openxmlformats.org/drawingml/2006/main">
              <a:ext uri="{FF2B5EF4-FFF2-40B4-BE49-F238E27FC236}">
                <a16:creationId xmlns:a16="http://schemas.microsoft.com/office/drawing/2014/main" id="{FF9B94DB-E4D8-4815-8247-340F29F48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5265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def __init__(self, name, pair_id):</a:t>
            </a:r>
          </a:p>
        </p:txBody>
      </p:sp>
      <p:sp>
        <p:nvSpPr>
          <p:cNvPr id="5" name="        self.name = name">
            <a:extLst xmlns:a="http://schemas.openxmlformats.org/drawingml/2006/main">
              <a:ext uri="{FF2B5EF4-FFF2-40B4-BE49-F238E27FC236}">
                <a16:creationId xmlns:a16="http://schemas.microsoft.com/office/drawing/2014/main" id="{0FB26958-30B4-4A5C-93E3-CB0ABB642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4792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self.name = name</a:t>
            </a:r>
          </a:p>
        </p:txBody>
      </p:sp>
      <p:sp>
        <p:nvSpPr>
          <p:cNvPr id="6" name="        self.pair_id = pair_id">
            <a:extLst xmlns:a="http://schemas.openxmlformats.org/drawingml/2006/main">
              <a:ext uri="{FF2B5EF4-FFF2-40B4-BE49-F238E27FC236}">
                <a16:creationId xmlns:a16="http://schemas.microsoft.com/office/drawing/2014/main" id="{B7B20514-6776-467B-8819-E8AE4B8CF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4320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self.pair_id = pair_id</a:t>
            </a:r>
          </a:p>
        </p:txBody>
      </p:sp>
      <p:sp>
        <p:nvSpPr>
          <p:cNvPr id="7" name="        self.face_up = False">
            <a:extLst xmlns:a="http://schemas.openxmlformats.org/drawingml/2006/main">
              <a:ext uri="{FF2B5EF4-FFF2-40B4-BE49-F238E27FC236}">
                <a16:creationId xmlns:a16="http://schemas.microsoft.com/office/drawing/2014/main" id="{6B2DD91D-298E-4FB8-8729-6CB13B28F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384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self.face_up = False</a:t>
            </a:r>
          </a:p>
        </p:txBody>
      </p:sp>
      <p:sp>
        <p:nvSpPr>
          <p:cNvPr id="8" name="        self.matched = False">
            <a:extLst xmlns:a="http://schemas.openxmlformats.org/drawingml/2006/main">
              <a:ext uri="{FF2B5EF4-FFF2-40B4-BE49-F238E27FC236}">
                <a16:creationId xmlns:a16="http://schemas.microsoft.com/office/drawing/2014/main" id="{E0DB6D5B-A45A-4AAA-93B7-F7684C5FB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3375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self.matched = False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B2B8EB-759C-4BD2-98F0-546F8E16A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2902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0" name="    def reveal(self):">
            <a:extLst xmlns:a="http://schemas.openxmlformats.org/drawingml/2006/main">
              <a:ext uri="{FF2B5EF4-FFF2-40B4-BE49-F238E27FC236}">
                <a16:creationId xmlns:a16="http://schemas.microsoft.com/office/drawing/2014/main" id="{28DF4BB6-0E3A-44C4-B292-E96B90DC6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2430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def reveal(self):</a:t>
            </a:r>
          </a:p>
        </p:txBody>
      </p:sp>
      <p:sp>
        <p:nvSpPr>
          <p:cNvPr id="11" name="        if self.face_up or self.matched:">
            <a:extLst xmlns:a="http://schemas.openxmlformats.org/drawingml/2006/main">
              <a:ext uri="{FF2B5EF4-FFF2-40B4-BE49-F238E27FC236}">
                <a16:creationId xmlns:a16="http://schemas.microsoft.com/office/drawing/2014/main" id="{36673793-43E3-4619-AAEB-35588001A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195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if self.face_up or self.matched:</a:t>
            </a:r>
          </a:p>
        </p:txBody>
      </p:sp>
      <p:sp>
        <p:nvSpPr>
          <p:cNvPr id="12" name="            return False">
            <a:extLst xmlns:a="http://schemas.openxmlformats.org/drawingml/2006/main">
              <a:ext uri="{FF2B5EF4-FFF2-40B4-BE49-F238E27FC236}">
                <a16:creationId xmlns:a16="http://schemas.microsoft.com/office/drawing/2014/main" id="{7B18DAA6-11B0-4A73-8A54-541600764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1485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    return False</a:t>
            </a:r>
          </a:p>
        </p:txBody>
      </p:sp>
      <p:sp>
        <p:nvSpPr>
          <p:cNvPr id="13" name="        self.face_up = True">
            <a:extLst xmlns:a="http://schemas.openxmlformats.org/drawingml/2006/main">
              <a:ext uri="{FF2B5EF4-FFF2-40B4-BE49-F238E27FC236}">
                <a16:creationId xmlns:a16="http://schemas.microsoft.com/office/drawing/2014/main" id="{8FF22123-7BDC-4DDB-80D2-7F65A5067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1012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self.face_up = True</a:t>
            </a:r>
          </a:p>
        </p:txBody>
      </p:sp>
      <p:sp>
        <p:nvSpPr>
          <p:cNvPr id="14" name="        return True">
            <a:extLst xmlns:a="http://schemas.openxmlformats.org/drawingml/2006/main">
              <a:ext uri="{FF2B5EF4-FFF2-40B4-BE49-F238E27FC236}">
                <a16:creationId xmlns:a16="http://schemas.microsoft.com/office/drawing/2014/main" id="{93C96108-94D2-401C-8239-A2E140E82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0540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return True</a:t>
            </a:r>
          </a:p>
        </p:txBody>
      </p:sp>
      <p:sp>
        <p:nvSpPr>
          <p:cNvPr id="15" name="reveal() rejects cards that are already face up or matched.">
            <a:extLst xmlns:a="http://schemas.openxmlformats.org/drawingml/2006/main">
              <a:ext uri="{FF2B5EF4-FFF2-40B4-BE49-F238E27FC236}">
                <a16:creationId xmlns:a16="http://schemas.microsoft.com/office/drawing/2014/main" id="{FBE430D2-2007-40BB-946F-8B3534F8C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523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reveal() rejects cards that are already face up or matched.</a:t>
            </a:r>
          </a:p>
        </p:txBody>
      </p:sp>
      <p:sp>
        <p:nvSpPr>
          <p:cNvPr id="16" name="Attributes are writable here. The game uses methods to maintain its ru">
            <a:extLst xmlns:a="http://schemas.openxmlformats.org/drawingml/2006/main">
              <a:ext uri="{FF2B5EF4-FFF2-40B4-BE49-F238E27FC236}">
                <a16:creationId xmlns:a16="http://schemas.microsoft.com/office/drawing/2014/main" id="{4CDE7C29-7874-498A-87AA-8FC797076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905500"/>
            <a:ext cx="523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Attributes are writable here. The game uses methods to maintain its rules.</a:t>
            </a:r>
          </a:p>
        </p:txBody>
      </p:sp>
      <p:sp>
        <p:nvSpPr>
          <p:cNvPr id="17" name="model.py">
            <a:extLst xmlns:a="http://schemas.openxmlformats.org/drawingml/2006/main">
              <a:ext uri="{FF2B5EF4-FFF2-40B4-BE49-F238E27FC236}">
                <a16:creationId xmlns:a16="http://schemas.microsoft.com/office/drawing/2014/main" id="{68AC4846-7795-4E53-8ACF-0A668E72A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model.py</a:t>
            </a:r>
          </a:p>
        </p:txBody>
      </p:sp>
      <p:sp>
        <p:nvSpPr>
          <p:cNvPr id="18" name="08">
            <a:extLst xmlns:a="http://schemas.openxmlformats.org/drawingml/2006/main">
              <a:ext uri="{FF2B5EF4-FFF2-40B4-BE49-F238E27FC236}">
                <a16:creationId xmlns:a16="http://schemas.microsoft.com/office/drawing/2014/main" id="{C3F42C4F-8792-41A9-B2D4-805AA197A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DF4FB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65033063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Board: create and keep cards">
            <a:extLst xmlns:a="http://schemas.openxmlformats.org/drawingml/2006/main">
              <a:ext uri="{FF2B5EF4-FFF2-40B4-BE49-F238E27FC236}">
                <a16:creationId xmlns:a16="http://schemas.microsoft.com/office/drawing/2014/main" id="{5B57A4BA-384C-484B-B82A-8B68F1B97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95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defPPr>
            <a:lvl1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1pPr>
            <a:lvl2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2pPr>
            <a:lvl3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3pPr>
            <a:lvl4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4pPr>
            <a:lvl5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5pPr>
            <a:lvl6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6pPr>
            <a:lvl7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7pPr>
            <a:lvl8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8pPr>
            <a:lvl9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EDF4FB"/>
                </a:solidFill>
                <a:latin typeface="Aptos"/>
                <a:ea typeface="Aptos"/>
                <a:cs typeface="Aptos"/>
              </a:rPr>
              <a:t>Board: create and keep cards</a:t>
            </a:r>
          </a:p>
        </p:txBody>
      </p:sp>
      <p:sp>
        <p:nvSpPr>
          <p:cNvPr id="2" name="model.py · Board.__init__">
            <a:extLst xmlns:a="http://schemas.openxmlformats.org/drawingml/2006/main">
              <a:ext uri="{FF2B5EF4-FFF2-40B4-BE49-F238E27FC236}">
                <a16:creationId xmlns:a16="http://schemas.microsoft.com/office/drawing/2014/main" id="{6880892F-B331-40E3-A46F-E79189A70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62050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model.py · Board.__init__</a:t>
            </a:r>
          </a:p>
        </p:txBody>
      </p:sp>
      <p:sp>
        <p:nvSpPr>
          <p:cNvPr id="3" name="def __init__(self, sample=False):">
            <a:extLst xmlns:a="http://schemas.openxmlformats.org/drawingml/2006/main">
              <a:ext uri="{FF2B5EF4-FFF2-40B4-BE49-F238E27FC236}">
                <a16:creationId xmlns:a16="http://schemas.microsoft.com/office/drawing/2014/main" id="{B5961DD6-8733-4246-A333-FD5BE124A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573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def __init__(self, sample=False):</a:t>
            </a:r>
          </a:p>
        </p:txBody>
      </p:sp>
      <p:sp>
        <p:nvSpPr>
          <p:cNvPr id="4" name="    pairs = SAMPLE.copy()">
            <a:extLst xmlns:a="http://schemas.openxmlformats.org/drawingml/2006/main">
              <a:ext uri="{FF2B5EF4-FFF2-40B4-BE49-F238E27FC236}">
                <a16:creationId xmlns:a16="http://schemas.microsoft.com/office/drawing/2014/main" id="{AE0D0214-857F-4AEF-AD37-CA8AB3CD5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5265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pairs = SAMPLE.copy()</a:t>
            </a:r>
          </a:p>
        </p:txBody>
      </p:sp>
      <p:sp>
        <p:nvSpPr>
          <p:cNvPr id="5" name="    if not sample:">
            <a:extLst xmlns:a="http://schemas.openxmlformats.org/drawingml/2006/main">
              <a:ext uri="{FF2B5EF4-FFF2-40B4-BE49-F238E27FC236}">
                <a16:creationId xmlns:a16="http://schemas.microsoft.com/office/drawing/2014/main" id="{5FF63D24-C553-411C-B7A4-B3F1E7C0B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4792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if not sample:</a:t>
            </a:r>
          </a:p>
        </p:txBody>
      </p:sp>
      <p:sp>
        <p:nvSpPr>
          <p:cNvPr id="6" name="        shuffle(pairs)">
            <a:extLst xmlns:a="http://schemas.openxmlformats.org/drawingml/2006/main">
              <a:ext uri="{FF2B5EF4-FFF2-40B4-BE49-F238E27FC236}">
                <a16:creationId xmlns:a16="http://schemas.microsoft.com/office/drawing/2014/main" id="{696ACC7E-2C64-4F33-99DE-990627C03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4320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shuffle(pairs)</a:t>
            </a:r>
          </a:p>
        </p:txBody>
      </p:sp>
      <p:sp>
        <p:nvSpPr>
          <p:cNvPr id="7" name="    self.cards = [Card(f'C{i+1:02}', pair)">
            <a:extLst xmlns:a="http://schemas.openxmlformats.org/drawingml/2006/main">
              <a:ext uri="{FF2B5EF4-FFF2-40B4-BE49-F238E27FC236}">
                <a16:creationId xmlns:a16="http://schemas.microsoft.com/office/drawing/2014/main" id="{0ADB4956-572E-4D55-A452-2B06FDB50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384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self.cards = [Card(f'C{i+1:02}', pair)</a:t>
            </a:r>
          </a:p>
        </p:txBody>
      </p:sp>
      <p:sp>
        <p:nvSpPr>
          <p:cNvPr id="8" name="                  for i, pair in enumerate(pairs)]">
            <a:extLst xmlns:a="http://schemas.openxmlformats.org/drawingml/2006/main">
              <a:ext uri="{FF2B5EF4-FFF2-40B4-BE49-F238E27FC236}">
                <a16:creationId xmlns:a16="http://schemas.microsoft.com/office/drawing/2014/main" id="{E3F56179-6172-41EE-9FB5-3621299C9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3375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          for i, pair in enumerate(pairs)]</a:t>
            </a:r>
          </a:p>
        </p:txBody>
      </p:sp>
      <p:sp>
        <p:nvSpPr>
          <p:cNvPr id="9" name="Each Card(...) call creates a new instance.">
            <a:extLst xmlns:a="http://schemas.openxmlformats.org/drawingml/2006/main">
              <a:ext uri="{FF2B5EF4-FFF2-40B4-BE49-F238E27FC236}">
                <a16:creationId xmlns:a16="http://schemas.microsoft.com/office/drawing/2014/main" id="{60FF0809-A100-4F2E-9297-65F739E6C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523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Each Card(...) call creates a new instance.</a:t>
            </a:r>
          </a:p>
        </p:txBody>
      </p:sp>
      <p:sp>
        <p:nvSpPr>
          <p:cNvPr id="10" name="sample=True keeps the fixed order. Normal games shuffle.">
            <a:extLst xmlns:a="http://schemas.openxmlformats.org/drawingml/2006/main">
              <a:ext uri="{FF2B5EF4-FFF2-40B4-BE49-F238E27FC236}">
                <a16:creationId xmlns:a16="http://schemas.microsoft.com/office/drawing/2014/main" id="{E8F5494F-8CE6-48F2-B678-3875AED7E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905500"/>
            <a:ext cx="523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sample=True keeps the fixed order. Normal games shuffle.</a:t>
            </a:r>
          </a:p>
        </p:txBody>
      </p:sp>
      <p:sp>
        <p:nvSpPr>
          <p:cNvPr id="11" name="model.py">
            <a:extLst xmlns:a="http://schemas.openxmlformats.org/drawingml/2006/main">
              <a:ext uri="{FF2B5EF4-FFF2-40B4-BE49-F238E27FC236}">
                <a16:creationId xmlns:a16="http://schemas.microsoft.com/office/drawing/2014/main" id="{EDF69CDE-FF1E-4154-8372-29BC2C91E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model.py</a:t>
            </a:r>
          </a:p>
        </p:txBody>
      </p:sp>
      <p:sp>
        <p:nvSpPr>
          <p:cNvPr id="12" name="09">
            <a:extLst xmlns:a="http://schemas.openxmlformats.org/drawingml/2006/main">
              <a:ext uri="{FF2B5EF4-FFF2-40B4-BE49-F238E27FC236}">
                <a16:creationId xmlns:a16="http://schemas.microsoft.com/office/drawing/2014/main" id="{294DBC5A-3B10-4A78-8917-3BA24C629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DF4FB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6307545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election: a pending reference">
            <a:extLst xmlns:a="http://schemas.openxmlformats.org/drawingml/2006/main">
              <a:ext uri="{FF2B5EF4-FFF2-40B4-BE49-F238E27FC236}">
                <a16:creationId xmlns:a16="http://schemas.microsoft.com/office/drawing/2014/main" id="{AC6C7BBC-73B6-4818-8F87-D3268C7B1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95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defPPr>
            <a:lvl1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1pPr>
            <a:lvl2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2pPr>
            <a:lvl3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3pPr>
            <a:lvl4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4pPr>
            <a:lvl5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5pPr>
            <a:lvl6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6pPr>
            <a:lvl7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7pPr>
            <a:lvl8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8pPr>
            <a:lvl9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EDF4FB"/>
                </a:solidFill>
                <a:latin typeface="Aptos"/>
                <a:ea typeface="Aptos"/>
                <a:cs typeface="Aptos"/>
              </a:rPr>
              <a:t>Selection: a pending reference</a:t>
            </a:r>
          </a:p>
        </p:txBody>
      </p:sp>
      <p:sp>
        <p:nvSpPr>
          <p:cNvPr id="2" name="model.py · Game.queue">
            <a:extLst xmlns:a="http://schemas.openxmlformats.org/drawingml/2006/main">
              <a:ext uri="{FF2B5EF4-FFF2-40B4-BE49-F238E27FC236}">
                <a16:creationId xmlns:a16="http://schemas.microsoft.com/office/drawing/2014/main" id="{CB7CFA5F-B5CE-4A50-A4B3-C2F1C81B3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62050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model.py · Game.queue</a:t>
            </a:r>
          </a:p>
        </p:txBody>
      </p:sp>
      <p:sp>
        <p:nvSpPr>
          <p:cNvPr id="3" name="def queue(self, name):">
            <a:extLst xmlns:a="http://schemas.openxmlformats.org/drawingml/2006/main">
              <a:ext uri="{FF2B5EF4-FFF2-40B4-BE49-F238E27FC236}">
                <a16:creationId xmlns:a16="http://schemas.microsoft.com/office/drawing/2014/main" id="{040F88CF-D06F-489B-8B22-3B736A246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573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def queue(self, name):</a:t>
            </a:r>
          </a:p>
        </p:txBody>
      </p:sp>
      <p:sp>
        <p:nvSpPr>
          <p:cNvPr id="4" name="    if self.phase not in ('first', 'second') or self.pending:">
            <a:extLst xmlns:a="http://schemas.openxmlformats.org/drawingml/2006/main">
              <a:ext uri="{FF2B5EF4-FFF2-40B4-BE49-F238E27FC236}">
                <a16:creationId xmlns:a16="http://schemas.microsoft.com/office/drawing/2014/main" id="{17F8F2BD-FFC7-43BB-913B-4FE5BFB55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5265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if self.phase not in ('first', 'second') or self.pending:</a:t>
            </a:r>
          </a:p>
        </p:txBody>
      </p:sp>
      <p:sp>
        <p:nvSpPr>
          <p:cNvPr id="5" name="        return False">
            <a:extLst xmlns:a="http://schemas.openxmlformats.org/drawingml/2006/main">
              <a:ext uri="{FF2B5EF4-FFF2-40B4-BE49-F238E27FC236}">
                <a16:creationId xmlns:a16="http://schemas.microsoft.com/office/drawing/2014/main" id="{C1357EBF-527E-4F45-A1E7-8A2F69692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4792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return False</a:t>
            </a:r>
          </a:p>
        </p:txBody>
      </p:sp>
      <p:sp>
        <p:nvSpPr>
          <p:cNvPr id="6" name="    card = self.board.get(name)">
            <a:extLst xmlns:a="http://schemas.openxmlformats.org/drawingml/2006/main">
              <a:ext uri="{FF2B5EF4-FFF2-40B4-BE49-F238E27FC236}">
                <a16:creationId xmlns:a16="http://schemas.microsoft.com/office/drawing/2014/main" id="{8ADBA992-EA23-468D-A279-0FAF54D04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4320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card = self.board.get(name)</a:t>
            </a:r>
          </a:p>
        </p:txBody>
      </p:sp>
      <p:sp>
        <p:nvSpPr>
          <p:cNvPr id="7" name="    if card is None or card.face_up or card.matched:">
            <a:extLst xmlns:a="http://schemas.openxmlformats.org/drawingml/2006/main">
              <a:ext uri="{FF2B5EF4-FFF2-40B4-BE49-F238E27FC236}">
                <a16:creationId xmlns:a16="http://schemas.microsoft.com/office/drawing/2014/main" id="{3D4B0D6B-DAD7-4326-B16C-A4C32ECAF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384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if card is None or card.face_up or card.matched:</a:t>
            </a:r>
          </a:p>
        </p:txBody>
      </p:sp>
      <p:sp>
        <p:nvSpPr>
          <p:cNvPr id="8" name="        return False">
            <a:extLst xmlns:a="http://schemas.openxmlformats.org/drawingml/2006/main">
              <a:ext uri="{FF2B5EF4-FFF2-40B4-BE49-F238E27FC236}">
                <a16:creationId xmlns:a16="http://schemas.microsoft.com/office/drawing/2014/main" id="{00D9B1EB-6E98-49EC-897D-FCFEB2D00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3375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return False</a:t>
            </a:r>
          </a:p>
        </p:txBody>
      </p:sp>
      <p:sp>
        <p:nvSpPr>
          <p:cNvPr id="9" name="    self.pending = card">
            <a:extLst xmlns:a="http://schemas.openxmlformats.org/drawingml/2006/main">
              <a:ext uri="{FF2B5EF4-FFF2-40B4-BE49-F238E27FC236}">
                <a16:creationId xmlns:a16="http://schemas.microsoft.com/office/drawing/2014/main" id="{106DDB25-2262-40EC-BC71-358E759EF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2902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self.pending = card</a:t>
            </a:r>
          </a:p>
        </p:txBody>
      </p:sp>
      <p:sp>
        <p:nvSpPr>
          <p:cNvPr id="10" name="    return True">
            <a:extLst xmlns:a="http://schemas.openxmlformats.org/drawingml/2006/main">
              <a:ext uri="{FF2B5EF4-FFF2-40B4-BE49-F238E27FC236}">
                <a16:creationId xmlns:a16="http://schemas.microsoft.com/office/drawing/2014/main" id="{3B3E777E-BC2C-4812-B031-14DDA30D1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2430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return True</a:t>
            </a:r>
          </a:p>
        </p:txBody>
      </p:sp>
      <p:sp>
        <p:nvSpPr>
          <p:cNvPr id="11" name="Queuing does not change face_up. The next step reveals it.">
            <a:extLst xmlns:a="http://schemas.openxmlformats.org/drawingml/2006/main">
              <a:ext uri="{FF2B5EF4-FFF2-40B4-BE49-F238E27FC236}">
                <a16:creationId xmlns:a16="http://schemas.microsoft.com/office/drawing/2014/main" id="{2B64E5DC-FA96-4528-9DD7-A275CA3B2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523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Queuing does not change face_up. The next step reveals it.</a:t>
            </a:r>
          </a:p>
        </p:txBody>
      </p:sp>
      <p:sp>
        <p:nvSpPr>
          <p:cNvPr id="12" name="A revealed card cannot also be selected as the second card.">
            <a:extLst xmlns:a="http://schemas.openxmlformats.org/drawingml/2006/main">
              <a:ext uri="{FF2B5EF4-FFF2-40B4-BE49-F238E27FC236}">
                <a16:creationId xmlns:a16="http://schemas.microsoft.com/office/drawing/2014/main" id="{2BB56DB4-62E5-44C4-96F8-94463453A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905500"/>
            <a:ext cx="523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A revealed card cannot also be selected as the second card.</a:t>
            </a:r>
          </a:p>
        </p:txBody>
      </p:sp>
      <p:sp>
        <p:nvSpPr>
          <p:cNvPr id="13" name="model.py">
            <a:extLst xmlns:a="http://schemas.openxmlformats.org/drawingml/2006/main">
              <a:ext uri="{FF2B5EF4-FFF2-40B4-BE49-F238E27FC236}">
                <a16:creationId xmlns:a16="http://schemas.microsoft.com/office/drawing/2014/main" id="{B1619D9A-5CA2-42CF-8649-DC89D6DD0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model.py</a:t>
            </a:r>
          </a:p>
        </p:txBody>
      </p:sp>
      <p:sp>
        <p:nvSpPr>
          <p:cNvPr id="14" name="10">
            <a:extLst xmlns:a="http://schemas.openxmlformats.org/drawingml/2006/main">
              <a:ext uri="{FF2B5EF4-FFF2-40B4-BE49-F238E27FC236}">
                <a16:creationId xmlns:a16="http://schemas.microsoft.com/office/drawing/2014/main" id="{251FCAFA-EAEC-458E-9CF2-1B92C6DC5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DF4FB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4219569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One step: reveal the queued card">
            <a:extLst xmlns:a="http://schemas.openxmlformats.org/drawingml/2006/main">
              <a:ext uri="{FF2B5EF4-FFF2-40B4-BE49-F238E27FC236}">
                <a16:creationId xmlns:a16="http://schemas.microsoft.com/office/drawing/2014/main" id="{E4D19377-7EA3-42E7-9893-C1C53E2E0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95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defPPr>
            <a:lvl1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1pPr>
            <a:lvl2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2pPr>
            <a:lvl3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3pPr>
            <a:lvl4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4pPr>
            <a:lvl5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5pPr>
            <a:lvl6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6pPr>
            <a:lvl7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7pPr>
            <a:lvl8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8pPr>
            <a:lvl9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EDF4FB"/>
                </a:solidFill>
                <a:latin typeface="Aptos"/>
                <a:ea typeface="Aptos"/>
                <a:cs typeface="Aptos"/>
              </a:rPr>
              <a:t>One step: reveal the queued card</a:t>
            </a:r>
          </a:p>
        </p:txBody>
      </p:sp>
      <p:sp>
        <p:nvSpPr>
          <p:cNvPr id="2" name="Reveal branch of Game.step(); other branches call compare() and settle">
            <a:extLst xmlns:a="http://schemas.openxmlformats.org/drawingml/2006/main">
              <a:ext uri="{FF2B5EF4-FFF2-40B4-BE49-F238E27FC236}">
                <a16:creationId xmlns:a16="http://schemas.microsoft.com/office/drawing/2014/main" id="{D62E2C2B-343F-4BBA-8498-46BD92706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62050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Reveal branch of Game.step(); other branches call compare() and settle()</a:t>
            </a:r>
          </a:p>
        </p:txBody>
      </p:sp>
      <p:sp>
        <p:nvSpPr>
          <p:cNvPr id="3" name="def step(self):">
            <a:extLst xmlns:a="http://schemas.openxmlformats.org/drawingml/2006/main">
              <a:ext uri="{FF2B5EF4-FFF2-40B4-BE49-F238E27FC236}">
                <a16:creationId xmlns:a16="http://schemas.microsoft.com/office/drawing/2014/main" id="{88BFCAF9-CED2-436C-8C30-6DC6C6E6B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573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def step(self):</a:t>
            </a:r>
          </a:p>
        </p:txBody>
      </p:sp>
      <p:sp>
        <p:nvSpPr>
          <p:cNvPr id="4" name="    if self.pending and self.phase in ('first', 'second'):">
            <a:extLst xmlns:a="http://schemas.openxmlformats.org/drawingml/2006/main">
              <a:ext uri="{FF2B5EF4-FFF2-40B4-BE49-F238E27FC236}">
                <a16:creationId xmlns:a16="http://schemas.microsoft.com/office/drawing/2014/main" id="{EDD88ADD-FD3E-4A84-95C2-996915357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5265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if self.pending and self.phase in ('first', 'second'):</a:t>
            </a:r>
          </a:p>
        </p:txBody>
      </p:sp>
      <p:sp>
        <p:nvSpPr>
          <p:cNvPr id="5" name="        card = self.pending">
            <a:extLst xmlns:a="http://schemas.openxmlformats.org/drawingml/2006/main">
              <a:ext uri="{FF2B5EF4-FFF2-40B4-BE49-F238E27FC236}">
                <a16:creationId xmlns:a16="http://schemas.microsoft.com/office/drawing/2014/main" id="{3A007FF9-606A-47F6-9B50-8C959037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4792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card = self.pending</a:t>
            </a:r>
          </a:p>
        </p:txBody>
      </p:sp>
      <p:sp>
        <p:nvSpPr>
          <p:cNvPr id="6" name="        self.pending = None">
            <a:extLst xmlns:a="http://schemas.openxmlformats.org/drawingml/2006/main">
              <a:ext uri="{FF2B5EF4-FFF2-40B4-BE49-F238E27FC236}">
                <a16:creationId xmlns:a16="http://schemas.microsoft.com/office/drawing/2014/main" id="{985817BB-A733-45F4-84F5-08DB2B8AF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4320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self.pending = None</a:t>
            </a:r>
          </a:p>
        </p:txBody>
      </p:sp>
      <p:sp>
        <p:nvSpPr>
          <p:cNvPr id="7" name="        card.reveal()">
            <a:extLst xmlns:a="http://schemas.openxmlformats.org/drawingml/2006/main">
              <a:ext uri="{FF2B5EF4-FFF2-40B4-BE49-F238E27FC236}">
                <a16:creationId xmlns:a16="http://schemas.microsoft.com/office/drawing/2014/main" id="{BBDE5688-9748-41CB-8D94-9B826D068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384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card.reveal()</a:t>
            </a:r>
          </a:p>
        </p:txBody>
      </p:sp>
      <p:sp>
        <p:nvSpPr>
          <p:cNvPr id="8" name="        if self.phase == 'first':">
            <a:extLst xmlns:a="http://schemas.openxmlformats.org/drawingml/2006/main">
              <a:ext uri="{FF2B5EF4-FFF2-40B4-BE49-F238E27FC236}">
                <a16:creationId xmlns:a16="http://schemas.microsoft.com/office/drawing/2014/main" id="{1A8428B7-5886-467C-8873-FC2D7296C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3375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if self.phase == 'first':</a:t>
            </a:r>
          </a:p>
        </p:txBody>
      </p:sp>
      <p:sp>
        <p:nvSpPr>
          <p:cNvPr id="9" name="            self.first = card">
            <a:extLst xmlns:a="http://schemas.openxmlformats.org/drawingml/2006/main">
              <a:ext uri="{FF2B5EF4-FFF2-40B4-BE49-F238E27FC236}">
                <a16:creationId xmlns:a16="http://schemas.microsoft.com/office/drawing/2014/main" id="{E54FC0B9-E0A3-4E1C-A354-FCB3D9502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2902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    self.first = card</a:t>
            </a:r>
          </a:p>
        </p:txBody>
      </p:sp>
      <p:sp>
        <p:nvSpPr>
          <p:cNvPr id="10" name="            self.phase = 'second'">
            <a:extLst xmlns:a="http://schemas.openxmlformats.org/drawingml/2006/main">
              <a:ext uri="{FF2B5EF4-FFF2-40B4-BE49-F238E27FC236}">
                <a16:creationId xmlns:a16="http://schemas.microsoft.com/office/drawing/2014/main" id="{9BE8ABEC-0573-4CA2-A7EB-517F81A0F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2430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    self.phase = 'second'</a:t>
            </a:r>
          </a:p>
        </p:txBody>
      </p:sp>
      <p:sp>
        <p:nvSpPr>
          <p:cNvPr id="11" name="        else:">
            <a:extLst xmlns:a="http://schemas.openxmlformats.org/drawingml/2006/main">
              <a:ext uri="{FF2B5EF4-FFF2-40B4-BE49-F238E27FC236}">
                <a16:creationId xmlns:a16="http://schemas.microsoft.com/office/drawing/2014/main" id="{C2257ED0-7633-4659-8F92-00B2D1AE7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195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else:</a:t>
            </a:r>
          </a:p>
        </p:txBody>
      </p:sp>
      <p:sp>
        <p:nvSpPr>
          <p:cNvPr id="12" name="            self.second = card">
            <a:extLst xmlns:a="http://schemas.openxmlformats.org/drawingml/2006/main">
              <a:ext uri="{FF2B5EF4-FFF2-40B4-BE49-F238E27FC236}">
                <a16:creationId xmlns:a16="http://schemas.microsoft.com/office/drawing/2014/main" id="{33BC39FA-EAC9-411C-BE4D-76F278643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1485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    self.second = card</a:t>
            </a:r>
          </a:p>
        </p:txBody>
      </p:sp>
      <p:sp>
        <p:nvSpPr>
          <p:cNvPr id="13" name="            self.phase = 'compare'">
            <a:extLst xmlns:a="http://schemas.openxmlformats.org/drawingml/2006/main">
              <a:ext uri="{FF2B5EF4-FFF2-40B4-BE49-F238E27FC236}">
                <a16:creationId xmlns:a16="http://schemas.microsoft.com/office/drawing/2014/main" id="{06ACDC20-DAA7-40CC-A585-C32B12136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1012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    self.phase = 'compare'</a:t>
            </a:r>
          </a:p>
        </p:txBody>
      </p:sp>
      <p:sp>
        <p:nvSpPr>
          <p:cNvPr id="14" name="        return True">
            <a:extLst xmlns:a="http://schemas.openxmlformats.org/drawingml/2006/main">
              <a:ext uri="{FF2B5EF4-FFF2-40B4-BE49-F238E27FC236}">
                <a16:creationId xmlns:a16="http://schemas.microsoft.com/office/drawing/2014/main" id="{E0855EE8-ACD7-4DC6-BAEC-AAE4714AB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0540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return True</a:t>
            </a:r>
          </a:p>
        </p:txBody>
      </p:sp>
      <p:sp>
        <p:nvSpPr>
          <p:cNvPr id="15" name="first and second hold references to existing Cards.">
            <a:extLst xmlns:a="http://schemas.openxmlformats.org/drawingml/2006/main">
              <a:ext uri="{FF2B5EF4-FFF2-40B4-BE49-F238E27FC236}">
                <a16:creationId xmlns:a16="http://schemas.microsoft.com/office/drawing/2014/main" id="{DB664AA2-8A5A-4BD9-998C-6CEE0E5DB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523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first and second hold references to existing Cards.</a:t>
            </a:r>
          </a:p>
        </p:txBody>
      </p:sp>
      <p:sp>
        <p:nvSpPr>
          <p:cNvPr id="16" name="Each step() completes only one stage.">
            <a:extLst xmlns:a="http://schemas.openxmlformats.org/drawingml/2006/main">
              <a:ext uri="{FF2B5EF4-FFF2-40B4-BE49-F238E27FC236}">
                <a16:creationId xmlns:a16="http://schemas.microsoft.com/office/drawing/2014/main" id="{F655DF7D-5FBD-4197-8021-2BF58B02D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905500"/>
            <a:ext cx="523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Each step() completes only one stage.</a:t>
            </a:r>
          </a:p>
        </p:txBody>
      </p:sp>
      <p:sp>
        <p:nvSpPr>
          <p:cNvPr id="17" name="model.py">
            <a:extLst xmlns:a="http://schemas.openxmlformats.org/drawingml/2006/main">
              <a:ext uri="{FF2B5EF4-FFF2-40B4-BE49-F238E27FC236}">
                <a16:creationId xmlns:a16="http://schemas.microsoft.com/office/drawing/2014/main" id="{BC4DC4AC-2C89-4C33-8CE7-5AEEE119E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model.py</a:t>
            </a:r>
          </a:p>
        </p:txBody>
      </p:sp>
      <p:sp>
        <p:nvSpPr>
          <p:cNvPr id="18" name="11">
            <a:extLst xmlns:a="http://schemas.openxmlformats.org/drawingml/2006/main">
              <a:ext uri="{FF2B5EF4-FFF2-40B4-BE49-F238E27FC236}">
                <a16:creationId xmlns:a16="http://schemas.microsoft.com/office/drawing/2014/main" id="{24B8BA18-712E-4976-9A82-7AC95F046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DF4FB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00049888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Comparison: check pair_id">
            <a:extLst xmlns:a="http://schemas.openxmlformats.org/drawingml/2006/main">
              <a:ext uri="{FF2B5EF4-FFF2-40B4-BE49-F238E27FC236}">
                <a16:creationId xmlns:a16="http://schemas.microsoft.com/office/drawing/2014/main" id="{AD3A2BA1-752C-4F09-833D-7C0C918AF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95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defPPr>
            <a:lvl1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1pPr>
            <a:lvl2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2pPr>
            <a:lvl3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3pPr>
            <a:lvl4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4pPr>
            <a:lvl5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5pPr>
            <a:lvl6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6pPr>
            <a:lvl7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7pPr>
            <a:lvl8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8pPr>
            <a:lvl9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EDF4FB"/>
                </a:solidFill>
                <a:latin typeface="Aptos"/>
                <a:ea typeface="Aptos"/>
                <a:cs typeface="Aptos"/>
              </a:rPr>
              <a:t>Comparison: check pair_id</a:t>
            </a:r>
          </a:p>
        </p:txBody>
      </p:sp>
      <p:sp>
        <p:nvSpPr>
          <p:cNvPr id="2" name="model.py · Game.compare">
            <a:extLst xmlns:a="http://schemas.openxmlformats.org/drawingml/2006/main">
              <a:ext uri="{FF2B5EF4-FFF2-40B4-BE49-F238E27FC236}">
                <a16:creationId xmlns:a16="http://schemas.microsoft.com/office/drawing/2014/main" id="{96DBDA90-8B0E-448E-939A-60512800C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62050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model.py · Game.compare</a:t>
            </a:r>
          </a:p>
        </p:txBody>
      </p:sp>
      <p:sp>
        <p:nvSpPr>
          <p:cNvPr id="3" name="def compare(self):">
            <a:extLst xmlns:a="http://schemas.openxmlformats.org/drawingml/2006/main">
              <a:ext uri="{FF2B5EF4-FFF2-40B4-BE49-F238E27FC236}">
                <a16:creationId xmlns:a16="http://schemas.microsoft.com/office/drawing/2014/main" id="{6F501D2E-2BF3-404F-A015-B7580592B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573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def compare(self):</a:t>
            </a:r>
          </a:p>
        </p:txBody>
      </p:sp>
      <p:sp>
        <p:nvSpPr>
          <p:cNvPr id="4" name="    if self.phase != 'compare' or not (self.first and self.second):">
            <a:extLst xmlns:a="http://schemas.openxmlformats.org/drawingml/2006/main">
              <a:ext uri="{FF2B5EF4-FFF2-40B4-BE49-F238E27FC236}">
                <a16:creationId xmlns:a16="http://schemas.microsoft.com/office/drawing/2014/main" id="{2CB34136-41BC-4FED-B463-99CA82F33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5265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if self.phase != 'compare' or not (self.first and self.second):</a:t>
            </a:r>
          </a:p>
        </p:txBody>
      </p:sp>
      <p:sp>
        <p:nvSpPr>
          <p:cNvPr id="5" name="        return">
            <a:extLst xmlns:a="http://schemas.openxmlformats.org/drawingml/2006/main">
              <a:ext uri="{FF2B5EF4-FFF2-40B4-BE49-F238E27FC236}">
                <a16:creationId xmlns:a16="http://schemas.microsoft.com/office/drawing/2014/main" id="{E11C1D88-EFBB-4989-BBD2-FE0D98C0A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4792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return</a:t>
            </a:r>
          </a:p>
        </p:txBody>
      </p:sp>
      <p:sp>
        <p:nvSpPr>
          <p:cNvPr id="6" name="    self.result = self.first.pair_id == self.second.pair_id">
            <a:extLst xmlns:a="http://schemas.openxmlformats.org/drawingml/2006/main">
              <a:ext uri="{FF2B5EF4-FFF2-40B4-BE49-F238E27FC236}">
                <a16:creationId xmlns:a16="http://schemas.microsoft.com/office/drawing/2014/main" id="{27B9E95E-1E4D-4253-97EA-6A7C8A1CD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4320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self.result = self.first.pair_id == self.second.pair_id</a:t>
            </a:r>
          </a:p>
        </p:txBody>
      </p:sp>
      <p:sp>
        <p:nvSpPr>
          <p:cNvPr id="7" name="    self.turns += 1">
            <a:extLst xmlns:a="http://schemas.openxmlformats.org/drawingml/2006/main">
              <a:ext uri="{FF2B5EF4-FFF2-40B4-BE49-F238E27FC236}">
                <a16:creationId xmlns:a16="http://schemas.microsoft.com/office/drawing/2014/main" id="{20E7BF42-210F-476D-8261-7A83D348E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384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self.turns += 1</a:t>
            </a:r>
          </a:p>
        </p:txBody>
      </p:sp>
      <p:sp>
        <p:nvSpPr>
          <p:cNvPr id="8" name="    self.phase = 'resolve'">
            <a:extLst xmlns:a="http://schemas.openxmlformats.org/drawingml/2006/main">
              <a:ext uri="{FF2B5EF4-FFF2-40B4-BE49-F238E27FC236}">
                <a16:creationId xmlns:a16="http://schemas.microsoft.com/office/drawing/2014/main" id="{B57A028C-1BC4-4928-AB06-4D4F03522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3375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self.phase = 'resolve'</a:t>
            </a:r>
          </a:p>
        </p:txBody>
      </p:sp>
      <p:sp>
        <p:nvSpPr>
          <p:cNvPr id="9" name="Compare picture values and count one comparison.">
            <a:extLst xmlns:a="http://schemas.openxmlformats.org/drawingml/2006/main">
              <a:ext uri="{FF2B5EF4-FFF2-40B4-BE49-F238E27FC236}">
                <a16:creationId xmlns:a16="http://schemas.microsoft.com/office/drawing/2014/main" id="{0429708F-22C8-4491-AD18-001997F4C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523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Compare picture values and count one comparison.</a:t>
            </a:r>
          </a:p>
        </p:txBody>
      </p:sp>
      <p:sp>
        <p:nvSpPr>
          <p:cNvPr id="10" name="matched is still False until the settlement step.">
            <a:extLst xmlns:a="http://schemas.openxmlformats.org/drawingml/2006/main">
              <a:ext uri="{FF2B5EF4-FFF2-40B4-BE49-F238E27FC236}">
                <a16:creationId xmlns:a16="http://schemas.microsoft.com/office/drawing/2014/main" id="{2591AE54-D8B3-4E53-8BCD-ECBD08077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905500"/>
            <a:ext cx="523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matched is still False until the settlement step.</a:t>
            </a:r>
          </a:p>
        </p:txBody>
      </p:sp>
      <p:sp>
        <p:nvSpPr>
          <p:cNvPr id="11" name="model.py">
            <a:extLst xmlns:a="http://schemas.openxmlformats.org/drawingml/2006/main">
              <a:ext uri="{FF2B5EF4-FFF2-40B4-BE49-F238E27FC236}">
                <a16:creationId xmlns:a16="http://schemas.microsoft.com/office/drawing/2014/main" id="{59212F70-9C9D-4EFE-8BC4-84015D678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model.py</a:t>
            </a:r>
          </a:p>
        </p:txBody>
      </p:sp>
      <p:sp>
        <p:nvSpPr>
          <p:cNvPr id="12" name="12">
            <a:extLst xmlns:a="http://schemas.openxmlformats.org/drawingml/2006/main">
              <a:ext uri="{FF2B5EF4-FFF2-40B4-BE49-F238E27FC236}">
                <a16:creationId xmlns:a16="http://schemas.microsoft.com/office/drawing/2014/main" id="{743965A9-69BF-4C88-B062-10679EFDE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DF4FB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75758684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ettlement: keep or hide">
            <a:extLst xmlns:a="http://schemas.openxmlformats.org/drawingml/2006/main">
              <a:ext uri="{FF2B5EF4-FFF2-40B4-BE49-F238E27FC236}">
                <a16:creationId xmlns:a16="http://schemas.microsoft.com/office/drawing/2014/main" id="{254A87A0-1C85-4747-AB2D-D73C6033A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95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defPPr>
            <a:lvl1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1pPr>
            <a:lvl2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2pPr>
            <a:lvl3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3pPr>
            <a:lvl4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4pPr>
            <a:lvl5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5pPr>
            <a:lvl6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6pPr>
            <a:lvl7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7pPr>
            <a:lvl8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8pPr>
            <a:lvl9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EDF4FB"/>
                </a:solidFill>
                <a:latin typeface="Aptos"/>
                <a:ea typeface="Aptos"/>
                <a:cs typeface="Aptos"/>
              </a:rPr>
              <a:t>Settlement: keep or hide</a:t>
            </a:r>
          </a:p>
        </p:txBody>
      </p:sp>
      <p:sp>
        <p:nvSpPr>
          <p:cNvPr id="2" name="model.py · Game.settle">
            <a:extLst xmlns:a="http://schemas.openxmlformats.org/drawingml/2006/main">
              <a:ext uri="{FF2B5EF4-FFF2-40B4-BE49-F238E27FC236}">
                <a16:creationId xmlns:a16="http://schemas.microsoft.com/office/drawing/2014/main" id="{8CCE5415-E278-4E68-B21F-8F82D0ADF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62050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model.py · Game.settle</a:t>
            </a:r>
          </a:p>
        </p:txBody>
      </p:sp>
      <p:sp>
        <p:nvSpPr>
          <p:cNvPr id="3" name="def settle(self):">
            <a:extLst xmlns:a="http://schemas.openxmlformats.org/drawingml/2006/main">
              <a:ext uri="{FF2B5EF4-FFF2-40B4-BE49-F238E27FC236}">
                <a16:creationId xmlns:a16="http://schemas.microsoft.com/office/drawing/2014/main" id="{D9F71F3B-39E5-4ADD-A435-D75CE7A50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573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def settle(self):</a:t>
            </a:r>
          </a:p>
        </p:txBody>
      </p:sp>
      <p:sp>
        <p:nvSpPr>
          <p:cNvPr id="4" name="    if self.phase != 'resolve' or not (self.first and self.second):">
            <a:extLst xmlns:a="http://schemas.openxmlformats.org/drawingml/2006/main">
              <a:ext uri="{FF2B5EF4-FFF2-40B4-BE49-F238E27FC236}">
                <a16:creationId xmlns:a16="http://schemas.microsoft.com/office/drawing/2014/main" id="{BE70A55E-C7FE-4FC8-8B60-810894483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5265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if self.phase != 'resolve' or not (self.first and self.second):</a:t>
            </a:r>
          </a:p>
        </p:txBody>
      </p:sp>
      <p:sp>
        <p:nvSpPr>
          <p:cNvPr id="5" name="        return">
            <a:extLst xmlns:a="http://schemas.openxmlformats.org/drawingml/2006/main">
              <a:ext uri="{FF2B5EF4-FFF2-40B4-BE49-F238E27FC236}">
                <a16:creationId xmlns:a16="http://schemas.microsoft.com/office/drawing/2014/main" id="{74DB6457-493C-4CAE-941D-D13FD8D4F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4792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return</a:t>
            </a:r>
          </a:p>
        </p:txBody>
      </p:sp>
      <p:sp>
        <p:nvSpPr>
          <p:cNvPr id="6" name="    if self.result:">
            <a:extLst xmlns:a="http://schemas.openxmlformats.org/drawingml/2006/main">
              <a:ext uri="{FF2B5EF4-FFF2-40B4-BE49-F238E27FC236}">
                <a16:creationId xmlns:a16="http://schemas.microsoft.com/office/drawing/2014/main" id="{6B242382-A5C6-44D6-9419-479C254F3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4320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if self.result:</a:t>
            </a:r>
          </a:p>
        </p:txBody>
      </p:sp>
      <p:sp>
        <p:nvSpPr>
          <p:cNvPr id="7" name="        self.first.mark_matched()">
            <a:extLst xmlns:a="http://schemas.openxmlformats.org/drawingml/2006/main">
              <a:ext uri="{FF2B5EF4-FFF2-40B4-BE49-F238E27FC236}">
                <a16:creationId xmlns:a16="http://schemas.microsoft.com/office/drawing/2014/main" id="{B76DD2B6-94A2-466E-A220-941E832EF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384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self.first.mark_matched()</a:t>
            </a:r>
          </a:p>
        </p:txBody>
      </p:sp>
      <p:sp>
        <p:nvSpPr>
          <p:cNvPr id="8" name="        self.second.mark_matched()">
            <a:extLst xmlns:a="http://schemas.openxmlformats.org/drawingml/2006/main">
              <a:ext uri="{FF2B5EF4-FFF2-40B4-BE49-F238E27FC236}">
                <a16:creationId xmlns:a16="http://schemas.microsoft.com/office/drawing/2014/main" id="{88F36B1E-E8C0-4161-ABA5-A3723EEB5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3375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self.second.mark_matched()</a:t>
            </a:r>
          </a:p>
        </p:txBody>
      </p:sp>
      <p:sp>
        <p:nvSpPr>
          <p:cNvPr id="9" name="        self.matches += 1">
            <a:extLst xmlns:a="http://schemas.openxmlformats.org/drawingml/2006/main">
              <a:ext uri="{FF2B5EF4-FFF2-40B4-BE49-F238E27FC236}">
                <a16:creationId xmlns:a16="http://schemas.microsoft.com/office/drawing/2014/main" id="{9BE6CCDD-8458-4111-AA77-5A69664A0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2902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self.matches += 1</a:t>
            </a:r>
          </a:p>
        </p:txBody>
      </p:sp>
      <p:sp>
        <p:nvSpPr>
          <p:cNvPr id="10" name="    else:">
            <a:extLst xmlns:a="http://schemas.openxmlformats.org/drawingml/2006/main">
              <a:ext uri="{FF2B5EF4-FFF2-40B4-BE49-F238E27FC236}">
                <a16:creationId xmlns:a16="http://schemas.microsoft.com/office/drawing/2014/main" id="{E74D6F51-9F2B-496D-AFF6-F72A9F3D6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2430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else:</a:t>
            </a:r>
          </a:p>
        </p:txBody>
      </p:sp>
      <p:sp>
        <p:nvSpPr>
          <p:cNvPr id="11" name="        self.first.hide()">
            <a:extLst xmlns:a="http://schemas.openxmlformats.org/drawingml/2006/main">
              <a:ext uri="{FF2B5EF4-FFF2-40B4-BE49-F238E27FC236}">
                <a16:creationId xmlns:a16="http://schemas.microsoft.com/office/drawing/2014/main" id="{A78D4F28-6D84-4CA3-9AB2-F0A9F6A8D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195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self.first.hide()</a:t>
            </a:r>
          </a:p>
        </p:txBody>
      </p:sp>
      <p:sp>
        <p:nvSpPr>
          <p:cNvPr id="12" name="        self.second.hide()">
            <a:extLst xmlns:a="http://schemas.openxmlformats.org/drawingml/2006/main">
              <a:ext uri="{FF2B5EF4-FFF2-40B4-BE49-F238E27FC236}">
                <a16:creationId xmlns:a16="http://schemas.microsoft.com/office/drawing/2014/main" id="{62A5DBBF-17A5-4885-8F01-2ADFA2EFA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1485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self.second.hide()</a:t>
            </a:r>
          </a:p>
        </p:txBody>
      </p:sp>
      <p:sp>
        <p:nvSpPr>
          <p:cNvPr id="13" name="    self.first = self.second = None">
            <a:extLst xmlns:a="http://schemas.openxmlformats.org/drawingml/2006/main">
              <a:ext uri="{FF2B5EF4-FFF2-40B4-BE49-F238E27FC236}">
                <a16:creationId xmlns:a16="http://schemas.microsoft.com/office/drawing/2014/main" id="{7A91182A-0273-4F09-A08D-C466F14D0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1012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self.first = self.second = None</a:t>
            </a:r>
          </a:p>
        </p:txBody>
      </p:sp>
      <p:sp>
        <p:nvSpPr>
          <p:cNvPr id="14" name="    self.result = None">
            <a:extLst xmlns:a="http://schemas.openxmlformats.org/drawingml/2006/main">
              <a:ext uri="{FF2B5EF4-FFF2-40B4-BE49-F238E27FC236}">
                <a16:creationId xmlns:a16="http://schemas.microsoft.com/office/drawing/2014/main" id="{4A67563F-49A2-46EB-AFDA-4375A4CFE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0540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self.result = None</a:t>
            </a:r>
          </a:p>
        </p:txBody>
      </p:sp>
      <p:sp>
        <p:nvSpPr>
          <p:cNvPr id="15" name="    self.phase = 'won' if self.board.complete else 'first'">
            <a:extLst xmlns:a="http://schemas.openxmlformats.org/drawingml/2006/main">
              <a:ext uri="{FF2B5EF4-FFF2-40B4-BE49-F238E27FC236}">
                <a16:creationId xmlns:a16="http://schemas.microsoft.com/office/drawing/2014/main" id="{BA2E9AF8-E4DA-4AEB-9D3D-EF01E300E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006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self.phase = 'won' if self.board.complete else 'first'</a:t>
            </a:r>
          </a:p>
        </p:txBody>
      </p:sp>
      <p:sp>
        <p:nvSpPr>
          <p:cNvPr id="16" name="Equal pictures are marked matched; different ones are hidden.">
            <a:extLst xmlns:a="http://schemas.openxmlformats.org/drawingml/2006/main">
              <a:ext uri="{FF2B5EF4-FFF2-40B4-BE49-F238E27FC236}">
                <a16:creationId xmlns:a16="http://schemas.microsoft.com/office/drawing/2014/main" id="{B18C37DD-8B54-44C0-8D0B-519753CA5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523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Equal pictures are marked matched; different ones are hidden.</a:t>
            </a:r>
          </a:p>
        </p:txBody>
      </p:sp>
      <p:sp>
        <p:nvSpPr>
          <p:cNvPr id="17" name="Temporary references are cleared. Board still holds the cards.">
            <a:extLst xmlns:a="http://schemas.openxmlformats.org/drawingml/2006/main">
              <a:ext uri="{FF2B5EF4-FFF2-40B4-BE49-F238E27FC236}">
                <a16:creationId xmlns:a16="http://schemas.microsoft.com/office/drawing/2014/main" id="{AD387419-F385-464F-B7D9-5EF64EAD4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905500"/>
            <a:ext cx="523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Temporary references are cleared. Board still holds the cards.</a:t>
            </a:r>
          </a:p>
        </p:txBody>
      </p:sp>
      <p:sp>
        <p:nvSpPr>
          <p:cNvPr id="18" name="model.py">
            <a:extLst xmlns:a="http://schemas.openxmlformats.org/drawingml/2006/main">
              <a:ext uri="{FF2B5EF4-FFF2-40B4-BE49-F238E27FC236}">
                <a16:creationId xmlns:a16="http://schemas.microsoft.com/office/drawing/2014/main" id="{D9952592-E610-488E-BEF1-572C0109C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model.py</a:t>
            </a:r>
          </a:p>
        </p:txBody>
      </p:sp>
      <p:sp>
        <p:nvSpPr>
          <p:cNvPr id="19" name="13">
            <a:extLst xmlns:a="http://schemas.openxmlformats.org/drawingml/2006/main">
              <a:ext uri="{FF2B5EF4-FFF2-40B4-BE49-F238E27FC236}">
                <a16:creationId xmlns:a16="http://schemas.microsoft.com/office/drawing/2014/main" id="{89B8B99B-CBD5-4D1A-B179-8D6DF9E2C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DF4FB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92406280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Match example: C01 and C02">
            <a:extLst xmlns:a="http://schemas.openxmlformats.org/drawingml/2006/main">
              <a:ext uri="{FF2B5EF4-FFF2-40B4-BE49-F238E27FC236}">
                <a16:creationId xmlns:a16="http://schemas.microsoft.com/office/drawing/2014/main" id="{88A2E7D2-21A8-44F2-82D0-A08C3B8B9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95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defPPr>
            <a:lvl1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1pPr>
            <a:lvl2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2pPr>
            <a:lvl3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3pPr>
            <a:lvl4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4pPr>
            <a:lvl5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5pPr>
            <a:lvl6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6pPr>
            <a:lvl7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7pPr>
            <a:lvl8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8pPr>
            <a:lvl9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72C40"/>
                </a:solidFill>
                <a:latin typeface="Aptos"/>
                <a:ea typeface="Aptos"/>
                <a:cs typeface="Aptos"/>
              </a:rPr>
              <a:t>Match example: C01 and C02</a:t>
            </a:r>
          </a:p>
        </p:txBody>
      </p:sp>
      <p:sp>
        <p:nvSpPr>
          <p:cNvPr id="2" name="Load the Match example, select cards, and use N">
            <a:extLst xmlns:a="http://schemas.openxmlformats.org/drawingml/2006/main">
              <a:ext uri="{FF2B5EF4-FFF2-40B4-BE49-F238E27FC236}">
                <a16:creationId xmlns:a16="http://schemas.microsoft.com/office/drawing/2014/main" id="{B65B0F6B-01E2-4619-9212-F6FF1A0C9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62050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5B7082"/>
                </a:solidFill>
                <a:latin typeface="Aptos"/>
                <a:ea typeface="Aptos"/>
                <a:cs typeface="Aptos"/>
              </a:rPr>
              <a:t>Load the Match example, select cards, and use N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C6A39E-7C53-462F-936E-EDA0155911AE}"/>
              </a:ext>
            </a:extLst>
          </p:cNvPr>
          <p:cNvGraphicFramePr/>
          <p:nvPr/>
        </p:nvGraphicFramePr>
        <p:xfrm>
          <a:off xmlns:a="http://schemas.openxmlformats.org/drawingml/2006/main" x="571500" y="1781175"/>
          <a:ext xmlns:a="http://schemas.openxmlformats.org/drawingml/2006/main" cx="11049000" cy="4000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714750"/>
                <a:gridCol w="1905000"/>
                <a:gridCol w="5429250"/>
              </a:tblGrid>
              <a:tr h="800100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EDF4FB"/>
                          </a:solidFill>
                          <a:latin typeface="Aptos"/>
                          <a:ea typeface="Aptos"/>
                          <a:cs typeface="Aptos"/>
                        </a:rPr>
                        <a:t>Action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172C40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EDF4FB"/>
                          </a:solidFill>
                          <a:latin typeface="Aptos"/>
                          <a:ea typeface="Aptos"/>
                          <a:cs typeface="Aptos"/>
                        </a:rPr>
                        <a:t>phase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172C40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EDF4FB"/>
                          </a:solidFill>
                          <a:latin typeface="Aptos"/>
                          <a:ea typeface="Aptos"/>
                          <a:cs typeface="Aptos"/>
                        </a:rPr>
                        <a:t>Observation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172C40"/>
                    </a:solidFill>
                  </a:tcPr>
                </a:tc>
              </a:tr>
              <a:tr h="800100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2C40"/>
                          </a:solidFill>
                          <a:latin typeface="Aptos"/>
                          <a:ea typeface="Aptos"/>
                          <a:cs typeface="Aptos"/>
                        </a:rPr>
                        <a:t>Choose C01, press 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Aptos"/>
                          <a:ea typeface="Aptos"/>
                          <a:cs typeface="Aptos"/>
                        </a:rPr>
                        <a:t>second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Aptos"/>
                          <a:ea typeface="Aptos"/>
                          <a:cs typeface="Aptos"/>
                        </a:rPr>
                        <a:t>first → C01; face_up = True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2C40"/>
                          </a:solidFill>
                          <a:latin typeface="Aptos"/>
                          <a:ea typeface="Aptos"/>
                          <a:cs typeface="Aptos"/>
                        </a:rPr>
                        <a:t>Choose C02, press 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Aptos"/>
                          <a:ea typeface="Aptos"/>
                          <a:cs typeface="Aptos"/>
                        </a:rPr>
                        <a:t>compare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Aptos"/>
                          <a:ea typeface="Aptos"/>
                          <a:cs typeface="Aptos"/>
                        </a:rPr>
                        <a:t>second → C02; both face up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800100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2C40"/>
                          </a:solidFill>
                          <a:latin typeface="Aptos"/>
                          <a:ea typeface="Aptos"/>
                          <a:cs typeface="Aptos"/>
                        </a:rPr>
                        <a:t>N: compare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Aptos"/>
                          <a:ea typeface="Aptos"/>
                          <a:cs typeface="Aptos"/>
                        </a:rPr>
                        <a:t>resolve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Aptos"/>
                          <a:ea typeface="Aptos"/>
                          <a:cs typeface="Aptos"/>
                        </a:rPr>
                        <a:t>result = True; turns = 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2C40"/>
                          </a:solidFill>
                          <a:latin typeface="Aptos"/>
                          <a:ea typeface="Aptos"/>
                          <a:cs typeface="Aptos"/>
                        </a:rPr>
                        <a:t>N: settle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Aptos"/>
                          <a:ea typeface="Aptos"/>
                          <a:cs typeface="Aptos"/>
                        </a:rPr>
                        <a:t>first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Aptos"/>
                          <a:ea typeface="Aptos"/>
                          <a:cs typeface="Aptos"/>
                        </a:rPr>
                        <a:t>matched = True; matches = 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4" name="Selecting a card only queues it. Each N advances one stage.">
            <a:extLst xmlns:a="http://schemas.openxmlformats.org/drawingml/2006/main">
              <a:ext uri="{FF2B5EF4-FFF2-40B4-BE49-F238E27FC236}">
                <a16:creationId xmlns:a16="http://schemas.microsoft.com/office/drawing/2014/main" id="{F049B2FF-0C59-4E47-984D-C921C3135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817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defPPr>
            <a:lvl1pPr algn="l">
              <a:defRPr sz="157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1pPr>
            <a:lvl2pPr algn="l">
              <a:defRPr sz="157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2pPr>
            <a:lvl3pPr algn="l">
              <a:defRPr sz="157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3pPr>
            <a:lvl4pPr algn="l">
              <a:defRPr sz="157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4pPr>
            <a:lvl5pPr algn="l">
              <a:defRPr sz="157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5pPr>
            <a:lvl6pPr algn="l">
              <a:defRPr sz="157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6pPr>
            <a:lvl7pPr algn="l">
              <a:defRPr sz="157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7pPr>
            <a:lvl8pPr algn="l">
              <a:defRPr sz="157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8pPr>
            <a:lvl9pPr algn="l">
              <a:defRPr sz="157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B7082"/>
                </a:solidFill>
                <a:latin typeface="Aptos"/>
                <a:ea typeface="Aptos"/>
                <a:cs typeface="Aptos"/>
              </a:rPr>
              <a:t>Selecting a card only queues it. Each N advances one stage.</a:t>
            </a:r>
          </a:p>
        </p:txBody>
      </p:sp>
      <p:sp>
        <p:nvSpPr>
          <p:cNvPr id="5" name="14">
            <a:extLst xmlns:a="http://schemas.openxmlformats.org/drawingml/2006/main">
              <a:ext uri="{FF2B5EF4-FFF2-40B4-BE49-F238E27FC236}">
                <a16:creationId xmlns:a16="http://schemas.microsoft.com/office/drawing/2014/main" id="{B75F5E1B-6DD1-47C3-B600-C6BA5E7CB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7082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6422008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Mismatch example: C03 and C04">
            <a:extLst xmlns:a="http://schemas.openxmlformats.org/drawingml/2006/main">
              <a:ext uri="{FF2B5EF4-FFF2-40B4-BE49-F238E27FC236}">
                <a16:creationId xmlns:a16="http://schemas.microsoft.com/office/drawing/2014/main" id="{2BA82C66-9540-4F25-BA07-E40B5EC1B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95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defPPr>
            <a:lvl1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1pPr>
            <a:lvl2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2pPr>
            <a:lvl3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3pPr>
            <a:lvl4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4pPr>
            <a:lvl5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5pPr>
            <a:lvl6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6pPr>
            <a:lvl7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7pPr>
            <a:lvl8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8pPr>
            <a:lvl9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72C40"/>
                </a:solidFill>
                <a:latin typeface="Aptos"/>
                <a:ea typeface="Aptos"/>
                <a:cs typeface="Aptos"/>
              </a:rPr>
              <a:t>Mismatch example: C03 and C04</a:t>
            </a:r>
          </a:p>
        </p:txBody>
      </p:sp>
      <p:sp>
        <p:nvSpPr>
          <p:cNvPr id="2" name="Load the Mismatch example: leaf versus sun">
            <a:extLst xmlns:a="http://schemas.openxmlformats.org/drawingml/2006/main">
              <a:ext uri="{FF2B5EF4-FFF2-40B4-BE49-F238E27FC236}">
                <a16:creationId xmlns:a16="http://schemas.microsoft.com/office/drawing/2014/main" id="{167D25BD-1F5A-4697-AE46-67FE350A4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62050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5B7082"/>
                </a:solidFill>
                <a:latin typeface="Aptos"/>
                <a:ea typeface="Aptos"/>
                <a:cs typeface="Aptos"/>
              </a:rPr>
              <a:t>Load the Mismatch example: leaf versus sun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7BE090-69FC-4D94-8BBE-B1419303AB6B}"/>
              </a:ext>
            </a:extLst>
          </p:cNvPr>
          <p:cNvGraphicFramePr/>
          <p:nvPr/>
        </p:nvGraphicFramePr>
        <p:xfrm>
          <a:off xmlns:a="http://schemas.openxmlformats.org/drawingml/2006/main" x="571500" y="1781175"/>
          <a:ext xmlns:a="http://schemas.openxmlformats.org/drawingml/2006/main" cx="11049000" cy="4000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714750"/>
                <a:gridCol w="1905000"/>
                <a:gridCol w="5429250"/>
              </a:tblGrid>
              <a:tr h="800100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EDF4FB"/>
                          </a:solidFill>
                          <a:latin typeface="Aptos"/>
                          <a:ea typeface="Aptos"/>
                          <a:cs typeface="Aptos"/>
                        </a:rPr>
                        <a:t>Action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172C40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EDF4FB"/>
                          </a:solidFill>
                          <a:latin typeface="Aptos"/>
                          <a:ea typeface="Aptos"/>
                          <a:cs typeface="Aptos"/>
                        </a:rPr>
                        <a:t>phase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172C40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EDF4FB"/>
                          </a:solidFill>
                          <a:latin typeface="Aptos"/>
                          <a:ea typeface="Aptos"/>
                          <a:cs typeface="Aptos"/>
                        </a:rPr>
                        <a:t>Observation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172C40"/>
                    </a:solidFill>
                  </a:tcPr>
                </a:tc>
              </a:tr>
              <a:tr h="800100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2C40"/>
                          </a:solidFill>
                          <a:latin typeface="Aptos"/>
                          <a:ea typeface="Aptos"/>
                          <a:cs typeface="Aptos"/>
                        </a:rPr>
                        <a:t>C03, N; then C04, 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Aptos"/>
                          <a:ea typeface="Aptos"/>
                          <a:cs typeface="Aptos"/>
                        </a:rPr>
                        <a:t>compare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Aptos"/>
                          <a:ea typeface="Aptos"/>
                          <a:cs typeface="Aptos"/>
                        </a:rPr>
                        <a:t>leaf and sun are face up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2C40"/>
                          </a:solidFill>
                          <a:latin typeface="Aptos"/>
                          <a:ea typeface="Aptos"/>
                          <a:cs typeface="Aptos"/>
                        </a:rPr>
                        <a:t>N: compare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Aptos"/>
                          <a:ea typeface="Aptos"/>
                          <a:cs typeface="Aptos"/>
                        </a:rPr>
                        <a:t>resolve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Aptos"/>
                          <a:ea typeface="Aptos"/>
                          <a:cs typeface="Aptos"/>
                        </a:rPr>
                        <a:t>result = False; turns = 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800100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2C40"/>
                          </a:solidFill>
                          <a:latin typeface="Aptos"/>
                          <a:ea typeface="Aptos"/>
                          <a:cs typeface="Aptos"/>
                        </a:rPr>
                        <a:t>N: settle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Aptos"/>
                          <a:ea typeface="Aptos"/>
                          <a:cs typeface="Aptos"/>
                        </a:rPr>
                        <a:t>first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Aptos"/>
                          <a:ea typeface="Aptos"/>
                          <a:cs typeface="Aptos"/>
                        </a:rPr>
                        <a:t>Both face_up = False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2C40"/>
                          </a:solidFill>
                          <a:latin typeface="Aptos"/>
                          <a:ea typeface="Aptos"/>
                          <a:cs typeface="Aptos"/>
                        </a:rPr>
                        <a:t>Inspect Board.cards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Aptos"/>
                          <a:ea typeface="Aptos"/>
                          <a:cs typeface="Aptos"/>
                        </a:rPr>
                        <a:t>first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Aptos"/>
                          <a:ea typeface="Aptos"/>
                          <a:cs typeface="Aptos"/>
                        </a:rPr>
                        <a:t>Same objects; matches = 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4" name="Hiding changes the existing Cards. It does not create replacements.">
            <a:extLst xmlns:a="http://schemas.openxmlformats.org/drawingml/2006/main">
              <a:ext uri="{FF2B5EF4-FFF2-40B4-BE49-F238E27FC236}">
                <a16:creationId xmlns:a16="http://schemas.microsoft.com/office/drawing/2014/main" id="{E84B589A-6F77-4339-B34D-9EE3C2DB1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817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defPPr>
            <a:lvl1pPr algn="l">
              <a:defRPr sz="157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1pPr>
            <a:lvl2pPr algn="l">
              <a:defRPr sz="157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2pPr>
            <a:lvl3pPr algn="l">
              <a:defRPr sz="157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3pPr>
            <a:lvl4pPr algn="l">
              <a:defRPr sz="157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4pPr>
            <a:lvl5pPr algn="l">
              <a:defRPr sz="157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5pPr>
            <a:lvl6pPr algn="l">
              <a:defRPr sz="157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6pPr>
            <a:lvl7pPr algn="l">
              <a:defRPr sz="157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7pPr>
            <a:lvl8pPr algn="l">
              <a:defRPr sz="157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8pPr>
            <a:lvl9pPr algn="l">
              <a:defRPr sz="157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B7082"/>
                </a:solidFill>
                <a:latin typeface="Aptos"/>
                <a:ea typeface="Aptos"/>
                <a:cs typeface="Aptos"/>
              </a:rPr>
              <a:t>Hiding changes the existing Cards. It does not create replacements.</a:t>
            </a:r>
          </a:p>
        </p:txBody>
      </p:sp>
      <p:sp>
        <p:nvSpPr>
          <p:cNvPr id="5" name="15">
            <a:extLst xmlns:a="http://schemas.openxmlformats.org/drawingml/2006/main">
              <a:ext uri="{FF2B5EF4-FFF2-40B4-BE49-F238E27FC236}">
                <a16:creationId xmlns:a16="http://schemas.microsoft.com/office/drawing/2014/main" id="{1B76CAA9-EB00-4CE2-8034-1B51BBE2B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7082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19270513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References, reset &amp; identity">
            <a:extLst xmlns:a="http://schemas.openxmlformats.org/drawingml/2006/main">
              <a:ext uri="{FF2B5EF4-FFF2-40B4-BE49-F238E27FC236}">
                <a16:creationId xmlns:a16="http://schemas.microsoft.com/office/drawing/2014/main" id="{0FFD8E1F-47C4-4048-9824-405C49383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95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defPPr>
            <a:lvl1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1pPr>
            <a:lvl2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2pPr>
            <a:lvl3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3pPr>
            <a:lvl4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4pPr>
            <a:lvl5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5pPr>
            <a:lvl6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6pPr>
            <a:lvl7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7pPr>
            <a:lvl8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8pPr>
            <a:lvl9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EDF4FB"/>
                </a:solidFill>
                <a:latin typeface="Aptos"/>
                <a:ea typeface="Aptos"/>
                <a:cs typeface="Aptos"/>
              </a:rPr>
              <a:t>References, reset &amp; identity</a:t>
            </a:r>
          </a:p>
        </p:txBody>
      </p:sp>
      <p:sp>
        <p:nvSpPr>
          <p:cNvPr id="2" name="Python is tests object identity">
            <a:extLst xmlns:a="http://schemas.openxmlformats.org/drawingml/2006/main">
              <a:ext uri="{FF2B5EF4-FFF2-40B4-BE49-F238E27FC236}">
                <a16:creationId xmlns:a16="http://schemas.microsoft.com/office/drawing/2014/main" id="{7AF03F35-677E-4D5D-BB71-998F19ED0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62050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Python is tests object identity</a:t>
            </a:r>
          </a:p>
        </p:txBody>
      </p:sp>
      <p:sp>
        <p:nvSpPr>
          <p:cNvPr id="3" name="game = Game(sample=True)">
            <a:extLst xmlns:a="http://schemas.openxmlformats.org/drawingml/2006/main">
              <a:ext uri="{FF2B5EF4-FFF2-40B4-BE49-F238E27FC236}">
                <a16:creationId xmlns:a16="http://schemas.microsoft.com/office/drawing/2014/main" id="{06F5FE01-299C-4748-90F3-03FAE90F1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573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game = Game(sample=True)</a:t>
            </a:r>
          </a:p>
        </p:txBody>
      </p:sp>
      <p:sp>
        <p:nvSpPr>
          <p:cNvPr id="4" name="game.play('C01')">
            <a:extLst xmlns:a="http://schemas.openxmlformats.org/drawingml/2006/main">
              <a:ext uri="{FF2B5EF4-FFF2-40B4-BE49-F238E27FC236}">
                <a16:creationId xmlns:a16="http://schemas.microsoft.com/office/drawing/2014/main" id="{E4CE03F3-8E1E-47ED-9B5A-30E147B4A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5265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game.play('C01')</a:t>
            </a:r>
          </a:p>
        </p:txBody>
      </p:sp>
      <p:sp>
        <p:nvSpPr>
          <p:cNvPr id="5" name="card = game.first">
            <a:extLst xmlns:a="http://schemas.openxmlformats.org/drawingml/2006/main">
              <a:ext uri="{FF2B5EF4-FFF2-40B4-BE49-F238E27FC236}">
                <a16:creationId xmlns:a16="http://schemas.microsoft.com/office/drawing/2014/main" id="{D530946C-2764-44EF-9C22-2564F0A1F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4792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card = game.first</a:t>
            </a:r>
          </a:p>
        </p:txBody>
      </p:sp>
      <p:sp>
        <p:nvSpPr>
          <p:cNvPr id="6" name="print(card is game.board.cards[0])  # True">
            <a:extLst xmlns:a="http://schemas.openxmlformats.org/drawingml/2006/main">
              <a:ext uri="{FF2B5EF4-FFF2-40B4-BE49-F238E27FC236}">
                <a16:creationId xmlns:a16="http://schemas.microsoft.com/office/drawing/2014/main" id="{70DCE801-D98A-4874-8780-28E56719B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4320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print(card is game.board.cards[0])  # True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56C4A9-4E09-43AE-980A-00F9C5BE7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384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" name="new_game = Game(sample=True)">
            <a:extLst xmlns:a="http://schemas.openxmlformats.org/drawingml/2006/main">
              <a:ext uri="{FF2B5EF4-FFF2-40B4-BE49-F238E27FC236}">
                <a16:creationId xmlns:a16="http://schemas.microsoft.com/office/drawing/2014/main" id="{33C6A740-563E-4A6F-AE84-4F4F6717B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3375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new_game = Game(sample=True)</a:t>
            </a:r>
          </a:p>
        </p:txBody>
      </p:sp>
      <p:sp>
        <p:nvSpPr>
          <p:cNvPr id="9" name="print(card is new_game.board.cards[0])  # False">
            <a:extLst xmlns:a="http://schemas.openxmlformats.org/drawingml/2006/main">
              <a:ext uri="{FF2B5EF4-FFF2-40B4-BE49-F238E27FC236}">
                <a16:creationId xmlns:a16="http://schemas.microsoft.com/office/drawing/2014/main" id="{2C5F641C-C8E1-4E2E-BE35-EB394A35C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2902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print(card is new_game.board.cards[0])  # False</a:t>
            </a:r>
          </a:p>
        </p:txBody>
      </p:sp>
      <p:sp>
        <p:nvSpPr>
          <p:cNvPr id="10" name="print(card.face_up)                    # True">
            <a:extLst xmlns:a="http://schemas.openxmlformats.org/drawingml/2006/main">
              <a:ext uri="{FF2B5EF4-FFF2-40B4-BE49-F238E27FC236}">
                <a16:creationId xmlns:a16="http://schemas.microsoft.com/office/drawing/2014/main" id="{A98CC18D-CD5B-47FF-8C1A-E4ED98B12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2430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print(card.face_up)                    # True</a:t>
            </a:r>
          </a:p>
        </p:txBody>
      </p:sp>
      <p:sp>
        <p:nvSpPr>
          <p:cNvPr id="11" name="A new game creates a new Board and new Cards.">
            <a:extLst xmlns:a="http://schemas.openxmlformats.org/drawingml/2006/main">
              <a:ext uri="{FF2B5EF4-FFF2-40B4-BE49-F238E27FC236}">
                <a16:creationId xmlns:a16="http://schemas.microsoft.com/office/drawing/2014/main" id="{427929E6-DD43-41D8-9A98-F15AF9161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523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A new game creates a new Board and new Cards.</a:t>
            </a:r>
          </a:p>
        </p:txBody>
      </p:sp>
      <p:sp>
        <p:nvSpPr>
          <p:cNvPr id="12" name="The variable card can still refer to an object from the old game.">
            <a:extLst xmlns:a="http://schemas.openxmlformats.org/drawingml/2006/main">
              <a:ext uri="{FF2B5EF4-FFF2-40B4-BE49-F238E27FC236}">
                <a16:creationId xmlns:a16="http://schemas.microsoft.com/office/drawing/2014/main" id="{64F37675-A9B8-46F7-BBA1-6432A9341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905500"/>
            <a:ext cx="523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The variable card can still refer to an object from the old game.</a:t>
            </a:r>
          </a:p>
        </p:txBody>
      </p:sp>
      <p:sp>
        <p:nvSpPr>
          <p:cNvPr id="13" name="model.py">
            <a:extLst xmlns:a="http://schemas.openxmlformats.org/drawingml/2006/main">
              <a:ext uri="{FF2B5EF4-FFF2-40B4-BE49-F238E27FC236}">
                <a16:creationId xmlns:a16="http://schemas.microsoft.com/office/drawing/2014/main" id="{A24CD1F8-E29F-4AD8-8DE2-A895DC905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model.py</a:t>
            </a:r>
          </a:p>
        </p:txBody>
      </p:sp>
      <p:sp>
        <p:nvSpPr>
          <p:cNvPr id="14" name="16">
            <a:extLst xmlns:a="http://schemas.openxmlformats.org/drawingml/2006/main">
              <a:ext uri="{FF2B5EF4-FFF2-40B4-BE49-F238E27FC236}">
                <a16:creationId xmlns:a16="http://schemas.microsoft.com/office/drawing/2014/main" id="{571F9F51-4649-4A44-B5FE-E0F7AE20B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DF4FB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62808097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Run the Python example">
            <a:extLst xmlns:a="http://schemas.openxmlformats.org/drawingml/2006/main">
              <a:ext uri="{FF2B5EF4-FFF2-40B4-BE49-F238E27FC236}">
                <a16:creationId xmlns:a16="http://schemas.microsoft.com/office/drawing/2014/main" id="{13BE323D-EA02-48BA-8A79-15EF5174B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95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defPPr>
            <a:lvl1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1pPr>
            <a:lvl2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2pPr>
            <a:lvl3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3pPr>
            <a:lvl4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4pPr>
            <a:lvl5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5pPr>
            <a:lvl6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6pPr>
            <a:lvl7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7pPr>
            <a:lvl8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8pPr>
            <a:lvl9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EDF4FB"/>
                </a:solidFill>
                <a:latin typeface="Aptos"/>
                <a:ea typeface="Aptos"/>
                <a:cs typeface="Aptos"/>
              </a:rPr>
              <a:t>Run the Python example</a:t>
            </a:r>
          </a:p>
        </p:txBody>
      </p:sp>
      <p:sp>
        <p:nvSpPr>
          <p:cNvPr id="2" name="Python 3.12+, with no additional packages">
            <a:extLst xmlns:a="http://schemas.openxmlformats.org/drawingml/2006/main">
              <a:ext uri="{FF2B5EF4-FFF2-40B4-BE49-F238E27FC236}">
                <a16:creationId xmlns:a16="http://schemas.microsoft.com/office/drawing/2014/main" id="{A6BA6CDA-4BE7-4369-A51C-22B350523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62050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Python 3.12+, with no additional packages</a:t>
            </a:r>
          </a:p>
        </p:txBody>
      </p:sp>
      <p:sp>
        <p:nvSpPr>
          <p:cNvPr id="3" name="python main.py --lang en --sample">
            <a:extLst xmlns:a="http://schemas.openxmlformats.org/drawingml/2006/main">
              <a:ext uri="{FF2B5EF4-FFF2-40B4-BE49-F238E27FC236}">
                <a16:creationId xmlns:a16="http://schemas.microsoft.com/office/drawing/2014/main" id="{A8A59296-BE87-4815-9170-FB781B74F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573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python main.py --lang en --sample</a:t>
            </a:r>
          </a:p>
        </p:txBody>
      </p:sp>
      <p:sp>
        <p:nvSpPr>
          <p:cNvPr id="4" name="python -m unittest discover -s tests -v">
            <a:extLst xmlns:a="http://schemas.openxmlformats.org/drawingml/2006/main">
              <a:ext uri="{FF2B5EF4-FFF2-40B4-BE49-F238E27FC236}">
                <a16:creationId xmlns:a16="http://schemas.microsoft.com/office/drawing/2014/main" id="{9CA43EAF-B7FB-433D-9811-0702A2E0E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5265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python -m unittest discover -s tests -v</a:t>
            </a:r>
          </a:p>
        </p:txBody>
      </p:sp>
      <p:sp>
        <p:nvSpPr>
          <p:cNvPr id="5" name="Open a terminal in the extracted memory_oop folder.">
            <a:extLst xmlns:a="http://schemas.openxmlformats.org/drawingml/2006/main">
              <a:ext uri="{FF2B5EF4-FFF2-40B4-BE49-F238E27FC236}">
                <a16:creationId xmlns:a16="http://schemas.microsoft.com/office/drawing/2014/main" id="{2BF6FD79-7F7E-4B24-9841-DE99C611B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523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Open a terminal in the extracted memory_oop folder.</a:t>
            </a:r>
          </a:p>
        </p:txBody>
      </p:sp>
      <p:sp>
        <p:nvSpPr>
          <p:cNvPr id="6" name="Commands: pick C01, step, inspect C01, confirm, sample, quit.">
            <a:extLst xmlns:a="http://schemas.openxmlformats.org/drawingml/2006/main">
              <a:ext uri="{FF2B5EF4-FFF2-40B4-BE49-F238E27FC236}">
                <a16:creationId xmlns:a16="http://schemas.microsoft.com/office/drawing/2014/main" id="{91F4F7F7-2D07-426F-BF43-76E6F95BF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905500"/>
            <a:ext cx="523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Commands: pick C01, step, inspect C01, confirm, sample, quit.</a:t>
            </a:r>
          </a:p>
        </p:txBody>
      </p:sp>
      <p:sp>
        <p:nvSpPr>
          <p:cNvPr id="7" name="Terminal / PowerShell">
            <a:extLst xmlns:a="http://schemas.openxmlformats.org/drawingml/2006/main">
              <a:ext uri="{FF2B5EF4-FFF2-40B4-BE49-F238E27FC236}">
                <a16:creationId xmlns:a16="http://schemas.microsoft.com/office/drawing/2014/main" id="{842696E2-0333-4B80-B138-12C9D2A08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Terminal / PowerShell</a:t>
            </a:r>
          </a:p>
        </p:txBody>
      </p:sp>
      <p:sp>
        <p:nvSpPr>
          <p:cNvPr id="8" name="17">
            <a:extLst xmlns:a="http://schemas.openxmlformats.org/drawingml/2006/main">
              <a:ext uri="{FF2B5EF4-FFF2-40B4-BE49-F238E27FC236}">
                <a16:creationId xmlns:a16="http://schemas.microsoft.com/office/drawing/2014/main" id="{059BCBE0-0C53-4731-B7A9-B4EE383E4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DF4FB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52358680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xercises &amp; references">
            <a:extLst xmlns:a="http://schemas.openxmlformats.org/drawingml/2006/main">
              <a:ext uri="{FF2B5EF4-FFF2-40B4-BE49-F238E27FC236}">
                <a16:creationId xmlns:a16="http://schemas.microsoft.com/office/drawing/2014/main" id="{6499955B-EA0A-4D4F-8FA0-3186C5586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95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defPPr>
            <a:lvl1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1pPr>
            <a:lvl2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2pPr>
            <a:lvl3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3pPr>
            <a:lvl4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4pPr>
            <a:lvl5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5pPr>
            <a:lvl6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6pPr>
            <a:lvl7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7pPr>
            <a:lvl8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8pPr>
            <a:lvl9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72C40"/>
                </a:solidFill>
                <a:latin typeface="Aptos"/>
                <a:ea typeface="Aptos"/>
                <a:cs typeface="Aptos"/>
              </a:rPr>
              <a:t>Exercises &amp; references</a:t>
            </a:r>
          </a:p>
        </p:txBody>
      </p:sp>
      <p:sp>
        <p:nvSpPr>
          <p:cNvPr id="2" name="Check rules through observable state">
            <a:extLst xmlns:a="http://schemas.openxmlformats.org/drawingml/2006/main">
              <a:ext uri="{FF2B5EF4-FFF2-40B4-BE49-F238E27FC236}">
                <a16:creationId xmlns:a16="http://schemas.microsoft.com/office/drawing/2014/main" id="{E725DFC8-D51E-41E4-B313-304018E89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62050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5B7082"/>
                </a:solidFill>
                <a:latin typeface="Aptos"/>
                <a:ea typeface="Aptos"/>
                <a:cs typeface="Aptos"/>
              </a:rPr>
              <a:t>Check rules through observable state</a:t>
            </a:r>
          </a:p>
        </p:txBody>
      </p:sp>
      <p:sp>
        <p:nvSpPr>
          <p:cNvPr id="3" name="01">
            <a:extLst xmlns:a="http://schemas.openxmlformats.org/drawingml/2006/main">
              <a:ext uri="{FF2B5EF4-FFF2-40B4-BE49-F238E27FC236}">
                <a16:creationId xmlns:a16="http://schemas.microsoft.com/office/drawing/2014/main" id="{0927CC6C-0507-4BD5-A4CE-F95D96CF7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52625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defPPr>
            <a:lvl1pPr algn="l">
              <a:defRPr sz="247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1pPr>
            <a:lvl2pPr algn="l">
              <a:defRPr sz="247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2pPr>
            <a:lvl3pPr algn="l">
              <a:defRPr sz="247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3pPr>
            <a:lvl4pPr algn="l">
              <a:defRPr sz="247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4pPr>
            <a:lvl5pPr algn="l">
              <a:defRPr sz="247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5pPr>
            <a:lvl6pPr algn="l">
              <a:defRPr sz="247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6pPr>
            <a:lvl7pPr algn="l">
              <a:defRPr sz="247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7pPr>
            <a:lvl8pPr algn="l">
              <a:defRPr sz="247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8pPr>
            <a:lvl9pPr algn="l">
              <a:defRPr sz="247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pPr>
            <a:r>
              <a:rPr sz="2475" b="1">
                <a:solidFill>
                  <a:srgbClr val="087C62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4" name="Call hide() after matching. The card should stay face up.">
            <a:extLst xmlns:a="http://schemas.openxmlformats.org/drawingml/2006/main">
              <a:ext uri="{FF2B5EF4-FFF2-40B4-BE49-F238E27FC236}">
                <a16:creationId xmlns:a16="http://schemas.microsoft.com/office/drawing/2014/main" id="{BDC7E6E7-8038-4AB4-B260-28A7CA219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952625"/>
            <a:ext cx="9858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defPPr>
            <a:lvl1pPr algn="l">
              <a:defRPr sz="21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1pPr>
            <a:lvl2pPr algn="l">
              <a:defRPr sz="21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2pPr>
            <a:lvl3pPr algn="l">
              <a:defRPr sz="21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3pPr>
            <a:lvl4pPr algn="l">
              <a:defRPr sz="21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4pPr>
            <a:lvl5pPr algn="l">
              <a:defRPr sz="21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5pPr>
            <a:lvl6pPr algn="l">
              <a:defRPr sz="21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6pPr>
            <a:lvl7pPr algn="l">
              <a:defRPr sz="21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7pPr>
            <a:lvl8pPr algn="l">
              <a:defRPr sz="21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8pPr>
            <a:lvl9pPr algn="l">
              <a:defRPr sz="21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172C40"/>
                </a:solidFill>
                <a:latin typeface="Aptos"/>
                <a:ea typeface="Aptos"/>
                <a:cs typeface="Aptos"/>
              </a:rPr>
              <a:t>Call hide() after matching. The card should stay face up.</a:t>
            </a:r>
          </a:p>
        </p:txBody>
      </p:sp>
      <p:sp>
        <p:nvSpPr>
          <p:cNvPr id="5" name="02">
            <a:extLst xmlns:a="http://schemas.openxmlformats.org/drawingml/2006/main">
              <a:ext uri="{FF2B5EF4-FFF2-40B4-BE49-F238E27FC236}">
                <a16:creationId xmlns:a16="http://schemas.microsoft.com/office/drawing/2014/main" id="{D38B6C5B-D824-4FEB-9AFE-2F076367A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28950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defPPr>
            <a:lvl1pPr algn="l">
              <a:defRPr sz="247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1pPr>
            <a:lvl2pPr algn="l">
              <a:defRPr sz="247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2pPr>
            <a:lvl3pPr algn="l">
              <a:defRPr sz="247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3pPr>
            <a:lvl4pPr algn="l">
              <a:defRPr sz="247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4pPr>
            <a:lvl5pPr algn="l">
              <a:defRPr sz="247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5pPr>
            <a:lvl6pPr algn="l">
              <a:defRPr sz="247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6pPr>
            <a:lvl7pPr algn="l">
              <a:defRPr sz="247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7pPr>
            <a:lvl8pPr algn="l">
              <a:defRPr sz="247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8pPr>
            <a:lvl9pPr algn="l">
              <a:defRPr sz="247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pPr>
            <a:r>
              <a:rPr sz="2475" b="1">
                <a:solidFill>
                  <a:srgbClr val="087C62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Keep a card reference, start a new game, and compare identities.">
            <a:extLst xmlns:a="http://schemas.openxmlformats.org/drawingml/2006/main">
              <a:ext uri="{FF2B5EF4-FFF2-40B4-BE49-F238E27FC236}">
                <a16:creationId xmlns:a16="http://schemas.microsoft.com/office/drawing/2014/main" id="{CE53CCCE-ABD0-4C1A-94D7-EF3E9D702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028950"/>
            <a:ext cx="9858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defPPr>
            <a:lvl1pPr algn="l">
              <a:defRPr sz="21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1pPr>
            <a:lvl2pPr algn="l">
              <a:defRPr sz="21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2pPr>
            <a:lvl3pPr algn="l">
              <a:defRPr sz="21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3pPr>
            <a:lvl4pPr algn="l">
              <a:defRPr sz="21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4pPr>
            <a:lvl5pPr algn="l">
              <a:defRPr sz="21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5pPr>
            <a:lvl6pPr algn="l">
              <a:defRPr sz="21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6pPr>
            <a:lvl7pPr algn="l">
              <a:defRPr sz="21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7pPr>
            <a:lvl8pPr algn="l">
              <a:defRPr sz="21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8pPr>
            <a:lvl9pPr algn="l">
              <a:defRPr sz="21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172C40"/>
                </a:solidFill>
                <a:latin typeface="Aptos"/>
                <a:ea typeface="Aptos"/>
                <a:cs typeface="Aptos"/>
              </a:rPr>
              <a:t>Keep a card reference, start a new game, and compare identities.</a:t>
            </a:r>
          </a:p>
        </p:txBody>
      </p:sp>
      <p:sp>
        <p:nvSpPr>
          <p:cNvPr id="7" name="03">
            <a:extLst xmlns:a="http://schemas.openxmlformats.org/drawingml/2006/main">
              <a:ext uri="{FF2B5EF4-FFF2-40B4-BE49-F238E27FC236}">
                <a16:creationId xmlns:a16="http://schemas.microsoft.com/office/drawing/2014/main" id="{608E8944-AB38-475B-980B-3786CF187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05275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defPPr>
            <a:lvl1pPr algn="l">
              <a:defRPr sz="247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1pPr>
            <a:lvl2pPr algn="l">
              <a:defRPr sz="247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2pPr>
            <a:lvl3pPr algn="l">
              <a:defRPr sz="247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3pPr>
            <a:lvl4pPr algn="l">
              <a:defRPr sz="247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4pPr>
            <a:lvl5pPr algn="l">
              <a:defRPr sz="247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5pPr>
            <a:lvl6pPr algn="l">
              <a:defRPr sz="247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6pPr>
            <a:lvl7pPr algn="l">
              <a:defRPr sz="247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7pPr>
            <a:lvl8pPr algn="l">
              <a:defRPr sz="247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8pPr>
            <a:lvl9pPr algn="l">
              <a:defRPr sz="247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pPr>
            <a:r>
              <a:rPr sz="2475" b="1">
                <a:solidFill>
                  <a:srgbClr val="087C62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8" name="Compare languages: === checks object identity in the web version; Pyth">
            <a:extLst xmlns:a="http://schemas.openxmlformats.org/drawingml/2006/main">
              <a:ext uri="{FF2B5EF4-FFF2-40B4-BE49-F238E27FC236}">
                <a16:creationId xmlns:a16="http://schemas.microsoft.com/office/drawing/2014/main" id="{E06A289A-8C0B-4DF2-914E-6B4ECAF7D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105275"/>
            <a:ext cx="9858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defPPr>
            <a:lvl1pPr algn="l">
              <a:defRPr sz="21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1pPr>
            <a:lvl2pPr algn="l">
              <a:defRPr sz="21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2pPr>
            <a:lvl3pPr algn="l">
              <a:defRPr sz="21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3pPr>
            <a:lvl4pPr algn="l">
              <a:defRPr sz="21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4pPr>
            <a:lvl5pPr algn="l">
              <a:defRPr sz="21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5pPr>
            <a:lvl6pPr algn="l">
              <a:defRPr sz="21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6pPr>
            <a:lvl7pPr algn="l">
              <a:defRPr sz="21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7pPr>
            <a:lvl8pPr algn="l">
              <a:defRPr sz="21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8pPr>
            <a:lvl9pPr algn="l">
              <a:defRPr sz="21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172C40"/>
                </a:solidFill>
                <a:latin typeface="Aptos"/>
                <a:ea typeface="Aptos"/>
                <a:cs typeface="Aptos"/>
              </a:rPr>
              <a:t>Compare languages: === checks object identity in the web version; Python uses is.</a:t>
            </a:r>
          </a:p>
        </p:txBody>
      </p:sp>
      <p:sp>
        <p:nvSpPr>
          <p:cNvPr id="9" name="Python · Classes  https://docs.python.org/3.12/tutorial/classes.html">
            <a:extLst xmlns:a="http://schemas.openxmlformats.org/drawingml/2006/main">
              <a:ext uri="{FF2B5EF4-FFF2-40B4-BE49-F238E27FC236}">
                <a16:creationId xmlns:a16="http://schemas.microsoft.com/office/drawing/2014/main" id="{0B4F5B82-7B5D-4D58-9B16-9456ADA80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76875"/>
            <a:ext cx="1095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087C62"/>
                </a:solidFill>
                <a:latin typeface="Aptos"/>
                <a:ea typeface="Aptos"/>
                <a:cs typeface="Aptos"/>
              </a:defRPr>
            </a:defPPr>
            <a:lvl1pPr algn="l">
              <a:defRPr sz="1500" b="0">
                <a:solidFill>
                  <a:srgbClr val="087C62"/>
                </a:solidFill>
                <a:latin typeface="Aptos"/>
                <a:ea typeface="Aptos"/>
                <a:cs typeface="Aptos"/>
              </a:defRPr>
            </a:lvl1pPr>
            <a:lvl2pPr algn="l">
              <a:defRPr sz="1500" b="0">
                <a:solidFill>
                  <a:srgbClr val="087C62"/>
                </a:solidFill>
                <a:latin typeface="Aptos"/>
                <a:ea typeface="Aptos"/>
                <a:cs typeface="Aptos"/>
              </a:defRPr>
            </a:lvl2pPr>
            <a:lvl3pPr algn="l">
              <a:defRPr sz="1500" b="0">
                <a:solidFill>
                  <a:srgbClr val="087C62"/>
                </a:solidFill>
                <a:latin typeface="Aptos"/>
                <a:ea typeface="Aptos"/>
                <a:cs typeface="Aptos"/>
              </a:defRPr>
            </a:lvl3pPr>
            <a:lvl4pPr algn="l">
              <a:defRPr sz="1500" b="0">
                <a:solidFill>
                  <a:srgbClr val="087C62"/>
                </a:solidFill>
                <a:latin typeface="Aptos"/>
                <a:ea typeface="Aptos"/>
                <a:cs typeface="Aptos"/>
              </a:defRPr>
            </a:lvl4pPr>
            <a:lvl5pPr algn="l">
              <a:defRPr sz="1500" b="0">
                <a:solidFill>
                  <a:srgbClr val="087C62"/>
                </a:solidFill>
                <a:latin typeface="Aptos"/>
                <a:ea typeface="Aptos"/>
                <a:cs typeface="Aptos"/>
              </a:defRPr>
            </a:lvl5pPr>
            <a:lvl6pPr algn="l">
              <a:defRPr sz="1500" b="0">
                <a:solidFill>
                  <a:srgbClr val="087C62"/>
                </a:solidFill>
                <a:latin typeface="Aptos"/>
                <a:ea typeface="Aptos"/>
                <a:cs typeface="Aptos"/>
              </a:defRPr>
            </a:lvl6pPr>
            <a:lvl7pPr algn="l">
              <a:defRPr sz="1500" b="0">
                <a:solidFill>
                  <a:srgbClr val="087C62"/>
                </a:solidFill>
                <a:latin typeface="Aptos"/>
                <a:ea typeface="Aptos"/>
                <a:cs typeface="Aptos"/>
              </a:defRPr>
            </a:lvl7pPr>
            <a:lvl8pPr algn="l">
              <a:defRPr sz="1500" b="0">
                <a:solidFill>
                  <a:srgbClr val="087C62"/>
                </a:solidFill>
                <a:latin typeface="Aptos"/>
                <a:ea typeface="Aptos"/>
                <a:cs typeface="Aptos"/>
              </a:defRPr>
            </a:lvl8pPr>
            <a:lvl9pPr algn="l">
              <a:defRPr sz="1500" b="0">
                <a:solidFill>
                  <a:srgbClr val="087C6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087C6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87C62"/>
                </a:solidFill>
                <a:latin typeface="Aptos"/>
                <a:ea typeface="Aptos"/>
                <a:cs typeface="Aptos"/>
              </a:rPr>
              <a:t>Python · Classes  </a:t>
            </a:r>
            <a:r>
              <a:rPr sz="1500" b="0">
                <a:solidFill>
                  <a:srgbClr val="087C62"/>
                </a:solidFill>
                <a:latin typeface="Aptos"/>
                <a:ea typeface="Aptos"/>
                <a:cs typeface="Aptos"/>
                <a:hlinkClick xmlns:r="http://schemas.openxmlformats.org/officeDocument/2006/relationships" r:id="R2cf6d8e4221743d3"/>
              </a:rPr>
              <a:t>https://docs.python.org/3.12/tutorial/classes.html</a:t>
            </a:r>
          </a:p>
        </p:txBody>
      </p:sp>
      <p:sp>
        <p:nvSpPr>
          <p:cNvPr id="10" name="Python · Identity  https://docs.python.org/3.12/reference/expressions.">
            <a:extLst xmlns:a="http://schemas.openxmlformats.org/drawingml/2006/main">
              <a:ext uri="{FF2B5EF4-FFF2-40B4-BE49-F238E27FC236}">
                <a16:creationId xmlns:a16="http://schemas.microsoft.com/office/drawing/2014/main" id="{EB2325B0-2F98-482F-A213-401FF5A6F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24550"/>
            <a:ext cx="1095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087C62"/>
                </a:solidFill>
                <a:latin typeface="Aptos"/>
                <a:ea typeface="Aptos"/>
                <a:cs typeface="Aptos"/>
              </a:defRPr>
            </a:defPPr>
            <a:lvl1pPr algn="l">
              <a:defRPr sz="1500" b="0">
                <a:solidFill>
                  <a:srgbClr val="087C62"/>
                </a:solidFill>
                <a:latin typeface="Aptos"/>
                <a:ea typeface="Aptos"/>
                <a:cs typeface="Aptos"/>
              </a:defRPr>
            </a:lvl1pPr>
            <a:lvl2pPr algn="l">
              <a:defRPr sz="1500" b="0">
                <a:solidFill>
                  <a:srgbClr val="087C62"/>
                </a:solidFill>
                <a:latin typeface="Aptos"/>
                <a:ea typeface="Aptos"/>
                <a:cs typeface="Aptos"/>
              </a:defRPr>
            </a:lvl2pPr>
            <a:lvl3pPr algn="l">
              <a:defRPr sz="1500" b="0">
                <a:solidFill>
                  <a:srgbClr val="087C62"/>
                </a:solidFill>
                <a:latin typeface="Aptos"/>
                <a:ea typeface="Aptos"/>
                <a:cs typeface="Aptos"/>
              </a:defRPr>
            </a:lvl3pPr>
            <a:lvl4pPr algn="l">
              <a:defRPr sz="1500" b="0">
                <a:solidFill>
                  <a:srgbClr val="087C62"/>
                </a:solidFill>
                <a:latin typeface="Aptos"/>
                <a:ea typeface="Aptos"/>
                <a:cs typeface="Aptos"/>
              </a:defRPr>
            </a:lvl4pPr>
            <a:lvl5pPr algn="l">
              <a:defRPr sz="1500" b="0">
                <a:solidFill>
                  <a:srgbClr val="087C62"/>
                </a:solidFill>
                <a:latin typeface="Aptos"/>
                <a:ea typeface="Aptos"/>
                <a:cs typeface="Aptos"/>
              </a:defRPr>
            </a:lvl5pPr>
            <a:lvl6pPr algn="l">
              <a:defRPr sz="1500" b="0">
                <a:solidFill>
                  <a:srgbClr val="087C62"/>
                </a:solidFill>
                <a:latin typeface="Aptos"/>
                <a:ea typeface="Aptos"/>
                <a:cs typeface="Aptos"/>
              </a:defRPr>
            </a:lvl6pPr>
            <a:lvl7pPr algn="l">
              <a:defRPr sz="1500" b="0">
                <a:solidFill>
                  <a:srgbClr val="087C62"/>
                </a:solidFill>
                <a:latin typeface="Aptos"/>
                <a:ea typeface="Aptos"/>
                <a:cs typeface="Aptos"/>
              </a:defRPr>
            </a:lvl7pPr>
            <a:lvl8pPr algn="l">
              <a:defRPr sz="1500" b="0">
                <a:solidFill>
                  <a:srgbClr val="087C62"/>
                </a:solidFill>
                <a:latin typeface="Aptos"/>
                <a:ea typeface="Aptos"/>
                <a:cs typeface="Aptos"/>
              </a:defRPr>
            </a:lvl8pPr>
            <a:lvl9pPr algn="l">
              <a:defRPr sz="1500" b="0">
                <a:solidFill>
                  <a:srgbClr val="087C6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087C6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87C62"/>
                </a:solidFill>
                <a:latin typeface="Aptos"/>
                <a:ea typeface="Aptos"/>
                <a:cs typeface="Aptos"/>
              </a:rPr>
              <a:t>Python · Identity  </a:t>
            </a:r>
            <a:r>
              <a:rPr sz="1500" b="0">
                <a:solidFill>
                  <a:srgbClr val="087C62"/>
                </a:solidFill>
                <a:latin typeface="Aptos"/>
                <a:ea typeface="Aptos"/>
                <a:cs typeface="Aptos"/>
                <a:hlinkClick xmlns:r="http://schemas.openxmlformats.org/officeDocument/2006/relationships" r:id="R83012c670f524908"/>
              </a:rPr>
              <a:t>https://docs.python.org/3.12/reference/expressions.html#is-not</a:t>
            </a:r>
          </a:p>
        </p:txBody>
      </p:sp>
      <p:sp>
        <p:nvSpPr>
          <p:cNvPr id="11" name="18">
            <a:extLst xmlns:a="http://schemas.openxmlformats.org/drawingml/2006/main">
              <a:ext uri="{FF2B5EF4-FFF2-40B4-BE49-F238E27FC236}">
                <a16:creationId xmlns:a16="http://schemas.microsoft.com/office/drawing/2014/main" id="{0B058AB1-1BD4-47C2-A5F7-C51FF0D9E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7082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5569707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2026-10-21T01:51:25.1430000Z</dcterms:created>
  <dcterms:modified xsi:type="dcterms:W3CDTF">2026-10-21T01:51:25.1430000Z</dcterms:modified>
</coreProperties>
</file>