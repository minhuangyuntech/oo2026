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eba09381ce4850" /><Relationship Type="http://schemas.openxmlformats.org/officeDocument/2006/relationships/extended-properties" Target="/docProps/app.xml" Id="Race5481874e04858" /><Relationship Type="http://schemas.openxmlformats.org/officeDocument/2006/relationships/officeDocument" Target="/ppt/presentation.xml" Id="R0cd76736858e4e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d935e0b02f4046"/>
  </p:sldMasterIdLst>
  <p:notesMasterIdLst>
    <p:notesMasterId xmlns:r="http://schemas.openxmlformats.org/officeDocument/2006/relationships" r:id="R34cd434182714db3"/>
  </p:notesMasterIdLst>
  <p:sldIdLst>
    <p:sldId xmlns:r="http://schemas.openxmlformats.org/officeDocument/2006/relationships" id="256" r:id="R13a942a943684846"/>
    <p:sldId xmlns:r="http://schemas.openxmlformats.org/officeDocument/2006/relationships" id="257" r:id="R9c6dbe3d95d24c48"/>
    <p:sldId xmlns:r="http://schemas.openxmlformats.org/officeDocument/2006/relationships" id="258" r:id="Rb903782be83a467a"/>
    <p:sldId xmlns:r="http://schemas.openxmlformats.org/officeDocument/2006/relationships" id="259" r:id="Rc57e01218ddf420c"/>
    <p:sldId xmlns:r="http://schemas.openxmlformats.org/officeDocument/2006/relationships" id="260" r:id="Rb3656752f867428f"/>
    <p:sldId xmlns:r="http://schemas.openxmlformats.org/officeDocument/2006/relationships" id="261" r:id="R9e597634814d43b3"/>
    <p:sldId xmlns:r="http://schemas.openxmlformats.org/officeDocument/2006/relationships" id="262" r:id="R8d9a33a5a03944d5"/>
    <p:sldId xmlns:r="http://schemas.openxmlformats.org/officeDocument/2006/relationships" id="263" r:id="R9e93affdac0e4786"/>
    <p:sldId xmlns:r="http://schemas.openxmlformats.org/officeDocument/2006/relationships" id="264" r:id="Rbb5d825ff6bf45d9"/>
    <p:sldId xmlns:r="http://schemas.openxmlformats.org/officeDocument/2006/relationships" id="265" r:id="R5b39d85e89a542be"/>
    <p:sldId xmlns:r="http://schemas.openxmlformats.org/officeDocument/2006/relationships" id="266" r:id="Rcaffc47ac11343af"/>
    <p:sldId xmlns:r="http://schemas.openxmlformats.org/officeDocument/2006/relationships" id="267" r:id="Raae15063069f40dd"/>
    <p:sldId xmlns:r="http://schemas.openxmlformats.org/officeDocument/2006/relationships" id="268" r:id="Rb0bd933836be4992"/>
    <p:sldId xmlns:r="http://schemas.openxmlformats.org/officeDocument/2006/relationships" id="269" r:id="Rdcb4200b7ef14a80"/>
    <p:sldId xmlns:r="http://schemas.openxmlformats.org/officeDocument/2006/relationships" id="270" r:id="R17d485a4bc504ed6"/>
    <p:sldId xmlns:r="http://schemas.openxmlformats.org/officeDocument/2006/relationships" id="271" r:id="R54406fa92c5c4b14"/>
    <p:sldId xmlns:r="http://schemas.openxmlformats.org/officeDocument/2006/relationships" id="272" r:id="R0f39a75318c24417"/>
    <p:sldId xmlns:r="http://schemas.openxmlformats.org/officeDocument/2006/relationships" id="273" r:id="R81b46ea7b8114fd8"/>
    <p:sldId xmlns:r="http://schemas.openxmlformats.org/officeDocument/2006/relationships" id="274" r:id="Re19c25b21f1c47b8"/>
    <p:sldId xmlns:r="http://schemas.openxmlformats.org/officeDocument/2006/relationships" id="275" r:id="Rfd521280df19494a"/>
    <p:sldId xmlns:r="http://schemas.openxmlformats.org/officeDocument/2006/relationships" id="276" r:id="Re6f4742adaf1430e"/>
    <p:sldId xmlns:r="http://schemas.openxmlformats.org/officeDocument/2006/relationships" id="277" r:id="Rc51d0c3aebc54584"/>
    <p:sldId xmlns:r="http://schemas.openxmlformats.org/officeDocument/2006/relationships" id="278" r:id="R4bc4a164c02d446e"/>
    <p:sldId xmlns:r="http://schemas.openxmlformats.org/officeDocument/2006/relationships" id="279" r:id="Rdf0dbffa3dcd4356"/>
    <p:sldId xmlns:r="http://schemas.openxmlformats.org/officeDocument/2006/relationships" id="280" r:id="Rfaf23f5e269b4c31"/>
    <p:sldId xmlns:r="http://schemas.openxmlformats.org/officeDocument/2006/relationships" id="281" r:id="Rda7edc09166b4030"/>
    <p:sldId xmlns:r="http://schemas.openxmlformats.org/officeDocument/2006/relationships" id="282" r:id="Rf787ac1455f147a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27269a8db343a9" /><Relationship Type="http://schemas.openxmlformats.org/officeDocument/2006/relationships/slideMaster" Target="/ppt/slideMasters/slideMaster1.xml" Id="Rb7d935e0b02f4046" /><Relationship Type="http://schemas.openxmlformats.org/officeDocument/2006/relationships/notesMaster" Target="/ppt/notesMasters/notesMaster1.xml" Id="R34cd434182714db3" /><Relationship Type="http://schemas.openxmlformats.org/officeDocument/2006/relationships/presProps" Target="/ppt/presProps.xml" Id="Rb6235b80fde747b4" /><Relationship Type="http://schemas.openxmlformats.org/officeDocument/2006/relationships/tableStyles" Target="/ppt/tableStyles.xml" Id="Rcf527f21bcfb4375" /><Relationship Type="http://schemas.openxmlformats.org/officeDocument/2006/relationships/slide" Target="/ppt/slides/slide1.xml" Id="R13a942a943684846" /><Relationship Type="http://schemas.openxmlformats.org/officeDocument/2006/relationships/slide" Target="/ppt/slides/slide2.xml" Id="R9c6dbe3d95d24c48" /><Relationship Type="http://schemas.openxmlformats.org/officeDocument/2006/relationships/slide" Target="/ppt/slides/slide3.xml" Id="Rb903782be83a467a" /><Relationship Type="http://schemas.openxmlformats.org/officeDocument/2006/relationships/slide" Target="/ppt/slides/slide4.xml" Id="Rc57e01218ddf420c" /><Relationship Type="http://schemas.openxmlformats.org/officeDocument/2006/relationships/slide" Target="/ppt/slides/slide5.xml" Id="Rb3656752f867428f" /><Relationship Type="http://schemas.openxmlformats.org/officeDocument/2006/relationships/slide" Target="/ppt/slides/slide6.xml" Id="R9e597634814d43b3" /><Relationship Type="http://schemas.openxmlformats.org/officeDocument/2006/relationships/slide" Target="/ppt/slides/slide7.xml" Id="R8d9a33a5a03944d5" /><Relationship Type="http://schemas.openxmlformats.org/officeDocument/2006/relationships/slide" Target="/ppt/slides/slide8.xml" Id="R9e93affdac0e4786" /><Relationship Type="http://schemas.openxmlformats.org/officeDocument/2006/relationships/slide" Target="/ppt/slides/slide9.xml" Id="Rbb5d825ff6bf45d9" /><Relationship Type="http://schemas.openxmlformats.org/officeDocument/2006/relationships/slide" Target="/ppt/slides/slide10.xml" Id="R5b39d85e89a542be" /><Relationship Type="http://schemas.openxmlformats.org/officeDocument/2006/relationships/slide" Target="/ppt/slides/slide11.xml" Id="Rcaffc47ac11343af" /><Relationship Type="http://schemas.openxmlformats.org/officeDocument/2006/relationships/slide" Target="/ppt/slides/slide12.xml" Id="Raae15063069f40dd" /><Relationship Type="http://schemas.openxmlformats.org/officeDocument/2006/relationships/slide" Target="/ppt/slides/slide13.xml" Id="Rb0bd933836be4992" /><Relationship Type="http://schemas.openxmlformats.org/officeDocument/2006/relationships/slide" Target="/ppt/slides/slide14.xml" Id="Rdcb4200b7ef14a80" /><Relationship Type="http://schemas.openxmlformats.org/officeDocument/2006/relationships/slide" Target="/ppt/slides/slide15.xml" Id="R17d485a4bc504ed6" /><Relationship Type="http://schemas.openxmlformats.org/officeDocument/2006/relationships/slide" Target="/ppt/slides/slide16.xml" Id="R54406fa92c5c4b14" /><Relationship Type="http://schemas.openxmlformats.org/officeDocument/2006/relationships/slide" Target="/ppt/slides/slide17.xml" Id="R0f39a75318c24417" /><Relationship Type="http://schemas.openxmlformats.org/officeDocument/2006/relationships/slide" Target="/ppt/slides/slide18.xml" Id="R81b46ea7b8114fd8" /><Relationship Type="http://schemas.openxmlformats.org/officeDocument/2006/relationships/slide" Target="/ppt/slides/slide19.xml" Id="Re19c25b21f1c47b8" /><Relationship Type="http://schemas.openxmlformats.org/officeDocument/2006/relationships/slide" Target="/ppt/slides/slide20.xml" Id="Rfd521280df19494a" /><Relationship Type="http://schemas.openxmlformats.org/officeDocument/2006/relationships/slide" Target="/ppt/slides/slide21.xml" Id="Re6f4742adaf1430e" /><Relationship Type="http://schemas.openxmlformats.org/officeDocument/2006/relationships/slide" Target="/ppt/slides/slide22.xml" Id="Rc51d0c3aebc54584" /><Relationship Type="http://schemas.openxmlformats.org/officeDocument/2006/relationships/slide" Target="/ppt/slides/slide23.xml" Id="R4bc4a164c02d446e" /><Relationship Type="http://schemas.openxmlformats.org/officeDocument/2006/relationships/slide" Target="/ppt/slides/slide24.xml" Id="Rdf0dbffa3dcd4356" /><Relationship Type="http://schemas.openxmlformats.org/officeDocument/2006/relationships/slide" Target="/ppt/slides/slide25.xml" Id="Rfaf23f5e269b4c31" /><Relationship Type="http://schemas.openxmlformats.org/officeDocument/2006/relationships/slide" Target="/ppt/slides/slide26.xml" Id="Rda7edc09166b4030" /><Relationship Type="http://schemas.openxmlformats.org/officeDocument/2006/relationships/slide" Target="/ppt/slides/slide27.xml" Id="Rf787ac1455f147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f933f3305349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52dbfd9996c428b" /><Relationship Type="http://schemas.openxmlformats.org/officeDocument/2006/relationships/notesMaster" Target="/ppt/notesMasters/notesMaster1.xml" Id="R57c60a08b4ee4a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7f922774504914" /><Relationship Type="http://schemas.openxmlformats.org/officeDocument/2006/relationships/notesMaster" Target="/ppt/notesMasters/notesMaster1.xml" Id="Ra7d99a9dcf424a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3cdc09fba0465d" /><Relationship Type="http://schemas.openxmlformats.org/officeDocument/2006/relationships/notesMaster" Target="/ppt/notesMasters/notesMaster1.xml" Id="R0ac2ff88d9b74f3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e2e225404441f0" /><Relationship Type="http://schemas.openxmlformats.org/officeDocument/2006/relationships/notesMaster" Target="/ppt/notesMasters/notesMaster1.xml" Id="R40032abe73994d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2e6c15ed774020" /><Relationship Type="http://schemas.openxmlformats.org/officeDocument/2006/relationships/notesMaster" Target="/ppt/notesMasters/notesMaster1.xml" Id="R2bfc8004fbf448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43d6a394324efd" /><Relationship Type="http://schemas.openxmlformats.org/officeDocument/2006/relationships/notesMaster" Target="/ppt/notesMasters/notesMaster1.xml" Id="Re3d0f4268fe646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e7c02c1f24710" /><Relationship Type="http://schemas.openxmlformats.org/officeDocument/2006/relationships/notesMaster" Target="/ppt/notesMasters/notesMaster1.xml" Id="R0ee9b91318df47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96fcc9f2fa47f9" /><Relationship Type="http://schemas.openxmlformats.org/officeDocument/2006/relationships/notesMaster" Target="/ppt/notesMasters/notesMaster1.xml" Id="R5852580d4c324d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03ea8172c54375" /><Relationship Type="http://schemas.openxmlformats.org/officeDocument/2006/relationships/notesMaster" Target="/ppt/notesMasters/notesMaster1.xml" Id="R2619fd7b00604a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5bcf0b7bc784bd2" /><Relationship Type="http://schemas.openxmlformats.org/officeDocument/2006/relationships/notesMaster" Target="/ppt/notesMasters/notesMaster1.xml" Id="R41863285327b46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b9c6ae08054994" /><Relationship Type="http://schemas.openxmlformats.org/officeDocument/2006/relationships/notesMaster" Target="/ppt/notesMasters/notesMaster1.xml" Id="R3a1f9736339e4e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91dbe7e170407d" /><Relationship Type="http://schemas.openxmlformats.org/officeDocument/2006/relationships/notesMaster" Target="/ppt/notesMasters/notesMaster1.xml" Id="R325912ffb16a496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f9297f6d4a44e9c" /><Relationship Type="http://schemas.openxmlformats.org/officeDocument/2006/relationships/notesMaster" Target="/ppt/notesMasters/notesMaster1.xml" Id="Rd0f5807c389342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6e746017ff47a0" /><Relationship Type="http://schemas.openxmlformats.org/officeDocument/2006/relationships/notesMaster" Target="/ppt/notesMasters/notesMaster1.xml" Id="R63bb916d9d544a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ab69434035411d" /><Relationship Type="http://schemas.openxmlformats.org/officeDocument/2006/relationships/notesMaster" Target="/ppt/notesMasters/notesMaster1.xml" Id="R9fbb57d714cd49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e1025e8c8a044ce" /><Relationship Type="http://schemas.openxmlformats.org/officeDocument/2006/relationships/notesMaster" Target="/ppt/notesMasters/notesMaster1.xml" Id="Rdb71d679b5f34eb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63689383444e9b" /><Relationship Type="http://schemas.openxmlformats.org/officeDocument/2006/relationships/notesMaster" Target="/ppt/notesMasters/notesMaster1.xml" Id="Rf662f9e4c6184b7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7852c6c7e64f4a" /><Relationship Type="http://schemas.openxmlformats.org/officeDocument/2006/relationships/notesMaster" Target="/ppt/notesMasters/notesMaster1.xml" Id="R3fbae172379442a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0b18c8830246f1" /><Relationship Type="http://schemas.openxmlformats.org/officeDocument/2006/relationships/notesMaster" Target="/ppt/notesMasters/notesMaster1.xml" Id="R9d203747e54e42d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3b3f6005a4a4cf6" /><Relationship Type="http://schemas.openxmlformats.org/officeDocument/2006/relationships/notesMaster" Target="/ppt/notesMasters/notesMaster1.xml" Id="Rb2fdb1b75445417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5a1812bc7df4d28" /><Relationship Type="http://schemas.openxmlformats.org/officeDocument/2006/relationships/notesMaster" Target="/ppt/notesMasters/notesMaster1.xml" Id="Rd8af7842ae4f4b5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5907ac0a105432e" /><Relationship Type="http://schemas.openxmlformats.org/officeDocument/2006/relationships/notesMaster" Target="/ppt/notesMasters/notesMaster1.xml" Id="R46499004eaaa44f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3f7fce3f9d84f8b" /><Relationship Type="http://schemas.openxmlformats.org/officeDocument/2006/relationships/notesMaster" Target="/ppt/notesMasters/notesMaster1.xml" Id="R7427d537885c4fb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7147286fb7343bc" /><Relationship Type="http://schemas.openxmlformats.org/officeDocument/2006/relationships/notesMaster" Target="/ppt/notesMasters/notesMaster1.xml" Id="R3497c9f077d645d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e6c336e5ea14f69" /><Relationship Type="http://schemas.openxmlformats.org/officeDocument/2006/relationships/notesMaster" Target="/ppt/notesMasters/notesMaster1.xml" Id="R7a2e82fe55ae49c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736361ee0cd4d5c" /><Relationship Type="http://schemas.openxmlformats.org/officeDocument/2006/relationships/notesMaster" Target="/ppt/notesMasters/notesMaster1.xml" Id="R68569ece5cb9454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d10df8b9175470c" /><Relationship Type="http://schemas.openxmlformats.org/officeDocument/2006/relationships/notesMaster" Target="/ppt/notesMasters/notesMaster1.xml" Id="R229285e281f846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  <a:p xmlns:a="http://schemas.openxmlformats.org/drawingml/2006/main">
            <a:r>
              <a:t>https://docs.python.org/3.12/tutorial/classes.html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https://minhuangyuntech.github.io/oo2026/en/memory/play/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https://pypi.org/project/pygame/2.6.1/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https://www.pygame.org/docs/ref/rect.html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https://www.pygame.org/docs/ref/event.html</a:t>
            </a:r>
          </a:p>
          <a:p xmlns:a="http://schemas.openxmlformats.org/drawingml/2006/main">
            <a:r>
              <a:t>https://www.pygame.org/docs/ref/display.html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https://docs.python.org/3.12/reference/expressions.html#is-not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9506c79ef142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76bf8c67a41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073011873440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ddb9f6f1b8439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de3c10bda480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cf618c01f841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C76E5E-D0DB-47F7-A706-748F57814C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0B11730-A6C6-4DE7-A9E4-4C449939278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8C255F1-B2AC-4484-AE24-5C217F742E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5C5AE9-E488-421E-9BC0-53074FE0D1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0E34E2B-AC74-4FF0-967E-0CDA3B97E8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E6C65C-370B-48ED-912F-5A1B71B466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F40E23E-DD0B-4AED-A482-6BD93A5C6D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5C29ABC-D1FE-4845-AF30-A8160B6C1E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6AD834-E3D2-454F-B13E-2136C4125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1E823A-8985-44D3-93D9-BE58B1E6D0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c9fcee321c44b5" /><Relationship Type="http://schemas.openxmlformats.org/officeDocument/2006/relationships/slideLayout" Target="/ppt/slideLayouts/slideLayout1.xml" Id="R17511d19b13c4f04" /><Relationship Type="http://schemas.openxmlformats.org/officeDocument/2006/relationships/slideLayout" Target="/ppt/slideLayouts/slideLayout2.xml" Id="R5e3a000e87184fdd" /><Relationship Type="http://schemas.openxmlformats.org/officeDocument/2006/relationships/slideLayout" Target="/ppt/slideLayouts/slideLayout3.xml" Id="R820db72e7abd4639" /><Relationship Type="http://schemas.openxmlformats.org/officeDocument/2006/relationships/slideLayout" Target="/ppt/slideLayouts/slideLayout4.xml" Id="Reb4272ee80dd46e9" /><Relationship Type="http://schemas.openxmlformats.org/officeDocument/2006/relationships/slideLayout" Target="/ppt/slideLayouts/slideLayout5.xml" Id="R8659cd3fc7df42a5" /><Relationship Type="http://schemas.openxmlformats.org/officeDocument/2006/relationships/slideLayout" Target="/ppt/slideLayouts/slideLayout6.xml" Id="R21242c04958242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511d19b13c4f04"/>
    <p:sldLayoutId xmlns:r="http://schemas.openxmlformats.org/officeDocument/2006/relationships" id="2147483650" r:id="R5e3a000e87184fdd"/>
    <p:sldLayoutId xmlns:r="http://schemas.openxmlformats.org/officeDocument/2006/relationships" id="2147483651" r:id="R820db72e7abd4639"/>
    <p:sldLayoutId xmlns:r="http://schemas.openxmlformats.org/officeDocument/2006/relationships" id="2147483652" r:id="Reb4272ee80dd46e9"/>
    <p:sldLayoutId xmlns:r="http://schemas.openxmlformats.org/officeDocument/2006/relationships" id="2147483653" r:id="R8659cd3fc7df42a5"/>
    <p:sldLayoutId xmlns:r="http://schemas.openxmlformats.org/officeDocument/2006/relationships" id="2147483654" r:id="R21242c04958242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e1bc2f2aa64bd2" /><Relationship Type="http://schemas.openxmlformats.org/officeDocument/2006/relationships/hyperlink" Target="https://minhuangyuntech.github.io/oo2026/en/memory/play/" TargetMode="External" Id="R2507baedcd4a43f8" /><Relationship Type="http://schemas.openxmlformats.org/officeDocument/2006/relationships/notesSlide" Target="/ppt/notesSlides/notesSlide1.xml" Id="R9905332291bd44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49e675e011464b" /><Relationship Type="http://schemas.openxmlformats.org/officeDocument/2006/relationships/image" Target="/ppt/media/image.jpeg" Id="R770df07c73f34a26" /><Relationship Type="http://schemas.openxmlformats.org/officeDocument/2006/relationships/hyperlink" Target="https://minhuangyuntech.github.io/oo2026/en/memory/play/" TargetMode="External" Id="Rf8290fb5aa8f42cc" /><Relationship Type="http://schemas.openxmlformats.org/officeDocument/2006/relationships/hyperlink" Target="https://minhuangyuntech.github.io/oo2026/en/memory/play/" TargetMode="External" Id="R5847b156740440f1" /><Relationship Type="http://schemas.openxmlformats.org/officeDocument/2006/relationships/notesSlide" Target="/ppt/notesSlides/notesSlide2.xml" Id="R1a5c5004991f44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30739df98a4a57" /><Relationship Type="http://schemas.openxmlformats.org/officeDocument/2006/relationships/notesSlide" Target="/ppt/notesSlides/notesSlide3.xml" Id="R734bee26fa0e4d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0ad509a2b4449b" /><Relationship Type="http://schemas.openxmlformats.org/officeDocument/2006/relationships/notesSlide" Target="/ppt/notesSlides/notesSlide4.xml" Id="R602b53235c5840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f1db7200754912" /><Relationship Type="http://schemas.openxmlformats.org/officeDocument/2006/relationships/notesSlide" Target="/ppt/notesSlides/notesSlide5.xml" Id="Rc70e91ed549c40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fb05ed18354ff8" /><Relationship Type="http://schemas.openxmlformats.org/officeDocument/2006/relationships/notesSlide" Target="/ppt/notesSlides/notesSlide6.xml" Id="R530a5633f34e49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fff4179094475e" /><Relationship Type="http://schemas.openxmlformats.org/officeDocument/2006/relationships/notesSlide" Target="/ppt/notesSlides/notesSlide7.xml" Id="R12c0f22ffb1e4a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e4c19324de4ee2" /><Relationship Type="http://schemas.openxmlformats.org/officeDocument/2006/relationships/notesSlide" Target="/ppt/notesSlides/notesSlide8.xml" Id="Rd304567e9c8b43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c956b41a274b2e" /><Relationship Type="http://schemas.openxmlformats.org/officeDocument/2006/relationships/notesSlide" Target="/ppt/notesSlides/notesSlide9.xml" Id="R3dd8d237f261436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951de8e94a4720" /><Relationship Type="http://schemas.openxmlformats.org/officeDocument/2006/relationships/notesSlide" Target="/ppt/notesSlides/notesSlide10.xml" Id="Rba13b50bd6504a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e9be686c134152" /><Relationship Type="http://schemas.openxmlformats.org/officeDocument/2006/relationships/notesSlide" Target="/ppt/notesSlides/notesSlide11.xml" Id="R8668ae8b98a0497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245cc381154eaa" /><Relationship Type="http://schemas.openxmlformats.org/officeDocument/2006/relationships/notesSlide" Target="/ppt/notesSlides/notesSlide12.xml" Id="Re76c1bacb056419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eafc253504ae8" /><Relationship Type="http://schemas.openxmlformats.org/officeDocument/2006/relationships/notesSlide" Target="/ppt/notesSlides/notesSlide13.xml" Id="R8e48d21db0514a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ddbaf33a6648d7" /><Relationship Type="http://schemas.openxmlformats.org/officeDocument/2006/relationships/notesSlide" Target="/ppt/notesSlides/notesSlide14.xml" Id="Reed95d6715f040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05050b8eab4604" /><Relationship Type="http://schemas.openxmlformats.org/officeDocument/2006/relationships/notesSlide" Target="/ppt/notesSlides/notesSlide15.xml" Id="R4c16dc6ceb6c4b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19d509c3cc4427" /><Relationship Type="http://schemas.openxmlformats.org/officeDocument/2006/relationships/notesSlide" Target="/ppt/notesSlides/notesSlide16.xml" Id="R01e2476961304b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5c753c66d64de6" /><Relationship Type="http://schemas.openxmlformats.org/officeDocument/2006/relationships/notesSlide" Target="/ppt/notesSlides/notesSlide17.xml" Id="R4a24829db913443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ac4b1e50934c55" /><Relationship Type="http://schemas.openxmlformats.org/officeDocument/2006/relationships/hyperlink" Target="https://docs.python.org/3.12/tutorial/classes.html" TargetMode="External" Id="Rc17b87b9e38f4ef8" /><Relationship Type="http://schemas.openxmlformats.org/officeDocument/2006/relationships/hyperlink" Target="https://docs.python.org/3.12/reference/expressions.html#is-not" TargetMode="External" Id="R02f67a716560480c" /><Relationship Type="http://schemas.openxmlformats.org/officeDocument/2006/relationships/notesSlide" Target="/ppt/notesSlides/notesSlide18.xml" Id="R534f46613dbe4c6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5fc72581cd4c07" /><Relationship Type="http://schemas.openxmlformats.org/officeDocument/2006/relationships/notesSlide" Target="/ppt/notesSlides/notesSlide19.xml" Id="Rc266a5ea336c42a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0a45c5abae443a" /><Relationship Type="http://schemas.openxmlformats.org/officeDocument/2006/relationships/image" Target="/ppt/media/image.png" Id="R1016c1550bed4b8f" /><Relationship Type="http://schemas.openxmlformats.org/officeDocument/2006/relationships/hyperlink" Target="https://minhuangyuntech.github.io/oo2026/materials/memory-oop-trilingual.zip" TargetMode="External" Id="R1d507b00dafa4f7b" /><Relationship Type="http://schemas.openxmlformats.org/officeDocument/2006/relationships/notesSlide" Target="/ppt/notesSlides/notesSlide20.xml" Id="R4089c51011cb416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8abab889e4a56" /><Relationship Type="http://schemas.openxmlformats.org/officeDocument/2006/relationships/notesSlide" Target="/ppt/notesSlides/notesSlide21.xml" Id="Rc0be89a6b6b4409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d6d82f9ac6402b" /><Relationship Type="http://schemas.openxmlformats.org/officeDocument/2006/relationships/notesSlide" Target="/ppt/notesSlides/notesSlide22.xml" Id="R21c9d4fc3c544a6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82db8d0a4d4508" /><Relationship Type="http://schemas.openxmlformats.org/officeDocument/2006/relationships/notesSlide" Target="/ppt/notesSlides/notesSlide23.xml" Id="R857101325ba649e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9d91e2b6e0427e" /><Relationship Type="http://schemas.openxmlformats.org/officeDocument/2006/relationships/notesSlide" Target="/ppt/notesSlides/notesSlide24.xml" Id="R4cd82b57b9aa4a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7ec753e95647e5" /><Relationship Type="http://schemas.openxmlformats.org/officeDocument/2006/relationships/notesSlide" Target="/ppt/notesSlides/notesSlide25.xml" Id="Rc74f01738a9b468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d601e0f49e43e3" /><Relationship Type="http://schemas.openxmlformats.org/officeDocument/2006/relationships/notesSlide" Target="/ppt/notesSlides/notesSlide26.xml" Id="Rfc1a04e068df4fa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a283e6dcd94523" /><Relationship Type="http://schemas.openxmlformats.org/officeDocument/2006/relationships/notesSlide" Target="/ppt/notesSlides/notesSlide27.xml" Id="R13578688a4bb4c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YTHON OOP  /  CARD MATCHING">
            <a:extLst xmlns:a="http://schemas.openxmlformats.org/drawingml/2006/main">
              <a:ext uri="{FF2B5EF4-FFF2-40B4-BE49-F238E27FC236}">
                <a16:creationId xmlns:a16="http://schemas.microsoft.com/office/drawing/2014/main" id="{1531D71F-77BB-4E67-A187-B74876E5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8EDBE"/>
                </a:solidFill>
                <a:latin typeface="Aptos"/>
                <a:ea typeface="Aptos"/>
                <a:cs typeface="Aptos"/>
              </a:rPr>
              <a:t>PYTHON OOP  /  CARD MATCHING</a:t>
            </a:r>
          </a:p>
        </p:txBody>
      </p:sp>
      <p:sp>
        <p:nvSpPr>
          <p:cNvPr id="2" name="Card matching &amp; object state">
            <a:extLst xmlns:a="http://schemas.openxmlformats.org/drawingml/2006/main">
              <a:ext uri="{FF2B5EF4-FFF2-40B4-BE49-F238E27FC236}">
                <a16:creationId xmlns:a16="http://schemas.microsoft.com/office/drawing/2014/main" id="{6083B016-480A-49B1-A2C1-99C3582E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762125"/>
            <a:ext cx="11001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525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525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Card matching &amp; object state</a:t>
            </a:r>
          </a:p>
        </p:txBody>
      </p:sp>
      <p:sp>
        <p:nvSpPr>
          <p:cNvPr id="3" name="Card · Board · Game">
            <a:extLst xmlns:a="http://schemas.openxmlformats.org/drawingml/2006/main">
              <a:ext uri="{FF2B5EF4-FFF2-40B4-BE49-F238E27FC236}">
                <a16:creationId xmlns:a16="http://schemas.microsoft.com/office/drawing/2014/main" id="{FA3D5EBA-B329-4495-9189-380CCE3B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7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27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Card · Board · Game</a:t>
            </a:r>
          </a:p>
        </p:txBody>
      </p:sp>
      <p:sp>
        <p:nvSpPr>
          <p:cNvPr id="4" name="Each card is an object.&#10;Step through state changes and references.">
            <a:extLst xmlns:a="http://schemas.openxmlformats.org/drawingml/2006/main">
              <a:ext uri="{FF2B5EF4-FFF2-40B4-BE49-F238E27FC236}">
                <a16:creationId xmlns:a16="http://schemas.microsoft.com/office/drawing/2014/main" id="{DEC0182E-C2F6-4CD8-AEA8-56A9B20B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Each card is an object.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Step through state changes and references.</a:t>
            </a:r>
          </a:p>
        </p:txBody>
      </p:sp>
      <p:sp>
        <p:nvSpPr>
          <p:cNvPr id="5" name="https://minhuangyuntech.github.io/oo2026/en/memory/play/">
            <a:extLst xmlns:a="http://schemas.openxmlformats.org/drawingml/2006/main">
              <a:ext uri="{FF2B5EF4-FFF2-40B4-BE49-F238E27FC236}">
                <a16:creationId xmlns:a16="http://schemas.microsoft.com/office/drawing/2014/main" id="{41D797A2-9994-40EF-82DA-AFACEA6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  <a:hlinkClick xmlns:r="http://schemas.openxmlformats.org/officeDocument/2006/relationships" r:id="R2507baedcd4a43f8"/>
              </a:rPr>
              <a:t>https://minhuangyuntech.github.io/oo2026/en/memory/play/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C758E635-435B-4BE4-8E2F-D540662A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122390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owser game &amp; object labels">
            <a:extLst xmlns:a="http://schemas.openxmlformats.org/drawingml/2006/main">
              <a:ext uri="{FF2B5EF4-FFF2-40B4-BE49-F238E27FC236}">
                <a16:creationId xmlns:a16="http://schemas.microsoft.com/office/drawing/2014/main" id="{536045FA-3BA4-49CE-8C8C-F2881E2E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Browser game &amp; object labels</a:t>
            </a:r>
          </a:p>
        </p:txBody>
      </p:sp>
      <p:sp>
        <p:nvSpPr>
          <p:cNvPr id="2" name="12 cards, 6 pairs. Play directly in your browser.">
            <a:extLst xmlns:a="http://schemas.openxmlformats.org/drawingml/2006/main">
              <a:ext uri="{FF2B5EF4-FFF2-40B4-BE49-F238E27FC236}">
                <a16:creationId xmlns:a16="http://schemas.microsoft.com/office/drawing/2014/main" id="{A7356DA2-4D8A-4764-903F-C39C4898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12 cards, 6 pairs. Play directly in your browser.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49A964-06D4-4F74-B190-FD5D253B55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df07c73f34a26"/>
          <a:stretch xmlns:a="http://schemas.openxmlformats.org/drawingml/2006/main"/>
        </p:blipFill>
        <p:spPr>
          <a:xfrm xmlns:a="http://schemas.openxmlformats.org/drawingml/2006/main">
            <a:off x="968079" y="1781175"/>
            <a:ext cx="6064843" cy="4610100"/>
          </a:xfrm>
          <a:prstGeom xmlns:a="http://schemas.openxmlformats.org/drawingml/2006/main" prst="rect">
            <a:avLst/>
          </a:prstGeom>
        </p:spPr>
      </p:pic>
      <p:sp>
        <p:nvSpPr>
          <p:cNvPr id="4" name="Normal play: choose two cards, then confirm the turn.">
            <a:extLst xmlns:a="http://schemas.openxmlformats.org/drawingml/2006/main">
              <a:ext uri="{FF2B5EF4-FFF2-40B4-BE49-F238E27FC236}">
                <a16:creationId xmlns:a16="http://schemas.microsoft.com/office/drawing/2014/main" id="{AFB50E2D-C734-43D9-9539-361807AE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4787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Normal play: choose two cards, then confirm the turn.</a:t>
            </a:r>
          </a:p>
        </p:txBody>
      </p:sp>
      <p:sp>
        <p:nvSpPr>
          <p:cNvPr id="5" name="Step mode: queue, reveal, compare, and settle.">
            <a:extLst xmlns:a="http://schemas.openxmlformats.org/drawingml/2006/main">
              <a:ext uri="{FF2B5EF4-FFF2-40B4-BE49-F238E27FC236}">
                <a16:creationId xmlns:a16="http://schemas.microsoft.com/office/drawing/2014/main" id="{1EE66B02-8489-4CDA-AAD1-1119DA16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76625"/>
            <a:ext cx="3667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Step mode: queue, reveal, compare, and settle.</a:t>
            </a:r>
          </a:p>
        </p:txBody>
      </p:sp>
      <p:sp>
        <p:nvSpPr>
          <p:cNvPr id="6" name="Play in your browser">
            <a:extLst xmlns:a="http://schemas.openxmlformats.org/drawingml/2006/main">
              <a:ext uri="{FF2B5EF4-FFF2-40B4-BE49-F238E27FC236}">
                <a16:creationId xmlns:a16="http://schemas.microsoft.com/office/drawing/2014/main" id="{588AD463-5766-46A6-AEF3-6B5380B6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76850"/>
            <a:ext cx="3667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f8290fb5aa8f42cc"/>
              </a:rPr>
              <a:t>Play in your browser</a:t>
            </a:r>
          </a:p>
        </p:txBody>
      </p:sp>
      <p:sp>
        <p:nvSpPr>
          <p:cNvPr id="7" name="https://minhuangyuntech.github.io/oo2026/en/memory/play/">
            <a:extLst xmlns:a="http://schemas.openxmlformats.org/drawingml/2006/main">
              <a:ext uri="{FF2B5EF4-FFF2-40B4-BE49-F238E27FC236}">
                <a16:creationId xmlns:a16="http://schemas.microsoft.com/office/drawing/2014/main" id="{5D8168D3-2BD3-4BEC-B3E0-826FC8A8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9775"/>
            <a:ext cx="3667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  <a:hlinkClick xmlns:r="http://schemas.openxmlformats.org/officeDocument/2006/relationships" r:id="R5847b156740440f1"/>
              </a:rPr>
              <a:t>https://minhuangyuntech.github.io/oo2026/en/memory/play/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FCEE041F-8180-4BB7-8723-EC789DF3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91514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lay &amp; inspection controls">
            <a:extLst xmlns:a="http://schemas.openxmlformats.org/drawingml/2006/main">
              <a:ext uri="{FF2B5EF4-FFF2-40B4-BE49-F238E27FC236}">
                <a16:creationId xmlns:a16="http://schemas.microsoft.com/office/drawing/2014/main" id="{7DE6CD43-6233-4106-970F-A55CB83B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Play &amp; inspection controls</a:t>
            </a:r>
          </a:p>
        </p:txBody>
      </p:sp>
      <p:sp>
        <p:nvSpPr>
          <p:cNvPr id="2" name="Use a mouse, touch, or keyboard">
            <a:extLst xmlns:a="http://schemas.openxmlformats.org/drawingml/2006/main">
              <a:ext uri="{FF2B5EF4-FFF2-40B4-BE49-F238E27FC236}">
                <a16:creationId xmlns:a16="http://schemas.microsoft.com/office/drawing/2014/main" id="{CE0E377B-873C-430A-895E-0001C185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Use a mouse, touch, or keyboard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81E7B-ECCD-4DCA-A222-EC7CEAC749FD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Result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Normal play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Choose two cards; confirm the turn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Step mode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Reveal, compare, and settle separately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L / Object labels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Toggle labels such as C01: Card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Object inspector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Inspect a card without revealing it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Fixed examples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Create a new game in step mode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New game / shuffle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Create new objects and a shuffled board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witching languages preserves the board and progress. Reloading starts">
            <a:extLst xmlns:a="http://schemas.openxmlformats.org/drawingml/2006/main">
              <a:ext uri="{FF2B5EF4-FFF2-40B4-BE49-F238E27FC236}">
                <a16:creationId xmlns:a16="http://schemas.microsoft.com/office/drawing/2014/main" id="{CCD79D03-3B32-474B-8AF8-D9FB3930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Switching languages preserves the board and progress. Reloading starts a new game.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DF3AE4FA-37B3-4BE5-8B98-8CD4AC82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8064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hree class responsibilities">
            <a:extLst xmlns:a="http://schemas.openxmlformats.org/drawingml/2006/main">
              <a:ext uri="{FF2B5EF4-FFF2-40B4-BE49-F238E27FC236}">
                <a16:creationId xmlns:a16="http://schemas.microsoft.com/office/drawing/2014/main" id="{00858638-BDE6-4CA3-BE8F-FD7E0C3D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Three class responsibilities</a:t>
            </a:r>
          </a:p>
        </p:txBody>
      </p:sp>
      <p:sp>
        <p:nvSpPr>
          <p:cNvPr id="2" name="Keep data and behavior in the responsible object">
            <a:extLst xmlns:a="http://schemas.openxmlformats.org/drawingml/2006/main">
              <a:ext uri="{FF2B5EF4-FFF2-40B4-BE49-F238E27FC236}">
                <a16:creationId xmlns:a16="http://schemas.microsoft.com/office/drawing/2014/main" id="{2D756332-6F30-4ADA-816F-D3A6D3AD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Keep data and behavior in the responsible object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6DCB3B-7E92-4E44-B8B3-4898EA7B95C7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714500"/>
                <a:gridCol w="4667250"/>
                <a:gridCol w="466725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Class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Data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Responsibility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name, pair_id, face_up, 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Reveal, hide, mark 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Board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cards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Create and find 12 cards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first, second, pending, 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Coordinate selection and turns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he view reads model state. Buttons call model methods.">
            <a:extLst xmlns:a="http://schemas.openxmlformats.org/drawingml/2006/main">
              <a:ext uri="{FF2B5EF4-FFF2-40B4-BE49-F238E27FC236}">
                <a16:creationId xmlns:a16="http://schemas.microsoft.com/office/drawing/2014/main" id="{6502B84F-77B7-456F-869B-D65C5AF2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The view reads model state. Buttons call model methods.</a:t>
            </a:r>
          </a:p>
        </p:txBody>
      </p:sp>
      <p:sp>
        <p:nvSpPr>
          <p:cNvPr id="5" name="04">
            <a:extLst xmlns:a="http://schemas.openxmlformats.org/drawingml/2006/main">
              <a:ext uri="{FF2B5EF4-FFF2-40B4-BE49-F238E27FC236}">
                <a16:creationId xmlns:a16="http://schemas.microsoft.com/office/drawing/2014/main" id="{EAA8D25F-CA4F-4E45-90DB-DA0DC8DD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582377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UML class diagram">
            <a:extLst xmlns:a="http://schemas.openxmlformats.org/drawingml/2006/main">
              <a:ext uri="{FF2B5EF4-FFF2-40B4-BE49-F238E27FC236}">
                <a16:creationId xmlns:a16="http://schemas.microsoft.com/office/drawing/2014/main" id="{25531EC6-0808-48E7-B478-6AE329DA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UML class diagram</a:t>
            </a:r>
          </a:p>
        </p:txBody>
      </p:sp>
      <p:sp>
        <p:nvSpPr>
          <p:cNvPr id="2" name="Name, attributes, methods. Arrows show navigable associations.">
            <a:extLst xmlns:a="http://schemas.openxmlformats.org/drawingml/2006/main">
              <a:ext uri="{FF2B5EF4-FFF2-40B4-BE49-F238E27FC236}">
                <a16:creationId xmlns:a16="http://schemas.microsoft.com/office/drawing/2014/main" id="{1C7F9A0C-9B41-4C79-940D-381BBA7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Name, attributes, methods. Arrows show navigable associations.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75706-5D72-490F-84A3-EE89608F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D561C7B6-115D-41E1-97C5-E4B32C69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9447D-6FE0-4CB2-8E1A-C59F34EC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board: Board&#10;first: Card [0..1]&#10;second: Card [0..1]&#10;pending: Card [0..">
            <a:extLst xmlns:a="http://schemas.openxmlformats.org/drawingml/2006/main">
              <a:ext uri="{FF2B5EF4-FFF2-40B4-BE49-F238E27FC236}">
                <a16:creationId xmlns:a16="http://schemas.microsoft.com/office/drawing/2014/main" id="{E6D666A7-2BB1-43F9-9E0E-8DE60FAE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board: Board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first: Card [0..1]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second: Card [0..1]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pending: Card [0..1]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phase, turns, matches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82011-828A-425F-A509-8219F38E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queue(name)&#10;step(), compare(), settle()">
            <a:extLst xmlns:a="http://schemas.openxmlformats.org/drawingml/2006/main">
              <a:ext uri="{FF2B5EF4-FFF2-40B4-BE49-F238E27FC236}">
                <a16:creationId xmlns:a16="http://schemas.microsoft.com/office/drawing/2014/main" id="{AA289BB8-F26A-43BF-BCED-EC90B4DC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queue(name)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step(), compare(), settle()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201B2-ADB4-4773-9A86-E9B8F7505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57375"/>
            <a:ext cx="247650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0" name="Board">
            <a:extLst xmlns:a="http://schemas.openxmlformats.org/drawingml/2006/main">
              <a:ext uri="{FF2B5EF4-FFF2-40B4-BE49-F238E27FC236}">
                <a16:creationId xmlns:a16="http://schemas.microsoft.com/office/drawing/2014/main" id="{3C386716-5696-4959-A0D9-A84E8D44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962150"/>
            <a:ext cx="217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7654B2"/>
                </a:solidFill>
                <a:latin typeface="Aptos"/>
                <a:ea typeface="Aptos"/>
                <a:cs typeface="Aptos"/>
              </a:rPr>
              <a:t>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D681CB-04C3-4941-88D8-811C0776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2343150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2" name="cards: list[Card]&#10;complete: bool">
            <a:extLst xmlns:a="http://schemas.openxmlformats.org/drawingml/2006/main">
              <a:ext uri="{FF2B5EF4-FFF2-40B4-BE49-F238E27FC236}">
                <a16:creationId xmlns:a16="http://schemas.microsoft.com/office/drawing/2014/main" id="{337EFB16-D815-4B6A-B963-47EF2A2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2457450"/>
            <a:ext cx="21717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cards: list[Card]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complete: bool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FA571-42D9-4A78-B7D2-287DCE8E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10125" y="3990975"/>
            <a:ext cx="2476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4" name="get(name)">
            <a:extLst xmlns:a="http://schemas.openxmlformats.org/drawingml/2006/main">
              <a:ext uri="{FF2B5EF4-FFF2-40B4-BE49-F238E27FC236}">
                <a16:creationId xmlns:a16="http://schemas.microsoft.com/office/drawing/2014/main" id="{444076D3-6571-4E13-A2F1-1E70E447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133850"/>
            <a:ext cx="2171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get(name)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0FA4C0-0C66-4A98-A54A-1D7BB9FF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57375"/>
            <a:ext cx="3143250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0B8D9E58-BBEC-4A44-B9A8-74F9300E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962150"/>
            <a:ext cx="283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Card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8AAB8-1E4D-46F8-9B78-08204D47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2343150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8" name="name, pair_id&#10;face_up, matched">
            <a:extLst xmlns:a="http://schemas.openxmlformats.org/drawingml/2006/main">
              <a:ext uri="{FF2B5EF4-FFF2-40B4-BE49-F238E27FC236}">
                <a16:creationId xmlns:a16="http://schemas.microsoft.com/office/drawing/2014/main" id="{5CCBF44D-A254-4EBB-87BA-B5AB6F40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457450"/>
            <a:ext cx="2838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name, pair_id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face_up, matched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471902-CB44-4C0C-85A0-6C1AE84A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77250" y="3990975"/>
            <a:ext cx="3143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0" name="reveal()&#10;hide(), mark_matched()">
            <a:extLst xmlns:a="http://schemas.openxmlformats.org/drawingml/2006/main">
              <a:ext uri="{FF2B5EF4-FFF2-40B4-BE49-F238E27FC236}">
                <a16:creationId xmlns:a16="http://schemas.microsoft.com/office/drawing/2014/main" id="{27C3F503-001F-4EC2-830A-E0024BB8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33850"/>
            <a:ext cx="2838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reveal()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hide(), mark_matched()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676590-1216-4D81-A404-8B840814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14750" y="2857500"/>
            <a:ext cx="1095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248F85-C0C6-4DE1-B2A0-F711B4EB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718176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01DA33-91F3-4C14-B0A7-CAA00520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718176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board">
            <a:extLst xmlns:a="http://schemas.openxmlformats.org/drawingml/2006/main">
              <a:ext uri="{FF2B5EF4-FFF2-40B4-BE49-F238E27FC236}">
                <a16:creationId xmlns:a16="http://schemas.microsoft.com/office/drawing/2014/main" id="{0E6DD306-877D-42CE-B654-74F5A3BC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476500"/>
            <a:ext cx="904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board</a:t>
            </a:r>
          </a:p>
        </p:txBody>
      </p:sp>
      <p:sp>
        <p:nvSpPr>
          <p:cNvPr id="25" name="1">
            <a:extLst xmlns:a="http://schemas.openxmlformats.org/drawingml/2006/main">
              <a:ext uri="{FF2B5EF4-FFF2-40B4-BE49-F238E27FC236}">
                <a16:creationId xmlns:a16="http://schemas.microsoft.com/office/drawing/2014/main" id="{1C74165C-AE94-4283-937C-3894FE49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952750"/>
            <a:ext cx="238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D3DE66-0382-4B22-9E7B-FE89FE27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86625" y="2857500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815820-701E-4D71-A437-862274F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385301" y="28575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9F47A7-20B4-470D-A2A5-CEDCEA04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385301" y="28072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cards">
            <a:extLst xmlns:a="http://schemas.openxmlformats.org/drawingml/2006/main">
              <a:ext uri="{FF2B5EF4-FFF2-40B4-BE49-F238E27FC236}">
                <a16:creationId xmlns:a16="http://schemas.microsoft.com/office/drawing/2014/main" id="{E0C9EBE4-22C8-467C-91B5-A6D88467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87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cards</a:t>
            </a:r>
          </a:p>
        </p:txBody>
      </p:sp>
      <p:sp>
        <p:nvSpPr>
          <p:cNvPr id="30" name="12">
            <a:extLst xmlns:a="http://schemas.openxmlformats.org/drawingml/2006/main">
              <a:ext uri="{FF2B5EF4-FFF2-40B4-BE49-F238E27FC236}">
                <a16:creationId xmlns:a16="http://schemas.microsoft.com/office/drawing/2014/main" id="{BC1C9767-4849-4FC5-97A7-66FD8811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527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1" name="first / second / pending : Card [0..1]">
            <a:extLst xmlns:a="http://schemas.openxmlformats.org/drawingml/2006/main">
              <a:ext uri="{FF2B5EF4-FFF2-40B4-BE49-F238E27FC236}">
                <a16:creationId xmlns:a16="http://schemas.microsoft.com/office/drawing/2014/main" id="{5D34F845-990B-4416-9D0D-46D187AD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first / second / pending : Card [0..1]</a:t>
            </a:r>
          </a:p>
        </p:txBody>
      </p:sp>
      <p:sp>
        <p:nvSpPr>
          <p:cNvPr id="32" name="One Game has one Board. The Board holds 12 Cards.">
            <a:extLst xmlns:a="http://schemas.openxmlformats.org/drawingml/2006/main">
              <a:ext uri="{FF2B5EF4-FFF2-40B4-BE49-F238E27FC236}">
                <a16:creationId xmlns:a16="http://schemas.microsoft.com/office/drawing/2014/main" id="{7D3B7292-B061-4723-A8A0-04C48846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One Game has one Board. The Board holds 12 Cards.</a:t>
            </a:r>
          </a:p>
        </p:txBody>
      </p:sp>
      <p:sp>
        <p:nvSpPr>
          <p:cNvPr id="33" name="first, second, and pending each refer to zero or one Card.">
            <a:extLst xmlns:a="http://schemas.openxmlformats.org/drawingml/2006/main">
              <a:ext uri="{FF2B5EF4-FFF2-40B4-BE49-F238E27FC236}">
                <a16:creationId xmlns:a16="http://schemas.microsoft.com/office/drawing/2014/main" id="{C34DC4FE-2293-4FCE-BBA6-59EBBF39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first, second, and pending each refer to zero or one Card.</a:t>
            </a:r>
          </a:p>
        </p:txBody>
      </p:sp>
      <p:sp>
        <p:nvSpPr>
          <p:cNvPr id="34" name="05">
            <a:extLst xmlns:a="http://schemas.openxmlformats.org/drawingml/2006/main">
              <a:ext uri="{FF2B5EF4-FFF2-40B4-BE49-F238E27FC236}">
                <a16:creationId xmlns:a16="http://schemas.microsoft.com/office/drawing/2014/main" id="{656444FE-9203-4D1A-AF54-3F181241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582497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Equal pictures, distinct objects">
            <a:extLst xmlns:a="http://schemas.openxmlformats.org/drawingml/2006/main">
              <a:ext uri="{FF2B5EF4-FFF2-40B4-BE49-F238E27FC236}">
                <a16:creationId xmlns:a16="http://schemas.microsoft.com/office/drawing/2014/main" id="{FC499D37-8E33-4354-B60A-AE01C1D7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Equal pictures, distinct objects</a:t>
            </a:r>
          </a:p>
        </p:txBody>
      </p:sp>
      <p:sp>
        <p:nvSpPr>
          <p:cNvPr id="2" name="Fixed board: C01 and C02 both have pair_id = moon">
            <a:extLst xmlns:a="http://schemas.openxmlformats.org/drawingml/2006/main">
              <a:ext uri="{FF2B5EF4-FFF2-40B4-BE49-F238E27FC236}">
                <a16:creationId xmlns:a16="http://schemas.microsoft.com/office/drawing/2014/main" id="{EB85E71B-51ED-4137-9665-3E8B2B2B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Fixed board: C01 and C02 both have pair_id = moon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40F7E-3A13-410D-8C41-D8876553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4" name="game : Game">
            <a:extLst xmlns:a="http://schemas.openxmlformats.org/drawingml/2006/main">
              <a:ext uri="{FF2B5EF4-FFF2-40B4-BE49-F238E27FC236}">
                <a16:creationId xmlns:a16="http://schemas.microsoft.com/office/drawing/2014/main" id="{0194A674-9E6A-4104-B98E-FD572DE76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game : 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ED426-EEA5-4301-A866-BE45AB62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362200"/>
            <a:ext cx="13620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9666E-5270-40C4-9B65-A270A100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466975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7" name="first → C01&#10;second → C02">
            <a:extLst xmlns:a="http://schemas.openxmlformats.org/drawingml/2006/main">
              <a:ext uri="{FF2B5EF4-FFF2-40B4-BE49-F238E27FC236}">
                <a16:creationId xmlns:a16="http://schemas.microsoft.com/office/drawing/2014/main" id="{72DE9B83-BE0A-463D-AABC-F3D73080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first → C01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second → C02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0C53E-AEA0-47A6-BC45-24DA32F3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29527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9" name="board : Board">
            <a:extLst xmlns:a="http://schemas.openxmlformats.org/drawingml/2006/main">
              <a:ext uri="{FF2B5EF4-FFF2-40B4-BE49-F238E27FC236}">
                <a16:creationId xmlns:a16="http://schemas.microsoft.com/office/drawing/2014/main" id="{027AB56A-F763-41B9-956D-47E58DA2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B7082"/>
                </a:solidFill>
                <a:latin typeface="Aptos"/>
                <a:ea typeface="Aptos"/>
                <a:cs typeface="Aptos"/>
              </a:rPr>
              <a:t>board : 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225C0-C67B-4A3E-ACAD-E1038B6E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600575"/>
            <a:ext cx="16097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A8D1F-C650-4F2E-A4E6-25C5F3B5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70535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2" name="cards[0] → C01&#10;cards[1] → C02">
            <a:extLst xmlns:a="http://schemas.openxmlformats.org/drawingml/2006/main">
              <a:ext uri="{FF2B5EF4-FFF2-40B4-BE49-F238E27FC236}">
                <a16:creationId xmlns:a16="http://schemas.microsoft.com/office/drawing/2014/main" id="{C19A959C-E520-49B8-833B-FB1F7FBE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26479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cards[0] → C01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cards[1] → C02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E6E72-7654-4E5C-8E31-D77DAD39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4" name="C01 : Card">
            <a:extLst xmlns:a="http://schemas.openxmlformats.org/drawingml/2006/main">
              <a:ext uri="{FF2B5EF4-FFF2-40B4-BE49-F238E27FC236}">
                <a16:creationId xmlns:a16="http://schemas.microsoft.com/office/drawing/2014/main" id="{1759E80E-82BE-4AF6-93DF-EAA31CD0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47875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654B2"/>
                </a:solidFill>
                <a:latin typeface="Aptos"/>
                <a:ea typeface="Aptos"/>
                <a:cs typeface="Aptos"/>
              </a:rPr>
              <a:t>C01 :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2CEACF-C388-4E49-B8B4-F817FA96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236220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4F8AE-C5F6-4BB0-A3DF-ED0FB019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2466975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17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5D734FAB-0464-4CA1-B548-AEBC5301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90800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pair_id = "moon"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face_up = 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8E9C16-F0A2-41A2-AE87-2EA948DA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91000"/>
            <a:ext cx="36195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19" name="C02 : Card">
            <a:extLst xmlns:a="http://schemas.openxmlformats.org/drawingml/2006/main">
              <a:ext uri="{FF2B5EF4-FFF2-40B4-BE49-F238E27FC236}">
                <a16:creationId xmlns:a16="http://schemas.microsoft.com/office/drawing/2014/main" id="{E5AF7100-8558-477F-AFFE-5041BEF1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654B2"/>
                </a:solidFill>
                <a:latin typeface="Aptos"/>
                <a:ea typeface="Aptos"/>
                <a:cs typeface="Aptos"/>
              </a:rPr>
              <a:t>C02 : Card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0E316A-19EF-47DF-BD99-4E0EFAFC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53400" y="4600575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D7A10A-406F-4E84-AA60-5010C5A29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01000" y="4705350"/>
            <a:ext cx="3619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22" name="pair_id = &quot;moon&quot;&#10;face_up = True">
            <a:extLst xmlns:a="http://schemas.openxmlformats.org/drawingml/2006/main">
              <a:ext uri="{FF2B5EF4-FFF2-40B4-BE49-F238E27FC236}">
                <a16:creationId xmlns:a16="http://schemas.microsoft.com/office/drawing/2014/main" id="{47D639F4-E769-437C-8A45-1F7B4DDA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29175"/>
            <a:ext cx="33147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pair_id = "moon"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face_up = True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B1E7A1-F8B9-4312-9C5F-7113915C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2667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3167FE-0F88-4441-814E-46F49663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2667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D0D057-7810-4915-AF6C-51AAC1DF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2616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088F18-0EAF-472A-B287-7C610A1B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3143250"/>
            <a:ext cx="1952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E41C34-812C-464B-BB8B-C619DD85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3143250"/>
            <a:ext cx="0" cy="1476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3EA837-88E7-47E6-9963-07E064A0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76875" y="461962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021E16-DF94-403A-BDF1-994AF598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46196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20045A-66AA-4D21-8E46-6EC7A045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45693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B19A9F-B415-4208-A3C6-CEA6F77D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4857750"/>
            <a:ext cx="32385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B951A-069D-46F6-BF1E-EEBC3ADD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762750" y="3143250"/>
            <a:ext cx="0" cy="17145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7D2718-E56B-4DDF-8D2A-F8B2FDFF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2750" y="3143250"/>
            <a:ext cx="1238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D64B7A-25A6-48B1-BEE2-45BF1E73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31432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31348F-DE6E-4F5D-8CFC-2FEB0E8C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30930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F25AD8-AD5C-4A92-933D-AE4A9D7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24250" y="5334000"/>
            <a:ext cx="4476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772A88-7279-4935-90B4-B6EC341B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909051" y="533400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4B9397-6DB9-42E5-AF3D-53B90DF2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909051" y="528376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39" name="C01 is C02  →  False">
            <a:extLst xmlns:a="http://schemas.openxmlformats.org/drawingml/2006/main">
              <a:ext uri="{FF2B5EF4-FFF2-40B4-BE49-F238E27FC236}">
                <a16:creationId xmlns:a16="http://schemas.microsoft.com/office/drawing/2014/main" id="{7A996438-040C-4AC1-928D-F8A9F28E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9526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950" b="1">
                <a:solidFill>
                  <a:srgbClr val="7654B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654B2"/>
                </a:solidFill>
                <a:latin typeface="Aptos"/>
                <a:ea typeface="Aptos"/>
                <a:cs typeface="Aptos"/>
              </a:rPr>
              <a:t>C01 is C02  →  False</a:t>
            </a:r>
          </a:p>
        </p:txBody>
      </p:sp>
      <p:sp>
        <p:nvSpPr>
          <p:cNvPr id="40" name="C01 and C02 are separate instances with independent face_up values.">
            <a:extLst xmlns:a="http://schemas.openxmlformats.org/drawingml/2006/main">
              <a:ext uri="{FF2B5EF4-FFF2-40B4-BE49-F238E27FC236}">
                <a16:creationId xmlns:a16="http://schemas.microsoft.com/office/drawing/2014/main" id="{4DB035A2-194F-4407-B897-513A8141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C01 and C02 are separate instances with independent face_up values.</a:t>
            </a:r>
          </a:p>
        </p:txBody>
      </p:sp>
      <p:sp>
        <p:nvSpPr>
          <p:cNvPr id="41" name="Game.first and Board.cards[0] can refer to the same card.">
            <a:extLst xmlns:a="http://schemas.openxmlformats.org/drawingml/2006/main">
              <a:ext uri="{FF2B5EF4-FFF2-40B4-BE49-F238E27FC236}">
                <a16:creationId xmlns:a16="http://schemas.microsoft.com/office/drawing/2014/main" id="{F8BE1D21-BC52-4728-85DB-A8F9C10E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61055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Game.first and Board.cards[0] can refer to the same card.</a:t>
            </a:r>
          </a:p>
        </p:txBody>
      </p:sp>
      <p:sp>
        <p:nvSpPr>
          <p:cNvPr id="42" name="06">
            <a:extLst xmlns:a="http://schemas.openxmlformats.org/drawingml/2006/main">
              <a:ext uri="{FF2B5EF4-FFF2-40B4-BE49-F238E27FC236}">
                <a16:creationId xmlns:a16="http://schemas.microsoft.com/office/drawing/2014/main" id="{A243B607-A814-45AE-B336-4B6243E6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913335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hree Card states">
            <a:extLst xmlns:a="http://schemas.openxmlformats.org/drawingml/2006/main">
              <a:ext uri="{FF2B5EF4-FFF2-40B4-BE49-F238E27FC236}">
                <a16:creationId xmlns:a16="http://schemas.microsoft.com/office/drawing/2014/main" id="{0E472003-F8DC-4B9E-BB93-34C72D2F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Three Card states</a:t>
            </a:r>
          </a:p>
        </p:txBody>
      </p:sp>
      <p:sp>
        <p:nvSpPr>
          <p:cNvPr id="2" name="Two Boolean attributes describe the visible state">
            <a:extLst xmlns:a="http://schemas.openxmlformats.org/drawingml/2006/main">
              <a:ext uri="{FF2B5EF4-FFF2-40B4-BE49-F238E27FC236}">
                <a16:creationId xmlns:a16="http://schemas.microsoft.com/office/drawing/2014/main" id="{35D2D653-03EC-4C30-872D-ACCA62C4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Two Boolean attributes describe the visible state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007D0-CE47-46D2-BA80-766834C5EB62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6096000"/>
                <a:gridCol w="2476500"/>
                <a:gridCol w="2476500"/>
              </a:tblGrid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Visible state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face_up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matched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Face down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Revealed, not yet matched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10001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Matched, stays face up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A matched card stays face up. hide() leaves it unchanged.">
            <a:extLst xmlns:a="http://schemas.openxmlformats.org/drawingml/2006/main">
              <a:ext uri="{FF2B5EF4-FFF2-40B4-BE49-F238E27FC236}">
                <a16:creationId xmlns:a16="http://schemas.microsoft.com/office/drawing/2014/main" id="{6CDA4CF7-84F1-46D2-A1DA-3AAD6D13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A matched card stays face up. hide() leaves it unchanged.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1AB4EF22-C592-424B-B703-04D6D029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583474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ard: data and reveal behavior">
            <a:extLst xmlns:a="http://schemas.openxmlformats.org/drawingml/2006/main">
              <a:ext uri="{FF2B5EF4-FFF2-40B4-BE49-F238E27FC236}">
                <a16:creationId xmlns:a16="http://schemas.microsoft.com/office/drawing/2014/main" id="{CD25F629-F5FB-4E80-AA9E-E9BD1C9B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Card: data and reveal behavior</a:t>
            </a:r>
          </a:p>
        </p:txBody>
      </p:sp>
      <p:sp>
        <p:nvSpPr>
          <p:cNvPr id="2" name="model.py · Card">
            <a:extLst xmlns:a="http://schemas.openxmlformats.org/drawingml/2006/main">
              <a:ext uri="{FF2B5EF4-FFF2-40B4-BE49-F238E27FC236}">
                <a16:creationId xmlns:a16="http://schemas.microsoft.com/office/drawing/2014/main" id="{3218FCE9-C583-469D-8D41-67B6E1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model.py · Card</a:t>
            </a:r>
          </a:p>
        </p:txBody>
      </p:sp>
      <p:sp>
        <p:nvSpPr>
          <p:cNvPr id="3" name="class Card:">
            <a:extLst xmlns:a="http://schemas.openxmlformats.org/drawingml/2006/main">
              <a:ext uri="{FF2B5EF4-FFF2-40B4-BE49-F238E27FC236}">
                <a16:creationId xmlns:a16="http://schemas.microsoft.com/office/drawing/2014/main" id="{FC33BA64-BAAA-493A-90E3-A13F7DA8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Card:</a:t>
            </a:r>
          </a:p>
        </p:txBody>
      </p:sp>
      <p:sp>
        <p:nvSpPr>
          <p:cNvPr id="4" name="    def __init__(self, name, pair_id):">
            <a:extLst xmlns:a="http://schemas.openxmlformats.org/drawingml/2006/main">
              <a:ext uri="{FF2B5EF4-FFF2-40B4-BE49-F238E27FC236}">
                <a16:creationId xmlns:a16="http://schemas.microsoft.com/office/drawing/2014/main" id="{FF9B94DB-E4D8-4815-8247-340F29F4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pair_id):</a:t>
            </a:r>
          </a:p>
        </p:txBody>
      </p:sp>
      <p:sp>
        <p:nvSpPr>
          <p:cNvPr id="5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0FB26958-30B4-4A5C-93E3-CB0ABB64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6" name="        self.pair_id = pair_id">
            <a:extLst xmlns:a="http://schemas.openxmlformats.org/drawingml/2006/main">
              <a:ext uri="{FF2B5EF4-FFF2-40B4-BE49-F238E27FC236}">
                <a16:creationId xmlns:a16="http://schemas.microsoft.com/office/drawing/2014/main" id="{B7B20514-6776-467B-8819-E8AE4B8C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self.pair_id = pair_id</a:t>
            </a:r>
          </a:p>
        </p:txBody>
      </p:sp>
      <p:sp>
        <p:nvSpPr>
          <p:cNvPr id="7" name="        self.face_up = False">
            <a:extLst xmlns:a="http://schemas.openxmlformats.org/drawingml/2006/main">
              <a:ext uri="{FF2B5EF4-FFF2-40B4-BE49-F238E27FC236}">
                <a16:creationId xmlns:a16="http://schemas.microsoft.com/office/drawing/2014/main" id="{6B2DD91D-298E-4FB8-8729-6CB13B28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False</a:t>
            </a:r>
          </a:p>
        </p:txBody>
      </p:sp>
      <p:sp>
        <p:nvSpPr>
          <p:cNvPr id="8" name="        self.matched = False">
            <a:extLst xmlns:a="http://schemas.openxmlformats.org/drawingml/2006/main">
              <a:ext uri="{FF2B5EF4-FFF2-40B4-BE49-F238E27FC236}">
                <a16:creationId xmlns:a16="http://schemas.microsoft.com/office/drawing/2014/main" id="{E0DB6D5B-A45A-4AAA-93B7-F7684C5F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self.matched =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2B8EB-759C-4BD2-98F0-546F8E16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    def reveal(self):">
            <a:extLst xmlns:a="http://schemas.openxmlformats.org/drawingml/2006/main">
              <a:ext uri="{FF2B5EF4-FFF2-40B4-BE49-F238E27FC236}">
                <a16:creationId xmlns:a16="http://schemas.microsoft.com/office/drawing/2014/main" id="{28DF4BB6-0E3A-44C4-B292-E96B90DC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reveal(self):</a:t>
            </a:r>
          </a:p>
        </p:txBody>
      </p:sp>
      <p:sp>
        <p:nvSpPr>
          <p:cNvPr id="11" name="        if self.face_up or self.matched:">
            <a:extLst xmlns:a="http://schemas.openxmlformats.org/drawingml/2006/main">
              <a:ext uri="{FF2B5EF4-FFF2-40B4-BE49-F238E27FC236}">
                <a16:creationId xmlns:a16="http://schemas.microsoft.com/office/drawing/2014/main" id="{36673793-43E3-4619-AAEB-35588001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self.face_up or self.matched:</a:t>
            </a:r>
          </a:p>
        </p:txBody>
      </p:sp>
      <p:sp>
        <p:nvSpPr>
          <p:cNvPr id="12" name="    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7B18DAA6-11B0-4A73-8A54-54160076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return False</a:t>
            </a:r>
          </a:p>
        </p:txBody>
      </p:sp>
      <p:sp>
        <p:nvSpPr>
          <p:cNvPr id="13" name="        self.face_up = True">
            <a:extLst xmlns:a="http://schemas.openxmlformats.org/drawingml/2006/main">
              <a:ext uri="{FF2B5EF4-FFF2-40B4-BE49-F238E27FC236}">
                <a16:creationId xmlns:a16="http://schemas.microsoft.com/office/drawing/2014/main" id="{8FF22123-7BDC-4DDB-80D2-7F65A506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self.face_up = True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93C96108-94D2-401C-8239-A2E140E8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reveal() rejects cards that are already face up or matched.">
            <a:extLst xmlns:a="http://schemas.openxmlformats.org/drawingml/2006/main">
              <a:ext uri="{FF2B5EF4-FFF2-40B4-BE49-F238E27FC236}">
                <a16:creationId xmlns:a16="http://schemas.microsoft.com/office/drawing/2014/main" id="{FBE430D2-2007-40BB-946F-8B3534F8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reveal() rejects cards that are already face up or matched.</a:t>
            </a:r>
          </a:p>
        </p:txBody>
      </p:sp>
      <p:sp>
        <p:nvSpPr>
          <p:cNvPr id="16" name="Attributes are writable here. The game uses methods to maintain its ru">
            <a:extLst xmlns:a="http://schemas.openxmlformats.org/drawingml/2006/main">
              <a:ext uri="{FF2B5EF4-FFF2-40B4-BE49-F238E27FC236}">
                <a16:creationId xmlns:a16="http://schemas.microsoft.com/office/drawing/2014/main" id="{4CDE7C29-7874-498A-87AA-8FC79707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Attributes are writable here. The game uses methods to maintain its rules.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68AC4846-7795-4E53-8ACF-0A668E72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08">
            <a:extLst xmlns:a="http://schemas.openxmlformats.org/drawingml/2006/main">
              <a:ext uri="{FF2B5EF4-FFF2-40B4-BE49-F238E27FC236}">
                <a16:creationId xmlns:a16="http://schemas.microsoft.com/office/drawing/2014/main" id="{C3F42C4F-8792-41A9-B2D4-805AA197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6503306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ard: create and keep cards">
            <a:extLst xmlns:a="http://schemas.openxmlformats.org/drawingml/2006/main">
              <a:ext uri="{FF2B5EF4-FFF2-40B4-BE49-F238E27FC236}">
                <a16:creationId xmlns:a16="http://schemas.microsoft.com/office/drawing/2014/main" id="{5B57A4BA-384C-484B-B82A-8B68F1B9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Board: create and keep cards</a:t>
            </a:r>
          </a:p>
        </p:txBody>
      </p:sp>
      <p:sp>
        <p:nvSpPr>
          <p:cNvPr id="2" name="model.py · Board.__init__">
            <a:extLst xmlns:a="http://schemas.openxmlformats.org/drawingml/2006/main">
              <a:ext uri="{FF2B5EF4-FFF2-40B4-BE49-F238E27FC236}">
                <a16:creationId xmlns:a16="http://schemas.microsoft.com/office/drawing/2014/main" id="{6880892F-B331-40E3-A46F-E79189A7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model.py · Board.__init__</a:t>
            </a:r>
          </a:p>
        </p:txBody>
      </p:sp>
      <p:sp>
        <p:nvSpPr>
          <p:cNvPr id="3" name="def __init__(self, sample=False):">
            <a:extLst xmlns:a="http://schemas.openxmlformats.org/drawingml/2006/main">
              <a:ext uri="{FF2B5EF4-FFF2-40B4-BE49-F238E27FC236}">
                <a16:creationId xmlns:a16="http://schemas.microsoft.com/office/drawing/2014/main" id="{B5961DD6-8733-4246-A333-FD5BE12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sample=False):</a:t>
            </a:r>
          </a:p>
        </p:txBody>
      </p:sp>
      <p:sp>
        <p:nvSpPr>
          <p:cNvPr id="4" name="    pairs = SAMPLE.copy()">
            <a:extLst xmlns:a="http://schemas.openxmlformats.org/drawingml/2006/main">
              <a:ext uri="{FF2B5EF4-FFF2-40B4-BE49-F238E27FC236}">
                <a16:creationId xmlns:a16="http://schemas.microsoft.com/office/drawing/2014/main" id="{AE0D0214-857F-4AEF-AD37-CA8AB3CD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pairs = SAMPLE.copy()</a:t>
            </a:r>
          </a:p>
        </p:txBody>
      </p:sp>
      <p:sp>
        <p:nvSpPr>
          <p:cNvPr id="5" name="    if not sample:">
            <a:extLst xmlns:a="http://schemas.openxmlformats.org/drawingml/2006/main">
              <a:ext uri="{FF2B5EF4-FFF2-40B4-BE49-F238E27FC236}">
                <a16:creationId xmlns:a16="http://schemas.microsoft.com/office/drawing/2014/main" id="{5FF63D24-C553-411C-B7A4-B3F1E7C0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not sample:</a:t>
            </a:r>
          </a:p>
        </p:txBody>
      </p:sp>
      <p:sp>
        <p:nvSpPr>
          <p:cNvPr id="6" name="        shuffle(pairs)">
            <a:extLst xmlns:a="http://schemas.openxmlformats.org/drawingml/2006/main">
              <a:ext uri="{FF2B5EF4-FFF2-40B4-BE49-F238E27FC236}">
                <a16:creationId xmlns:a16="http://schemas.microsoft.com/office/drawing/2014/main" id="{696ACC7E-2C64-4F33-99DE-990627C0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shuffle(pairs)</a:t>
            </a:r>
          </a:p>
        </p:txBody>
      </p:sp>
      <p:sp>
        <p:nvSpPr>
          <p:cNvPr id="7" name="    self.cards = [Card(f'C{i+1:02}', pair)">
            <a:extLst xmlns:a="http://schemas.openxmlformats.org/drawingml/2006/main">
              <a:ext uri="{FF2B5EF4-FFF2-40B4-BE49-F238E27FC236}">
                <a16:creationId xmlns:a16="http://schemas.microsoft.com/office/drawing/2014/main" id="{0ADB4956-572E-4D55-A452-2B06FDB5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self.cards = [Card(f'C{i+1:02}', pair)</a:t>
            </a:r>
          </a:p>
        </p:txBody>
      </p:sp>
      <p:sp>
        <p:nvSpPr>
          <p:cNvPr id="8" name="                  for i, pair in enumerate(pairs)]">
            <a:extLst xmlns:a="http://schemas.openxmlformats.org/drawingml/2006/main">
              <a:ext uri="{FF2B5EF4-FFF2-40B4-BE49-F238E27FC236}">
                <a16:creationId xmlns:a16="http://schemas.microsoft.com/office/drawing/2014/main" id="{E3F56179-6172-41EE-9FB5-3621299C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  for i, pair in enumerate(pairs)]</a:t>
            </a:r>
          </a:p>
        </p:txBody>
      </p:sp>
      <p:sp>
        <p:nvSpPr>
          <p:cNvPr id="9" name="Each Card(...) call creates a new instance.">
            <a:extLst xmlns:a="http://schemas.openxmlformats.org/drawingml/2006/main">
              <a:ext uri="{FF2B5EF4-FFF2-40B4-BE49-F238E27FC236}">
                <a16:creationId xmlns:a16="http://schemas.microsoft.com/office/drawing/2014/main" id="{60FF0809-A100-4F2E-9297-65F739E6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Each Card(...) call creates a new instance.</a:t>
            </a:r>
          </a:p>
        </p:txBody>
      </p:sp>
      <p:sp>
        <p:nvSpPr>
          <p:cNvPr id="10" name="sample=True keeps the fixed order. Normal games shuffle.">
            <a:extLst xmlns:a="http://schemas.openxmlformats.org/drawingml/2006/main">
              <a:ext uri="{FF2B5EF4-FFF2-40B4-BE49-F238E27FC236}">
                <a16:creationId xmlns:a16="http://schemas.microsoft.com/office/drawing/2014/main" id="{E8F5494F-8CE6-48F2-B678-3875AED7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sample=True keeps the fixed order. Normal games shuffle.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EDF69CDE-FF1E-4154-8372-29BC2C91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09">
            <a:extLst xmlns:a="http://schemas.openxmlformats.org/drawingml/2006/main">
              <a:ext uri="{FF2B5EF4-FFF2-40B4-BE49-F238E27FC236}">
                <a16:creationId xmlns:a16="http://schemas.microsoft.com/office/drawing/2014/main" id="{294DBC5A-3B10-4A78-8917-3BA24C62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3075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lection: a pending reference">
            <a:extLst xmlns:a="http://schemas.openxmlformats.org/drawingml/2006/main">
              <a:ext uri="{FF2B5EF4-FFF2-40B4-BE49-F238E27FC236}">
                <a16:creationId xmlns:a16="http://schemas.microsoft.com/office/drawing/2014/main" id="{AC6C7BBC-73B6-4818-8F87-D3268C7B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Selection: a pending reference</a:t>
            </a:r>
          </a:p>
        </p:txBody>
      </p:sp>
      <p:sp>
        <p:nvSpPr>
          <p:cNvPr id="2" name="model.py · Game.queue">
            <a:extLst xmlns:a="http://schemas.openxmlformats.org/drawingml/2006/main">
              <a:ext uri="{FF2B5EF4-FFF2-40B4-BE49-F238E27FC236}">
                <a16:creationId xmlns:a16="http://schemas.microsoft.com/office/drawing/2014/main" id="{CB7CFA5F-B5CE-4A50-A4B3-C2F1C81B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model.py · Game.queue</a:t>
            </a:r>
          </a:p>
        </p:txBody>
      </p:sp>
      <p:sp>
        <p:nvSpPr>
          <p:cNvPr id="3" name="def queue(self, name):">
            <a:extLst xmlns:a="http://schemas.openxmlformats.org/drawingml/2006/main">
              <a:ext uri="{FF2B5EF4-FFF2-40B4-BE49-F238E27FC236}">
                <a16:creationId xmlns:a16="http://schemas.microsoft.com/office/drawing/2014/main" id="{040F88CF-D06F-489B-8B22-3B736A24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queue(self, name):</a:t>
            </a:r>
          </a:p>
        </p:txBody>
      </p:sp>
      <p:sp>
        <p:nvSpPr>
          <p:cNvPr id="4" name="    if self.phase not in ('first', 'second') or self.pending:">
            <a:extLst xmlns:a="http://schemas.openxmlformats.org/drawingml/2006/main">
              <a:ext uri="{FF2B5EF4-FFF2-40B4-BE49-F238E27FC236}">
                <a16:creationId xmlns:a16="http://schemas.microsoft.com/office/drawing/2014/main" id="{17F8F2BD-FFC7-43BB-913B-4FE5BFB5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not in ('first', 'second') or self.pending: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C1357EBF-527E-4F45-A1E7-8A2F6969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card = self.board.get(name)">
            <a:extLst xmlns:a="http://schemas.openxmlformats.org/drawingml/2006/main">
              <a:ext uri="{FF2B5EF4-FFF2-40B4-BE49-F238E27FC236}">
                <a16:creationId xmlns:a16="http://schemas.microsoft.com/office/drawing/2014/main" id="{8ADBA992-EA23-468D-A279-0FAF54D0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card = self.board.get(name)</a:t>
            </a:r>
          </a:p>
        </p:txBody>
      </p:sp>
      <p:sp>
        <p:nvSpPr>
          <p:cNvPr id="7" name="    if card is None or card.face_up or card.matched:">
            <a:extLst xmlns:a="http://schemas.openxmlformats.org/drawingml/2006/main">
              <a:ext uri="{FF2B5EF4-FFF2-40B4-BE49-F238E27FC236}">
                <a16:creationId xmlns:a16="http://schemas.microsoft.com/office/drawing/2014/main" id="{3D4B0D6B-DAD7-4326-B16C-A4C32EC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card is None or card.face_up or card.matched:</a:t>
            </a:r>
          </a:p>
        </p:txBody>
      </p:sp>
      <p:sp>
        <p:nvSpPr>
          <p:cNvPr id="8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00D9B1EB-6E98-49EC-897D-FCFEB2D0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9" name="    self.pending = card">
            <a:extLst xmlns:a="http://schemas.openxmlformats.org/drawingml/2006/main">
              <a:ext uri="{FF2B5EF4-FFF2-40B4-BE49-F238E27FC236}">
                <a16:creationId xmlns:a16="http://schemas.microsoft.com/office/drawing/2014/main" id="{106DDB25-2262-40EC-BC71-358E759E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self.pending = card</a:t>
            </a:r>
          </a:p>
        </p:txBody>
      </p:sp>
      <p:sp>
        <p:nvSpPr>
          <p:cNvPr id="10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3B3E777E-BC2C-4812-B031-14DDA30D1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11" name="Queuing does not change face_up. The next step reveals it.">
            <a:extLst xmlns:a="http://schemas.openxmlformats.org/drawingml/2006/main">
              <a:ext uri="{FF2B5EF4-FFF2-40B4-BE49-F238E27FC236}">
                <a16:creationId xmlns:a16="http://schemas.microsoft.com/office/drawing/2014/main" id="{2B64E5DC-FA96-4528-9DD7-A275CA3B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Queuing does not change face_up. The next step reveals it.</a:t>
            </a:r>
          </a:p>
        </p:txBody>
      </p:sp>
      <p:sp>
        <p:nvSpPr>
          <p:cNvPr id="12" name="A revealed card cannot also be selected as the second card.">
            <a:extLst xmlns:a="http://schemas.openxmlformats.org/drawingml/2006/main">
              <a:ext uri="{FF2B5EF4-FFF2-40B4-BE49-F238E27FC236}">
                <a16:creationId xmlns:a16="http://schemas.microsoft.com/office/drawing/2014/main" id="{2BB56DB4-62E5-44C4-96F8-94463453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 revealed card cannot also be selected as the second card.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B1619D9A-5CA2-42CF-8649-DC89D6DD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51FCAFA-EAEC-458E-9CF2-1B92C6DC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21956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One step: reveal the queued card">
            <a:extLst xmlns:a="http://schemas.openxmlformats.org/drawingml/2006/main">
              <a:ext uri="{FF2B5EF4-FFF2-40B4-BE49-F238E27FC236}">
                <a16:creationId xmlns:a16="http://schemas.microsoft.com/office/drawing/2014/main" id="{E4D19377-7EA3-42E7-9893-C1C53E2E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One step: reveal the queued card</a:t>
            </a:r>
          </a:p>
        </p:txBody>
      </p:sp>
      <p:sp>
        <p:nvSpPr>
          <p:cNvPr id="2" name="Reveal branch of Game.step(); other branches call compare() and settle">
            <a:extLst xmlns:a="http://schemas.openxmlformats.org/drawingml/2006/main">
              <a:ext uri="{FF2B5EF4-FFF2-40B4-BE49-F238E27FC236}">
                <a16:creationId xmlns:a16="http://schemas.microsoft.com/office/drawing/2014/main" id="{D62E2C2B-343F-4BBA-8498-46BD9270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Reveal branch of Game.step(); other branches call compare() and settle()</a:t>
            </a:r>
          </a:p>
        </p:txBody>
      </p:sp>
      <p:sp>
        <p:nvSpPr>
          <p:cNvPr id="3" name="def step(self):">
            <a:extLst xmlns:a="http://schemas.openxmlformats.org/drawingml/2006/main">
              <a:ext uri="{FF2B5EF4-FFF2-40B4-BE49-F238E27FC236}">
                <a16:creationId xmlns:a16="http://schemas.microsoft.com/office/drawing/2014/main" id="{88BFCAF9-CED2-436C-8C30-6DC6C6E6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step(self):</a:t>
            </a:r>
          </a:p>
        </p:txBody>
      </p:sp>
      <p:sp>
        <p:nvSpPr>
          <p:cNvPr id="4" name="    if self.pending and self.phase in ('first', 'second'):">
            <a:extLst xmlns:a="http://schemas.openxmlformats.org/drawingml/2006/main">
              <a:ext uri="{FF2B5EF4-FFF2-40B4-BE49-F238E27FC236}">
                <a16:creationId xmlns:a16="http://schemas.microsoft.com/office/drawing/2014/main" id="{EDD88ADD-FD3E-4A84-95C2-99691535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self.pending and self.phase in ('first', 'second'):</a:t>
            </a:r>
          </a:p>
        </p:txBody>
      </p:sp>
      <p:sp>
        <p:nvSpPr>
          <p:cNvPr id="5" name="        card = self.pending">
            <a:extLst xmlns:a="http://schemas.openxmlformats.org/drawingml/2006/main">
              <a:ext uri="{FF2B5EF4-FFF2-40B4-BE49-F238E27FC236}">
                <a16:creationId xmlns:a16="http://schemas.microsoft.com/office/drawing/2014/main" id="{3A007FF9-606A-47F6-9B50-8C959037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 = self.pending</a:t>
            </a:r>
          </a:p>
        </p:txBody>
      </p:sp>
      <p:sp>
        <p:nvSpPr>
          <p:cNvPr id="6" name="        self.pending = None">
            <a:extLst xmlns:a="http://schemas.openxmlformats.org/drawingml/2006/main">
              <a:ext uri="{FF2B5EF4-FFF2-40B4-BE49-F238E27FC236}">
                <a16:creationId xmlns:a16="http://schemas.microsoft.com/office/drawing/2014/main" id="{985817BB-A733-45F4-84F5-08DB2B8A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self.pending = None</a:t>
            </a:r>
          </a:p>
        </p:txBody>
      </p:sp>
      <p:sp>
        <p:nvSpPr>
          <p:cNvPr id="7" name="        card.reveal()">
            <a:extLst xmlns:a="http://schemas.openxmlformats.org/drawingml/2006/main">
              <a:ext uri="{FF2B5EF4-FFF2-40B4-BE49-F238E27FC236}">
                <a16:creationId xmlns:a16="http://schemas.microsoft.com/office/drawing/2014/main" id="{BBDE5688-9748-41CB-8D94-9B826D06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card.reveal()</a:t>
            </a:r>
          </a:p>
        </p:txBody>
      </p:sp>
      <p:sp>
        <p:nvSpPr>
          <p:cNvPr id="8" name="        if self.phase == 'first':">
            <a:extLst xmlns:a="http://schemas.openxmlformats.org/drawingml/2006/main">
              <a:ext uri="{FF2B5EF4-FFF2-40B4-BE49-F238E27FC236}">
                <a16:creationId xmlns:a16="http://schemas.microsoft.com/office/drawing/2014/main" id="{1A8428B7-5886-467C-8873-FC2D7296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self.phase == 'first':</a:t>
            </a:r>
          </a:p>
        </p:txBody>
      </p:sp>
      <p:sp>
        <p:nvSpPr>
          <p:cNvPr id="9" name="            self.first = card">
            <a:extLst xmlns:a="http://schemas.openxmlformats.org/drawingml/2006/main">
              <a:ext uri="{FF2B5EF4-FFF2-40B4-BE49-F238E27FC236}">
                <a16:creationId xmlns:a16="http://schemas.microsoft.com/office/drawing/2014/main" id="{E54FC0B9-E0A3-4E1C-A354-FCB3D950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self.first = card</a:t>
            </a:r>
          </a:p>
        </p:txBody>
      </p:sp>
      <p:sp>
        <p:nvSpPr>
          <p:cNvPr id="10" name="            self.phase = 'second'">
            <a:extLst xmlns:a="http://schemas.openxmlformats.org/drawingml/2006/main">
              <a:ext uri="{FF2B5EF4-FFF2-40B4-BE49-F238E27FC236}">
                <a16:creationId xmlns:a16="http://schemas.microsoft.com/office/drawing/2014/main" id="{9BE8ABEC-0573-4CA2-A7EB-517F81A0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'second'</a:t>
            </a:r>
          </a:p>
        </p:txBody>
      </p:sp>
      <p:sp>
        <p:nvSpPr>
          <p:cNvPr id="11" name="        else:">
            <a:extLst xmlns:a="http://schemas.openxmlformats.org/drawingml/2006/main">
              <a:ext uri="{FF2B5EF4-FFF2-40B4-BE49-F238E27FC236}">
                <a16:creationId xmlns:a16="http://schemas.microsoft.com/office/drawing/2014/main" id="{C2257ED0-7633-4659-8F92-00B2D1AE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12" name="            self.second = card">
            <a:extLst xmlns:a="http://schemas.openxmlformats.org/drawingml/2006/main">
              <a:ext uri="{FF2B5EF4-FFF2-40B4-BE49-F238E27FC236}">
                <a16:creationId xmlns:a16="http://schemas.microsoft.com/office/drawing/2014/main" id="{33BC39FA-EAC9-411C-BE4D-76F27864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self.second = card</a:t>
            </a:r>
          </a:p>
        </p:txBody>
      </p:sp>
      <p:sp>
        <p:nvSpPr>
          <p:cNvPr id="13" name="            self.phase = 'compare'">
            <a:extLst xmlns:a="http://schemas.openxmlformats.org/drawingml/2006/main">
              <a:ext uri="{FF2B5EF4-FFF2-40B4-BE49-F238E27FC236}">
                <a16:creationId xmlns:a16="http://schemas.microsoft.com/office/drawing/2014/main" id="{06ACDC20-DAA7-40CC-A585-C32B1213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self.phase = 'compare'</a:t>
            </a:r>
          </a:p>
        </p:txBody>
      </p:sp>
      <p:sp>
        <p:nvSpPr>
          <p:cNvPr id="14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E0855EE8-ACD7-4DC6-BAEC-AAE4714A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15" name="first and second hold references to existing Cards.">
            <a:extLst xmlns:a="http://schemas.openxmlformats.org/drawingml/2006/main">
              <a:ext uri="{FF2B5EF4-FFF2-40B4-BE49-F238E27FC236}">
                <a16:creationId xmlns:a16="http://schemas.microsoft.com/office/drawing/2014/main" id="{DB664AA2-8A5A-4BD9-998C-6CEE0E5D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first and second hold references to existing Cards.</a:t>
            </a:r>
          </a:p>
        </p:txBody>
      </p:sp>
      <p:sp>
        <p:nvSpPr>
          <p:cNvPr id="16" name="Each step() completes only one stage.">
            <a:extLst xmlns:a="http://schemas.openxmlformats.org/drawingml/2006/main">
              <a:ext uri="{FF2B5EF4-FFF2-40B4-BE49-F238E27FC236}">
                <a16:creationId xmlns:a16="http://schemas.microsoft.com/office/drawing/2014/main" id="{F655DF7D-5FBD-4197-8021-2BF58B02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Each step() completes only one stage.</a:t>
            </a:r>
          </a:p>
        </p:txBody>
      </p:sp>
      <p:sp>
        <p:nvSpPr>
          <p:cNvPr id="17" name="model.py">
            <a:extLst xmlns:a="http://schemas.openxmlformats.org/drawingml/2006/main">
              <a:ext uri="{FF2B5EF4-FFF2-40B4-BE49-F238E27FC236}">
                <a16:creationId xmlns:a16="http://schemas.microsoft.com/office/drawing/2014/main" id="{BC4DC4AC-2C89-4C33-8CE7-5AEEE119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8" name="11">
            <a:extLst xmlns:a="http://schemas.openxmlformats.org/drawingml/2006/main">
              <a:ext uri="{FF2B5EF4-FFF2-40B4-BE49-F238E27FC236}">
                <a16:creationId xmlns:a16="http://schemas.microsoft.com/office/drawing/2014/main" id="{24B8BA18-712E-4976-9A82-7AC95F04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0049888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mparison: check pair_id">
            <a:extLst xmlns:a="http://schemas.openxmlformats.org/drawingml/2006/main">
              <a:ext uri="{FF2B5EF4-FFF2-40B4-BE49-F238E27FC236}">
                <a16:creationId xmlns:a16="http://schemas.microsoft.com/office/drawing/2014/main" id="{AD3A2BA1-752C-4F09-833D-7C0C918A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Comparison: check pair_id</a:t>
            </a:r>
          </a:p>
        </p:txBody>
      </p:sp>
      <p:sp>
        <p:nvSpPr>
          <p:cNvPr id="2" name="model.py · Game.compare">
            <a:extLst xmlns:a="http://schemas.openxmlformats.org/drawingml/2006/main">
              <a:ext uri="{FF2B5EF4-FFF2-40B4-BE49-F238E27FC236}">
                <a16:creationId xmlns:a16="http://schemas.microsoft.com/office/drawing/2014/main" id="{96DBDA90-8B0E-448E-939A-60512800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model.py · Game.compare</a:t>
            </a:r>
          </a:p>
        </p:txBody>
      </p:sp>
      <p:sp>
        <p:nvSpPr>
          <p:cNvPr id="3" name="def compare(self):">
            <a:extLst xmlns:a="http://schemas.openxmlformats.org/drawingml/2006/main">
              <a:ext uri="{FF2B5EF4-FFF2-40B4-BE49-F238E27FC236}">
                <a16:creationId xmlns:a16="http://schemas.microsoft.com/office/drawing/2014/main" id="{6F501D2E-2BF3-404F-A015-B7580592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compare(self):</a:t>
            </a:r>
          </a:p>
        </p:txBody>
      </p:sp>
      <p:sp>
        <p:nvSpPr>
          <p:cNvPr id="4" name="    if self.phase != 'compar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2CB34136-41BC-4FED-B463-99CA82F3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'compare'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E11C1D88-EFBB-4989-BBD2-FE0D98C0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self.result = self.first.pair_id == self.second.pair_id">
            <a:extLst xmlns:a="http://schemas.openxmlformats.org/drawingml/2006/main">
              <a:ext uri="{FF2B5EF4-FFF2-40B4-BE49-F238E27FC236}">
                <a16:creationId xmlns:a16="http://schemas.microsoft.com/office/drawing/2014/main" id="{27B9E95E-1E4D-4253-97EA-6A7C8A1C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self.first.pair_id == self.second.pair_id</a:t>
            </a:r>
          </a:p>
        </p:txBody>
      </p:sp>
      <p:sp>
        <p:nvSpPr>
          <p:cNvPr id="7" name="    self.turns += 1">
            <a:extLst xmlns:a="http://schemas.openxmlformats.org/drawingml/2006/main">
              <a:ext uri="{FF2B5EF4-FFF2-40B4-BE49-F238E27FC236}">
                <a16:creationId xmlns:a16="http://schemas.microsoft.com/office/drawing/2014/main" id="{20E7BF42-210F-476D-8261-7A83D348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self.turns += 1</a:t>
            </a:r>
          </a:p>
        </p:txBody>
      </p:sp>
      <p:sp>
        <p:nvSpPr>
          <p:cNvPr id="8" name="    self.phase = 'resolve'">
            <a:extLst xmlns:a="http://schemas.openxmlformats.org/drawingml/2006/main">
              <a:ext uri="{FF2B5EF4-FFF2-40B4-BE49-F238E27FC236}">
                <a16:creationId xmlns:a16="http://schemas.microsoft.com/office/drawing/2014/main" id="{B57A028C-1BC4-4928-AB06-4D4F0352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'resolve'</a:t>
            </a:r>
          </a:p>
        </p:txBody>
      </p:sp>
      <p:sp>
        <p:nvSpPr>
          <p:cNvPr id="9" name="Compare picture values and count one comparison.">
            <a:extLst xmlns:a="http://schemas.openxmlformats.org/drawingml/2006/main">
              <a:ext uri="{FF2B5EF4-FFF2-40B4-BE49-F238E27FC236}">
                <a16:creationId xmlns:a16="http://schemas.microsoft.com/office/drawing/2014/main" id="{0429708F-22C8-4491-AD18-001997F4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Compare picture values and count one comparison.</a:t>
            </a:r>
          </a:p>
        </p:txBody>
      </p:sp>
      <p:sp>
        <p:nvSpPr>
          <p:cNvPr id="10" name="matched is still False until the settlement step.">
            <a:extLst xmlns:a="http://schemas.openxmlformats.org/drawingml/2006/main">
              <a:ext uri="{FF2B5EF4-FFF2-40B4-BE49-F238E27FC236}">
                <a16:creationId xmlns:a16="http://schemas.microsoft.com/office/drawing/2014/main" id="{2591AE54-D8B3-4E53-8BCD-ECBD0807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matched is still False until the settlement step.</a:t>
            </a:r>
          </a:p>
        </p:txBody>
      </p:sp>
      <p:sp>
        <p:nvSpPr>
          <p:cNvPr id="11" name="model.py">
            <a:extLst xmlns:a="http://schemas.openxmlformats.org/drawingml/2006/main">
              <a:ext uri="{FF2B5EF4-FFF2-40B4-BE49-F238E27FC236}">
                <a16:creationId xmlns:a16="http://schemas.microsoft.com/office/drawing/2014/main" id="{59212F70-9C9D-4EFE-8BC4-84015D67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743965A9-69BF-4C88-B062-10679EFD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575868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ttlement: keep or hide">
            <a:extLst xmlns:a="http://schemas.openxmlformats.org/drawingml/2006/main">
              <a:ext uri="{FF2B5EF4-FFF2-40B4-BE49-F238E27FC236}">
                <a16:creationId xmlns:a16="http://schemas.microsoft.com/office/drawing/2014/main" id="{254A87A0-1C85-4747-AB2D-D73C6033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Settlement: keep or hide</a:t>
            </a:r>
          </a:p>
        </p:txBody>
      </p:sp>
      <p:sp>
        <p:nvSpPr>
          <p:cNvPr id="2" name="model.py · Game.settle">
            <a:extLst xmlns:a="http://schemas.openxmlformats.org/drawingml/2006/main">
              <a:ext uri="{FF2B5EF4-FFF2-40B4-BE49-F238E27FC236}">
                <a16:creationId xmlns:a16="http://schemas.microsoft.com/office/drawing/2014/main" id="{8CCE5415-E278-4E68-B21F-8F82D0AD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model.py · Game.settle</a:t>
            </a:r>
          </a:p>
        </p:txBody>
      </p:sp>
      <p:sp>
        <p:nvSpPr>
          <p:cNvPr id="3" name="def settle(self):">
            <a:extLst xmlns:a="http://schemas.openxmlformats.org/drawingml/2006/main">
              <a:ext uri="{FF2B5EF4-FFF2-40B4-BE49-F238E27FC236}">
                <a16:creationId xmlns:a16="http://schemas.microsoft.com/office/drawing/2014/main" id="{D9F71F3B-39E5-4ADD-A435-D75CE7A5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settle(self):</a:t>
            </a:r>
          </a:p>
        </p:txBody>
      </p:sp>
      <p:sp>
        <p:nvSpPr>
          <p:cNvPr id="4" name="    if self.phase != 'resolve' or not (self.first and self.second):">
            <a:extLst xmlns:a="http://schemas.openxmlformats.org/drawingml/2006/main">
              <a:ext uri="{FF2B5EF4-FFF2-40B4-BE49-F238E27FC236}">
                <a16:creationId xmlns:a16="http://schemas.microsoft.com/office/drawing/2014/main" id="{BE70A55E-C7FE-4FC8-8B60-81089448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self.phase != 'resolve' or not (self.first and self.second):</a:t>
            </a:r>
          </a:p>
        </p:txBody>
      </p:sp>
      <p:sp>
        <p:nvSpPr>
          <p:cNvPr id="5" name="        return">
            <a:extLst xmlns:a="http://schemas.openxmlformats.org/drawingml/2006/main">
              <a:ext uri="{FF2B5EF4-FFF2-40B4-BE49-F238E27FC236}">
                <a16:creationId xmlns:a16="http://schemas.microsoft.com/office/drawing/2014/main" id="{74DB6457-493C-4CAE-941D-D13FD8D4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</a:t>
            </a:r>
          </a:p>
        </p:txBody>
      </p:sp>
      <p:sp>
        <p:nvSpPr>
          <p:cNvPr id="6" name="    if self.result:">
            <a:extLst xmlns:a="http://schemas.openxmlformats.org/drawingml/2006/main">
              <a:ext uri="{FF2B5EF4-FFF2-40B4-BE49-F238E27FC236}">
                <a16:creationId xmlns:a16="http://schemas.microsoft.com/office/drawing/2014/main" id="{6B242382-A5C6-44D6-9419-479C254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self.result:</a:t>
            </a:r>
          </a:p>
        </p:txBody>
      </p:sp>
      <p:sp>
        <p:nvSpPr>
          <p:cNvPr id="7" name="        self.first.mark_matched()">
            <a:extLst xmlns:a="http://schemas.openxmlformats.org/drawingml/2006/main">
              <a:ext uri="{FF2B5EF4-FFF2-40B4-BE49-F238E27FC236}">
                <a16:creationId xmlns:a16="http://schemas.microsoft.com/office/drawing/2014/main" id="{B76DD2B6-94A2-466E-A220-941E832E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self.first.mark_matched()</a:t>
            </a:r>
          </a:p>
        </p:txBody>
      </p:sp>
      <p:sp>
        <p:nvSpPr>
          <p:cNvPr id="8" name="        self.second.mark_matched()">
            <a:extLst xmlns:a="http://schemas.openxmlformats.org/drawingml/2006/main">
              <a:ext uri="{FF2B5EF4-FFF2-40B4-BE49-F238E27FC236}">
                <a16:creationId xmlns:a16="http://schemas.microsoft.com/office/drawing/2014/main" id="{88F36B1E-E8C0-4161-ABA5-A3723EEB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self.second.mark_matched()</a:t>
            </a:r>
          </a:p>
        </p:txBody>
      </p:sp>
      <p:sp>
        <p:nvSpPr>
          <p:cNvPr id="9" name="        self.matches += 1">
            <a:extLst xmlns:a="http://schemas.openxmlformats.org/drawingml/2006/main">
              <a:ext uri="{FF2B5EF4-FFF2-40B4-BE49-F238E27FC236}">
                <a16:creationId xmlns:a16="http://schemas.microsoft.com/office/drawing/2014/main" id="{9BE6CCDD-8458-4111-AA77-5A69664A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self.matches += 1</a:t>
            </a:r>
          </a:p>
        </p:txBody>
      </p:sp>
      <p:sp>
        <p:nvSpPr>
          <p:cNvPr id="10" name="    else:">
            <a:extLst xmlns:a="http://schemas.openxmlformats.org/drawingml/2006/main">
              <a:ext uri="{FF2B5EF4-FFF2-40B4-BE49-F238E27FC236}">
                <a16:creationId xmlns:a16="http://schemas.microsoft.com/office/drawing/2014/main" id="{E74D6F51-9F2B-496D-AFF6-F72A9F3D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11" name="        self.first.hide()">
            <a:extLst xmlns:a="http://schemas.openxmlformats.org/drawingml/2006/main">
              <a:ext uri="{FF2B5EF4-FFF2-40B4-BE49-F238E27FC236}">
                <a16:creationId xmlns:a16="http://schemas.microsoft.com/office/drawing/2014/main" id="{A78D4F28-6D84-4CA3-9AB2-F0A9F6A8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self.first.hide()</a:t>
            </a:r>
          </a:p>
        </p:txBody>
      </p:sp>
      <p:sp>
        <p:nvSpPr>
          <p:cNvPr id="12" name="        self.second.hide()">
            <a:extLst xmlns:a="http://schemas.openxmlformats.org/drawingml/2006/main">
              <a:ext uri="{FF2B5EF4-FFF2-40B4-BE49-F238E27FC236}">
                <a16:creationId xmlns:a16="http://schemas.microsoft.com/office/drawing/2014/main" id="{62A5DBBF-17A5-4885-8F01-2ADFA2EF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self.second.hide()</a:t>
            </a:r>
          </a:p>
        </p:txBody>
      </p:sp>
      <p:sp>
        <p:nvSpPr>
          <p:cNvPr id="13" name="    self.first = self.second = None">
            <a:extLst xmlns:a="http://schemas.openxmlformats.org/drawingml/2006/main">
              <a:ext uri="{FF2B5EF4-FFF2-40B4-BE49-F238E27FC236}">
                <a16:creationId xmlns:a16="http://schemas.microsoft.com/office/drawing/2014/main" id="{7A91182A-0273-4F09-A08D-C466F14D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self.first = self.second = None</a:t>
            </a:r>
          </a:p>
        </p:txBody>
      </p:sp>
      <p:sp>
        <p:nvSpPr>
          <p:cNvPr id="14" name="    self.result = None">
            <a:extLst xmlns:a="http://schemas.openxmlformats.org/drawingml/2006/main">
              <a:ext uri="{FF2B5EF4-FFF2-40B4-BE49-F238E27FC236}">
                <a16:creationId xmlns:a16="http://schemas.microsoft.com/office/drawing/2014/main" id="{4A67563F-49A2-46EB-AFDA-4375A4CF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self.result = None</a:t>
            </a:r>
          </a:p>
        </p:txBody>
      </p:sp>
      <p:sp>
        <p:nvSpPr>
          <p:cNvPr id="15" name="    self.phase = 'won' if self.board.complete else 'first'">
            <a:extLst xmlns:a="http://schemas.openxmlformats.org/drawingml/2006/main">
              <a:ext uri="{FF2B5EF4-FFF2-40B4-BE49-F238E27FC236}">
                <a16:creationId xmlns:a16="http://schemas.microsoft.com/office/drawing/2014/main" id="{BA2E9AF8-E4DA-4AEB-9D3D-EF01E30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006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self.phase = 'won' if self.board.complete else 'first'</a:t>
            </a:r>
          </a:p>
        </p:txBody>
      </p:sp>
      <p:sp>
        <p:nvSpPr>
          <p:cNvPr id="16" name="Equal pictures are marked matched; different ones are hidden.">
            <a:extLst xmlns:a="http://schemas.openxmlformats.org/drawingml/2006/main">
              <a:ext uri="{FF2B5EF4-FFF2-40B4-BE49-F238E27FC236}">
                <a16:creationId xmlns:a16="http://schemas.microsoft.com/office/drawing/2014/main" id="{B18C37DD-8B54-44C0-8D0B-519753CA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Equal pictures are marked matched; different ones are hidden.</a:t>
            </a:r>
          </a:p>
        </p:txBody>
      </p:sp>
      <p:sp>
        <p:nvSpPr>
          <p:cNvPr id="17" name="Temporary references are cleared. Board still holds the cards.">
            <a:extLst xmlns:a="http://schemas.openxmlformats.org/drawingml/2006/main">
              <a:ext uri="{FF2B5EF4-FFF2-40B4-BE49-F238E27FC236}">
                <a16:creationId xmlns:a16="http://schemas.microsoft.com/office/drawing/2014/main" id="{AD387419-F385-464F-B7D9-5EF64EAD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Temporary references are cleared. Board still holds the cards.</a:t>
            </a:r>
          </a:p>
        </p:txBody>
      </p:sp>
      <p:sp>
        <p:nvSpPr>
          <p:cNvPr id="18" name="model.py">
            <a:extLst xmlns:a="http://schemas.openxmlformats.org/drawingml/2006/main">
              <a:ext uri="{FF2B5EF4-FFF2-40B4-BE49-F238E27FC236}">
                <a16:creationId xmlns:a16="http://schemas.microsoft.com/office/drawing/2014/main" id="{D9952592-E610-488E-BEF1-572C0109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9" name="13">
            <a:extLst xmlns:a="http://schemas.openxmlformats.org/drawingml/2006/main">
              <a:ext uri="{FF2B5EF4-FFF2-40B4-BE49-F238E27FC236}">
                <a16:creationId xmlns:a16="http://schemas.microsoft.com/office/drawing/2014/main" id="{89B8B99B-CBD5-4D1A-B179-8D6DF9E2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240628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Match example: C01 and C02">
            <a:extLst xmlns:a="http://schemas.openxmlformats.org/drawingml/2006/main">
              <a:ext uri="{FF2B5EF4-FFF2-40B4-BE49-F238E27FC236}">
                <a16:creationId xmlns:a16="http://schemas.microsoft.com/office/drawing/2014/main" id="{88A2E7D2-21A8-44F2-82D0-A08C3B8B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Match example: C01 and C02</a:t>
            </a:r>
          </a:p>
        </p:txBody>
      </p:sp>
      <p:sp>
        <p:nvSpPr>
          <p:cNvPr id="2" name="Load the Match example, select cards, and use N">
            <a:extLst xmlns:a="http://schemas.openxmlformats.org/drawingml/2006/main">
              <a:ext uri="{FF2B5EF4-FFF2-40B4-BE49-F238E27FC236}">
                <a16:creationId xmlns:a16="http://schemas.microsoft.com/office/drawing/2014/main" id="{B65B0F6B-01E2-4619-9212-F6FF1A0C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Load the Match example, select cards, and use 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98F25E-848D-42E0-9E90-A6CF51723CD9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Observation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Choose C01, press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second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first → C01; face_up = True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Choose C02, press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second → C02; both face up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N: compare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result = True; 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N: settle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matched = True; matches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electing a card only queues it. Each N advances one stage.">
            <a:extLst xmlns:a="http://schemas.openxmlformats.org/drawingml/2006/main">
              <a:ext uri="{FF2B5EF4-FFF2-40B4-BE49-F238E27FC236}">
                <a16:creationId xmlns:a16="http://schemas.microsoft.com/office/drawing/2014/main" id="{F049B2FF-0C59-4E47-984D-C921C313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Selecting a card only queues it. Each N advances one stage.</a:t>
            </a:r>
          </a:p>
        </p:txBody>
      </p:sp>
      <p:sp>
        <p:nvSpPr>
          <p:cNvPr id="5" name="14">
            <a:extLst xmlns:a="http://schemas.openxmlformats.org/drawingml/2006/main">
              <a:ext uri="{FF2B5EF4-FFF2-40B4-BE49-F238E27FC236}">
                <a16:creationId xmlns:a16="http://schemas.microsoft.com/office/drawing/2014/main" id="{B75F5E1B-6DD1-47C3-B600-C6BA5E7C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42200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Mismatch example: C03 and C04">
            <a:extLst xmlns:a="http://schemas.openxmlformats.org/drawingml/2006/main">
              <a:ext uri="{FF2B5EF4-FFF2-40B4-BE49-F238E27FC236}">
                <a16:creationId xmlns:a16="http://schemas.microsoft.com/office/drawing/2014/main" id="{2BA82C66-9540-4F25-BA07-E40B5EC1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Mismatch example: C03 and C04</a:t>
            </a:r>
          </a:p>
        </p:txBody>
      </p:sp>
      <p:sp>
        <p:nvSpPr>
          <p:cNvPr id="2" name="Load the Mismatch example: leaf versus sun">
            <a:extLst xmlns:a="http://schemas.openxmlformats.org/drawingml/2006/main">
              <a:ext uri="{FF2B5EF4-FFF2-40B4-BE49-F238E27FC236}">
                <a16:creationId xmlns:a16="http://schemas.microsoft.com/office/drawing/2014/main" id="{167D25BD-1F5A-4697-AE46-67FE350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Load the Mismatch example: leaf versus sun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BC986-D4F0-4012-AAF1-8CF0812B5156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905000"/>
                <a:gridCol w="542925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phase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Observation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C03, N; then C04,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compare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leaf and sun are face up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N: compare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resolve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result = False; turns =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N: settle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Both face_up = False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Inspect Board.cards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first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Same objects; matches =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Hiding changes the existing Cards. It does not create replacements.">
            <a:extLst xmlns:a="http://schemas.openxmlformats.org/drawingml/2006/main">
              <a:ext uri="{FF2B5EF4-FFF2-40B4-BE49-F238E27FC236}">
                <a16:creationId xmlns:a16="http://schemas.microsoft.com/office/drawing/2014/main" id="{E84B589A-6F77-4339-B34D-9EE3C2DB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Hiding changes the existing Cards. It does not create replacements.</a:t>
            </a:r>
          </a:p>
        </p:txBody>
      </p:sp>
      <p:sp>
        <p:nvSpPr>
          <p:cNvPr id="5" name="15">
            <a:extLst xmlns:a="http://schemas.openxmlformats.org/drawingml/2006/main">
              <a:ext uri="{FF2B5EF4-FFF2-40B4-BE49-F238E27FC236}">
                <a16:creationId xmlns:a16="http://schemas.microsoft.com/office/drawing/2014/main" id="{1B76CAA9-EB00-4CE2-8034-1B51BBE2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927051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ferences, reset &amp; identity">
            <a:extLst xmlns:a="http://schemas.openxmlformats.org/drawingml/2006/main">
              <a:ext uri="{FF2B5EF4-FFF2-40B4-BE49-F238E27FC236}">
                <a16:creationId xmlns:a16="http://schemas.microsoft.com/office/drawing/2014/main" id="{0FFD8E1F-47C4-4048-9824-405C4938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References, reset &amp; identity</a:t>
            </a:r>
          </a:p>
        </p:txBody>
      </p:sp>
      <p:sp>
        <p:nvSpPr>
          <p:cNvPr id="2" name="Python is tests object identity">
            <a:extLst xmlns:a="http://schemas.openxmlformats.org/drawingml/2006/main">
              <a:ext uri="{FF2B5EF4-FFF2-40B4-BE49-F238E27FC236}">
                <a16:creationId xmlns:a16="http://schemas.microsoft.com/office/drawing/2014/main" id="{7AF03F35-677E-4D5D-BB71-998F19ED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Python is tests object identity</a:t>
            </a:r>
          </a:p>
        </p:txBody>
      </p:sp>
      <p:sp>
        <p:nvSpPr>
          <p:cNvPr id="3" name="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06F5FE01-299C-4748-90F3-03FAE90F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 = Game(sample=True)</a:t>
            </a:r>
          </a:p>
        </p:txBody>
      </p:sp>
      <p:sp>
        <p:nvSpPr>
          <p:cNvPr id="4" name="game.play('C01')">
            <a:extLst xmlns:a="http://schemas.openxmlformats.org/drawingml/2006/main">
              <a:ext uri="{FF2B5EF4-FFF2-40B4-BE49-F238E27FC236}">
                <a16:creationId xmlns:a16="http://schemas.microsoft.com/office/drawing/2014/main" id="{E4CE03F3-8E1E-47ED-9B5A-30E147B4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game.play('C01')</a:t>
            </a:r>
          </a:p>
        </p:txBody>
      </p:sp>
      <p:sp>
        <p:nvSpPr>
          <p:cNvPr id="5" name="card = game.first">
            <a:extLst xmlns:a="http://schemas.openxmlformats.org/drawingml/2006/main">
              <a:ext uri="{FF2B5EF4-FFF2-40B4-BE49-F238E27FC236}">
                <a16:creationId xmlns:a16="http://schemas.microsoft.com/office/drawing/2014/main" id="{D530946C-2764-44EF-9C22-2564F0A1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card = game.first</a:t>
            </a:r>
          </a:p>
        </p:txBody>
      </p:sp>
      <p:sp>
        <p:nvSpPr>
          <p:cNvPr id="6" name="print(card is game.board.cards[0])  # True">
            <a:extLst xmlns:a="http://schemas.openxmlformats.org/drawingml/2006/main">
              <a:ext uri="{FF2B5EF4-FFF2-40B4-BE49-F238E27FC236}">
                <a16:creationId xmlns:a16="http://schemas.microsoft.com/office/drawing/2014/main" id="{70DCE801-D98A-4874-8780-28E56719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game.board.cards[0])  # True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6C4A9-4E09-43AE-980A-00F9C5BE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8" name="new_game = Game(sample=True)">
            <a:extLst xmlns:a="http://schemas.openxmlformats.org/drawingml/2006/main">
              <a:ext uri="{FF2B5EF4-FFF2-40B4-BE49-F238E27FC236}">
                <a16:creationId xmlns:a16="http://schemas.microsoft.com/office/drawing/2014/main" id="{33C6A740-563E-4A6F-AE84-4F4F6717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new_game = Game(sample=True)</a:t>
            </a:r>
          </a:p>
        </p:txBody>
      </p:sp>
      <p:sp>
        <p:nvSpPr>
          <p:cNvPr id="9" name="print(card is new_game.board.cards[0])  # False">
            <a:extLst xmlns:a="http://schemas.openxmlformats.org/drawingml/2006/main">
              <a:ext uri="{FF2B5EF4-FFF2-40B4-BE49-F238E27FC236}">
                <a16:creationId xmlns:a16="http://schemas.microsoft.com/office/drawing/2014/main" id="{2C5F641C-C8E1-4E2E-BE35-EB394A35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 is new_game.board.cards[0])  # False</a:t>
            </a:r>
          </a:p>
        </p:txBody>
      </p:sp>
      <p:sp>
        <p:nvSpPr>
          <p:cNvPr id="10" name="print(card.face_up)                    # True">
            <a:extLst xmlns:a="http://schemas.openxmlformats.org/drawingml/2006/main">
              <a:ext uri="{FF2B5EF4-FFF2-40B4-BE49-F238E27FC236}">
                <a16:creationId xmlns:a16="http://schemas.microsoft.com/office/drawing/2014/main" id="{A98CC18D-CD5B-47FF-8C1A-E4ED98B1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print(card.face_up)                    # True</a:t>
            </a:r>
          </a:p>
        </p:txBody>
      </p:sp>
      <p:sp>
        <p:nvSpPr>
          <p:cNvPr id="11" name="A new game creates a new Board and new Cards.">
            <a:extLst xmlns:a="http://schemas.openxmlformats.org/drawingml/2006/main">
              <a:ext uri="{FF2B5EF4-FFF2-40B4-BE49-F238E27FC236}">
                <a16:creationId xmlns:a16="http://schemas.microsoft.com/office/drawing/2014/main" id="{427929E6-DD43-41D8-9A98-F15AF916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A new game creates a new Board and new Cards.</a:t>
            </a:r>
          </a:p>
        </p:txBody>
      </p:sp>
      <p:sp>
        <p:nvSpPr>
          <p:cNvPr id="12" name="The variable card can still refer to an object from the old game.">
            <a:extLst xmlns:a="http://schemas.openxmlformats.org/drawingml/2006/main">
              <a:ext uri="{FF2B5EF4-FFF2-40B4-BE49-F238E27FC236}">
                <a16:creationId xmlns:a16="http://schemas.microsoft.com/office/drawing/2014/main" id="{64F37675-A9B8-46F7-BBA1-6432A934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The variable card can still refer to an object from the old game.</a:t>
            </a:r>
          </a:p>
        </p:txBody>
      </p:sp>
      <p:sp>
        <p:nvSpPr>
          <p:cNvPr id="13" name="model.py">
            <a:extLst xmlns:a="http://schemas.openxmlformats.org/drawingml/2006/main">
              <a:ext uri="{FF2B5EF4-FFF2-40B4-BE49-F238E27FC236}">
                <a16:creationId xmlns:a16="http://schemas.microsoft.com/office/drawing/2014/main" id="{A24CD1F8-E29F-4AD8-8DE2-A895DC90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model.py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571F9F51-4649-4A44-B5FE-E0F7AE20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2808097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un the Python example">
            <a:extLst xmlns:a="http://schemas.openxmlformats.org/drawingml/2006/main">
              <a:ext uri="{FF2B5EF4-FFF2-40B4-BE49-F238E27FC236}">
                <a16:creationId xmlns:a16="http://schemas.microsoft.com/office/drawing/2014/main" id="{13BE323D-EA02-48BA-8A79-15EF5174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Run the Python example</a:t>
            </a:r>
          </a:p>
        </p:txBody>
      </p:sp>
      <p:sp>
        <p:nvSpPr>
          <p:cNvPr id="2" name="Python 3.12+, with no additional packages">
            <a:extLst xmlns:a="http://schemas.openxmlformats.org/drawingml/2006/main">
              <a:ext uri="{FF2B5EF4-FFF2-40B4-BE49-F238E27FC236}">
                <a16:creationId xmlns:a16="http://schemas.microsoft.com/office/drawing/2014/main" id="{A6BA6CDA-4BE7-4369-A51C-22B35052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Python 3.12+, with no additional packages</a:t>
            </a:r>
          </a:p>
        </p:txBody>
      </p:sp>
      <p:sp>
        <p:nvSpPr>
          <p:cNvPr id="3" name="python main.py --lang en --sample">
            <a:extLst xmlns:a="http://schemas.openxmlformats.org/drawingml/2006/main">
              <a:ext uri="{FF2B5EF4-FFF2-40B4-BE49-F238E27FC236}">
                <a16:creationId xmlns:a16="http://schemas.microsoft.com/office/drawing/2014/main" id="{A8A59296-BE87-4815-9170-FB781B74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main.py --lang en --sample</a:t>
            </a:r>
          </a:p>
        </p:txBody>
      </p:sp>
      <p:sp>
        <p:nvSpPr>
          <p:cNvPr id="4" name="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9CA43EAF-B7FB-433D-9811-0702A2E0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-m unittest discover -s tests -v</a:t>
            </a:r>
          </a:p>
        </p:txBody>
      </p:sp>
      <p:sp>
        <p:nvSpPr>
          <p:cNvPr id="5" name="Open a terminal in the extracted memory_oop folder.">
            <a:extLst xmlns:a="http://schemas.openxmlformats.org/drawingml/2006/main">
              <a:ext uri="{FF2B5EF4-FFF2-40B4-BE49-F238E27FC236}">
                <a16:creationId xmlns:a16="http://schemas.microsoft.com/office/drawing/2014/main" id="{2BF6FD79-7F7E-4B24-9841-DE99C611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Open a terminal in the extracted memory_oop folder.</a:t>
            </a:r>
          </a:p>
        </p:txBody>
      </p:sp>
      <p:sp>
        <p:nvSpPr>
          <p:cNvPr id="6" name="Commands: pick C01, step, inspect C01, confirm, sample, quit.">
            <a:extLst xmlns:a="http://schemas.openxmlformats.org/drawingml/2006/main">
              <a:ext uri="{FF2B5EF4-FFF2-40B4-BE49-F238E27FC236}">
                <a16:creationId xmlns:a16="http://schemas.microsoft.com/office/drawing/2014/main" id="{91F4F7F7-2D07-426F-BF43-76E6F95BF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Commands: pick C01, step, inspect C01, confirm, sample, quit.</a:t>
            </a:r>
          </a:p>
        </p:txBody>
      </p:sp>
      <p:sp>
        <p:nvSpPr>
          <p:cNvPr id="7" name="Terminal / PowerShell">
            <a:extLst xmlns:a="http://schemas.openxmlformats.org/drawingml/2006/main">
              <a:ext uri="{FF2B5EF4-FFF2-40B4-BE49-F238E27FC236}">
                <a16:creationId xmlns:a16="http://schemas.microsoft.com/office/drawing/2014/main" id="{842696E2-0333-4B80-B138-12C9D2A0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 / PowerShell</a:t>
            </a:r>
          </a:p>
        </p:txBody>
      </p:sp>
      <p:sp>
        <p:nvSpPr>
          <p:cNvPr id="8" name="17">
            <a:extLst xmlns:a="http://schemas.openxmlformats.org/drawingml/2006/main">
              <a:ext uri="{FF2B5EF4-FFF2-40B4-BE49-F238E27FC236}">
                <a16:creationId xmlns:a16="http://schemas.microsoft.com/office/drawing/2014/main" id="{059BCBE0-0C53-4731-B7A9-B4EE383E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235868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xercises &amp; references">
            <a:extLst xmlns:a="http://schemas.openxmlformats.org/drawingml/2006/main">
              <a:ext uri="{FF2B5EF4-FFF2-40B4-BE49-F238E27FC236}">
                <a16:creationId xmlns:a16="http://schemas.microsoft.com/office/drawing/2014/main" id="{6499955B-EA0A-4D4F-8FA0-3186C558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Exercises &amp; references</a:t>
            </a:r>
          </a:p>
        </p:txBody>
      </p:sp>
      <p:sp>
        <p:nvSpPr>
          <p:cNvPr id="2" name="Check rules through observable state">
            <a:extLst xmlns:a="http://schemas.openxmlformats.org/drawingml/2006/main">
              <a:ext uri="{FF2B5EF4-FFF2-40B4-BE49-F238E27FC236}">
                <a16:creationId xmlns:a16="http://schemas.microsoft.com/office/drawing/2014/main" id="{E725DFC8-D51E-41E4-B313-304018E8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Check rules through observable state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0927CC6C-0507-4BD5-A4CE-F95D96CF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Call hide() after matching. The card should stay face up.">
            <a:extLst xmlns:a="http://schemas.openxmlformats.org/drawingml/2006/main">
              <a:ext uri="{FF2B5EF4-FFF2-40B4-BE49-F238E27FC236}">
                <a16:creationId xmlns:a16="http://schemas.microsoft.com/office/drawing/2014/main" id="{BDC7E6E7-8038-4AB4-B260-28A7CA219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Call hide() after matching. The card should stay face up.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D38B6C5B-D824-4FEB-9AFE-2F076367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Keep a card reference, start a new game, and compare identities.">
            <a:extLst xmlns:a="http://schemas.openxmlformats.org/drawingml/2006/main">
              <a:ext uri="{FF2B5EF4-FFF2-40B4-BE49-F238E27FC236}">
                <a16:creationId xmlns:a16="http://schemas.microsoft.com/office/drawing/2014/main" id="{CE53CCCE-ABD0-4C1A-94D7-EF3E9D70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028950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Keep a card reference, start a new game, and compare identities.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608E8944-AB38-475B-980B-3786CF18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05275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475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87C6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8" name="Compare languages: === checks object identity in the web version; Pyth">
            <a:extLst xmlns:a="http://schemas.openxmlformats.org/drawingml/2006/main">
              <a:ext uri="{FF2B5EF4-FFF2-40B4-BE49-F238E27FC236}">
                <a16:creationId xmlns:a16="http://schemas.microsoft.com/office/drawing/2014/main" id="{E06A289A-8C0B-4DF2-914E-6B4ECAF7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105275"/>
            <a:ext cx="9858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Compare languages: === checks object identity in the web version; Python uses is.</a:t>
            </a:r>
          </a:p>
        </p:txBody>
      </p:sp>
      <p:sp>
        <p:nvSpPr>
          <p:cNvPr id="9" name="Python · Classes  https://docs.python.org/3.12/tutorial/classes.html">
            <a:extLst xmlns:a="http://schemas.openxmlformats.org/drawingml/2006/main">
              <a:ext uri="{FF2B5EF4-FFF2-40B4-BE49-F238E27FC236}">
                <a16:creationId xmlns:a16="http://schemas.microsoft.com/office/drawing/2014/main" id="{0B4F5B82-7B5D-4D58-9B16-9456ADA8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7687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87C62"/>
                </a:solidFill>
                <a:latin typeface="Aptos"/>
                <a:ea typeface="Aptos"/>
                <a:cs typeface="Aptos"/>
              </a:rPr>
              <a:t>Python · Classes  </a:t>
            </a:r>
            <a:r>
              <a:rPr sz="1500" b="0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c17b87b9e38f4ef8"/>
              </a:rPr>
              <a:t>https://docs.python.org/3.12/tutorial/classes.html</a:t>
            </a:r>
          </a:p>
        </p:txBody>
      </p:sp>
      <p:sp>
        <p:nvSpPr>
          <p:cNvPr id="10" name="Python · Identity  https://docs.python.org/3.12/reference/expressions.">
            <a:extLst xmlns:a="http://schemas.openxmlformats.org/drawingml/2006/main">
              <a:ext uri="{FF2B5EF4-FFF2-40B4-BE49-F238E27FC236}">
                <a16:creationId xmlns:a16="http://schemas.microsoft.com/office/drawing/2014/main" id="{EB2325B0-2F98-482F-A213-401FF5A6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24550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87C62"/>
                </a:solidFill>
                <a:latin typeface="Aptos"/>
                <a:ea typeface="Aptos"/>
                <a:cs typeface="Aptos"/>
              </a:rPr>
              <a:t>Python · Identity  </a:t>
            </a:r>
            <a:r>
              <a:rPr sz="1500" b="0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02f67a716560480c"/>
              </a:rPr>
              <a:t>https://docs.python.org/3.12/reference/expressions.html#is-not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0B058AB1-1BD4-47C2-A5F7-C51FF0D9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5697070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stall and run the Pygame version">
            <a:extLst xmlns:a="http://schemas.openxmlformats.org/drawingml/2006/main">
              <a:ext uri="{FF2B5EF4-FFF2-40B4-BE49-F238E27FC236}">
                <a16:creationId xmlns:a16="http://schemas.microsoft.com/office/drawing/2014/main" id="{85ED4EF5-F177-4980-8F3E-38CB1E19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Install and run the Pygame version</a:t>
            </a:r>
          </a:p>
        </p:txBody>
      </p:sp>
      <p:sp>
        <p:nvSpPr>
          <p:cNvPr id="2" name="Extract the ZIP and open a terminal in memory_oop">
            <a:extLst xmlns:a="http://schemas.openxmlformats.org/drawingml/2006/main">
              <a:ext uri="{FF2B5EF4-FFF2-40B4-BE49-F238E27FC236}">
                <a16:creationId xmlns:a16="http://schemas.microsoft.com/office/drawing/2014/main" id="{EC3A2AFA-A400-4A69-8E03-AD74B5D1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Extract the ZIP and open a terminal in memory_oop</a:t>
            </a:r>
          </a:p>
        </p:txBody>
      </p:sp>
      <p:sp>
        <p:nvSpPr>
          <p:cNvPr id="3" name="python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25193F4D-03A6-40DA-ACAB-88C8529D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-m pip install -r requirements.txt</a:t>
            </a:r>
          </a:p>
        </p:txBody>
      </p:sp>
      <p:sp>
        <p:nvSpPr>
          <p:cNvPr id="4" name="python pygame_app.py --lang en">
            <a:extLst xmlns:a="http://schemas.openxmlformats.org/drawingml/2006/main">
              <a:ext uri="{FF2B5EF4-FFF2-40B4-BE49-F238E27FC236}">
                <a16:creationId xmlns:a16="http://schemas.microsoft.com/office/drawing/2014/main" id="{ADE6520B-98FB-486B-AC04-99C4B84D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pygame_app.py --lang en</a:t>
            </a:r>
          </a:p>
        </p:txBody>
      </p:sp>
      <p:sp>
        <p:nvSpPr>
          <p:cNvPr id="5" name="python pygame_app.py --lang en --sample">
            <a:extLst xmlns:a="http://schemas.openxmlformats.org/drawingml/2006/main">
              <a:ext uri="{FF2B5EF4-FFF2-40B4-BE49-F238E27FC236}">
                <a16:creationId xmlns:a16="http://schemas.microsoft.com/office/drawing/2014/main" id="{731639C0-044F-4D93-BA9B-A47E960B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pygame_app.py --lang en --sample</a:t>
            </a:r>
          </a:p>
        </p:txBody>
      </p:sp>
      <p:sp>
        <p:nvSpPr>
          <p:cNvPr id="6" name="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357EDFA7-79A2-408C-80F6-65E05C68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 -m unittest discover -s tests -v</a:t>
            </a:r>
          </a:p>
        </p:txBody>
      </p:sp>
      <p:sp>
        <p:nvSpPr>
          <p:cNvPr id="7" name="Use Python 3.12 and Pygame 2.6.1. Initial package installation needs i">
            <a:extLst xmlns:a="http://schemas.openxmlformats.org/drawingml/2006/main">
              <a:ext uri="{FF2B5EF4-FFF2-40B4-BE49-F238E27FC236}">
                <a16:creationId xmlns:a16="http://schemas.microsoft.com/office/drawing/2014/main" id="{CB799502-6385-429D-8404-7D50AB54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Use Python 3.12 and Pygame 2.6.1. Initial package installation needs internet.</a:t>
            </a:r>
          </a:p>
        </p:txBody>
      </p:sp>
      <p:sp>
        <p:nvSpPr>
          <p:cNvPr id="8" name="--sample opens a fixed board in step mode. Play offline after setup.">
            <a:extLst xmlns:a="http://schemas.openxmlformats.org/drawingml/2006/main">
              <a:ext uri="{FF2B5EF4-FFF2-40B4-BE49-F238E27FC236}">
                <a16:creationId xmlns:a16="http://schemas.microsoft.com/office/drawing/2014/main" id="{7632B559-B42B-4357-BE6D-1AA918C6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--sample opens a fixed board in step mode. Play offline after setup.</a:t>
            </a:r>
          </a:p>
        </p:txBody>
      </p:sp>
      <p:sp>
        <p:nvSpPr>
          <p:cNvPr id="9" name="Terminal / PowerShell">
            <a:extLst xmlns:a="http://schemas.openxmlformats.org/drawingml/2006/main">
              <a:ext uri="{FF2B5EF4-FFF2-40B4-BE49-F238E27FC236}">
                <a16:creationId xmlns:a16="http://schemas.microsoft.com/office/drawing/2014/main" id="{A6E56B34-1AF5-46E3-8007-6666E7EF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 / PowerShell</a:t>
            </a:r>
          </a:p>
        </p:txBody>
      </p:sp>
      <p:sp>
        <p:nvSpPr>
          <p:cNvPr id="10" name="19">
            <a:extLst xmlns:a="http://schemas.openxmlformats.org/drawingml/2006/main">
              <a:ext uri="{FF2B5EF4-FFF2-40B4-BE49-F238E27FC236}">
                <a16:creationId xmlns:a16="http://schemas.microsoft.com/office/drawing/2014/main" id="{186A37DF-C4D0-4575-ACD1-CF7E4C0D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548052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ygame desktop version">
            <a:extLst xmlns:a="http://schemas.openxmlformats.org/drawingml/2006/main">
              <a:ext uri="{FF2B5EF4-FFF2-40B4-BE49-F238E27FC236}">
                <a16:creationId xmlns:a16="http://schemas.microsoft.com/office/drawing/2014/main" id="{63D30241-FABF-4046-83FD-F55CA84D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Pygame desktop version</a:t>
            </a:r>
          </a:p>
        </p:txBody>
      </p:sp>
      <p:sp>
        <p:nvSpPr>
          <p:cNvPr id="2" name="The same matching rules run directly on Python objects">
            <a:extLst xmlns:a="http://schemas.openxmlformats.org/drawingml/2006/main">
              <a:ext uri="{FF2B5EF4-FFF2-40B4-BE49-F238E27FC236}">
                <a16:creationId xmlns:a16="http://schemas.microsoft.com/office/drawing/2014/main" id="{2471D988-6F44-4287-9F2C-5F747DE5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The same matching rules run directly on Python objects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99AD3-A6AA-4B27-BE45-60A5851318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16c1550bed4b8f"/>
          <a:stretch xmlns:a="http://schemas.openxmlformats.org/drawingml/2006/main"/>
        </p:blipFill>
        <p:spPr>
          <a:xfrm xmlns:a="http://schemas.openxmlformats.org/drawingml/2006/main">
            <a:off x="571500" y="1764506"/>
            <a:ext cx="7353300" cy="4595813"/>
          </a:xfrm>
          <a:prstGeom xmlns:a="http://schemas.openxmlformats.org/drawingml/2006/main" prst="rect">
            <a:avLst/>
          </a:prstGeom>
        </p:spPr>
      </p:pic>
      <p:sp>
        <p:nvSpPr>
          <p:cNvPr id="4" name="Object labels and reference inspection are retained.">
            <a:extLst xmlns:a="http://schemas.openxmlformats.org/drawingml/2006/main">
              <a:ext uri="{FF2B5EF4-FFF2-40B4-BE49-F238E27FC236}">
                <a16:creationId xmlns:a16="http://schemas.microsoft.com/office/drawing/2014/main" id="{110859BB-FF1C-41FB-A91E-2312D3DA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8120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Object labels and reference inspection are retained.</a:t>
            </a:r>
          </a:p>
        </p:txBody>
      </p:sp>
      <p:sp>
        <p:nvSpPr>
          <p:cNvPr id="5" name="Equal pictures: compare first, then settle.">
            <a:extLst xmlns:a="http://schemas.openxmlformats.org/drawingml/2006/main">
              <a:ext uri="{FF2B5EF4-FFF2-40B4-BE49-F238E27FC236}">
                <a16:creationId xmlns:a16="http://schemas.microsoft.com/office/drawing/2014/main" id="{D432FC33-C74C-43C9-94FB-4FDEF993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62325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72C40"/>
                </a:solidFill>
                <a:latin typeface="Aptos"/>
                <a:ea typeface="Aptos"/>
                <a:cs typeface="Aptos"/>
              </a:rPr>
              <a:t>Equal pictures: compare first, then settle.</a:t>
            </a:r>
          </a:p>
        </p:txBody>
      </p:sp>
      <p:sp>
        <p:nvSpPr>
          <p:cNvPr id="6" name="Download Pygame / Python example">
            <a:extLst xmlns:a="http://schemas.openxmlformats.org/drawingml/2006/main">
              <a:ext uri="{FF2B5EF4-FFF2-40B4-BE49-F238E27FC236}">
                <a16:creationId xmlns:a16="http://schemas.microsoft.com/office/drawing/2014/main" id="{D4E2D41D-8038-4DC5-A272-A289C178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2959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87C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87C62"/>
                </a:solidFill>
                <a:latin typeface="Aptos"/>
                <a:ea typeface="Aptos"/>
                <a:cs typeface="Aptos"/>
                <a:hlinkClick xmlns:r="http://schemas.openxmlformats.org/officeDocument/2006/relationships" r:id="R1d507b00dafa4f7b"/>
              </a:rPr>
              <a:t>Download Pygame / Python example</a:t>
            </a:r>
          </a:p>
        </p:txBody>
      </p:sp>
      <p:sp>
        <p:nvSpPr>
          <p:cNvPr id="7" name="20">
            <a:extLst xmlns:a="http://schemas.openxmlformats.org/drawingml/2006/main">
              <a:ext uri="{FF2B5EF4-FFF2-40B4-BE49-F238E27FC236}">
                <a16:creationId xmlns:a16="http://schemas.microsoft.com/office/drawing/2014/main" id="{DE1B9F63-AED1-470B-A3DA-B5804516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6245624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Desktop controls">
            <a:extLst xmlns:a="http://schemas.openxmlformats.org/drawingml/2006/main">
              <a:ext uri="{FF2B5EF4-FFF2-40B4-BE49-F238E27FC236}">
                <a16:creationId xmlns:a16="http://schemas.microsoft.com/office/drawing/2014/main" id="{8E6CBA64-10C0-4D56-B156-004EAF7C0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Desktop controls</a:t>
            </a:r>
          </a:p>
        </p:txBody>
      </p:sp>
      <p:sp>
        <p:nvSpPr>
          <p:cNvPr id="2" name="Mouse and keyboard input; resizing preserves game state">
            <a:extLst xmlns:a="http://schemas.openxmlformats.org/drawingml/2006/main">
              <a:ext uri="{FF2B5EF4-FFF2-40B4-BE49-F238E27FC236}">
                <a16:creationId xmlns:a16="http://schemas.microsoft.com/office/drawing/2014/main" id="{5E622480-CAD6-4925-8A0C-2A7BB32E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Mouse and keyboard input; resizing preserves game state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5AF3CC-8C36-4859-A116-1C8D29C147AC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Control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Left-click / 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Select the current card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Right-click / arrows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Inspect without revealing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N / Next step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Advance one stage in step mode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Space / Confirm turn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Compare and settle in normal play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 / L / 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Toggle mode / labels / new game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F1 / F2 / 1–3 / Esc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Match / mismatch / language / exit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Right-click and arrows only change the inspected card. Language change">
            <a:extLst xmlns:a="http://schemas.openxmlformats.org/drawingml/2006/main">
              <a:ext uri="{FF2B5EF4-FFF2-40B4-BE49-F238E27FC236}">
                <a16:creationId xmlns:a16="http://schemas.microsoft.com/office/drawing/2014/main" id="{7C8119B0-C1C9-46F7-80BF-D9E3B494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Right-click and arrows only change the inspected card. Language changes preserve the board.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B2F9B617-4E0B-4861-80F8-A5919600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5846982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ygameApp and the model">
            <a:extLst xmlns:a="http://schemas.openxmlformats.org/drawingml/2006/main">
              <a:ext uri="{FF2B5EF4-FFF2-40B4-BE49-F238E27FC236}">
                <a16:creationId xmlns:a16="http://schemas.microsoft.com/office/drawing/2014/main" id="{CF681A7F-083F-4D59-A09E-B0DCBA6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72C40"/>
                </a:solidFill>
                <a:latin typeface="Aptos"/>
                <a:ea typeface="Aptos"/>
                <a:cs typeface="Aptos"/>
              </a:rPr>
              <a:t>PygameApp and the model</a:t>
            </a:r>
          </a:p>
        </p:txBody>
      </p:sp>
      <p:sp>
        <p:nvSpPr>
          <p:cNvPr id="2" name="PygameApp holds a Game and reuses Board and Card">
            <a:extLst xmlns:a="http://schemas.openxmlformats.org/drawingml/2006/main">
              <a:ext uri="{FF2B5EF4-FFF2-40B4-BE49-F238E27FC236}">
                <a16:creationId xmlns:a16="http://schemas.microsoft.com/office/drawing/2014/main" id="{A07E44A0-351F-460A-A546-09BAC624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PygameApp holds a Game and reuses Board and Card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00221-208C-4635-B89B-C4321AF8ED73}"/>
              </a:ext>
            </a:extLst>
          </p:cNvPr>
          <p:cNvGraphicFramePr/>
          <p:nvPr/>
        </p:nvGraphicFramePr>
        <p:xfrm>
          <a:off xmlns:a="http://schemas.openxmlformats.org/drawingml/2006/main" x="571500" y="1781175"/>
          <a:ext xmlns:a="http://schemas.openxmlformats.org/drawingml/2006/main" cx="11049000" cy="4000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File or class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Aptos"/>
                          <a:ea typeface="Aptos"/>
                          <a:cs typeface="Aptos"/>
                        </a:rPr>
                        <a:t>Responsibility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model.py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Card, Board, Game: state and matching rules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PygameApp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Hold a Game; handle input, drawing, and the window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pygame_text.py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Chinese, English, and Japanese UI text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assets/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Aptos"/>
                          <a:ea typeface="Aptos"/>
                          <a:cs typeface="Aptos"/>
                        </a:rPr>
                        <a:t>Bundled Noto font and OFL license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PygameApp → Game → Board → Card. No new card inheritance hierarchy.">
            <a:extLst xmlns:a="http://schemas.openxmlformats.org/drawingml/2006/main">
              <a:ext uri="{FF2B5EF4-FFF2-40B4-BE49-F238E27FC236}">
                <a16:creationId xmlns:a16="http://schemas.microsoft.com/office/drawing/2014/main" id="{376CAFFE-8838-49B2-B8F1-F9C667FB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PygameApp → Game → Board → Card. No new card inheritance hierarchy.</a:t>
            </a:r>
          </a:p>
        </p:txBody>
      </p:sp>
      <p:sp>
        <p:nvSpPr>
          <p:cNvPr id="5" name="22">
            <a:extLst xmlns:a="http://schemas.openxmlformats.org/drawingml/2006/main">
              <a:ext uri="{FF2B5EF4-FFF2-40B4-BE49-F238E27FC236}">
                <a16:creationId xmlns:a16="http://schemas.microsoft.com/office/drawing/2014/main" id="{8145E394-4595-4029-96C1-891CDCAE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708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81329053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vent loop and screen updates">
            <a:extLst xmlns:a="http://schemas.openxmlformats.org/drawingml/2006/main">
              <a:ext uri="{FF2B5EF4-FFF2-40B4-BE49-F238E27FC236}">
                <a16:creationId xmlns:a16="http://schemas.microsoft.com/office/drawing/2014/main" id="{77BBDFED-324E-4B4F-A81C-F2025083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Event loop and screen updates</a:t>
            </a:r>
          </a:p>
        </p:txBody>
      </p:sp>
      <p:sp>
        <p:nvSpPr>
          <p:cNvPr id="2" name="pygame_app.py · PygameApp.run">
            <a:extLst xmlns:a="http://schemas.openxmlformats.org/drawingml/2006/main">
              <a:ext uri="{FF2B5EF4-FFF2-40B4-BE49-F238E27FC236}">
                <a16:creationId xmlns:a16="http://schemas.microsoft.com/office/drawing/2014/main" id="{90649C11-9023-4C47-A77E-CB2F2A1B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pygame_app.py · PygameApp.run</a:t>
            </a:r>
          </a:p>
        </p:txBody>
      </p:sp>
      <p:sp>
        <p:nvSpPr>
          <p:cNvPr id="3" name="def run(self):">
            <a:extLst xmlns:a="http://schemas.openxmlformats.org/drawingml/2006/main">
              <a:ext uri="{FF2B5EF4-FFF2-40B4-BE49-F238E27FC236}">
                <a16:creationId xmlns:a16="http://schemas.microsoft.com/office/drawing/2014/main" id="{0ED165E8-8CA5-4F10-B4CB-0BDB8231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run(self):</a:t>
            </a:r>
          </a:p>
        </p:txBody>
      </p:sp>
      <p:sp>
        <p:nvSpPr>
          <p:cNvPr id="4" name="    while self.running:">
            <a:extLst xmlns:a="http://schemas.openxmlformats.org/drawingml/2006/main">
              <a:ext uri="{FF2B5EF4-FFF2-40B4-BE49-F238E27FC236}">
                <a16:creationId xmlns:a16="http://schemas.microsoft.com/office/drawing/2014/main" id="{E728DB28-CAC8-4770-81D3-8A7628CC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while self.running:</a:t>
            </a:r>
          </a:p>
        </p:txBody>
      </p:sp>
      <p:sp>
        <p:nvSpPr>
          <p:cNvPr id="5" name="        for event in pygame.event.get():">
            <a:extLst xmlns:a="http://schemas.openxmlformats.org/drawingml/2006/main">
              <a:ext uri="{FF2B5EF4-FFF2-40B4-BE49-F238E27FC236}">
                <a16:creationId xmlns:a16="http://schemas.microsoft.com/office/drawing/2014/main" id="{99405229-2DA2-4C3D-98A6-1A73DAA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for event in pygame.event.get():</a:t>
            </a:r>
          </a:p>
        </p:txBody>
      </p:sp>
      <p:sp>
        <p:nvSpPr>
          <p:cNvPr id="6" name="            self.handle_event(event)">
            <a:extLst xmlns:a="http://schemas.openxmlformats.org/drawingml/2006/main">
              <a:ext uri="{FF2B5EF4-FFF2-40B4-BE49-F238E27FC236}">
                <a16:creationId xmlns:a16="http://schemas.microsoft.com/office/drawing/2014/main" id="{03BB3BBC-BC0D-44E6-AD28-A3640F59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self.handle_event(event)</a:t>
            </a:r>
          </a:p>
        </p:txBody>
      </p:sp>
      <p:sp>
        <p:nvSpPr>
          <p:cNvPr id="7" name="        self.draw()">
            <a:extLst xmlns:a="http://schemas.openxmlformats.org/drawingml/2006/main">
              <a:ext uri="{FF2B5EF4-FFF2-40B4-BE49-F238E27FC236}">
                <a16:creationId xmlns:a16="http://schemas.microsoft.com/office/drawing/2014/main" id="{0CAD65AE-8A8A-4980-98A7-50B491C9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self.draw()</a:t>
            </a:r>
          </a:p>
        </p:txBody>
      </p:sp>
      <p:sp>
        <p:nvSpPr>
          <p:cNvPr id="8" name="        self.present()">
            <a:extLst xmlns:a="http://schemas.openxmlformats.org/drawingml/2006/main">
              <a:ext uri="{FF2B5EF4-FFF2-40B4-BE49-F238E27FC236}">
                <a16:creationId xmlns:a16="http://schemas.microsoft.com/office/drawing/2014/main" id="{4D9B05AC-41D7-4860-A740-2ABB3671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self.present()</a:t>
            </a:r>
          </a:p>
        </p:txBody>
      </p:sp>
      <p:sp>
        <p:nvSpPr>
          <p:cNvPr id="9" name="        pygame.display.flip()">
            <a:extLst xmlns:a="http://schemas.openxmlformats.org/drawingml/2006/main">
              <a:ext uri="{FF2B5EF4-FFF2-40B4-BE49-F238E27FC236}">
                <a16:creationId xmlns:a16="http://schemas.microsoft.com/office/drawing/2014/main" id="{6FC20356-E6C4-4B8F-A8FC-DA5DFC3A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pygame.display.flip()</a:t>
            </a:r>
          </a:p>
        </p:txBody>
      </p:sp>
      <p:sp>
        <p:nvSpPr>
          <p:cNvPr id="10" name="        self.clock.tick(60)">
            <a:extLst xmlns:a="http://schemas.openxmlformats.org/drawingml/2006/main">
              <a:ext uri="{FF2B5EF4-FFF2-40B4-BE49-F238E27FC236}">
                <a16:creationId xmlns:a16="http://schemas.microsoft.com/office/drawing/2014/main" id="{80A234EB-1BD4-4849-9B33-25EB32FD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self.clock.tick(60)</a:t>
            </a:r>
          </a:p>
        </p:txBody>
      </p:sp>
      <p:sp>
        <p:nvSpPr>
          <p:cNvPr id="11" name="    pygame.quit()">
            <a:extLst xmlns:a="http://schemas.openxmlformats.org/drawingml/2006/main">
              <a:ext uri="{FF2B5EF4-FFF2-40B4-BE49-F238E27FC236}">
                <a16:creationId xmlns:a16="http://schemas.microsoft.com/office/drawing/2014/main" id="{7A838C19-4688-4C2D-AF66-F1F3EE6B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pygame.quit()</a:t>
            </a:r>
          </a:p>
        </p:txBody>
      </p:sp>
      <p:sp>
        <p:nvSpPr>
          <p:cNvPr id="12" name="Each loop handles events, draws, then updates the window.">
            <a:extLst xmlns:a="http://schemas.openxmlformats.org/drawingml/2006/main">
              <a:ext uri="{FF2B5EF4-FFF2-40B4-BE49-F238E27FC236}">
                <a16:creationId xmlns:a16="http://schemas.microsoft.com/office/drawing/2014/main" id="{1EB687ED-C66B-4D2F-B696-278A0A98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Each loop handles events, draws, then updates the window.</a:t>
            </a:r>
          </a:p>
        </p:txBody>
      </p:sp>
      <p:sp>
        <p:nvSpPr>
          <p:cNvPr id="13" name="tick(60) caps the frame rate. Drawing does not advance a turn.">
            <a:extLst xmlns:a="http://schemas.openxmlformats.org/drawingml/2006/main">
              <a:ext uri="{FF2B5EF4-FFF2-40B4-BE49-F238E27FC236}">
                <a16:creationId xmlns:a16="http://schemas.microsoft.com/office/drawing/2014/main" id="{251E125D-D518-401E-B4A2-1F4D7963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tick(60) caps the frame rate. Drawing does not advance a turn.</a:t>
            </a:r>
          </a:p>
        </p:txBody>
      </p:sp>
      <p:sp>
        <p:nvSpPr>
          <p:cNvPr id="14" name="pygame_app.py">
            <a:extLst xmlns:a="http://schemas.openxmlformats.org/drawingml/2006/main">
              <a:ext uri="{FF2B5EF4-FFF2-40B4-BE49-F238E27FC236}">
                <a16:creationId xmlns:a16="http://schemas.microsoft.com/office/drawing/2014/main" id="{B2B26A15-4ACD-45F3-9C5E-C96ADFAE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pygame_app.py</a:t>
            </a:r>
          </a:p>
        </p:txBody>
      </p:sp>
      <p:sp>
        <p:nvSpPr>
          <p:cNvPr id="15" name="23">
            <a:extLst xmlns:a="http://schemas.openxmlformats.org/drawingml/2006/main">
              <a:ext uri="{FF2B5EF4-FFF2-40B4-BE49-F238E27FC236}">
                <a16:creationId xmlns:a16="http://schemas.microsoft.com/office/drawing/2014/main" id="{0E23698B-8A4C-4030-9EA2-17EDB566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909502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From mouse position to Card">
            <a:extLst xmlns:a="http://schemas.openxmlformats.org/drawingml/2006/main">
              <a:ext uri="{FF2B5EF4-FFF2-40B4-BE49-F238E27FC236}">
                <a16:creationId xmlns:a16="http://schemas.microsoft.com/office/drawing/2014/main" id="{1E4F57C8-BFAE-4D45-8DB5-BC09AE40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From mouse position to Card</a:t>
            </a:r>
          </a:p>
        </p:txBody>
      </p:sp>
      <p:sp>
        <p:nvSpPr>
          <p:cNvPr id="2" name="pygame_app.py · PygameApp.click_card">
            <a:extLst xmlns:a="http://schemas.openxmlformats.org/drawingml/2006/main">
              <a:ext uri="{FF2B5EF4-FFF2-40B4-BE49-F238E27FC236}">
                <a16:creationId xmlns:a16="http://schemas.microsoft.com/office/drawing/2014/main" id="{800AE928-E6EF-46A8-9E2F-916DCFA5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pygame_app.py · PygameApp.click_card</a:t>
            </a:r>
          </a:p>
        </p:txBody>
      </p:sp>
      <p:sp>
        <p:nvSpPr>
          <p:cNvPr id="3" name="def click_card(self, pos, inspect_only=False):">
            <a:extLst xmlns:a="http://schemas.openxmlformats.org/drawingml/2006/main">
              <a:ext uri="{FF2B5EF4-FFF2-40B4-BE49-F238E27FC236}">
                <a16:creationId xmlns:a16="http://schemas.microsoft.com/office/drawing/2014/main" id="{8A6D1F82-5C58-4E06-974E-AFBAD9A2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click_card(self, pos, inspect_only=False):</a:t>
            </a:r>
          </a:p>
        </p:txBody>
      </p:sp>
      <p:sp>
        <p:nvSpPr>
          <p:cNvPr id="4" name="    for index, rect in enumerate(self.card_rects):">
            <a:extLst xmlns:a="http://schemas.openxmlformats.org/drawingml/2006/main">
              <a:ext uri="{FF2B5EF4-FFF2-40B4-BE49-F238E27FC236}">
                <a16:creationId xmlns:a16="http://schemas.microsoft.com/office/drawing/2014/main" id="{BA3BAD58-7BE3-4E67-9B70-820D3374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for index, rect in enumerate(self.card_rects):</a:t>
            </a:r>
          </a:p>
        </p:txBody>
      </p:sp>
      <p:sp>
        <p:nvSpPr>
          <p:cNvPr id="5" name="        if rect.collidepoint(pos):">
            <a:extLst xmlns:a="http://schemas.openxmlformats.org/drawingml/2006/main">
              <a:ext uri="{FF2B5EF4-FFF2-40B4-BE49-F238E27FC236}">
                <a16:creationId xmlns:a16="http://schemas.microsoft.com/office/drawing/2014/main" id="{10827AE1-858D-4DB8-8787-84C47DE2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rect.collidepoint(pos):</a:t>
            </a:r>
          </a:p>
        </p:txBody>
      </p:sp>
      <p:sp>
        <p:nvSpPr>
          <p:cNvPr id="6" name="            if inspect_only:">
            <a:extLst xmlns:a="http://schemas.openxmlformats.org/drawingml/2006/main">
              <a:ext uri="{FF2B5EF4-FFF2-40B4-BE49-F238E27FC236}">
                <a16:creationId xmlns:a16="http://schemas.microsoft.com/office/drawing/2014/main" id="{469B790C-2E0C-4A9A-AA2B-78062CBC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if inspect_only:</a:t>
            </a:r>
          </a:p>
        </p:txBody>
      </p:sp>
      <p:sp>
        <p:nvSpPr>
          <p:cNvPr id="7" name="                self.selected = index">
            <a:extLst xmlns:a="http://schemas.openxmlformats.org/drawingml/2006/main">
              <a:ext uri="{FF2B5EF4-FFF2-40B4-BE49-F238E27FC236}">
                <a16:creationId xmlns:a16="http://schemas.microsoft.com/office/drawing/2014/main" id="{D82B90E8-8E34-430E-AA62-5B5105C4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self.selected = index</a:t>
            </a:r>
          </a:p>
        </p:txBody>
      </p:sp>
      <p:sp>
        <p:nvSpPr>
          <p:cNvPr id="8" name="            else:">
            <a:extLst xmlns:a="http://schemas.openxmlformats.org/drawingml/2006/main">
              <a:ext uri="{FF2B5EF4-FFF2-40B4-BE49-F238E27FC236}">
                <a16:creationId xmlns:a16="http://schemas.microsoft.com/office/drawing/2014/main" id="{7180AD5D-1227-4670-A7FA-C901578F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else:</a:t>
            </a:r>
          </a:p>
        </p:txBody>
      </p:sp>
      <p:sp>
        <p:nvSpPr>
          <p:cNvPr id="9" name="                self.pick(index)">
            <a:extLst xmlns:a="http://schemas.openxmlformats.org/drawingml/2006/main">
              <a:ext uri="{FF2B5EF4-FFF2-40B4-BE49-F238E27FC236}">
                <a16:creationId xmlns:a16="http://schemas.microsoft.com/office/drawing/2014/main" id="{2008654E-5947-4672-ACD7-841D0BFA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self.pick(index)</a:t>
            </a:r>
          </a:p>
        </p:txBody>
      </p:sp>
      <p:sp>
        <p:nvSpPr>
          <p:cNvPr id="10" name="            return True">
            <a:extLst xmlns:a="http://schemas.openxmlformats.org/drawingml/2006/main">
              <a:ext uri="{FF2B5EF4-FFF2-40B4-BE49-F238E27FC236}">
                <a16:creationId xmlns:a16="http://schemas.microsoft.com/office/drawing/2014/main" id="{76F635E5-A158-4C83-912A-15B66A34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return True</a:t>
            </a:r>
          </a:p>
        </p:txBody>
      </p:sp>
      <p:sp>
        <p:nvSpPr>
          <p:cNvPr id="11" name="    return False">
            <a:extLst xmlns:a="http://schemas.openxmlformats.org/drawingml/2006/main">
              <a:ext uri="{FF2B5EF4-FFF2-40B4-BE49-F238E27FC236}">
                <a16:creationId xmlns:a16="http://schemas.microsoft.com/office/drawing/2014/main" id="{6C7E55F8-0541-43FE-B84E-421D9D75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False</a:t>
            </a:r>
          </a:p>
        </p:txBody>
      </p:sp>
      <p:sp>
        <p:nvSpPr>
          <p:cNvPr id="12" name="click() first converts window coordinates to the 1280 × 800 logical su">
            <a:extLst xmlns:a="http://schemas.openxmlformats.org/drawingml/2006/main">
              <a:ext uri="{FF2B5EF4-FFF2-40B4-BE49-F238E27FC236}">
                <a16:creationId xmlns:a16="http://schemas.microsoft.com/office/drawing/2014/main" id="{C7DFDB36-A823-4764-B5F4-898D9E7F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click() first converts window coordinates to the 1280 × 800 logical surface.</a:t>
            </a:r>
          </a:p>
        </p:txBody>
      </p:sp>
      <p:sp>
        <p:nvSpPr>
          <p:cNvPr id="13" name="Rect.collidepoint() finds a card. Right-click only changes selected.">
            <a:extLst xmlns:a="http://schemas.openxmlformats.org/drawingml/2006/main">
              <a:ext uri="{FF2B5EF4-FFF2-40B4-BE49-F238E27FC236}">
                <a16:creationId xmlns:a16="http://schemas.microsoft.com/office/drawing/2014/main" id="{A1D42A56-8905-4E92-AA96-CF43365D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Rect.collidepoint() finds a card. Right-click only changes selected.</a:t>
            </a:r>
          </a:p>
        </p:txBody>
      </p:sp>
      <p:sp>
        <p:nvSpPr>
          <p:cNvPr id="14" name="pygame_app.py">
            <a:extLst xmlns:a="http://schemas.openxmlformats.org/drawingml/2006/main">
              <a:ext uri="{FF2B5EF4-FFF2-40B4-BE49-F238E27FC236}">
                <a16:creationId xmlns:a16="http://schemas.microsoft.com/office/drawing/2014/main" id="{5FD91525-70FB-409C-B2DC-3686A6BE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pygame_app.py</a:t>
            </a:r>
          </a:p>
        </p:txBody>
      </p:sp>
      <p:sp>
        <p:nvSpPr>
          <p:cNvPr id="15" name="24">
            <a:extLst xmlns:a="http://schemas.openxmlformats.org/drawingml/2006/main">
              <a:ext uri="{FF2B5EF4-FFF2-40B4-BE49-F238E27FC236}">
                <a16:creationId xmlns:a16="http://schemas.microsoft.com/office/drawing/2014/main" id="{271989B3-372C-4C6A-80DB-F7EF8585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86933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lection and step calls">
            <a:extLst xmlns:a="http://schemas.openxmlformats.org/drawingml/2006/main">
              <a:ext uri="{FF2B5EF4-FFF2-40B4-BE49-F238E27FC236}">
                <a16:creationId xmlns:a16="http://schemas.microsoft.com/office/drawing/2014/main" id="{78421F4C-6143-4B2A-B899-C3781F5E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Selection and step calls</a:t>
            </a:r>
          </a:p>
        </p:txBody>
      </p:sp>
      <p:sp>
        <p:nvSpPr>
          <p:cNvPr id="2" name="pygame_app.py · PygameApp.pick / advance">
            <a:extLst xmlns:a="http://schemas.openxmlformats.org/drawingml/2006/main">
              <a:ext uri="{FF2B5EF4-FFF2-40B4-BE49-F238E27FC236}">
                <a16:creationId xmlns:a16="http://schemas.microsoft.com/office/drawing/2014/main" id="{0322DF01-E625-41E9-9614-C9B03DD5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pygame_app.py · PygameApp.pick / advance</a:t>
            </a:r>
          </a:p>
        </p:txBody>
      </p:sp>
      <p:sp>
        <p:nvSpPr>
          <p:cNvPr id="3" name="def pick(self, index):">
            <a:extLst xmlns:a="http://schemas.openxmlformats.org/drawingml/2006/main">
              <a:ext uri="{FF2B5EF4-FFF2-40B4-BE49-F238E27FC236}">
                <a16:creationId xmlns:a16="http://schemas.microsoft.com/office/drawing/2014/main" id="{3EC6BB73-2EB1-47CD-A96C-BD64ED40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pick(self, index):</a:t>
            </a:r>
          </a:p>
        </p:txBody>
      </p:sp>
      <p:sp>
        <p:nvSpPr>
          <p:cNvPr id="4" name="    self.selected = index">
            <a:extLst xmlns:a="http://schemas.openxmlformats.org/drawingml/2006/main">
              <a:ext uri="{FF2B5EF4-FFF2-40B4-BE49-F238E27FC236}">
                <a16:creationId xmlns:a16="http://schemas.microsoft.com/office/drawing/2014/main" id="{224978E1-CF79-42F2-8FB5-EAC6C9E2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self.selected = index</a:t>
            </a:r>
          </a:p>
        </p:txBody>
      </p:sp>
      <p:sp>
        <p:nvSpPr>
          <p:cNvPr id="5" name="    card = self.game.board.cards[index]">
            <a:extLst xmlns:a="http://schemas.openxmlformats.org/drawingml/2006/main">
              <a:ext uri="{FF2B5EF4-FFF2-40B4-BE49-F238E27FC236}">
                <a16:creationId xmlns:a16="http://schemas.microsoft.com/office/drawing/2014/main" id="{DCDE4A0E-3683-4258-BF3F-B20FD766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card = self.game.board.cards[index]</a:t>
            </a:r>
          </a:p>
        </p:txBody>
      </p:sp>
      <p:sp>
        <p:nvSpPr>
          <p:cNvPr id="6" name="    if self.observe:">
            <a:extLst xmlns:a="http://schemas.openxmlformats.org/drawingml/2006/main">
              <a:ext uri="{FF2B5EF4-FFF2-40B4-BE49-F238E27FC236}">
                <a16:creationId xmlns:a16="http://schemas.microsoft.com/office/drawing/2014/main" id="{2DF0E623-D240-47A3-9790-8FCAFBA4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self.observe:</a:t>
            </a:r>
          </a:p>
        </p:txBody>
      </p:sp>
      <p:sp>
        <p:nvSpPr>
          <p:cNvPr id="7" name="        self.game.queue(card.name)">
            <a:extLst xmlns:a="http://schemas.openxmlformats.org/drawingml/2006/main">
              <a:ext uri="{FF2B5EF4-FFF2-40B4-BE49-F238E27FC236}">
                <a16:creationId xmlns:a16="http://schemas.microsoft.com/office/drawing/2014/main" id="{6C1508A2-060B-4B71-AE0F-E1CC5A53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self.game.queue(card.name)</a:t>
            </a:r>
          </a:p>
        </p:txBody>
      </p:sp>
      <p:sp>
        <p:nvSpPr>
          <p:cNvPr id="8" name="    else:">
            <a:extLst xmlns:a="http://schemas.openxmlformats.org/drawingml/2006/main">
              <a:ext uri="{FF2B5EF4-FFF2-40B4-BE49-F238E27FC236}">
                <a16:creationId xmlns:a16="http://schemas.microsoft.com/office/drawing/2014/main" id="{9A985FEB-96D1-4E30-A07B-1D642CE3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9" name="        self.game.play(card.name)">
            <a:extLst xmlns:a="http://schemas.openxmlformats.org/drawingml/2006/main">
              <a:ext uri="{FF2B5EF4-FFF2-40B4-BE49-F238E27FC236}">
                <a16:creationId xmlns:a16="http://schemas.microsoft.com/office/drawing/2014/main" id="{72A89160-ED9E-4EBB-A4DD-5B3741B2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self.game.play(card.name)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888FC7-DB66-4A98-839C-2035F992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11" name="def advance(self):">
            <a:extLst xmlns:a="http://schemas.openxmlformats.org/drawingml/2006/main">
              <a:ext uri="{FF2B5EF4-FFF2-40B4-BE49-F238E27FC236}">
                <a16:creationId xmlns:a16="http://schemas.microsoft.com/office/drawing/2014/main" id="{5EB7716A-9C0C-4C99-ABFC-77BA2A77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95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advance(self):</a:t>
            </a:r>
          </a:p>
        </p:txBody>
      </p:sp>
      <p:sp>
        <p:nvSpPr>
          <p:cNvPr id="12" name="    if self.observe or self.game.pending:">
            <a:extLst xmlns:a="http://schemas.openxmlformats.org/drawingml/2006/main">
              <a:ext uri="{FF2B5EF4-FFF2-40B4-BE49-F238E27FC236}">
                <a16:creationId xmlns:a16="http://schemas.microsoft.com/office/drawing/2014/main" id="{DB9BE940-9C63-4281-A9EC-B4399794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148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self.observe or self.game.pending:</a:t>
            </a:r>
          </a:p>
        </p:txBody>
      </p:sp>
      <p:sp>
        <p:nvSpPr>
          <p:cNvPr id="13" name="        self.game.step()">
            <a:extLst xmlns:a="http://schemas.openxmlformats.org/drawingml/2006/main">
              <a:ext uri="{FF2B5EF4-FFF2-40B4-BE49-F238E27FC236}">
                <a16:creationId xmlns:a16="http://schemas.microsoft.com/office/drawing/2014/main" id="{0F0D90EC-5951-4E0D-8DB0-64588277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self.game.step()</a:t>
            </a:r>
          </a:p>
        </p:txBody>
      </p:sp>
      <p:sp>
        <p:nvSpPr>
          <p:cNvPr id="14" name="    else:">
            <a:extLst xmlns:a="http://schemas.openxmlformats.org/drawingml/2006/main">
              <a:ext uri="{FF2B5EF4-FFF2-40B4-BE49-F238E27FC236}">
                <a16:creationId xmlns:a16="http://schemas.microsoft.com/office/drawing/2014/main" id="{08553AF5-0872-4724-B2EE-356EDE57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054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else:</a:t>
            </a:r>
          </a:p>
        </p:txBody>
      </p:sp>
      <p:sp>
        <p:nvSpPr>
          <p:cNvPr id="15" name="        self.game.finish_turn()">
            <a:extLst xmlns:a="http://schemas.openxmlformats.org/drawingml/2006/main">
              <a:ext uri="{FF2B5EF4-FFF2-40B4-BE49-F238E27FC236}">
                <a16:creationId xmlns:a16="http://schemas.microsoft.com/office/drawing/2014/main" id="{128C3D87-C4C3-4C1B-807E-EF3E8441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006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self.game.finish_turn()</a:t>
            </a:r>
          </a:p>
        </p:txBody>
      </p:sp>
      <p:sp>
        <p:nvSpPr>
          <p:cNvPr id="16" name="Step mode: queue() holds a reference; step() performs the next stage.">
            <a:extLst xmlns:a="http://schemas.openxmlformats.org/drawingml/2006/main">
              <a:ext uri="{FF2B5EF4-FFF2-40B4-BE49-F238E27FC236}">
                <a16:creationId xmlns:a16="http://schemas.microsoft.com/office/drawing/2014/main" id="{7C87F49E-41F7-42A8-B574-6081A146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Step mode: queue() holds a reference; step() performs the next stage.</a:t>
            </a:r>
          </a:p>
        </p:txBody>
      </p:sp>
      <p:sp>
        <p:nvSpPr>
          <p:cNvPr id="17" name="Normal play: play() reveals; finish_turn() compares and settles.">
            <a:extLst xmlns:a="http://schemas.openxmlformats.org/drawingml/2006/main">
              <a:ext uri="{FF2B5EF4-FFF2-40B4-BE49-F238E27FC236}">
                <a16:creationId xmlns:a16="http://schemas.microsoft.com/office/drawing/2014/main" id="{00A3ED75-5C48-4356-92FD-6BA688F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Normal play: play() reveals; finish_turn() compares and settles.</a:t>
            </a:r>
          </a:p>
        </p:txBody>
      </p:sp>
      <p:sp>
        <p:nvSpPr>
          <p:cNvPr id="18" name="pygame_app.py">
            <a:extLst xmlns:a="http://schemas.openxmlformats.org/drawingml/2006/main">
              <a:ext uri="{FF2B5EF4-FFF2-40B4-BE49-F238E27FC236}">
                <a16:creationId xmlns:a16="http://schemas.microsoft.com/office/drawing/2014/main" id="{C2F0360E-EDA6-45FF-AE16-9A44A28B6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pygame_app.py</a:t>
            </a:r>
          </a:p>
        </p:txBody>
      </p:sp>
      <p:sp>
        <p:nvSpPr>
          <p:cNvPr id="19" name="25">
            <a:extLst xmlns:a="http://schemas.openxmlformats.org/drawingml/2006/main">
              <a:ext uri="{FF2B5EF4-FFF2-40B4-BE49-F238E27FC236}">
                <a16:creationId xmlns:a16="http://schemas.microsoft.com/office/drawing/2014/main" id="{36496525-B0F4-4806-975D-7C524365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5084031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Drawing from object state">
            <a:extLst xmlns:a="http://schemas.openxmlformats.org/drawingml/2006/main">
              <a:ext uri="{FF2B5EF4-FFF2-40B4-BE49-F238E27FC236}">
                <a16:creationId xmlns:a16="http://schemas.microsoft.com/office/drawing/2014/main" id="{BB968C9A-D376-4F5C-A60E-5E81501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Drawing from object state</a:t>
            </a:r>
          </a:p>
        </p:txBody>
      </p:sp>
      <p:sp>
        <p:nvSpPr>
          <p:cNvPr id="2" name="draw_card() excerpt; symbol and selection rendering omitted">
            <a:extLst xmlns:a="http://schemas.openxmlformats.org/drawingml/2006/main">
              <a:ext uri="{FF2B5EF4-FFF2-40B4-BE49-F238E27FC236}">
                <a16:creationId xmlns:a16="http://schemas.microsoft.com/office/drawing/2014/main" id="{B2729895-07CA-4F25-AC6F-F8898A4E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draw_card() excerpt; symbol and selection rendering omitted</a:t>
            </a:r>
          </a:p>
        </p:txBody>
      </p:sp>
      <p:sp>
        <p:nvSpPr>
          <p:cNvPr id="3" name="def draw_card(self, card, rect, selected=False):">
            <a:extLst xmlns:a="http://schemas.openxmlformats.org/drawingml/2006/main">
              <a:ext uri="{FF2B5EF4-FFF2-40B4-BE49-F238E27FC236}">
                <a16:creationId xmlns:a16="http://schemas.microsoft.com/office/drawing/2014/main" id="{4C18D414-AD71-4BA4-8390-056052BD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draw_card(self, card, rect, selected=False):</a:t>
            </a:r>
          </a:p>
        </p:txBody>
      </p:sp>
      <p:sp>
        <p:nvSpPr>
          <p:cNvPr id="4" name="    color = FACE if card.face_up else BACK">
            <a:extLst xmlns:a="http://schemas.openxmlformats.org/drawingml/2006/main">
              <a:ext uri="{FF2B5EF4-FFF2-40B4-BE49-F238E27FC236}">
                <a16:creationId xmlns:a16="http://schemas.microsoft.com/office/drawing/2014/main" id="{F4110407-4E2E-46D6-B899-8AED3C6C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color = FACE if card.face_up else BACK</a:t>
            </a:r>
          </a:p>
        </p:txBody>
      </p:sp>
      <p:sp>
        <p:nvSpPr>
          <p:cNvPr id="5" name="    pygame.draw.rect(self.screen, color, rect, border_radius=10)">
            <a:extLst xmlns:a="http://schemas.openxmlformats.org/drawingml/2006/main">
              <a:ext uri="{FF2B5EF4-FFF2-40B4-BE49-F238E27FC236}">
                <a16:creationId xmlns:a16="http://schemas.microsoft.com/office/drawing/2014/main" id="{77D4E510-EE84-4C39-94B0-505222BC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pygame.draw.rect(self.screen, color, rect, border_radius=10)</a:t>
            </a:r>
          </a:p>
        </p:txBody>
      </p:sp>
      <p:sp>
        <p:nvSpPr>
          <p:cNvPr id="6" name="    # ... symbol and selection rendering ...">
            <a:extLst xmlns:a="http://schemas.openxmlformats.org/drawingml/2006/main">
              <a:ext uri="{FF2B5EF4-FFF2-40B4-BE49-F238E27FC236}">
                <a16:creationId xmlns:a16="http://schemas.microsoft.com/office/drawing/2014/main" id="{32400DEA-F190-4213-B1F8-11446131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# ... symbol and selection rendering ...</a:t>
            </a:r>
          </a:p>
        </p:txBody>
      </p:sp>
      <p:sp>
        <p:nvSpPr>
          <p:cNvPr id="7" name="    if self.labels:">
            <a:extLst xmlns:a="http://schemas.openxmlformats.org/drawingml/2006/main">
              <a:ext uri="{FF2B5EF4-FFF2-40B4-BE49-F238E27FC236}">
                <a16:creationId xmlns:a16="http://schemas.microsoft.com/office/drawing/2014/main" id="{2C4ECC99-E25B-4A9F-887A-90B262D5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self.labels:</a:t>
            </a:r>
          </a:p>
        </p:txBody>
      </p:sp>
      <p:sp>
        <p:nvSpPr>
          <p:cNvPr id="8" name="        self.text(f'{card.name}: Card',">
            <a:extLst xmlns:a="http://schemas.openxmlformats.org/drawingml/2006/main">
              <a:ext uri="{FF2B5EF4-FFF2-40B4-BE49-F238E27FC236}">
                <a16:creationId xmlns:a16="http://schemas.microsoft.com/office/drawing/2014/main" id="{E53D8960-E075-4F31-81F6-4757980D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self.text(f'{card.name}: Card',</a:t>
            </a:r>
          </a:p>
        </p:txBody>
      </p:sp>
      <p:sp>
        <p:nvSpPr>
          <p:cNvPr id="9" name="                  (rect.x + 16, rect.y + 91), 16,">
            <a:extLst xmlns:a="http://schemas.openxmlformats.org/drawingml/2006/main">
              <a:ext uri="{FF2B5EF4-FFF2-40B4-BE49-F238E27FC236}">
                <a16:creationId xmlns:a16="http://schemas.microsoft.com/office/drawing/2014/main" id="{189E483F-E438-48E5-80DB-98A8E9BB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  (rect.x + 16, rect.y + 91), 16,</a:t>
            </a:r>
          </a:p>
        </p:txBody>
      </p:sp>
      <p:sp>
        <p:nvSpPr>
          <p:cNvPr id="10" name="                  INK if card.face_up else WHITE)">
            <a:extLst xmlns:a="http://schemas.openxmlformats.org/drawingml/2006/main">
              <a:ext uri="{FF2B5EF4-FFF2-40B4-BE49-F238E27FC236}">
                <a16:creationId xmlns:a16="http://schemas.microsoft.com/office/drawing/2014/main" id="{82721536-1E98-4D97-B796-660A3ED9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      INK if card.face_up else WHITE)</a:t>
            </a:r>
          </a:p>
        </p:txBody>
      </p:sp>
      <p:sp>
        <p:nvSpPr>
          <p:cNvPr id="11" name="face_up chooses the card color. labels controls the object name.">
            <a:extLst xmlns:a="http://schemas.openxmlformats.org/drawingml/2006/main">
              <a:ext uri="{FF2B5EF4-FFF2-40B4-BE49-F238E27FC236}">
                <a16:creationId xmlns:a16="http://schemas.microsoft.com/office/drawing/2014/main" id="{26A5D22F-6197-4F35-A20C-9E183E21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face_up chooses the card color. labels controls the object name.</a:t>
            </a:r>
          </a:p>
        </p:txBody>
      </p:sp>
      <p:sp>
        <p:nvSpPr>
          <p:cNvPr id="12" name="Drawing reads Card attributes. Model methods handle the rules.">
            <a:extLst xmlns:a="http://schemas.openxmlformats.org/drawingml/2006/main">
              <a:ext uri="{FF2B5EF4-FFF2-40B4-BE49-F238E27FC236}">
                <a16:creationId xmlns:a16="http://schemas.microsoft.com/office/drawing/2014/main" id="{B1C75F89-08FA-48E2-AAF9-24D080DA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Drawing reads Card attributes. Model methods handle the rules.</a:t>
            </a:r>
          </a:p>
        </p:txBody>
      </p:sp>
      <p:sp>
        <p:nvSpPr>
          <p:cNvPr id="13" name="pygame_app.py">
            <a:extLst xmlns:a="http://schemas.openxmlformats.org/drawingml/2006/main">
              <a:ext uri="{FF2B5EF4-FFF2-40B4-BE49-F238E27FC236}">
                <a16:creationId xmlns:a16="http://schemas.microsoft.com/office/drawing/2014/main" id="{2A86EDEB-AA55-4366-A323-06B2092E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pygame_app.py</a:t>
            </a:r>
          </a:p>
        </p:txBody>
      </p:sp>
      <p:sp>
        <p:nvSpPr>
          <p:cNvPr id="14" name="26">
            <a:extLst xmlns:a="http://schemas.openxmlformats.org/drawingml/2006/main">
              <a:ext uri="{FF2B5EF4-FFF2-40B4-BE49-F238E27FC236}">
                <a16:creationId xmlns:a16="http://schemas.microsoft.com/office/drawing/2014/main" id="{638C84C8-198E-428B-90BC-099A7736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445517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Inspecting references and identity">
            <a:extLst xmlns:a="http://schemas.openxmlformats.org/drawingml/2006/main">
              <a:ext uri="{FF2B5EF4-FFF2-40B4-BE49-F238E27FC236}">
                <a16:creationId xmlns:a16="http://schemas.microsoft.com/office/drawing/2014/main" id="{7E0BBCF4-CCD7-4A6E-B8FF-0DAF116E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95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EDF4FB"/>
                </a:solidFill>
                <a:latin typeface="Aptos"/>
                <a:ea typeface="Aptos"/>
                <a:cs typeface="Aptos"/>
              </a:rPr>
              <a:t>Inspecting references and identity</a:t>
            </a:r>
          </a:p>
        </p:txBody>
      </p:sp>
      <p:sp>
        <p:nvSpPr>
          <p:cNvPr id="2" name="pygame_app.py · PygameApp.draw_identity">
            <a:extLst xmlns:a="http://schemas.openxmlformats.org/drawingml/2006/main">
              <a:ext uri="{FF2B5EF4-FFF2-40B4-BE49-F238E27FC236}">
                <a16:creationId xmlns:a16="http://schemas.microsoft.com/office/drawing/2014/main" id="{2978A1FC-C77B-4866-B3F4-3B292556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62050"/>
            <a:ext cx="1100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pygame_app.py · PygameApp.draw_identity</a:t>
            </a:r>
          </a:p>
        </p:txBody>
      </p:sp>
      <p:sp>
        <p:nvSpPr>
          <p:cNvPr id="3" name="def draw_identity(self, card):">
            <a:extLst xmlns:a="http://schemas.openxmlformats.org/drawingml/2006/main">
              <a:ext uri="{FF2B5EF4-FFF2-40B4-BE49-F238E27FC236}">
                <a16:creationId xmlns:a16="http://schemas.microsoft.com/office/drawing/2014/main" id="{38B1FC8D-233C-4D8C-8EDC-4D3EDA4D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573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draw_identity(self, card):</a:t>
            </a:r>
          </a:p>
        </p:txBody>
      </p:sp>
      <p:sp>
        <p:nvSpPr>
          <p:cNvPr id="4" name="    for key in ('first', 'second', 'pending'):">
            <a:extLst xmlns:a="http://schemas.openxmlformats.org/drawingml/2006/main">
              <a:ext uri="{FF2B5EF4-FFF2-40B4-BE49-F238E27FC236}">
                <a16:creationId xmlns:a16="http://schemas.microsoft.com/office/drawing/2014/main" id="{B921D73C-EB16-44F9-8EE9-661ACDCC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for key in ('first', 'second', 'pending'):</a:t>
            </a:r>
          </a:p>
        </p:txBody>
      </p:sp>
      <p:sp>
        <p:nvSpPr>
          <p:cNvPr id="5" name="        if getattr(self.game, key) is card:">
            <a:extLst xmlns:a="http://schemas.openxmlformats.org/drawingml/2006/main">
              <a:ext uri="{FF2B5EF4-FFF2-40B4-BE49-F238E27FC236}">
                <a16:creationId xmlns:a16="http://schemas.microsoft.com/office/drawing/2014/main" id="{14CFF8DC-A9C4-44BE-8622-B0D5571A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479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getattr(self.game, key) is card:</a:t>
            </a:r>
          </a:p>
        </p:txBody>
      </p:sp>
      <p:sp>
        <p:nvSpPr>
          <p:cNvPr id="6" name="            self.text(f'game.{key} is', (840, 560), 18, GREEN)">
            <a:extLst xmlns:a="http://schemas.openxmlformats.org/drawingml/2006/main">
              <a:ext uri="{FF2B5EF4-FFF2-40B4-BE49-F238E27FC236}">
                <a16:creationId xmlns:a16="http://schemas.microsoft.com/office/drawing/2014/main" id="{CBAC262F-E1E6-45DA-80EC-76DBDF60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432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self.text(f'game.{key} is', (840, 560), 18, GREEN)</a:t>
            </a:r>
          </a:p>
        </p:txBody>
      </p:sp>
      <p:sp>
        <p:nvSpPr>
          <p:cNvPr id="7" name="            self.text(f'game.board.cards[{self.selected}]', (840, 586)">
            <a:extLst xmlns:a="http://schemas.openxmlformats.org/drawingml/2006/main">
              <a:ext uri="{FF2B5EF4-FFF2-40B4-BE49-F238E27FC236}">
                <a16:creationId xmlns:a16="http://schemas.microsoft.com/office/drawing/2014/main" id="{7B1B7B38-5F5F-4AC0-A218-3AA12D49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self.text(f'game.board.cards[{self.selected}]', (840, 586), 18, GREEN)</a:t>
            </a:r>
          </a:p>
        </p:txBody>
      </p:sp>
      <p:sp>
        <p:nvSpPr>
          <p:cNvPr id="8" name="            self.text('True · ' + self.t['same'], (840, 612), 16, GREE">
            <a:extLst xmlns:a="http://schemas.openxmlformats.org/drawingml/2006/main">
              <a:ext uri="{FF2B5EF4-FFF2-40B4-BE49-F238E27FC236}">
                <a16:creationId xmlns:a16="http://schemas.microsoft.com/office/drawing/2014/main" id="{21AEAA2A-AB1A-43D9-A77E-9E093FA8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self.text('True · ' + self.t['same'], (840, 612), 16, GREEN)</a:t>
            </a:r>
          </a:p>
        </p:txBody>
      </p:sp>
      <p:sp>
        <p:nvSpPr>
          <p:cNvPr id="9" name="            return">
            <a:extLst xmlns:a="http://schemas.openxmlformats.org/drawingml/2006/main">
              <a:ext uri="{FF2B5EF4-FFF2-40B4-BE49-F238E27FC236}">
                <a16:creationId xmlns:a16="http://schemas.microsoft.com/office/drawing/2014/main" id="{FE4D706A-01C1-4AB3-A756-A0C76063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</p:txBody>
      </p:sp>
      <p:sp>
        <p:nvSpPr>
          <p:cNvPr id="10" name="    self.text(self.t['no_ref'], (840, 572), 16, MUTED)">
            <a:extLst xmlns:a="http://schemas.openxmlformats.org/drawingml/2006/main">
              <a:ext uri="{FF2B5EF4-FFF2-40B4-BE49-F238E27FC236}">
                <a16:creationId xmlns:a16="http://schemas.microsoft.com/office/drawing/2014/main" id="{CA0D6796-60E3-4DD0-AD6E-F03938DF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self.text(self.t['no_ref'], (840, 572), 16, MUTED)</a:t>
            </a:r>
          </a:p>
        </p:txBody>
      </p:sp>
      <p:sp>
        <p:nvSpPr>
          <p:cNvPr id="11" name="The displayed is expression compares actual Python object references.">
            <a:extLst xmlns:a="http://schemas.openxmlformats.org/drawingml/2006/main">
              <a:ext uri="{FF2B5EF4-FFF2-40B4-BE49-F238E27FC236}">
                <a16:creationId xmlns:a16="http://schemas.microsoft.com/office/drawing/2014/main" id="{D02A5696-DC8A-41DA-8C7B-4741997F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The displayed is expression compares actual Python object references.</a:t>
            </a:r>
          </a:p>
        </p:txBody>
      </p:sp>
      <p:sp>
        <p:nvSpPr>
          <p:cNvPr id="12" name="Settlement clears first and second. Board still holds the original Car">
            <a:extLst xmlns:a="http://schemas.openxmlformats.org/drawingml/2006/main">
              <a:ext uri="{FF2B5EF4-FFF2-40B4-BE49-F238E27FC236}">
                <a16:creationId xmlns:a16="http://schemas.microsoft.com/office/drawing/2014/main" id="{86B6E939-806B-4DC9-8376-CC5C3411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68E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8EDBE"/>
                </a:solidFill>
                <a:latin typeface="Aptos"/>
                <a:ea typeface="Aptos"/>
                <a:cs typeface="Aptos"/>
              </a:rPr>
              <a:t>Settlement clears first and second. Board still holds the original Cards.</a:t>
            </a:r>
          </a:p>
        </p:txBody>
      </p:sp>
      <p:sp>
        <p:nvSpPr>
          <p:cNvPr id="13" name="pygame_app.py">
            <a:extLst xmlns:a="http://schemas.openxmlformats.org/drawingml/2006/main">
              <a:ext uri="{FF2B5EF4-FFF2-40B4-BE49-F238E27FC236}">
                <a16:creationId xmlns:a16="http://schemas.microsoft.com/office/drawing/2014/main" id="{D2980D42-B1B6-42EB-9D8B-A26905A6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1510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pygame_app.py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2EEEF5C0-2D8D-4701-897E-56653A1F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151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EDF4F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DF4F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971586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2026-10-21T03:32:41.3890000Z</dcterms:created>
  <dcterms:modified xsi:type="dcterms:W3CDTF">2026-10-21T03:32:41.3890000Z</dcterms:modified>
</coreProperties>
</file>