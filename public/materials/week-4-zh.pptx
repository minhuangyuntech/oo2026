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c2630a0b304397" /><Relationship Type="http://schemas.openxmlformats.org/officeDocument/2006/relationships/extended-properties" Target="/docProps/app.xml" Id="R8bd445671e164a06" /><Relationship Type="http://schemas.openxmlformats.org/officeDocument/2006/relationships/officeDocument" Target="/ppt/presentation.xml" Id="R19da597444b746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e681ce815a4beb"/>
  </p:sldMasterIdLst>
  <p:notesMasterIdLst>
    <p:notesMasterId xmlns:r="http://schemas.openxmlformats.org/officeDocument/2006/relationships" r:id="R2ac4b26b80ae4869"/>
  </p:notesMasterIdLst>
  <p:sldIdLst>
    <p:sldId xmlns:r="http://schemas.openxmlformats.org/officeDocument/2006/relationships" id="256" r:id="R4bf4fc4496664d59"/>
    <p:sldId xmlns:r="http://schemas.openxmlformats.org/officeDocument/2006/relationships" id="257" r:id="R29f528ede69b4623"/>
    <p:sldId xmlns:r="http://schemas.openxmlformats.org/officeDocument/2006/relationships" id="258" r:id="Rc35255808cb84477"/>
    <p:sldId xmlns:r="http://schemas.openxmlformats.org/officeDocument/2006/relationships" id="259" r:id="R39164d7d6c7d4660"/>
    <p:sldId xmlns:r="http://schemas.openxmlformats.org/officeDocument/2006/relationships" id="260" r:id="R72656a6c6ea741e8"/>
    <p:sldId xmlns:r="http://schemas.openxmlformats.org/officeDocument/2006/relationships" id="261" r:id="Re493ea1567fd4184"/>
    <p:sldId xmlns:r="http://schemas.openxmlformats.org/officeDocument/2006/relationships" id="262" r:id="R7aa9c609312e4915"/>
    <p:sldId xmlns:r="http://schemas.openxmlformats.org/officeDocument/2006/relationships" id="263" r:id="R1582f1b5bacf466d"/>
    <p:sldId xmlns:r="http://schemas.openxmlformats.org/officeDocument/2006/relationships" id="264" r:id="Rdc401b6b0b2741f3"/>
    <p:sldId xmlns:r="http://schemas.openxmlformats.org/officeDocument/2006/relationships" id="265" r:id="Rbd0358edcac84408"/>
    <p:sldId xmlns:r="http://schemas.openxmlformats.org/officeDocument/2006/relationships" id="266" r:id="R96d3b4b338f44846"/>
    <p:sldId xmlns:r="http://schemas.openxmlformats.org/officeDocument/2006/relationships" id="267" r:id="R173dd234aea34fcf"/>
    <p:sldId xmlns:r="http://schemas.openxmlformats.org/officeDocument/2006/relationships" id="268" r:id="Rdf6e88faf3c64407"/>
    <p:sldId xmlns:r="http://schemas.openxmlformats.org/officeDocument/2006/relationships" id="269" r:id="Ra63c4a321d7b4f81"/>
    <p:sldId xmlns:r="http://schemas.openxmlformats.org/officeDocument/2006/relationships" id="270" r:id="R6d97e343a11f459a"/>
    <p:sldId xmlns:r="http://schemas.openxmlformats.org/officeDocument/2006/relationships" id="271" r:id="R14f9436a3e954a8b"/>
    <p:sldId xmlns:r="http://schemas.openxmlformats.org/officeDocument/2006/relationships" id="272" r:id="R6996e5f3e2dc4737"/>
    <p:sldId xmlns:r="http://schemas.openxmlformats.org/officeDocument/2006/relationships" id="273" r:id="R7229a3add43c4716"/>
    <p:sldId xmlns:r="http://schemas.openxmlformats.org/officeDocument/2006/relationships" id="274" r:id="R4427b9a639cd4f0a"/>
    <p:sldId xmlns:r="http://schemas.openxmlformats.org/officeDocument/2006/relationships" id="275" r:id="Rb84ecb7d84514ebc"/>
    <p:sldId xmlns:r="http://schemas.openxmlformats.org/officeDocument/2006/relationships" id="276" r:id="R2ee44960dc9e4779"/>
    <p:sldId xmlns:r="http://schemas.openxmlformats.org/officeDocument/2006/relationships" id="277" r:id="Rc9cd966458fa41e7"/>
    <p:sldId xmlns:r="http://schemas.openxmlformats.org/officeDocument/2006/relationships" id="278" r:id="Rd00448bf02f84cec"/>
    <p:sldId xmlns:r="http://schemas.openxmlformats.org/officeDocument/2006/relationships" id="279" r:id="R9a84d32cae0a4496"/>
    <p:sldId xmlns:r="http://schemas.openxmlformats.org/officeDocument/2006/relationships" id="280" r:id="R3157eb437ab44817"/>
    <p:sldId xmlns:r="http://schemas.openxmlformats.org/officeDocument/2006/relationships" id="281" r:id="Ra25af4a37cc346d5"/>
    <p:sldId xmlns:r="http://schemas.openxmlformats.org/officeDocument/2006/relationships" id="282" r:id="Rf29bde67355e4280"/>
    <p:sldId xmlns:r="http://schemas.openxmlformats.org/officeDocument/2006/relationships" id="283" r:id="R7850f97c9057415a"/>
    <p:sldId xmlns:r="http://schemas.openxmlformats.org/officeDocument/2006/relationships" id="284" r:id="R2b54ef138cd34c5b"/>
    <p:sldId xmlns:r="http://schemas.openxmlformats.org/officeDocument/2006/relationships" id="285" r:id="R218b1794b6454ce7"/>
    <p:sldId xmlns:r="http://schemas.openxmlformats.org/officeDocument/2006/relationships" id="286" r:id="R2a91bffc3fb5496e"/>
    <p:sldId xmlns:r="http://schemas.openxmlformats.org/officeDocument/2006/relationships" id="287" r:id="R6b91b4f899d541e3"/>
    <p:sldId xmlns:r="http://schemas.openxmlformats.org/officeDocument/2006/relationships" id="288" r:id="Ra2734669405c412e"/>
    <p:sldId xmlns:r="http://schemas.openxmlformats.org/officeDocument/2006/relationships" id="289" r:id="Rab8b69a286a6419d"/>
    <p:sldId xmlns:r="http://schemas.openxmlformats.org/officeDocument/2006/relationships" id="290" r:id="Rc2156644602046bc"/>
    <p:sldId xmlns:r="http://schemas.openxmlformats.org/officeDocument/2006/relationships" id="291" r:id="R7c4cfc03f6824d82"/>
    <p:sldId xmlns:r="http://schemas.openxmlformats.org/officeDocument/2006/relationships" id="292" r:id="Rabc075457530487a"/>
    <p:sldId xmlns:r="http://schemas.openxmlformats.org/officeDocument/2006/relationships" id="293" r:id="Rde0aa44886d74f56"/>
    <p:sldId xmlns:r="http://schemas.openxmlformats.org/officeDocument/2006/relationships" id="294" r:id="Rcae2be1ca4064406"/>
    <p:sldId xmlns:r="http://schemas.openxmlformats.org/officeDocument/2006/relationships" id="295" r:id="R91230d12acbe47a5"/>
    <p:sldId xmlns:r="http://schemas.openxmlformats.org/officeDocument/2006/relationships" id="296" r:id="R3ff10583d8f94bca"/>
    <p:sldId xmlns:r="http://schemas.openxmlformats.org/officeDocument/2006/relationships" id="297" r:id="Rc668dfb218b548c1"/>
    <p:sldId xmlns:r="http://schemas.openxmlformats.org/officeDocument/2006/relationships" id="298" r:id="R597552ed545d4ca5"/>
    <p:sldId xmlns:r="http://schemas.openxmlformats.org/officeDocument/2006/relationships" id="299" r:id="R80b31dd29e974c5d"/>
    <p:sldId xmlns:r="http://schemas.openxmlformats.org/officeDocument/2006/relationships" id="300" r:id="R7d32e65b7247440c"/>
    <p:sldId xmlns:r="http://schemas.openxmlformats.org/officeDocument/2006/relationships" id="301" r:id="Rd8c561b25fbd4fb8"/>
    <p:sldId xmlns:r="http://schemas.openxmlformats.org/officeDocument/2006/relationships" id="302" r:id="R910288d0f9ab44ba"/>
    <p:sldId xmlns:r="http://schemas.openxmlformats.org/officeDocument/2006/relationships" id="303" r:id="R495cb315a4734976"/>
    <p:sldId xmlns:r="http://schemas.openxmlformats.org/officeDocument/2006/relationships" id="304" r:id="R7f65349d7feb4dcc"/>
    <p:sldId xmlns:r="http://schemas.openxmlformats.org/officeDocument/2006/relationships" id="305" r:id="R9e92296ac1df4c9a"/>
    <p:sldId xmlns:r="http://schemas.openxmlformats.org/officeDocument/2006/relationships" id="306" r:id="Rf3ff74df37bc4c97"/>
    <p:sldId xmlns:r="http://schemas.openxmlformats.org/officeDocument/2006/relationships" id="307" r:id="R083ad4c777f04fa2"/>
    <p:sldId xmlns:r="http://schemas.openxmlformats.org/officeDocument/2006/relationships" id="308" r:id="Rf04deecdac5f43d1"/>
    <p:sldId xmlns:r="http://schemas.openxmlformats.org/officeDocument/2006/relationships" id="309" r:id="Rc3775bb41bc748bd"/>
    <p:sldId xmlns:r="http://schemas.openxmlformats.org/officeDocument/2006/relationships" id="310" r:id="Rcc28bfb2e4e947c4"/>
    <p:sldId xmlns:r="http://schemas.openxmlformats.org/officeDocument/2006/relationships" id="311" r:id="R40b81da029c94c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3a6db5d5d74e42" /><Relationship Type="http://schemas.openxmlformats.org/officeDocument/2006/relationships/slideMaster" Target="/ppt/slideMasters/slideMaster1.xml" Id="Rbce681ce815a4beb" /><Relationship Type="http://schemas.openxmlformats.org/officeDocument/2006/relationships/notesMaster" Target="/ppt/notesMasters/notesMaster1.xml" Id="R2ac4b26b80ae4869" /><Relationship Type="http://schemas.openxmlformats.org/officeDocument/2006/relationships/presProps" Target="/ppt/presProps.xml" Id="Rcf08d7fdf07f42a5" /><Relationship Type="http://schemas.openxmlformats.org/officeDocument/2006/relationships/tableStyles" Target="/ppt/tableStyles.xml" Id="R486332cb49434cff" /><Relationship Type="http://schemas.openxmlformats.org/officeDocument/2006/relationships/slide" Target="/ppt/slides/slide1.xml" Id="R4bf4fc4496664d59" /><Relationship Type="http://schemas.openxmlformats.org/officeDocument/2006/relationships/slide" Target="/ppt/slides/slide2.xml" Id="R29f528ede69b4623" /><Relationship Type="http://schemas.openxmlformats.org/officeDocument/2006/relationships/slide" Target="/ppt/slides/slide3.xml" Id="Rc35255808cb84477" /><Relationship Type="http://schemas.openxmlformats.org/officeDocument/2006/relationships/slide" Target="/ppt/slides/slide4.xml" Id="R39164d7d6c7d4660" /><Relationship Type="http://schemas.openxmlformats.org/officeDocument/2006/relationships/slide" Target="/ppt/slides/slide5.xml" Id="R72656a6c6ea741e8" /><Relationship Type="http://schemas.openxmlformats.org/officeDocument/2006/relationships/slide" Target="/ppt/slides/slide6.xml" Id="Re493ea1567fd4184" /><Relationship Type="http://schemas.openxmlformats.org/officeDocument/2006/relationships/slide" Target="/ppt/slides/slide7.xml" Id="R7aa9c609312e4915" /><Relationship Type="http://schemas.openxmlformats.org/officeDocument/2006/relationships/slide" Target="/ppt/slides/slide8.xml" Id="R1582f1b5bacf466d" /><Relationship Type="http://schemas.openxmlformats.org/officeDocument/2006/relationships/slide" Target="/ppt/slides/slide9.xml" Id="Rdc401b6b0b2741f3" /><Relationship Type="http://schemas.openxmlformats.org/officeDocument/2006/relationships/slide" Target="/ppt/slides/slide10.xml" Id="Rbd0358edcac84408" /><Relationship Type="http://schemas.openxmlformats.org/officeDocument/2006/relationships/slide" Target="/ppt/slides/slide11.xml" Id="R96d3b4b338f44846" /><Relationship Type="http://schemas.openxmlformats.org/officeDocument/2006/relationships/slide" Target="/ppt/slides/slide12.xml" Id="R173dd234aea34fcf" /><Relationship Type="http://schemas.openxmlformats.org/officeDocument/2006/relationships/slide" Target="/ppt/slides/slide13.xml" Id="Rdf6e88faf3c64407" /><Relationship Type="http://schemas.openxmlformats.org/officeDocument/2006/relationships/slide" Target="/ppt/slides/slide14.xml" Id="Ra63c4a321d7b4f81" /><Relationship Type="http://schemas.openxmlformats.org/officeDocument/2006/relationships/slide" Target="/ppt/slides/slide15.xml" Id="R6d97e343a11f459a" /><Relationship Type="http://schemas.openxmlformats.org/officeDocument/2006/relationships/slide" Target="/ppt/slides/slide16.xml" Id="R14f9436a3e954a8b" /><Relationship Type="http://schemas.openxmlformats.org/officeDocument/2006/relationships/slide" Target="/ppt/slides/slide17.xml" Id="R6996e5f3e2dc4737" /><Relationship Type="http://schemas.openxmlformats.org/officeDocument/2006/relationships/slide" Target="/ppt/slides/slide18.xml" Id="R7229a3add43c4716" /><Relationship Type="http://schemas.openxmlformats.org/officeDocument/2006/relationships/slide" Target="/ppt/slides/slide19.xml" Id="R4427b9a639cd4f0a" /><Relationship Type="http://schemas.openxmlformats.org/officeDocument/2006/relationships/slide" Target="/ppt/slides/slide20.xml" Id="Rb84ecb7d84514ebc" /><Relationship Type="http://schemas.openxmlformats.org/officeDocument/2006/relationships/slide" Target="/ppt/slides/slide21.xml" Id="R2ee44960dc9e4779" /><Relationship Type="http://schemas.openxmlformats.org/officeDocument/2006/relationships/slide" Target="/ppt/slides/slide22.xml" Id="Rc9cd966458fa41e7" /><Relationship Type="http://schemas.openxmlformats.org/officeDocument/2006/relationships/slide" Target="/ppt/slides/slide23.xml" Id="Rd00448bf02f84cec" /><Relationship Type="http://schemas.openxmlformats.org/officeDocument/2006/relationships/slide" Target="/ppt/slides/slide24.xml" Id="R9a84d32cae0a4496" /><Relationship Type="http://schemas.openxmlformats.org/officeDocument/2006/relationships/slide" Target="/ppt/slides/slide25.xml" Id="R3157eb437ab44817" /><Relationship Type="http://schemas.openxmlformats.org/officeDocument/2006/relationships/slide" Target="/ppt/slides/slide26.xml" Id="Ra25af4a37cc346d5" /><Relationship Type="http://schemas.openxmlformats.org/officeDocument/2006/relationships/slide" Target="/ppt/slides/slide27.xml" Id="Rf29bde67355e4280" /><Relationship Type="http://schemas.openxmlformats.org/officeDocument/2006/relationships/slide" Target="/ppt/slides/slide28.xml" Id="R7850f97c9057415a" /><Relationship Type="http://schemas.openxmlformats.org/officeDocument/2006/relationships/slide" Target="/ppt/slides/slide29.xml" Id="R2b54ef138cd34c5b" /><Relationship Type="http://schemas.openxmlformats.org/officeDocument/2006/relationships/slide" Target="/ppt/slides/slide30.xml" Id="R218b1794b6454ce7" /><Relationship Type="http://schemas.openxmlformats.org/officeDocument/2006/relationships/slide" Target="/ppt/slides/slide31.xml" Id="R2a91bffc3fb5496e" /><Relationship Type="http://schemas.openxmlformats.org/officeDocument/2006/relationships/slide" Target="/ppt/slides/slide32.xml" Id="R6b91b4f899d541e3" /><Relationship Type="http://schemas.openxmlformats.org/officeDocument/2006/relationships/slide" Target="/ppt/slides/slide33.xml" Id="Ra2734669405c412e" /><Relationship Type="http://schemas.openxmlformats.org/officeDocument/2006/relationships/slide" Target="/ppt/slides/slide34.xml" Id="Rab8b69a286a6419d" /><Relationship Type="http://schemas.openxmlformats.org/officeDocument/2006/relationships/slide" Target="/ppt/slides/slide35.xml" Id="Rc2156644602046bc" /><Relationship Type="http://schemas.openxmlformats.org/officeDocument/2006/relationships/slide" Target="/ppt/slides/slide36.xml" Id="R7c4cfc03f6824d82" /><Relationship Type="http://schemas.openxmlformats.org/officeDocument/2006/relationships/slide" Target="/ppt/slides/slide37.xml" Id="Rabc075457530487a" /><Relationship Type="http://schemas.openxmlformats.org/officeDocument/2006/relationships/slide" Target="/ppt/slides/slide38.xml" Id="Rde0aa44886d74f56" /><Relationship Type="http://schemas.openxmlformats.org/officeDocument/2006/relationships/slide" Target="/ppt/slides/slide39.xml" Id="Rcae2be1ca4064406" /><Relationship Type="http://schemas.openxmlformats.org/officeDocument/2006/relationships/slide" Target="/ppt/slides/slide40.xml" Id="R91230d12acbe47a5" /><Relationship Type="http://schemas.openxmlformats.org/officeDocument/2006/relationships/slide" Target="/ppt/slides/slide41.xml" Id="R3ff10583d8f94bca" /><Relationship Type="http://schemas.openxmlformats.org/officeDocument/2006/relationships/slide" Target="/ppt/slides/slide42.xml" Id="Rc668dfb218b548c1" /><Relationship Type="http://schemas.openxmlformats.org/officeDocument/2006/relationships/slide" Target="/ppt/slides/slide43.xml" Id="R597552ed545d4ca5" /><Relationship Type="http://schemas.openxmlformats.org/officeDocument/2006/relationships/slide" Target="/ppt/slides/slide44.xml" Id="R80b31dd29e974c5d" /><Relationship Type="http://schemas.openxmlformats.org/officeDocument/2006/relationships/slide" Target="/ppt/slides/slide45.xml" Id="R7d32e65b7247440c" /><Relationship Type="http://schemas.openxmlformats.org/officeDocument/2006/relationships/slide" Target="/ppt/slides/slide46.xml" Id="Rd8c561b25fbd4fb8" /><Relationship Type="http://schemas.openxmlformats.org/officeDocument/2006/relationships/slide" Target="/ppt/slides/slide47.xml" Id="R910288d0f9ab44ba" /><Relationship Type="http://schemas.openxmlformats.org/officeDocument/2006/relationships/slide" Target="/ppt/slides/slide48.xml" Id="R495cb315a4734976" /><Relationship Type="http://schemas.openxmlformats.org/officeDocument/2006/relationships/slide" Target="/ppt/slides/slide49.xml" Id="R7f65349d7feb4dcc" /><Relationship Type="http://schemas.openxmlformats.org/officeDocument/2006/relationships/slide" Target="/ppt/slides/slide50.xml" Id="R9e92296ac1df4c9a" /><Relationship Type="http://schemas.openxmlformats.org/officeDocument/2006/relationships/slide" Target="/ppt/slides/slide51.xml" Id="Rf3ff74df37bc4c97" /><Relationship Type="http://schemas.openxmlformats.org/officeDocument/2006/relationships/slide" Target="/ppt/slides/slide52.xml" Id="R083ad4c777f04fa2" /><Relationship Type="http://schemas.openxmlformats.org/officeDocument/2006/relationships/slide" Target="/ppt/slides/slide53.xml" Id="Rf04deecdac5f43d1" /><Relationship Type="http://schemas.openxmlformats.org/officeDocument/2006/relationships/slide" Target="/ppt/slides/slide54.xml" Id="Rc3775bb41bc748bd" /><Relationship Type="http://schemas.openxmlformats.org/officeDocument/2006/relationships/slide" Target="/ppt/slides/slide55.xml" Id="Rcc28bfb2e4e947c4" /><Relationship Type="http://schemas.openxmlformats.org/officeDocument/2006/relationships/slide" Target="/ppt/slides/slide56.xml" Id="R40b81da029c94c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8405ff65904d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91ae493bc64345" /><Relationship Type="http://schemas.openxmlformats.org/officeDocument/2006/relationships/notesMaster" Target="/ppt/notesMasters/notesMaster1.xml" Id="R261d4a18588e48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68e56c29fe40b8" /><Relationship Type="http://schemas.openxmlformats.org/officeDocument/2006/relationships/notesMaster" Target="/ppt/notesMasters/notesMaster1.xml" Id="R2318afc940454f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321ac6a4a246a5" /><Relationship Type="http://schemas.openxmlformats.org/officeDocument/2006/relationships/notesMaster" Target="/ppt/notesMasters/notesMaster1.xml" Id="R455be42c915746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174a8a109843dc" /><Relationship Type="http://schemas.openxmlformats.org/officeDocument/2006/relationships/notesMaster" Target="/ppt/notesMasters/notesMaster1.xml" Id="Rae761a710b204e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3689794f9c45b4" /><Relationship Type="http://schemas.openxmlformats.org/officeDocument/2006/relationships/notesMaster" Target="/ppt/notesMasters/notesMaster1.xml" Id="Racb7f5118f3d4e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bf948e5db0438b" /><Relationship Type="http://schemas.openxmlformats.org/officeDocument/2006/relationships/notesMaster" Target="/ppt/notesMasters/notesMaster1.xml" Id="Rc8745492cbac43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ca582f00384346" /><Relationship Type="http://schemas.openxmlformats.org/officeDocument/2006/relationships/notesMaster" Target="/ppt/notesMasters/notesMaster1.xml" Id="R262d209ba802494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ed428dc5f54e1c" /><Relationship Type="http://schemas.openxmlformats.org/officeDocument/2006/relationships/notesMaster" Target="/ppt/notesMasters/notesMaster1.xml" Id="Re48802772ff3419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252e3693e904d75" /><Relationship Type="http://schemas.openxmlformats.org/officeDocument/2006/relationships/notesMaster" Target="/ppt/notesMasters/notesMaster1.xml" Id="R810868f3ab15415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abbbdbba6304ba5" /><Relationship Type="http://schemas.openxmlformats.org/officeDocument/2006/relationships/notesMaster" Target="/ppt/notesMasters/notesMaster1.xml" Id="Rb8fc80729e2b4ac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03d89e6b2804721" /><Relationship Type="http://schemas.openxmlformats.org/officeDocument/2006/relationships/notesMaster" Target="/ppt/notesMasters/notesMaster1.xml" Id="Rcba5b7ba61df43a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f7c837c0f3340a2" /><Relationship Type="http://schemas.openxmlformats.org/officeDocument/2006/relationships/notesMaster" Target="/ppt/notesMasters/notesMaster1.xml" Id="Rca15c623b9a54bb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6d7097cddbc4d3a" /><Relationship Type="http://schemas.openxmlformats.org/officeDocument/2006/relationships/notesMaster" Target="/ppt/notesMasters/notesMaster1.xml" Id="Rbd0933e246474ee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c80e822fd014cbb" /><Relationship Type="http://schemas.openxmlformats.org/officeDocument/2006/relationships/notesMaster" Target="/ppt/notesMasters/notesMaster1.xml" Id="R71bf9156258a465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73f4e403ade405a" /><Relationship Type="http://schemas.openxmlformats.org/officeDocument/2006/relationships/notesMaster" Target="/ppt/notesMasters/notesMaster1.xml" Id="R848d9b9cb9b24d7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a0f84c80da04abe" /><Relationship Type="http://schemas.openxmlformats.org/officeDocument/2006/relationships/notesMaster" Target="/ppt/notesMasters/notesMaster1.xml" Id="Rf0f9d05b70e14ea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764b29ccb5f4c3b" /><Relationship Type="http://schemas.openxmlformats.org/officeDocument/2006/relationships/notesMaster" Target="/ppt/notesMasters/notesMaster1.xml" Id="R116083d412d84fc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b33cc4834df40c7" /><Relationship Type="http://schemas.openxmlformats.org/officeDocument/2006/relationships/notesMaster" Target="/ppt/notesMasters/notesMaster1.xml" Id="Reb3a2229a389475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a524901b66f44df" /><Relationship Type="http://schemas.openxmlformats.org/officeDocument/2006/relationships/notesMaster" Target="/ppt/notesMasters/notesMaster1.xml" Id="R1fbdb1f2922f485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a043b01d2064b9d" /><Relationship Type="http://schemas.openxmlformats.org/officeDocument/2006/relationships/notesMaster" Target="/ppt/notesMasters/notesMaster1.xml" Id="Rba8afcf1c3d244a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fe39f92d578479b" /><Relationship Type="http://schemas.openxmlformats.org/officeDocument/2006/relationships/notesMaster" Target="/ppt/notesMasters/notesMaster1.xml" Id="Raa7d01607d4741f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61fa03cf3dc4da5" /><Relationship Type="http://schemas.openxmlformats.org/officeDocument/2006/relationships/notesMaster" Target="/ppt/notesMasters/notesMaster1.xml" Id="R60ba03b6493c426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50e999e579e400b" /><Relationship Type="http://schemas.openxmlformats.org/officeDocument/2006/relationships/notesMaster" Target="/ppt/notesMasters/notesMaster1.xml" Id="R868af51f8928499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eb55cc9f14e43b2" /><Relationship Type="http://schemas.openxmlformats.org/officeDocument/2006/relationships/notesMaster" Target="/ppt/notesMasters/notesMaster1.xml" Id="Ra2dd95dec6f7415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e07e06dab9e4f82" /><Relationship Type="http://schemas.openxmlformats.org/officeDocument/2006/relationships/notesMaster" Target="/ppt/notesMasters/notesMaster1.xml" Id="R8a785dea530f463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9a90174b65c4223" /><Relationship Type="http://schemas.openxmlformats.org/officeDocument/2006/relationships/notesMaster" Target="/ppt/notesMasters/notesMaster1.xml" Id="R61f88930a5e745e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e084e492dc34343" /><Relationship Type="http://schemas.openxmlformats.org/officeDocument/2006/relationships/notesMaster" Target="/ppt/notesMasters/notesMaster1.xml" Id="Rdd9350f68fee404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c84fda3449f418a" /><Relationship Type="http://schemas.openxmlformats.org/officeDocument/2006/relationships/notesMaster" Target="/ppt/notesMasters/notesMaster1.xml" Id="Rb8dbe81aa5894bb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f40adb69d754c4b" /><Relationship Type="http://schemas.openxmlformats.org/officeDocument/2006/relationships/notesMaster" Target="/ppt/notesMasters/notesMaster1.xml" Id="Rbbe03e8fc4b2469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e9aa4bc14b7426a" /><Relationship Type="http://schemas.openxmlformats.org/officeDocument/2006/relationships/notesMaster" Target="/ppt/notesMasters/notesMaster1.xml" Id="R43ca437f1c55485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29d99e2eed24ad2" /><Relationship Type="http://schemas.openxmlformats.org/officeDocument/2006/relationships/notesMaster" Target="/ppt/notesMasters/notesMaster1.xml" Id="R5613083c3b104bb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615c14cc49e4fe7" /><Relationship Type="http://schemas.openxmlformats.org/officeDocument/2006/relationships/notesMaster" Target="/ppt/notesMasters/notesMaster1.xml" Id="R1f0de233f293406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fa224c794e44636" /><Relationship Type="http://schemas.openxmlformats.org/officeDocument/2006/relationships/notesMaster" Target="/ppt/notesMasters/notesMaster1.xml" Id="Rbce0cb90316641b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340886219504003" /><Relationship Type="http://schemas.openxmlformats.org/officeDocument/2006/relationships/notesMaster" Target="/ppt/notesMasters/notesMaster1.xml" Id="R7649ddde4ee8455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4238abdf8a84efe" /><Relationship Type="http://schemas.openxmlformats.org/officeDocument/2006/relationships/notesMaster" Target="/ppt/notesMasters/notesMaster1.xml" Id="R4d59227c3b814a49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a93a1a3e23740e9" /><Relationship Type="http://schemas.openxmlformats.org/officeDocument/2006/relationships/notesMaster" Target="/ppt/notesMasters/notesMaster1.xml" Id="Ra88afdfcd16944e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28dccce715241c2" /><Relationship Type="http://schemas.openxmlformats.org/officeDocument/2006/relationships/notesMaster" Target="/ppt/notesMasters/notesMaster1.xml" Id="R1f66dd3f2c0b4ee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9f84084670b2403b" /><Relationship Type="http://schemas.openxmlformats.org/officeDocument/2006/relationships/notesMaster" Target="/ppt/notesMasters/notesMaster1.xml" Id="Rbe8d08adc49747b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7cb38b12de0540a9" /><Relationship Type="http://schemas.openxmlformats.org/officeDocument/2006/relationships/notesMaster" Target="/ppt/notesMasters/notesMaster1.xml" Id="R35685133b2a0403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fd75c62414d04b2c" /><Relationship Type="http://schemas.openxmlformats.org/officeDocument/2006/relationships/notesMaster" Target="/ppt/notesMasters/notesMaster1.xml" Id="Rf7661e98965a405e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87d5cb65af9d4910" /><Relationship Type="http://schemas.openxmlformats.org/officeDocument/2006/relationships/notesMaster" Target="/ppt/notesMasters/notesMaster1.xml" Id="R43a4dfba4a724763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72189df49eaf409a" /><Relationship Type="http://schemas.openxmlformats.org/officeDocument/2006/relationships/notesMaster" Target="/ppt/notesMasters/notesMaster1.xml" Id="R3200e16577564831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eb542cefc9444a70" /><Relationship Type="http://schemas.openxmlformats.org/officeDocument/2006/relationships/notesMaster" Target="/ppt/notesMasters/notesMaster1.xml" Id="R771fbb71e48b4cb3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ff3f08a54a484af7" /><Relationship Type="http://schemas.openxmlformats.org/officeDocument/2006/relationships/notesMaster" Target="/ppt/notesMasters/notesMaster1.xml" Id="Rd54dfe0386024924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fe369e4834a24973" /><Relationship Type="http://schemas.openxmlformats.org/officeDocument/2006/relationships/notesMaster" Target="/ppt/notesMasters/notesMaster1.xml" Id="R84c8af6445914227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ed5a48f0788949c0" /><Relationship Type="http://schemas.openxmlformats.org/officeDocument/2006/relationships/notesMaster" Target="/ppt/notesMasters/notesMaster1.xml" Id="Rf1434187014b4e65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f3a92c9342d04d13" /><Relationship Type="http://schemas.openxmlformats.org/officeDocument/2006/relationships/notesMaster" Target="/ppt/notesMasters/notesMaster1.xml" Id="R7d916e784e5f47dc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0fb8bd21693d4b20" /><Relationship Type="http://schemas.openxmlformats.org/officeDocument/2006/relationships/notesMaster" Target="/ppt/notesMasters/notesMaster1.xml" Id="Reddbfa6f22dd4978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30077ae002494e83" /><Relationship Type="http://schemas.openxmlformats.org/officeDocument/2006/relationships/notesMaster" Target="/ppt/notesMasters/notesMaster1.xml" Id="Re0521d5cf29149bb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5194b09cb39a4c22" /><Relationship Type="http://schemas.openxmlformats.org/officeDocument/2006/relationships/notesMaster" Target="/ppt/notesMasters/notesMaster1.xml" Id="R07630a7d13d44e79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4218df0f9e7342e4" /><Relationship Type="http://schemas.openxmlformats.org/officeDocument/2006/relationships/notesMaster" Target="/ppt/notesMasters/notesMaster1.xml" Id="Re9d9fc43c5234314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3a6eb964b6834dc9" /><Relationship Type="http://schemas.openxmlformats.org/officeDocument/2006/relationships/notesMaster" Target="/ppt/notesMasters/notesMaster1.xml" Id="R8b0e2fe4078d4b9f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6f76032575834e30" /><Relationship Type="http://schemas.openxmlformats.org/officeDocument/2006/relationships/notesMaster" Target="/ppt/notesMasters/notesMaster1.xml" Id="R10e96bdda20145f1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36ae03ba0c1e4ff0" /><Relationship Type="http://schemas.openxmlformats.org/officeDocument/2006/relationships/notesMaster" Target="/ppt/notesMasters/notesMaster1.xml" Id="Rb215265330704d35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5f85777ffa0341cc" /><Relationship Type="http://schemas.openxmlformats.org/officeDocument/2006/relationships/notesMaster" Target="/ppt/notesMasters/notesMaster1.xml" Id="Rb0e4dcd575694091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f563b375a04049de" /><Relationship Type="http://schemas.openxmlformats.org/officeDocument/2006/relationships/notesMaster" Target="/ppt/notesMasters/notesMaster1.xml" Id="R582dd45c2fa147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參考資料：https://minhuangyuntech.github.io/oo2026/week/4/</a:t>
            </a:r>
          </a:p>
          <a:p xmlns:a="http://schemas.openxmlformats.org/drawingml/2006/main">
            <a:r>
              <a:t>https://minhuangyuntech.github.io/oo2026/week/4/</a:t>
            </a:r>
          </a:p>
          <a:p xmlns:a="http://schemas.openxmlformats.org/drawingml/2006/main">
            <a:r>
              <a:t>插圖：沿用前兩週教材的原始概念插圖。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參考資料：https://minhuangyuntech.github.io/oo2026/week/4/</a:t>
            </a:r>
          </a:p>
          <a:p xmlns:a="http://schemas.openxmlformats.org/drawingml/2006/main">
            <a:r>
              <a:t>https://minhuangyuntech.github.io/oo2026/week/4/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參考資料：https://docs.python.org/3/library/functions.html#property</a:t>
            </a:r>
          </a:p>
          <a:p xmlns:a="http://schemas.openxmlformats.org/drawingml/2006/main">
            <a:r>
              <a:t>https://minhuangyuntech.github.io/oo2026/week/4/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參考資料：https://minhuangyuntech.github.io/oo2026/week/4/</a:t>
            </a:r>
          </a:p>
          <a:p xmlns:a="http://schemas.openxmlformats.org/drawingml/2006/main">
            <a:r>
              <a:t>https://minhuangyuntech.github.io/oo2026/week/4/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參考資料：https://minhuangyuntech.github.io/oo2026/week/4/</a:t>
            </a:r>
          </a:p>
          <a:p xmlns:a="http://schemas.openxmlformats.org/drawingml/2006/main">
            <a:r>
              <a:t>https://minhuangyuntech.github.io/oo2026/week/4/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參考資料：https://minhuangyuntech.github.io/oo2026/week/4/</a:t>
            </a:r>
          </a:p>
          <a:p xmlns:a="http://schemas.openxmlformats.org/drawingml/2006/main">
            <a:r>
              <a:t>https://minhuangyuntech.github.io/oo2026/week/4/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參考資料：https://docs.python.org/3/tutorial/classes.html#private-variables</a:t>
            </a:r>
          </a:p>
          <a:p xmlns:a="http://schemas.openxmlformats.org/drawingml/2006/main">
            <a:r>
              <a:t>https://minhuangyuntech.github.io/oo2026/week/4/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參考資料：https://docs.python.org/3/tutorial/classes.html#private-variables</a:t>
            </a:r>
          </a:p>
          <a:p xmlns:a="http://schemas.openxmlformats.org/drawingml/2006/main">
            <a:r>
              <a:t>https://minhuangyuntech.github.io/oo2026/week/4/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參考資料：https://docs.python.org/3/tutorial/classes.html#private-variables</a:t>
            </a:r>
          </a:p>
          <a:p xmlns:a="http://schemas.openxmlformats.org/drawingml/2006/main">
            <a:r>
              <a:t>https://minhuangyuntech.github.io/oo2026/week/4/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參考資料：https://minhuangyuntech.github.io/oo2026/week/4/</a:t>
            </a:r>
          </a:p>
          <a:p xmlns:a="http://schemas.openxmlformats.org/drawingml/2006/main">
            <a:r>
              <a:t>https://minhuangyuntech.github.io/oo2026/week/4/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參考資料：https://minhuangyuntech.github.io/oo2026/week/4/</a:t>
            </a:r>
          </a:p>
          <a:p xmlns:a="http://schemas.openxmlformats.org/drawingml/2006/main">
            <a:r>
              <a:t>https://minhuangyuntech.github.io/oo2026/week/4/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參考資料：https://minhuangyuntech.github.io/oo2026/week/4/</a:t>
            </a:r>
          </a:p>
          <a:p xmlns:a="http://schemas.openxmlformats.org/drawingml/2006/main">
            <a:r>
              <a:t>https://minhuangyuntech.github.io/oo2026/week/4/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參考資料：https://docs.python.org/3/library/functions.html#property</a:t>
            </a:r>
          </a:p>
          <a:p xmlns:a="http://schemas.openxmlformats.org/drawingml/2006/main">
            <a:r>
              <a:t>https://minhuangyuntech.github.io/oo2026/week/4/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讀取 p.price 會呼叫 getter，回傳內部的 _price。執行 p.price = 120 會呼叫 setter，通過檢查後再將結果寫入 _price。圖中的 invalid 分支指負數價格觸發 ValueError，原有價格維持不變。初始化使用 self.price = price，也會走同一個 setter。圖中略去原程式 round(value, 2) 的四捨五入步驟。</a:t>
            </a:r>
          </a:p>
          <a:p xmlns:a="http://schemas.openxmlformats.org/drawingml/2006/main">
            <a:r>
              <a:t>參考資料：https://docs.python.org/3/library/functions.html#property</a:t>
            </a:r>
          </a:p>
          <a:p xmlns:a="http://schemas.openxmlformats.org/drawingml/2006/main">
            <a:r>
              <a:t>示意圖：依本課程程式範例，以 image_gen 生成。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參考資料：https://docs.python.org/3/library/functions.html#property</a:t>
            </a:r>
          </a:p>
          <a:p xmlns:a="http://schemas.openxmlformats.org/drawingml/2006/main">
            <a:r>
              <a:t>https://minhuangyuntech.github.io/oo2026/week/4/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參考資料：https://docs.python.org/3/library/functions.html#property</a:t>
            </a:r>
          </a:p>
          <a:p xmlns:a="http://schemas.openxmlformats.org/drawingml/2006/main">
            <a:r>
              <a:t>https://minhuangyuntech.github.io/oo2026/week/4/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參考資料：https://minhuangyuntech.github.io/oo2026/week/4/</a:t>
            </a:r>
          </a:p>
          <a:p xmlns:a="http://schemas.openxmlformats.org/drawingml/2006/main">
            <a:r>
              <a:t>https://minhuangyuntech.github.io/oo2026/week/4/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參考資料：https://docs.python.org/3/library/functions.html#property</a:t>
            </a:r>
          </a:p>
          <a:p xmlns:a="http://schemas.openxmlformats.org/drawingml/2006/main">
            <a:r>
              <a:t>https://minhuangyuntech.github.io/oo2026/week/4/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參考資料：https://docs.python.org/3/library/functions.html#property</a:t>
            </a:r>
          </a:p>
          <a:p xmlns:a="http://schemas.openxmlformats.org/drawingml/2006/main">
            <a:r>
              <a:t>https://minhuangyuntech.github.io/oo2026/week/4/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參考資料：https://docs.python.org/3/library/functions.html#property</a:t>
            </a:r>
          </a:p>
          <a:p xmlns:a="http://schemas.openxmlformats.org/drawingml/2006/main">
            <a:r>
              <a:t>https://minhuangyuntech.github.io/oo2026/week/4/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參考資料：https://minhuangyuntech.github.io/oo2026/week/4/</a:t>
            </a:r>
          </a:p>
          <a:p xmlns:a="http://schemas.openxmlformats.org/drawingml/2006/main">
            <a:r>
              <a:t>https://minhuangyuntech.github.io/oo2026/week/4/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參考資料：https://minhuangyuntech.github.io/oo2026/week/4/</a:t>
            </a:r>
          </a:p>
          <a:p xmlns:a="http://schemas.openxmlformats.org/drawingml/2006/main">
            <a:r>
              <a:t>https://minhuangyuntech.github.io/oo2026/week/4/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參考資料：https://docs.python.org/3/library/functions.html#property</a:t>
            </a:r>
          </a:p>
          <a:p xmlns:a="http://schemas.openxmlformats.org/drawingml/2006/main">
            <a:r>
              <a:t>https://minhuangyuntech.github.io/oo2026/week/4/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參考資料：https://docs.python.org/3/library/functions.html#property</a:t>
            </a:r>
          </a:p>
          <a:p xmlns:a="http://schemas.openxmlformats.org/drawingml/2006/main">
            <a:r>
              <a:t>https://minhuangyuntech.github.io/oo2026/week/4/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參考資料：https://docs.python.org/3/library/functions.html#property</a:t>
            </a:r>
          </a:p>
          <a:p xmlns:a="http://schemas.openxmlformats.org/drawingml/2006/main">
            <a:r>
              <a:t>https://minhuangyuntech.github.io/oo2026/week/4/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參考資料：https://docs.python.org/3/library/functions.html#property</a:t>
            </a:r>
          </a:p>
          <a:p xmlns:a="http://schemas.openxmlformats.org/drawingml/2006/main">
            <a:r>
              <a:t>https://minhuangyuntech.github.io/oo2026/week/4/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假設餘額為 100。首先檢查 type(amount) is int，因此 bool 也會遭拒。型別錯誤產生 TypeError，金額小於或等於 0 產生 ValueError。接著確認金額不超過餘額，否則產生 ValueError。只有兩個檢查都通過，才扣款並新增交易紀錄。例如 withdraw(30) 使餘額變成 70。此處保證的是預期驗證失敗不會修改狀態，並未實作資料庫交易、執行緒同步或所有系統例外下的回復機制。</a:t>
            </a:r>
          </a:p>
          <a:p xmlns:a="http://schemas.openxmlformats.org/drawingml/2006/main">
            <a:r>
              <a:t>參考資料：課程配套 bank_account.py</a:t>
            </a:r>
          </a:p>
          <a:p xmlns:a="http://schemas.openxmlformats.org/drawingml/2006/main">
            <a:r>
              <a:t>示意圖：依本課程程式範例，以 image_gen 生成。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參考資料：https://minhuangyuntech.github.io/oo2026/week/4/</a:t>
            </a:r>
          </a:p>
          <a:p xmlns:a="http://schemas.openxmlformats.org/drawingml/2006/main">
            <a:r>
              <a:t>https://minhuangyuntech.github.io/oo2026/week/4/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參考資料：https://docs.python.org/3/library/functions.html#property</a:t>
            </a:r>
          </a:p>
          <a:p xmlns:a="http://schemas.openxmlformats.org/drawingml/2006/main">
            <a:r>
              <a:t>https://minhuangyuntech.github.io/oo2026/week/4/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參考資料：https://docs.python.org/3/library/functions.html#property</a:t>
            </a:r>
          </a:p>
          <a:p xmlns:a="http://schemas.openxmlformats.org/drawingml/2006/main">
            <a:r>
              <a:t>https://minhuangyuntech.github.io/oo2026/week/4/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參考資料：https://docs.python.org/3/library/functions.html#property</a:t>
            </a:r>
          </a:p>
          <a:p xmlns:a="http://schemas.openxmlformats.org/drawingml/2006/main">
            <a:r>
              <a:t>https://minhuangyuntech.github.io/oo2026/week/4/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是 list，snapshot = tuple(internal) 建立另一個外層容器，但兩者的第 0 個元素都參考同一個 dict。tuple 禁止更換元素參考，卻不禁止修改該 dict 的內容。因此 snapshot[0]["amount"] = -999 之後，internal[0]["amount"] 也等於 -999。圖中右側的 100 表示修改前狀態，下方的 -999 表示修改後結果。若要建立更強的隔離，需依 API 契約使用不可變元素、必要的複製或轉換。</a:t>
            </a:r>
          </a:p>
          <a:p xmlns:a="http://schemas.openxmlformats.org/drawingml/2006/main">
            <a:r>
              <a:t>參考資料：https://docs.python.org/3/library/copy.html</a:t>
            </a:r>
          </a:p>
          <a:p xmlns:a="http://schemas.openxmlformats.org/drawingml/2006/main">
            <a:r>
              <a:t>示意圖：依本課程程式範例，以 image_gen 生成。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參考資料：https://minhuangyuntech.github.io/oo2026/week/4/</a:t>
            </a:r>
          </a:p>
          <a:p xmlns:a="http://schemas.openxmlformats.org/drawingml/2006/main">
            <a:r>
              <a:t>https://minhuangyuntech.github.io/oo2026/week/4/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參考資料：https://docs.python.org/3/library/functions.html#property</a:t>
            </a:r>
          </a:p>
          <a:p xmlns:a="http://schemas.openxmlformats.org/drawingml/2006/main">
            <a:r>
              <a:t>https://minhuangyuntech.github.io/oo2026/week/4/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參考資料：https://minhuangyuntech.github.io/oo2026/week/4/</a:t>
            </a:r>
          </a:p>
          <a:p xmlns:a="http://schemas.openxmlformats.org/drawingml/2006/main">
            <a:r>
              <a:t>https://minhuangyuntech.github.io/oo2026/week/4/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參考資料：https://docs.python.org/3/library/functions.html#property</a:t>
            </a:r>
          </a:p>
          <a:p xmlns:a="http://schemas.openxmlformats.org/drawingml/2006/main">
            <a:r>
              <a:t>https://minhuangyuntech.github.io/oo2026/week/4/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參考資料：https://docs.python.org/3/library/functions.html#property</a:t>
            </a:r>
          </a:p>
          <a:p xmlns:a="http://schemas.openxmlformats.org/drawingml/2006/main">
            <a:r>
              <a:t>https://minhuangyuntech.github.io/oo2026/week/4/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參考資料：https://docs.python.org/3/howto/descriptor.html</a:t>
            </a:r>
          </a:p>
          <a:p xmlns:a="http://schemas.openxmlformats.org/drawingml/2006/main">
            <a:r>
              <a:t>https://minhuangyuntech.github.io/oo2026/week/4/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圖示概括一般 obj.name 存取的優先順序：類別及其繼承階層中的資料描述器、實例 __dict__、非資料描述器或一般類別屬性，最後才是 __getattr__ 後備處理。property 屬於資料描述器，所以實例字典中的同名項目不會蓋過它。找到非資料描述器時仍須呼叫其 __get__；找到一般類別屬性則直接回傳該值。__getattr__ 並非 object.__getattribute__ 內部的最後一步，而是一般屬性存取在 __getattribute__ 拋出 AttributeError 後的後備鉤子。因此 descriptor 內部拋出的 AttributeError 也可能觸發它。直接呼叫 object.__getattribute__ 不會自動執行這個後備機制。本圖未涵蓋自訂 __getattribute__ 改寫查找行為的情形。</a:t>
            </a:r>
          </a:p>
          <a:p xmlns:a="http://schemas.openxmlformats.org/drawingml/2006/main">
            <a:r>
              <a:t>參考資料：https://docs.python.org/3/howto/descriptor.html#invocation-from-an-instance</a:t>
            </a:r>
          </a:p>
          <a:p xmlns:a="http://schemas.openxmlformats.org/drawingml/2006/main">
            <a:r>
              <a:t>示意圖：依本課程程式範例，以 image_gen 生成。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參考資料：https://docs.python.org/3/howto/descriptor.html</a:t>
            </a:r>
          </a:p>
          <a:p xmlns:a="http://schemas.openxmlformats.org/drawingml/2006/main">
            <a:r>
              <a:t>https://minhuangyuntech.github.io/oo2026/week/4/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參考資料：https://docs.python.org/3/library/functions.html#property</a:t>
            </a:r>
          </a:p>
          <a:p xmlns:a="http://schemas.openxmlformats.org/drawingml/2006/main">
            <a:r>
              <a:t>https://minhuangyuntech.github.io/oo2026/week/4/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參考資料：https://docs.python.org/3/tutorial/floatingpoint.html</a:t>
            </a:r>
          </a:p>
          <a:p xmlns:a="http://schemas.openxmlformats.org/drawingml/2006/main">
            <a:r>
              <a:t>https://docs.python.org/3/library/math.html#math.isfinite</a:t>
            </a:r>
          </a:p>
          <a:p xmlns:a="http://schemas.openxmlformats.org/drawingml/2006/main">
            <a:r>
              <a:t>https://minhuangyuntech.github.io/oo2026/week/4/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參考資料：https://docs.python.org/3/library/functions.html#property</a:t>
            </a:r>
          </a:p>
          <a:p xmlns:a="http://schemas.openxmlformats.org/drawingml/2006/main">
            <a:r>
              <a:t>https://minhuangyuntech.github.io/oo2026/week/4/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參考資料：https://docs.python.org/3/library/decimal.html</a:t>
            </a:r>
          </a:p>
          <a:p xmlns:a="http://schemas.openxmlformats.org/drawingml/2006/main">
            <a:r>
              <a:t>https://minhuangyuntech.github.io/oo2026/week/4/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參考資料：https://docs.python.org/3/library/functions.html#property</a:t>
            </a:r>
          </a:p>
          <a:p xmlns:a="http://schemas.openxmlformats.org/drawingml/2006/main">
            <a:r>
              <a:t>https://minhuangyuntech.github.io/oo2026/week/4/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參考資料：https://minhuangyuntech.github.io/oo2026/week/4/</a:t>
            </a:r>
          </a:p>
          <a:p xmlns:a="http://schemas.openxmlformats.org/drawingml/2006/main">
            <a:r>
              <a:t>https://minhuangyuntech.github.io/oo2026/week/4/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本例將前面的普通 Python Product 延伸為 Django Model。Model 繼承提供儲存與查詢能力，property 則保留一般 Python 計算屬性的語意。final_price 沒有 setter，因此不能直接指定。唯讀計算屬性不會阻止外部程式直接改寫 price 或 discount，欄位的 validators 也不會在每次指定時自動執行。程式中的 Decimal 以字串建立，避免先經過 float。此計算屬性不會自動成為 ORM 可篩選的資料庫欄位。</a:t>
            </a:r>
          </a:p>
          <a:p xmlns:a="http://schemas.openxmlformats.org/drawingml/2006/main">
            <a:r>
              <a:t>參考資料：https://docs.djangoproject.com/en/5.2/ref/models/instances/</a:t>
            </a:r>
          </a:p>
          <a:p xmlns:a="http://schemas.openxmlformats.org/drawingml/2006/main">
            <a:r>
              <a:t>完整範例：django_product_demo.py。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full_clean() 會依序處理欄位驗證、clean()、唯一性及模型約束驗證。欄位驗證出現錯誤時，Django 仍會收集其他階段的錯誤，因此 clean() 不可假設所有欄位都已轉為合法的 Decimal。此處先確認兩個值都是有限的 Decimal，其他型別或非有限數值的問題留給欄位驗證報告。呼叫 clean() 本身不等於執行完整驗證，也不會自動寫入資料庫。</a:t>
            </a:r>
          </a:p>
          <a:p xmlns:a="http://schemas.openxmlformats.org/drawingml/2006/main">
            <a:r>
              <a:t>參考資料：https://docs.djangoproject.com/en/5.2/ref/models/instances/</a:t>
            </a:r>
          </a:p>
          <a:p xmlns:a="http://schemas.openxmlformats.org/drawingml/2006/main">
            <a:r>
              <a:t>完整範例：django_product_demo.py。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第一段建立物件、驗證後再儲存。第二段先把記憶體中的 discount 改為 150，再呼叫 full_clean()，因此 ValidationError 出現時物件仍然保留 150。資料庫沒有被更新，仍保存折扣 20。refresh_from_db() 才會把物件欄位還原為目前資料庫的值，並捨棄尚未儲存的欄位修改。這与先驗證再更新的普通 Python setter 有不同的失敗語意，不能把 Django 的驗證理解成自動回復。</a:t>
            </a:r>
          </a:p>
          <a:p xmlns:a="http://schemas.openxmlformats.org/drawingml/2006/main">
            <a:r>
              <a:t>參考資料：https://docs.djangoproject.com/en/5.2/ref/models/instances/</a:t>
            </a:r>
          </a:p>
          <a:p xmlns:a="http://schemas.openxmlformats.org/drawingml/2006/main">
            <a:r>
              <a:t>完整範例：django_product_demo.py。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約束把 price ≥ 0、discount ≥ 0 與 discount ≤ price 合併成同一個資料庫檢查。Django full_clean() 在預設設定下也會驗證模型約束，但這項事前檢查不能取代實際寫入時的資料庫限制。配套範例以 QuerySet.update(discount=Decimal("150.00")) 示範繞過模型方法，資料庫仍拒絕更新並產生 IntegrityError。程式將錯誤捕捉放在 transaction.atomic() 區塊外，離開失敗交易後才繼續查詢。一般專案應把類別放入已安裝 app 的 models.py，使用 makemigrations 與 migrate 建立資料表和約束。</a:t>
            </a:r>
          </a:p>
          <a:p xmlns:a="http://schemas.openxmlformats.org/drawingml/2006/main">
            <a:r>
              <a:t>參考資料：https://docs.djangoproject.com/en/5.2/ref/models/constraints/</a:t>
            </a:r>
          </a:p>
          <a:p xmlns:a="http://schemas.openxmlformats.org/drawingml/2006/main">
            <a:r>
              <a:t>https://docs.djangoproject.com/en/5.2/ref/models/querysets/#update</a:t>
            </a:r>
          </a:p>
          <a:p xmlns:a="http://schemas.openxmlformats.org/drawingml/2006/main">
            <a:r>
              <a:t>完整範例：django_product_demo.py。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參考資料：https://minhuangyuntech.github.io/oo2026/week/4/</a:t>
            </a:r>
          </a:p>
          <a:p xmlns:a="http://schemas.openxmlformats.org/drawingml/2006/main">
            <a:r>
              <a:t>https://minhuangyuntech.github.io/oo2026/week/4/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參考資料：https://docs.python.org/3/library/functions.html#property</a:t>
            </a:r>
          </a:p>
          <a:p xmlns:a="http://schemas.openxmlformats.org/drawingml/2006/main">
            <a:r>
              <a:t>https://minhuangyuntech.github.io/oo2026/week/4/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參考資料：https://minhuangyuntech.github.io/oo2026/week/4/</a:t>
            </a:r>
          </a:p>
          <a:p xmlns:a="http://schemas.openxmlformats.org/drawingml/2006/main">
            <a:r>
              <a:t>https://minhuangyuntech.github.io/oo2026/week/4/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參考資料：https://minhuangyuntech.github.io/oo2026/week/4/</a:t>
            </a:r>
          </a:p>
          <a:p xmlns:a="http://schemas.openxmlformats.org/drawingml/2006/main">
            <a:r>
              <a:t>https://minhuangyuntech.github.io/oo2026/week/4/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參考資料：https://minhuangyuntech.github.io/oo2026/week/4/</a:t>
            </a:r>
          </a:p>
          <a:p xmlns:a="http://schemas.openxmlformats.org/drawingml/2006/main">
            <a:r>
              <a:t>https://minhuangyuntech.github.io/oo2026/week/4/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參考資料：https://minhuangyuntech.github.io/oo2026/week/4/</a:t>
            </a:r>
          </a:p>
          <a:p xmlns:a="http://schemas.openxmlformats.org/drawingml/2006/main">
            <a:r>
              <a:t>https://docs.python.org/3/tutorial/classes.html#private-variables</a:t>
            </a:r>
          </a:p>
          <a:p xmlns:a="http://schemas.openxmlformats.org/drawingml/2006/main">
            <a:r>
              <a:t>https://docs.python.org/3/library/functions.html#property</a:t>
            </a:r>
          </a:p>
          <a:p xmlns:a="http://schemas.openxmlformats.org/drawingml/2006/main">
            <a:r>
              <a:t>https://docs.python.org/3/howto/descriptor.html</a:t>
            </a:r>
          </a:p>
          <a:p xmlns:a="http://schemas.openxmlformats.org/drawingml/2006/main">
            <a:r>
              <a:t>https://docs.python.org/3/library/decimal.html</a:t>
            </a:r>
          </a:p>
          <a:p xmlns:a="http://schemas.openxmlformats.org/drawingml/2006/main">
            <a:r>
              <a:t>https://minhuangyuntech.github.io/oo2026/week/4/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5ff3dcdf4f4c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2c941f98df4a8f" /><Relationship Type="http://schemas.openxmlformats.org/officeDocument/2006/relationships/slideLayout" Target="/ppt/slideLayouts/slideLayout1.xml" Id="R8068c8775faf42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68c8775faf42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1e6fb01ae449a7" /><Relationship Type="http://schemas.openxmlformats.org/officeDocument/2006/relationships/image" Target="/ppt/media/image.png" Id="Rac6781e54a5d451e" /><Relationship Type="http://schemas.openxmlformats.org/officeDocument/2006/relationships/notesSlide" Target="/ppt/notesSlides/notesSlide1.xml" Id="R16b648f81d6e4c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1379182ecb4cec" /><Relationship Type="http://schemas.openxmlformats.org/officeDocument/2006/relationships/notesSlide" Target="/ppt/notesSlides/notesSlide2.xml" Id="R1acf0cf0f1b141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c750c34a11485b" /><Relationship Type="http://schemas.openxmlformats.org/officeDocument/2006/relationships/notesSlide" Target="/ppt/notesSlides/notesSlide3.xml" Id="R38cfffb5869f47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471ddc5a7c42f2" /><Relationship Type="http://schemas.openxmlformats.org/officeDocument/2006/relationships/notesSlide" Target="/ppt/notesSlides/notesSlide4.xml" Id="R466998868e3646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7ae223f78e404e" /><Relationship Type="http://schemas.openxmlformats.org/officeDocument/2006/relationships/notesSlide" Target="/ppt/notesSlides/notesSlide5.xml" Id="R7c7caebbe16e4d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2439c236d14dbd" /><Relationship Type="http://schemas.openxmlformats.org/officeDocument/2006/relationships/notesSlide" Target="/ppt/notesSlides/notesSlide6.xml" Id="R97c30b75cb1a41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e499201c034687" /><Relationship Type="http://schemas.openxmlformats.org/officeDocument/2006/relationships/notesSlide" Target="/ppt/notesSlides/notesSlide7.xml" Id="R2c868373a1424d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04e2d6be4545d3" /><Relationship Type="http://schemas.openxmlformats.org/officeDocument/2006/relationships/notesSlide" Target="/ppt/notesSlides/notesSlide8.xml" Id="Rcd74427b203242b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57c28fd0dc4f51" /><Relationship Type="http://schemas.openxmlformats.org/officeDocument/2006/relationships/notesSlide" Target="/ppt/notesSlides/notesSlide9.xml" Id="Ra6906454364d474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4102fc122a4378" /><Relationship Type="http://schemas.openxmlformats.org/officeDocument/2006/relationships/notesSlide" Target="/ppt/notesSlides/notesSlide10.xml" Id="R817dc65f8a43463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1e24f9118e4956" /><Relationship Type="http://schemas.openxmlformats.org/officeDocument/2006/relationships/notesSlide" Target="/ppt/notesSlides/notesSlide11.xml" Id="R69e7be0643f74c9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e64000e754ae8" /><Relationship Type="http://schemas.openxmlformats.org/officeDocument/2006/relationships/notesSlide" Target="/ppt/notesSlides/notesSlide12.xml" Id="R721e968c58434ca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b1cdfcb6134093" /><Relationship Type="http://schemas.openxmlformats.org/officeDocument/2006/relationships/notesSlide" Target="/ppt/notesSlides/notesSlide13.xml" Id="Rc4b0982c8f8c407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d62285bdb143f3" /><Relationship Type="http://schemas.openxmlformats.org/officeDocument/2006/relationships/image" Target="/ppt/media/image2.png" Id="R374d975852ce4786" /><Relationship Type="http://schemas.openxmlformats.org/officeDocument/2006/relationships/notesSlide" Target="/ppt/notesSlides/notesSlide14.xml" Id="R37363866870d4cb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06943caf734ac0" /><Relationship Type="http://schemas.openxmlformats.org/officeDocument/2006/relationships/notesSlide" Target="/ppt/notesSlides/notesSlide15.xml" Id="R5ff212dcde41468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187062d3da470d" /><Relationship Type="http://schemas.openxmlformats.org/officeDocument/2006/relationships/notesSlide" Target="/ppt/notesSlides/notesSlide16.xml" Id="Reed36a82ae17443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6b2383ccc94c6b" /><Relationship Type="http://schemas.openxmlformats.org/officeDocument/2006/relationships/notesSlide" Target="/ppt/notesSlides/notesSlide17.xml" Id="R38308d26fdbf430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af501e785f426c" /><Relationship Type="http://schemas.openxmlformats.org/officeDocument/2006/relationships/notesSlide" Target="/ppt/notesSlides/notesSlide18.xml" Id="R89d6f8c7bce0452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f4979a7ee148ea" /><Relationship Type="http://schemas.openxmlformats.org/officeDocument/2006/relationships/notesSlide" Target="/ppt/notesSlides/notesSlide19.xml" Id="R7c896faf12a6480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5cf98b6b5646b0" /><Relationship Type="http://schemas.openxmlformats.org/officeDocument/2006/relationships/notesSlide" Target="/ppt/notesSlides/notesSlide20.xml" Id="Ra53c13d6f9504e7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5c6a8ddea4b22" /><Relationship Type="http://schemas.openxmlformats.org/officeDocument/2006/relationships/notesSlide" Target="/ppt/notesSlides/notesSlide21.xml" Id="R1b55325b505343c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c1d8ec81e84d3e" /><Relationship Type="http://schemas.openxmlformats.org/officeDocument/2006/relationships/notesSlide" Target="/ppt/notesSlides/notesSlide22.xml" Id="R63864832649c4f8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169b6ec85c4700" /><Relationship Type="http://schemas.openxmlformats.org/officeDocument/2006/relationships/notesSlide" Target="/ppt/notesSlides/notesSlide23.xml" Id="R7cd5defa3291415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d82a1f9840464b" /><Relationship Type="http://schemas.openxmlformats.org/officeDocument/2006/relationships/notesSlide" Target="/ppt/notesSlides/notesSlide24.xml" Id="R9e6d682882654c1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bed5d908504215" /><Relationship Type="http://schemas.openxmlformats.org/officeDocument/2006/relationships/notesSlide" Target="/ppt/notesSlides/notesSlide25.xml" Id="R21da6f5746c2465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8b3cc2e314fae" /><Relationship Type="http://schemas.openxmlformats.org/officeDocument/2006/relationships/notesSlide" Target="/ppt/notesSlides/notesSlide26.xml" Id="Rec6fce54d57845e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5c3733a1464e19" /><Relationship Type="http://schemas.openxmlformats.org/officeDocument/2006/relationships/image" Target="/ppt/media/image3.png" Id="R54c9a0210fc943b4" /><Relationship Type="http://schemas.openxmlformats.org/officeDocument/2006/relationships/notesSlide" Target="/ppt/notesSlides/notesSlide27.xml" Id="R2f4b90e125a9425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a6fead9ed64d0b" /><Relationship Type="http://schemas.openxmlformats.org/officeDocument/2006/relationships/notesSlide" Target="/ppt/notesSlides/notesSlide28.xml" Id="Rb5cb3b0daa1d40a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6c7a31fcc94a38" /><Relationship Type="http://schemas.openxmlformats.org/officeDocument/2006/relationships/notesSlide" Target="/ppt/notesSlides/notesSlide29.xml" Id="R7bb54fa2a8714a3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6f114db58408b" /><Relationship Type="http://schemas.openxmlformats.org/officeDocument/2006/relationships/notesSlide" Target="/ppt/notesSlides/notesSlide30.xml" Id="R222fc34cdade450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44f7e09c41425b" /><Relationship Type="http://schemas.openxmlformats.org/officeDocument/2006/relationships/notesSlide" Target="/ppt/notesSlides/notesSlide31.xml" Id="R2b45d7430925452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e4e48758f643bb" /><Relationship Type="http://schemas.openxmlformats.org/officeDocument/2006/relationships/image" Target="/ppt/media/image4.png" Id="R6f5bd03b33f64642" /><Relationship Type="http://schemas.openxmlformats.org/officeDocument/2006/relationships/notesSlide" Target="/ppt/notesSlides/notesSlide32.xml" Id="R9c416e9bc475429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f95e33a5324ac7" /><Relationship Type="http://schemas.openxmlformats.org/officeDocument/2006/relationships/notesSlide" Target="/ppt/notesSlides/notesSlide33.xml" Id="Rfcbb44685aaf42d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4dc119be6846e7" /><Relationship Type="http://schemas.openxmlformats.org/officeDocument/2006/relationships/notesSlide" Target="/ppt/notesSlides/notesSlide34.xml" Id="R149447a80671415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48da081fde40c1" /><Relationship Type="http://schemas.openxmlformats.org/officeDocument/2006/relationships/notesSlide" Target="/ppt/notesSlides/notesSlide35.xml" Id="R0db1162f870f460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cb0ee2dee9441e" /><Relationship Type="http://schemas.openxmlformats.org/officeDocument/2006/relationships/notesSlide" Target="/ppt/notesSlides/notesSlide36.xml" Id="R8115033067e2454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83165ee4154437" /><Relationship Type="http://schemas.openxmlformats.org/officeDocument/2006/relationships/notesSlide" Target="/ppt/notesSlides/notesSlide37.xml" Id="R6c8cefd54b714a0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8338dcb65f41c8" /><Relationship Type="http://schemas.openxmlformats.org/officeDocument/2006/relationships/notesSlide" Target="/ppt/notesSlides/notesSlide38.xml" Id="Rfa513e47e439492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0dfe2ee7ef486a" /><Relationship Type="http://schemas.openxmlformats.org/officeDocument/2006/relationships/image" Target="/ppt/media/image5.png" Id="R1ebfa7d81abe4b3f" /><Relationship Type="http://schemas.openxmlformats.org/officeDocument/2006/relationships/notesSlide" Target="/ppt/notesSlides/notesSlide39.xml" Id="Re4599e6cec30416f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0aaf4fab7f45d7" /><Relationship Type="http://schemas.openxmlformats.org/officeDocument/2006/relationships/notesSlide" Target="/ppt/notesSlides/notesSlide40.xml" Id="R7171387bdd054d27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0715797d8499f" /><Relationship Type="http://schemas.openxmlformats.org/officeDocument/2006/relationships/notesSlide" Target="/ppt/notesSlides/notesSlide41.xml" Id="R3724dbd897494e54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0b1d9ea89344e2" /><Relationship Type="http://schemas.openxmlformats.org/officeDocument/2006/relationships/notesSlide" Target="/ppt/notesSlides/notesSlide42.xml" Id="R7032256e18bd4766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83a094f2bd4840" /><Relationship Type="http://schemas.openxmlformats.org/officeDocument/2006/relationships/notesSlide" Target="/ppt/notesSlides/notesSlide43.xml" Id="Rde7a57e0538d4d74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0915caebee4f54" /><Relationship Type="http://schemas.openxmlformats.org/officeDocument/2006/relationships/notesSlide" Target="/ppt/notesSlides/notesSlide44.xml" Id="R29f934be1d9b4afd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941e67149844d1" /><Relationship Type="http://schemas.openxmlformats.org/officeDocument/2006/relationships/notesSlide" Target="/ppt/notesSlides/notesSlide45.xml" Id="Rfcdd7fec2c5a48ac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33c1738b8b480a" /><Relationship Type="http://schemas.openxmlformats.org/officeDocument/2006/relationships/notesSlide" Target="/ppt/notesSlides/notesSlide46.xml" Id="R563869bf72974584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290f24aa97474d" /><Relationship Type="http://schemas.openxmlformats.org/officeDocument/2006/relationships/notesSlide" Target="/ppt/notesSlides/notesSlide47.xml" Id="Rd3403c60b6434b8b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933f1408b547bf" /><Relationship Type="http://schemas.openxmlformats.org/officeDocument/2006/relationships/notesSlide" Target="/ppt/notesSlides/notesSlide48.xml" Id="Rc2d6b3d4705e409d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976a8842724653" /><Relationship Type="http://schemas.openxmlformats.org/officeDocument/2006/relationships/notesSlide" Target="/ppt/notesSlides/notesSlide49.xml" Id="Rd78ca38706d74b43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967e8d950e4fe3" /><Relationship Type="http://schemas.openxmlformats.org/officeDocument/2006/relationships/notesSlide" Target="/ppt/notesSlides/notesSlide50.xml" Id="R4da703ea39294eef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763ea8104e4ae5" /><Relationship Type="http://schemas.openxmlformats.org/officeDocument/2006/relationships/notesSlide" Target="/ppt/notesSlides/notesSlide51.xml" Id="Re329a6c4321944da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b9e546d4594ad1" /><Relationship Type="http://schemas.openxmlformats.org/officeDocument/2006/relationships/notesSlide" Target="/ppt/notesSlides/notesSlide52.xml" Id="R003723e1c55e4255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b809897dd140b3" /><Relationship Type="http://schemas.openxmlformats.org/officeDocument/2006/relationships/notesSlide" Target="/ppt/notesSlides/notesSlide53.xml" Id="R49a15323422944fd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b8a5a83ac48dc" /><Relationship Type="http://schemas.openxmlformats.org/officeDocument/2006/relationships/notesSlide" Target="/ppt/notesSlides/notesSlide54.xml" Id="R29e7005fe0444131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a5b52db8064076" /><Relationship Type="http://schemas.openxmlformats.org/officeDocument/2006/relationships/notesSlide" Target="/ppt/notesSlides/notesSlide55.xml" Id="R9468f9419d14440f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8b0b7200014795" /><Relationship Type="http://schemas.openxmlformats.org/officeDocument/2006/relationships/notesSlide" Target="/ppt/notesSlides/notesSlide56.xml" Id="Rced2b634744646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6781e54a5d451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WEEK 04">
            <a:extLst xmlns:a="http://schemas.openxmlformats.org/drawingml/2006/main">
              <a:ext uri="{FF2B5EF4-FFF2-40B4-BE49-F238E27FC236}">
                <a16:creationId xmlns:a16="http://schemas.microsoft.com/office/drawing/2014/main" id="{C564CE5F-54AD-4CD9-BEA0-E607C166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WEEK 04</a:t>
            </a:r>
          </a:p>
        </p:txBody>
      </p:sp>
      <p:sp>
        <p:nvSpPr>
          <p:cNvPr id="3" name="封裝 與資訊隱藏">
            <a:extLst xmlns:a="http://schemas.openxmlformats.org/drawingml/2006/main">
              <a:ext uri="{FF2B5EF4-FFF2-40B4-BE49-F238E27FC236}">
                <a16:creationId xmlns:a16="http://schemas.microsoft.com/office/drawing/2014/main" id="{8CE39A3E-CEDA-4EFE-AFDF-D999D3A2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7048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4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封裝</a:t>
            </a:r>
          </a:p>
          <a:p xmlns:a="http://schemas.openxmlformats.org/drawingml/2006/main">
            <a:pPr algn="l">
              <a:buNone/>
              <a:defRPr sz="54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4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與資訊隱藏</a:t>
            </a:r>
          </a:p>
        </p:txBody>
      </p:sp>
      <p:sp>
        <p:nvSpPr>
          <p:cNvPr id="4" name="物件導向程式設計">
            <a:extLst xmlns:a="http://schemas.openxmlformats.org/drawingml/2006/main">
              <a:ext uri="{FF2B5EF4-FFF2-40B4-BE49-F238E27FC236}">
                <a16:creationId xmlns:a16="http://schemas.microsoft.com/office/drawing/2014/main" id="{3A9F60B3-15F0-4D2F-AAD8-B1723510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48175"/>
            <a:ext cx="6572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物件導向程式設計</a:t>
            </a:r>
          </a:p>
        </p:txBody>
      </p:sp>
      <p:sp>
        <p:nvSpPr>
          <p:cNvPr id="5" name="國立雲林科技大學 電子工程系 115 學年度第 1 學期　何敏煌">
            <a:extLst xmlns:a="http://schemas.openxmlformats.org/drawingml/2006/main">
              <a:ext uri="{FF2B5EF4-FFF2-40B4-BE49-F238E27FC236}">
                <a16:creationId xmlns:a16="http://schemas.microsoft.com/office/drawing/2014/main" id="{639403CC-B69F-430D-A242-DB27D2B7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05475"/>
            <a:ext cx="666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BDC7C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BDC7CD"/>
                </a:solidFill>
                <a:latin typeface="Microsoft JhengHei"/>
                <a:ea typeface="Microsoft JhengHei"/>
                <a:cs typeface="Microsoft JhengHei"/>
              </a:rPr>
              <a:t>國立雲林科技大學 電子工程系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BDC7C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BDC7CD"/>
                </a:solidFill>
                <a:latin typeface="Microsoft JhengHei"/>
                <a:ea typeface="Microsoft JhengHei"/>
                <a:cs typeface="Microsoft JhengHei"/>
              </a:rPr>
              <a:t>115 學年度第 1 學期　何敏煌</a:t>
            </a:r>
          </a:p>
        </p:txBody>
      </p:sp>
    </p:spTree>
    <p:extLst>
      <p:ext uri="{BB962C8B-B14F-4D97-AF65-F5344CB8AC3E}">
        <p14:creationId xmlns:p14="http://schemas.microsoft.com/office/powerpoint/2010/main" val="21150427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第四週的學習主線">
            <a:extLst xmlns:a="http://schemas.openxmlformats.org/drawingml/2006/main">
              <a:ext uri="{FF2B5EF4-FFF2-40B4-BE49-F238E27FC236}">
                <a16:creationId xmlns:a16="http://schemas.microsoft.com/office/drawing/2014/main" id="{C018B933-5821-4CDD-A6E1-58443E54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第四週的學習主線</a:t>
            </a:r>
          </a:p>
        </p:txBody>
      </p:sp>
      <p:sp>
        <p:nvSpPr>
          <p:cNvPr id="2" name="封裝與資訊隱藏">
            <a:extLst xmlns:a="http://schemas.openxmlformats.org/drawingml/2006/main">
              <a:ext uri="{FF2B5EF4-FFF2-40B4-BE49-F238E27FC236}">
                <a16:creationId xmlns:a16="http://schemas.microsoft.com/office/drawing/2014/main" id="{E882A8A8-9D93-419E-94B3-3B250E56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封裝與資訊隱藏</a:t>
            </a:r>
          </a:p>
        </p:txBody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C39D9E50-82B6-4AD8-BB14-F7923259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4" name="介面與狀態">
            <a:extLst xmlns:a="http://schemas.openxmlformats.org/drawingml/2006/main">
              <a:ext uri="{FF2B5EF4-FFF2-40B4-BE49-F238E27FC236}">
                <a16:creationId xmlns:a16="http://schemas.microsoft.com/office/drawing/2014/main" id="{2F7B127C-86EC-4C45-9759-71B02FA7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1450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介面與狀態</a:t>
            </a:r>
          </a:p>
        </p:txBody>
      </p:sp>
      <p:sp>
        <p:nvSpPr>
          <p:cNvPr id="5" name="公開操作、內部資料與類別不變條件">
            <a:extLst xmlns:a="http://schemas.openxmlformats.org/drawingml/2006/main">
              <a:ext uri="{FF2B5EF4-FFF2-40B4-BE49-F238E27FC236}">
                <a16:creationId xmlns:a16="http://schemas.microsoft.com/office/drawing/2014/main" id="{9CDDAB13-C70B-486E-98EF-DB429F37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743075"/>
            <a:ext cx="7858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公開操作、內部資料與類別不變條件</a:t>
            </a:r>
          </a:p>
        </p:txBody>
      </p:sp>
      <p:sp>
        <p:nvSpPr>
          <p:cNvPr id="6" name="名稱與屬性">
            <a:extLst xmlns:a="http://schemas.openxmlformats.org/drawingml/2006/main">
              <a:ext uri="{FF2B5EF4-FFF2-40B4-BE49-F238E27FC236}">
                <a16:creationId xmlns:a16="http://schemas.microsoft.com/office/drawing/2014/main" id="{47E5EF2B-2A52-4F56-B091-8E94A8A0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05075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名稱與屬性</a:t>
            </a:r>
          </a:p>
        </p:txBody>
      </p:sp>
      <p:sp>
        <p:nvSpPr>
          <p:cNvPr id="7" name="_name、__name、getter 與 setter">
            <a:extLst xmlns:a="http://schemas.openxmlformats.org/drawingml/2006/main">
              <a:ext uri="{FF2B5EF4-FFF2-40B4-BE49-F238E27FC236}">
                <a16:creationId xmlns:a16="http://schemas.microsoft.com/office/drawing/2014/main" id="{8BB03014-5E51-4534-B4F3-BA753052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533650"/>
            <a:ext cx="7858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_name、__name、getter 與 setter</a:t>
            </a:r>
          </a:p>
        </p:txBody>
      </p:sp>
      <p:sp>
        <p:nvSpPr>
          <p:cNvPr id="8" name="資料的邊界">
            <a:extLst xmlns:a="http://schemas.openxmlformats.org/drawingml/2006/main">
              <a:ext uri="{FF2B5EF4-FFF2-40B4-BE49-F238E27FC236}">
                <a16:creationId xmlns:a16="http://schemas.microsoft.com/office/drawing/2014/main" id="{BE8C4BC5-E0D2-4DD6-9447-DBF3BB92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9565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資料的邊界</a:t>
            </a:r>
          </a:p>
        </p:txBody>
      </p:sp>
      <p:sp>
        <p:nvSpPr>
          <p:cNvPr id="9" name="唯讀屬性、集合副本與共享參照">
            <a:extLst xmlns:a="http://schemas.openxmlformats.org/drawingml/2006/main">
              <a:ext uri="{FF2B5EF4-FFF2-40B4-BE49-F238E27FC236}">
                <a16:creationId xmlns:a16="http://schemas.microsoft.com/office/drawing/2014/main" id="{D668121F-A939-4366-9ABB-0B2194F5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324225"/>
            <a:ext cx="7858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唯讀屬性、集合副本與共享參照</a:t>
            </a:r>
          </a:p>
        </p:txBody>
      </p:sp>
      <p:sp>
        <p:nvSpPr>
          <p:cNvPr id="10" name="進階機制">
            <a:extLst xmlns:a="http://schemas.openxmlformats.org/drawingml/2006/main">
              <a:ext uri="{FF2B5EF4-FFF2-40B4-BE49-F238E27FC236}">
                <a16:creationId xmlns:a16="http://schemas.microsoft.com/office/drawing/2014/main" id="{38E650FD-19B3-4932-AD1B-EE9FD161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86225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進階機制</a:t>
            </a:r>
          </a:p>
        </p:txBody>
      </p:sp>
      <p:sp>
        <p:nvSpPr>
          <p:cNvPr id="11" name="descriptor、介面契約與狀態驗證">
            <a:extLst xmlns:a="http://schemas.openxmlformats.org/drawingml/2006/main">
              <a:ext uri="{FF2B5EF4-FFF2-40B4-BE49-F238E27FC236}">
                <a16:creationId xmlns:a16="http://schemas.microsoft.com/office/drawing/2014/main" id="{1C21F2B4-F65F-4296-83DA-71CED356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114800"/>
            <a:ext cx="7858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descriptor、介面契約與狀態驗證</a:t>
            </a:r>
          </a:p>
        </p:txBody>
      </p:sp>
      <p:sp>
        <p:nvSpPr>
          <p:cNvPr id="12" name="範例採 Python 3.12+。配套程式可獨立執行。">
            <a:extLst xmlns:a="http://schemas.openxmlformats.org/drawingml/2006/main">
              <a:ext uri="{FF2B5EF4-FFF2-40B4-BE49-F238E27FC236}">
                <a16:creationId xmlns:a16="http://schemas.microsoft.com/office/drawing/2014/main" id="{8E7AEFB1-D589-4F92-AD62-824F3EFB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991225"/>
            <a:ext cx="1076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範例採 Python 3.12+。配套程式可獨立執行。</a:t>
            </a:r>
          </a:p>
        </p:txBody>
      </p:sp>
    </p:spTree>
    <p:extLst>
      <p:ext uri="{BB962C8B-B14F-4D97-AF65-F5344CB8AC3E}">
        <p14:creationId xmlns:p14="http://schemas.microsoft.com/office/powerpoint/2010/main" val="6421608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第三週留下的問題：直接改寫狀態">
            <a:extLst xmlns:a="http://schemas.openxmlformats.org/drawingml/2006/main">
              <a:ext uri="{FF2B5EF4-FFF2-40B4-BE49-F238E27FC236}">
                <a16:creationId xmlns:a16="http://schemas.microsoft.com/office/drawing/2014/main" id="{39A46E25-0462-48CA-8B99-B393E77D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第三週留下的問題：直接改寫狀態</a:t>
            </a:r>
          </a:p>
        </p:txBody>
      </p:sp>
      <p:sp>
        <p:nvSpPr>
          <p:cNvPr id="2" name="銜接類別與物件">
            <a:extLst xmlns:a="http://schemas.openxmlformats.org/drawingml/2006/main">
              <a:ext uri="{FF2B5EF4-FFF2-40B4-BE49-F238E27FC236}">
                <a16:creationId xmlns:a16="http://schemas.microsoft.com/office/drawing/2014/main" id="{7EDE0B03-6144-4278-9710-93574A76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銜接類別與物件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34BBBD68-0202-4574-BABB-83F1CD01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4" name="class Account:">
            <a:extLst xmlns:a="http://schemas.openxmlformats.org/drawingml/2006/main">
              <a:ext uri="{FF2B5EF4-FFF2-40B4-BE49-F238E27FC236}">
                <a16:creationId xmlns:a16="http://schemas.microsoft.com/office/drawing/2014/main" id="{1DB5DEB9-0499-4FDC-8106-E8DEBB5D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Account:</a:t>
            </a:r>
          </a:p>
        </p:txBody>
      </p:sp>
      <p:sp>
        <p:nvSpPr>
          <p:cNvPr id="5" name="    def __init__(self, balance):">
            <a:extLst xmlns:a="http://schemas.openxmlformats.org/drawingml/2006/main">
              <a:ext uri="{FF2B5EF4-FFF2-40B4-BE49-F238E27FC236}">
                <a16:creationId xmlns:a16="http://schemas.microsoft.com/office/drawing/2014/main" id="{1507ECFD-1003-49FE-A7D9-900753FA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__init__(self, balance):</a:t>
            </a:r>
          </a:p>
        </p:txBody>
      </p:sp>
      <p:sp>
        <p:nvSpPr>
          <p:cNvPr id="6" name="        if balance &lt; 0:">
            <a:extLst xmlns:a="http://schemas.openxmlformats.org/drawingml/2006/main">
              <a:ext uri="{FF2B5EF4-FFF2-40B4-BE49-F238E27FC236}">
                <a16:creationId xmlns:a16="http://schemas.microsoft.com/office/drawing/2014/main" id="{E3188239-C379-4C67-B1D5-8BF18209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if balance &lt; 0:</a:t>
            </a:r>
          </a:p>
        </p:txBody>
      </p:sp>
      <p:sp>
        <p:nvSpPr>
          <p:cNvPr id="7" name="            raise ValueError(&quot;negative balance&quot;)">
            <a:extLst xmlns:a="http://schemas.openxmlformats.org/drawingml/2006/main">
              <a:ext uri="{FF2B5EF4-FFF2-40B4-BE49-F238E27FC236}">
                <a16:creationId xmlns:a16="http://schemas.microsoft.com/office/drawing/2014/main" id="{473BCC96-CB0A-4C44-8112-016E05F4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raise ValueError("negative balance")</a:t>
            </a:r>
          </a:p>
        </p:txBody>
      </p:sp>
      <p:sp>
        <p:nvSpPr>
          <p:cNvPr id="8" name="        self.balance = balance">
            <a:extLst xmlns:a="http://schemas.openxmlformats.org/drawingml/2006/main">
              <a:ext uri="{FF2B5EF4-FFF2-40B4-BE49-F238E27FC236}">
                <a16:creationId xmlns:a16="http://schemas.microsoft.com/office/drawing/2014/main" id="{EBC8B83F-92A7-4C85-B436-896E729B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self.balance = balance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82F6F1-0B3A-456C-B896-43F44539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account = Account(100)">
            <a:extLst xmlns:a="http://schemas.openxmlformats.org/drawingml/2006/main">
              <a:ext uri="{FF2B5EF4-FFF2-40B4-BE49-F238E27FC236}">
                <a16:creationId xmlns:a16="http://schemas.microsoft.com/office/drawing/2014/main" id="{007B094E-C0E3-49EF-A513-268000B1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account = Account(100)</a:t>
            </a:r>
          </a:p>
        </p:txBody>
      </p:sp>
      <p:sp>
        <p:nvSpPr>
          <p:cNvPr id="11" name="account.balance = -999">
            <a:extLst xmlns:a="http://schemas.openxmlformats.org/drawingml/2006/main">
              <a:ext uri="{FF2B5EF4-FFF2-40B4-BE49-F238E27FC236}">
                <a16:creationId xmlns:a16="http://schemas.microsoft.com/office/drawing/2014/main" id="{14681C6E-8C28-4B09-9593-92C32F09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account.balance = -999</a:t>
            </a:r>
          </a:p>
        </p:txBody>
      </p:sp>
      <p:sp>
        <p:nvSpPr>
          <p:cNvPr id="12" name="print(account.balance)">
            <a:extLst xmlns:a="http://schemas.openxmlformats.org/drawingml/2006/main">
              <a:ext uri="{FF2B5EF4-FFF2-40B4-BE49-F238E27FC236}">
                <a16:creationId xmlns:a16="http://schemas.microsoft.com/office/drawing/2014/main" id="{8E9B1FCA-A0C2-457B-97D5-C0CD7C44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print(account.balance)</a:t>
            </a:r>
          </a:p>
        </p:txBody>
      </p:sp>
      <p:sp>
        <p:nvSpPr>
          <p:cNvPr id="13" name="初始化只檢查一次">
            <a:extLst xmlns:a="http://schemas.openxmlformats.org/drawingml/2006/main">
              <a:ext uri="{FF2B5EF4-FFF2-40B4-BE49-F238E27FC236}">
                <a16:creationId xmlns:a16="http://schemas.microsoft.com/office/drawing/2014/main" id="{74CC6263-76CE-4145-92E2-1E4EABD6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初始化只檢查一次</a:t>
            </a:r>
          </a:p>
        </p:txBody>
      </p:sp>
      <p:sp>
        <p:nvSpPr>
          <p:cNvPr id="14" name="__init__ 通過驗證後， 普通屬性仍可直接賦值。">
            <a:extLst xmlns:a="http://schemas.openxmlformats.org/drawingml/2006/main">
              <a:ext uri="{FF2B5EF4-FFF2-40B4-BE49-F238E27FC236}">
                <a16:creationId xmlns:a16="http://schemas.microsoft.com/office/drawing/2014/main" id="{2530F8C2-5FFE-453A-8062-312DEEA2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__init__ 通過驗證後，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普通屬性仍可直接賦值。</a:t>
            </a:r>
          </a:p>
        </p:txBody>
      </p:sp>
      <p:sp>
        <p:nvSpPr>
          <p:cNvPr id="15" name="規則需要涵蓋修改入口">
            <a:extLst xmlns:a="http://schemas.openxmlformats.org/drawingml/2006/main">
              <a:ext uri="{FF2B5EF4-FFF2-40B4-BE49-F238E27FC236}">
                <a16:creationId xmlns:a16="http://schemas.microsoft.com/office/drawing/2014/main" id="{C336937D-6A13-4956-9233-C3D9B3B4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規則需要涵蓋修改入口</a:t>
            </a:r>
          </a:p>
        </p:txBody>
      </p:sp>
      <p:sp>
        <p:nvSpPr>
          <p:cNvPr id="16" name="若規定餘額不得為負， 後續修改也必須遵守。">
            <a:extLst xmlns:a="http://schemas.openxmlformats.org/drawingml/2006/main">
              <a:ext uri="{FF2B5EF4-FFF2-40B4-BE49-F238E27FC236}">
                <a16:creationId xmlns:a16="http://schemas.microsoft.com/office/drawing/2014/main" id="{B07F97B4-B106-4403-A3F8-6D54F474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若規定餘額不得為負，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後續修改也必須遵守。</a:t>
            </a:r>
          </a:p>
        </p:txBody>
      </p:sp>
      <p:sp>
        <p:nvSpPr>
          <p:cNvPr id="17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77F5C3DE-9DEC-424B-9140-E058A635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18" name="-999">
            <a:extLst xmlns:a="http://schemas.openxmlformats.org/drawingml/2006/main">
              <a:ext uri="{FF2B5EF4-FFF2-40B4-BE49-F238E27FC236}">
                <a16:creationId xmlns:a16="http://schemas.microsoft.com/office/drawing/2014/main" id="{ECE5EE6C-8C71-41A3-8F93-AF93AFDA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-999</a:t>
            </a:r>
          </a:p>
        </p:txBody>
      </p:sp>
    </p:spTree>
    <p:extLst>
      <p:ext uri="{BB962C8B-B14F-4D97-AF65-F5344CB8AC3E}">
        <p14:creationId xmlns:p14="http://schemas.microsoft.com/office/powerpoint/2010/main" val="14263718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封裝、資訊隱藏與抽象">
            <a:extLst xmlns:a="http://schemas.openxmlformats.org/drawingml/2006/main">
              <a:ext uri="{FF2B5EF4-FFF2-40B4-BE49-F238E27FC236}">
                <a16:creationId xmlns:a16="http://schemas.microsoft.com/office/drawing/2014/main" id="{D0454D7F-E384-4AC1-BD38-E376FCBA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封裝、資訊隱藏與抽象</a:t>
            </a:r>
          </a:p>
        </p:txBody>
      </p:sp>
      <p:sp>
        <p:nvSpPr>
          <p:cNvPr id="2" name="設計觀念">
            <a:extLst xmlns:a="http://schemas.openxmlformats.org/drawingml/2006/main">
              <a:ext uri="{FF2B5EF4-FFF2-40B4-BE49-F238E27FC236}">
                <a16:creationId xmlns:a16="http://schemas.microsoft.com/office/drawing/2014/main" id="{61E9C925-3871-4BC2-9A05-B8B6F97B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設計觀念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6F8A442C-9E3F-4584-A57F-FE75153F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667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00250"/>
                <a:gridCol w="4095750"/>
                <a:gridCol w="4876800"/>
              </a:tblGrid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概念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關注的問題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帳戶的例子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封裝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狀態與操作由誰管理？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BankAccount 管理存提款與餘額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資訊隱藏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哪些設計決策可以留在內部？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內部用整數儲存餘額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抽象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呼叫端需要理解哪些能力？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存款、提款、查詢餘額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5" name="公開介面說明如何使用物件，內部實作保留修改空間。">
            <a:extLst xmlns:a="http://schemas.openxmlformats.org/drawingml/2006/main">
              <a:ext uri="{FF2B5EF4-FFF2-40B4-BE49-F238E27FC236}">
                <a16:creationId xmlns:a16="http://schemas.microsoft.com/office/drawing/2014/main" id="{EEDF837D-D7FE-4C1E-861D-B460840C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0275"/>
            <a:ext cx="10706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公開介面說明如何使用物件，內部實作保留修改空間。</a:t>
            </a:r>
          </a:p>
        </p:txBody>
      </p:sp>
    </p:spTree>
    <p:extLst>
      <p:ext uri="{BB962C8B-B14F-4D97-AF65-F5344CB8AC3E}">
        <p14:creationId xmlns:p14="http://schemas.microsoft.com/office/powerpoint/2010/main" val="16712537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類別不變條件">
            <a:extLst xmlns:a="http://schemas.openxmlformats.org/drawingml/2006/main">
              <a:ext uri="{FF2B5EF4-FFF2-40B4-BE49-F238E27FC236}">
                <a16:creationId xmlns:a16="http://schemas.microsoft.com/office/drawing/2014/main" id="{74AA6F23-F304-4D13-863D-4AC6E5B9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類別不變條件</a:t>
            </a:r>
          </a:p>
        </p:txBody>
      </p:sp>
      <p:sp>
        <p:nvSpPr>
          <p:cNvPr id="2" name="設計觀念">
            <a:extLst xmlns:a="http://schemas.openxmlformats.org/drawingml/2006/main">
              <a:ext uri="{FF2B5EF4-FFF2-40B4-BE49-F238E27FC236}">
                <a16:creationId xmlns:a16="http://schemas.microsoft.com/office/drawing/2014/main" id="{647EF70A-0BD8-48AB-A7D2-8C6C6461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設計觀念</a:t>
            </a:r>
          </a:p>
        </p:txBody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857B9DC8-46A2-4F8E-9F5C-3182359F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4" name="價格">
            <a:extLst xmlns:a="http://schemas.openxmlformats.org/drawingml/2006/main">
              <a:ext uri="{FF2B5EF4-FFF2-40B4-BE49-F238E27FC236}">
                <a16:creationId xmlns:a16="http://schemas.microsoft.com/office/drawing/2014/main" id="{FD26A699-518B-4966-A892-41EC3B66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1450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價格</a:t>
            </a:r>
          </a:p>
        </p:txBody>
      </p:sp>
      <p:sp>
        <p:nvSpPr>
          <p:cNvPr id="5" name="價格必須落在允許的範圍">
            <a:extLst xmlns:a="http://schemas.openxmlformats.org/drawingml/2006/main">
              <a:ext uri="{FF2B5EF4-FFF2-40B4-BE49-F238E27FC236}">
                <a16:creationId xmlns:a16="http://schemas.microsoft.com/office/drawing/2014/main" id="{AE3BDADA-6A59-4E68-B93F-853C6277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743075"/>
            <a:ext cx="7858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價格必須落在允許的範圍</a:t>
            </a:r>
          </a:p>
        </p:txBody>
      </p:sp>
      <p:sp>
        <p:nvSpPr>
          <p:cNvPr id="6" name="帳戶">
            <a:extLst xmlns:a="http://schemas.openxmlformats.org/drawingml/2006/main">
              <a:ext uri="{FF2B5EF4-FFF2-40B4-BE49-F238E27FC236}">
                <a16:creationId xmlns:a16="http://schemas.microsoft.com/office/drawing/2014/main" id="{80AA5D1B-AD57-403D-AC52-F83C1B31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05075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帳戶</a:t>
            </a:r>
          </a:p>
        </p:txBody>
      </p:sp>
      <p:sp>
        <p:nvSpPr>
          <p:cNvPr id="7" name="公開操作完成後，餘額不得為負">
            <a:extLst xmlns:a="http://schemas.openxmlformats.org/drawingml/2006/main">
              <a:ext uri="{FF2B5EF4-FFF2-40B4-BE49-F238E27FC236}">
                <a16:creationId xmlns:a16="http://schemas.microsoft.com/office/drawing/2014/main" id="{9813DA6D-0C7B-4B86-84DE-AECF3411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533650"/>
            <a:ext cx="7858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公開操作完成後，餘額不得為負</a:t>
            </a:r>
          </a:p>
        </p:txBody>
      </p:sp>
      <p:sp>
        <p:nvSpPr>
          <p:cNvPr id="8" name="區間">
            <a:extLst xmlns:a="http://schemas.openxmlformats.org/drawingml/2006/main">
              <a:ext uri="{FF2B5EF4-FFF2-40B4-BE49-F238E27FC236}">
                <a16:creationId xmlns:a16="http://schemas.microsoft.com/office/drawing/2014/main" id="{7D5A726C-8967-4AC9-989E-5CA5803B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9565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區間</a:t>
            </a:r>
          </a:p>
        </p:txBody>
      </p:sp>
      <p:sp>
        <p:nvSpPr>
          <p:cNvPr id="9" name="每次操作完成後，start 不大於 end">
            <a:extLst xmlns:a="http://schemas.openxmlformats.org/drawingml/2006/main">
              <a:ext uri="{FF2B5EF4-FFF2-40B4-BE49-F238E27FC236}">
                <a16:creationId xmlns:a16="http://schemas.microsoft.com/office/drawing/2014/main" id="{5563131E-9BF3-4048-BA1B-83AED553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324225"/>
            <a:ext cx="7858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每次操作完成後，start 不大於 end</a:t>
            </a:r>
          </a:p>
        </p:txBody>
      </p:sp>
      <p:sp>
        <p:nvSpPr>
          <p:cNvPr id="10" name="交易紀錄">
            <a:extLst xmlns:a="http://schemas.openxmlformats.org/drawingml/2006/main">
              <a:ext uri="{FF2B5EF4-FFF2-40B4-BE49-F238E27FC236}">
                <a16:creationId xmlns:a16="http://schemas.microsoft.com/office/drawing/2014/main" id="{DD3A04E7-A2E4-4B47-9DDC-67D4FD5C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86225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交易紀錄</a:t>
            </a:r>
          </a:p>
        </p:txBody>
      </p:sp>
      <p:sp>
        <p:nvSpPr>
          <p:cNvPr id="11" name="成功存提款才新增對應紀錄">
            <a:extLst xmlns:a="http://schemas.openxmlformats.org/drawingml/2006/main">
              <a:ext uri="{FF2B5EF4-FFF2-40B4-BE49-F238E27FC236}">
                <a16:creationId xmlns:a16="http://schemas.microsoft.com/office/drawing/2014/main" id="{F3B57986-A221-4660-82BE-FC6F42E8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114800"/>
            <a:ext cx="7858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成功存提款才新增對應紀錄</a:t>
            </a:r>
          </a:p>
        </p:txBody>
      </p:sp>
      <p:sp>
        <p:nvSpPr>
          <p:cNvPr id="12" name="不變條件是合法狀態的規則，必須涵蓋建立與後續操作。">
            <a:extLst xmlns:a="http://schemas.openxmlformats.org/drawingml/2006/main">
              <a:ext uri="{FF2B5EF4-FFF2-40B4-BE49-F238E27FC236}">
                <a16:creationId xmlns:a16="http://schemas.microsoft.com/office/drawing/2014/main" id="{E80A2848-B61C-4B13-BC0C-AD557732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991225"/>
            <a:ext cx="1076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不變條件是合法狀態的規則，必須涵蓋建立與後續操作。</a:t>
            </a:r>
          </a:p>
        </p:txBody>
      </p:sp>
    </p:spTree>
    <p:extLst>
      <p:ext uri="{BB962C8B-B14F-4D97-AF65-F5344CB8AC3E}">
        <p14:creationId xmlns:p14="http://schemas.microsoft.com/office/powerpoint/2010/main" val="6742313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ython 的名稱慣例">
            <a:extLst xmlns:a="http://schemas.openxmlformats.org/drawingml/2006/main">
              <a:ext uri="{FF2B5EF4-FFF2-40B4-BE49-F238E27FC236}">
                <a16:creationId xmlns:a16="http://schemas.microsoft.com/office/drawing/2014/main" id="{1BC79758-654F-41B1-8F96-BF58FE4C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Python 的名稱慣例</a:t>
            </a:r>
          </a:p>
        </p:txBody>
      </p:sp>
      <p:sp>
        <p:nvSpPr>
          <p:cNvPr id="2" name="公開與非公開">
            <a:extLst xmlns:a="http://schemas.openxmlformats.org/drawingml/2006/main">
              <a:ext uri="{FF2B5EF4-FFF2-40B4-BE49-F238E27FC236}">
                <a16:creationId xmlns:a16="http://schemas.microsoft.com/office/drawing/2014/main" id="{70254628-8650-4A1D-81B4-6B419F3A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公開與非公開</a:t>
            </a:r>
          </a:p>
        </p:txBody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4095EF75-3B44-4F2C-802C-94C391D4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90750"/>
                <a:gridCol w="4333875"/>
                <a:gridCol w="4448175"/>
              </a:tblGrid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名稱形式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含義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執行行為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name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公開介面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可供呼叫端正常使用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_name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非公開的實作細節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Python 通常仍允許存取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__name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避免繼承時名稱衝突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類別內觸發名稱修飾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__name__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Python 特殊方法或屬性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例如 __init__，不套用該修飾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  <p:sp>
        <p:nvSpPr>
          <p:cNvPr id="5" name="公開與否是介面承諾。名稱修飾不能作為安全隔離機制。">
            <a:extLst xmlns:a="http://schemas.openxmlformats.org/drawingml/2006/main">
              <a:ext uri="{FF2B5EF4-FFF2-40B4-BE49-F238E27FC236}">
                <a16:creationId xmlns:a16="http://schemas.microsoft.com/office/drawing/2014/main" id="{B8B4C118-C962-442A-B9A5-7837C2CD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0275"/>
            <a:ext cx="10706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公開與否是介面承諾。名稱修飾不能作為安全隔離機制。</a:t>
            </a:r>
          </a:p>
        </p:txBody>
      </p:sp>
    </p:spTree>
    <p:extLst>
      <p:ext uri="{BB962C8B-B14F-4D97-AF65-F5344CB8AC3E}">
        <p14:creationId xmlns:p14="http://schemas.microsoft.com/office/powerpoint/2010/main" val="113862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單底線表示非公開慣例">
            <a:extLst xmlns:a="http://schemas.openxmlformats.org/drawingml/2006/main">
              <a:ext uri="{FF2B5EF4-FFF2-40B4-BE49-F238E27FC236}">
                <a16:creationId xmlns:a16="http://schemas.microsoft.com/office/drawing/2014/main" id="{339794F8-B8D9-4D54-8637-1690B96D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單底線表示非公開慣例</a:t>
            </a:r>
          </a:p>
        </p:txBody>
      </p:sp>
      <p:sp>
        <p:nvSpPr>
          <p:cNvPr id="2" name="公開與非公開">
            <a:extLst xmlns:a="http://schemas.openxmlformats.org/drawingml/2006/main">
              <a:ext uri="{FF2B5EF4-FFF2-40B4-BE49-F238E27FC236}">
                <a16:creationId xmlns:a16="http://schemas.microsoft.com/office/drawing/2014/main" id="{A6964A42-7FE7-407E-9C49-7C9E2B1B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公開與非公開</a:t>
            </a:r>
          </a:p>
        </p:txBody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94C94BD8-D50E-47E7-B5F7-FF81D699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4" name="class Product:">
            <a:extLst xmlns:a="http://schemas.openxmlformats.org/drawingml/2006/main">
              <a:ext uri="{FF2B5EF4-FFF2-40B4-BE49-F238E27FC236}">
                <a16:creationId xmlns:a16="http://schemas.microsoft.com/office/drawing/2014/main" id="{076CDA17-0F75-4723-995D-88F5DE45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Product:</a:t>
            </a:r>
          </a:p>
        </p:txBody>
      </p:sp>
      <p:sp>
        <p:nvSpPr>
          <p:cNvPr id="5" name="    def __init__(self, price):">
            <a:extLst xmlns:a="http://schemas.openxmlformats.org/drawingml/2006/main">
              <a:ext uri="{FF2B5EF4-FFF2-40B4-BE49-F238E27FC236}">
                <a16:creationId xmlns:a16="http://schemas.microsoft.com/office/drawing/2014/main" id="{2B5DFC3D-26B7-455E-A825-C9FBC1C8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__init__(self, price):</a:t>
            </a:r>
          </a:p>
        </p:txBody>
      </p:sp>
      <p:sp>
        <p:nvSpPr>
          <p:cNvPr id="6" name="        self._price = price">
            <a:extLst xmlns:a="http://schemas.openxmlformats.org/drawingml/2006/main">
              <a:ext uri="{FF2B5EF4-FFF2-40B4-BE49-F238E27FC236}">
                <a16:creationId xmlns:a16="http://schemas.microsoft.com/office/drawing/2014/main" id="{A0AE8844-4C3F-45BB-8098-835044D5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self._price = price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2221C2-F349-4D44-AA90-90B27D72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p = Product(100)">
            <a:extLst xmlns:a="http://schemas.openxmlformats.org/drawingml/2006/main">
              <a:ext uri="{FF2B5EF4-FFF2-40B4-BE49-F238E27FC236}">
                <a16:creationId xmlns:a16="http://schemas.microsoft.com/office/drawing/2014/main" id="{28FA3D42-8F5B-47E1-BC2E-D644415F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 = Product(100)</a:t>
            </a:r>
          </a:p>
        </p:txBody>
      </p:sp>
      <p:sp>
        <p:nvSpPr>
          <p:cNvPr id="9" name="print(p._price)">
            <a:extLst xmlns:a="http://schemas.openxmlformats.org/drawingml/2006/main">
              <a:ext uri="{FF2B5EF4-FFF2-40B4-BE49-F238E27FC236}">
                <a16:creationId xmlns:a16="http://schemas.microsoft.com/office/drawing/2014/main" id="{F2C7724A-9CFF-4B58-A697-2B66E377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print(p._price)</a:t>
            </a:r>
          </a:p>
        </p:txBody>
      </p:sp>
      <p:sp>
        <p:nvSpPr>
          <p:cNvPr id="10" name="p._price = -1">
            <a:extLst xmlns:a="http://schemas.openxmlformats.org/drawingml/2006/main">
              <a:ext uri="{FF2B5EF4-FFF2-40B4-BE49-F238E27FC236}">
                <a16:creationId xmlns:a16="http://schemas.microsoft.com/office/drawing/2014/main" id="{BEAAE9B4-930A-4058-919C-B2FBDF78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p._price = -1</a:t>
            </a:r>
          </a:p>
        </p:txBody>
      </p:sp>
      <p:sp>
        <p:nvSpPr>
          <p:cNvPr id="11" name="print(p._price)">
            <a:extLst xmlns:a="http://schemas.openxmlformats.org/drawingml/2006/main">
              <a:ext uri="{FF2B5EF4-FFF2-40B4-BE49-F238E27FC236}">
                <a16:creationId xmlns:a16="http://schemas.microsoft.com/office/drawing/2014/main" id="{27B20530-D046-4E3A-B78C-D0256330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print(p._price)</a:t>
            </a:r>
          </a:p>
        </p:txBody>
      </p:sp>
      <p:sp>
        <p:nvSpPr>
          <p:cNvPr id="12" name="_price 仍能存取">
            <a:extLst xmlns:a="http://schemas.openxmlformats.org/drawingml/2006/main">
              <a:ext uri="{FF2B5EF4-FFF2-40B4-BE49-F238E27FC236}">
                <a16:creationId xmlns:a16="http://schemas.microsoft.com/office/drawing/2014/main" id="{EB294F5F-7AA6-41D6-971D-23FA4D84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_price 仍能存取</a:t>
            </a:r>
          </a:p>
        </p:txBody>
      </p:sp>
      <p:sp>
        <p:nvSpPr>
          <p:cNvPr id="13" name="直譯器不會因為單底線 就拒絕外部賦值。">
            <a:extLst xmlns:a="http://schemas.openxmlformats.org/drawingml/2006/main">
              <a:ext uri="{FF2B5EF4-FFF2-40B4-BE49-F238E27FC236}">
                <a16:creationId xmlns:a16="http://schemas.microsoft.com/office/drawing/2014/main" id="{F2B735D1-AA26-485B-84CA-1F0392FC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直譯器不會因為單底線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就拒絕外部賦值。</a:t>
            </a:r>
          </a:p>
        </p:txBody>
      </p:sp>
      <p:sp>
        <p:nvSpPr>
          <p:cNvPr id="14" name="呼叫端遵守介面">
            <a:extLst xmlns:a="http://schemas.openxmlformats.org/drawingml/2006/main">
              <a:ext uri="{FF2B5EF4-FFF2-40B4-BE49-F238E27FC236}">
                <a16:creationId xmlns:a16="http://schemas.microsoft.com/office/drawing/2014/main" id="{820304FA-B94F-44FE-B52A-1152D8CB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呼叫端遵守介面</a:t>
            </a:r>
          </a:p>
        </p:txBody>
      </p:sp>
      <p:sp>
        <p:nvSpPr>
          <p:cNvPr id="15" name="底線傳達設計意圖。 合法操作仍需明確定義。">
            <a:extLst xmlns:a="http://schemas.openxmlformats.org/drawingml/2006/main">
              <a:ext uri="{FF2B5EF4-FFF2-40B4-BE49-F238E27FC236}">
                <a16:creationId xmlns:a16="http://schemas.microsoft.com/office/drawing/2014/main" id="{BE8F187D-209A-412F-962A-99A1BDD1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底線傳達設計意圖。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合法操作仍需明確定義。</a:t>
            </a:r>
          </a:p>
        </p:txBody>
      </p:sp>
      <p:sp>
        <p:nvSpPr>
          <p:cNvPr id="16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81DCBBF9-83C0-496D-89C0-7018F112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17" name="100    -1">
            <a:extLst xmlns:a="http://schemas.openxmlformats.org/drawingml/2006/main">
              <a:ext uri="{FF2B5EF4-FFF2-40B4-BE49-F238E27FC236}">
                <a16:creationId xmlns:a16="http://schemas.microsoft.com/office/drawing/2014/main" id="{85794848-62D1-4FBC-BEE4-2B1D7CFC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100    -1</a:t>
            </a:r>
          </a:p>
        </p:txBody>
      </p:sp>
    </p:spTree>
    <p:extLst>
      <p:ext uri="{BB962C8B-B14F-4D97-AF65-F5344CB8AC3E}">
        <p14:creationId xmlns:p14="http://schemas.microsoft.com/office/powerpoint/2010/main" val="12719817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雙底線與名稱修飾">
            <a:extLst xmlns:a="http://schemas.openxmlformats.org/drawingml/2006/main">
              <a:ext uri="{FF2B5EF4-FFF2-40B4-BE49-F238E27FC236}">
                <a16:creationId xmlns:a16="http://schemas.microsoft.com/office/drawing/2014/main" id="{C2273D26-B7DD-4966-835A-DBC303AC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雙底線與名稱修飾</a:t>
            </a:r>
          </a:p>
        </p:txBody>
      </p:sp>
      <p:sp>
        <p:nvSpPr>
          <p:cNvPr id="2" name="公開與非公開">
            <a:extLst xmlns:a="http://schemas.openxmlformats.org/drawingml/2006/main">
              <a:ext uri="{FF2B5EF4-FFF2-40B4-BE49-F238E27FC236}">
                <a16:creationId xmlns:a16="http://schemas.microsoft.com/office/drawing/2014/main" id="{E351ECCD-EF48-4141-8437-65099832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公開與非公開</a:t>
            </a:r>
          </a:p>
        </p:txBody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17F059C4-0E97-4A9C-B850-597B0830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4" name="class Vault:">
            <a:extLst xmlns:a="http://schemas.openxmlformats.org/drawingml/2006/main">
              <a:ext uri="{FF2B5EF4-FFF2-40B4-BE49-F238E27FC236}">
                <a16:creationId xmlns:a16="http://schemas.microsoft.com/office/drawing/2014/main" id="{94D41E07-111E-44AE-AC47-B08CAFDF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Vault:</a:t>
            </a:r>
          </a:p>
        </p:txBody>
      </p:sp>
      <p:sp>
        <p:nvSpPr>
          <p:cNvPr id="5" name="    def __init__(self):">
            <a:extLst xmlns:a="http://schemas.openxmlformats.org/drawingml/2006/main">
              <a:ext uri="{FF2B5EF4-FFF2-40B4-BE49-F238E27FC236}">
                <a16:creationId xmlns:a16="http://schemas.microsoft.com/office/drawing/2014/main" id="{A65D01E0-671F-4B91-AAF2-C7B99B95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__init__(self):</a:t>
            </a:r>
          </a:p>
        </p:txBody>
      </p:sp>
      <p:sp>
        <p:nvSpPr>
          <p:cNvPr id="6" name="        self.__value = 7">
            <a:extLst xmlns:a="http://schemas.openxmlformats.org/drawingml/2006/main">
              <a:ext uri="{FF2B5EF4-FFF2-40B4-BE49-F238E27FC236}">
                <a16:creationId xmlns:a16="http://schemas.microsoft.com/office/drawing/2014/main" id="{1AAFC993-3BCF-45F5-A245-61C714EC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self.__value = 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D8EFC0-4EAE-4368-B9C8-22F6D201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v = Vault()">
            <a:extLst xmlns:a="http://schemas.openxmlformats.org/drawingml/2006/main">
              <a:ext uri="{FF2B5EF4-FFF2-40B4-BE49-F238E27FC236}">
                <a16:creationId xmlns:a16="http://schemas.microsoft.com/office/drawing/2014/main" id="{CFA1267D-A422-4D3A-8757-912D7F43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v = Vault()</a:t>
            </a:r>
          </a:p>
        </p:txBody>
      </p:sp>
      <p:sp>
        <p:nvSpPr>
          <p:cNvPr id="9" name="print(vars(v))">
            <a:extLst xmlns:a="http://schemas.openxmlformats.org/drawingml/2006/main">
              <a:ext uri="{FF2B5EF4-FFF2-40B4-BE49-F238E27FC236}">
                <a16:creationId xmlns:a16="http://schemas.microsoft.com/office/drawing/2014/main" id="{269896A3-0726-433E-951A-BF578395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print(vars(v))</a:t>
            </a:r>
          </a:p>
        </p:txBody>
      </p:sp>
      <p:sp>
        <p:nvSpPr>
          <p:cNvPr id="10" name="print(hasattr(v, &quot;__value&quot;))">
            <a:extLst xmlns:a="http://schemas.openxmlformats.org/drawingml/2006/main">
              <a:ext uri="{FF2B5EF4-FFF2-40B4-BE49-F238E27FC236}">
                <a16:creationId xmlns:a16="http://schemas.microsoft.com/office/drawing/2014/main" id="{97FEF183-35F9-42AA-AC0B-7B345750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print(hasattr(v, "__value"))</a:t>
            </a:r>
          </a:p>
        </p:txBody>
      </p:sp>
      <p:sp>
        <p:nvSpPr>
          <p:cNvPr id="11" name="print(v._Vault__value)">
            <a:extLst xmlns:a="http://schemas.openxmlformats.org/drawingml/2006/main">
              <a:ext uri="{FF2B5EF4-FFF2-40B4-BE49-F238E27FC236}">
                <a16:creationId xmlns:a16="http://schemas.microsoft.com/office/drawing/2014/main" id="{2F373352-B1C4-48D8-96A3-67FA83AF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print(v._Vault__value)</a:t>
            </a:r>
          </a:p>
        </p:txBody>
      </p:sp>
      <p:sp>
        <p:nvSpPr>
          <p:cNvPr id="12" name="名稱在類別內改寫">
            <a:extLst xmlns:a="http://schemas.openxmlformats.org/drawingml/2006/main">
              <a:ext uri="{FF2B5EF4-FFF2-40B4-BE49-F238E27FC236}">
                <a16:creationId xmlns:a16="http://schemas.microsoft.com/office/drawing/2014/main" id="{6B476EB6-FD1E-4EE4-A998-C972598C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名稱在類別內改寫</a:t>
            </a:r>
          </a:p>
        </p:txBody>
      </p:sp>
      <p:sp>
        <p:nvSpPr>
          <p:cNvPr id="13" name="__value 在此改寫成 _Vault__value。">
            <a:extLst xmlns:a="http://schemas.openxmlformats.org/drawingml/2006/main">
              <a:ext uri="{FF2B5EF4-FFF2-40B4-BE49-F238E27FC236}">
                <a16:creationId xmlns:a16="http://schemas.microsoft.com/office/drawing/2014/main" id="{ED099093-9843-490A-9034-093D3C74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__value 在此改寫成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_Vault__value。</a:t>
            </a:r>
          </a:p>
        </p:txBody>
      </p:sp>
      <p:sp>
        <p:nvSpPr>
          <p:cNvPr id="14" name="外部仍能指定實際名稱">
            <a:extLst xmlns:a="http://schemas.openxmlformats.org/drawingml/2006/main">
              <a:ext uri="{FF2B5EF4-FFF2-40B4-BE49-F238E27FC236}">
                <a16:creationId xmlns:a16="http://schemas.microsoft.com/office/drawing/2014/main" id="{432832CC-2EF9-4970-9F5A-D41A9D87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外部仍能指定實際名稱</a:t>
            </a:r>
          </a:p>
        </p:txBody>
      </p:sp>
      <p:sp>
        <p:nvSpPr>
          <p:cNvPr id="15" name="名稱修飾主要避免衝突， 不保證資料無法被讀寫。">
            <a:extLst xmlns:a="http://schemas.openxmlformats.org/drawingml/2006/main">
              <a:ext uri="{FF2B5EF4-FFF2-40B4-BE49-F238E27FC236}">
                <a16:creationId xmlns:a16="http://schemas.microsoft.com/office/drawing/2014/main" id="{B34D7833-21F1-4A70-8287-70512D21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名稱修飾主要避免衝突，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不保證資料無法被讀寫。</a:t>
            </a:r>
          </a:p>
        </p:txBody>
      </p:sp>
      <p:sp>
        <p:nvSpPr>
          <p:cNvPr id="16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DFAE97F3-A17B-499D-AB59-A28CA663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17" name="{'_Vault__value': 7}    False    7">
            <a:extLst xmlns:a="http://schemas.openxmlformats.org/drawingml/2006/main">
              <a:ext uri="{FF2B5EF4-FFF2-40B4-BE49-F238E27FC236}">
                <a16:creationId xmlns:a16="http://schemas.microsoft.com/office/drawing/2014/main" id="{BDFEA479-E9BF-44B2-8656-473DD935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{'_Vault__value': 7}    False    7</a:t>
            </a:r>
          </a:p>
        </p:txBody>
      </p:sp>
    </p:spTree>
    <p:extLst>
      <p:ext uri="{BB962C8B-B14F-4D97-AF65-F5344CB8AC3E}">
        <p14:creationId xmlns:p14="http://schemas.microsoft.com/office/powerpoint/2010/main" val="20444952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繼承中的同名內部屬性">
            <a:extLst xmlns:a="http://schemas.openxmlformats.org/drawingml/2006/main">
              <a:ext uri="{FF2B5EF4-FFF2-40B4-BE49-F238E27FC236}">
                <a16:creationId xmlns:a16="http://schemas.microsoft.com/office/drawing/2014/main" id="{0864127F-4E77-4F9D-8DD4-BEB418F6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繼承中的同名內部屬性</a:t>
            </a:r>
          </a:p>
        </p:txBody>
      </p:sp>
      <p:sp>
        <p:nvSpPr>
          <p:cNvPr id="2" name="公開與非公開">
            <a:extLst xmlns:a="http://schemas.openxmlformats.org/drawingml/2006/main">
              <a:ext uri="{FF2B5EF4-FFF2-40B4-BE49-F238E27FC236}">
                <a16:creationId xmlns:a16="http://schemas.microsoft.com/office/drawing/2014/main" id="{B521D9CE-6087-4BFE-ACFE-EA3C2585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公開與非公開</a:t>
            </a:r>
          </a:p>
        </p:txBody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CABB4FC6-708B-4881-9B82-AF35E38F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4" name="class Base:">
            <a:extLst xmlns:a="http://schemas.openxmlformats.org/drawingml/2006/main">
              <a:ext uri="{FF2B5EF4-FFF2-40B4-BE49-F238E27FC236}">
                <a16:creationId xmlns:a16="http://schemas.microsoft.com/office/drawing/2014/main" id="{4A2C96F2-AD9C-4994-A33A-E83DA237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class Base:</a:t>
            </a:r>
          </a:p>
        </p:txBody>
      </p:sp>
      <p:sp>
        <p:nvSpPr>
          <p:cNvPr id="5" name="    def __init__(self):">
            <a:extLst xmlns:a="http://schemas.openxmlformats.org/drawingml/2006/main">
              <a:ext uri="{FF2B5EF4-FFF2-40B4-BE49-F238E27FC236}">
                <a16:creationId xmlns:a16="http://schemas.microsoft.com/office/drawing/2014/main" id="{AFF5FDDD-7D61-4804-9AB1-0A2B7765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def __init__(self):</a:t>
            </a:r>
          </a:p>
        </p:txBody>
      </p:sp>
      <p:sp>
        <p:nvSpPr>
          <p:cNvPr id="6" name="        self.__value = &quot;base&quot;">
            <a:extLst xmlns:a="http://schemas.openxmlformats.org/drawingml/2006/main">
              <a:ext uri="{FF2B5EF4-FFF2-40B4-BE49-F238E27FC236}">
                <a16:creationId xmlns:a16="http://schemas.microsoft.com/office/drawing/2014/main" id="{A6883772-7603-4372-ACA5-868EFBA7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self.__value = "base"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B844DA-060D-4D2F-9113-1DF0CADA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class Child(Base):">
            <a:extLst xmlns:a="http://schemas.openxmlformats.org/drawingml/2006/main">
              <a:ext uri="{FF2B5EF4-FFF2-40B4-BE49-F238E27FC236}">
                <a16:creationId xmlns:a16="http://schemas.microsoft.com/office/drawing/2014/main" id="{F5F60745-866D-4676-BA16-C13A13BD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class Child(Base):</a:t>
            </a:r>
          </a:p>
        </p:txBody>
      </p:sp>
      <p:sp>
        <p:nvSpPr>
          <p:cNvPr id="9" name="    def __init__(self):">
            <a:extLst xmlns:a="http://schemas.openxmlformats.org/drawingml/2006/main">
              <a:ext uri="{FF2B5EF4-FFF2-40B4-BE49-F238E27FC236}">
                <a16:creationId xmlns:a16="http://schemas.microsoft.com/office/drawing/2014/main" id="{0DF4BC7F-F964-4EAC-B13B-53A5FDA2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def __init__(self):</a:t>
            </a:r>
          </a:p>
        </p:txBody>
      </p:sp>
      <p:sp>
        <p:nvSpPr>
          <p:cNvPr id="10" name="        super().__init__()">
            <a:extLst xmlns:a="http://schemas.openxmlformats.org/drawingml/2006/main">
              <a:ext uri="{FF2B5EF4-FFF2-40B4-BE49-F238E27FC236}">
                <a16:creationId xmlns:a16="http://schemas.microsoft.com/office/drawing/2014/main" id="{BB25076C-62EE-4CF8-AB53-B7666BD3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super().__init__()</a:t>
            </a:r>
          </a:p>
        </p:txBody>
      </p:sp>
      <p:sp>
        <p:nvSpPr>
          <p:cNvPr id="11" name="        self.__value = &quot;child&quot;">
            <a:extLst xmlns:a="http://schemas.openxmlformats.org/drawingml/2006/main">
              <a:ext uri="{FF2B5EF4-FFF2-40B4-BE49-F238E27FC236}">
                <a16:creationId xmlns:a16="http://schemas.microsoft.com/office/drawing/2014/main" id="{89855DD6-D38E-460F-8D53-7E862436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self.__value = "child"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85D38D-0796-4241-A58F-97D022FC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c = Child()">
            <a:extLst xmlns:a="http://schemas.openxmlformats.org/drawingml/2006/main">
              <a:ext uri="{FF2B5EF4-FFF2-40B4-BE49-F238E27FC236}">
                <a16:creationId xmlns:a16="http://schemas.microsoft.com/office/drawing/2014/main" id="{D8EEDA82-00BB-41F0-9EB2-793666D5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c = Child()</a:t>
            </a:r>
          </a:p>
        </p:txBody>
      </p:sp>
      <p:sp>
        <p:nvSpPr>
          <p:cNvPr id="14" name="print(c._Base__value)">
            <a:extLst xmlns:a="http://schemas.openxmlformats.org/drawingml/2006/main">
              <a:ext uri="{FF2B5EF4-FFF2-40B4-BE49-F238E27FC236}">
                <a16:creationId xmlns:a16="http://schemas.microsoft.com/office/drawing/2014/main" id="{601E7FA3-0C42-4E0B-A574-D9DAE235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print(c._Base__value)</a:t>
            </a:r>
          </a:p>
        </p:txBody>
      </p:sp>
      <p:sp>
        <p:nvSpPr>
          <p:cNvPr id="15" name="print(c._Child__value)">
            <a:extLst xmlns:a="http://schemas.openxmlformats.org/drawingml/2006/main">
              <a:ext uri="{FF2B5EF4-FFF2-40B4-BE49-F238E27FC236}">
                <a16:creationId xmlns:a16="http://schemas.microsoft.com/office/drawing/2014/main" id="{08D496EF-79A9-4C3D-80B5-932FC9E3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print(c._Child__value)</a:t>
            </a:r>
          </a:p>
        </p:txBody>
      </p:sp>
      <p:sp>
        <p:nvSpPr>
          <p:cNvPr id="16" name="兩個名稱各自保存">
            <a:extLst xmlns:a="http://schemas.openxmlformats.org/drawingml/2006/main">
              <a:ext uri="{FF2B5EF4-FFF2-40B4-BE49-F238E27FC236}">
                <a16:creationId xmlns:a16="http://schemas.microsoft.com/office/drawing/2014/main" id="{99DA2C01-84A2-4E6A-B8FB-7210BCD4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兩個名稱各自保存</a:t>
            </a:r>
          </a:p>
        </p:txBody>
      </p:sp>
      <p:sp>
        <p:nvSpPr>
          <p:cNvPr id="17" name="Base 與 Child 的 __value 會使用不同的修飾名稱。">
            <a:extLst xmlns:a="http://schemas.openxmlformats.org/drawingml/2006/main">
              <a:ext uri="{FF2B5EF4-FFF2-40B4-BE49-F238E27FC236}">
                <a16:creationId xmlns:a16="http://schemas.microsoft.com/office/drawing/2014/main" id="{4301F74B-450B-475D-A802-2C44EF8A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Base 與 Child 的 __value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會使用不同的修飾名稱。</a:t>
            </a:r>
          </a:p>
        </p:txBody>
      </p:sp>
      <p:sp>
        <p:nvSpPr>
          <p:cNvPr id="18" name="選擇底線的理由">
            <a:extLst xmlns:a="http://schemas.openxmlformats.org/drawingml/2006/main">
              <a:ext uri="{FF2B5EF4-FFF2-40B4-BE49-F238E27FC236}">
                <a16:creationId xmlns:a16="http://schemas.microsoft.com/office/drawing/2014/main" id="{CD1E45E3-1A12-4AEE-BBEB-B13959A2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選擇底線的理由</a:t>
            </a:r>
          </a:p>
        </p:txBody>
      </p:sp>
      <p:sp>
        <p:nvSpPr>
          <p:cNvPr id="19" name="需要避免子類別衝突時， 才考慮雙底線。">
            <a:extLst xmlns:a="http://schemas.openxmlformats.org/drawingml/2006/main">
              <a:ext uri="{FF2B5EF4-FFF2-40B4-BE49-F238E27FC236}">
                <a16:creationId xmlns:a16="http://schemas.microsoft.com/office/drawing/2014/main" id="{9872904A-F469-424A-B876-8C72BE7A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需要避免子類別衝突時，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才考慮雙底線。</a:t>
            </a:r>
          </a:p>
        </p:txBody>
      </p:sp>
      <p:sp>
        <p:nvSpPr>
          <p:cNvPr id="20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8D026BC0-FC31-4F01-BE80-CBF41595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1" name="base    child">
            <a:extLst xmlns:a="http://schemas.openxmlformats.org/drawingml/2006/main">
              <a:ext uri="{FF2B5EF4-FFF2-40B4-BE49-F238E27FC236}">
                <a16:creationId xmlns:a16="http://schemas.microsoft.com/office/drawing/2014/main" id="{5967CE41-E944-4A46-99E9-DADA9FD2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base    child</a:t>
            </a:r>
          </a:p>
        </p:txBody>
      </p:sp>
    </p:spTree>
    <p:extLst>
      <p:ext uri="{BB962C8B-B14F-4D97-AF65-F5344CB8AC3E}">
        <p14:creationId xmlns:p14="http://schemas.microsoft.com/office/powerpoint/2010/main" val="3796511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公開介面形成使用契約">
            <a:extLst xmlns:a="http://schemas.openxmlformats.org/drawingml/2006/main">
              <a:ext uri="{FF2B5EF4-FFF2-40B4-BE49-F238E27FC236}">
                <a16:creationId xmlns:a16="http://schemas.microsoft.com/office/drawing/2014/main" id="{C20EFDD4-973E-4158-B0A4-C14F1092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公開介面形成使用契約</a:t>
            </a:r>
          </a:p>
        </p:txBody>
      </p:sp>
      <p:sp>
        <p:nvSpPr>
          <p:cNvPr id="2" name="介面設計">
            <a:extLst xmlns:a="http://schemas.openxmlformats.org/drawingml/2006/main">
              <a:ext uri="{FF2B5EF4-FFF2-40B4-BE49-F238E27FC236}">
                <a16:creationId xmlns:a16="http://schemas.microsoft.com/office/drawing/2014/main" id="{93B334DF-192A-4078-829B-9FFA03EA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介面設計</a:t>
            </a:r>
          </a:p>
        </p:txBody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8E7E3B6A-B7FA-4BD6-932D-BB14757C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4" name="呼叫方式">
            <a:extLst xmlns:a="http://schemas.openxmlformats.org/drawingml/2006/main">
              <a:ext uri="{FF2B5EF4-FFF2-40B4-BE49-F238E27FC236}">
                <a16:creationId xmlns:a16="http://schemas.microsoft.com/office/drawing/2014/main" id="{5AF4B40D-176C-4A52-A9DF-E5927908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1450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呼叫方式</a:t>
            </a:r>
          </a:p>
        </p:txBody>
      </p:sp>
      <p:sp>
        <p:nvSpPr>
          <p:cNvPr id="5" name="p.price、account.deposit(amount)">
            <a:extLst xmlns:a="http://schemas.openxmlformats.org/drawingml/2006/main">
              <a:ext uri="{FF2B5EF4-FFF2-40B4-BE49-F238E27FC236}">
                <a16:creationId xmlns:a16="http://schemas.microsoft.com/office/drawing/2014/main" id="{E3EB2071-E704-48F1-BBC2-B764F747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743075"/>
            <a:ext cx="7858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p.price、account.deposit(amount)</a:t>
            </a:r>
          </a:p>
        </p:txBody>
      </p:sp>
      <p:sp>
        <p:nvSpPr>
          <p:cNvPr id="6" name="合法輸入">
            <a:extLst xmlns:a="http://schemas.openxmlformats.org/drawingml/2006/main">
              <a:ext uri="{FF2B5EF4-FFF2-40B4-BE49-F238E27FC236}">
                <a16:creationId xmlns:a16="http://schemas.microsoft.com/office/drawing/2014/main" id="{E69238D3-FD0C-4BBE-8E75-430196EE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05075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合法輸入</a:t>
            </a:r>
          </a:p>
        </p:txBody>
      </p:sp>
      <p:sp>
        <p:nvSpPr>
          <p:cNvPr id="7" name="接受的型別、範圍與單位">
            <a:extLst xmlns:a="http://schemas.openxmlformats.org/drawingml/2006/main">
              <a:ext uri="{FF2B5EF4-FFF2-40B4-BE49-F238E27FC236}">
                <a16:creationId xmlns:a16="http://schemas.microsoft.com/office/drawing/2014/main" id="{CC834CF2-AA7A-44F2-9982-DFB7F65F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533650"/>
            <a:ext cx="7858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接受的型別、範圍與單位</a:t>
            </a:r>
          </a:p>
        </p:txBody>
      </p:sp>
      <p:sp>
        <p:nvSpPr>
          <p:cNvPr id="8" name="失敗行為">
            <a:extLst xmlns:a="http://schemas.openxmlformats.org/drawingml/2006/main">
              <a:ext uri="{FF2B5EF4-FFF2-40B4-BE49-F238E27FC236}">
                <a16:creationId xmlns:a16="http://schemas.microsoft.com/office/drawing/2014/main" id="{221F4108-86B1-4A23-AA71-9BE3227B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9565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失敗行為</a:t>
            </a:r>
          </a:p>
        </p:txBody>
      </p:sp>
      <p:sp>
        <p:nvSpPr>
          <p:cNvPr id="9" name="例外種類，以及失敗後的狀態">
            <a:extLst xmlns:a="http://schemas.openxmlformats.org/drawingml/2006/main">
              <a:ext uri="{FF2B5EF4-FFF2-40B4-BE49-F238E27FC236}">
                <a16:creationId xmlns:a16="http://schemas.microsoft.com/office/drawing/2014/main" id="{90247881-C55F-4BC9-9DE3-AA46BB8E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324225"/>
            <a:ext cx="7858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例外種類，以及失敗後的狀態</a:t>
            </a:r>
          </a:p>
        </p:txBody>
      </p:sp>
      <p:sp>
        <p:nvSpPr>
          <p:cNvPr id="10" name="相容性">
            <a:extLst xmlns:a="http://schemas.openxmlformats.org/drawingml/2006/main">
              <a:ext uri="{FF2B5EF4-FFF2-40B4-BE49-F238E27FC236}">
                <a16:creationId xmlns:a16="http://schemas.microsoft.com/office/drawing/2014/main" id="{B35EBBF6-02C6-4947-A04A-73006051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86225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相容性</a:t>
            </a:r>
          </a:p>
        </p:txBody>
      </p:sp>
      <p:sp>
        <p:nvSpPr>
          <p:cNvPr id="11" name="內部修改後，既有呼叫方式仍可使用">
            <a:extLst xmlns:a="http://schemas.openxmlformats.org/drawingml/2006/main">
              <a:ext uri="{FF2B5EF4-FFF2-40B4-BE49-F238E27FC236}">
                <a16:creationId xmlns:a16="http://schemas.microsoft.com/office/drawing/2014/main" id="{2D29D2C4-E13C-4B24-A585-4B40AC50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114800"/>
            <a:ext cx="7858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內部修改後，既有呼叫方式仍可使用</a:t>
            </a:r>
          </a:p>
        </p:txBody>
      </p:sp>
      <p:sp>
        <p:nvSpPr>
          <p:cNvPr id="12" name="明確承諾公開行為，減少外部對內部欄位的依賴。">
            <a:extLst xmlns:a="http://schemas.openxmlformats.org/drawingml/2006/main">
              <a:ext uri="{FF2B5EF4-FFF2-40B4-BE49-F238E27FC236}">
                <a16:creationId xmlns:a16="http://schemas.microsoft.com/office/drawing/2014/main" id="{9A0F8793-3D97-4512-9877-6E654020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991225"/>
            <a:ext cx="1076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明確承諾公開行為，減少外部對內部欄位的依賴。</a:t>
            </a:r>
          </a:p>
        </p:txBody>
      </p:sp>
    </p:spTree>
    <p:extLst>
      <p:ext uri="{BB962C8B-B14F-4D97-AF65-F5344CB8AC3E}">
        <p14:creationId xmlns:p14="http://schemas.microsoft.com/office/powerpoint/2010/main" val="9510478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課程網站的 Product.price">
            <a:extLst xmlns:a="http://schemas.openxmlformats.org/drawingml/2006/main">
              <a:ext uri="{FF2B5EF4-FFF2-40B4-BE49-F238E27FC236}">
                <a16:creationId xmlns:a16="http://schemas.microsoft.com/office/drawing/2014/main" id="{E8034C18-3F8C-4502-A8FB-C6B7DECF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課程網站的 Product.price</a:t>
            </a:r>
          </a:p>
        </p:txBody>
      </p:sp>
      <p:sp>
        <p:nvSpPr>
          <p:cNvPr id="2" name="Property 基礎">
            <a:extLst xmlns:a="http://schemas.openxmlformats.org/drawingml/2006/main">
              <a:ext uri="{FF2B5EF4-FFF2-40B4-BE49-F238E27FC236}">
                <a16:creationId xmlns:a16="http://schemas.microsoft.com/office/drawing/2014/main" id="{BD0D3563-D4EE-46BD-913E-C3B1929B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Property 基礎</a:t>
            </a:r>
          </a:p>
        </p:txBody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A036EF5C-FE27-428E-B54D-598BBFEB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4" name="class Product:">
            <a:extLst xmlns:a="http://schemas.openxmlformats.org/drawingml/2006/main">
              <a:ext uri="{FF2B5EF4-FFF2-40B4-BE49-F238E27FC236}">
                <a16:creationId xmlns:a16="http://schemas.microsoft.com/office/drawing/2014/main" id="{8F7C8DEF-7C31-430E-A70F-CE9A43D1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Product:</a:t>
            </a:r>
          </a:p>
        </p:txBody>
      </p:sp>
      <p:sp>
        <p:nvSpPr>
          <p:cNvPr id="5" name="    def __init__(self, name: str, price: float):">
            <a:extLst xmlns:a="http://schemas.openxmlformats.org/drawingml/2006/main">
              <a:ext uri="{FF2B5EF4-FFF2-40B4-BE49-F238E27FC236}">
                <a16:creationId xmlns:a16="http://schemas.microsoft.com/office/drawing/2014/main" id="{C917457A-B21B-431F-8A12-C4E213BB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8228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__init__(self, name: str, price: float):</a:t>
            </a:r>
          </a:p>
        </p:txBody>
      </p:sp>
      <p:sp>
        <p:nvSpPr>
          <p:cNvPr id="6" name="    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E47DBA89-8EB1-4AA0-8150-B4928A98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3381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self.name = name</a:t>
            </a:r>
          </a:p>
        </p:txBody>
      </p:sp>
      <p:sp>
        <p:nvSpPr>
          <p:cNvPr id="7" name="        self.price = price">
            <a:extLst xmlns:a="http://schemas.openxmlformats.org/drawingml/2006/main">
              <a:ext uri="{FF2B5EF4-FFF2-40B4-BE49-F238E27FC236}">
                <a16:creationId xmlns:a16="http://schemas.microsoft.com/office/drawing/2014/main" id="{57C5274D-1AC7-41C3-8632-D4A91C77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8534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self.price = price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DC466C-1557-4418-AF34-8ABA8EF3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3687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    @property">
            <a:extLst xmlns:a="http://schemas.openxmlformats.org/drawingml/2006/main">
              <a:ext uri="{FF2B5EF4-FFF2-40B4-BE49-F238E27FC236}">
                <a16:creationId xmlns:a16="http://schemas.microsoft.com/office/drawing/2014/main" id="{3EB562EA-8B04-42BE-94D7-207128C4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8840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@property</a:t>
            </a:r>
          </a:p>
        </p:txBody>
      </p:sp>
      <p:sp>
        <p:nvSpPr>
          <p:cNvPr id="10" name="    def price(self) -&gt; float:">
            <a:extLst xmlns:a="http://schemas.openxmlformats.org/drawingml/2006/main">
              <a:ext uri="{FF2B5EF4-FFF2-40B4-BE49-F238E27FC236}">
                <a16:creationId xmlns:a16="http://schemas.microsoft.com/office/drawing/2014/main" id="{42C8BC44-2B77-4A29-913F-B3AA0FD2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3993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price(self) -&gt; float:</a:t>
            </a:r>
          </a:p>
        </p:txBody>
      </p:sp>
      <p:sp>
        <p:nvSpPr>
          <p:cNvPr id="11" name="        return self._price">
            <a:extLst xmlns:a="http://schemas.openxmlformats.org/drawingml/2006/main">
              <a:ext uri="{FF2B5EF4-FFF2-40B4-BE49-F238E27FC236}">
                <a16:creationId xmlns:a16="http://schemas.microsoft.com/office/drawing/2014/main" id="{9F409DF1-095F-4657-B182-369FFB6F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9146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return self._price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EFA150-6F5D-430C-AC9C-D199B19B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299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    @price.setter">
            <a:extLst xmlns:a="http://schemas.openxmlformats.org/drawingml/2006/main">
              <a:ext uri="{FF2B5EF4-FFF2-40B4-BE49-F238E27FC236}">
                <a16:creationId xmlns:a16="http://schemas.microsoft.com/office/drawing/2014/main" id="{AF139B29-A584-4D3D-A948-F2195773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9451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@price.setter</a:t>
            </a:r>
          </a:p>
        </p:txBody>
      </p:sp>
      <p:sp>
        <p:nvSpPr>
          <p:cNvPr id="14" name="    def price(self, value: float) -&gt; None:">
            <a:extLst xmlns:a="http://schemas.openxmlformats.org/drawingml/2006/main">
              <a:ext uri="{FF2B5EF4-FFF2-40B4-BE49-F238E27FC236}">
                <a16:creationId xmlns:a16="http://schemas.microsoft.com/office/drawing/2014/main" id="{26CCC93C-13A1-48B6-931A-520D697E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4604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price(self, value: float) -&gt; None:</a:t>
            </a:r>
          </a:p>
        </p:txBody>
      </p:sp>
      <p:sp>
        <p:nvSpPr>
          <p:cNvPr id="15" name="        if value &lt; 0:">
            <a:extLst xmlns:a="http://schemas.openxmlformats.org/drawingml/2006/main">
              <a:ext uri="{FF2B5EF4-FFF2-40B4-BE49-F238E27FC236}">
                <a16:creationId xmlns:a16="http://schemas.microsoft.com/office/drawing/2014/main" id="{0ACC36A3-83D0-4948-89E0-64886752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9757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if value &lt; 0:</a:t>
            </a:r>
          </a:p>
        </p:txBody>
      </p:sp>
      <p:sp>
        <p:nvSpPr>
          <p:cNvPr id="16" name="            raise ValueError(&quot;price must be nonnegative">
            <a:extLst xmlns:a="http://schemas.openxmlformats.org/drawingml/2006/main">
              <a:ext uri="{FF2B5EF4-FFF2-40B4-BE49-F238E27FC236}">
                <a16:creationId xmlns:a16="http://schemas.microsoft.com/office/drawing/2014/main" id="{1BA077CE-93A8-4979-B596-26CAD7DE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910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raise ValueError("price must be nonnegative")</a:t>
            </a:r>
          </a:p>
        </p:txBody>
      </p:sp>
      <p:sp>
        <p:nvSpPr>
          <p:cNvPr id="17" name="        self._price = round(value, 2)">
            <a:extLst xmlns:a="http://schemas.openxmlformats.org/drawingml/2006/main">
              <a:ext uri="{FF2B5EF4-FFF2-40B4-BE49-F238E27FC236}">
                <a16:creationId xmlns:a16="http://schemas.microsoft.com/office/drawing/2014/main" id="{CCD41BBD-6EAF-496B-988B-035A9A34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0063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self._price = round(value, 2)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E83BDE-77E7-4FC5-8A45-616E6F7A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5216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book = Product(&quot;Python OOP&quot;, 580.126)">
            <a:extLst xmlns:a="http://schemas.openxmlformats.org/drawingml/2006/main">
              <a:ext uri="{FF2B5EF4-FFF2-40B4-BE49-F238E27FC236}">
                <a16:creationId xmlns:a16="http://schemas.microsoft.com/office/drawing/2014/main" id="{6CCFBDF0-9D0C-4FEF-9159-78230D4F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0369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book = Product("Python OOP", 580.126)</a:t>
            </a:r>
          </a:p>
        </p:txBody>
      </p:sp>
      <p:sp>
        <p:nvSpPr>
          <p:cNvPr id="20" name="print(book.price)">
            <a:extLst xmlns:a="http://schemas.openxmlformats.org/drawingml/2006/main">
              <a:ext uri="{FF2B5EF4-FFF2-40B4-BE49-F238E27FC236}">
                <a16:creationId xmlns:a16="http://schemas.microsoft.com/office/drawing/2014/main" id="{BE1C9261-EEA6-47DA-AC6C-EAB34B88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5522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print(book.price)</a:t>
            </a:r>
          </a:p>
        </p:txBody>
      </p:sp>
      <p:sp>
        <p:nvSpPr>
          <p:cNvPr id="21" name="建立時使用公開屬性">
            <a:extLst xmlns:a="http://schemas.openxmlformats.org/drawingml/2006/main">
              <a:ext uri="{FF2B5EF4-FFF2-40B4-BE49-F238E27FC236}">
                <a16:creationId xmlns:a16="http://schemas.microsoft.com/office/drawing/2014/main" id="{EC91BCF9-6B45-489E-9F9F-984E5BAE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建立時使用公開屬性</a:t>
            </a:r>
          </a:p>
        </p:txBody>
      </p:sp>
      <p:sp>
        <p:nvSpPr>
          <p:cNvPr id="22" name="self.price = price 會執行 setter。">
            <a:extLst xmlns:a="http://schemas.openxmlformats.org/drawingml/2006/main">
              <a:ext uri="{FF2B5EF4-FFF2-40B4-BE49-F238E27FC236}">
                <a16:creationId xmlns:a16="http://schemas.microsoft.com/office/drawing/2014/main" id="{7B11F8E1-1166-4C91-BF48-A3DCA2DB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self.price = price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會執行 setter。</a:t>
            </a:r>
          </a:p>
        </p:txBody>
      </p:sp>
      <p:sp>
        <p:nvSpPr>
          <p:cNvPr id="23" name="內部保存 _price">
            <a:extLst xmlns:a="http://schemas.openxmlformats.org/drawingml/2006/main">
              <a:ext uri="{FF2B5EF4-FFF2-40B4-BE49-F238E27FC236}">
                <a16:creationId xmlns:a16="http://schemas.microsoft.com/office/drawing/2014/main" id="{9CE02539-F276-4F59-BCD0-8DE84106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內部保存 _price</a:t>
            </a:r>
          </a:p>
        </p:txBody>
      </p:sp>
      <p:sp>
        <p:nvSpPr>
          <p:cNvPr id="24" name="getter 讀取 _price。 setter 驗證後寫入 _price。">
            <a:extLst xmlns:a="http://schemas.openxmlformats.org/drawingml/2006/main">
              <a:ext uri="{FF2B5EF4-FFF2-40B4-BE49-F238E27FC236}">
                <a16:creationId xmlns:a16="http://schemas.microsoft.com/office/drawing/2014/main" id="{6097A7B1-C8A4-45B6-BAC3-6E1552BF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getter 讀取 _price。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setter 驗證後寫入 _price。</a:t>
            </a:r>
          </a:p>
        </p:txBody>
      </p:sp>
      <p:sp>
        <p:nvSpPr>
          <p:cNvPr id="25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136429D8-A7C8-48E0-B159-39C7699E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6" name="580.13">
            <a:extLst xmlns:a="http://schemas.openxmlformats.org/drawingml/2006/main">
              <a:ext uri="{FF2B5EF4-FFF2-40B4-BE49-F238E27FC236}">
                <a16:creationId xmlns:a16="http://schemas.microsoft.com/office/drawing/2014/main" id="{AD29495A-4C83-446A-A91F-41454EA5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580.13</a:t>
            </a:r>
          </a:p>
        </p:txBody>
      </p:sp>
    </p:spTree>
    <p:extLst>
      <p:ext uri="{BB962C8B-B14F-4D97-AF65-F5344CB8AC3E}">
        <p14:creationId xmlns:p14="http://schemas.microsoft.com/office/powerpoint/2010/main" val="5508039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屬性語法對應的函式">
            <a:extLst xmlns:a="http://schemas.openxmlformats.org/drawingml/2006/main">
              <a:ext uri="{FF2B5EF4-FFF2-40B4-BE49-F238E27FC236}">
                <a16:creationId xmlns:a16="http://schemas.microsoft.com/office/drawing/2014/main" id="{0CD39291-5DF7-411C-A310-4AB3B174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屬性語法對應的函式</a:t>
            </a:r>
          </a:p>
        </p:txBody>
      </p:sp>
      <p:sp>
        <p:nvSpPr>
          <p:cNvPr id="2" name="Property 基礎">
            <a:extLst xmlns:a="http://schemas.openxmlformats.org/drawingml/2006/main">
              <a:ext uri="{FF2B5EF4-FFF2-40B4-BE49-F238E27FC236}">
                <a16:creationId xmlns:a16="http://schemas.microsoft.com/office/drawing/2014/main" id="{532EB799-33E9-4D1A-8E31-366C17A2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Property 基礎</a:t>
            </a:r>
          </a:p>
        </p:txBody>
      </p:sp>
      <p:sp>
        <p:nvSpPr>
          <p:cNvPr id="3" name="12">
            <a:extLst xmlns:a="http://schemas.openxmlformats.org/drawingml/2006/main">
              <a:ext uri="{FF2B5EF4-FFF2-40B4-BE49-F238E27FC236}">
                <a16:creationId xmlns:a16="http://schemas.microsoft.com/office/drawing/2014/main" id="{153AC252-8B26-4A40-ABC3-8129A7EC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571750"/>
                <a:gridCol w="3429000"/>
                <a:gridCol w="4972050"/>
              </a:tblGrid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操作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對應入口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常見用途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p.price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getter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讀取或計算目前的值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p.price = value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setter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驗證並儲存新值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del p.price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deleter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只有明確允許刪除時才提供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Product.price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類別上的 property 物件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觀察 fget、fset、fdel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  <p:sp>
        <p:nvSpPr>
          <p:cNvPr id="5" name="沒有提供的寫入或刪除操作，一般會引發 AttributeError。">
            <a:extLst xmlns:a="http://schemas.openxmlformats.org/drawingml/2006/main">
              <a:ext uri="{FF2B5EF4-FFF2-40B4-BE49-F238E27FC236}">
                <a16:creationId xmlns:a16="http://schemas.microsoft.com/office/drawing/2014/main" id="{A01DCBD5-29A2-464D-B2A9-2524CBDE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0275"/>
            <a:ext cx="10706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沒有提供的寫入或刪除操作，一般會引發 AttributeError。</a:t>
            </a:r>
          </a:p>
        </p:txBody>
      </p:sp>
    </p:spTree>
    <p:extLst>
      <p:ext uri="{BB962C8B-B14F-4D97-AF65-F5344CB8AC3E}">
        <p14:creationId xmlns:p14="http://schemas.microsoft.com/office/powerpoint/2010/main" val="18732436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建立與修改共用同一個 setter">
            <a:extLst xmlns:a="http://schemas.openxmlformats.org/drawingml/2006/main">
              <a:ext uri="{FF2B5EF4-FFF2-40B4-BE49-F238E27FC236}">
                <a16:creationId xmlns:a16="http://schemas.microsoft.com/office/drawing/2014/main" id="{DF80C0F6-E38E-4610-82ED-F304A6DC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建立與修改共用同一個 setter</a:t>
            </a:r>
          </a:p>
        </p:txBody>
      </p:sp>
      <p:sp>
        <p:nvSpPr>
          <p:cNvPr id="2" name="Property 基礎">
            <a:extLst xmlns:a="http://schemas.openxmlformats.org/drawingml/2006/main">
              <a:ext uri="{FF2B5EF4-FFF2-40B4-BE49-F238E27FC236}">
                <a16:creationId xmlns:a16="http://schemas.microsoft.com/office/drawing/2014/main" id="{12D7C329-1174-41E1-9276-0F64D128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Property 基礎</a:t>
            </a:r>
          </a:p>
        </p:txBody>
      </p:sp>
      <p:sp>
        <p:nvSpPr>
          <p:cNvPr id="3" name="13">
            <a:extLst xmlns:a="http://schemas.openxmlformats.org/drawingml/2006/main">
              <a:ext uri="{FF2B5EF4-FFF2-40B4-BE49-F238E27FC236}">
                <a16:creationId xmlns:a16="http://schemas.microsoft.com/office/drawing/2014/main" id="{52EBC17A-E170-478E-9CFB-BB740D79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4" name="book = Product(&quot;Book&quot;, 100)">
            <a:extLst xmlns:a="http://schemas.openxmlformats.org/drawingml/2006/main">
              <a:ext uri="{FF2B5EF4-FFF2-40B4-BE49-F238E27FC236}">
                <a16:creationId xmlns:a16="http://schemas.microsoft.com/office/drawing/2014/main" id="{93C3487B-94CB-426A-A756-D2AAAD24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book = Product("Book", 100)</a:t>
            </a:r>
          </a:p>
        </p:txBody>
      </p:sp>
      <p:sp>
        <p:nvSpPr>
          <p:cNvPr id="5" name="print(book.price)">
            <a:extLst xmlns:a="http://schemas.openxmlformats.org/drawingml/2006/main">
              <a:ext uri="{FF2B5EF4-FFF2-40B4-BE49-F238E27FC236}">
                <a16:creationId xmlns:a16="http://schemas.microsoft.com/office/drawing/2014/main" id="{4A026DFF-E9D6-491F-8634-A5AE1FD7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print(book.price)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FAFE84-B6B1-4844-9910-6B96279D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book.price = 120.456">
            <a:extLst xmlns:a="http://schemas.openxmlformats.org/drawingml/2006/main">
              <a:ext uri="{FF2B5EF4-FFF2-40B4-BE49-F238E27FC236}">
                <a16:creationId xmlns:a16="http://schemas.microsoft.com/office/drawing/2014/main" id="{AE982F40-141F-4BF8-9991-182F5568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book.price = 120.456</a:t>
            </a:r>
          </a:p>
        </p:txBody>
      </p:sp>
      <p:sp>
        <p:nvSpPr>
          <p:cNvPr id="8" name="print(book.price)">
            <a:extLst xmlns:a="http://schemas.openxmlformats.org/drawingml/2006/main">
              <a:ext uri="{FF2B5EF4-FFF2-40B4-BE49-F238E27FC236}">
                <a16:creationId xmlns:a16="http://schemas.microsoft.com/office/drawing/2014/main" id="{38E1748A-B197-4E20-BE67-98166C51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print(book.price)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BE594A-E75F-4A81-B2ED-4725A970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try:">
            <a:extLst xmlns:a="http://schemas.openxmlformats.org/drawingml/2006/main">
              <a:ext uri="{FF2B5EF4-FFF2-40B4-BE49-F238E27FC236}">
                <a16:creationId xmlns:a16="http://schemas.microsoft.com/office/drawing/2014/main" id="{DE8E15CC-2422-4675-BCC6-D20C0674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try:</a:t>
            </a:r>
          </a:p>
        </p:txBody>
      </p:sp>
      <p:sp>
        <p:nvSpPr>
          <p:cNvPr id="11" name="    book.price = -5">
            <a:extLst xmlns:a="http://schemas.openxmlformats.org/drawingml/2006/main">
              <a:ext uri="{FF2B5EF4-FFF2-40B4-BE49-F238E27FC236}">
                <a16:creationId xmlns:a16="http://schemas.microsoft.com/office/drawing/2014/main" id="{DFB5DF99-66C6-4E57-964A-EFD3133F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book.price = -5</a:t>
            </a:r>
          </a:p>
        </p:txBody>
      </p:sp>
      <p:sp>
        <p:nvSpPr>
          <p:cNvPr id="12" name="except ValueError:">
            <a:extLst xmlns:a="http://schemas.openxmlformats.org/drawingml/2006/main">
              <a:ext uri="{FF2B5EF4-FFF2-40B4-BE49-F238E27FC236}">
                <a16:creationId xmlns:a16="http://schemas.microsoft.com/office/drawing/2014/main" id="{D6225469-364A-4E29-832B-4DC1C079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except ValueError:</a:t>
            </a:r>
          </a:p>
        </p:txBody>
      </p:sp>
      <p:sp>
        <p:nvSpPr>
          <p:cNvPr id="13" name="    print(&quot;rejected&quot;)">
            <a:extLst xmlns:a="http://schemas.openxmlformats.org/drawingml/2006/main">
              <a:ext uri="{FF2B5EF4-FFF2-40B4-BE49-F238E27FC236}">
                <a16:creationId xmlns:a16="http://schemas.microsoft.com/office/drawing/2014/main" id="{D5E0D540-0174-4A30-89EC-CA803F05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print("rejected")</a:t>
            </a:r>
          </a:p>
        </p:txBody>
      </p:sp>
      <p:sp>
        <p:nvSpPr>
          <p:cNvPr id="14" name="print(book.price)">
            <a:extLst xmlns:a="http://schemas.openxmlformats.org/drawingml/2006/main">
              <a:ext uri="{FF2B5EF4-FFF2-40B4-BE49-F238E27FC236}">
                <a16:creationId xmlns:a16="http://schemas.microsoft.com/office/drawing/2014/main" id="{33823DD2-33CA-4017-BD84-66566E95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print(book.price)</a:t>
            </a:r>
          </a:p>
        </p:txBody>
      </p:sp>
      <p:sp>
        <p:nvSpPr>
          <p:cNvPr id="15" name="每次公開賦值都驗證">
            <a:extLst xmlns:a="http://schemas.openxmlformats.org/drawingml/2006/main">
              <a:ext uri="{FF2B5EF4-FFF2-40B4-BE49-F238E27FC236}">
                <a16:creationId xmlns:a16="http://schemas.microsoft.com/office/drawing/2014/main" id="{BD24741E-AF13-4D2F-B53A-50FA6739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每次公開賦值都驗證</a:t>
            </a:r>
          </a:p>
        </p:txBody>
      </p:sp>
      <p:sp>
        <p:nvSpPr>
          <p:cNvPr id="16" name="建立物件與後續修改 走相同的價格規則。">
            <a:extLst xmlns:a="http://schemas.openxmlformats.org/drawingml/2006/main">
              <a:ext uri="{FF2B5EF4-FFF2-40B4-BE49-F238E27FC236}">
                <a16:creationId xmlns:a16="http://schemas.microsoft.com/office/drawing/2014/main" id="{14F3CC63-E41E-402C-ACC8-6B85D361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建立物件與後續修改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走相同的價格規則。</a:t>
            </a:r>
          </a:p>
        </p:txBody>
      </p:sp>
      <p:sp>
        <p:nvSpPr>
          <p:cNvPr id="17" name="失敗保留舊值">
            <a:extLst xmlns:a="http://schemas.openxmlformats.org/drawingml/2006/main">
              <a:ext uri="{FF2B5EF4-FFF2-40B4-BE49-F238E27FC236}">
                <a16:creationId xmlns:a16="http://schemas.microsoft.com/office/drawing/2014/main" id="{E97F9641-A738-4CF8-95FA-A4634004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失敗保留舊值</a:t>
            </a:r>
          </a:p>
        </p:txBody>
      </p:sp>
      <p:sp>
        <p:nvSpPr>
          <p:cNvPr id="18" name="先驗證，再指定 _price。 非法輸入沒有覆寫舊值。">
            <a:extLst xmlns:a="http://schemas.openxmlformats.org/drawingml/2006/main">
              <a:ext uri="{FF2B5EF4-FFF2-40B4-BE49-F238E27FC236}">
                <a16:creationId xmlns:a16="http://schemas.microsoft.com/office/drawing/2014/main" id="{4069306D-1A07-41EE-8FDF-2CBC4656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先驗證，再指定 _price。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非法輸入沒有覆寫舊值。</a:t>
            </a:r>
          </a:p>
        </p:txBody>
      </p:sp>
      <p:sp>
        <p:nvSpPr>
          <p:cNvPr id="19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78EAE520-3DB6-4B93-ABB5-1528B590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0" name="100    120.46    rejected    120.46">
            <a:extLst xmlns:a="http://schemas.openxmlformats.org/drawingml/2006/main">
              <a:ext uri="{FF2B5EF4-FFF2-40B4-BE49-F238E27FC236}">
                <a16:creationId xmlns:a16="http://schemas.microsoft.com/office/drawing/2014/main" id="{5E0F0A74-8171-4B1B-BCFD-90EF1FFC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100    120.46    rejected    120.46</a:t>
            </a:r>
          </a:p>
        </p:txBody>
      </p:sp>
    </p:spTree>
    <p:extLst>
      <p:ext uri="{BB962C8B-B14F-4D97-AF65-F5344CB8AC3E}">
        <p14:creationId xmlns:p14="http://schemas.microsoft.com/office/powerpoint/2010/main" val="19663082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roperty 的讀寫流程">
            <a:extLst xmlns:a="http://schemas.openxmlformats.org/drawingml/2006/main">
              <a:ext uri="{FF2B5EF4-FFF2-40B4-BE49-F238E27FC236}">
                <a16:creationId xmlns:a16="http://schemas.microsoft.com/office/drawing/2014/main" id="{B1809175-B9F9-4A64-8CAA-F6177D91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Property 的讀寫流程</a:t>
            </a:r>
          </a:p>
        </p:txBody>
      </p:sp>
      <p:sp>
        <p:nvSpPr>
          <p:cNvPr id="2" name="屬性語法會呼叫 getter 或 setter">
            <a:extLst xmlns:a="http://schemas.openxmlformats.org/drawingml/2006/main">
              <a:ext uri="{FF2B5EF4-FFF2-40B4-BE49-F238E27FC236}">
                <a16:creationId xmlns:a16="http://schemas.microsoft.com/office/drawing/2014/main" id="{82AF581B-33E2-4673-BCC0-EBD7CDF9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屬性語法會呼叫 getter 或 setter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4d975852ce4786"/>
          <a:stretch xmlns:a="http://schemas.openxmlformats.org/drawingml/2006/main"/>
        </p:blipFill>
        <p:spPr>
          <a:xfrm xmlns:a="http://schemas.openxmlformats.org/drawingml/2006/main">
            <a:off x="609600" y="1790700"/>
            <a:ext cx="10972800" cy="3657600"/>
          </a:xfrm>
          <a:prstGeom xmlns:a="http://schemas.openxmlformats.org/drawingml/2006/main" prst="rect">
            <a:avLst/>
          </a:prstGeom>
        </p:spPr>
      </p:pic>
      <p:sp>
        <p:nvSpPr>
          <p:cNvPr id="4" name="讀取時取得 _price；指定新值時先驗證，再更新 _price。&#10;此圖以合法價格 120 為例，省略 round(va">
            <a:extLst xmlns:a="http://schemas.openxmlformats.org/drawingml/2006/main">
              <a:ext uri="{FF2B5EF4-FFF2-40B4-BE49-F238E27FC236}">
                <a16:creationId xmlns:a16="http://schemas.microsoft.com/office/drawing/2014/main" id="{571B3DCC-9214-4B8A-B701-97946874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0"/>
            <a:ext cx="10915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讀取時取得 _price；指定新值時先驗證，再更新 _price。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此圖以合法價格 120 為例，省略 round(value, 2) 的步驟。</a:t>
            </a:r>
          </a:p>
        </p:txBody>
      </p:sp>
      <p:sp>
        <p:nvSpPr>
          <p:cNvPr id="5" name="13A">
            <a:extLst xmlns:a="http://schemas.openxmlformats.org/drawingml/2006/main">
              <a:ext uri="{FF2B5EF4-FFF2-40B4-BE49-F238E27FC236}">
                <a16:creationId xmlns:a16="http://schemas.microsoft.com/office/drawing/2014/main" id="{FF497941-A80A-485F-9A81-67421086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6467475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13A</a:t>
            </a:r>
          </a:p>
        </p:txBody>
      </p:sp>
    </p:spTree>
    <p:extLst>
      <p:ext uri="{BB962C8B-B14F-4D97-AF65-F5344CB8AC3E}">
        <p14:creationId xmlns:p14="http://schemas.microsoft.com/office/powerpoint/2010/main" val="132051725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tter 的遞迴陷阱">
            <a:extLst xmlns:a="http://schemas.openxmlformats.org/drawingml/2006/main">
              <a:ext uri="{FF2B5EF4-FFF2-40B4-BE49-F238E27FC236}">
                <a16:creationId xmlns:a16="http://schemas.microsoft.com/office/drawing/2014/main" id="{8346FDB9-2948-47F8-BC5D-DDD3560D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setter 的遞迴陷阱</a:t>
            </a:r>
          </a:p>
        </p:txBody>
      </p:sp>
      <p:sp>
        <p:nvSpPr>
          <p:cNvPr id="2" name="Property 基礎">
            <a:extLst xmlns:a="http://schemas.openxmlformats.org/drawingml/2006/main">
              <a:ext uri="{FF2B5EF4-FFF2-40B4-BE49-F238E27FC236}">
                <a16:creationId xmlns:a16="http://schemas.microsoft.com/office/drawing/2014/main" id="{D57ED8EA-8C36-4663-9318-3709FF55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Property 基礎</a:t>
            </a:r>
          </a:p>
        </p:txBody>
      </p:sp>
      <p:sp>
        <p:nvSpPr>
          <p:cNvPr id="3" name="14">
            <a:extLst xmlns:a="http://schemas.openxmlformats.org/drawingml/2006/main">
              <a:ext uri="{FF2B5EF4-FFF2-40B4-BE49-F238E27FC236}">
                <a16:creationId xmlns:a16="http://schemas.microsoft.com/office/drawing/2014/main" id="{DF3166A2-D4BB-4978-A33B-A6BCCF32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4" name="class BadProduct:">
            <a:extLst xmlns:a="http://schemas.openxmlformats.org/drawingml/2006/main">
              <a:ext uri="{FF2B5EF4-FFF2-40B4-BE49-F238E27FC236}">
                <a16:creationId xmlns:a16="http://schemas.microsoft.com/office/drawing/2014/main" id="{7259EA9A-3111-4AC3-8824-E266BB10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BadProduct:</a:t>
            </a:r>
          </a:p>
        </p:txBody>
      </p:sp>
      <p:sp>
        <p:nvSpPr>
          <p:cNvPr id="5" name="    @property">
            <a:extLst xmlns:a="http://schemas.openxmlformats.org/drawingml/2006/main">
              <a:ext uri="{FF2B5EF4-FFF2-40B4-BE49-F238E27FC236}">
                <a16:creationId xmlns:a16="http://schemas.microsoft.com/office/drawing/2014/main" id="{C12EF3A4-F242-4A4A-B4D7-356730D4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4429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@property</a:t>
            </a:r>
          </a:p>
        </p:txBody>
      </p:sp>
      <p:sp>
        <p:nvSpPr>
          <p:cNvPr id="6" name="    def price(self):">
            <a:extLst xmlns:a="http://schemas.openxmlformats.org/drawingml/2006/main">
              <a:ext uri="{FF2B5EF4-FFF2-40B4-BE49-F238E27FC236}">
                <a16:creationId xmlns:a16="http://schemas.microsoft.com/office/drawing/2014/main" id="{58A1619D-AA8B-4ACD-8F4A-A2C519C7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783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price(self):</a:t>
            </a:r>
          </a:p>
        </p:txBody>
      </p:sp>
      <p:sp>
        <p:nvSpPr>
          <p:cNvPr id="7" name="        return self._price">
            <a:extLst xmlns:a="http://schemas.openxmlformats.org/drawingml/2006/main">
              <a:ext uri="{FF2B5EF4-FFF2-40B4-BE49-F238E27FC236}">
                <a16:creationId xmlns:a16="http://schemas.microsoft.com/office/drawing/2014/main" id="{E72E79A7-E6C9-41A8-8CE8-B9C1E1F6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87137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return self._price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CF8D8A-60C2-46FF-B852-213D75FF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8490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    @price.setter">
            <a:extLst xmlns:a="http://schemas.openxmlformats.org/drawingml/2006/main">
              <a:ext uri="{FF2B5EF4-FFF2-40B4-BE49-F238E27FC236}">
                <a16:creationId xmlns:a16="http://schemas.microsoft.com/office/drawing/2014/main" id="{0CF961E4-0A8A-4B88-B83F-A6147845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9844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@price.setter</a:t>
            </a:r>
          </a:p>
        </p:txBody>
      </p:sp>
      <p:sp>
        <p:nvSpPr>
          <p:cNvPr id="10" name="    def price(self, value):">
            <a:extLst xmlns:a="http://schemas.openxmlformats.org/drawingml/2006/main">
              <a:ext uri="{FF2B5EF4-FFF2-40B4-BE49-F238E27FC236}">
                <a16:creationId xmlns:a16="http://schemas.microsoft.com/office/drawing/2014/main" id="{CBE582C6-5200-4B50-9564-05BCD5A9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1198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price(self, value):</a:t>
            </a:r>
          </a:p>
        </p:txBody>
      </p:sp>
      <p:sp>
        <p:nvSpPr>
          <p:cNvPr id="11" name="        self.price = value">
            <a:extLst xmlns:a="http://schemas.openxmlformats.org/drawingml/2006/main">
              <a:ext uri="{FF2B5EF4-FFF2-40B4-BE49-F238E27FC236}">
                <a16:creationId xmlns:a16="http://schemas.microsoft.com/office/drawing/2014/main" id="{75046215-D7D3-434F-A3DE-6CAB9290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2552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self.price =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0D9BEB-7CC3-45AF-A8B4-F7BD5F9D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3906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try:">
            <a:extLst xmlns:a="http://schemas.openxmlformats.org/drawingml/2006/main">
              <a:ext uri="{FF2B5EF4-FFF2-40B4-BE49-F238E27FC236}">
                <a16:creationId xmlns:a16="http://schemas.microsoft.com/office/drawing/2014/main" id="{E3B28570-FE0D-4A9E-8153-9731F151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5260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try:</a:t>
            </a:r>
          </a:p>
        </p:txBody>
      </p:sp>
      <p:sp>
        <p:nvSpPr>
          <p:cNvPr id="14" name="    BadProduct().price = 10">
            <a:extLst xmlns:a="http://schemas.openxmlformats.org/drawingml/2006/main">
              <a:ext uri="{FF2B5EF4-FFF2-40B4-BE49-F238E27FC236}">
                <a16:creationId xmlns:a16="http://schemas.microsoft.com/office/drawing/2014/main" id="{D90D82CA-C300-40E1-8CFB-4EF876DE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6613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BadProduct().price = 10</a:t>
            </a:r>
          </a:p>
        </p:txBody>
      </p:sp>
      <p:sp>
        <p:nvSpPr>
          <p:cNvPr id="15" name="except RecursionError:">
            <a:extLst xmlns:a="http://schemas.openxmlformats.org/drawingml/2006/main">
              <a:ext uri="{FF2B5EF4-FFF2-40B4-BE49-F238E27FC236}">
                <a16:creationId xmlns:a16="http://schemas.microsoft.com/office/drawing/2014/main" id="{49F51351-3199-4AC4-8C4E-D6B7BD90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7967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except RecursionError:</a:t>
            </a:r>
          </a:p>
        </p:txBody>
      </p:sp>
      <p:sp>
        <p:nvSpPr>
          <p:cNvPr id="16" name="    print(&quot;recursive setter&quot;)">
            <a:extLst xmlns:a="http://schemas.openxmlformats.org/drawingml/2006/main">
              <a:ext uri="{FF2B5EF4-FFF2-40B4-BE49-F238E27FC236}">
                <a16:creationId xmlns:a16="http://schemas.microsoft.com/office/drawing/2014/main" id="{C88FBC37-1BFE-40F9-ABD4-CC172A49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9321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print("recursive setter")</a:t>
            </a:r>
          </a:p>
        </p:txBody>
      </p:sp>
      <p:sp>
        <p:nvSpPr>
          <p:cNvPr id="17" name="同名賦值再次呼叫自己">
            <a:extLst xmlns:a="http://schemas.openxmlformats.org/drawingml/2006/main">
              <a:ext uri="{FF2B5EF4-FFF2-40B4-BE49-F238E27FC236}">
                <a16:creationId xmlns:a16="http://schemas.microsoft.com/office/drawing/2014/main" id="{FCB79131-80EF-4DF4-9C1D-CEB1E5E9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同名賦值再次呼叫自己</a:t>
            </a:r>
          </a:p>
        </p:txBody>
      </p:sp>
      <p:sp>
        <p:nvSpPr>
          <p:cNvPr id="18" name="self.price = value 重新進入 price.setter。">
            <a:extLst xmlns:a="http://schemas.openxmlformats.org/drawingml/2006/main">
              <a:ext uri="{FF2B5EF4-FFF2-40B4-BE49-F238E27FC236}">
                <a16:creationId xmlns:a16="http://schemas.microsoft.com/office/drawing/2014/main" id="{B1ACFB64-382F-4600-9B65-10CAE57A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self.price = value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重新進入 price.setter。</a:t>
            </a:r>
          </a:p>
        </p:txBody>
      </p:sp>
      <p:sp>
        <p:nvSpPr>
          <p:cNvPr id="19" name="使用另一個儲存名稱">
            <a:extLst xmlns:a="http://schemas.openxmlformats.org/drawingml/2006/main">
              <a:ext uri="{FF2B5EF4-FFF2-40B4-BE49-F238E27FC236}">
                <a16:creationId xmlns:a16="http://schemas.microsoft.com/office/drawing/2014/main" id="{01058713-C78C-47A5-B1C4-838FF2D8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使用另一個儲存名稱</a:t>
            </a:r>
          </a:p>
        </p:txBody>
      </p:sp>
      <p:sp>
        <p:nvSpPr>
          <p:cNvPr id="20" name="驗證完成後應指定 self._price = value。">
            <a:extLst xmlns:a="http://schemas.openxmlformats.org/drawingml/2006/main">
              <a:ext uri="{FF2B5EF4-FFF2-40B4-BE49-F238E27FC236}">
                <a16:creationId xmlns:a16="http://schemas.microsoft.com/office/drawing/2014/main" id="{87171D62-5AC9-4AB4-A6B9-8B6C66A9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驗證完成後應指定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self._price = value。</a:t>
            </a:r>
          </a:p>
        </p:txBody>
      </p:sp>
      <p:sp>
        <p:nvSpPr>
          <p:cNvPr id="21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BB98FBB6-7C7D-4A44-A639-4A524B34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2" name="recursive setter">
            <a:extLst xmlns:a="http://schemas.openxmlformats.org/drawingml/2006/main">
              <a:ext uri="{FF2B5EF4-FFF2-40B4-BE49-F238E27FC236}">
                <a16:creationId xmlns:a16="http://schemas.microsoft.com/office/drawing/2014/main" id="{B6D87BCD-0213-4511-9405-EC750F4B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recursive setter</a:t>
            </a:r>
          </a:p>
        </p:txBody>
      </p:sp>
    </p:spTree>
    <p:extLst>
      <p:ext uri="{BB962C8B-B14F-4D97-AF65-F5344CB8AC3E}">
        <p14:creationId xmlns:p14="http://schemas.microsoft.com/office/powerpoint/2010/main" val="165661950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先修改再驗證會留下非法狀態">
            <a:extLst xmlns:a="http://schemas.openxmlformats.org/drawingml/2006/main">
              <a:ext uri="{FF2B5EF4-FFF2-40B4-BE49-F238E27FC236}">
                <a16:creationId xmlns:a16="http://schemas.microsoft.com/office/drawing/2014/main" id="{05FED75F-A22E-47E1-956E-B6B1CA2A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先修改再驗證會留下非法狀態</a:t>
            </a:r>
          </a:p>
        </p:txBody>
      </p:sp>
      <p:sp>
        <p:nvSpPr>
          <p:cNvPr id="2" name="驗證與不變條件">
            <a:extLst xmlns:a="http://schemas.openxmlformats.org/drawingml/2006/main">
              <a:ext uri="{FF2B5EF4-FFF2-40B4-BE49-F238E27FC236}">
                <a16:creationId xmlns:a16="http://schemas.microsoft.com/office/drawing/2014/main" id="{8B65DF4F-C75D-4D6B-AEA8-ABCAB470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驗證與不變條件</a:t>
            </a:r>
          </a:p>
        </p:txBody>
      </p:sp>
      <p:sp>
        <p:nvSpPr>
          <p:cNvPr id="3" name="15">
            <a:extLst xmlns:a="http://schemas.openxmlformats.org/drawingml/2006/main">
              <a:ext uri="{FF2B5EF4-FFF2-40B4-BE49-F238E27FC236}">
                <a16:creationId xmlns:a16="http://schemas.microsoft.com/office/drawing/2014/main" id="{93398721-5ACB-486A-B6E2-3D06113D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4" name="class BadProduct:">
            <a:extLst xmlns:a="http://schemas.openxmlformats.org/drawingml/2006/main">
              <a:ext uri="{FF2B5EF4-FFF2-40B4-BE49-F238E27FC236}">
                <a16:creationId xmlns:a16="http://schemas.microsoft.com/office/drawing/2014/main" id="{756F6AFB-68D2-4160-A228-C82F027F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00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BadProduct:</a:t>
            </a:r>
          </a:p>
        </p:txBody>
      </p:sp>
      <p:sp>
        <p:nvSpPr>
          <p:cNvPr id="5" name="    def __init__(self):">
            <a:extLst xmlns:a="http://schemas.openxmlformats.org/drawingml/2006/main">
              <a:ext uri="{FF2B5EF4-FFF2-40B4-BE49-F238E27FC236}">
                <a16:creationId xmlns:a16="http://schemas.microsoft.com/office/drawing/2014/main" id="{94DDAB29-FA8A-456F-8A56-E5CDC345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6915"/>
            <a:ext cx="7391400" cy="300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__init__(self):</a:t>
            </a:r>
          </a:p>
        </p:txBody>
      </p:sp>
      <p:sp>
        <p:nvSpPr>
          <p:cNvPr id="6" name="        self._price = 100">
            <a:extLst xmlns:a="http://schemas.openxmlformats.org/drawingml/2006/main">
              <a:ext uri="{FF2B5EF4-FFF2-40B4-BE49-F238E27FC236}">
                <a16:creationId xmlns:a16="http://schemas.microsoft.com/office/drawing/2014/main" id="{B9E1E2D6-25DE-4C31-872C-B916CB99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0755"/>
            <a:ext cx="7391400" cy="300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self._price = 100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55C08B-C131-476E-B491-D422C99B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4595"/>
            <a:ext cx="7391400" cy="300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    def set_price(self, value):">
            <a:extLst xmlns:a="http://schemas.openxmlformats.org/drawingml/2006/main">
              <a:ext uri="{FF2B5EF4-FFF2-40B4-BE49-F238E27FC236}">
                <a16:creationId xmlns:a16="http://schemas.microsoft.com/office/drawing/2014/main" id="{A63A23A2-BEDF-4BE5-8F8A-65F82872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8435"/>
            <a:ext cx="7391400" cy="300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set_price(self, value):</a:t>
            </a:r>
          </a:p>
        </p:txBody>
      </p:sp>
      <p:sp>
        <p:nvSpPr>
          <p:cNvPr id="9" name="        self._price = value">
            <a:extLst xmlns:a="http://schemas.openxmlformats.org/drawingml/2006/main">
              <a:ext uri="{FF2B5EF4-FFF2-40B4-BE49-F238E27FC236}">
                <a16:creationId xmlns:a16="http://schemas.microsoft.com/office/drawing/2014/main" id="{29FE7D25-F642-4AA8-B813-05BDB670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7391400" cy="300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self._price = value</a:t>
            </a:r>
          </a:p>
        </p:txBody>
      </p:sp>
      <p:sp>
        <p:nvSpPr>
          <p:cNvPr id="10" name="        if value &lt; 0:">
            <a:extLst xmlns:a="http://schemas.openxmlformats.org/drawingml/2006/main">
              <a:ext uri="{FF2B5EF4-FFF2-40B4-BE49-F238E27FC236}">
                <a16:creationId xmlns:a16="http://schemas.microsoft.com/office/drawing/2014/main" id="{562350CF-7A98-46FF-872E-7D24AB03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6115"/>
            <a:ext cx="7391400" cy="300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if value &lt; 0:</a:t>
            </a:r>
          </a:p>
        </p:txBody>
      </p:sp>
      <p:sp>
        <p:nvSpPr>
          <p:cNvPr id="11" name="            raise ValueError(&quot;negative price&quot;)">
            <a:extLst xmlns:a="http://schemas.openxmlformats.org/drawingml/2006/main">
              <a:ext uri="{FF2B5EF4-FFF2-40B4-BE49-F238E27FC236}">
                <a16:creationId xmlns:a16="http://schemas.microsoft.com/office/drawing/2014/main" id="{6F20632E-B6CC-40E0-8D50-B304B9C2D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9955"/>
            <a:ext cx="7391400" cy="300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raise ValueError("negative price")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3290CC-ECC6-43EA-A386-24723C44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3795"/>
            <a:ext cx="7391400" cy="300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p = BadProduct()">
            <a:extLst xmlns:a="http://schemas.openxmlformats.org/drawingml/2006/main">
              <a:ext uri="{FF2B5EF4-FFF2-40B4-BE49-F238E27FC236}">
                <a16:creationId xmlns:a16="http://schemas.microsoft.com/office/drawing/2014/main" id="{D336C47B-1E94-43E1-8395-07D6E126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7635"/>
            <a:ext cx="7391400" cy="300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 = BadProduct()</a:t>
            </a:r>
          </a:p>
        </p:txBody>
      </p:sp>
      <p:sp>
        <p:nvSpPr>
          <p:cNvPr id="14" name="try:">
            <a:extLst xmlns:a="http://schemas.openxmlformats.org/drawingml/2006/main">
              <a:ext uri="{FF2B5EF4-FFF2-40B4-BE49-F238E27FC236}">
                <a16:creationId xmlns:a16="http://schemas.microsoft.com/office/drawing/2014/main" id="{FDEFD84C-B19C-48CD-84CE-038BDA92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7391400" cy="300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try:</a:t>
            </a:r>
          </a:p>
        </p:txBody>
      </p:sp>
      <p:sp>
        <p:nvSpPr>
          <p:cNvPr id="15" name="    p.set_price(-5)">
            <a:extLst xmlns:a="http://schemas.openxmlformats.org/drawingml/2006/main">
              <a:ext uri="{FF2B5EF4-FFF2-40B4-BE49-F238E27FC236}">
                <a16:creationId xmlns:a16="http://schemas.microsoft.com/office/drawing/2014/main" id="{2B76A3CC-1114-4A85-87C9-14F1FBF6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5315"/>
            <a:ext cx="7391400" cy="300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p.set_price(-5)</a:t>
            </a:r>
          </a:p>
        </p:txBody>
      </p:sp>
      <p:sp>
        <p:nvSpPr>
          <p:cNvPr id="16" name="except ValueError:">
            <a:extLst xmlns:a="http://schemas.openxmlformats.org/drawingml/2006/main">
              <a:ext uri="{FF2B5EF4-FFF2-40B4-BE49-F238E27FC236}">
                <a16:creationId xmlns:a16="http://schemas.microsoft.com/office/drawing/2014/main" id="{1EEEF799-4ABD-4094-B618-AEE6BBFD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9155"/>
            <a:ext cx="7391400" cy="300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except ValueError:</a:t>
            </a:r>
          </a:p>
        </p:txBody>
      </p:sp>
      <p:sp>
        <p:nvSpPr>
          <p:cNvPr id="17" name="    print(&quot;rejected&quot;)">
            <a:extLst xmlns:a="http://schemas.openxmlformats.org/drawingml/2006/main">
              <a:ext uri="{FF2B5EF4-FFF2-40B4-BE49-F238E27FC236}">
                <a16:creationId xmlns:a16="http://schemas.microsoft.com/office/drawing/2014/main" id="{5B3C36A0-6C2C-4C12-96F2-5CD4AA71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2995"/>
            <a:ext cx="7391400" cy="300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print("rejected")</a:t>
            </a:r>
          </a:p>
        </p:txBody>
      </p:sp>
      <p:sp>
        <p:nvSpPr>
          <p:cNvPr id="18" name="print(p._price)">
            <a:extLst xmlns:a="http://schemas.openxmlformats.org/drawingml/2006/main">
              <a:ext uri="{FF2B5EF4-FFF2-40B4-BE49-F238E27FC236}">
                <a16:creationId xmlns:a16="http://schemas.microsoft.com/office/drawing/2014/main" id="{2F6F60E1-AB3E-43AB-835A-7A84158C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6835"/>
            <a:ext cx="7391400" cy="300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print(p._price)</a:t>
            </a:r>
          </a:p>
        </p:txBody>
      </p:sp>
      <p:sp>
        <p:nvSpPr>
          <p:cNvPr id="19" name="拋出例外不會自動回復">
            <a:extLst xmlns:a="http://schemas.openxmlformats.org/drawingml/2006/main">
              <a:ext uri="{FF2B5EF4-FFF2-40B4-BE49-F238E27FC236}">
                <a16:creationId xmlns:a16="http://schemas.microsoft.com/office/drawing/2014/main" id="{F70EC06D-C64E-4FAD-8D30-9E3142FA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拋出例外不會自動回復</a:t>
            </a:r>
          </a:p>
        </p:txBody>
      </p:sp>
      <p:sp>
        <p:nvSpPr>
          <p:cNvPr id="20" name="Python 不會撤銷先前 已完成的屬性賦值。">
            <a:extLst xmlns:a="http://schemas.openxmlformats.org/drawingml/2006/main">
              <a:ext uri="{FF2B5EF4-FFF2-40B4-BE49-F238E27FC236}">
                <a16:creationId xmlns:a16="http://schemas.microsoft.com/office/drawing/2014/main" id="{7B8FBBD9-7368-4457-8CC6-7B0BEF9A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Python 不會撤銷先前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已完成的屬性賦值。</a:t>
            </a:r>
          </a:p>
        </p:txBody>
      </p:sp>
      <p:sp>
        <p:nvSpPr>
          <p:cNvPr id="21" name="規則檢查放在修改前">
            <a:extLst xmlns:a="http://schemas.openxmlformats.org/drawingml/2006/main">
              <a:ext uri="{FF2B5EF4-FFF2-40B4-BE49-F238E27FC236}">
                <a16:creationId xmlns:a16="http://schemas.microsoft.com/office/drawing/2014/main" id="{FC71174C-74C2-40E9-B3E7-C5DF2AC7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規則檢查放在修改前</a:t>
            </a:r>
          </a:p>
        </p:txBody>
      </p:sp>
      <p:sp>
        <p:nvSpPr>
          <p:cNvPr id="22" name="先確認所有必要條件， 再更新相關資料。">
            <a:extLst xmlns:a="http://schemas.openxmlformats.org/drawingml/2006/main">
              <a:ext uri="{FF2B5EF4-FFF2-40B4-BE49-F238E27FC236}">
                <a16:creationId xmlns:a16="http://schemas.microsoft.com/office/drawing/2014/main" id="{2236FC6B-3C4B-4D41-8BE3-A2BA85B3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先確認所有必要條件，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再更新相關資料。</a:t>
            </a:r>
          </a:p>
        </p:txBody>
      </p:sp>
      <p:sp>
        <p:nvSpPr>
          <p:cNvPr id="23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3C380785-3378-4BED-B820-8C96BF43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4" name="rejected    -5">
            <a:extLst xmlns:a="http://schemas.openxmlformats.org/drawingml/2006/main">
              <a:ext uri="{FF2B5EF4-FFF2-40B4-BE49-F238E27FC236}">
                <a16:creationId xmlns:a16="http://schemas.microsoft.com/office/drawing/2014/main" id="{EDC225CA-E655-447F-AF44-10DB263D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rejected    -5</a:t>
            </a:r>
          </a:p>
        </p:txBody>
      </p:sp>
    </p:spTree>
    <p:extLst>
      <p:ext uri="{BB962C8B-B14F-4D97-AF65-F5344CB8AC3E}">
        <p14:creationId xmlns:p14="http://schemas.microsoft.com/office/powerpoint/2010/main" val="191160903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驗證需要明確的輸入政策">
            <a:extLst xmlns:a="http://schemas.openxmlformats.org/drawingml/2006/main">
              <a:ext uri="{FF2B5EF4-FFF2-40B4-BE49-F238E27FC236}">
                <a16:creationId xmlns:a16="http://schemas.microsoft.com/office/drawing/2014/main" id="{67045274-D2CA-4BE9-88DB-443955E9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驗證需要明確的輸入政策</a:t>
            </a:r>
          </a:p>
        </p:txBody>
      </p:sp>
      <p:sp>
        <p:nvSpPr>
          <p:cNvPr id="2" name="驗證與不變條件">
            <a:extLst xmlns:a="http://schemas.openxmlformats.org/drawingml/2006/main">
              <a:ext uri="{FF2B5EF4-FFF2-40B4-BE49-F238E27FC236}">
                <a16:creationId xmlns:a16="http://schemas.microsoft.com/office/drawing/2014/main" id="{6C251C56-D7A2-4C02-A3EE-154D7ED3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驗證與不變條件</a:t>
            </a:r>
          </a:p>
        </p:txBody>
      </p:sp>
      <p:sp>
        <p:nvSpPr>
          <p:cNvPr id="3" name="16">
            <a:extLst xmlns:a="http://schemas.openxmlformats.org/drawingml/2006/main">
              <a:ext uri="{FF2B5EF4-FFF2-40B4-BE49-F238E27FC236}">
                <a16:creationId xmlns:a16="http://schemas.microsoft.com/office/drawing/2014/main" id="{383EF6B3-79FA-41AC-85D1-86FEE5F2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81250"/>
                <a:gridCol w="3190875"/>
                <a:gridCol w="5400675"/>
              </a:tblGrid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問題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可採用的政策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需要說清楚的細節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型別不符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TypeError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是否接受字串、bool、衍生型別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數值越界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ValueError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是否接受 0、負數、NaN、無限值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格式轉換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明確正規化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去除空白或四捨五入的時機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更新失敗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保留原狀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餘額與交易紀錄都維持原值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  <p:sp>
        <p:nvSpPr>
          <p:cNvPr id="5" name="型別提示說明意圖，執行期規則仍需程式實際檢查。">
            <a:extLst xmlns:a="http://schemas.openxmlformats.org/drawingml/2006/main">
              <a:ext uri="{FF2B5EF4-FFF2-40B4-BE49-F238E27FC236}">
                <a16:creationId xmlns:a16="http://schemas.microsoft.com/office/drawing/2014/main" id="{9708E3FF-E681-438D-BCF3-07CCC27C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0275"/>
            <a:ext cx="10706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型別提示說明意圖，執行期規則仍需程式實際檢查。</a:t>
            </a:r>
          </a:p>
        </p:txBody>
      </p:sp>
    </p:spTree>
    <p:extLst>
      <p:ext uri="{BB962C8B-B14F-4D97-AF65-F5344CB8AC3E}">
        <p14:creationId xmlns:p14="http://schemas.microsoft.com/office/powerpoint/2010/main" val="201677672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只有 getter 的唯讀屬性">
            <a:extLst xmlns:a="http://schemas.openxmlformats.org/drawingml/2006/main">
              <a:ext uri="{FF2B5EF4-FFF2-40B4-BE49-F238E27FC236}">
                <a16:creationId xmlns:a16="http://schemas.microsoft.com/office/drawing/2014/main" id="{EE51B04F-6528-4BB5-9374-E173D5F0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只有 getter 的唯讀屬性</a:t>
            </a:r>
          </a:p>
        </p:txBody>
      </p:sp>
      <p:sp>
        <p:nvSpPr>
          <p:cNvPr id="2" name="唯讀介面">
            <a:extLst xmlns:a="http://schemas.openxmlformats.org/drawingml/2006/main">
              <a:ext uri="{FF2B5EF4-FFF2-40B4-BE49-F238E27FC236}">
                <a16:creationId xmlns:a16="http://schemas.microsoft.com/office/drawing/2014/main" id="{A9F8002B-A421-4858-BA33-E7F35009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唯讀介面</a:t>
            </a:r>
          </a:p>
        </p:txBody>
      </p:sp>
      <p:sp>
        <p:nvSpPr>
          <p:cNvPr id="3" name="17">
            <a:extLst xmlns:a="http://schemas.openxmlformats.org/drawingml/2006/main">
              <a:ext uri="{FF2B5EF4-FFF2-40B4-BE49-F238E27FC236}">
                <a16:creationId xmlns:a16="http://schemas.microsoft.com/office/drawing/2014/main" id="{292C1CF7-2C3B-4786-98BA-46812F41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4" name="class Account:">
            <a:extLst xmlns:a="http://schemas.openxmlformats.org/drawingml/2006/main">
              <a:ext uri="{FF2B5EF4-FFF2-40B4-BE49-F238E27FC236}">
                <a16:creationId xmlns:a16="http://schemas.microsoft.com/office/drawing/2014/main" id="{A4B992ED-0316-4718-86D2-85B533AF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18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class Account:</a:t>
            </a:r>
          </a:p>
        </p:txBody>
      </p:sp>
      <p:sp>
        <p:nvSpPr>
          <p:cNvPr id="5" name="    def __init__(self, number):">
            <a:extLst xmlns:a="http://schemas.openxmlformats.org/drawingml/2006/main">
              <a:ext uri="{FF2B5EF4-FFF2-40B4-BE49-F238E27FC236}">
                <a16:creationId xmlns:a16="http://schemas.microsoft.com/office/drawing/2014/main" id="{455A05CD-9C09-4C34-8C27-56A1C5CD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4332"/>
            <a:ext cx="7391400" cy="318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def __init__(self, number):</a:t>
            </a:r>
          </a:p>
        </p:txBody>
      </p:sp>
      <p:sp>
        <p:nvSpPr>
          <p:cNvPr id="6" name="        self._number = number">
            <a:extLst xmlns:a="http://schemas.openxmlformats.org/drawingml/2006/main">
              <a:ext uri="{FF2B5EF4-FFF2-40B4-BE49-F238E27FC236}">
                <a16:creationId xmlns:a16="http://schemas.microsoft.com/office/drawing/2014/main" id="{0A092162-2E7D-4D3E-924B-B59FE8E4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5589"/>
            <a:ext cx="7391400" cy="318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self._number = number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E3F14C-1D61-45FE-9137-52D87B1A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6846"/>
            <a:ext cx="7391400" cy="318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    @property">
            <a:extLst xmlns:a="http://schemas.openxmlformats.org/drawingml/2006/main">
              <a:ext uri="{FF2B5EF4-FFF2-40B4-BE49-F238E27FC236}">
                <a16:creationId xmlns:a16="http://schemas.microsoft.com/office/drawing/2014/main" id="{31EB74B8-1207-4D1D-BC3E-44B8ADE6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8104"/>
            <a:ext cx="7391400" cy="318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@property</a:t>
            </a:r>
          </a:p>
        </p:txBody>
      </p:sp>
      <p:sp>
        <p:nvSpPr>
          <p:cNvPr id="9" name="    def account_number(self):">
            <a:extLst xmlns:a="http://schemas.openxmlformats.org/drawingml/2006/main">
              <a:ext uri="{FF2B5EF4-FFF2-40B4-BE49-F238E27FC236}">
                <a16:creationId xmlns:a16="http://schemas.microsoft.com/office/drawing/2014/main" id="{5F7D1021-B4D7-4348-9770-1B1CE0BC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9361"/>
            <a:ext cx="7391400" cy="318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def account_number(self):</a:t>
            </a:r>
          </a:p>
        </p:txBody>
      </p:sp>
      <p:sp>
        <p:nvSpPr>
          <p:cNvPr id="10" name="        return self._number">
            <a:extLst xmlns:a="http://schemas.openxmlformats.org/drawingml/2006/main">
              <a:ext uri="{FF2B5EF4-FFF2-40B4-BE49-F238E27FC236}">
                <a16:creationId xmlns:a16="http://schemas.microsoft.com/office/drawing/2014/main" id="{2EB49514-EDBF-4144-840A-2B8D740F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0618"/>
            <a:ext cx="7391400" cy="318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return self._number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D5A794-3F33-4999-9B8C-ABDABE60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7391400" cy="318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a = Account(&quot;A001&quot;)">
            <a:extLst xmlns:a="http://schemas.openxmlformats.org/drawingml/2006/main">
              <a:ext uri="{FF2B5EF4-FFF2-40B4-BE49-F238E27FC236}">
                <a16:creationId xmlns:a16="http://schemas.microsoft.com/office/drawing/2014/main" id="{ADF91562-93FF-46EB-852D-AE0A6BB9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3132"/>
            <a:ext cx="7391400" cy="318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a = Account("A001")</a:t>
            </a:r>
          </a:p>
        </p:txBody>
      </p:sp>
      <p:sp>
        <p:nvSpPr>
          <p:cNvPr id="13" name="print(a.account_number)">
            <a:extLst xmlns:a="http://schemas.openxmlformats.org/drawingml/2006/main">
              <a:ext uri="{FF2B5EF4-FFF2-40B4-BE49-F238E27FC236}">
                <a16:creationId xmlns:a16="http://schemas.microsoft.com/office/drawing/2014/main" id="{81887D92-1774-4C2F-AF04-E3B9F0FE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4389"/>
            <a:ext cx="7391400" cy="318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print(a.account_number)</a:t>
            </a:r>
          </a:p>
        </p:txBody>
      </p:sp>
      <p:sp>
        <p:nvSpPr>
          <p:cNvPr id="14" name="try:">
            <a:extLst xmlns:a="http://schemas.openxmlformats.org/drawingml/2006/main">
              <a:ext uri="{FF2B5EF4-FFF2-40B4-BE49-F238E27FC236}">
                <a16:creationId xmlns:a16="http://schemas.microsoft.com/office/drawing/2014/main" id="{27319CA5-F70E-4CA0-8249-1213F882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5646"/>
            <a:ext cx="7391400" cy="318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try:</a:t>
            </a:r>
          </a:p>
        </p:txBody>
      </p:sp>
      <p:sp>
        <p:nvSpPr>
          <p:cNvPr id="15" name="    a.account_number = &quot;A002&quot;">
            <a:extLst xmlns:a="http://schemas.openxmlformats.org/drawingml/2006/main">
              <a:ext uri="{FF2B5EF4-FFF2-40B4-BE49-F238E27FC236}">
                <a16:creationId xmlns:a16="http://schemas.microsoft.com/office/drawing/2014/main" id="{F65281B6-FC7D-4201-B467-8C46EE95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6904"/>
            <a:ext cx="7391400" cy="318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a.account_number = "A002"</a:t>
            </a:r>
          </a:p>
        </p:txBody>
      </p:sp>
      <p:sp>
        <p:nvSpPr>
          <p:cNvPr id="16" name="except AttributeError:">
            <a:extLst xmlns:a="http://schemas.openxmlformats.org/drawingml/2006/main">
              <a:ext uri="{FF2B5EF4-FFF2-40B4-BE49-F238E27FC236}">
                <a16:creationId xmlns:a16="http://schemas.microsoft.com/office/drawing/2014/main" id="{289560F6-3DC3-4371-BFBA-AF71A62C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8161"/>
            <a:ext cx="7391400" cy="318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except AttributeError:</a:t>
            </a:r>
          </a:p>
        </p:txBody>
      </p:sp>
      <p:sp>
        <p:nvSpPr>
          <p:cNvPr id="17" name="    print(&quot;read-only&quot;)">
            <a:extLst xmlns:a="http://schemas.openxmlformats.org/drawingml/2006/main">
              <a:ext uri="{FF2B5EF4-FFF2-40B4-BE49-F238E27FC236}">
                <a16:creationId xmlns:a16="http://schemas.microsoft.com/office/drawing/2014/main" id="{5ECDD728-3FC0-43B1-A9A3-F87C166A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9418"/>
            <a:ext cx="7391400" cy="318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print("read-only")</a:t>
            </a:r>
          </a:p>
        </p:txBody>
      </p:sp>
      <p:sp>
        <p:nvSpPr>
          <p:cNvPr id="18" name="公開名稱禁止直接改寫">
            <a:extLst xmlns:a="http://schemas.openxmlformats.org/drawingml/2006/main">
              <a:ext uri="{FF2B5EF4-FFF2-40B4-BE49-F238E27FC236}">
                <a16:creationId xmlns:a16="http://schemas.microsoft.com/office/drawing/2014/main" id="{A672CFF2-9C19-4514-915F-226618C6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公開名稱禁止直接改寫</a:t>
            </a:r>
          </a:p>
        </p:txBody>
      </p:sp>
      <p:sp>
        <p:nvSpPr>
          <p:cNvPr id="19" name="沒有 account_number.setter， 一般賦值會失敗。">
            <a:extLst xmlns:a="http://schemas.openxmlformats.org/drawingml/2006/main">
              <a:ext uri="{FF2B5EF4-FFF2-40B4-BE49-F238E27FC236}">
                <a16:creationId xmlns:a16="http://schemas.microsoft.com/office/drawing/2014/main" id="{B5ED0980-0BBB-40CF-8B69-D03CAF79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沒有 account_number.setter，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一般賦值會失敗。</a:t>
            </a:r>
          </a:p>
        </p:txBody>
      </p:sp>
      <p:sp>
        <p:nvSpPr>
          <p:cNvPr id="20" name="內部名稱仍是實作細節">
            <a:extLst xmlns:a="http://schemas.openxmlformats.org/drawingml/2006/main">
              <a:ext uri="{FF2B5EF4-FFF2-40B4-BE49-F238E27FC236}">
                <a16:creationId xmlns:a16="http://schemas.microsoft.com/office/drawing/2014/main" id="{E29DD50B-F7F2-4AF9-B6B0-9DFA8825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內部名稱仍是實作細節</a:t>
            </a:r>
          </a:p>
        </p:txBody>
      </p:sp>
      <p:sp>
        <p:nvSpPr>
          <p:cNvPr id="21" name="_number 仍然存在。 唯讀承諾限定公開介面。">
            <a:extLst xmlns:a="http://schemas.openxmlformats.org/drawingml/2006/main">
              <a:ext uri="{FF2B5EF4-FFF2-40B4-BE49-F238E27FC236}">
                <a16:creationId xmlns:a16="http://schemas.microsoft.com/office/drawing/2014/main" id="{4EEC6695-0D18-49D1-A1F2-61014B03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_number 仍然存在。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唯讀承諾限定公開介面。</a:t>
            </a:r>
          </a:p>
        </p:txBody>
      </p:sp>
      <p:sp>
        <p:nvSpPr>
          <p:cNvPr id="22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1EA43E02-9192-4DEC-B483-86D8E781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3" name="A001    read-only">
            <a:extLst xmlns:a="http://schemas.openxmlformats.org/drawingml/2006/main">
              <a:ext uri="{FF2B5EF4-FFF2-40B4-BE49-F238E27FC236}">
                <a16:creationId xmlns:a16="http://schemas.microsoft.com/office/drawing/2014/main" id="{5DDAA973-98DD-4968-9D17-11604107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A001    read-only</a:t>
            </a:r>
          </a:p>
        </p:txBody>
      </p:sp>
    </p:spTree>
    <p:extLst>
      <p:ext uri="{BB962C8B-B14F-4D97-AF65-F5344CB8AC3E}">
        <p14:creationId xmlns:p14="http://schemas.microsoft.com/office/powerpoint/2010/main" val="21619575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唯讀屬性仍可能暴露可變資料">
            <a:extLst xmlns:a="http://schemas.openxmlformats.org/drawingml/2006/main">
              <a:ext uri="{FF2B5EF4-FFF2-40B4-BE49-F238E27FC236}">
                <a16:creationId xmlns:a16="http://schemas.microsoft.com/office/drawing/2014/main" id="{2FCF4553-124B-4BE4-8D00-4384A8FA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唯讀屬性仍可能暴露可變資料</a:t>
            </a:r>
          </a:p>
        </p:txBody>
      </p:sp>
      <p:sp>
        <p:nvSpPr>
          <p:cNvPr id="2" name="唯讀介面">
            <a:extLst xmlns:a="http://schemas.openxmlformats.org/drawingml/2006/main">
              <a:ext uri="{FF2B5EF4-FFF2-40B4-BE49-F238E27FC236}">
                <a16:creationId xmlns:a16="http://schemas.microsoft.com/office/drawing/2014/main" id="{A0133976-751F-4FBB-AF11-2298F299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唯讀介面</a:t>
            </a:r>
          </a:p>
        </p:txBody>
      </p:sp>
      <p:sp>
        <p:nvSpPr>
          <p:cNvPr id="3" name="18">
            <a:extLst xmlns:a="http://schemas.openxmlformats.org/drawingml/2006/main">
              <a:ext uri="{FF2B5EF4-FFF2-40B4-BE49-F238E27FC236}">
                <a16:creationId xmlns:a16="http://schemas.microsoft.com/office/drawing/2014/main" id="{82373CA0-375A-413F-9D1E-18449A4A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4" name="class Notebook:">
            <a:extLst xmlns:a="http://schemas.openxmlformats.org/drawingml/2006/main">
              <a:ext uri="{FF2B5EF4-FFF2-40B4-BE49-F238E27FC236}">
                <a16:creationId xmlns:a16="http://schemas.microsoft.com/office/drawing/2014/main" id="{34C7C449-2270-47FB-9F26-2EDD4D99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Notebook:</a:t>
            </a:r>
          </a:p>
        </p:txBody>
      </p:sp>
      <p:sp>
        <p:nvSpPr>
          <p:cNvPr id="5" name="    def __init__(self):">
            <a:extLst xmlns:a="http://schemas.openxmlformats.org/drawingml/2006/main">
              <a:ext uri="{FF2B5EF4-FFF2-40B4-BE49-F238E27FC236}">
                <a16:creationId xmlns:a16="http://schemas.microsoft.com/office/drawing/2014/main" id="{E165352F-C034-447B-9DE3-2C5112BF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__init__(self):</a:t>
            </a:r>
          </a:p>
        </p:txBody>
      </p:sp>
      <p:sp>
        <p:nvSpPr>
          <p:cNvPr id="6" name="        self._notes = []">
            <a:extLst xmlns:a="http://schemas.openxmlformats.org/drawingml/2006/main">
              <a:ext uri="{FF2B5EF4-FFF2-40B4-BE49-F238E27FC236}">
                <a16:creationId xmlns:a16="http://schemas.microsoft.com/office/drawing/2014/main" id="{3A53A27E-7D09-4E11-8DC1-A5E7F275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self._notes = []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9B8C56-2CF7-44DA-91F0-2677EEF5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    @property">
            <a:extLst xmlns:a="http://schemas.openxmlformats.org/drawingml/2006/main">
              <a:ext uri="{FF2B5EF4-FFF2-40B4-BE49-F238E27FC236}">
                <a16:creationId xmlns:a16="http://schemas.microsoft.com/office/drawing/2014/main" id="{8A546FE8-90F9-42D6-9DE6-92C6308A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@property</a:t>
            </a:r>
          </a:p>
        </p:txBody>
      </p:sp>
      <p:sp>
        <p:nvSpPr>
          <p:cNvPr id="9" name="    def notes(self):">
            <a:extLst xmlns:a="http://schemas.openxmlformats.org/drawingml/2006/main">
              <a:ext uri="{FF2B5EF4-FFF2-40B4-BE49-F238E27FC236}">
                <a16:creationId xmlns:a16="http://schemas.microsoft.com/office/drawing/2014/main" id="{39E3614E-FF37-466A-860A-5F3F4F54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notes(self):</a:t>
            </a:r>
          </a:p>
        </p:txBody>
      </p:sp>
      <p:sp>
        <p:nvSpPr>
          <p:cNvPr id="10" name="        return self._notes">
            <a:extLst xmlns:a="http://schemas.openxmlformats.org/drawingml/2006/main">
              <a:ext uri="{FF2B5EF4-FFF2-40B4-BE49-F238E27FC236}">
                <a16:creationId xmlns:a16="http://schemas.microsoft.com/office/drawing/2014/main" id="{BB97D828-06EB-40DB-AC03-B96BB64C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return self._notes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9DC7B3-E65E-484D-B938-B89EA849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n = Notebook()">
            <a:extLst xmlns:a="http://schemas.openxmlformats.org/drawingml/2006/main">
              <a:ext uri="{FF2B5EF4-FFF2-40B4-BE49-F238E27FC236}">
                <a16:creationId xmlns:a16="http://schemas.microsoft.com/office/drawing/2014/main" id="{48DD79F6-1BB9-4B54-A0A2-0756C7EB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n = Notebook()</a:t>
            </a:r>
          </a:p>
        </p:txBody>
      </p:sp>
      <p:sp>
        <p:nvSpPr>
          <p:cNvPr id="13" name="n.notes.append(&quot;external change&quot;)">
            <a:extLst xmlns:a="http://schemas.openxmlformats.org/drawingml/2006/main">
              <a:ext uri="{FF2B5EF4-FFF2-40B4-BE49-F238E27FC236}">
                <a16:creationId xmlns:a16="http://schemas.microsoft.com/office/drawing/2014/main" id="{B8A9953E-D153-4A66-9CB0-D4B36890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n.notes.append("external change")</a:t>
            </a:r>
          </a:p>
        </p:txBody>
      </p:sp>
      <p:sp>
        <p:nvSpPr>
          <p:cNvPr id="14" name="print(n.notes)">
            <a:extLst xmlns:a="http://schemas.openxmlformats.org/drawingml/2006/main">
              <a:ext uri="{FF2B5EF4-FFF2-40B4-BE49-F238E27FC236}">
                <a16:creationId xmlns:a16="http://schemas.microsoft.com/office/drawing/2014/main" id="{89C4694E-DD96-4335-911B-A1A6E33B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print(n.notes)</a:t>
            </a:r>
          </a:p>
        </p:txBody>
      </p:sp>
      <p:sp>
        <p:nvSpPr>
          <p:cNvPr id="15" name="沒有觸發屬性賦值">
            <a:extLst xmlns:a="http://schemas.openxmlformats.org/drawingml/2006/main">
              <a:ext uri="{FF2B5EF4-FFF2-40B4-BE49-F238E27FC236}">
                <a16:creationId xmlns:a16="http://schemas.microsoft.com/office/drawing/2014/main" id="{9C404DEB-3EF5-4FD3-B5B8-0AAED65B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沒有觸發屬性賦值</a:t>
            </a:r>
          </a:p>
        </p:txBody>
      </p:sp>
      <p:sp>
        <p:nvSpPr>
          <p:cNvPr id="16" name="n.notes 先回傳 list， append 修改這個 list。">
            <a:extLst xmlns:a="http://schemas.openxmlformats.org/drawingml/2006/main">
              <a:ext uri="{FF2B5EF4-FFF2-40B4-BE49-F238E27FC236}">
                <a16:creationId xmlns:a16="http://schemas.microsoft.com/office/drawing/2014/main" id="{44286377-87FB-4E60-811D-F2EB8AC9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n.notes 先回傳 list，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append 修改這個 list。</a:t>
            </a:r>
          </a:p>
        </p:txBody>
      </p:sp>
      <p:sp>
        <p:nvSpPr>
          <p:cNvPr id="17" name="唯讀不等於內容不可變">
            <a:extLst xmlns:a="http://schemas.openxmlformats.org/drawingml/2006/main">
              <a:ext uri="{FF2B5EF4-FFF2-40B4-BE49-F238E27FC236}">
                <a16:creationId xmlns:a16="http://schemas.microsoft.com/office/drawing/2014/main" id="{7E508822-8816-48BB-867E-8A1F83F0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唯讀不等於內容不可變</a:t>
            </a:r>
          </a:p>
        </p:txBody>
      </p:sp>
      <p:sp>
        <p:nvSpPr>
          <p:cNvPr id="18" name="getter 回傳的物件 也需要檢查共享關係。">
            <a:extLst xmlns:a="http://schemas.openxmlformats.org/drawingml/2006/main">
              <a:ext uri="{FF2B5EF4-FFF2-40B4-BE49-F238E27FC236}">
                <a16:creationId xmlns:a16="http://schemas.microsoft.com/office/drawing/2014/main" id="{3AC50F8F-475B-4306-9950-EB43E79E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getter 回傳的物件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也需要檢查共享關係。</a:t>
            </a:r>
          </a:p>
        </p:txBody>
      </p:sp>
      <p:sp>
        <p:nvSpPr>
          <p:cNvPr id="19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02313977-ABF8-4BDE-B895-2ABE7CCD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0" name="['external change']">
            <a:extLst xmlns:a="http://schemas.openxmlformats.org/drawingml/2006/main">
              <a:ext uri="{FF2B5EF4-FFF2-40B4-BE49-F238E27FC236}">
                <a16:creationId xmlns:a16="http://schemas.microsoft.com/office/drawing/2014/main" id="{003F864C-B83E-4D73-9116-7BB10C21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['external change']</a:t>
            </a:r>
          </a:p>
        </p:txBody>
      </p:sp>
    </p:spTree>
    <p:extLst>
      <p:ext uri="{BB962C8B-B14F-4D97-AF65-F5344CB8AC3E}">
        <p14:creationId xmlns:p14="http://schemas.microsoft.com/office/powerpoint/2010/main" val="37060653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計算屬性由現有狀態推導">
            <a:extLst xmlns:a="http://schemas.openxmlformats.org/drawingml/2006/main">
              <a:ext uri="{FF2B5EF4-FFF2-40B4-BE49-F238E27FC236}">
                <a16:creationId xmlns:a16="http://schemas.microsoft.com/office/drawing/2014/main" id="{93B4BE7A-F996-43AE-ADC8-D02FDF0E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計算屬性由現有狀態推導</a:t>
            </a:r>
          </a:p>
        </p:txBody>
      </p:sp>
      <p:sp>
        <p:nvSpPr>
          <p:cNvPr id="2" name="唯讀介面">
            <a:extLst xmlns:a="http://schemas.openxmlformats.org/drawingml/2006/main">
              <a:ext uri="{FF2B5EF4-FFF2-40B4-BE49-F238E27FC236}">
                <a16:creationId xmlns:a16="http://schemas.microsoft.com/office/drawing/2014/main" id="{FF63E6D8-A482-41CB-9A2B-7D64105D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唯讀介面</a:t>
            </a:r>
          </a:p>
        </p:txBody>
      </p:sp>
      <p:sp>
        <p:nvSpPr>
          <p:cNvPr id="3" name="19">
            <a:extLst xmlns:a="http://schemas.openxmlformats.org/drawingml/2006/main">
              <a:ext uri="{FF2B5EF4-FFF2-40B4-BE49-F238E27FC236}">
                <a16:creationId xmlns:a16="http://schemas.microsoft.com/office/drawing/2014/main" id="{C0D344C6-3C44-47FC-98F8-43254540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4" name="class Rectangle:">
            <a:extLst xmlns:a="http://schemas.openxmlformats.org/drawingml/2006/main">
              <a:ext uri="{FF2B5EF4-FFF2-40B4-BE49-F238E27FC236}">
                <a16:creationId xmlns:a16="http://schemas.microsoft.com/office/drawing/2014/main" id="{A2B151F9-E0CC-43A9-91F0-0B5F736D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Rectangle:</a:t>
            </a:r>
          </a:p>
        </p:txBody>
      </p:sp>
      <p:sp>
        <p:nvSpPr>
          <p:cNvPr id="5" name="    def __init__(self, width, height):">
            <a:extLst xmlns:a="http://schemas.openxmlformats.org/drawingml/2006/main">
              <a:ext uri="{FF2B5EF4-FFF2-40B4-BE49-F238E27FC236}">
                <a16:creationId xmlns:a16="http://schemas.microsoft.com/office/drawing/2014/main" id="{71155044-A679-458D-9C5E-2C918153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4429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__init__(self, width, height):</a:t>
            </a:r>
          </a:p>
        </p:txBody>
      </p:sp>
      <p:sp>
        <p:nvSpPr>
          <p:cNvPr id="6" name="        self.width = width">
            <a:extLst xmlns:a="http://schemas.openxmlformats.org/drawingml/2006/main">
              <a:ext uri="{FF2B5EF4-FFF2-40B4-BE49-F238E27FC236}">
                <a16:creationId xmlns:a16="http://schemas.microsoft.com/office/drawing/2014/main" id="{50ABB87E-4EFC-4A18-8F42-F2F18E18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783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self.width = width</a:t>
            </a:r>
          </a:p>
        </p:txBody>
      </p:sp>
      <p:sp>
        <p:nvSpPr>
          <p:cNvPr id="7" name="        self.height = height">
            <a:extLst xmlns:a="http://schemas.openxmlformats.org/drawingml/2006/main">
              <a:ext uri="{FF2B5EF4-FFF2-40B4-BE49-F238E27FC236}">
                <a16:creationId xmlns:a16="http://schemas.microsoft.com/office/drawing/2014/main" id="{6CCF03D8-7FD8-4F2A-A5DB-13B1A28A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87137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self.height = height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0DCD84-F7DB-43B4-B37B-175B3700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8490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    @property">
            <a:extLst xmlns:a="http://schemas.openxmlformats.org/drawingml/2006/main">
              <a:ext uri="{FF2B5EF4-FFF2-40B4-BE49-F238E27FC236}">
                <a16:creationId xmlns:a16="http://schemas.microsoft.com/office/drawing/2014/main" id="{2339C891-DCCC-425A-AFCD-0464DEEB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9844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@property</a:t>
            </a:r>
          </a:p>
        </p:txBody>
      </p:sp>
      <p:sp>
        <p:nvSpPr>
          <p:cNvPr id="10" name="    def area(self):">
            <a:extLst xmlns:a="http://schemas.openxmlformats.org/drawingml/2006/main">
              <a:ext uri="{FF2B5EF4-FFF2-40B4-BE49-F238E27FC236}">
                <a16:creationId xmlns:a16="http://schemas.microsoft.com/office/drawing/2014/main" id="{80BC08C6-7DFC-4A9D-974D-C2F33D91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1198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area(self):</a:t>
            </a:r>
          </a:p>
        </p:txBody>
      </p:sp>
      <p:sp>
        <p:nvSpPr>
          <p:cNvPr id="11" name="        return self.width * self.height">
            <a:extLst xmlns:a="http://schemas.openxmlformats.org/drawingml/2006/main">
              <a:ext uri="{FF2B5EF4-FFF2-40B4-BE49-F238E27FC236}">
                <a16:creationId xmlns:a16="http://schemas.microsoft.com/office/drawing/2014/main" id="{320D2974-A309-4D8D-B757-B136DD20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2552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return self.width * self.height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AD26A7-5855-46D5-8953-52FCC187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3906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r = Rectangle(3, 4)">
            <a:extLst xmlns:a="http://schemas.openxmlformats.org/drawingml/2006/main">
              <a:ext uri="{FF2B5EF4-FFF2-40B4-BE49-F238E27FC236}">
                <a16:creationId xmlns:a16="http://schemas.microsoft.com/office/drawing/2014/main" id="{D29133B0-37AF-42F4-AB61-AA74CD16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5260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r = Rectangle(3, 4)</a:t>
            </a:r>
          </a:p>
        </p:txBody>
      </p:sp>
      <p:sp>
        <p:nvSpPr>
          <p:cNvPr id="14" name="print(r.area)">
            <a:extLst xmlns:a="http://schemas.openxmlformats.org/drawingml/2006/main">
              <a:ext uri="{FF2B5EF4-FFF2-40B4-BE49-F238E27FC236}">
                <a16:creationId xmlns:a16="http://schemas.microsoft.com/office/drawing/2014/main" id="{968A5D1C-BE01-4CB0-9339-46F670ED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6613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print(r.area)</a:t>
            </a:r>
          </a:p>
        </p:txBody>
      </p:sp>
      <p:sp>
        <p:nvSpPr>
          <p:cNvPr id="15" name="r.width = 5">
            <a:extLst xmlns:a="http://schemas.openxmlformats.org/drawingml/2006/main">
              <a:ext uri="{FF2B5EF4-FFF2-40B4-BE49-F238E27FC236}">
                <a16:creationId xmlns:a16="http://schemas.microsoft.com/office/drawing/2014/main" id="{9843343F-E770-47FE-BF96-FD9CD06F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7967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r.width = 5</a:t>
            </a:r>
          </a:p>
        </p:txBody>
      </p:sp>
      <p:sp>
        <p:nvSpPr>
          <p:cNvPr id="16" name="print(r.area)">
            <a:extLst xmlns:a="http://schemas.openxmlformats.org/drawingml/2006/main">
              <a:ext uri="{FF2B5EF4-FFF2-40B4-BE49-F238E27FC236}">
                <a16:creationId xmlns:a16="http://schemas.microsoft.com/office/drawing/2014/main" id="{3B23122B-4FBB-4171-B3B0-DFBD8F92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9321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print(r.area)</a:t>
            </a:r>
          </a:p>
        </p:txBody>
      </p:sp>
      <p:sp>
        <p:nvSpPr>
          <p:cNvPr id="17" name="area 每次讀取時計算">
            <a:extLst xmlns:a="http://schemas.openxmlformats.org/drawingml/2006/main">
              <a:ext uri="{FF2B5EF4-FFF2-40B4-BE49-F238E27FC236}">
                <a16:creationId xmlns:a16="http://schemas.microsoft.com/office/drawing/2014/main" id="{8CDD790F-031B-4C15-84C6-E981CC04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area 每次讀取時計算</a:t>
            </a:r>
          </a:p>
        </p:txBody>
      </p:sp>
      <p:sp>
        <p:nvSpPr>
          <p:cNvPr id="18" name="不另外儲存 _area， 避免兩份資料不同步。">
            <a:extLst xmlns:a="http://schemas.openxmlformats.org/drawingml/2006/main">
              <a:ext uri="{FF2B5EF4-FFF2-40B4-BE49-F238E27FC236}">
                <a16:creationId xmlns:a16="http://schemas.microsoft.com/office/drawing/2014/main" id="{373DD3E8-4FE6-49F7-A585-804DCA99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不另外儲存 _area，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避免兩份資料不同步。</a:t>
            </a:r>
          </a:p>
        </p:txBody>
      </p:sp>
      <p:sp>
        <p:nvSpPr>
          <p:cNvPr id="19" name="驗證範圍另行設計">
            <a:extLst xmlns:a="http://schemas.openxmlformats.org/drawingml/2006/main">
              <a:ext uri="{FF2B5EF4-FFF2-40B4-BE49-F238E27FC236}">
                <a16:creationId xmlns:a16="http://schemas.microsoft.com/office/drawing/2014/main" id="{4AD408B8-3AE2-4C92-B8AA-6CBDA816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驗證範圍另行設計</a:t>
            </a:r>
          </a:p>
        </p:txBody>
      </p:sp>
      <p:sp>
        <p:nvSpPr>
          <p:cNvPr id="20" name="此例只展示計算屬性， 未加入長寬的合法性檢查。">
            <a:extLst xmlns:a="http://schemas.openxmlformats.org/drawingml/2006/main">
              <a:ext uri="{FF2B5EF4-FFF2-40B4-BE49-F238E27FC236}">
                <a16:creationId xmlns:a16="http://schemas.microsoft.com/office/drawing/2014/main" id="{EFB1A115-6774-4E32-B783-C41D0612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此例只展示計算屬性，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未加入長寬的合法性檢查。</a:t>
            </a:r>
          </a:p>
        </p:txBody>
      </p:sp>
      <p:sp>
        <p:nvSpPr>
          <p:cNvPr id="21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128913E1-2D01-4E68-97AA-F21F9F0A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2" name="12    20">
            <a:extLst xmlns:a="http://schemas.openxmlformats.org/drawingml/2006/main">
              <a:ext uri="{FF2B5EF4-FFF2-40B4-BE49-F238E27FC236}">
                <a16:creationId xmlns:a16="http://schemas.microsoft.com/office/drawing/2014/main" id="{01F6D317-33CD-42A5-B659-F24344B6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12    20</a:t>
            </a:r>
          </a:p>
        </p:txBody>
      </p:sp>
    </p:spTree>
    <p:extLst>
      <p:ext uri="{BB962C8B-B14F-4D97-AF65-F5344CB8AC3E}">
        <p14:creationId xmlns:p14="http://schemas.microsoft.com/office/powerpoint/2010/main" val="159752026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普通屬性、property 與方法">
            <a:extLst xmlns:a="http://schemas.openxmlformats.org/drawingml/2006/main">
              <a:ext uri="{FF2B5EF4-FFF2-40B4-BE49-F238E27FC236}">
                <a16:creationId xmlns:a16="http://schemas.microsoft.com/office/drawing/2014/main" id="{093A83CF-6D31-46AE-B9CA-F3B5D972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普通屬性、property 與方法</a:t>
            </a:r>
          </a:p>
        </p:txBody>
      </p:sp>
      <p:sp>
        <p:nvSpPr>
          <p:cNvPr id="2" name="介面設計">
            <a:extLst xmlns:a="http://schemas.openxmlformats.org/drawingml/2006/main">
              <a:ext uri="{FF2B5EF4-FFF2-40B4-BE49-F238E27FC236}">
                <a16:creationId xmlns:a16="http://schemas.microsoft.com/office/drawing/2014/main" id="{1F0D76DC-0D9D-4927-9A93-A0FEA96B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介面設計</a:t>
            </a:r>
          </a:p>
        </p:txBody>
      </p:sp>
      <p:sp>
        <p:nvSpPr>
          <p:cNvPr id="3" name="20">
            <a:extLst xmlns:a="http://schemas.openxmlformats.org/drawingml/2006/main">
              <a:ext uri="{FF2B5EF4-FFF2-40B4-BE49-F238E27FC236}">
                <a16:creationId xmlns:a16="http://schemas.microsoft.com/office/drawing/2014/main" id="{D0A56C56-9A97-4B66-BDCD-14BBFD6B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524375"/>
                <a:gridCol w="2857500"/>
                <a:gridCol w="3590925"/>
              </a:tblGrid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需求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適合的介面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例子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單純資料，沒有額外規則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普通公開屬性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student.nickname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自然的讀取或受控賦值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property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product.price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明確業務操作與副作用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方法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account.withdraw(50)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昂貴運算或外部 I/O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名稱清楚的方法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report.generate()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  <p:sp>
        <p:nvSpPr>
          <p:cNvPr id="5" name="介面的形式要反映使用者預期，不必為每個欄位建立 setter。">
            <a:extLst xmlns:a="http://schemas.openxmlformats.org/drawingml/2006/main">
              <a:ext uri="{FF2B5EF4-FFF2-40B4-BE49-F238E27FC236}">
                <a16:creationId xmlns:a16="http://schemas.microsoft.com/office/drawing/2014/main" id="{C3AC75D0-74EE-4F3C-8958-33CBD900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0275"/>
            <a:ext cx="10706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介面的形式要反映使用者預期，不必為每個欄位建立 setter。</a:t>
            </a:r>
          </a:p>
        </p:txBody>
      </p:sp>
    </p:spTree>
    <p:extLst>
      <p:ext uri="{BB962C8B-B14F-4D97-AF65-F5344CB8AC3E}">
        <p14:creationId xmlns:p14="http://schemas.microsoft.com/office/powerpoint/2010/main" val="94872905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ankAccount 的公開介面">
            <a:extLst xmlns:a="http://schemas.openxmlformats.org/drawingml/2006/main">
              <a:ext uri="{FF2B5EF4-FFF2-40B4-BE49-F238E27FC236}">
                <a16:creationId xmlns:a16="http://schemas.microsoft.com/office/drawing/2014/main" id="{82228CC4-80B4-41A9-8622-D23DE425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BankAccount 的公開介面</a:t>
            </a:r>
          </a:p>
        </p:txBody>
      </p:sp>
      <p:sp>
        <p:nvSpPr>
          <p:cNvPr id="2" name="方法維持狀態">
            <a:extLst xmlns:a="http://schemas.openxmlformats.org/drawingml/2006/main">
              <a:ext uri="{FF2B5EF4-FFF2-40B4-BE49-F238E27FC236}">
                <a16:creationId xmlns:a16="http://schemas.microsoft.com/office/drawing/2014/main" id="{635F06CB-5640-4854-AA99-EC95B0EF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方法維持狀態</a:t>
            </a:r>
          </a:p>
        </p:txBody>
      </p:sp>
      <p:sp>
        <p:nvSpPr>
          <p:cNvPr id="3" name="21">
            <a:extLst xmlns:a="http://schemas.openxmlformats.org/drawingml/2006/main">
              <a:ext uri="{FF2B5EF4-FFF2-40B4-BE49-F238E27FC236}">
                <a16:creationId xmlns:a16="http://schemas.microsoft.com/office/drawing/2014/main" id="{12B7E963-5B8F-4597-B2B0-2DC6DDD0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4" name="唯讀查詢">
            <a:extLst xmlns:a="http://schemas.openxmlformats.org/drawingml/2006/main">
              <a:ext uri="{FF2B5EF4-FFF2-40B4-BE49-F238E27FC236}">
                <a16:creationId xmlns:a16="http://schemas.microsoft.com/office/drawing/2014/main" id="{BBE808C1-1C3A-4CA4-BC70-838F4D90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1450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唯讀查詢</a:t>
            </a:r>
          </a:p>
        </p:txBody>
      </p:sp>
      <p:sp>
        <p:nvSpPr>
          <p:cNvPr id="5" name="account_number、balance、transactions">
            <a:extLst xmlns:a="http://schemas.openxmlformats.org/drawingml/2006/main">
              <a:ext uri="{FF2B5EF4-FFF2-40B4-BE49-F238E27FC236}">
                <a16:creationId xmlns:a16="http://schemas.microsoft.com/office/drawing/2014/main" id="{A02E6E60-B600-4867-A5F3-890306FF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743075"/>
            <a:ext cx="7858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account_number、balance、transactions</a:t>
            </a:r>
          </a:p>
        </p:txBody>
      </p:sp>
      <p:sp>
        <p:nvSpPr>
          <p:cNvPr id="6" name="存款">
            <a:extLst xmlns:a="http://schemas.openxmlformats.org/drawingml/2006/main">
              <a:ext uri="{FF2B5EF4-FFF2-40B4-BE49-F238E27FC236}">
                <a16:creationId xmlns:a16="http://schemas.microsoft.com/office/drawing/2014/main" id="{4D2B43B8-DC7D-4A17-9B4E-F3E9F0B0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05075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存款</a:t>
            </a:r>
          </a:p>
        </p:txBody>
      </p:sp>
      <p:sp>
        <p:nvSpPr>
          <p:cNvPr id="7" name="deposit(amount) 驗證後增加餘額">
            <a:extLst xmlns:a="http://schemas.openxmlformats.org/drawingml/2006/main">
              <a:ext uri="{FF2B5EF4-FFF2-40B4-BE49-F238E27FC236}">
                <a16:creationId xmlns:a16="http://schemas.microsoft.com/office/drawing/2014/main" id="{428E6FC9-0CBE-4D38-813C-D7932F85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533650"/>
            <a:ext cx="7858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deposit(amount) 驗證後增加餘額</a:t>
            </a:r>
          </a:p>
        </p:txBody>
      </p:sp>
      <p:sp>
        <p:nvSpPr>
          <p:cNvPr id="8" name="提款">
            <a:extLst xmlns:a="http://schemas.openxmlformats.org/drawingml/2006/main">
              <a:ext uri="{FF2B5EF4-FFF2-40B4-BE49-F238E27FC236}">
                <a16:creationId xmlns:a16="http://schemas.microsoft.com/office/drawing/2014/main" id="{C4CC5741-C61B-4638-8575-C8E3A8FB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9565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提款</a:t>
            </a:r>
          </a:p>
        </p:txBody>
      </p:sp>
      <p:sp>
        <p:nvSpPr>
          <p:cNvPr id="9" name="withdraw(amount) 檢查餘額並扣款">
            <a:extLst xmlns:a="http://schemas.openxmlformats.org/drawingml/2006/main">
              <a:ext uri="{FF2B5EF4-FFF2-40B4-BE49-F238E27FC236}">
                <a16:creationId xmlns:a16="http://schemas.microsoft.com/office/drawing/2014/main" id="{5371B3C8-243B-424A-B772-3BC49CCA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324225"/>
            <a:ext cx="7858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withdraw(amount) 檢查餘額並扣款</a:t>
            </a:r>
          </a:p>
        </p:txBody>
      </p:sp>
      <p:sp>
        <p:nvSpPr>
          <p:cNvPr id="10" name="內部資料">
            <a:extLst xmlns:a="http://schemas.openxmlformats.org/drawingml/2006/main">
              <a:ext uri="{FF2B5EF4-FFF2-40B4-BE49-F238E27FC236}">
                <a16:creationId xmlns:a16="http://schemas.microsoft.com/office/drawing/2014/main" id="{83F7A09B-823C-4B92-8A13-20190FC3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86225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內部資料</a:t>
            </a:r>
          </a:p>
        </p:txBody>
      </p:sp>
      <p:sp>
        <p:nvSpPr>
          <p:cNvPr id="11" name="_balance 與 _transactions 由方法管理">
            <a:extLst xmlns:a="http://schemas.openxmlformats.org/drawingml/2006/main">
              <a:ext uri="{FF2B5EF4-FFF2-40B4-BE49-F238E27FC236}">
                <a16:creationId xmlns:a16="http://schemas.microsoft.com/office/drawing/2014/main" id="{43BB734A-56E9-407E-A33F-938105ED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114800"/>
            <a:ext cx="7858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_balance 與 _transactions 由方法管理</a:t>
            </a:r>
          </a:p>
        </p:txBody>
      </p:sp>
      <p:sp>
        <p:nvSpPr>
          <p:cNvPr id="12" name="示例採整數單位，不處理利息、貨幣換算或並行交易。">
            <a:extLst xmlns:a="http://schemas.openxmlformats.org/drawingml/2006/main">
              <a:ext uri="{FF2B5EF4-FFF2-40B4-BE49-F238E27FC236}">
                <a16:creationId xmlns:a16="http://schemas.microsoft.com/office/drawing/2014/main" id="{987E767F-E2A1-4DB6-80AC-175260FF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991225"/>
            <a:ext cx="1076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示例採整數單位，不處理利息、貨幣換算或並行交易。</a:t>
            </a:r>
          </a:p>
        </p:txBody>
      </p:sp>
    </p:spTree>
    <p:extLst>
      <p:ext uri="{BB962C8B-B14F-4D97-AF65-F5344CB8AC3E}">
        <p14:creationId xmlns:p14="http://schemas.microsoft.com/office/powerpoint/2010/main" val="88020599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帳戶建立時的合法狀態">
            <a:extLst xmlns:a="http://schemas.openxmlformats.org/drawingml/2006/main">
              <a:ext uri="{FF2B5EF4-FFF2-40B4-BE49-F238E27FC236}">
                <a16:creationId xmlns:a16="http://schemas.microsoft.com/office/drawing/2014/main" id="{B8FC378F-3C65-41BE-A808-7D3F4C35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帳戶建立時的合法狀態</a:t>
            </a:r>
          </a:p>
        </p:txBody>
      </p:sp>
      <p:sp>
        <p:nvSpPr>
          <p:cNvPr id="2" name="方法維持狀態">
            <a:extLst xmlns:a="http://schemas.openxmlformats.org/drawingml/2006/main">
              <a:ext uri="{FF2B5EF4-FFF2-40B4-BE49-F238E27FC236}">
                <a16:creationId xmlns:a16="http://schemas.microsoft.com/office/drawing/2014/main" id="{0F59A3F1-B223-4D3C-9A5F-E90992A7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方法維持狀態</a:t>
            </a:r>
          </a:p>
        </p:txBody>
      </p:sp>
      <p:sp>
        <p:nvSpPr>
          <p:cNvPr id="3" name="22">
            <a:extLst xmlns:a="http://schemas.openxmlformats.org/drawingml/2006/main">
              <a:ext uri="{FF2B5EF4-FFF2-40B4-BE49-F238E27FC236}">
                <a16:creationId xmlns:a16="http://schemas.microsoft.com/office/drawing/2014/main" id="{1C90E48A-5D7B-4A7E-9A35-E331D182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4" name="# Inside BankAccount.__init__">
            <a:extLst xmlns:a="http://schemas.openxmlformats.org/drawingml/2006/main">
              <a:ext uri="{FF2B5EF4-FFF2-40B4-BE49-F238E27FC236}">
                <a16:creationId xmlns:a16="http://schemas.microsoft.com/office/drawing/2014/main" id="{6F70B882-0CB0-4562-B96E-F3EA9011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A9BDC7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9BDC7"/>
                </a:solidFill>
                <a:latin typeface="Consolas"/>
                <a:ea typeface="Consolas"/>
                <a:cs typeface="Consolas"/>
              </a:rPr>
              <a:t># Inside BankAccount.__init__</a:t>
            </a:r>
          </a:p>
        </p:txBody>
      </p:sp>
      <p:sp>
        <p:nvSpPr>
          <p:cNvPr id="5" name="if type(balance) is not int:">
            <a:extLst xmlns:a="http://schemas.openxmlformats.org/drawingml/2006/main">
              <a:ext uri="{FF2B5EF4-FFF2-40B4-BE49-F238E27FC236}">
                <a16:creationId xmlns:a16="http://schemas.microsoft.com/office/drawing/2014/main" id="{13602398-541A-4B19-89EF-E5BD7777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if type(balance) is not int:</a:t>
            </a:r>
          </a:p>
        </p:txBody>
      </p:sp>
      <p:sp>
        <p:nvSpPr>
          <p:cNvPr id="6" name="    raise TypeError(&quot;balance must be int&quot;)">
            <a:extLst xmlns:a="http://schemas.openxmlformats.org/drawingml/2006/main">
              <a:ext uri="{FF2B5EF4-FFF2-40B4-BE49-F238E27FC236}">
                <a16:creationId xmlns:a16="http://schemas.microsoft.com/office/drawing/2014/main" id="{78278766-8A71-4EC3-A928-6578F06B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raise TypeError("balance must be int")</a:t>
            </a:r>
          </a:p>
        </p:txBody>
      </p:sp>
      <p:sp>
        <p:nvSpPr>
          <p:cNvPr id="7" name="if balance &lt; 0:">
            <a:extLst xmlns:a="http://schemas.openxmlformats.org/drawingml/2006/main">
              <a:ext uri="{FF2B5EF4-FFF2-40B4-BE49-F238E27FC236}">
                <a16:creationId xmlns:a16="http://schemas.microsoft.com/office/drawing/2014/main" id="{94AED1E9-6B71-4870-A001-323F702F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if balance &lt; 0:</a:t>
            </a:r>
          </a:p>
        </p:txBody>
      </p:sp>
      <p:sp>
        <p:nvSpPr>
          <p:cNvPr id="8" name="    raise ValueError(&quot;negative balance&quot;)">
            <a:extLst xmlns:a="http://schemas.openxmlformats.org/drawingml/2006/main">
              <a:ext uri="{FF2B5EF4-FFF2-40B4-BE49-F238E27FC236}">
                <a16:creationId xmlns:a16="http://schemas.microsoft.com/office/drawing/2014/main" id="{7A85A1CC-8E90-4CDC-B43D-54952287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raise ValueError("negative balance")</a:t>
            </a:r>
          </a:p>
        </p:txBody>
      </p:sp>
      <p:sp>
        <p:nvSpPr>
          <p:cNvPr id="9" name="self._balance = balance">
            <a:extLst xmlns:a="http://schemas.openxmlformats.org/drawingml/2006/main">
              <a:ext uri="{FF2B5EF4-FFF2-40B4-BE49-F238E27FC236}">
                <a16:creationId xmlns:a16="http://schemas.microsoft.com/office/drawing/2014/main" id="{48C9DB47-2F73-40AC-8131-4563531D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self._balance = balance</a:t>
            </a:r>
          </a:p>
        </p:txBody>
      </p:sp>
      <p:sp>
        <p:nvSpPr>
          <p:cNvPr id="10" name="self._transactions = []">
            <a:extLst xmlns:a="http://schemas.openxmlformats.org/drawingml/2006/main">
              <a:ext uri="{FF2B5EF4-FFF2-40B4-BE49-F238E27FC236}">
                <a16:creationId xmlns:a16="http://schemas.microsoft.com/office/drawing/2014/main" id="{176A454B-A22F-4C4F-A8BE-BBE87A62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self._transactions = []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82F430-B929-47C5-A235-43B07627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# Property inside BankAccount">
            <a:extLst xmlns:a="http://schemas.openxmlformats.org/drawingml/2006/main">
              <a:ext uri="{FF2B5EF4-FFF2-40B4-BE49-F238E27FC236}">
                <a16:creationId xmlns:a16="http://schemas.microsoft.com/office/drawing/2014/main" id="{1C690893-30AA-4F0D-B8A6-F2A507BB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A9BDC7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9BDC7"/>
                </a:solidFill>
                <a:latin typeface="Consolas"/>
                <a:ea typeface="Consolas"/>
                <a:cs typeface="Consolas"/>
              </a:rPr>
              <a:t># Property inside BankAccount</a:t>
            </a:r>
          </a:p>
        </p:txBody>
      </p:sp>
      <p:sp>
        <p:nvSpPr>
          <p:cNvPr id="13" name="@property">
            <a:extLst xmlns:a="http://schemas.openxmlformats.org/drawingml/2006/main">
              <a:ext uri="{FF2B5EF4-FFF2-40B4-BE49-F238E27FC236}">
                <a16:creationId xmlns:a16="http://schemas.microsoft.com/office/drawing/2014/main" id="{A5258775-F56A-4C21-9B18-FAC24503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@property</a:t>
            </a:r>
          </a:p>
        </p:txBody>
      </p:sp>
      <p:sp>
        <p:nvSpPr>
          <p:cNvPr id="14" name="def balance(self):">
            <a:extLst xmlns:a="http://schemas.openxmlformats.org/drawingml/2006/main">
              <a:ext uri="{FF2B5EF4-FFF2-40B4-BE49-F238E27FC236}">
                <a16:creationId xmlns:a16="http://schemas.microsoft.com/office/drawing/2014/main" id="{C86A9D42-5990-4D99-AB93-4083A843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def balance(self):</a:t>
            </a:r>
          </a:p>
        </p:txBody>
      </p:sp>
      <p:sp>
        <p:nvSpPr>
          <p:cNvPr id="15" name="    return self._balance">
            <a:extLst xmlns:a="http://schemas.openxmlformats.org/drawingml/2006/main">
              <a:ext uri="{FF2B5EF4-FFF2-40B4-BE49-F238E27FC236}">
                <a16:creationId xmlns:a16="http://schemas.microsoft.com/office/drawing/2014/main" id="{0C2AF44A-EC30-4E04-A507-D80648EF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return self._balance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7C40A1-53F7-4B47-902B-5A0794F0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6275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a = BankAccount(&quot;A001&quot;, 100)">
            <a:extLst xmlns:a="http://schemas.openxmlformats.org/drawingml/2006/main">
              <a:ext uri="{FF2B5EF4-FFF2-40B4-BE49-F238E27FC236}">
                <a16:creationId xmlns:a16="http://schemas.microsoft.com/office/drawing/2014/main" id="{0A7858EA-C20A-4DF7-9F58-7B689A60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 = BankAccount("A001", 100)</a:t>
            </a:r>
          </a:p>
        </p:txBody>
      </p:sp>
      <p:sp>
        <p:nvSpPr>
          <p:cNvPr id="18" name="print(a.balance)">
            <a:extLst xmlns:a="http://schemas.openxmlformats.org/drawingml/2006/main">
              <a:ext uri="{FF2B5EF4-FFF2-40B4-BE49-F238E27FC236}">
                <a16:creationId xmlns:a16="http://schemas.microsoft.com/office/drawing/2014/main" id="{0645A75B-C314-4A88-B58C-7B2A344A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print(a.balance)</a:t>
            </a:r>
          </a:p>
        </p:txBody>
      </p:sp>
      <p:sp>
        <p:nvSpPr>
          <p:cNvPr id="19" name="print(a.transactions)">
            <a:extLst xmlns:a="http://schemas.openxmlformats.org/drawingml/2006/main">
              <a:ext uri="{FF2B5EF4-FFF2-40B4-BE49-F238E27FC236}">
                <a16:creationId xmlns:a16="http://schemas.microsoft.com/office/drawing/2014/main" id="{ECD8B6D9-4306-49A1-9EAD-9517A66E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print(a.transactions)</a:t>
            </a:r>
          </a:p>
        </p:txBody>
      </p:sp>
      <p:sp>
        <p:nvSpPr>
          <p:cNvPr id="20" name="餘額採整數單位">
            <a:extLst xmlns:a="http://schemas.openxmlformats.org/drawingml/2006/main">
              <a:ext uri="{FF2B5EF4-FFF2-40B4-BE49-F238E27FC236}">
                <a16:creationId xmlns:a16="http://schemas.microsoft.com/office/drawing/2014/main" id="{DE91EE2B-C99B-49C4-9404-4014F6EE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餘額採整數單位</a:t>
            </a:r>
          </a:p>
        </p:txBody>
      </p:sp>
      <p:sp>
        <p:nvSpPr>
          <p:cNvPr id="21" name="type(value) is int 同時排除 bool。">
            <a:extLst xmlns:a="http://schemas.openxmlformats.org/drawingml/2006/main">
              <a:ext uri="{FF2B5EF4-FFF2-40B4-BE49-F238E27FC236}">
                <a16:creationId xmlns:a16="http://schemas.microsoft.com/office/drawing/2014/main" id="{5A8FE917-28B3-4E17-A360-07B064F5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type(value) is int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同時排除 bool。</a:t>
            </a:r>
          </a:p>
        </p:txBody>
      </p:sp>
      <p:sp>
        <p:nvSpPr>
          <p:cNvPr id="22" name="先完成必要驗證">
            <a:extLst xmlns:a="http://schemas.openxmlformats.org/drawingml/2006/main">
              <a:ext uri="{FF2B5EF4-FFF2-40B4-BE49-F238E27FC236}">
                <a16:creationId xmlns:a16="http://schemas.microsoft.com/office/drawing/2014/main" id="{95F50D99-B47E-4161-82DB-3759F5AD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先完成必要驗證</a:t>
            </a:r>
          </a:p>
        </p:txBody>
      </p:sp>
      <p:sp>
        <p:nvSpPr>
          <p:cNvPr id="23" name="此頁摘錄餘額初始化。 完整程式也會驗證帳號。">
            <a:extLst xmlns:a="http://schemas.openxmlformats.org/drawingml/2006/main">
              <a:ext uri="{FF2B5EF4-FFF2-40B4-BE49-F238E27FC236}">
                <a16:creationId xmlns:a16="http://schemas.microsoft.com/office/drawing/2014/main" id="{42303B1A-0BA9-4957-9174-2E74DC9F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此頁摘錄餘額初始化。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完整程式也會驗證帳號。</a:t>
            </a:r>
          </a:p>
        </p:txBody>
      </p:sp>
      <p:sp>
        <p:nvSpPr>
          <p:cNvPr id="24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12A1EFB4-03AB-4817-B078-4BAFB6E4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5" name="100    ()">
            <a:extLst xmlns:a="http://schemas.openxmlformats.org/drawingml/2006/main">
              <a:ext uri="{FF2B5EF4-FFF2-40B4-BE49-F238E27FC236}">
                <a16:creationId xmlns:a16="http://schemas.microsoft.com/office/drawing/2014/main" id="{5B081A90-3FD7-4B1A-B474-0391A474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100    ()</a:t>
            </a:r>
          </a:p>
        </p:txBody>
      </p:sp>
    </p:spTree>
    <p:extLst>
      <p:ext uri="{BB962C8B-B14F-4D97-AF65-F5344CB8AC3E}">
        <p14:creationId xmlns:p14="http://schemas.microsoft.com/office/powerpoint/2010/main" val="35313797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存款方法更新餘額與紀錄">
            <a:extLst xmlns:a="http://schemas.openxmlformats.org/drawingml/2006/main">
              <a:ext uri="{FF2B5EF4-FFF2-40B4-BE49-F238E27FC236}">
                <a16:creationId xmlns:a16="http://schemas.microsoft.com/office/drawing/2014/main" id="{325BE396-0367-48C0-9C60-DA53EF2B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存款方法更新餘額與紀錄</a:t>
            </a:r>
          </a:p>
        </p:txBody>
      </p:sp>
      <p:sp>
        <p:nvSpPr>
          <p:cNvPr id="2" name="方法維持狀態">
            <a:extLst xmlns:a="http://schemas.openxmlformats.org/drawingml/2006/main">
              <a:ext uri="{FF2B5EF4-FFF2-40B4-BE49-F238E27FC236}">
                <a16:creationId xmlns:a16="http://schemas.microsoft.com/office/drawing/2014/main" id="{9E9B7547-7EA3-4E69-AE48-AFE8812C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方法維持狀態</a:t>
            </a:r>
          </a:p>
        </p:txBody>
      </p:sp>
      <p:sp>
        <p:nvSpPr>
          <p:cNvPr id="3" name="23">
            <a:extLst xmlns:a="http://schemas.openxmlformats.org/drawingml/2006/main">
              <a:ext uri="{FF2B5EF4-FFF2-40B4-BE49-F238E27FC236}">
                <a16:creationId xmlns:a16="http://schemas.microsoft.com/office/drawing/2014/main" id="{3141AB20-3A9B-4365-A19E-92F6E204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sp>
        <p:nvSpPr>
          <p:cNvPr id="4" name="# Method inside BankAccount">
            <a:extLst xmlns:a="http://schemas.openxmlformats.org/drawingml/2006/main">
              <a:ext uri="{FF2B5EF4-FFF2-40B4-BE49-F238E27FC236}">
                <a16:creationId xmlns:a16="http://schemas.microsoft.com/office/drawing/2014/main" id="{A5606966-D8E3-44E9-895C-38BD6A87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A9BDC7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9BDC7"/>
                </a:solidFill>
                <a:latin typeface="Consolas"/>
                <a:ea typeface="Consolas"/>
                <a:cs typeface="Consolas"/>
              </a:rPr>
              <a:t># Method inside BankAccount</a:t>
            </a:r>
          </a:p>
        </p:txBody>
      </p:sp>
      <p:sp>
        <p:nvSpPr>
          <p:cNvPr id="5" name="def deposit(self, amount):">
            <a:extLst xmlns:a="http://schemas.openxmlformats.org/drawingml/2006/main">
              <a:ext uri="{FF2B5EF4-FFF2-40B4-BE49-F238E27FC236}">
                <a16:creationId xmlns:a16="http://schemas.microsoft.com/office/drawing/2014/main" id="{0ADB0A0C-A274-4D34-AAC0-A0058F5E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def deposit(self, amount):</a:t>
            </a:r>
          </a:p>
        </p:txBody>
      </p:sp>
      <p:sp>
        <p:nvSpPr>
          <p:cNvPr id="6" name="    self._validate_amount(amount)">
            <a:extLst xmlns:a="http://schemas.openxmlformats.org/drawingml/2006/main">
              <a:ext uri="{FF2B5EF4-FFF2-40B4-BE49-F238E27FC236}">
                <a16:creationId xmlns:a16="http://schemas.microsoft.com/office/drawing/2014/main" id="{F7902B8C-3DA8-4F8F-8D89-10D1E56F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self._validate_amount(amount)</a:t>
            </a:r>
          </a:p>
        </p:txBody>
      </p:sp>
      <p:sp>
        <p:nvSpPr>
          <p:cNvPr id="7" name="    self._balance += amount">
            <a:extLst xmlns:a="http://schemas.openxmlformats.org/drawingml/2006/main">
              <a:ext uri="{FF2B5EF4-FFF2-40B4-BE49-F238E27FC236}">
                <a16:creationId xmlns:a16="http://schemas.microsoft.com/office/drawing/2014/main" id="{C229E4A1-7756-4624-885F-E23E6034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self._balance += amount</a:t>
            </a:r>
          </a:p>
        </p:txBody>
      </p:sp>
      <p:sp>
        <p:nvSpPr>
          <p:cNvPr id="8" name="    self._transactions.append((&quot;deposit&quot;, amount))">
            <a:extLst xmlns:a="http://schemas.openxmlformats.org/drawingml/2006/main">
              <a:ext uri="{FF2B5EF4-FFF2-40B4-BE49-F238E27FC236}">
                <a16:creationId xmlns:a16="http://schemas.microsoft.com/office/drawing/2014/main" id="{69443341-78B1-4830-80A1-7E033F1D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self._transactions.append(("deposit", amount))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E9B664-50BB-4825-898E-B2966893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a = BankAccount(&quot;A001&quot;, 100)">
            <a:extLst xmlns:a="http://schemas.openxmlformats.org/drawingml/2006/main">
              <a:ext uri="{FF2B5EF4-FFF2-40B4-BE49-F238E27FC236}">
                <a16:creationId xmlns:a16="http://schemas.microsoft.com/office/drawing/2014/main" id="{F5C0268E-8BB7-4632-9880-910F1FA1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 = BankAccount("A001", 100)</a:t>
            </a:r>
          </a:p>
        </p:txBody>
      </p:sp>
      <p:sp>
        <p:nvSpPr>
          <p:cNvPr id="11" name="a.deposit(20)">
            <a:extLst xmlns:a="http://schemas.openxmlformats.org/drawingml/2006/main">
              <a:ext uri="{FF2B5EF4-FFF2-40B4-BE49-F238E27FC236}">
                <a16:creationId xmlns:a16="http://schemas.microsoft.com/office/drawing/2014/main" id="{79541213-39FF-4544-B900-D1556ADA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a.deposit(20)</a:t>
            </a:r>
          </a:p>
        </p:txBody>
      </p:sp>
      <p:sp>
        <p:nvSpPr>
          <p:cNvPr id="12" name="print(a.balance)">
            <a:extLst xmlns:a="http://schemas.openxmlformats.org/drawingml/2006/main">
              <a:ext uri="{FF2B5EF4-FFF2-40B4-BE49-F238E27FC236}">
                <a16:creationId xmlns:a16="http://schemas.microsoft.com/office/drawing/2014/main" id="{4ECA5821-BE5D-46A2-917D-C664430D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print(a.balance)</a:t>
            </a:r>
          </a:p>
        </p:txBody>
      </p:sp>
      <p:sp>
        <p:nvSpPr>
          <p:cNvPr id="13" name="print(a.transactions)">
            <a:extLst xmlns:a="http://schemas.openxmlformats.org/drawingml/2006/main">
              <a:ext uri="{FF2B5EF4-FFF2-40B4-BE49-F238E27FC236}">
                <a16:creationId xmlns:a16="http://schemas.microsoft.com/office/drawing/2014/main" id="{6704801A-B380-4FE1-A807-74184954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print(a.transactions)</a:t>
            </a:r>
          </a:p>
        </p:txBody>
      </p:sp>
      <p:sp>
        <p:nvSpPr>
          <p:cNvPr id="14" name="共用金額驗證">
            <a:extLst xmlns:a="http://schemas.openxmlformats.org/drawingml/2006/main">
              <a:ext uri="{FF2B5EF4-FFF2-40B4-BE49-F238E27FC236}">
                <a16:creationId xmlns:a16="http://schemas.microsoft.com/office/drawing/2014/main" id="{32A2303F-D5DB-46AA-ACF0-54D9EDAB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共用金額驗證</a:t>
            </a:r>
          </a:p>
        </p:txBody>
      </p:sp>
      <p:sp>
        <p:nvSpPr>
          <p:cNvPr id="15" name="金額必須是正整數， 不接受 0、負數或 bool。">
            <a:extLst xmlns:a="http://schemas.openxmlformats.org/drawingml/2006/main">
              <a:ext uri="{FF2B5EF4-FFF2-40B4-BE49-F238E27FC236}">
                <a16:creationId xmlns:a16="http://schemas.microsoft.com/office/drawing/2014/main" id="{37105075-F0CB-428A-83B8-7B8C3150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金額必須是正整數，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不接受 0、負數或 bool。</a:t>
            </a:r>
          </a:p>
        </p:txBody>
      </p:sp>
      <p:sp>
        <p:nvSpPr>
          <p:cNvPr id="16" name="一次表達完整操作">
            <a:extLst xmlns:a="http://schemas.openxmlformats.org/drawingml/2006/main">
              <a:ext uri="{FF2B5EF4-FFF2-40B4-BE49-F238E27FC236}">
                <a16:creationId xmlns:a16="http://schemas.microsoft.com/office/drawing/2014/main" id="{48EF4FAC-66CB-40F5-9213-7509BA42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一次表達完整操作</a:t>
            </a:r>
          </a:p>
        </p:txBody>
      </p:sp>
      <p:sp>
        <p:nvSpPr>
          <p:cNvPr id="17" name="呼叫端不需要分別 修改餘額和追加紀錄。">
            <a:extLst xmlns:a="http://schemas.openxmlformats.org/drawingml/2006/main">
              <a:ext uri="{FF2B5EF4-FFF2-40B4-BE49-F238E27FC236}">
                <a16:creationId xmlns:a16="http://schemas.microsoft.com/office/drawing/2014/main" id="{F8C18E7B-A66C-4B53-AAAC-E64A068C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呼叫端不需要分別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修改餘額和追加紀錄。</a:t>
            </a:r>
          </a:p>
        </p:txBody>
      </p:sp>
      <p:sp>
        <p:nvSpPr>
          <p:cNvPr id="18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EBF27930-A04C-4BEA-BD85-7D5EC870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19" name="120    (('deposit', 20),)">
            <a:extLst xmlns:a="http://schemas.openxmlformats.org/drawingml/2006/main">
              <a:ext uri="{FF2B5EF4-FFF2-40B4-BE49-F238E27FC236}">
                <a16:creationId xmlns:a16="http://schemas.microsoft.com/office/drawing/2014/main" id="{1CCD6D67-CA7A-4938-8AC9-4D4D15BD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120    (('deposit', 20),)</a:t>
            </a:r>
          </a:p>
        </p:txBody>
      </p:sp>
    </p:spTree>
    <p:extLst>
      <p:ext uri="{BB962C8B-B14F-4D97-AF65-F5344CB8AC3E}">
        <p14:creationId xmlns:p14="http://schemas.microsoft.com/office/powerpoint/2010/main" val="173228685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提款先檢查可用餘額">
            <a:extLst xmlns:a="http://schemas.openxmlformats.org/drawingml/2006/main">
              <a:ext uri="{FF2B5EF4-FFF2-40B4-BE49-F238E27FC236}">
                <a16:creationId xmlns:a16="http://schemas.microsoft.com/office/drawing/2014/main" id="{5FFA7B13-8F63-42BF-A603-3C1F969E2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提款先檢查可用餘額</a:t>
            </a:r>
          </a:p>
        </p:txBody>
      </p:sp>
      <p:sp>
        <p:nvSpPr>
          <p:cNvPr id="2" name="方法維持狀態">
            <a:extLst xmlns:a="http://schemas.openxmlformats.org/drawingml/2006/main">
              <a:ext uri="{FF2B5EF4-FFF2-40B4-BE49-F238E27FC236}">
                <a16:creationId xmlns:a16="http://schemas.microsoft.com/office/drawing/2014/main" id="{2A7338F4-836C-450F-9666-2615D5EA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方法維持狀態</a:t>
            </a:r>
          </a:p>
        </p:txBody>
      </p:sp>
      <p:sp>
        <p:nvSpPr>
          <p:cNvPr id="3" name="24">
            <a:extLst xmlns:a="http://schemas.openxmlformats.org/drawingml/2006/main">
              <a:ext uri="{FF2B5EF4-FFF2-40B4-BE49-F238E27FC236}">
                <a16:creationId xmlns:a16="http://schemas.microsoft.com/office/drawing/2014/main" id="{D97A9F5D-3D2D-4EFE-A6A5-524993F1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  <p:sp>
        <p:nvSpPr>
          <p:cNvPr id="4" name="# Method inside BankAccount">
            <a:extLst xmlns:a="http://schemas.openxmlformats.org/drawingml/2006/main">
              <a:ext uri="{FF2B5EF4-FFF2-40B4-BE49-F238E27FC236}">
                <a16:creationId xmlns:a16="http://schemas.microsoft.com/office/drawing/2014/main" id="{159B6624-301C-45EB-93D3-B148C57B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A9BDC7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9BDC7"/>
                </a:solidFill>
                <a:latin typeface="Consolas"/>
                <a:ea typeface="Consolas"/>
                <a:cs typeface="Consolas"/>
              </a:rPr>
              <a:t># Method inside BankAccount</a:t>
            </a:r>
          </a:p>
        </p:txBody>
      </p:sp>
      <p:sp>
        <p:nvSpPr>
          <p:cNvPr id="5" name="def withdraw(self, amount):">
            <a:extLst xmlns:a="http://schemas.openxmlformats.org/drawingml/2006/main">
              <a:ext uri="{FF2B5EF4-FFF2-40B4-BE49-F238E27FC236}">
                <a16:creationId xmlns:a16="http://schemas.microsoft.com/office/drawing/2014/main" id="{63D9FE81-3378-473A-8AE2-637E752A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def withdraw(self, amount):</a:t>
            </a:r>
          </a:p>
        </p:txBody>
      </p:sp>
      <p:sp>
        <p:nvSpPr>
          <p:cNvPr id="6" name="    self._validate_amount(amount)">
            <a:extLst xmlns:a="http://schemas.openxmlformats.org/drawingml/2006/main">
              <a:ext uri="{FF2B5EF4-FFF2-40B4-BE49-F238E27FC236}">
                <a16:creationId xmlns:a16="http://schemas.microsoft.com/office/drawing/2014/main" id="{154036D4-96FC-4CFC-87C7-7C28794C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self._validate_amount(amount)</a:t>
            </a:r>
          </a:p>
        </p:txBody>
      </p:sp>
      <p:sp>
        <p:nvSpPr>
          <p:cNvPr id="7" name="    if amount &gt; self._balance:">
            <a:extLst xmlns:a="http://schemas.openxmlformats.org/drawingml/2006/main">
              <a:ext uri="{FF2B5EF4-FFF2-40B4-BE49-F238E27FC236}">
                <a16:creationId xmlns:a16="http://schemas.microsoft.com/office/drawing/2014/main" id="{B9398884-D8D7-4971-8F5A-E0CFFA8C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if amount &gt; self._balance:</a:t>
            </a:r>
          </a:p>
        </p:txBody>
      </p:sp>
      <p:sp>
        <p:nvSpPr>
          <p:cNvPr id="8" name="        raise ValueError(&quot;insufficient balance&quot;)">
            <a:extLst xmlns:a="http://schemas.openxmlformats.org/drawingml/2006/main">
              <a:ext uri="{FF2B5EF4-FFF2-40B4-BE49-F238E27FC236}">
                <a16:creationId xmlns:a16="http://schemas.microsoft.com/office/drawing/2014/main" id="{84DD7346-BD7E-48F5-85A2-429C6ECA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raise ValueError("insufficient balance")</a:t>
            </a:r>
          </a:p>
        </p:txBody>
      </p:sp>
      <p:sp>
        <p:nvSpPr>
          <p:cNvPr id="9" name="    self._balance -= amount">
            <a:extLst xmlns:a="http://schemas.openxmlformats.org/drawingml/2006/main">
              <a:ext uri="{FF2B5EF4-FFF2-40B4-BE49-F238E27FC236}">
                <a16:creationId xmlns:a16="http://schemas.microsoft.com/office/drawing/2014/main" id="{57858761-3C04-42A4-BD72-D3530D65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self._balance -= amount</a:t>
            </a:r>
          </a:p>
        </p:txBody>
      </p:sp>
      <p:sp>
        <p:nvSpPr>
          <p:cNvPr id="10" name="    self._transactions.append((&quot;withdraw&quot;, amount))">
            <a:extLst xmlns:a="http://schemas.openxmlformats.org/drawingml/2006/main">
              <a:ext uri="{FF2B5EF4-FFF2-40B4-BE49-F238E27FC236}">
                <a16:creationId xmlns:a16="http://schemas.microsoft.com/office/drawing/2014/main" id="{5F75C3C5-E528-4A5D-A8DF-7137BDA5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self._transactions.append(("withdraw", amount))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514454-2799-4BAC-A0F6-84930849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a = BankAccount(&quot;A001&quot;, 100)">
            <a:extLst xmlns:a="http://schemas.openxmlformats.org/drawingml/2006/main">
              <a:ext uri="{FF2B5EF4-FFF2-40B4-BE49-F238E27FC236}">
                <a16:creationId xmlns:a16="http://schemas.microsoft.com/office/drawing/2014/main" id="{F8E6037F-BB28-470D-A4BB-FD8A6D96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 = BankAccount("A001", 100)</a:t>
            </a:r>
          </a:p>
        </p:txBody>
      </p:sp>
      <p:sp>
        <p:nvSpPr>
          <p:cNvPr id="13" name="a.withdraw(30)">
            <a:extLst xmlns:a="http://schemas.openxmlformats.org/drawingml/2006/main">
              <a:ext uri="{FF2B5EF4-FFF2-40B4-BE49-F238E27FC236}">
                <a16:creationId xmlns:a16="http://schemas.microsoft.com/office/drawing/2014/main" id="{B04022D6-28F1-4A36-ADD9-C00FF921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a.withdraw(30)</a:t>
            </a:r>
          </a:p>
        </p:txBody>
      </p:sp>
      <p:sp>
        <p:nvSpPr>
          <p:cNvPr id="14" name="print(a.balance)">
            <a:extLst xmlns:a="http://schemas.openxmlformats.org/drawingml/2006/main">
              <a:ext uri="{FF2B5EF4-FFF2-40B4-BE49-F238E27FC236}">
                <a16:creationId xmlns:a16="http://schemas.microsoft.com/office/drawing/2014/main" id="{D5EEDB6C-B33D-481B-9BFE-B3948E06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print(a.balance)</a:t>
            </a:r>
          </a:p>
        </p:txBody>
      </p:sp>
      <p:sp>
        <p:nvSpPr>
          <p:cNvPr id="15" name="條件全部通過再修改">
            <a:extLst xmlns:a="http://schemas.openxmlformats.org/drawingml/2006/main">
              <a:ext uri="{FF2B5EF4-FFF2-40B4-BE49-F238E27FC236}">
                <a16:creationId xmlns:a16="http://schemas.microsoft.com/office/drawing/2014/main" id="{3898DE51-D35E-4BF0-8D01-2D9A2D69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條件全部通過再修改</a:t>
            </a:r>
          </a:p>
        </p:txBody>
      </p:sp>
      <p:sp>
        <p:nvSpPr>
          <p:cNvPr id="16" name="先驗證金額， 再檢查是否有足夠餘額。">
            <a:extLst xmlns:a="http://schemas.openxmlformats.org/drawingml/2006/main">
              <a:ext uri="{FF2B5EF4-FFF2-40B4-BE49-F238E27FC236}">
                <a16:creationId xmlns:a16="http://schemas.microsoft.com/office/drawing/2014/main" id="{056BA94A-925E-4E0C-ABD6-A1EB84BB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先驗證金額，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再檢查是否有足夠餘額。</a:t>
            </a:r>
          </a:p>
        </p:txBody>
      </p:sp>
      <p:sp>
        <p:nvSpPr>
          <p:cNvPr id="17" name="公開餘額仍然唯讀">
            <a:extLst xmlns:a="http://schemas.openxmlformats.org/drawingml/2006/main">
              <a:ext uri="{FF2B5EF4-FFF2-40B4-BE49-F238E27FC236}">
                <a16:creationId xmlns:a16="http://schemas.microsoft.com/office/drawing/2014/main" id="{7D31EFBD-0A99-4C54-8567-6A18D0AA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公開餘額仍然唯讀</a:t>
            </a:r>
          </a:p>
        </p:txBody>
      </p:sp>
      <p:sp>
        <p:nvSpPr>
          <p:cNvPr id="18" name="外部可以查詢 a.balance， 修改則使用明確操作。">
            <a:extLst xmlns:a="http://schemas.openxmlformats.org/drawingml/2006/main">
              <a:ext uri="{FF2B5EF4-FFF2-40B4-BE49-F238E27FC236}">
                <a16:creationId xmlns:a16="http://schemas.microsoft.com/office/drawing/2014/main" id="{8D369D28-A512-475D-8F2C-95F1DD04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外部可以查詢 a.balance，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修改則使用明確操作。</a:t>
            </a:r>
          </a:p>
        </p:txBody>
      </p:sp>
      <p:sp>
        <p:nvSpPr>
          <p:cNvPr id="19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8D909469-A2B6-4C59-81C7-8746699A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0" name="70">
            <a:extLst xmlns:a="http://schemas.openxmlformats.org/drawingml/2006/main">
              <a:ext uri="{FF2B5EF4-FFF2-40B4-BE49-F238E27FC236}">
                <a16:creationId xmlns:a16="http://schemas.microsoft.com/office/drawing/2014/main" id="{93EEE1E8-F907-4564-B5E6-E53B17B6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70</a:t>
            </a:r>
          </a:p>
        </p:txBody>
      </p:sp>
    </p:spTree>
    <p:extLst>
      <p:ext uri="{BB962C8B-B14F-4D97-AF65-F5344CB8AC3E}">
        <p14:creationId xmlns:p14="http://schemas.microsoft.com/office/powerpoint/2010/main" val="210212380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拒絕操作後，狀態維持原值">
            <a:extLst xmlns:a="http://schemas.openxmlformats.org/drawingml/2006/main">
              <a:ext uri="{FF2B5EF4-FFF2-40B4-BE49-F238E27FC236}">
                <a16:creationId xmlns:a16="http://schemas.microsoft.com/office/drawing/2014/main" id="{75129D51-8C66-4F78-A64B-A9C029C5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拒絕操作後，狀態維持原值</a:t>
            </a:r>
          </a:p>
        </p:txBody>
      </p:sp>
      <p:sp>
        <p:nvSpPr>
          <p:cNvPr id="2" name="方法維持狀態">
            <a:extLst xmlns:a="http://schemas.openxmlformats.org/drawingml/2006/main">
              <a:ext uri="{FF2B5EF4-FFF2-40B4-BE49-F238E27FC236}">
                <a16:creationId xmlns:a16="http://schemas.microsoft.com/office/drawing/2014/main" id="{AA196F97-EDDF-4A6E-AD69-39D6B4DB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方法維持狀態</a:t>
            </a:r>
          </a:p>
        </p:txBody>
      </p:sp>
      <p:sp>
        <p:nvSpPr>
          <p:cNvPr id="3" name="25">
            <a:extLst xmlns:a="http://schemas.openxmlformats.org/drawingml/2006/main">
              <a:ext uri="{FF2B5EF4-FFF2-40B4-BE49-F238E27FC236}">
                <a16:creationId xmlns:a16="http://schemas.microsoft.com/office/drawing/2014/main" id="{65C3D389-FE74-426A-9804-2116C0B2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  <p:sp>
        <p:nvSpPr>
          <p:cNvPr id="4" name="a = BankAccount(&quot;A001&quot;, 100)">
            <a:extLst xmlns:a="http://schemas.openxmlformats.org/drawingml/2006/main">
              <a:ext uri="{FF2B5EF4-FFF2-40B4-BE49-F238E27FC236}">
                <a16:creationId xmlns:a16="http://schemas.microsoft.com/office/drawing/2014/main" id="{37606A1C-B9FD-4FC8-B851-2157BE1B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a = BankAccount("A001", 100)</a:t>
            </a:r>
          </a:p>
        </p:txBody>
      </p:sp>
      <p:sp>
        <p:nvSpPr>
          <p:cNvPr id="5" name="before = (a.balance, a.transactions)">
            <a:extLst xmlns:a="http://schemas.openxmlformats.org/drawingml/2006/main">
              <a:ext uri="{FF2B5EF4-FFF2-40B4-BE49-F238E27FC236}">
                <a16:creationId xmlns:a16="http://schemas.microsoft.com/office/drawing/2014/main" id="{8AF2E9F1-7A81-4165-9877-AFAEF884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before = (a.balance, a.transactions)</a:t>
            </a:r>
          </a:p>
        </p:txBody>
      </p:sp>
      <p:sp>
        <p:nvSpPr>
          <p:cNvPr id="6" name="try:">
            <a:extLst xmlns:a="http://schemas.openxmlformats.org/drawingml/2006/main">
              <a:ext uri="{FF2B5EF4-FFF2-40B4-BE49-F238E27FC236}">
                <a16:creationId xmlns:a16="http://schemas.microsoft.com/office/drawing/2014/main" id="{5062ED4D-3BC7-4B5D-ABBA-36C25744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try:</a:t>
            </a:r>
          </a:p>
        </p:txBody>
      </p:sp>
      <p:sp>
        <p:nvSpPr>
          <p:cNvPr id="7" name="    a.withdraw(150)">
            <a:extLst xmlns:a="http://schemas.openxmlformats.org/drawingml/2006/main">
              <a:ext uri="{FF2B5EF4-FFF2-40B4-BE49-F238E27FC236}">
                <a16:creationId xmlns:a16="http://schemas.microsoft.com/office/drawing/2014/main" id="{6C493FEF-640A-4880-936B-5D86AC40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a.withdraw(150)</a:t>
            </a:r>
          </a:p>
        </p:txBody>
      </p:sp>
      <p:sp>
        <p:nvSpPr>
          <p:cNvPr id="8" name="except ValueError:">
            <a:extLst xmlns:a="http://schemas.openxmlformats.org/drawingml/2006/main">
              <a:ext uri="{FF2B5EF4-FFF2-40B4-BE49-F238E27FC236}">
                <a16:creationId xmlns:a16="http://schemas.microsoft.com/office/drawing/2014/main" id="{A8B82577-1652-4578-99F1-E3A7F63F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except ValueError:</a:t>
            </a:r>
          </a:p>
        </p:txBody>
      </p:sp>
      <p:sp>
        <p:nvSpPr>
          <p:cNvPr id="9" name="    print(&quot;rejected&quot;)">
            <a:extLst xmlns:a="http://schemas.openxmlformats.org/drawingml/2006/main">
              <a:ext uri="{FF2B5EF4-FFF2-40B4-BE49-F238E27FC236}">
                <a16:creationId xmlns:a16="http://schemas.microsoft.com/office/drawing/2014/main" id="{657D6D73-F5A6-403B-981F-A59D2213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print("rejected")</a:t>
            </a:r>
          </a:p>
        </p:txBody>
      </p:sp>
      <p:sp>
        <p:nvSpPr>
          <p:cNvPr id="10" name="print(a.balance)">
            <a:extLst xmlns:a="http://schemas.openxmlformats.org/drawingml/2006/main">
              <a:ext uri="{FF2B5EF4-FFF2-40B4-BE49-F238E27FC236}">
                <a16:creationId xmlns:a16="http://schemas.microsoft.com/office/drawing/2014/main" id="{CA2D26E9-1A2C-49BA-AE02-8E10C0AF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print(a.balance)</a:t>
            </a:r>
          </a:p>
        </p:txBody>
      </p:sp>
      <p:sp>
        <p:nvSpPr>
          <p:cNvPr id="11" name="print(a.transactions)">
            <a:extLst xmlns:a="http://schemas.openxmlformats.org/drawingml/2006/main">
              <a:ext uri="{FF2B5EF4-FFF2-40B4-BE49-F238E27FC236}">
                <a16:creationId xmlns:a16="http://schemas.microsoft.com/office/drawing/2014/main" id="{5AFCC406-8B57-4EE7-A94F-52657A90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print(a.transactions)</a:t>
            </a:r>
          </a:p>
        </p:txBody>
      </p:sp>
      <p:sp>
        <p:nvSpPr>
          <p:cNvPr id="12" name="print((a.balance, a.transactions) == before)">
            <a:extLst xmlns:a="http://schemas.openxmlformats.org/drawingml/2006/main">
              <a:ext uri="{FF2B5EF4-FFF2-40B4-BE49-F238E27FC236}">
                <a16:creationId xmlns:a16="http://schemas.microsoft.com/office/drawing/2014/main" id="{0DD71F64-A205-4D4B-96E9-C0B98418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print((a.balance, a.transactions) == before)</a:t>
            </a:r>
          </a:p>
        </p:txBody>
      </p:sp>
      <p:sp>
        <p:nvSpPr>
          <p:cNvPr id="13" name="失敗行為也是契約">
            <a:extLst xmlns:a="http://schemas.openxmlformats.org/drawingml/2006/main">
              <a:ext uri="{FF2B5EF4-FFF2-40B4-BE49-F238E27FC236}">
                <a16:creationId xmlns:a16="http://schemas.microsoft.com/office/drawing/2014/main" id="{3A8D280F-2044-4532-966A-03E34AD1A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失敗行為也是契約</a:t>
            </a:r>
          </a:p>
        </p:txBody>
      </p:sp>
      <p:sp>
        <p:nvSpPr>
          <p:cNvPr id="14" name="超額提款拋出 ValueError。 餘額與紀錄都沒有變。">
            <a:extLst xmlns:a="http://schemas.openxmlformats.org/drawingml/2006/main">
              <a:ext uri="{FF2B5EF4-FFF2-40B4-BE49-F238E27FC236}">
                <a16:creationId xmlns:a16="http://schemas.microsoft.com/office/drawing/2014/main" id="{EA0728A8-EFE7-4C0E-8DD6-F893DBFA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超額提款拋出 ValueError。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餘額與紀錄都沒有變。</a:t>
            </a:r>
          </a:p>
        </p:txBody>
      </p:sp>
      <p:sp>
        <p:nvSpPr>
          <p:cNvPr id="15" name="測試要觀察完整狀態">
            <a:extLst xmlns:a="http://schemas.openxmlformats.org/drawingml/2006/main">
              <a:ext uri="{FF2B5EF4-FFF2-40B4-BE49-F238E27FC236}">
                <a16:creationId xmlns:a16="http://schemas.microsoft.com/office/drawing/2014/main" id="{62C96A9A-F452-46F3-AD82-625A1243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測試要觀察完整狀態</a:t>
            </a:r>
          </a:p>
        </p:txBody>
      </p:sp>
      <p:sp>
        <p:nvSpPr>
          <p:cNvPr id="16" name="只檢查有沒有例外， 不足以確認物件正確。">
            <a:extLst xmlns:a="http://schemas.openxmlformats.org/drawingml/2006/main">
              <a:ext uri="{FF2B5EF4-FFF2-40B4-BE49-F238E27FC236}">
                <a16:creationId xmlns:a16="http://schemas.microsoft.com/office/drawing/2014/main" id="{4A28B6C5-7A29-4A8F-94F3-325F8E5D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只檢查有沒有例外，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不足以確認物件正確。</a:t>
            </a:r>
          </a:p>
        </p:txBody>
      </p:sp>
      <p:sp>
        <p:nvSpPr>
          <p:cNvPr id="17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A0FFB2FB-06DB-4602-AC58-C7092489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18" name="rejected    100    ()    True">
            <a:extLst xmlns:a="http://schemas.openxmlformats.org/drawingml/2006/main">
              <a:ext uri="{FF2B5EF4-FFF2-40B4-BE49-F238E27FC236}">
                <a16:creationId xmlns:a16="http://schemas.microsoft.com/office/drawing/2014/main" id="{D7DB331C-7B7C-4DB0-B7FC-474DF977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rejected    100    ()    True</a:t>
            </a:r>
          </a:p>
        </p:txBody>
      </p:sp>
    </p:spTree>
    <p:extLst>
      <p:ext uri="{BB962C8B-B14F-4D97-AF65-F5344CB8AC3E}">
        <p14:creationId xmlns:p14="http://schemas.microsoft.com/office/powerpoint/2010/main" val="2037458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提款操作的驗證與狀態更新">
            <a:extLst xmlns:a="http://schemas.openxmlformats.org/drawingml/2006/main">
              <a:ext uri="{FF2B5EF4-FFF2-40B4-BE49-F238E27FC236}">
                <a16:creationId xmlns:a16="http://schemas.microsoft.com/office/drawing/2014/main" id="{71791658-4C3B-4516-B797-0E2666B5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提款操作的驗證與狀態更新</a:t>
            </a:r>
          </a:p>
        </p:txBody>
      </p:sp>
      <p:sp>
        <p:nvSpPr>
          <p:cNvPr id="2" name="驗證全部通過後，才修改餘額與交易紀錄">
            <a:extLst xmlns:a="http://schemas.openxmlformats.org/drawingml/2006/main">
              <a:ext uri="{FF2B5EF4-FFF2-40B4-BE49-F238E27FC236}">
                <a16:creationId xmlns:a16="http://schemas.microsoft.com/office/drawing/2014/main" id="{53C73710-3989-4655-8B7A-6F9C658D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驗證全部通過後，才修改餘額與交易紀錄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c9a0210fc943b4"/>
          <a:stretch xmlns:a="http://schemas.openxmlformats.org/drawingml/2006/main"/>
        </p:blipFill>
        <p:spPr>
          <a:xfrm xmlns:a="http://schemas.openxmlformats.org/drawingml/2006/main">
            <a:off x="609600" y="1790700"/>
            <a:ext cx="10972800" cy="3657600"/>
          </a:xfrm>
          <a:prstGeom xmlns:a="http://schemas.openxmlformats.org/drawingml/2006/main" prst="rect">
            <a:avLst/>
          </a:prstGeom>
        </p:spPr>
      </p:pic>
      <p:sp>
        <p:nvSpPr>
          <p:cNvPr id="4" name="金額必須是正整數，且不能超過餘額。任一驗證失敗，原有狀態保持不變。&#10;此處採單執行緒記憶體模型，不代表資料庫交易或並行操作">
            <a:extLst xmlns:a="http://schemas.openxmlformats.org/drawingml/2006/main">
              <a:ext uri="{FF2B5EF4-FFF2-40B4-BE49-F238E27FC236}">
                <a16:creationId xmlns:a16="http://schemas.microsoft.com/office/drawing/2014/main" id="{A1B2E4F3-36D6-46DB-8A21-2119A8B3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0"/>
            <a:ext cx="10915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金額必須是正整數，且不能超過餘額。任一驗證失敗，原有狀態保持不變。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此處採單執行緒記憶體模型，不代表資料庫交易或並行操作的原子性。</a:t>
            </a:r>
          </a:p>
        </p:txBody>
      </p:sp>
      <p:sp>
        <p:nvSpPr>
          <p:cNvPr id="5" name="25A">
            <a:extLst xmlns:a="http://schemas.openxmlformats.org/drawingml/2006/main">
              <a:ext uri="{FF2B5EF4-FFF2-40B4-BE49-F238E27FC236}">
                <a16:creationId xmlns:a16="http://schemas.microsoft.com/office/drawing/2014/main" id="{DF4DEF71-73F4-4A6D-BF55-2766A1ED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6467475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25A</a:t>
            </a:r>
          </a:p>
        </p:txBody>
      </p:sp>
    </p:spTree>
    <p:extLst>
      <p:ext uri="{BB962C8B-B14F-4D97-AF65-F5344CB8AC3E}">
        <p14:creationId xmlns:p14="http://schemas.microsoft.com/office/powerpoint/2010/main" val="185738555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ll-Don't-Ask 的責任配置">
            <a:extLst xmlns:a="http://schemas.openxmlformats.org/drawingml/2006/main">
              <a:ext uri="{FF2B5EF4-FFF2-40B4-BE49-F238E27FC236}">
                <a16:creationId xmlns:a16="http://schemas.microsoft.com/office/drawing/2014/main" id="{FD8EF714-B5F8-4B89-9161-36E8A9D3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Tell-Don't-Ask 的責任配置</a:t>
            </a:r>
          </a:p>
        </p:txBody>
      </p:sp>
      <p:sp>
        <p:nvSpPr>
          <p:cNvPr id="2" name="介面設計">
            <a:extLst xmlns:a="http://schemas.openxmlformats.org/drawingml/2006/main">
              <a:ext uri="{FF2B5EF4-FFF2-40B4-BE49-F238E27FC236}">
                <a16:creationId xmlns:a16="http://schemas.microsoft.com/office/drawing/2014/main" id="{8D4BF541-4944-4CA4-B1A3-817D647A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介面設計</a:t>
            </a:r>
          </a:p>
        </p:txBody>
      </p:sp>
      <p:sp>
        <p:nvSpPr>
          <p:cNvPr id="3" name="26">
            <a:extLst xmlns:a="http://schemas.openxmlformats.org/drawingml/2006/main">
              <a:ext uri="{FF2B5EF4-FFF2-40B4-BE49-F238E27FC236}">
                <a16:creationId xmlns:a16="http://schemas.microsoft.com/office/drawing/2014/main" id="{38908B61-40A8-4190-B4B7-634F6B09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667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333750"/>
                <a:gridCol w="3905250"/>
                <a:gridCol w="3733800"/>
              </a:tblGrid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做法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呼叫端的責任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規則的位置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取出餘額，再自行扣款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讀餘額、判斷、修改、記錄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容易散落在不同呼叫端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呼叫 withdraw(amount)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表達提款的意圖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BankAccount 維持狀態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查詢 balance 顯示畫面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讀取資訊與呈現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合法且必要的查詢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5" name="這項原則鼓勵把決策放回資料的擁有者，仍然允許必要的查詢。">
            <a:extLst xmlns:a="http://schemas.openxmlformats.org/drawingml/2006/main">
              <a:ext uri="{FF2B5EF4-FFF2-40B4-BE49-F238E27FC236}">
                <a16:creationId xmlns:a16="http://schemas.microsoft.com/office/drawing/2014/main" id="{2ACD3C30-4FBA-4CB4-B5D4-07E26B31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0275"/>
            <a:ext cx="10706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這項原則鼓勵把決策放回資料的擁有者，仍然允許必要的查詢。</a:t>
            </a:r>
          </a:p>
        </p:txBody>
      </p:sp>
    </p:spTree>
    <p:extLst>
      <p:ext uri="{BB962C8B-B14F-4D97-AF65-F5344CB8AC3E}">
        <p14:creationId xmlns:p14="http://schemas.microsoft.com/office/powerpoint/2010/main" val="193391695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回傳內部 list 會洩漏修改入口">
            <a:extLst xmlns:a="http://schemas.openxmlformats.org/drawingml/2006/main">
              <a:ext uri="{FF2B5EF4-FFF2-40B4-BE49-F238E27FC236}">
                <a16:creationId xmlns:a16="http://schemas.microsoft.com/office/drawing/2014/main" id="{BE106A17-EFBD-4837-8FBF-F52EB212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回傳內部 list 會洩漏修改入口</a:t>
            </a:r>
          </a:p>
        </p:txBody>
      </p:sp>
      <p:sp>
        <p:nvSpPr>
          <p:cNvPr id="2" name="集合的封裝邊界">
            <a:extLst xmlns:a="http://schemas.openxmlformats.org/drawingml/2006/main">
              <a:ext uri="{FF2B5EF4-FFF2-40B4-BE49-F238E27FC236}">
                <a16:creationId xmlns:a16="http://schemas.microsoft.com/office/drawing/2014/main" id="{9F8F1004-2B9E-428E-9C95-B8C8A8FA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集合的封裝邊界</a:t>
            </a:r>
          </a:p>
        </p:txBody>
      </p:sp>
      <p:sp>
        <p:nvSpPr>
          <p:cNvPr id="3" name="27">
            <a:extLst xmlns:a="http://schemas.openxmlformats.org/drawingml/2006/main">
              <a:ext uri="{FF2B5EF4-FFF2-40B4-BE49-F238E27FC236}">
                <a16:creationId xmlns:a16="http://schemas.microsoft.com/office/drawing/2014/main" id="{B7D5BD24-8DA3-4E95-AAAB-875BC8A5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  <p:sp>
        <p:nvSpPr>
          <p:cNvPr id="4" name="class Ledger:">
            <a:extLst xmlns:a="http://schemas.openxmlformats.org/drawingml/2006/main">
              <a:ext uri="{FF2B5EF4-FFF2-40B4-BE49-F238E27FC236}">
                <a16:creationId xmlns:a16="http://schemas.microsoft.com/office/drawing/2014/main" id="{A6050073-000B-4A5D-88FE-C2E531F7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Ledger:</a:t>
            </a:r>
          </a:p>
        </p:txBody>
      </p:sp>
      <p:sp>
        <p:nvSpPr>
          <p:cNvPr id="5" name="    def __init__(self):">
            <a:extLst xmlns:a="http://schemas.openxmlformats.org/drawingml/2006/main">
              <a:ext uri="{FF2B5EF4-FFF2-40B4-BE49-F238E27FC236}">
                <a16:creationId xmlns:a16="http://schemas.microsoft.com/office/drawing/2014/main" id="{D937E204-8345-4A25-B0F7-989CF051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__init__(self):</a:t>
            </a:r>
          </a:p>
        </p:txBody>
      </p:sp>
      <p:sp>
        <p:nvSpPr>
          <p:cNvPr id="6" name="        self._entries = [100, -20]">
            <a:extLst xmlns:a="http://schemas.openxmlformats.org/drawingml/2006/main">
              <a:ext uri="{FF2B5EF4-FFF2-40B4-BE49-F238E27FC236}">
                <a16:creationId xmlns:a16="http://schemas.microsoft.com/office/drawing/2014/main" id="{0E2EB47F-B2E7-4151-9B51-FCF046AD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self._entries = [100, -20]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9141BC-06BD-4640-AF94-04E5BD5D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    @property">
            <a:extLst xmlns:a="http://schemas.openxmlformats.org/drawingml/2006/main">
              <a:ext uri="{FF2B5EF4-FFF2-40B4-BE49-F238E27FC236}">
                <a16:creationId xmlns:a16="http://schemas.microsoft.com/office/drawing/2014/main" id="{EB3C71E3-B35E-4756-B20E-CBFD5BE6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@property</a:t>
            </a:r>
          </a:p>
        </p:txBody>
      </p:sp>
      <p:sp>
        <p:nvSpPr>
          <p:cNvPr id="9" name="    def entries(self):">
            <a:extLst xmlns:a="http://schemas.openxmlformats.org/drawingml/2006/main">
              <a:ext uri="{FF2B5EF4-FFF2-40B4-BE49-F238E27FC236}">
                <a16:creationId xmlns:a16="http://schemas.microsoft.com/office/drawing/2014/main" id="{B89082CE-F027-4D2C-B9C5-1B67A978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entries(self):</a:t>
            </a:r>
          </a:p>
        </p:txBody>
      </p:sp>
      <p:sp>
        <p:nvSpPr>
          <p:cNvPr id="10" name="        return self._entries">
            <a:extLst xmlns:a="http://schemas.openxmlformats.org/drawingml/2006/main">
              <a:ext uri="{FF2B5EF4-FFF2-40B4-BE49-F238E27FC236}">
                <a16:creationId xmlns:a16="http://schemas.microsoft.com/office/drawing/2014/main" id="{F0A6D9B3-7952-49BB-A1C5-74A7A044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return self._entries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5CB4B7-A4E1-49BD-AB4A-60889214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ledger = Ledger()">
            <a:extLst xmlns:a="http://schemas.openxmlformats.org/drawingml/2006/main">
              <a:ext uri="{FF2B5EF4-FFF2-40B4-BE49-F238E27FC236}">
                <a16:creationId xmlns:a16="http://schemas.microsoft.com/office/drawing/2014/main" id="{230D4FFF-EA21-4E56-BF08-910DFB63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ledger = Ledger()</a:t>
            </a:r>
          </a:p>
        </p:txBody>
      </p:sp>
      <p:sp>
        <p:nvSpPr>
          <p:cNvPr id="13" name="external = ledger.entries">
            <a:extLst xmlns:a="http://schemas.openxmlformats.org/drawingml/2006/main">
              <a:ext uri="{FF2B5EF4-FFF2-40B4-BE49-F238E27FC236}">
                <a16:creationId xmlns:a16="http://schemas.microsoft.com/office/drawing/2014/main" id="{BB446631-CF2F-45B7-853B-C832AB10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external = ledger.entries</a:t>
            </a:r>
          </a:p>
        </p:txBody>
      </p:sp>
      <p:sp>
        <p:nvSpPr>
          <p:cNvPr id="14" name="external.clear()">
            <a:extLst xmlns:a="http://schemas.openxmlformats.org/drawingml/2006/main">
              <a:ext uri="{FF2B5EF4-FFF2-40B4-BE49-F238E27FC236}">
                <a16:creationId xmlns:a16="http://schemas.microsoft.com/office/drawing/2014/main" id="{BB61E835-0276-43BD-9CC7-34CA6555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external.clear()</a:t>
            </a:r>
          </a:p>
        </p:txBody>
      </p:sp>
      <p:sp>
        <p:nvSpPr>
          <p:cNvPr id="15" name="print(ledger.entries)">
            <a:extLst xmlns:a="http://schemas.openxmlformats.org/drawingml/2006/main">
              <a:ext uri="{FF2B5EF4-FFF2-40B4-BE49-F238E27FC236}">
                <a16:creationId xmlns:a16="http://schemas.microsoft.com/office/drawing/2014/main" id="{C2F6C916-3F7D-48D1-BCF7-BDA7661D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print(ledger.entries)</a:t>
            </a:r>
          </a:p>
        </p:txBody>
      </p:sp>
      <p:sp>
        <p:nvSpPr>
          <p:cNvPr id="16" name="共享同一份可變容器">
            <a:extLst xmlns:a="http://schemas.openxmlformats.org/drawingml/2006/main">
              <a:ext uri="{FF2B5EF4-FFF2-40B4-BE49-F238E27FC236}">
                <a16:creationId xmlns:a16="http://schemas.microsoft.com/office/drawing/2014/main" id="{A1043005-80AC-44B4-B0DE-0CD476C0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共享同一份可變容器</a:t>
            </a:r>
          </a:p>
        </p:txBody>
      </p:sp>
      <p:sp>
        <p:nvSpPr>
          <p:cNvPr id="17" name="external 與 _entries 指向同一個 list。">
            <a:extLst xmlns:a="http://schemas.openxmlformats.org/drawingml/2006/main">
              <a:ext uri="{FF2B5EF4-FFF2-40B4-BE49-F238E27FC236}">
                <a16:creationId xmlns:a16="http://schemas.microsoft.com/office/drawing/2014/main" id="{7082D870-8404-4F4B-9591-872670E3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external 與 _entries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指向同一個 list。</a:t>
            </a:r>
          </a:p>
        </p:txBody>
      </p:sp>
      <p:sp>
        <p:nvSpPr>
          <p:cNvPr id="18" name="類別規則可能被繞過">
            <a:extLst xmlns:a="http://schemas.openxmlformats.org/drawingml/2006/main">
              <a:ext uri="{FF2B5EF4-FFF2-40B4-BE49-F238E27FC236}">
                <a16:creationId xmlns:a16="http://schemas.microsoft.com/office/drawing/2014/main" id="{A32977A9-2310-427B-92B7-6FEBAA63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類別規則可能被繞過</a:t>
            </a:r>
          </a:p>
        </p:txBody>
      </p:sp>
      <p:sp>
        <p:nvSpPr>
          <p:cNvPr id="19" name="外部 clear 沒有經過 類別定義的修改方法。">
            <a:extLst xmlns:a="http://schemas.openxmlformats.org/drawingml/2006/main">
              <a:ext uri="{FF2B5EF4-FFF2-40B4-BE49-F238E27FC236}">
                <a16:creationId xmlns:a16="http://schemas.microsoft.com/office/drawing/2014/main" id="{63BF4C87-9E90-4F14-BFA4-D7CE3F40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外部 clear 沒有經過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類別定義的修改方法。</a:t>
            </a:r>
          </a:p>
        </p:txBody>
      </p:sp>
      <p:sp>
        <p:nvSpPr>
          <p:cNvPr id="20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76417175-E254-40D5-88B5-A581E52C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1" name="[]">
            <a:extLst xmlns:a="http://schemas.openxmlformats.org/drawingml/2006/main">
              <a:ext uri="{FF2B5EF4-FFF2-40B4-BE49-F238E27FC236}">
                <a16:creationId xmlns:a16="http://schemas.microsoft.com/office/drawing/2014/main" id="{280EFE97-8EAB-4145-BA47-8F63B1E9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[]</a:t>
            </a:r>
          </a:p>
        </p:txBody>
      </p:sp>
    </p:spTree>
    <p:extLst>
      <p:ext uri="{BB962C8B-B14F-4D97-AF65-F5344CB8AC3E}">
        <p14:creationId xmlns:p14="http://schemas.microsoft.com/office/powerpoint/2010/main" val="99320309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uple 快照保護外層序列">
            <a:extLst xmlns:a="http://schemas.openxmlformats.org/drawingml/2006/main">
              <a:ext uri="{FF2B5EF4-FFF2-40B4-BE49-F238E27FC236}">
                <a16:creationId xmlns:a16="http://schemas.microsoft.com/office/drawing/2014/main" id="{2A4890F6-CD33-4C12-BC49-B1FDB384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tuple 快照保護外層序列</a:t>
            </a:r>
          </a:p>
        </p:txBody>
      </p:sp>
      <p:sp>
        <p:nvSpPr>
          <p:cNvPr id="2" name="集合的封裝邊界">
            <a:extLst xmlns:a="http://schemas.openxmlformats.org/drawingml/2006/main">
              <a:ext uri="{FF2B5EF4-FFF2-40B4-BE49-F238E27FC236}">
                <a16:creationId xmlns:a16="http://schemas.microsoft.com/office/drawing/2014/main" id="{AE97780A-58F5-47F4-A0C5-0F6FA324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集合的封裝邊界</a:t>
            </a:r>
          </a:p>
        </p:txBody>
      </p:sp>
      <p:sp>
        <p:nvSpPr>
          <p:cNvPr id="3" name="28">
            <a:extLst xmlns:a="http://schemas.openxmlformats.org/drawingml/2006/main">
              <a:ext uri="{FF2B5EF4-FFF2-40B4-BE49-F238E27FC236}">
                <a16:creationId xmlns:a16="http://schemas.microsoft.com/office/drawing/2014/main" id="{D4E329B5-A0E1-48EC-9E22-0985AC6B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</a:p>
        </p:txBody>
      </p:sp>
      <p:sp>
        <p:nvSpPr>
          <p:cNvPr id="4" name="# Property inside BankAccount">
            <a:extLst xmlns:a="http://schemas.openxmlformats.org/drawingml/2006/main">
              <a:ext uri="{FF2B5EF4-FFF2-40B4-BE49-F238E27FC236}">
                <a16:creationId xmlns:a16="http://schemas.microsoft.com/office/drawing/2014/main" id="{EA42D744-6A25-4709-ABF9-45FD9F9B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A9BDC7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A9BDC7"/>
                </a:solidFill>
                <a:latin typeface="Consolas"/>
                <a:ea typeface="Consolas"/>
                <a:cs typeface="Consolas"/>
              </a:rPr>
              <a:t># Property inside BankAccount</a:t>
            </a:r>
          </a:p>
        </p:txBody>
      </p:sp>
      <p:sp>
        <p:nvSpPr>
          <p:cNvPr id="5" name="@property">
            <a:extLst xmlns:a="http://schemas.openxmlformats.org/drawingml/2006/main">
              <a:ext uri="{FF2B5EF4-FFF2-40B4-BE49-F238E27FC236}">
                <a16:creationId xmlns:a16="http://schemas.microsoft.com/office/drawing/2014/main" id="{BA288E7E-5396-4420-B7DD-0550C3E1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4429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@property</a:t>
            </a:r>
          </a:p>
        </p:txBody>
      </p:sp>
      <p:sp>
        <p:nvSpPr>
          <p:cNvPr id="6" name="def transactions(self):">
            <a:extLst xmlns:a="http://schemas.openxmlformats.org/drawingml/2006/main">
              <a:ext uri="{FF2B5EF4-FFF2-40B4-BE49-F238E27FC236}">
                <a16:creationId xmlns:a16="http://schemas.microsoft.com/office/drawing/2014/main" id="{D6E33307-C444-49DA-A3AC-09E2E0BA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783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def transactions(self):</a:t>
            </a:r>
          </a:p>
        </p:txBody>
      </p:sp>
      <p:sp>
        <p:nvSpPr>
          <p:cNvPr id="7" name="    return tuple(self._transactions)">
            <a:extLst xmlns:a="http://schemas.openxmlformats.org/drawingml/2006/main">
              <a:ext uri="{FF2B5EF4-FFF2-40B4-BE49-F238E27FC236}">
                <a16:creationId xmlns:a16="http://schemas.microsoft.com/office/drawing/2014/main" id="{D36F7789-B767-4053-8D52-303CD812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87137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return tuple(self._transactions)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2C64FF-97DC-458D-B972-D5573088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8490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a = BankAccount(&quot;A001&quot;, 100)">
            <a:extLst xmlns:a="http://schemas.openxmlformats.org/drawingml/2006/main">
              <a:ext uri="{FF2B5EF4-FFF2-40B4-BE49-F238E27FC236}">
                <a16:creationId xmlns:a16="http://schemas.microsoft.com/office/drawing/2014/main" id="{CF4D67E0-0142-4E61-A104-E8168ED8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9844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 = BankAccount("A001", 100)</a:t>
            </a:r>
          </a:p>
        </p:txBody>
      </p:sp>
      <p:sp>
        <p:nvSpPr>
          <p:cNvPr id="10" name="a.deposit(20)">
            <a:extLst xmlns:a="http://schemas.openxmlformats.org/drawingml/2006/main">
              <a:ext uri="{FF2B5EF4-FFF2-40B4-BE49-F238E27FC236}">
                <a16:creationId xmlns:a16="http://schemas.microsoft.com/office/drawing/2014/main" id="{3018E8E6-DE10-4B89-A92D-D5DDD7E4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1198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a.deposit(20)</a:t>
            </a:r>
          </a:p>
        </p:txBody>
      </p:sp>
      <p:sp>
        <p:nvSpPr>
          <p:cNvPr id="11" name="snapshot = a.transactions">
            <a:extLst xmlns:a="http://schemas.openxmlformats.org/drawingml/2006/main">
              <a:ext uri="{FF2B5EF4-FFF2-40B4-BE49-F238E27FC236}">
                <a16:creationId xmlns:a16="http://schemas.microsoft.com/office/drawing/2014/main" id="{A26B7923-494C-4DBF-BA92-E47D415E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2552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snapshot = a.transactions</a:t>
            </a:r>
          </a:p>
        </p:txBody>
      </p:sp>
      <p:sp>
        <p:nvSpPr>
          <p:cNvPr id="12" name="a.withdraw(10)">
            <a:extLst xmlns:a="http://schemas.openxmlformats.org/drawingml/2006/main">
              <a:ext uri="{FF2B5EF4-FFF2-40B4-BE49-F238E27FC236}">
                <a16:creationId xmlns:a16="http://schemas.microsoft.com/office/drawing/2014/main" id="{58FB3430-875F-4613-88CF-465E39C6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3906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a.withdraw(10)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DE638C-5FF7-4EDC-AA04-84704C65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5260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print(snapshot)">
            <a:extLst xmlns:a="http://schemas.openxmlformats.org/drawingml/2006/main">
              <a:ext uri="{FF2B5EF4-FFF2-40B4-BE49-F238E27FC236}">
                <a16:creationId xmlns:a16="http://schemas.microsoft.com/office/drawing/2014/main" id="{E14E6DCA-0CAD-48D1-8BEE-B6032364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6613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print(snapshot)</a:t>
            </a:r>
          </a:p>
        </p:txBody>
      </p:sp>
      <p:sp>
        <p:nvSpPr>
          <p:cNvPr id="15" name="print(a.transactions)">
            <a:extLst xmlns:a="http://schemas.openxmlformats.org/drawingml/2006/main">
              <a:ext uri="{FF2B5EF4-FFF2-40B4-BE49-F238E27FC236}">
                <a16:creationId xmlns:a16="http://schemas.microsoft.com/office/drawing/2014/main" id="{F96F0793-0F0B-4104-8E17-4FD7CE17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7967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print(a.transactions)</a:t>
            </a:r>
          </a:p>
        </p:txBody>
      </p:sp>
      <p:sp>
        <p:nvSpPr>
          <p:cNvPr id="16" name="print(isinstance(snapshot, tuple))">
            <a:extLst xmlns:a="http://schemas.openxmlformats.org/drawingml/2006/main">
              <a:ext uri="{FF2B5EF4-FFF2-40B4-BE49-F238E27FC236}">
                <a16:creationId xmlns:a16="http://schemas.microsoft.com/office/drawing/2014/main" id="{ADB5A638-0396-4A7F-9EB3-8911607B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9321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print(isinstance(snapshot, tuple))</a:t>
            </a:r>
          </a:p>
        </p:txBody>
      </p:sp>
      <p:sp>
        <p:nvSpPr>
          <p:cNvPr id="17" name="每次回傳新的外層快照">
            <a:extLst xmlns:a="http://schemas.openxmlformats.org/drawingml/2006/main">
              <a:ext uri="{FF2B5EF4-FFF2-40B4-BE49-F238E27FC236}">
                <a16:creationId xmlns:a16="http://schemas.microsoft.com/office/drawing/2014/main" id="{B5703B75-B24D-47F5-A43C-DD56857A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每次回傳新的外層快照</a:t>
            </a:r>
          </a:p>
        </p:txBody>
      </p:sp>
      <p:sp>
        <p:nvSpPr>
          <p:cNvPr id="18" name="之前取得的 snapshot 不會自動出現新紀錄。">
            <a:extLst xmlns:a="http://schemas.openxmlformats.org/drawingml/2006/main">
              <a:ext uri="{FF2B5EF4-FFF2-40B4-BE49-F238E27FC236}">
                <a16:creationId xmlns:a16="http://schemas.microsoft.com/office/drawing/2014/main" id="{53F44BB1-7F80-47D1-AAB6-A5E10320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之前取得的 snapshot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不會自動出現新紀錄。</a:t>
            </a:r>
          </a:p>
        </p:txBody>
      </p:sp>
      <p:sp>
        <p:nvSpPr>
          <p:cNvPr id="19" name="本例元素也不可變">
            <a:extLst xmlns:a="http://schemas.openxmlformats.org/drawingml/2006/main">
              <a:ext uri="{FF2B5EF4-FFF2-40B4-BE49-F238E27FC236}">
                <a16:creationId xmlns:a16="http://schemas.microsoft.com/office/drawing/2014/main" id="{0535A79A-9891-4635-9FDD-C4EBBA53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本例元素也不可變</a:t>
            </a:r>
          </a:p>
        </p:txBody>
      </p:sp>
      <p:sp>
        <p:nvSpPr>
          <p:cNvPr id="20" name="紀錄是由 str 與 int 組成的 tuple。">
            <a:extLst xmlns:a="http://schemas.openxmlformats.org/drawingml/2006/main">
              <a:ext uri="{FF2B5EF4-FFF2-40B4-BE49-F238E27FC236}">
                <a16:creationId xmlns:a16="http://schemas.microsoft.com/office/drawing/2014/main" id="{DBB260E4-B90F-400D-AF8E-FE2A99ED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紀錄是由 str 與 int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組成的 tuple。</a:t>
            </a:r>
          </a:p>
        </p:txBody>
      </p:sp>
      <p:sp>
        <p:nvSpPr>
          <p:cNvPr id="21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4980E382-0457-48CD-97A3-2CDB389F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768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2" name="(('deposit', 20),) (('deposit', 20), ('withdraw', 10)) ">
            <a:extLst xmlns:a="http://schemas.openxmlformats.org/drawingml/2006/main">
              <a:ext uri="{FF2B5EF4-FFF2-40B4-BE49-F238E27FC236}">
                <a16:creationId xmlns:a16="http://schemas.microsoft.com/office/drawing/2014/main" id="{2B806BA5-ACBD-4E35-A529-A2E93920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9775"/>
            <a:ext cx="10915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(('deposit', 20),)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(('deposit', 20), ('withdraw', 10))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109177473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uple 不會遞迴凍結元素">
            <a:extLst xmlns:a="http://schemas.openxmlformats.org/drawingml/2006/main">
              <a:ext uri="{FF2B5EF4-FFF2-40B4-BE49-F238E27FC236}">
                <a16:creationId xmlns:a16="http://schemas.microsoft.com/office/drawing/2014/main" id="{EA3DB365-2C7E-44D2-B26A-055952B4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tuple 不會遞迴凍結元素</a:t>
            </a:r>
          </a:p>
        </p:txBody>
      </p:sp>
      <p:sp>
        <p:nvSpPr>
          <p:cNvPr id="2" name="集合的封裝邊界">
            <a:extLst xmlns:a="http://schemas.openxmlformats.org/drawingml/2006/main">
              <a:ext uri="{FF2B5EF4-FFF2-40B4-BE49-F238E27FC236}">
                <a16:creationId xmlns:a16="http://schemas.microsoft.com/office/drawing/2014/main" id="{02F9EB36-39F4-4E8A-A070-7F4DB4BA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集合的封裝邊界</a:t>
            </a:r>
          </a:p>
        </p:txBody>
      </p:sp>
      <p:sp>
        <p:nvSpPr>
          <p:cNvPr id="3" name="29">
            <a:extLst xmlns:a="http://schemas.openxmlformats.org/drawingml/2006/main">
              <a:ext uri="{FF2B5EF4-FFF2-40B4-BE49-F238E27FC236}">
                <a16:creationId xmlns:a16="http://schemas.microsoft.com/office/drawing/2014/main" id="{1FE8E954-F60C-4665-B33E-F37001BD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29</a:t>
            </a:r>
          </a:p>
        </p:txBody>
      </p:sp>
      <p:sp>
        <p:nvSpPr>
          <p:cNvPr id="4" name="internal = [{&quot;amount&quot;: 100}]">
            <a:extLst xmlns:a="http://schemas.openxmlformats.org/drawingml/2006/main">
              <a:ext uri="{FF2B5EF4-FFF2-40B4-BE49-F238E27FC236}">
                <a16:creationId xmlns:a16="http://schemas.microsoft.com/office/drawing/2014/main" id="{1485FF2B-8199-4248-9BED-D0FCDB2A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internal = [{"amount": 100}]</a:t>
            </a:r>
          </a:p>
        </p:txBody>
      </p:sp>
      <p:sp>
        <p:nvSpPr>
          <p:cNvPr id="5" name="snapshot = tuple(internal)">
            <a:extLst xmlns:a="http://schemas.openxmlformats.org/drawingml/2006/main">
              <a:ext uri="{FF2B5EF4-FFF2-40B4-BE49-F238E27FC236}">
                <a16:creationId xmlns:a16="http://schemas.microsoft.com/office/drawing/2014/main" id="{5FF6C830-BC7D-42F7-8583-F5846B6A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snapshot = tuple(internal)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92F070-7533-449B-93F0-148EDD6F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snapshot[0][&quot;amount&quot;] = -999">
            <a:extLst xmlns:a="http://schemas.openxmlformats.org/drawingml/2006/main">
              <a:ext uri="{FF2B5EF4-FFF2-40B4-BE49-F238E27FC236}">
                <a16:creationId xmlns:a16="http://schemas.microsoft.com/office/drawing/2014/main" id="{253D12AE-FB17-4AE6-A596-6A162192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snapshot[0]["amount"] = -999</a:t>
            </a:r>
          </a:p>
        </p:txBody>
      </p:sp>
      <p:sp>
        <p:nvSpPr>
          <p:cNvPr id="8" name="print(internal)">
            <a:extLst xmlns:a="http://schemas.openxmlformats.org/drawingml/2006/main">
              <a:ext uri="{FF2B5EF4-FFF2-40B4-BE49-F238E27FC236}">
                <a16:creationId xmlns:a16="http://schemas.microsoft.com/office/drawing/2014/main" id="{80D875F2-D9D5-4B18-924E-D9B6C1FB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print(internal)</a:t>
            </a:r>
          </a:p>
        </p:txBody>
      </p:sp>
      <p:sp>
        <p:nvSpPr>
          <p:cNvPr id="9" name="print(snapshot[0] is internal[0])">
            <a:extLst xmlns:a="http://schemas.openxmlformats.org/drawingml/2006/main">
              <a:ext uri="{FF2B5EF4-FFF2-40B4-BE49-F238E27FC236}">
                <a16:creationId xmlns:a16="http://schemas.microsoft.com/office/drawing/2014/main" id="{C1B3BEC9-D47B-4689-93F1-1309BEA5D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print(snapshot[0] is internal[0])</a:t>
            </a:r>
          </a:p>
        </p:txBody>
      </p:sp>
      <p:sp>
        <p:nvSpPr>
          <p:cNvPr id="10" name="外層不可變，內層仍共享">
            <a:extLst xmlns:a="http://schemas.openxmlformats.org/drawingml/2006/main">
              <a:ext uri="{FF2B5EF4-FFF2-40B4-BE49-F238E27FC236}">
                <a16:creationId xmlns:a16="http://schemas.microsoft.com/office/drawing/2014/main" id="{EC3001C1-B3ED-46BE-B6D0-96B28A10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外層不可變，內層仍共享</a:t>
            </a:r>
          </a:p>
        </p:txBody>
      </p:sp>
      <p:sp>
        <p:nvSpPr>
          <p:cNvPr id="11" name="tuple 不能換掉元素， 元素本身仍可能是 dict。">
            <a:extLst xmlns:a="http://schemas.openxmlformats.org/drawingml/2006/main">
              <a:ext uri="{FF2B5EF4-FFF2-40B4-BE49-F238E27FC236}">
                <a16:creationId xmlns:a16="http://schemas.microsoft.com/office/drawing/2014/main" id="{23FE9D23-3A14-4AE4-9BC9-17A89505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tuple 不能換掉元素，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元素本身仍可能是 dict。</a:t>
            </a:r>
          </a:p>
        </p:txBody>
      </p:sp>
      <p:sp>
        <p:nvSpPr>
          <p:cNvPr id="12" name="檢查整個資料結構">
            <a:extLst xmlns:a="http://schemas.openxmlformats.org/drawingml/2006/main">
              <a:ext uri="{FF2B5EF4-FFF2-40B4-BE49-F238E27FC236}">
                <a16:creationId xmlns:a16="http://schemas.microsoft.com/office/drawing/2014/main" id="{53A179CB-537D-4402-936C-C5903F71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檢查整個資料結構</a:t>
            </a:r>
          </a:p>
        </p:txBody>
      </p:sp>
      <p:sp>
        <p:nvSpPr>
          <p:cNvPr id="13" name="封裝要考慮內層物件， 不能只看回傳型別。">
            <a:extLst xmlns:a="http://schemas.openxmlformats.org/drawingml/2006/main">
              <a:ext uri="{FF2B5EF4-FFF2-40B4-BE49-F238E27FC236}">
                <a16:creationId xmlns:a16="http://schemas.microsoft.com/office/drawing/2014/main" id="{8400EAF7-4128-403C-B8E6-D85AAE5D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封裝要考慮內層物件，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不能只看回傳型別。</a:t>
            </a:r>
          </a:p>
        </p:txBody>
      </p:sp>
      <p:sp>
        <p:nvSpPr>
          <p:cNvPr id="14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E77C427D-AB82-4914-91AE-7EC631E6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15" name="[{'amount': -999}]    True">
            <a:extLst xmlns:a="http://schemas.openxmlformats.org/drawingml/2006/main">
              <a:ext uri="{FF2B5EF4-FFF2-40B4-BE49-F238E27FC236}">
                <a16:creationId xmlns:a16="http://schemas.microsoft.com/office/drawing/2014/main" id="{E77569E5-B44B-4CDA-A9E9-5E38216C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[{'amount': -999}]    True</a:t>
            </a:r>
          </a:p>
        </p:txBody>
      </p:sp>
    </p:spTree>
    <p:extLst>
      <p:ext uri="{BB962C8B-B14F-4D97-AF65-F5344CB8AC3E}">
        <p14:creationId xmlns:p14="http://schemas.microsoft.com/office/powerpoint/2010/main" val="81705845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uple 與共用的內層物件">
            <a:extLst xmlns:a="http://schemas.openxmlformats.org/drawingml/2006/main">
              <a:ext uri="{FF2B5EF4-FFF2-40B4-BE49-F238E27FC236}">
                <a16:creationId xmlns:a16="http://schemas.microsoft.com/office/drawing/2014/main" id="{0E395E5D-EEEF-40AD-9615-AE0F572E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Tuple 與共用的內層物件</a:t>
            </a:r>
          </a:p>
        </p:txBody>
      </p:sp>
      <p:sp>
        <p:nvSpPr>
          <p:cNvPr id="2" name="容器的不可變性，不會遞迴套用到所有元素">
            <a:extLst xmlns:a="http://schemas.openxmlformats.org/drawingml/2006/main">
              <a:ext uri="{FF2B5EF4-FFF2-40B4-BE49-F238E27FC236}">
                <a16:creationId xmlns:a16="http://schemas.microsoft.com/office/drawing/2014/main" id="{D31B9472-60D3-4E54-BA0A-2CBEDE3A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容器的不可變性，不會遞迴套用到所有元素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5bd03b33f64642"/>
          <a:stretch xmlns:a="http://schemas.openxmlformats.org/drawingml/2006/main"/>
        </p:blipFill>
        <p:spPr>
          <a:xfrm xmlns:a="http://schemas.openxmlformats.org/drawingml/2006/main">
            <a:off x="609600" y="1790700"/>
            <a:ext cx="10972800" cy="3657600"/>
          </a:xfrm>
          <a:prstGeom xmlns:a="http://schemas.openxmlformats.org/drawingml/2006/main" prst="rect">
            <a:avLst/>
          </a:prstGeom>
        </p:spPr>
      </p:pic>
      <p:sp>
        <p:nvSpPr>
          <p:cNvPr id="4" name="internal[0] 與 snapshot[0] 指向同一個 dict。&#10;修改字典的 amount，兩個容器都會觀察到">
            <a:extLst xmlns:a="http://schemas.openxmlformats.org/drawingml/2006/main">
              <a:ext uri="{FF2B5EF4-FFF2-40B4-BE49-F238E27FC236}">
                <a16:creationId xmlns:a16="http://schemas.microsoft.com/office/drawing/2014/main" id="{CE2F87A7-AAAC-430D-9E71-A41AC3EC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0"/>
            <a:ext cx="10915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internal[0] 與 snapshot[0] 指向同一個 dict。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修改字典的 amount，兩個容器都會觀察到新值。</a:t>
            </a:r>
          </a:p>
        </p:txBody>
      </p:sp>
      <p:sp>
        <p:nvSpPr>
          <p:cNvPr id="5" name="29A">
            <a:extLst xmlns:a="http://schemas.openxmlformats.org/drawingml/2006/main">
              <a:ext uri="{FF2B5EF4-FFF2-40B4-BE49-F238E27FC236}">
                <a16:creationId xmlns:a16="http://schemas.microsoft.com/office/drawing/2014/main" id="{37DE52CD-B286-46C9-9E05-E1107C03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6467475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29A</a:t>
            </a:r>
          </a:p>
        </p:txBody>
      </p:sp>
    </p:spTree>
    <p:extLst>
      <p:ext uri="{BB962C8B-B14F-4D97-AF65-F5344CB8AC3E}">
        <p14:creationId xmlns:p14="http://schemas.microsoft.com/office/powerpoint/2010/main" val="109238240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集合的回傳策略">
            <a:extLst xmlns:a="http://schemas.openxmlformats.org/drawingml/2006/main">
              <a:ext uri="{FF2B5EF4-FFF2-40B4-BE49-F238E27FC236}">
                <a16:creationId xmlns:a16="http://schemas.microsoft.com/office/drawing/2014/main" id="{77346E5B-55EE-46A7-8B5D-888F9DF6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集合的回傳策略</a:t>
            </a:r>
          </a:p>
        </p:txBody>
      </p:sp>
      <p:sp>
        <p:nvSpPr>
          <p:cNvPr id="2" name="集合的封裝邊界">
            <a:extLst xmlns:a="http://schemas.openxmlformats.org/drawingml/2006/main">
              <a:ext uri="{FF2B5EF4-FFF2-40B4-BE49-F238E27FC236}">
                <a16:creationId xmlns:a16="http://schemas.microsoft.com/office/drawing/2014/main" id="{BCBE8A1D-BD8E-4ACD-B8A3-DDF01080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集合的封裝邊界</a:t>
            </a:r>
          </a:p>
        </p:txBody>
      </p:sp>
      <p:sp>
        <p:nvSpPr>
          <p:cNvPr id="3" name="30">
            <a:extLst xmlns:a="http://schemas.openxmlformats.org/drawingml/2006/main">
              <a:ext uri="{FF2B5EF4-FFF2-40B4-BE49-F238E27FC236}">
                <a16:creationId xmlns:a16="http://schemas.microsoft.com/office/drawing/2014/main" id="{746A5B46-1DA0-4785-B52E-10FD227B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30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4333875"/>
                <a:gridCol w="3781425"/>
              </a:tblGrid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策略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外層變動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內層可變元素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直接回傳 list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呼叫端可改動內部容器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共享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list.copy()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外層修改不影響原容器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仍然共享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tuple(list)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外層快照不可增刪元素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仍然可能共享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deepcopy(list)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遞迴複製可複製的物件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成本與複製語意需評估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  <p:sp>
        <p:nvSpPr>
          <p:cNvPr id="5" name="快照、副本與唯讀檢視各有語意，不能視為同一種保護。">
            <a:extLst xmlns:a="http://schemas.openxmlformats.org/drawingml/2006/main">
              <a:ext uri="{FF2B5EF4-FFF2-40B4-BE49-F238E27FC236}">
                <a16:creationId xmlns:a16="http://schemas.microsoft.com/office/drawing/2014/main" id="{5B601EF6-2AFA-4FC4-A7D5-6F89298A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0275"/>
            <a:ext cx="10706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快照、副本與唯讀檢視各有語意，不能視為同一種保護。</a:t>
            </a:r>
          </a:p>
        </p:txBody>
      </p:sp>
    </p:spTree>
    <p:extLst>
      <p:ext uri="{BB962C8B-B14F-4D97-AF65-F5344CB8AC3E}">
        <p14:creationId xmlns:p14="http://schemas.microsoft.com/office/powerpoint/2010/main" val="144889019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傳入資料也可能形成共享">
            <a:extLst xmlns:a="http://schemas.openxmlformats.org/drawingml/2006/main">
              <a:ext uri="{FF2B5EF4-FFF2-40B4-BE49-F238E27FC236}">
                <a16:creationId xmlns:a16="http://schemas.microsoft.com/office/drawing/2014/main" id="{D6487200-12B8-4E7F-838C-6D0C5B9B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傳入資料也可能形成共享</a:t>
            </a:r>
          </a:p>
        </p:txBody>
      </p:sp>
      <p:sp>
        <p:nvSpPr>
          <p:cNvPr id="2" name="集合的封裝邊界">
            <a:extLst xmlns:a="http://schemas.openxmlformats.org/drawingml/2006/main">
              <a:ext uri="{FF2B5EF4-FFF2-40B4-BE49-F238E27FC236}">
                <a16:creationId xmlns:a16="http://schemas.microsoft.com/office/drawing/2014/main" id="{DE876FA8-DD33-4363-AD69-76991C55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集合的封裝邊界</a:t>
            </a:r>
          </a:p>
        </p:txBody>
      </p:sp>
      <p:sp>
        <p:nvSpPr>
          <p:cNvPr id="3" name="31">
            <a:extLst xmlns:a="http://schemas.openxmlformats.org/drawingml/2006/main">
              <a:ext uri="{FF2B5EF4-FFF2-40B4-BE49-F238E27FC236}">
                <a16:creationId xmlns:a16="http://schemas.microsoft.com/office/drawing/2014/main" id="{7A3F0EEF-8B69-4613-A50F-60997F46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31</a:t>
            </a:r>
          </a:p>
        </p:txBody>
      </p:sp>
      <p:sp>
        <p:nvSpPr>
          <p:cNvPr id="4" name="class Tags:">
            <a:extLst xmlns:a="http://schemas.openxmlformats.org/drawingml/2006/main">
              <a:ext uri="{FF2B5EF4-FFF2-40B4-BE49-F238E27FC236}">
                <a16:creationId xmlns:a16="http://schemas.microsoft.com/office/drawing/2014/main" id="{E83F670B-D954-499C-A778-B97556F2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Tags:</a:t>
            </a:r>
          </a:p>
        </p:txBody>
      </p:sp>
      <p:sp>
        <p:nvSpPr>
          <p:cNvPr id="5" name="    def __init__(self, values):">
            <a:extLst xmlns:a="http://schemas.openxmlformats.org/drawingml/2006/main">
              <a:ext uri="{FF2B5EF4-FFF2-40B4-BE49-F238E27FC236}">
                <a16:creationId xmlns:a16="http://schemas.microsoft.com/office/drawing/2014/main" id="{F31515EB-E19B-4EF3-B62B-DC5DB833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__init__(self, values):</a:t>
            </a:r>
          </a:p>
        </p:txBody>
      </p:sp>
      <p:sp>
        <p:nvSpPr>
          <p:cNvPr id="6" name="        self._values = list(values)">
            <a:extLst xmlns:a="http://schemas.openxmlformats.org/drawingml/2006/main">
              <a:ext uri="{FF2B5EF4-FFF2-40B4-BE49-F238E27FC236}">
                <a16:creationId xmlns:a16="http://schemas.microsoft.com/office/drawing/2014/main" id="{6648C44B-3401-46B4-A10D-26B6F17F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self._values = list(values)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10EB56-4EB4-43A1-8F1D-8E08F3CA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    @property">
            <a:extLst xmlns:a="http://schemas.openxmlformats.org/drawingml/2006/main">
              <a:ext uri="{FF2B5EF4-FFF2-40B4-BE49-F238E27FC236}">
                <a16:creationId xmlns:a16="http://schemas.microsoft.com/office/drawing/2014/main" id="{0730D096-9519-473C-A135-053C6DC1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@property</a:t>
            </a:r>
          </a:p>
        </p:txBody>
      </p:sp>
      <p:sp>
        <p:nvSpPr>
          <p:cNvPr id="9" name="    def values(self):">
            <a:extLst xmlns:a="http://schemas.openxmlformats.org/drawingml/2006/main">
              <a:ext uri="{FF2B5EF4-FFF2-40B4-BE49-F238E27FC236}">
                <a16:creationId xmlns:a16="http://schemas.microsoft.com/office/drawing/2014/main" id="{C5774D4F-6091-427A-BDAC-772CF7A5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values(self):</a:t>
            </a:r>
          </a:p>
        </p:txBody>
      </p:sp>
      <p:sp>
        <p:nvSpPr>
          <p:cNvPr id="10" name="        return tuple(self._values)">
            <a:extLst xmlns:a="http://schemas.openxmlformats.org/drawingml/2006/main">
              <a:ext uri="{FF2B5EF4-FFF2-40B4-BE49-F238E27FC236}">
                <a16:creationId xmlns:a16="http://schemas.microsoft.com/office/drawing/2014/main" id="{B403D596-AA68-44AC-9E48-BEEFD510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return tuple(self._values)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7658BA-EE22-473E-B3A4-FF269239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source = [&quot;python&quot;]">
            <a:extLst xmlns:a="http://schemas.openxmlformats.org/drawingml/2006/main">
              <a:ext uri="{FF2B5EF4-FFF2-40B4-BE49-F238E27FC236}">
                <a16:creationId xmlns:a16="http://schemas.microsoft.com/office/drawing/2014/main" id="{CB4AF3AF-5AD8-4912-9FFE-EECBEE2C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source = ["python"]</a:t>
            </a:r>
          </a:p>
        </p:txBody>
      </p:sp>
      <p:sp>
        <p:nvSpPr>
          <p:cNvPr id="13" name="t = Tags(source)">
            <a:extLst xmlns:a="http://schemas.openxmlformats.org/drawingml/2006/main">
              <a:ext uri="{FF2B5EF4-FFF2-40B4-BE49-F238E27FC236}">
                <a16:creationId xmlns:a16="http://schemas.microsoft.com/office/drawing/2014/main" id="{FF9DE50A-6026-4336-8B24-DC487692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t = Tags(source)</a:t>
            </a:r>
          </a:p>
        </p:txBody>
      </p:sp>
      <p:sp>
        <p:nvSpPr>
          <p:cNvPr id="14" name="source.append(&quot;oop&quot;)">
            <a:extLst xmlns:a="http://schemas.openxmlformats.org/drawingml/2006/main">
              <a:ext uri="{FF2B5EF4-FFF2-40B4-BE49-F238E27FC236}">
                <a16:creationId xmlns:a16="http://schemas.microsoft.com/office/drawing/2014/main" id="{CD53E6E0-D128-4961-A182-A332AA52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source.append("oop")</a:t>
            </a:r>
          </a:p>
        </p:txBody>
      </p:sp>
      <p:sp>
        <p:nvSpPr>
          <p:cNvPr id="15" name="print(t.values)">
            <a:extLst xmlns:a="http://schemas.openxmlformats.org/drawingml/2006/main">
              <a:ext uri="{FF2B5EF4-FFF2-40B4-BE49-F238E27FC236}">
                <a16:creationId xmlns:a16="http://schemas.microsoft.com/office/drawing/2014/main" id="{296DE6C6-8B0E-430B-92A3-2795F1C5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print(t.values)</a:t>
            </a:r>
          </a:p>
        </p:txBody>
      </p:sp>
      <p:sp>
        <p:nvSpPr>
          <p:cNvPr id="16" name="入口複製外層容器">
            <a:extLst xmlns:a="http://schemas.openxmlformats.org/drawingml/2006/main">
              <a:ext uri="{FF2B5EF4-FFF2-40B4-BE49-F238E27FC236}">
                <a16:creationId xmlns:a16="http://schemas.microsoft.com/office/drawing/2014/main" id="{19771BDC-1B44-41F4-AF04-87C0A3D4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入口複製外層容器</a:t>
            </a:r>
          </a:p>
        </p:txBody>
      </p:sp>
      <p:sp>
        <p:nvSpPr>
          <p:cNvPr id="17" name="list(values) 建立新 list， 外部 append 不會改到它。">
            <a:extLst xmlns:a="http://schemas.openxmlformats.org/drawingml/2006/main">
              <a:ext uri="{FF2B5EF4-FFF2-40B4-BE49-F238E27FC236}">
                <a16:creationId xmlns:a16="http://schemas.microsoft.com/office/drawing/2014/main" id="{2D8A575C-0A7A-476A-90A3-448FF1FA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list(values) 建立新 list，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外部 append 不會改到它。</a:t>
            </a:r>
          </a:p>
        </p:txBody>
      </p:sp>
      <p:sp>
        <p:nvSpPr>
          <p:cNvPr id="18" name="本例假設元素是字串">
            <a:extLst xmlns:a="http://schemas.openxmlformats.org/drawingml/2006/main">
              <a:ext uri="{FF2B5EF4-FFF2-40B4-BE49-F238E27FC236}">
                <a16:creationId xmlns:a16="http://schemas.microsoft.com/office/drawing/2014/main" id="{E6B18651-D378-498B-A9DD-D61E961A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本例假設元素是字串</a:t>
            </a:r>
          </a:p>
        </p:txBody>
      </p:sp>
      <p:sp>
        <p:nvSpPr>
          <p:cNvPr id="19" name="若元素是可變物件， 仍須另行決定複製策略。">
            <a:extLst xmlns:a="http://schemas.openxmlformats.org/drawingml/2006/main">
              <a:ext uri="{FF2B5EF4-FFF2-40B4-BE49-F238E27FC236}">
                <a16:creationId xmlns:a16="http://schemas.microsoft.com/office/drawing/2014/main" id="{1F50F578-06D4-4405-B925-8F5249B6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若元素是可變物件，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仍須另行決定複製策略。</a:t>
            </a:r>
          </a:p>
        </p:txBody>
      </p:sp>
      <p:sp>
        <p:nvSpPr>
          <p:cNvPr id="20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9D07DD24-4CEB-4DBD-B09C-F8CF87E7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1" name="('python',)">
            <a:extLst xmlns:a="http://schemas.openxmlformats.org/drawingml/2006/main">
              <a:ext uri="{FF2B5EF4-FFF2-40B4-BE49-F238E27FC236}">
                <a16:creationId xmlns:a16="http://schemas.microsoft.com/office/drawing/2014/main" id="{F72D7326-9EDB-482C-8DEA-1D61FAF2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('python',)</a:t>
            </a:r>
          </a:p>
        </p:txBody>
      </p:sp>
    </p:spTree>
    <p:extLst>
      <p:ext uri="{BB962C8B-B14F-4D97-AF65-F5344CB8AC3E}">
        <p14:creationId xmlns:p14="http://schemas.microsoft.com/office/powerpoint/2010/main" val="142984407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多個欄位共同構成不變條件">
            <a:extLst xmlns:a="http://schemas.openxmlformats.org/drawingml/2006/main">
              <a:ext uri="{FF2B5EF4-FFF2-40B4-BE49-F238E27FC236}">
                <a16:creationId xmlns:a16="http://schemas.microsoft.com/office/drawing/2014/main" id="{2F23EA56-0565-454B-B2E3-3318F03C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多個欄位共同構成不變條件</a:t>
            </a:r>
          </a:p>
        </p:txBody>
      </p:sp>
      <p:sp>
        <p:nvSpPr>
          <p:cNvPr id="2" name="進階設計">
            <a:extLst xmlns:a="http://schemas.openxmlformats.org/drawingml/2006/main">
              <a:ext uri="{FF2B5EF4-FFF2-40B4-BE49-F238E27FC236}">
                <a16:creationId xmlns:a16="http://schemas.microsoft.com/office/drawing/2014/main" id="{C08FA21A-FAD2-4BD3-8615-7CE80ADB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進階設計</a:t>
            </a:r>
          </a:p>
        </p:txBody>
      </p:sp>
      <p:sp>
        <p:nvSpPr>
          <p:cNvPr id="3" name="32">
            <a:extLst xmlns:a="http://schemas.openxmlformats.org/drawingml/2006/main">
              <a:ext uri="{FF2B5EF4-FFF2-40B4-BE49-F238E27FC236}">
                <a16:creationId xmlns:a16="http://schemas.microsoft.com/office/drawing/2014/main" id="{957F7A09-C9C2-4845-A8D8-8E0A40CE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32</a:t>
            </a:r>
          </a:p>
        </p:txBody>
      </p:sp>
      <p:sp>
        <p:nvSpPr>
          <p:cNvPr id="4" name="區間規則">
            <a:extLst xmlns:a="http://schemas.openxmlformats.org/drawingml/2006/main">
              <a:ext uri="{FF2B5EF4-FFF2-40B4-BE49-F238E27FC236}">
                <a16:creationId xmlns:a16="http://schemas.microsoft.com/office/drawing/2014/main" id="{173AF63A-6B37-4874-A840-98EFFB78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1450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區間規則</a:t>
            </a:r>
          </a:p>
        </p:txBody>
      </p:sp>
      <p:sp>
        <p:nvSpPr>
          <p:cNvPr id="5" name="start 必須小於或等於 end">
            <a:extLst xmlns:a="http://schemas.openxmlformats.org/drawingml/2006/main">
              <a:ext uri="{FF2B5EF4-FFF2-40B4-BE49-F238E27FC236}">
                <a16:creationId xmlns:a16="http://schemas.microsoft.com/office/drawing/2014/main" id="{A73F8D39-22A5-436F-9CFE-5BAFE271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743075"/>
            <a:ext cx="7858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start 必須小於或等於 end</a:t>
            </a:r>
          </a:p>
        </p:txBody>
      </p:sp>
      <p:sp>
        <p:nvSpPr>
          <p:cNvPr id="6" name="分別設定的問題">
            <a:extLst xmlns:a="http://schemas.openxmlformats.org/drawingml/2006/main">
              <a:ext uri="{FF2B5EF4-FFF2-40B4-BE49-F238E27FC236}">
                <a16:creationId xmlns:a16="http://schemas.microsoft.com/office/drawing/2014/main" id="{739A6A14-804F-4059-8FD8-F552C2FA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05075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分別設定的問題</a:t>
            </a:r>
          </a:p>
        </p:txBody>
      </p:sp>
      <p:sp>
        <p:nvSpPr>
          <p:cNvPr id="7" name="先改 start 可能暫時超過舊 end">
            <a:extLst xmlns:a="http://schemas.openxmlformats.org/drawingml/2006/main">
              <a:ext uri="{FF2B5EF4-FFF2-40B4-BE49-F238E27FC236}">
                <a16:creationId xmlns:a16="http://schemas.microsoft.com/office/drawing/2014/main" id="{9A8F2990-D728-4302-83E8-00AAF2D1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533650"/>
            <a:ext cx="7858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先改 start 可能暫時超過舊 end</a:t>
            </a:r>
          </a:p>
        </p:txBody>
      </p:sp>
      <p:sp>
        <p:nvSpPr>
          <p:cNvPr id="8" name="完整操作">
            <a:extLst xmlns:a="http://schemas.openxmlformats.org/drawingml/2006/main">
              <a:ext uri="{FF2B5EF4-FFF2-40B4-BE49-F238E27FC236}">
                <a16:creationId xmlns:a16="http://schemas.microsoft.com/office/drawing/2014/main" id="{27C88877-31AC-4D79-9F79-89D539A6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9565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完整操作</a:t>
            </a:r>
          </a:p>
        </p:txBody>
      </p:sp>
      <p:sp>
        <p:nvSpPr>
          <p:cNvPr id="9" name="set_bounds(start, end) 接收一組新值">
            <a:extLst xmlns:a="http://schemas.openxmlformats.org/drawingml/2006/main">
              <a:ext uri="{FF2B5EF4-FFF2-40B4-BE49-F238E27FC236}">
                <a16:creationId xmlns:a16="http://schemas.microsoft.com/office/drawing/2014/main" id="{FEE3FA8D-E33A-430B-904B-6601CDD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324225"/>
            <a:ext cx="7858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set_bounds(start, end) 接收一組新值</a:t>
            </a:r>
          </a:p>
        </p:txBody>
      </p:sp>
      <p:sp>
        <p:nvSpPr>
          <p:cNvPr id="10" name="驗證順序">
            <a:extLst xmlns:a="http://schemas.openxmlformats.org/drawingml/2006/main">
              <a:ext uri="{FF2B5EF4-FFF2-40B4-BE49-F238E27FC236}">
                <a16:creationId xmlns:a16="http://schemas.microsoft.com/office/drawing/2014/main" id="{7F21FCE8-51C1-4DE4-95E1-7E4DC5BA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86225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驗證順序</a:t>
            </a:r>
          </a:p>
        </p:txBody>
      </p:sp>
      <p:sp>
        <p:nvSpPr>
          <p:cNvPr id="11" name="先檢查新值彼此的關係，再一起更新">
            <a:extLst xmlns:a="http://schemas.openxmlformats.org/drawingml/2006/main">
              <a:ext uri="{FF2B5EF4-FFF2-40B4-BE49-F238E27FC236}">
                <a16:creationId xmlns:a16="http://schemas.microsoft.com/office/drawing/2014/main" id="{9A716160-96BE-4399-A5B5-C463D02C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114800"/>
            <a:ext cx="7858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先檢查新值彼此的關係，再一起更新</a:t>
            </a:r>
          </a:p>
        </p:txBody>
      </p:sp>
      <p:sp>
        <p:nvSpPr>
          <p:cNvPr id="12" name="跨欄位規則常適合用方法表達完整的狀態變更。">
            <a:extLst xmlns:a="http://schemas.openxmlformats.org/drawingml/2006/main">
              <a:ext uri="{FF2B5EF4-FFF2-40B4-BE49-F238E27FC236}">
                <a16:creationId xmlns:a16="http://schemas.microsoft.com/office/drawing/2014/main" id="{99F4991E-5384-4E2A-B14D-F84C7E8C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991225"/>
            <a:ext cx="1076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跨欄位規則常適合用方法表達完整的狀態變更。</a:t>
            </a:r>
          </a:p>
        </p:txBody>
      </p:sp>
    </p:spTree>
    <p:extLst>
      <p:ext uri="{BB962C8B-B14F-4D97-AF65-F5344CB8AC3E}">
        <p14:creationId xmlns:p14="http://schemas.microsoft.com/office/powerpoint/2010/main" val="154100369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區間以單一操作更新邊界">
            <a:extLst xmlns:a="http://schemas.openxmlformats.org/drawingml/2006/main">
              <a:ext uri="{FF2B5EF4-FFF2-40B4-BE49-F238E27FC236}">
                <a16:creationId xmlns:a16="http://schemas.microsoft.com/office/drawing/2014/main" id="{22D2AF00-8052-41F7-833A-B6A0AB01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區間以單一操作更新邊界</a:t>
            </a:r>
          </a:p>
        </p:txBody>
      </p:sp>
      <p:sp>
        <p:nvSpPr>
          <p:cNvPr id="2" name="進階設計">
            <a:extLst xmlns:a="http://schemas.openxmlformats.org/drawingml/2006/main">
              <a:ext uri="{FF2B5EF4-FFF2-40B4-BE49-F238E27FC236}">
                <a16:creationId xmlns:a16="http://schemas.microsoft.com/office/drawing/2014/main" id="{7354DF05-F675-4733-9D1A-D5EB72F6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進階設計</a:t>
            </a:r>
          </a:p>
        </p:txBody>
      </p:sp>
      <p:sp>
        <p:nvSpPr>
          <p:cNvPr id="3" name="33">
            <a:extLst xmlns:a="http://schemas.openxmlformats.org/drawingml/2006/main">
              <a:ext uri="{FF2B5EF4-FFF2-40B4-BE49-F238E27FC236}">
                <a16:creationId xmlns:a16="http://schemas.microsoft.com/office/drawing/2014/main" id="{65A9BAA4-412B-41DA-AF0A-7F0EC8DA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33</a:t>
            </a:r>
          </a:p>
        </p:txBody>
      </p:sp>
      <p:sp>
        <p:nvSpPr>
          <p:cNvPr id="4" name="class Interval:">
            <a:extLst xmlns:a="http://schemas.openxmlformats.org/drawingml/2006/main">
              <a:ext uri="{FF2B5EF4-FFF2-40B4-BE49-F238E27FC236}">
                <a16:creationId xmlns:a16="http://schemas.microsoft.com/office/drawing/2014/main" id="{B3638862-5921-4F72-8877-72C7907D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26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class Interval:</a:t>
            </a:r>
          </a:p>
        </p:txBody>
      </p:sp>
      <p:sp>
        <p:nvSpPr>
          <p:cNvPr id="5" name="    def __init__(self, start, end):">
            <a:extLst xmlns:a="http://schemas.openxmlformats.org/drawingml/2006/main">
              <a:ext uri="{FF2B5EF4-FFF2-40B4-BE49-F238E27FC236}">
                <a16:creationId xmlns:a16="http://schemas.microsoft.com/office/drawing/2014/main" id="{FF6F4650-4D4F-48FD-B211-F67502FC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6275"/>
            <a:ext cx="7391400" cy="26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def __init__(self, start, end):</a:t>
            </a:r>
          </a:p>
        </p:txBody>
      </p:sp>
      <p:sp>
        <p:nvSpPr>
          <p:cNvPr id="6" name="        self.set_bounds(start, end)">
            <a:extLst xmlns:a="http://schemas.openxmlformats.org/drawingml/2006/main">
              <a:ext uri="{FF2B5EF4-FFF2-40B4-BE49-F238E27FC236}">
                <a16:creationId xmlns:a16="http://schemas.microsoft.com/office/drawing/2014/main" id="{914D5FC7-F168-4DF9-BD88-18765594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9475"/>
            <a:ext cx="7391400" cy="26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self.set_bounds(start, end)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E8808B-6CF4-4998-B434-A9D0BC7F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7391400" cy="26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    def set_bounds(self, start, end):">
            <a:extLst xmlns:a="http://schemas.openxmlformats.org/drawingml/2006/main">
              <a:ext uri="{FF2B5EF4-FFF2-40B4-BE49-F238E27FC236}">
                <a16:creationId xmlns:a16="http://schemas.microsoft.com/office/drawing/2014/main" id="{2647CE1D-211E-48D0-830B-C5299F3B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5875"/>
            <a:ext cx="7391400" cy="26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def set_bounds(self, start, end):</a:t>
            </a:r>
          </a:p>
        </p:txBody>
      </p:sp>
      <p:sp>
        <p:nvSpPr>
          <p:cNvPr id="9" name="        if type(start) is not int or type(end) is not i">
            <a:extLst xmlns:a="http://schemas.openxmlformats.org/drawingml/2006/main">
              <a:ext uri="{FF2B5EF4-FFF2-40B4-BE49-F238E27FC236}">
                <a16:creationId xmlns:a16="http://schemas.microsoft.com/office/drawing/2014/main" id="{6F39FF56-6D22-429C-A81E-4FB5BFBD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9075"/>
            <a:ext cx="7391400" cy="26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if type(start) is not int or type(end) is not int:</a:t>
            </a:r>
          </a:p>
        </p:txBody>
      </p:sp>
      <p:sp>
        <p:nvSpPr>
          <p:cNvPr id="10" name="            raise TypeError(&quot;integer bounds required&quot;)">
            <a:extLst xmlns:a="http://schemas.openxmlformats.org/drawingml/2006/main">
              <a:ext uri="{FF2B5EF4-FFF2-40B4-BE49-F238E27FC236}">
                <a16:creationId xmlns:a16="http://schemas.microsoft.com/office/drawing/2014/main" id="{D4723AAE-35F8-4D2A-A016-9A2DD342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7391400" cy="26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    raise TypeError("integer bounds required")</a:t>
            </a:r>
          </a:p>
        </p:txBody>
      </p:sp>
      <p:sp>
        <p:nvSpPr>
          <p:cNvPr id="11" name="        if start &gt; end:">
            <a:extLst xmlns:a="http://schemas.openxmlformats.org/drawingml/2006/main">
              <a:ext uri="{FF2B5EF4-FFF2-40B4-BE49-F238E27FC236}">
                <a16:creationId xmlns:a16="http://schemas.microsoft.com/office/drawing/2014/main" id="{D6C091E4-E902-4949-A2E0-5115460A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5475"/>
            <a:ext cx="7391400" cy="26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if start &gt; end:</a:t>
            </a:r>
          </a:p>
        </p:txBody>
      </p:sp>
      <p:sp>
        <p:nvSpPr>
          <p:cNvPr id="12" name="            raise ValueError(&quot;invalid interval&quot;)">
            <a:extLst xmlns:a="http://schemas.openxmlformats.org/drawingml/2006/main">
              <a:ext uri="{FF2B5EF4-FFF2-40B4-BE49-F238E27FC236}">
                <a16:creationId xmlns:a16="http://schemas.microsoft.com/office/drawing/2014/main" id="{DFC154E3-5918-442F-9769-815E7D2A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8675"/>
            <a:ext cx="7391400" cy="26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    raise ValueError("invalid interval")</a:t>
            </a:r>
          </a:p>
        </p:txBody>
      </p:sp>
      <p:sp>
        <p:nvSpPr>
          <p:cNvPr id="13" name="        self._start, self._end = start, end">
            <a:extLst xmlns:a="http://schemas.openxmlformats.org/drawingml/2006/main">
              <a:ext uri="{FF2B5EF4-FFF2-40B4-BE49-F238E27FC236}">
                <a16:creationId xmlns:a16="http://schemas.microsoft.com/office/drawing/2014/main" id="{7ECB4763-5AD9-4DAA-9079-F5B02D1E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7391400" cy="26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self._start, self._end = start, 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B79BB8-C4F2-4759-B0D6-10A71434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5075"/>
            <a:ext cx="7391400" cy="26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    @property">
            <a:extLst xmlns:a="http://schemas.openxmlformats.org/drawingml/2006/main">
              <a:ext uri="{FF2B5EF4-FFF2-40B4-BE49-F238E27FC236}">
                <a16:creationId xmlns:a16="http://schemas.microsoft.com/office/drawing/2014/main" id="{EBCF676F-DBE7-4B16-9E84-FF020183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8275"/>
            <a:ext cx="7391400" cy="26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@property</a:t>
            </a:r>
          </a:p>
        </p:txBody>
      </p:sp>
      <p:sp>
        <p:nvSpPr>
          <p:cNvPr id="16" name="    def bounds(self):">
            <a:extLst xmlns:a="http://schemas.openxmlformats.org/drawingml/2006/main">
              <a:ext uri="{FF2B5EF4-FFF2-40B4-BE49-F238E27FC236}">
                <a16:creationId xmlns:a16="http://schemas.microsoft.com/office/drawing/2014/main" id="{995F0546-A268-4043-9E3B-E29F2E9F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7391400" cy="26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def bounds(self):</a:t>
            </a:r>
          </a:p>
        </p:txBody>
      </p:sp>
      <p:sp>
        <p:nvSpPr>
          <p:cNvPr id="17" name="        return self._start, self._end">
            <a:extLst xmlns:a="http://schemas.openxmlformats.org/drawingml/2006/main">
              <a:ext uri="{FF2B5EF4-FFF2-40B4-BE49-F238E27FC236}">
                <a16:creationId xmlns:a16="http://schemas.microsoft.com/office/drawing/2014/main" id="{D2E5FD88-B212-46CE-970C-18E40A70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4675"/>
            <a:ext cx="7391400" cy="26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return self._start, self._end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5555FD-307C-4C51-BEA5-0B18F018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7875"/>
            <a:ext cx="7391400" cy="26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r = Interval(0, 10)">
            <a:extLst xmlns:a="http://schemas.openxmlformats.org/drawingml/2006/main">
              <a:ext uri="{FF2B5EF4-FFF2-40B4-BE49-F238E27FC236}">
                <a16:creationId xmlns:a16="http://schemas.microsoft.com/office/drawing/2014/main" id="{5FC582C7-FB9D-4E73-876E-662DC032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7391400" cy="26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r = Interval(0, 10)</a:t>
            </a:r>
          </a:p>
        </p:txBody>
      </p:sp>
      <p:sp>
        <p:nvSpPr>
          <p:cNvPr id="20" name="r.set_bounds(20, 30)">
            <a:extLst xmlns:a="http://schemas.openxmlformats.org/drawingml/2006/main">
              <a:ext uri="{FF2B5EF4-FFF2-40B4-BE49-F238E27FC236}">
                <a16:creationId xmlns:a16="http://schemas.microsoft.com/office/drawing/2014/main" id="{96F1EB19-5370-467D-95B5-901CF25F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4275"/>
            <a:ext cx="7391400" cy="26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r.set_bounds(20, 30)</a:t>
            </a:r>
          </a:p>
        </p:txBody>
      </p:sp>
      <p:sp>
        <p:nvSpPr>
          <p:cNvPr id="21" name="print(r.bounds)">
            <a:extLst xmlns:a="http://schemas.openxmlformats.org/drawingml/2006/main">
              <a:ext uri="{FF2B5EF4-FFF2-40B4-BE49-F238E27FC236}">
                <a16:creationId xmlns:a16="http://schemas.microsoft.com/office/drawing/2014/main" id="{3743EBC2-E939-4338-85B5-72613CCF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7475"/>
            <a:ext cx="7391400" cy="26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print(r.bounds)</a:t>
            </a:r>
          </a:p>
        </p:txBody>
      </p:sp>
      <p:sp>
        <p:nvSpPr>
          <p:cNvPr id="22" name="驗證完整的新狀態">
            <a:extLst xmlns:a="http://schemas.openxmlformats.org/drawingml/2006/main">
              <a:ext uri="{FF2B5EF4-FFF2-40B4-BE49-F238E27FC236}">
                <a16:creationId xmlns:a16="http://schemas.microsoft.com/office/drawing/2014/main" id="{27B2C506-F824-423F-8168-248C4962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驗證完整的新狀態</a:t>
            </a:r>
          </a:p>
        </p:txBody>
      </p:sp>
      <p:sp>
        <p:nvSpPr>
          <p:cNvPr id="23" name="檢查 start 與 end 彼此的關係。">
            <a:extLst xmlns:a="http://schemas.openxmlformats.org/drawingml/2006/main">
              <a:ext uri="{FF2B5EF4-FFF2-40B4-BE49-F238E27FC236}">
                <a16:creationId xmlns:a16="http://schemas.microsoft.com/office/drawing/2014/main" id="{C55E5181-529C-4F85-82B7-FC725A96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檢查 start 與 end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彼此的關係。</a:t>
            </a:r>
          </a:p>
        </p:txBody>
      </p:sp>
      <p:sp>
        <p:nvSpPr>
          <p:cNvPr id="24" name="降低修改順序的依賴">
            <a:extLst xmlns:a="http://schemas.openxmlformats.org/drawingml/2006/main">
              <a:ext uri="{FF2B5EF4-FFF2-40B4-BE49-F238E27FC236}">
                <a16:creationId xmlns:a16="http://schemas.microsoft.com/office/drawing/2014/main" id="{31C42F4C-0D3B-473E-AD18-CC860DA8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降低修改順序的依賴</a:t>
            </a:r>
          </a:p>
        </p:txBody>
      </p:sp>
      <p:sp>
        <p:nvSpPr>
          <p:cNvPr id="25" name="呼叫端一次提供兩個值。 本例不處理多執行緒同步。">
            <a:extLst xmlns:a="http://schemas.openxmlformats.org/drawingml/2006/main">
              <a:ext uri="{FF2B5EF4-FFF2-40B4-BE49-F238E27FC236}">
                <a16:creationId xmlns:a16="http://schemas.microsoft.com/office/drawing/2014/main" id="{CAA17C2D-03F5-4AA4-B348-34DECBD4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呼叫端一次提供兩個值。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本例不處理多執行緒同步。</a:t>
            </a:r>
          </a:p>
        </p:txBody>
      </p:sp>
      <p:sp>
        <p:nvSpPr>
          <p:cNvPr id="26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2E270E65-0646-4176-8A61-718D8A35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7" name="(20, 30)">
            <a:extLst xmlns:a="http://schemas.openxmlformats.org/drawingml/2006/main">
              <a:ext uri="{FF2B5EF4-FFF2-40B4-BE49-F238E27FC236}">
                <a16:creationId xmlns:a16="http://schemas.microsoft.com/office/drawing/2014/main" id="{1E21E250-CB2E-47A7-B3E1-490F89ED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(20, 30)</a:t>
            </a:r>
          </a:p>
        </p:txBody>
      </p:sp>
    </p:spTree>
    <p:extLst>
      <p:ext uri="{BB962C8B-B14F-4D97-AF65-F5344CB8AC3E}">
        <p14:creationId xmlns:p14="http://schemas.microsoft.com/office/powerpoint/2010/main" val="106545981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property 的函式形式">
            <a:extLst xmlns:a="http://schemas.openxmlformats.org/drawingml/2006/main">
              <a:ext uri="{FF2B5EF4-FFF2-40B4-BE49-F238E27FC236}">
                <a16:creationId xmlns:a16="http://schemas.microsoft.com/office/drawing/2014/main" id="{375A7D1D-4EB1-413C-83AA-BD404A08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property 的函式形式</a:t>
            </a:r>
          </a:p>
        </p:txBody>
      </p:sp>
      <p:sp>
        <p:nvSpPr>
          <p:cNvPr id="2" name="進階機制">
            <a:extLst xmlns:a="http://schemas.openxmlformats.org/drawingml/2006/main">
              <a:ext uri="{FF2B5EF4-FFF2-40B4-BE49-F238E27FC236}">
                <a16:creationId xmlns:a16="http://schemas.microsoft.com/office/drawing/2014/main" id="{B3DF8D4B-43B1-4944-9BA1-A0E919B5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進階機制</a:t>
            </a:r>
          </a:p>
        </p:txBody>
      </p:sp>
      <p:sp>
        <p:nvSpPr>
          <p:cNvPr id="3" name="34">
            <a:extLst xmlns:a="http://schemas.openxmlformats.org/drawingml/2006/main">
              <a:ext uri="{FF2B5EF4-FFF2-40B4-BE49-F238E27FC236}">
                <a16:creationId xmlns:a16="http://schemas.microsoft.com/office/drawing/2014/main" id="{D98A75D5-D837-4CD2-8060-68A0D2CD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34</a:t>
            </a:r>
          </a:p>
        </p:txBody>
      </p:sp>
      <p:sp>
        <p:nvSpPr>
          <p:cNvPr id="4" name="class Temperature:">
            <a:extLst xmlns:a="http://schemas.openxmlformats.org/drawingml/2006/main">
              <a:ext uri="{FF2B5EF4-FFF2-40B4-BE49-F238E27FC236}">
                <a16:creationId xmlns:a16="http://schemas.microsoft.com/office/drawing/2014/main" id="{58BECAB6-22C3-4520-9A10-2AF43A77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Temperature:</a:t>
            </a:r>
          </a:p>
        </p:txBody>
      </p:sp>
      <p:sp>
        <p:nvSpPr>
          <p:cNvPr id="5" name="    def get_celsius(self):">
            <a:extLst xmlns:a="http://schemas.openxmlformats.org/drawingml/2006/main">
              <a:ext uri="{FF2B5EF4-FFF2-40B4-BE49-F238E27FC236}">
                <a16:creationId xmlns:a16="http://schemas.microsoft.com/office/drawing/2014/main" id="{A09A5C67-2538-46A1-B822-114A9122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4429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get_celsius(self):</a:t>
            </a:r>
          </a:p>
        </p:txBody>
      </p:sp>
      <p:sp>
        <p:nvSpPr>
          <p:cNvPr id="6" name="        return self._celsius">
            <a:extLst xmlns:a="http://schemas.openxmlformats.org/drawingml/2006/main">
              <a:ext uri="{FF2B5EF4-FFF2-40B4-BE49-F238E27FC236}">
                <a16:creationId xmlns:a16="http://schemas.microsoft.com/office/drawing/2014/main" id="{153D9929-43A2-4182-8345-36CA9C7C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783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return self._celsius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E76570-4197-46D9-A9F0-B41CEC66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87137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    def set_celsius(self, value):">
            <a:extLst xmlns:a="http://schemas.openxmlformats.org/drawingml/2006/main">
              <a:ext uri="{FF2B5EF4-FFF2-40B4-BE49-F238E27FC236}">
                <a16:creationId xmlns:a16="http://schemas.microsoft.com/office/drawing/2014/main" id="{B3E4C27A-425A-40F4-8155-90DE8279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8490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set_celsius(self, value):</a:t>
            </a:r>
          </a:p>
        </p:txBody>
      </p:sp>
      <p:sp>
        <p:nvSpPr>
          <p:cNvPr id="9" name="        self._celsius = value">
            <a:extLst xmlns:a="http://schemas.openxmlformats.org/drawingml/2006/main">
              <a:ext uri="{FF2B5EF4-FFF2-40B4-BE49-F238E27FC236}">
                <a16:creationId xmlns:a16="http://schemas.microsoft.com/office/drawing/2014/main" id="{5200267B-0988-4385-A6DD-415E67FC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9844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self._celsius = value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2B23AE-8AD5-4678-83A9-BE906870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1198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    celsius = property(get_celsius, set_celsius)">
            <a:extLst xmlns:a="http://schemas.openxmlformats.org/drawingml/2006/main">
              <a:ext uri="{FF2B5EF4-FFF2-40B4-BE49-F238E27FC236}">
                <a16:creationId xmlns:a16="http://schemas.microsoft.com/office/drawing/2014/main" id="{3AE0B60F-D136-41CE-93CB-F4C71D5C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2552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celsius = property(get_celsius, set_celsius)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EAFCA7-C69F-4C7A-B45F-23A4379B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3906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t = Temperature()">
            <a:extLst xmlns:a="http://schemas.openxmlformats.org/drawingml/2006/main">
              <a:ext uri="{FF2B5EF4-FFF2-40B4-BE49-F238E27FC236}">
                <a16:creationId xmlns:a16="http://schemas.microsoft.com/office/drawing/2014/main" id="{6C9FFD19-4E3C-4CB5-9C37-6C492155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5260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t = Temperature()</a:t>
            </a:r>
          </a:p>
        </p:txBody>
      </p:sp>
      <p:sp>
        <p:nvSpPr>
          <p:cNvPr id="14" name="t.celsius = 25">
            <a:extLst xmlns:a="http://schemas.openxmlformats.org/drawingml/2006/main">
              <a:ext uri="{FF2B5EF4-FFF2-40B4-BE49-F238E27FC236}">
                <a16:creationId xmlns:a16="http://schemas.microsoft.com/office/drawing/2014/main" id="{AA0DA38C-E153-4EC2-A57D-E207CE5C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6613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t.celsius = 25</a:t>
            </a:r>
          </a:p>
        </p:txBody>
      </p:sp>
      <p:sp>
        <p:nvSpPr>
          <p:cNvPr id="15" name="print(t.celsius)">
            <a:extLst xmlns:a="http://schemas.openxmlformats.org/drawingml/2006/main">
              <a:ext uri="{FF2B5EF4-FFF2-40B4-BE49-F238E27FC236}">
                <a16:creationId xmlns:a16="http://schemas.microsoft.com/office/drawing/2014/main" id="{D0F3FE25-2144-4C9D-8A5F-180246EB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7967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print(t.celsius)</a:t>
            </a:r>
          </a:p>
        </p:txBody>
      </p:sp>
      <p:sp>
        <p:nvSpPr>
          <p:cNvPr id="16" name="print(Temperature.celsius.fget.__name__)">
            <a:extLst xmlns:a="http://schemas.openxmlformats.org/drawingml/2006/main">
              <a:ext uri="{FF2B5EF4-FFF2-40B4-BE49-F238E27FC236}">
                <a16:creationId xmlns:a16="http://schemas.microsoft.com/office/drawing/2014/main" id="{46292164-6ED6-4093-AFC4-DD9C0CCC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9321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print(Temperature.celsius.fget.__name__)</a:t>
            </a:r>
          </a:p>
        </p:txBody>
      </p:sp>
      <p:sp>
        <p:nvSpPr>
          <p:cNvPr id="17" name="裝飾器是便利的寫法">
            <a:extLst xmlns:a="http://schemas.openxmlformats.org/drawingml/2006/main">
              <a:ext uri="{FF2B5EF4-FFF2-40B4-BE49-F238E27FC236}">
                <a16:creationId xmlns:a16="http://schemas.microsoft.com/office/drawing/2014/main" id="{084CF959-998B-44F7-A9D1-0EA71B7B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裝飾器是便利的寫法</a:t>
            </a:r>
          </a:p>
        </p:txBody>
      </p:sp>
      <p:sp>
        <p:nvSpPr>
          <p:cNvPr id="18" name="property 可直接接收 getter 與 setter 函式。">
            <a:extLst xmlns:a="http://schemas.openxmlformats.org/drawingml/2006/main">
              <a:ext uri="{FF2B5EF4-FFF2-40B4-BE49-F238E27FC236}">
                <a16:creationId xmlns:a16="http://schemas.microsoft.com/office/drawing/2014/main" id="{8DE54FF4-7624-451C-878A-6A0DB090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property 可直接接收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getter 與 setter 函式。</a:t>
            </a:r>
          </a:p>
        </p:txBody>
      </p:sp>
      <p:sp>
        <p:nvSpPr>
          <p:cNvPr id="19" name="建立後才能安全讀取">
            <a:extLst xmlns:a="http://schemas.openxmlformats.org/drawingml/2006/main">
              <a:ext uri="{FF2B5EF4-FFF2-40B4-BE49-F238E27FC236}">
                <a16:creationId xmlns:a16="http://schemas.microsoft.com/office/drawing/2014/main" id="{9366CA76-6700-434A-B247-EF6701CF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建立後才能安全讀取</a:t>
            </a:r>
          </a:p>
        </p:txBody>
      </p:sp>
      <p:sp>
        <p:nvSpPr>
          <p:cNvPr id="20" name="此簡化範例先設定 celsius， 再讀取 _celsius。">
            <a:extLst xmlns:a="http://schemas.openxmlformats.org/drawingml/2006/main">
              <a:ext uri="{FF2B5EF4-FFF2-40B4-BE49-F238E27FC236}">
                <a16:creationId xmlns:a16="http://schemas.microsoft.com/office/drawing/2014/main" id="{731D5FC5-7B4C-4CE0-8517-EBD444B1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此簡化範例先設定 celsius，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再讀取 _celsius。</a:t>
            </a:r>
          </a:p>
        </p:txBody>
      </p:sp>
      <p:sp>
        <p:nvSpPr>
          <p:cNvPr id="21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AB6E91E6-E9B9-42CC-92B4-7BEF0317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2" name="25    get_celsius">
            <a:extLst xmlns:a="http://schemas.openxmlformats.org/drawingml/2006/main">
              <a:ext uri="{FF2B5EF4-FFF2-40B4-BE49-F238E27FC236}">
                <a16:creationId xmlns:a16="http://schemas.microsoft.com/office/drawing/2014/main" id="{D2E9CBA7-0C12-4EEA-A53A-D0CDCCC9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25    get_celsius</a:t>
            </a:r>
          </a:p>
        </p:txBody>
      </p:sp>
    </p:spTree>
    <p:extLst>
      <p:ext uri="{BB962C8B-B14F-4D97-AF65-F5344CB8AC3E}">
        <p14:creationId xmlns:p14="http://schemas.microsoft.com/office/powerpoint/2010/main" val="167188327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roperty 與 descriptor 的查找順序">
            <a:extLst xmlns:a="http://schemas.openxmlformats.org/drawingml/2006/main">
              <a:ext uri="{FF2B5EF4-FFF2-40B4-BE49-F238E27FC236}">
                <a16:creationId xmlns:a16="http://schemas.microsoft.com/office/drawing/2014/main" id="{82399CEE-BAB5-4B85-9A10-A3D88429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property 與 descriptor 的查找順序</a:t>
            </a:r>
          </a:p>
        </p:txBody>
      </p:sp>
      <p:sp>
        <p:nvSpPr>
          <p:cNvPr id="2" name="進階機制">
            <a:extLst xmlns:a="http://schemas.openxmlformats.org/drawingml/2006/main">
              <a:ext uri="{FF2B5EF4-FFF2-40B4-BE49-F238E27FC236}">
                <a16:creationId xmlns:a16="http://schemas.microsoft.com/office/drawing/2014/main" id="{44F9961F-2DF2-49DF-82E1-F6CEDE74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進階機制</a:t>
            </a:r>
          </a:p>
        </p:txBody>
      </p:sp>
      <p:sp>
        <p:nvSpPr>
          <p:cNvPr id="3" name="35">
            <a:extLst xmlns:a="http://schemas.openxmlformats.org/drawingml/2006/main">
              <a:ext uri="{FF2B5EF4-FFF2-40B4-BE49-F238E27FC236}">
                <a16:creationId xmlns:a16="http://schemas.microsoft.com/office/drawing/2014/main" id="{4CCDF869-9735-4F5C-A960-90E887E8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35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619250"/>
                <a:gridCol w="5524500"/>
                <a:gridCol w="3829050"/>
              </a:tblGrid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順序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一般實體屬性讀取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本週的例子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類別上的 data descriptor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property（包含只有 getter 者）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實體字典中的同名項目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obj.__dict__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non-data descriptor 或類別屬性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一般方法、普通類別預設值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找不到時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一般點號存取可轉交 __getattr__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有定義時才執行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  <p:sp>
        <p:nvSpPr>
          <p:cNvPr id="5" name="descriptor 透過特殊方法控制屬性存取。 提供 __set__ 或 __delete__ 的描述器，屬">
            <a:extLst xmlns:a="http://schemas.openxmlformats.org/drawingml/2006/main">
              <a:ext uri="{FF2B5EF4-FFF2-40B4-BE49-F238E27FC236}">
                <a16:creationId xmlns:a16="http://schemas.microsoft.com/office/drawing/2014/main" id="{3ACB8E46-89FE-4E1F-9408-E92DCD26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0275"/>
            <a:ext cx="10706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descriptor 透過特殊方法控制屬性存取。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提供 __set__ 或 __delete__ 的描述器，屬於 data descriptor。</a:t>
            </a:r>
          </a:p>
        </p:txBody>
      </p:sp>
    </p:spTree>
    <p:extLst>
      <p:ext uri="{BB962C8B-B14F-4D97-AF65-F5344CB8AC3E}">
        <p14:creationId xmlns:p14="http://schemas.microsoft.com/office/powerpoint/2010/main" val="36769371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實例屬性的查找順序">
            <a:extLst xmlns:a="http://schemas.openxmlformats.org/drawingml/2006/main">
              <a:ext uri="{FF2B5EF4-FFF2-40B4-BE49-F238E27FC236}">
                <a16:creationId xmlns:a16="http://schemas.microsoft.com/office/drawing/2014/main" id="{8BCD4940-A69C-43FF-AA8B-73B0F5C0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實例屬性的查找順序</a:t>
            </a:r>
          </a:p>
        </p:txBody>
      </p:sp>
      <p:sp>
        <p:nvSpPr>
          <p:cNvPr id="2" name="預設屬性查找下，property 優先於實例的 __dict__">
            <a:extLst xmlns:a="http://schemas.openxmlformats.org/drawingml/2006/main">
              <a:ext uri="{FF2B5EF4-FFF2-40B4-BE49-F238E27FC236}">
                <a16:creationId xmlns:a16="http://schemas.microsoft.com/office/drawing/2014/main" id="{551BFEF8-3FB8-4B17-BA7F-EF6696845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預設屬性查找下，property 優先於實例的 __dict__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bfa7d81abe4b3f"/>
          <a:stretch xmlns:a="http://schemas.openxmlformats.org/drawingml/2006/main"/>
        </p:blipFill>
        <p:spPr>
          <a:xfrm xmlns:a="http://schemas.openxmlformats.org/drawingml/2006/main">
            <a:off x="609600" y="1790700"/>
            <a:ext cx="10972800" cy="3657600"/>
          </a:xfrm>
          <a:prstGeom xmlns:a="http://schemas.openxmlformats.org/drawingml/2006/main" prst="rect">
            <a:avLst/>
          </a:prstGeom>
        </p:spPr>
      </p:pic>
      <p:sp>
        <p:nvSpPr>
          <p:cNvPr id="4" name="非資料描述器也會呼叫 __get__；一般類別屬性則直接取值。&#10;一般屬性存取遇到 AttributeError 時，才可">
            <a:extLst xmlns:a="http://schemas.openxmlformats.org/drawingml/2006/main">
              <a:ext uri="{FF2B5EF4-FFF2-40B4-BE49-F238E27FC236}">
                <a16:creationId xmlns:a16="http://schemas.microsoft.com/office/drawing/2014/main" id="{EEEBE49A-690A-4687-9B83-0AA702A3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0"/>
            <a:ext cx="10915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非資料描述器也會呼叫 __get__；一般類別屬性則直接取值。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一般屬性存取遇到 AttributeError 時，才可能交由 __getattr__ 處理。</a:t>
            </a:r>
          </a:p>
        </p:txBody>
      </p:sp>
      <p:sp>
        <p:nvSpPr>
          <p:cNvPr id="5" name="35A">
            <a:extLst xmlns:a="http://schemas.openxmlformats.org/drawingml/2006/main">
              <a:ext uri="{FF2B5EF4-FFF2-40B4-BE49-F238E27FC236}">
                <a16:creationId xmlns:a16="http://schemas.microsoft.com/office/drawing/2014/main" id="{3F13520F-E128-4822-AB24-174F72B1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6467475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35A</a:t>
            </a:r>
          </a:p>
        </p:txBody>
      </p:sp>
    </p:spTree>
    <p:extLst>
      <p:ext uri="{BB962C8B-B14F-4D97-AF65-F5344CB8AC3E}">
        <p14:creationId xmlns:p14="http://schemas.microsoft.com/office/powerpoint/2010/main" val="67163879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同名字典項目無法遮蔽 property">
            <a:extLst xmlns:a="http://schemas.openxmlformats.org/drawingml/2006/main">
              <a:ext uri="{FF2B5EF4-FFF2-40B4-BE49-F238E27FC236}">
                <a16:creationId xmlns:a16="http://schemas.microsoft.com/office/drawing/2014/main" id="{6BD311CD-B0E6-466B-9A58-6B321448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同名字典項目無法遮蔽 property</a:t>
            </a:r>
          </a:p>
        </p:txBody>
      </p:sp>
      <p:sp>
        <p:nvSpPr>
          <p:cNvPr id="2" name="進階機制">
            <a:extLst xmlns:a="http://schemas.openxmlformats.org/drawingml/2006/main">
              <a:ext uri="{FF2B5EF4-FFF2-40B4-BE49-F238E27FC236}">
                <a16:creationId xmlns:a16="http://schemas.microsoft.com/office/drawing/2014/main" id="{7B85F626-5C53-4E3D-8258-03BA16DF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進階機制</a:t>
            </a:r>
          </a:p>
        </p:txBody>
      </p:sp>
      <p:sp>
        <p:nvSpPr>
          <p:cNvPr id="3" name="36">
            <a:extLst xmlns:a="http://schemas.openxmlformats.org/drawingml/2006/main">
              <a:ext uri="{FF2B5EF4-FFF2-40B4-BE49-F238E27FC236}">
                <a16:creationId xmlns:a16="http://schemas.microsoft.com/office/drawing/2014/main" id="{58BFCCE0-1029-48E7-AF81-792F077D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36</a:t>
            </a:r>
          </a:p>
        </p:txBody>
      </p:sp>
      <p:sp>
        <p:nvSpPr>
          <p:cNvPr id="4" name="class Item:">
            <a:extLst xmlns:a="http://schemas.openxmlformats.org/drawingml/2006/main">
              <a:ext uri="{FF2B5EF4-FFF2-40B4-BE49-F238E27FC236}">
                <a16:creationId xmlns:a16="http://schemas.microsoft.com/office/drawing/2014/main" id="{EC263186-C96B-47FA-880C-286DA816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Item:</a:t>
            </a:r>
          </a:p>
        </p:txBody>
      </p:sp>
      <p:sp>
        <p:nvSpPr>
          <p:cNvPr id="5" name="    def __init__(self):">
            <a:extLst xmlns:a="http://schemas.openxmlformats.org/drawingml/2006/main">
              <a:ext uri="{FF2B5EF4-FFF2-40B4-BE49-F238E27FC236}">
                <a16:creationId xmlns:a16="http://schemas.microsoft.com/office/drawing/2014/main" id="{01F1818D-8E57-409F-9683-6BB084E0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__init__(self):</a:t>
            </a:r>
          </a:p>
        </p:txBody>
      </p:sp>
      <p:sp>
        <p:nvSpPr>
          <p:cNvPr id="6" name="        self._price = 100">
            <a:extLst xmlns:a="http://schemas.openxmlformats.org/drawingml/2006/main">
              <a:ext uri="{FF2B5EF4-FFF2-40B4-BE49-F238E27FC236}">
                <a16:creationId xmlns:a16="http://schemas.microsoft.com/office/drawing/2014/main" id="{9ED3A24D-8EFB-4F13-96D6-DE2CB039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self._price = 100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5004AE-879C-4F1E-A37A-470CE0EC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    @property">
            <a:extLst xmlns:a="http://schemas.openxmlformats.org/drawingml/2006/main">
              <a:ext uri="{FF2B5EF4-FFF2-40B4-BE49-F238E27FC236}">
                <a16:creationId xmlns:a16="http://schemas.microsoft.com/office/drawing/2014/main" id="{5BB1C464-C52C-4D52-B852-D58EEE12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@property</a:t>
            </a:r>
          </a:p>
        </p:txBody>
      </p:sp>
      <p:sp>
        <p:nvSpPr>
          <p:cNvPr id="9" name="    def price(self):">
            <a:extLst xmlns:a="http://schemas.openxmlformats.org/drawingml/2006/main">
              <a:ext uri="{FF2B5EF4-FFF2-40B4-BE49-F238E27FC236}">
                <a16:creationId xmlns:a16="http://schemas.microsoft.com/office/drawing/2014/main" id="{CD3A3EDB-D793-4A97-9070-19DB0286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price(self):</a:t>
            </a:r>
          </a:p>
        </p:txBody>
      </p:sp>
      <p:sp>
        <p:nvSpPr>
          <p:cNvPr id="10" name="        return self._price">
            <a:extLst xmlns:a="http://schemas.openxmlformats.org/drawingml/2006/main">
              <a:ext uri="{FF2B5EF4-FFF2-40B4-BE49-F238E27FC236}">
                <a16:creationId xmlns:a16="http://schemas.microsoft.com/office/drawing/2014/main" id="{BFD78B57-4505-4D3E-ACB5-C7710172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return self._price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58D02C-D365-4A8B-8A14-1FC713EE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x = Item()">
            <a:extLst xmlns:a="http://schemas.openxmlformats.org/drawingml/2006/main">
              <a:ext uri="{FF2B5EF4-FFF2-40B4-BE49-F238E27FC236}">
                <a16:creationId xmlns:a16="http://schemas.microsoft.com/office/drawing/2014/main" id="{DF0ECD46-3048-4033-8507-C6AF1804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x = Item()</a:t>
            </a:r>
          </a:p>
        </p:txBody>
      </p:sp>
      <p:sp>
        <p:nvSpPr>
          <p:cNvPr id="13" name="x.__dict__[&quot;price&quot;] = 999">
            <a:extLst xmlns:a="http://schemas.openxmlformats.org/drawingml/2006/main">
              <a:ext uri="{FF2B5EF4-FFF2-40B4-BE49-F238E27FC236}">
                <a16:creationId xmlns:a16="http://schemas.microsoft.com/office/drawing/2014/main" id="{05645D33-0852-4244-9C3C-5273D6F6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x.__dict__["price"] = 999</a:t>
            </a:r>
          </a:p>
        </p:txBody>
      </p:sp>
      <p:sp>
        <p:nvSpPr>
          <p:cNvPr id="14" name="print(x.price)">
            <a:extLst xmlns:a="http://schemas.openxmlformats.org/drawingml/2006/main">
              <a:ext uri="{FF2B5EF4-FFF2-40B4-BE49-F238E27FC236}">
                <a16:creationId xmlns:a16="http://schemas.microsoft.com/office/drawing/2014/main" id="{0F7C3BC3-67C3-4B09-99D0-6A7D3B9A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print(x.price)</a:t>
            </a:r>
          </a:p>
        </p:txBody>
      </p:sp>
      <p:sp>
        <p:nvSpPr>
          <p:cNvPr id="15" name="print(vars(x)[&quot;price&quot;])">
            <a:extLst xmlns:a="http://schemas.openxmlformats.org/drawingml/2006/main">
              <a:ext uri="{FF2B5EF4-FFF2-40B4-BE49-F238E27FC236}">
                <a16:creationId xmlns:a16="http://schemas.microsoft.com/office/drawing/2014/main" id="{5D5133F5-FC83-4F6E-8D9B-E823C43C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print(vars(x)["price"])</a:t>
            </a:r>
          </a:p>
        </p:txBody>
      </p:sp>
      <p:sp>
        <p:nvSpPr>
          <p:cNvPr id="16" name="property 優先於實體字典">
            <a:extLst xmlns:a="http://schemas.openxmlformats.org/drawingml/2006/main">
              <a:ext uri="{FF2B5EF4-FFF2-40B4-BE49-F238E27FC236}">
                <a16:creationId xmlns:a16="http://schemas.microsoft.com/office/drawing/2014/main" id="{A34D64EA-5B59-4984-BE2E-A17F4F14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property 優先於實體字典</a:t>
            </a:r>
          </a:p>
        </p:txBody>
      </p:sp>
      <p:sp>
        <p:nvSpPr>
          <p:cNvPr id="17" name="x.price 仍然呼叫 getter， 因此得到 _price 的 100。">
            <a:extLst xmlns:a="http://schemas.openxmlformats.org/drawingml/2006/main">
              <a:ext uri="{FF2B5EF4-FFF2-40B4-BE49-F238E27FC236}">
                <a16:creationId xmlns:a16="http://schemas.microsoft.com/office/drawing/2014/main" id="{DA7A485A-9B09-405F-887A-E7E3206F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x.price 仍然呼叫 getter，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因此得到 _price 的 100。</a:t>
            </a:r>
          </a:p>
        </p:txBody>
      </p:sp>
      <p:sp>
        <p:nvSpPr>
          <p:cNvPr id="18" name="觀察機制的示範">
            <a:extLst xmlns:a="http://schemas.openxmlformats.org/drawingml/2006/main">
              <a:ext uri="{FF2B5EF4-FFF2-40B4-BE49-F238E27FC236}">
                <a16:creationId xmlns:a16="http://schemas.microsoft.com/office/drawing/2014/main" id="{71000B22-8088-420E-B7D9-2F4677F0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觀察機制的示範</a:t>
            </a:r>
          </a:p>
        </p:txBody>
      </p:sp>
      <p:sp>
        <p:nvSpPr>
          <p:cNvPr id="19" name="直接改 __dict__ 不屬於正常公開操作。">
            <a:extLst xmlns:a="http://schemas.openxmlformats.org/drawingml/2006/main">
              <a:ext uri="{FF2B5EF4-FFF2-40B4-BE49-F238E27FC236}">
                <a16:creationId xmlns:a16="http://schemas.microsoft.com/office/drawing/2014/main" id="{099F2C6C-F5A7-4713-943B-B33142F3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直接改 __dict__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不屬於正常公開操作。</a:t>
            </a:r>
          </a:p>
        </p:txBody>
      </p:sp>
      <p:sp>
        <p:nvSpPr>
          <p:cNvPr id="20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ACE6D1E6-0929-4231-AE0E-CD43BAF5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1" name="100    999">
            <a:extLst xmlns:a="http://schemas.openxmlformats.org/drawingml/2006/main">
              <a:ext uri="{FF2B5EF4-FFF2-40B4-BE49-F238E27FC236}">
                <a16:creationId xmlns:a16="http://schemas.microsoft.com/office/drawing/2014/main" id="{86CEA98E-6956-4526-9D7A-65B8B0C7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100    999</a:t>
            </a:r>
          </a:p>
        </p:txBody>
      </p:sp>
    </p:spTree>
    <p:extLst>
      <p:ext uri="{BB962C8B-B14F-4D97-AF65-F5344CB8AC3E}">
        <p14:creationId xmlns:p14="http://schemas.microsoft.com/office/powerpoint/2010/main" val="86819085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刪除屬性的明確語意">
            <a:extLst xmlns:a="http://schemas.openxmlformats.org/drawingml/2006/main">
              <a:ext uri="{FF2B5EF4-FFF2-40B4-BE49-F238E27FC236}">
                <a16:creationId xmlns:a16="http://schemas.microsoft.com/office/drawing/2014/main" id="{7565F71C-F62B-4D50-9588-1875ED11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刪除屬性的明確語意</a:t>
            </a:r>
          </a:p>
        </p:txBody>
      </p:sp>
      <p:sp>
        <p:nvSpPr>
          <p:cNvPr id="2" name="進階機制">
            <a:extLst xmlns:a="http://schemas.openxmlformats.org/drawingml/2006/main">
              <a:ext uri="{FF2B5EF4-FFF2-40B4-BE49-F238E27FC236}">
                <a16:creationId xmlns:a16="http://schemas.microsoft.com/office/drawing/2014/main" id="{BAAD0406-73E5-4053-85CB-ED4C8936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進階機制</a:t>
            </a:r>
          </a:p>
        </p:txBody>
      </p:sp>
      <p:sp>
        <p:nvSpPr>
          <p:cNvPr id="3" name="37">
            <a:extLst xmlns:a="http://schemas.openxmlformats.org/drawingml/2006/main">
              <a:ext uri="{FF2B5EF4-FFF2-40B4-BE49-F238E27FC236}">
                <a16:creationId xmlns:a16="http://schemas.microsoft.com/office/drawing/2014/main" id="{AADB033E-070A-4F73-8BD5-93162BFC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37</a:t>
            </a:r>
          </a:p>
        </p:txBody>
      </p:sp>
      <p:sp>
        <p:nvSpPr>
          <p:cNvPr id="4" name="class Cache:">
            <a:extLst xmlns:a="http://schemas.openxmlformats.org/drawingml/2006/main">
              <a:ext uri="{FF2B5EF4-FFF2-40B4-BE49-F238E27FC236}">
                <a16:creationId xmlns:a16="http://schemas.microsoft.com/office/drawing/2014/main" id="{53D4070C-358B-4915-BADA-63BC0353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class Cache:</a:t>
            </a:r>
          </a:p>
        </p:txBody>
      </p:sp>
      <p:sp>
        <p:nvSpPr>
          <p:cNvPr id="5" name="    @property">
            <a:extLst xmlns:a="http://schemas.openxmlformats.org/drawingml/2006/main">
              <a:ext uri="{FF2B5EF4-FFF2-40B4-BE49-F238E27FC236}">
                <a16:creationId xmlns:a16="http://schemas.microsoft.com/office/drawing/2014/main" id="{7680B675-FC18-4DF4-8763-1F1CA997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8228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@property</a:t>
            </a:r>
          </a:p>
        </p:txBody>
      </p:sp>
      <p:sp>
        <p:nvSpPr>
          <p:cNvPr id="6" name="    def value(self):">
            <a:extLst xmlns:a="http://schemas.openxmlformats.org/drawingml/2006/main">
              <a:ext uri="{FF2B5EF4-FFF2-40B4-BE49-F238E27FC236}">
                <a16:creationId xmlns:a16="http://schemas.microsoft.com/office/drawing/2014/main" id="{3FC9C91E-14E3-40CF-BB70-6FC64D66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3381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def value(self):</a:t>
            </a:r>
          </a:p>
        </p:txBody>
      </p:sp>
      <p:sp>
        <p:nvSpPr>
          <p:cNvPr id="7" name="        return self._value">
            <a:extLst xmlns:a="http://schemas.openxmlformats.org/drawingml/2006/main">
              <a:ext uri="{FF2B5EF4-FFF2-40B4-BE49-F238E27FC236}">
                <a16:creationId xmlns:a16="http://schemas.microsoft.com/office/drawing/2014/main" id="{C3C25553-9AE4-4644-8246-76A93529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8534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return self._value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9DEDBA-0978-4C70-82CD-703A6CAC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3687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    @value.setter">
            <a:extLst xmlns:a="http://schemas.openxmlformats.org/drawingml/2006/main">
              <a:ext uri="{FF2B5EF4-FFF2-40B4-BE49-F238E27FC236}">
                <a16:creationId xmlns:a16="http://schemas.microsoft.com/office/drawing/2014/main" id="{2290CDBA-FB31-4A8D-B487-B4180721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8840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@value.setter</a:t>
            </a:r>
          </a:p>
        </p:txBody>
      </p:sp>
      <p:sp>
        <p:nvSpPr>
          <p:cNvPr id="10" name="    def value(self, value):">
            <a:extLst xmlns:a="http://schemas.openxmlformats.org/drawingml/2006/main">
              <a:ext uri="{FF2B5EF4-FFF2-40B4-BE49-F238E27FC236}">
                <a16:creationId xmlns:a16="http://schemas.microsoft.com/office/drawing/2014/main" id="{16EEDC3F-BF94-48B9-8EF6-01971328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3993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def value(self, value):</a:t>
            </a:r>
          </a:p>
        </p:txBody>
      </p:sp>
      <p:sp>
        <p:nvSpPr>
          <p:cNvPr id="11" name="        self._value = value">
            <a:extLst xmlns:a="http://schemas.openxmlformats.org/drawingml/2006/main">
              <a:ext uri="{FF2B5EF4-FFF2-40B4-BE49-F238E27FC236}">
                <a16:creationId xmlns:a16="http://schemas.microsoft.com/office/drawing/2014/main" id="{EA2EA039-BD70-4D81-B330-57911D1F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9146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self._value =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238ABD-F528-48EB-8615-72DC5C0C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299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    @value.deleter">
            <a:extLst xmlns:a="http://schemas.openxmlformats.org/drawingml/2006/main">
              <a:ext uri="{FF2B5EF4-FFF2-40B4-BE49-F238E27FC236}">
                <a16:creationId xmlns:a16="http://schemas.microsoft.com/office/drawing/2014/main" id="{4BEF25B1-5DB8-47BF-8284-04E1078C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9451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@value.deleter</a:t>
            </a:r>
          </a:p>
        </p:txBody>
      </p:sp>
      <p:sp>
        <p:nvSpPr>
          <p:cNvPr id="14" name="    def value(self):">
            <a:extLst xmlns:a="http://schemas.openxmlformats.org/drawingml/2006/main">
              <a:ext uri="{FF2B5EF4-FFF2-40B4-BE49-F238E27FC236}">
                <a16:creationId xmlns:a16="http://schemas.microsoft.com/office/drawing/2014/main" id="{25C5F8B9-E2ED-4775-8B8E-646ACF66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4604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def value(self):</a:t>
            </a:r>
          </a:p>
        </p:txBody>
      </p:sp>
      <p:sp>
        <p:nvSpPr>
          <p:cNvPr id="15" name="        del self._value">
            <a:extLst xmlns:a="http://schemas.openxmlformats.org/drawingml/2006/main">
              <a:ext uri="{FF2B5EF4-FFF2-40B4-BE49-F238E27FC236}">
                <a16:creationId xmlns:a16="http://schemas.microsoft.com/office/drawing/2014/main" id="{47B3A5AF-E058-48BD-A589-0EEA4DA2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9757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del self._value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F22C2D-59F0-4360-8D55-84D26D1D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910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c = Cache()">
            <a:extLst xmlns:a="http://schemas.openxmlformats.org/drawingml/2006/main">
              <a:ext uri="{FF2B5EF4-FFF2-40B4-BE49-F238E27FC236}">
                <a16:creationId xmlns:a16="http://schemas.microsoft.com/office/drawing/2014/main" id="{CC85207D-14DF-478D-BBBF-57A7004F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0063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c = Cache()</a:t>
            </a:r>
          </a:p>
        </p:txBody>
      </p:sp>
      <p:sp>
        <p:nvSpPr>
          <p:cNvPr id="18" name="c.value = 10">
            <a:extLst xmlns:a="http://schemas.openxmlformats.org/drawingml/2006/main">
              <a:ext uri="{FF2B5EF4-FFF2-40B4-BE49-F238E27FC236}">
                <a16:creationId xmlns:a16="http://schemas.microsoft.com/office/drawing/2014/main" id="{16094E04-A8B3-4CB4-A7DF-5B910351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5216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c.value = 10</a:t>
            </a:r>
          </a:p>
        </p:txBody>
      </p:sp>
      <p:sp>
        <p:nvSpPr>
          <p:cNvPr id="19" name="del c.value">
            <a:extLst xmlns:a="http://schemas.openxmlformats.org/drawingml/2006/main">
              <a:ext uri="{FF2B5EF4-FFF2-40B4-BE49-F238E27FC236}">
                <a16:creationId xmlns:a16="http://schemas.microsoft.com/office/drawing/2014/main" id="{D28563CC-81F4-44E1-AAAC-0F09CC12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0369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del c.value</a:t>
            </a:r>
          </a:p>
        </p:txBody>
      </p:sp>
      <p:sp>
        <p:nvSpPr>
          <p:cNvPr id="20" name="print(hasattr(c, &quot;value&quot;))">
            <a:extLst xmlns:a="http://schemas.openxmlformats.org/drawingml/2006/main">
              <a:ext uri="{FF2B5EF4-FFF2-40B4-BE49-F238E27FC236}">
                <a16:creationId xmlns:a16="http://schemas.microsoft.com/office/drawing/2014/main" id="{A773CF78-14C8-4C59-95E0-738D42AD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5522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print(hasattr(c, "value"))</a:t>
            </a:r>
          </a:p>
        </p:txBody>
      </p:sp>
      <p:sp>
        <p:nvSpPr>
          <p:cNvPr id="21" name="del 會執行 deleter">
            <a:extLst xmlns:a="http://schemas.openxmlformats.org/drawingml/2006/main">
              <a:ext uri="{FF2B5EF4-FFF2-40B4-BE49-F238E27FC236}">
                <a16:creationId xmlns:a16="http://schemas.microsoft.com/office/drawing/2014/main" id="{541FE1CA-7EE4-4855-AFF6-E5A89809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del 會執行 deleter</a:t>
            </a:r>
          </a:p>
        </p:txBody>
      </p:sp>
      <p:sp>
        <p:nvSpPr>
          <p:cNvPr id="22" name="本例刪除 _value， 之後讀取會找不到資料。">
            <a:extLst xmlns:a="http://schemas.openxmlformats.org/drawingml/2006/main">
              <a:ext uri="{FF2B5EF4-FFF2-40B4-BE49-F238E27FC236}">
                <a16:creationId xmlns:a16="http://schemas.microsoft.com/office/drawing/2014/main" id="{F9B76DC6-A361-4530-8195-7659621E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本例刪除 _value，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之後讀取會找不到資料。</a:t>
            </a:r>
          </a:p>
        </p:txBody>
      </p:sp>
      <p:sp>
        <p:nvSpPr>
          <p:cNvPr id="23" name="必要狀態通常不提供刪除">
            <a:extLst xmlns:a="http://schemas.openxmlformats.org/drawingml/2006/main">
              <a:ext uri="{FF2B5EF4-FFF2-40B4-BE49-F238E27FC236}">
                <a16:creationId xmlns:a16="http://schemas.microsoft.com/office/drawing/2014/main" id="{62B2666A-7BAA-487B-BF4D-85534A3F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必要狀態通常不提供刪除</a:t>
            </a:r>
          </a:p>
        </p:txBody>
      </p:sp>
      <p:sp>
        <p:nvSpPr>
          <p:cNvPr id="24" name="若物件必須始終有餘額， 就不要開放刪除餘額。">
            <a:extLst xmlns:a="http://schemas.openxmlformats.org/drawingml/2006/main">
              <a:ext uri="{FF2B5EF4-FFF2-40B4-BE49-F238E27FC236}">
                <a16:creationId xmlns:a16="http://schemas.microsoft.com/office/drawing/2014/main" id="{576330B0-58CF-4994-8C0B-67450F31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若物件必須始終有餘額，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就不要開放刪除餘額。</a:t>
            </a:r>
          </a:p>
        </p:txBody>
      </p:sp>
      <p:sp>
        <p:nvSpPr>
          <p:cNvPr id="25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50C6ADDB-9285-4841-8FC8-90C090F4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6" name="False">
            <a:extLst xmlns:a="http://schemas.openxmlformats.org/drawingml/2006/main">
              <a:ext uri="{FF2B5EF4-FFF2-40B4-BE49-F238E27FC236}">
                <a16:creationId xmlns:a16="http://schemas.microsoft.com/office/drawing/2014/main" id="{507ED11A-5E5A-492B-930C-8106FE1BA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84530564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浮點價格的額外邊界">
            <a:extLst xmlns:a="http://schemas.openxmlformats.org/drawingml/2006/main">
              <a:ext uri="{FF2B5EF4-FFF2-40B4-BE49-F238E27FC236}">
                <a16:creationId xmlns:a16="http://schemas.microsoft.com/office/drawing/2014/main" id="{CB521ADB-4383-442F-AADB-F4E678DC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浮點價格的額外邊界</a:t>
            </a:r>
          </a:p>
        </p:txBody>
      </p:sp>
      <p:sp>
        <p:nvSpPr>
          <p:cNvPr id="2" name="進階驗證">
            <a:extLst xmlns:a="http://schemas.openxmlformats.org/drawingml/2006/main">
              <a:ext uri="{FF2B5EF4-FFF2-40B4-BE49-F238E27FC236}">
                <a16:creationId xmlns:a16="http://schemas.microsoft.com/office/drawing/2014/main" id="{219C5AE7-0428-4C19-8EAE-012BABCC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進階驗證</a:t>
            </a:r>
          </a:p>
        </p:txBody>
      </p:sp>
      <p:sp>
        <p:nvSpPr>
          <p:cNvPr id="3" name="38">
            <a:extLst xmlns:a="http://schemas.openxmlformats.org/drawingml/2006/main">
              <a:ext uri="{FF2B5EF4-FFF2-40B4-BE49-F238E27FC236}">
                <a16:creationId xmlns:a16="http://schemas.microsoft.com/office/drawing/2014/main" id="{ED90BBA4-F99C-4330-AEE3-9B70277B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38</a:t>
            </a:r>
          </a:p>
        </p:txBody>
      </p:sp>
      <p:sp>
        <p:nvSpPr>
          <p:cNvPr id="4" name="from math import isfinite">
            <a:extLst xmlns:a="http://schemas.openxmlformats.org/drawingml/2006/main">
              <a:ext uri="{FF2B5EF4-FFF2-40B4-BE49-F238E27FC236}">
                <a16:creationId xmlns:a16="http://schemas.microsoft.com/office/drawing/2014/main" id="{F618CA9B-7290-4947-B69F-A9552F39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math import isfinite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8D0BF8-6703-4E37-8E14-0C17871D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for value in [float(&quot;nan&quot;), float(&quot;inf&quot;)]:">
            <a:extLst xmlns:a="http://schemas.openxmlformats.org/drawingml/2006/main">
              <a:ext uri="{FF2B5EF4-FFF2-40B4-BE49-F238E27FC236}">
                <a16:creationId xmlns:a16="http://schemas.microsoft.com/office/drawing/2014/main" id="{B0BA441D-25BD-4656-A59F-1E3C88E2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for value in [float("nan"), float("inf")]:</a:t>
            </a:r>
          </a:p>
        </p:txBody>
      </p:sp>
      <p:sp>
        <p:nvSpPr>
          <p:cNvPr id="7" name="    print(value &lt; 0, isfinite(value))">
            <a:extLst xmlns:a="http://schemas.openxmlformats.org/drawingml/2006/main">
              <a:ext uri="{FF2B5EF4-FFF2-40B4-BE49-F238E27FC236}">
                <a16:creationId xmlns:a16="http://schemas.microsoft.com/office/drawing/2014/main" id="{4082EA7B-0782-4BEC-8925-01FB5D20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print(value &lt; 0, isfinite(value))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18DC99-5D95-4691-A53C-A92DD578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print(isinstance(True, int))">
            <a:extLst xmlns:a="http://schemas.openxmlformats.org/drawingml/2006/main">
              <a:ext uri="{FF2B5EF4-FFF2-40B4-BE49-F238E27FC236}">
                <a16:creationId xmlns:a16="http://schemas.microsoft.com/office/drawing/2014/main" id="{F7956B18-C994-46AB-849D-07D4D5F4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print(isinstance(True, int))</a:t>
            </a:r>
          </a:p>
        </p:txBody>
      </p:sp>
      <p:sp>
        <p:nvSpPr>
          <p:cNvPr id="10" name="print(type(True) is int)">
            <a:extLst xmlns:a="http://schemas.openxmlformats.org/drawingml/2006/main">
              <a:ext uri="{FF2B5EF4-FFF2-40B4-BE49-F238E27FC236}">
                <a16:creationId xmlns:a16="http://schemas.microsoft.com/office/drawing/2014/main" id="{F136B21A-0549-4E98-8959-C8496C88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print(type(True) is int)</a:t>
            </a:r>
          </a:p>
        </p:txBody>
      </p:sp>
      <p:sp>
        <p:nvSpPr>
          <p:cNvPr id="11" name="print(round(2.675, 2))">
            <a:extLst xmlns:a="http://schemas.openxmlformats.org/drawingml/2006/main">
              <a:ext uri="{FF2B5EF4-FFF2-40B4-BE49-F238E27FC236}">
                <a16:creationId xmlns:a16="http://schemas.microsoft.com/office/drawing/2014/main" id="{13F67768-D050-43B3-8CCD-C5E306B1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print(round(2.675, 2))</a:t>
            </a:r>
          </a:p>
        </p:txBody>
      </p:sp>
      <p:sp>
        <p:nvSpPr>
          <p:cNvPr id="12" name="負數檢查並不完整">
            <a:extLst xmlns:a="http://schemas.openxmlformats.org/drawingml/2006/main">
              <a:ext uri="{FF2B5EF4-FFF2-40B4-BE49-F238E27FC236}">
                <a16:creationId xmlns:a16="http://schemas.microsoft.com/office/drawing/2014/main" id="{8E3B0D07-B851-4602-A9C6-CCF1ECAC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負數檢查並不完整</a:t>
            </a:r>
          </a:p>
        </p:txBody>
      </p:sp>
      <p:sp>
        <p:nvSpPr>
          <p:cNvPr id="13" name="NaN 與正無限值 都不會因 value &lt; 0 被拒絕。">
            <a:extLst xmlns:a="http://schemas.openxmlformats.org/drawingml/2006/main">
              <a:ext uri="{FF2B5EF4-FFF2-40B4-BE49-F238E27FC236}">
                <a16:creationId xmlns:a16="http://schemas.microsoft.com/office/drawing/2014/main" id="{83D59211-013E-4747-85CA-7B2CB079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NaN 與正無限值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都不會因 value &lt; 0 被拒絕。</a:t>
            </a:r>
          </a:p>
        </p:txBody>
      </p:sp>
      <p:sp>
        <p:nvSpPr>
          <p:cNvPr id="14" name="資料型別帶來邊界">
            <a:extLst xmlns:a="http://schemas.openxmlformats.org/drawingml/2006/main">
              <a:ext uri="{FF2B5EF4-FFF2-40B4-BE49-F238E27FC236}">
                <a16:creationId xmlns:a16="http://schemas.microsoft.com/office/drawing/2014/main" id="{8F52EB2E-F3C3-4139-8797-B76DAE00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資料型別帶來邊界</a:t>
            </a:r>
          </a:p>
        </p:txBody>
      </p:sp>
      <p:sp>
        <p:nvSpPr>
          <p:cNvPr id="15" name="bool 是 int 的子類別。 二進位浮點數可能有近似。">
            <a:extLst xmlns:a="http://schemas.openxmlformats.org/drawingml/2006/main">
              <a:ext uri="{FF2B5EF4-FFF2-40B4-BE49-F238E27FC236}">
                <a16:creationId xmlns:a16="http://schemas.microsoft.com/office/drawing/2014/main" id="{4AADD7F7-D408-43B7-A133-E79D56C4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bool 是 int 的子類別。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二進位浮點數可能有近似。</a:t>
            </a:r>
          </a:p>
        </p:txBody>
      </p:sp>
      <p:sp>
        <p:nvSpPr>
          <p:cNvPr id="16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3FB4323D-13E8-4442-A30C-45F8AE8D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17" name="False False    False False    True    False    2.67">
            <a:extLst xmlns:a="http://schemas.openxmlformats.org/drawingml/2006/main">
              <a:ext uri="{FF2B5EF4-FFF2-40B4-BE49-F238E27FC236}">
                <a16:creationId xmlns:a16="http://schemas.microsoft.com/office/drawing/2014/main" id="{B2C46726-BDF5-4A78-A058-B45CCA94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False False    False False    True    False    2.67</a:t>
            </a:r>
          </a:p>
        </p:txBody>
      </p:sp>
    </p:spTree>
    <p:extLst>
      <p:ext uri="{BB962C8B-B14F-4D97-AF65-F5344CB8AC3E}">
        <p14:creationId xmlns:p14="http://schemas.microsoft.com/office/powerpoint/2010/main" val="2098606840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較完整的價格 setter">
            <a:extLst xmlns:a="http://schemas.openxmlformats.org/drawingml/2006/main">
              <a:ext uri="{FF2B5EF4-FFF2-40B4-BE49-F238E27FC236}">
                <a16:creationId xmlns:a16="http://schemas.microsoft.com/office/drawing/2014/main" id="{36B1DA2C-AAB0-444D-9619-872CACB8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較完整的價格 setter</a:t>
            </a:r>
          </a:p>
        </p:txBody>
      </p:sp>
      <p:sp>
        <p:nvSpPr>
          <p:cNvPr id="2" name="進階驗證">
            <a:extLst xmlns:a="http://schemas.openxmlformats.org/drawingml/2006/main">
              <a:ext uri="{FF2B5EF4-FFF2-40B4-BE49-F238E27FC236}">
                <a16:creationId xmlns:a16="http://schemas.microsoft.com/office/drawing/2014/main" id="{65AE857C-A1BB-418E-BC5B-3824D205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進階驗證</a:t>
            </a:r>
          </a:p>
        </p:txBody>
      </p:sp>
      <p:sp>
        <p:nvSpPr>
          <p:cNvPr id="3" name="39">
            <a:extLst xmlns:a="http://schemas.openxmlformats.org/drawingml/2006/main">
              <a:ext uri="{FF2B5EF4-FFF2-40B4-BE49-F238E27FC236}">
                <a16:creationId xmlns:a16="http://schemas.microsoft.com/office/drawing/2014/main" id="{0E824B05-FD63-4D8C-8C1C-C779CCAB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39</a:t>
            </a:r>
          </a:p>
        </p:txBody>
      </p:sp>
      <p:sp>
        <p:nvSpPr>
          <p:cNvPr id="4" name="# Setter excerpt in StrictProduct">
            <a:extLst xmlns:a="http://schemas.openxmlformats.org/drawingml/2006/main">
              <a:ext uri="{FF2B5EF4-FFF2-40B4-BE49-F238E27FC236}">
                <a16:creationId xmlns:a16="http://schemas.microsoft.com/office/drawing/2014/main" id="{1946AD06-6164-4607-B3B3-70F1DFB5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A9BDC7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A9BDC7"/>
                </a:solidFill>
                <a:latin typeface="Consolas"/>
                <a:ea typeface="Consolas"/>
                <a:cs typeface="Consolas"/>
              </a:rPr>
              <a:t># Setter excerpt in StrictProduct</a:t>
            </a:r>
          </a:p>
        </p:txBody>
      </p:sp>
      <p:sp>
        <p:nvSpPr>
          <p:cNvPr id="5" name="@price.setter">
            <a:extLst xmlns:a="http://schemas.openxmlformats.org/drawingml/2006/main">
              <a:ext uri="{FF2B5EF4-FFF2-40B4-BE49-F238E27FC236}">
                <a16:creationId xmlns:a16="http://schemas.microsoft.com/office/drawing/2014/main" id="{5952B97F-DE5A-43F2-83D9-744FA5E4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@price.setter</a:t>
            </a:r>
          </a:p>
        </p:txBody>
      </p:sp>
      <p:sp>
        <p:nvSpPr>
          <p:cNvPr id="6" name="def price(self, value):">
            <a:extLst xmlns:a="http://schemas.openxmlformats.org/drawingml/2006/main">
              <a:ext uri="{FF2B5EF4-FFF2-40B4-BE49-F238E27FC236}">
                <a16:creationId xmlns:a16="http://schemas.microsoft.com/office/drawing/2014/main" id="{419FDE99-B193-4F0D-88D4-8CAD8B56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def price(self, value):</a:t>
            </a:r>
          </a:p>
        </p:txBody>
      </p:sp>
      <p:sp>
        <p:nvSpPr>
          <p:cNvPr id="7" name="    if type(value) not in (int, float):">
            <a:extLst xmlns:a="http://schemas.openxmlformats.org/drawingml/2006/main">
              <a:ext uri="{FF2B5EF4-FFF2-40B4-BE49-F238E27FC236}">
                <a16:creationId xmlns:a16="http://schemas.microsoft.com/office/drawing/2014/main" id="{0BC9AF76-5521-44A7-B168-3E161B96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if type(value) not in (int, float):</a:t>
            </a:r>
          </a:p>
        </p:txBody>
      </p:sp>
      <p:sp>
        <p:nvSpPr>
          <p:cNvPr id="8" name="        raise TypeError(&quot;numeric price required&quot;)">
            <a:extLst xmlns:a="http://schemas.openxmlformats.org/drawingml/2006/main">
              <a:ext uri="{FF2B5EF4-FFF2-40B4-BE49-F238E27FC236}">
                <a16:creationId xmlns:a16="http://schemas.microsoft.com/office/drawing/2014/main" id="{713974DC-199A-4A7D-B1B3-1D9FF491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raise TypeError("numeric price required")</a:t>
            </a:r>
          </a:p>
        </p:txBody>
      </p:sp>
      <p:sp>
        <p:nvSpPr>
          <p:cNvPr id="9" name="    value = float(value)">
            <a:extLst xmlns:a="http://schemas.openxmlformats.org/drawingml/2006/main">
              <a:ext uri="{FF2B5EF4-FFF2-40B4-BE49-F238E27FC236}">
                <a16:creationId xmlns:a16="http://schemas.microsoft.com/office/drawing/2014/main" id="{A3715F56-81D4-42F4-8FE5-894B4B87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value = float(value)</a:t>
            </a:r>
          </a:p>
        </p:txBody>
      </p:sp>
      <p:sp>
        <p:nvSpPr>
          <p:cNvPr id="10" name="    if not isfinite(value) or value &lt; 0:">
            <a:extLst xmlns:a="http://schemas.openxmlformats.org/drawingml/2006/main">
              <a:ext uri="{FF2B5EF4-FFF2-40B4-BE49-F238E27FC236}">
                <a16:creationId xmlns:a16="http://schemas.microsoft.com/office/drawing/2014/main" id="{892C156C-C0F5-49B7-AA7E-853141C2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if not isfinite(value) or value &lt; 0:</a:t>
            </a:r>
          </a:p>
        </p:txBody>
      </p:sp>
      <p:sp>
        <p:nvSpPr>
          <p:cNvPr id="11" name="        raise ValueError(&quot;invalid price&quot;)">
            <a:extLst xmlns:a="http://schemas.openxmlformats.org/drawingml/2006/main">
              <a:ext uri="{FF2B5EF4-FFF2-40B4-BE49-F238E27FC236}">
                <a16:creationId xmlns:a16="http://schemas.microsoft.com/office/drawing/2014/main" id="{041ADFF6-9B05-4775-B2B4-C61859AE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raise ValueError("invalid price")</a:t>
            </a:r>
          </a:p>
        </p:txBody>
      </p:sp>
      <p:sp>
        <p:nvSpPr>
          <p:cNvPr id="12" name="    self._price = round(value, 2)">
            <a:extLst xmlns:a="http://schemas.openxmlformats.org/drawingml/2006/main">
              <a:ext uri="{FF2B5EF4-FFF2-40B4-BE49-F238E27FC236}">
                <a16:creationId xmlns:a16="http://schemas.microsoft.com/office/drawing/2014/main" id="{DCD28020-6FEC-444E-9D94-D5D113FD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self._price = round(value, 2)</a:t>
            </a:r>
          </a:p>
        </p:txBody>
      </p:sp>
      <p:sp>
        <p:nvSpPr>
          <p:cNvPr id="13" name="先定義接受的型別">
            <a:extLst xmlns:a="http://schemas.openxmlformats.org/drawingml/2006/main">
              <a:ext uri="{FF2B5EF4-FFF2-40B4-BE49-F238E27FC236}">
                <a16:creationId xmlns:a16="http://schemas.microsoft.com/office/drawing/2014/main" id="{4927F770-470C-498F-957C-1C270D06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先定義接受的型別</a:t>
            </a:r>
          </a:p>
        </p:txBody>
      </p:sp>
      <p:sp>
        <p:nvSpPr>
          <p:cNvPr id="14" name="此政策接受內建 int、float， 排除 bool 與其他型別。">
            <a:extLst xmlns:a="http://schemas.openxmlformats.org/drawingml/2006/main">
              <a:ext uri="{FF2B5EF4-FFF2-40B4-BE49-F238E27FC236}">
                <a16:creationId xmlns:a16="http://schemas.microsoft.com/office/drawing/2014/main" id="{A33E24A2-1DC4-41BD-B38B-6BD75D62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此政策接受內建 int、float，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排除 bool 與其他型別。</a:t>
            </a:r>
          </a:p>
        </p:txBody>
      </p:sp>
      <p:sp>
        <p:nvSpPr>
          <p:cNvPr id="15" name="再確認有限且非負">
            <a:extLst xmlns:a="http://schemas.openxmlformats.org/drawingml/2006/main">
              <a:ext uri="{FF2B5EF4-FFF2-40B4-BE49-F238E27FC236}">
                <a16:creationId xmlns:a16="http://schemas.microsoft.com/office/drawing/2014/main" id="{F17D15B4-28CA-4E23-8776-D373CA15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再確認有限且非負</a:t>
            </a:r>
          </a:p>
        </p:txBody>
      </p:sp>
      <p:sp>
        <p:nvSpPr>
          <p:cNvPr id="16" name="NaN 與無限值被拒絕。 超大整數轉 float 可能溢位。">
            <a:extLst xmlns:a="http://schemas.openxmlformats.org/drawingml/2006/main">
              <a:ext uri="{FF2B5EF4-FFF2-40B4-BE49-F238E27FC236}">
                <a16:creationId xmlns:a16="http://schemas.microsoft.com/office/drawing/2014/main" id="{9A69E3EC-B077-4F0F-A006-FEA15504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NaN 與無限值被拒絕。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超大整數轉 float 可能溢位。</a:t>
            </a:r>
          </a:p>
        </p:txBody>
      </p:sp>
      <p:sp>
        <p:nvSpPr>
          <p:cNvPr id="17" name="配套程式輸出：100、True、NaN 的測試">
            <a:extLst xmlns:a="http://schemas.openxmlformats.org/drawingml/2006/main">
              <a:ext uri="{FF2B5EF4-FFF2-40B4-BE49-F238E27FC236}">
                <a16:creationId xmlns:a16="http://schemas.microsoft.com/office/drawing/2014/main" id="{1D57998D-3AFE-4BEE-BF05-F30404D6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配套程式輸出：100、True、NaN 的測試</a:t>
            </a:r>
          </a:p>
        </p:txBody>
      </p:sp>
      <p:sp>
        <p:nvSpPr>
          <p:cNvPr id="18" name="100.0    TypeError    ValueError">
            <a:extLst xmlns:a="http://schemas.openxmlformats.org/drawingml/2006/main">
              <a:ext uri="{FF2B5EF4-FFF2-40B4-BE49-F238E27FC236}">
                <a16:creationId xmlns:a16="http://schemas.microsoft.com/office/drawing/2014/main" id="{183EBF43-88DD-419A-8040-05B7ECB6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100.0    TypeError    ValueError</a:t>
            </a:r>
          </a:p>
        </p:txBody>
      </p:sp>
    </p:spTree>
    <p:extLst>
      <p:ext uri="{BB962C8B-B14F-4D97-AF65-F5344CB8AC3E}">
        <p14:creationId xmlns:p14="http://schemas.microsoft.com/office/powerpoint/2010/main" val="50448579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Decimal 與明確的捨入政策">
            <a:extLst xmlns:a="http://schemas.openxmlformats.org/drawingml/2006/main">
              <a:ext uri="{FF2B5EF4-FFF2-40B4-BE49-F238E27FC236}">
                <a16:creationId xmlns:a16="http://schemas.microsoft.com/office/drawing/2014/main" id="{9F9BF154-10B5-415A-9227-FDC744EE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Decimal 與明確的捨入政策</a:t>
            </a:r>
          </a:p>
        </p:txBody>
      </p:sp>
      <p:sp>
        <p:nvSpPr>
          <p:cNvPr id="2" name="進階驗證">
            <a:extLst xmlns:a="http://schemas.openxmlformats.org/drawingml/2006/main">
              <a:ext uri="{FF2B5EF4-FFF2-40B4-BE49-F238E27FC236}">
                <a16:creationId xmlns:a16="http://schemas.microsoft.com/office/drawing/2014/main" id="{3FD6897D-32BC-4B9B-8720-87189101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進階驗證</a:t>
            </a:r>
          </a:p>
        </p:txBody>
      </p:sp>
      <p:sp>
        <p:nvSpPr>
          <p:cNvPr id="3" name="40">
            <a:extLst xmlns:a="http://schemas.openxmlformats.org/drawingml/2006/main">
              <a:ext uri="{FF2B5EF4-FFF2-40B4-BE49-F238E27FC236}">
                <a16:creationId xmlns:a16="http://schemas.microsoft.com/office/drawing/2014/main" id="{6BBF9075-54B9-4BBD-A872-A2FB8DE1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40</a:t>
            </a:r>
          </a:p>
        </p:txBody>
      </p:sp>
      <p:sp>
        <p:nvSpPr>
          <p:cNvPr id="4" name="from decimal import Decimal, ROUND_HALF_UP">
            <a:extLst xmlns:a="http://schemas.openxmlformats.org/drawingml/2006/main">
              <a:ext uri="{FF2B5EF4-FFF2-40B4-BE49-F238E27FC236}">
                <a16:creationId xmlns:a16="http://schemas.microsoft.com/office/drawing/2014/main" id="{C739220F-854A-4E4F-A111-B8AC786A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decimal import Decimal, ROUND_HALF_UP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446C21-C6BB-4F78-B86D-1015498F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price = Decimal(&quot;2.675&quot;)">
            <a:extLst xmlns:a="http://schemas.openxmlformats.org/drawingml/2006/main">
              <a:ext uri="{FF2B5EF4-FFF2-40B4-BE49-F238E27FC236}">
                <a16:creationId xmlns:a16="http://schemas.microsoft.com/office/drawing/2014/main" id="{95F2EA9E-CF91-4DF7-91D8-152E3610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price = Decimal("2.675")</a:t>
            </a:r>
          </a:p>
        </p:txBody>
      </p:sp>
      <p:sp>
        <p:nvSpPr>
          <p:cNvPr id="7" name="rounded = price.quantize(">
            <a:extLst xmlns:a="http://schemas.openxmlformats.org/drawingml/2006/main">
              <a:ext uri="{FF2B5EF4-FFF2-40B4-BE49-F238E27FC236}">
                <a16:creationId xmlns:a16="http://schemas.microsoft.com/office/drawing/2014/main" id="{037A9D06-B770-4C9E-B1F2-A303A16DF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rounded = price.quantize(</a:t>
            </a:r>
          </a:p>
        </p:txBody>
      </p:sp>
      <p:sp>
        <p:nvSpPr>
          <p:cNvPr id="8" name="    Decimal(&quot;0.01&quot;),">
            <a:extLst xmlns:a="http://schemas.openxmlformats.org/drawingml/2006/main">
              <a:ext uri="{FF2B5EF4-FFF2-40B4-BE49-F238E27FC236}">
                <a16:creationId xmlns:a16="http://schemas.microsoft.com/office/drawing/2014/main" id="{ECB8141D-C456-4C55-9844-3EC18E3A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Decimal("0.01"),</a:t>
            </a:r>
          </a:p>
        </p:txBody>
      </p:sp>
      <p:sp>
        <p:nvSpPr>
          <p:cNvPr id="9" name="    rounding=ROUND_HALF_UP,">
            <a:extLst xmlns:a="http://schemas.openxmlformats.org/drawingml/2006/main">
              <a:ext uri="{FF2B5EF4-FFF2-40B4-BE49-F238E27FC236}">
                <a16:creationId xmlns:a16="http://schemas.microsoft.com/office/drawing/2014/main" id="{B7E8C310-D640-486C-BF62-31A3330D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rounding=ROUND_HALF_UP,</a:t>
            </a:r>
          </a:p>
        </p:txBody>
      </p:sp>
      <p:sp>
        <p:nvSpPr>
          <p:cNvPr id="10" name=")">
            <a:extLst xmlns:a="http://schemas.openxmlformats.org/drawingml/2006/main">
              <a:ext uri="{FF2B5EF4-FFF2-40B4-BE49-F238E27FC236}">
                <a16:creationId xmlns:a16="http://schemas.microsoft.com/office/drawing/2014/main" id="{F2AD940E-080B-43A0-86C4-DD87FF32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1" name="print(rounded)">
            <a:extLst xmlns:a="http://schemas.openxmlformats.org/drawingml/2006/main">
              <a:ext uri="{FF2B5EF4-FFF2-40B4-BE49-F238E27FC236}">
                <a16:creationId xmlns:a16="http://schemas.microsoft.com/office/drawing/2014/main" id="{DD6FBD37-AE98-461E-AEA8-4DC94406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print(rounded)</a:t>
            </a:r>
          </a:p>
        </p:txBody>
      </p:sp>
      <p:sp>
        <p:nvSpPr>
          <p:cNvPr id="12" name="print(Decimal(&quot;0.1&quot;) + Decimal(&quot;0.2&quot;))">
            <a:extLst xmlns:a="http://schemas.openxmlformats.org/drawingml/2006/main">
              <a:ext uri="{FF2B5EF4-FFF2-40B4-BE49-F238E27FC236}">
                <a16:creationId xmlns:a16="http://schemas.microsoft.com/office/drawing/2014/main" id="{24A28ED9-EBB4-4B4D-B7B9-ABE58652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print(Decimal("0.1") + Decimal("0.2"))</a:t>
            </a:r>
          </a:p>
        </p:txBody>
      </p:sp>
      <p:sp>
        <p:nvSpPr>
          <p:cNvPr id="13" name="以字串建立十進位值">
            <a:extLst xmlns:a="http://schemas.openxmlformats.org/drawingml/2006/main">
              <a:ext uri="{FF2B5EF4-FFF2-40B4-BE49-F238E27FC236}">
                <a16:creationId xmlns:a16="http://schemas.microsoft.com/office/drawing/2014/main" id="{661208D0-B54E-4EFF-BFD8-D7763538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以字串建立十進位值</a:t>
            </a:r>
          </a:p>
        </p:txBody>
      </p:sp>
      <p:sp>
        <p:nvSpPr>
          <p:cNvPr id="14" name="Decimal(&quot;2.675&quot;) 保留輸入的十進位意義。">
            <a:extLst xmlns:a="http://schemas.openxmlformats.org/drawingml/2006/main">
              <a:ext uri="{FF2B5EF4-FFF2-40B4-BE49-F238E27FC236}">
                <a16:creationId xmlns:a16="http://schemas.microsoft.com/office/drawing/2014/main" id="{0FDB0959-4DF8-45DC-9D3E-9C5E9AB6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Decimal("2.675")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保留輸入的十進位意義。</a:t>
            </a:r>
          </a:p>
        </p:txBody>
      </p:sp>
      <p:sp>
        <p:nvSpPr>
          <p:cNvPr id="15" name="捨入規則屬於需求">
            <a:extLst xmlns:a="http://schemas.openxmlformats.org/drawingml/2006/main">
              <a:ext uri="{FF2B5EF4-FFF2-40B4-BE49-F238E27FC236}">
                <a16:creationId xmlns:a16="http://schemas.microsoft.com/office/drawing/2014/main" id="{4CF81C77-3DD1-45EF-9D9C-A7A33DB8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捨入規則屬於需求</a:t>
            </a:r>
          </a:p>
        </p:txBody>
      </p:sp>
      <p:sp>
        <p:nvSpPr>
          <p:cNvPr id="16" name="此例明確採 HALF_UP。 驗證與範圍仍需另外定義。">
            <a:extLst xmlns:a="http://schemas.openxmlformats.org/drawingml/2006/main">
              <a:ext uri="{FF2B5EF4-FFF2-40B4-BE49-F238E27FC236}">
                <a16:creationId xmlns:a16="http://schemas.microsoft.com/office/drawing/2014/main" id="{F4741934-1F1E-4108-80FF-6AE94763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此例明確採 HALF_UP。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驗證與範圍仍需另外定義。</a:t>
            </a:r>
          </a:p>
        </p:txBody>
      </p:sp>
      <p:sp>
        <p:nvSpPr>
          <p:cNvPr id="17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FC0CABA5-299C-4D0C-8DBA-8C050A74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18" name="2.68    0.3">
            <a:extLst xmlns:a="http://schemas.openxmlformats.org/drawingml/2006/main">
              <a:ext uri="{FF2B5EF4-FFF2-40B4-BE49-F238E27FC236}">
                <a16:creationId xmlns:a16="http://schemas.microsoft.com/office/drawing/2014/main" id="{B7558DB7-274A-4321-87C3-2E2AB77A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2.68    0.3</a:t>
            </a:r>
          </a:p>
        </p:txBody>
      </p:sp>
    </p:spTree>
    <p:extLst>
      <p:ext uri="{BB962C8B-B14F-4D97-AF65-F5344CB8AC3E}">
        <p14:creationId xmlns:p14="http://schemas.microsoft.com/office/powerpoint/2010/main" val="670090121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公開語法與內部表示可以分離">
            <a:extLst xmlns:a="http://schemas.openxmlformats.org/drawingml/2006/main">
              <a:ext uri="{FF2B5EF4-FFF2-40B4-BE49-F238E27FC236}">
                <a16:creationId xmlns:a16="http://schemas.microsoft.com/office/drawing/2014/main" id="{AAB2C01A-EE0E-47E8-8C38-D6EA53FF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公開語法與內部表示可以分離</a:t>
            </a:r>
          </a:p>
        </p:txBody>
      </p:sp>
      <p:sp>
        <p:nvSpPr>
          <p:cNvPr id="2" name="介面的演進">
            <a:extLst xmlns:a="http://schemas.openxmlformats.org/drawingml/2006/main">
              <a:ext uri="{FF2B5EF4-FFF2-40B4-BE49-F238E27FC236}">
                <a16:creationId xmlns:a16="http://schemas.microsoft.com/office/drawing/2014/main" id="{DF14CAE3-6439-4204-B3B6-5CB05DBE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介面的演進</a:t>
            </a:r>
          </a:p>
        </p:txBody>
      </p:sp>
      <p:sp>
        <p:nvSpPr>
          <p:cNvPr id="3" name="41">
            <a:extLst xmlns:a="http://schemas.openxmlformats.org/drawingml/2006/main">
              <a:ext uri="{FF2B5EF4-FFF2-40B4-BE49-F238E27FC236}">
                <a16:creationId xmlns:a16="http://schemas.microsoft.com/office/drawing/2014/main" id="{038F55C6-16BB-4E07-A794-223ABC10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41</a:t>
            </a:r>
          </a:p>
        </p:txBody>
      </p:sp>
      <p:sp>
        <p:nvSpPr>
          <p:cNvPr id="4" name="class Length:">
            <a:extLst xmlns:a="http://schemas.openxmlformats.org/drawingml/2006/main">
              <a:ext uri="{FF2B5EF4-FFF2-40B4-BE49-F238E27FC236}">
                <a16:creationId xmlns:a16="http://schemas.microsoft.com/office/drawing/2014/main" id="{25E75E52-DB35-4D36-91E3-EBF182D4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class Length:</a:t>
            </a:r>
          </a:p>
        </p:txBody>
      </p:sp>
      <p:sp>
        <p:nvSpPr>
          <p:cNvPr id="5" name="    def __init__(self, meters):">
            <a:extLst xmlns:a="http://schemas.openxmlformats.org/drawingml/2006/main">
              <a:ext uri="{FF2B5EF4-FFF2-40B4-BE49-F238E27FC236}">
                <a16:creationId xmlns:a16="http://schemas.microsoft.com/office/drawing/2014/main" id="{3654E834-9FE3-45B2-92FE-635EE209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def __init__(self, meters):</a:t>
            </a:r>
          </a:p>
        </p:txBody>
      </p:sp>
      <p:sp>
        <p:nvSpPr>
          <p:cNvPr id="6" name="        self._millimeters = round(meters * 1000)">
            <a:extLst xmlns:a="http://schemas.openxmlformats.org/drawingml/2006/main">
              <a:ext uri="{FF2B5EF4-FFF2-40B4-BE49-F238E27FC236}">
                <a16:creationId xmlns:a16="http://schemas.microsoft.com/office/drawing/2014/main" id="{856FAFB8-F8E0-4806-B176-6C23C63B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self._millimeters = round(meters * 1000)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233FB6-A5E3-4930-9B30-2667EB7F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    @property">
            <a:extLst xmlns:a="http://schemas.openxmlformats.org/drawingml/2006/main">
              <a:ext uri="{FF2B5EF4-FFF2-40B4-BE49-F238E27FC236}">
                <a16:creationId xmlns:a16="http://schemas.microsoft.com/office/drawing/2014/main" id="{BA35C79F-98A8-40A5-8600-29FBECAC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@property</a:t>
            </a:r>
          </a:p>
        </p:txBody>
      </p:sp>
      <p:sp>
        <p:nvSpPr>
          <p:cNvPr id="9" name="    def meters(self):">
            <a:extLst xmlns:a="http://schemas.openxmlformats.org/drawingml/2006/main">
              <a:ext uri="{FF2B5EF4-FFF2-40B4-BE49-F238E27FC236}">
                <a16:creationId xmlns:a16="http://schemas.microsoft.com/office/drawing/2014/main" id="{4DA1883B-C2E8-4A21-90B0-2863473F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def meters(self):</a:t>
            </a:r>
          </a:p>
        </p:txBody>
      </p:sp>
      <p:sp>
        <p:nvSpPr>
          <p:cNvPr id="10" name="        return self._millimeters / 1000">
            <a:extLst xmlns:a="http://schemas.openxmlformats.org/drawingml/2006/main">
              <a:ext uri="{FF2B5EF4-FFF2-40B4-BE49-F238E27FC236}">
                <a16:creationId xmlns:a16="http://schemas.microsoft.com/office/drawing/2014/main" id="{FE2465BC-5836-4033-8672-D4A5E8F1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return self._millimeters / 1000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B6DA6E-8C10-4041-A49A-B2751EFB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length = Length(1.25)">
            <a:extLst xmlns:a="http://schemas.openxmlformats.org/drawingml/2006/main">
              <a:ext uri="{FF2B5EF4-FFF2-40B4-BE49-F238E27FC236}">
                <a16:creationId xmlns:a16="http://schemas.microsoft.com/office/drawing/2014/main" id="{D4CA33B7-EDDB-44D8-AA22-C7F6C954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length = Length(1.25)</a:t>
            </a:r>
          </a:p>
        </p:txBody>
      </p:sp>
      <p:sp>
        <p:nvSpPr>
          <p:cNvPr id="13" name="print(length.meters)">
            <a:extLst xmlns:a="http://schemas.openxmlformats.org/drawingml/2006/main">
              <a:ext uri="{FF2B5EF4-FFF2-40B4-BE49-F238E27FC236}">
                <a16:creationId xmlns:a16="http://schemas.microsoft.com/office/drawing/2014/main" id="{57818848-076D-47F3-88D4-067AB9FA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print(length.meters)</a:t>
            </a:r>
          </a:p>
        </p:txBody>
      </p:sp>
      <p:sp>
        <p:nvSpPr>
          <p:cNvPr id="14" name="print(vars(length))">
            <a:extLst xmlns:a="http://schemas.openxmlformats.org/drawingml/2006/main">
              <a:ext uri="{FF2B5EF4-FFF2-40B4-BE49-F238E27FC236}">
                <a16:creationId xmlns:a16="http://schemas.microsoft.com/office/drawing/2014/main" id="{F213DBE5-1B89-465B-B296-3E36243B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print(vars(length))</a:t>
            </a:r>
          </a:p>
        </p:txBody>
      </p:sp>
      <p:sp>
        <p:nvSpPr>
          <p:cNvPr id="15" name="對外維持公尺介面">
            <a:extLst xmlns:a="http://schemas.openxmlformats.org/drawingml/2006/main">
              <a:ext uri="{FF2B5EF4-FFF2-40B4-BE49-F238E27FC236}">
                <a16:creationId xmlns:a16="http://schemas.microsoft.com/office/drawing/2014/main" id="{358B8998-3978-40DA-98EC-3A09FF2A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對外維持公尺介面</a:t>
            </a:r>
          </a:p>
        </p:txBody>
      </p:sp>
      <p:sp>
        <p:nvSpPr>
          <p:cNvPr id="16" name="呼叫端讀取 meters， 無需知道內部採毫米儲存。">
            <a:extLst xmlns:a="http://schemas.openxmlformats.org/drawingml/2006/main">
              <a:ext uri="{FF2B5EF4-FFF2-40B4-BE49-F238E27FC236}">
                <a16:creationId xmlns:a16="http://schemas.microsoft.com/office/drawing/2014/main" id="{FB914271-C644-48F0-A54B-38958498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呼叫端讀取 meters，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無需知道內部採毫米儲存。</a:t>
            </a:r>
          </a:p>
        </p:txBody>
      </p:sp>
      <p:sp>
        <p:nvSpPr>
          <p:cNvPr id="17" name="仍需維持語意契約">
            <a:extLst xmlns:a="http://schemas.openxmlformats.org/drawingml/2006/main">
              <a:ext uri="{FF2B5EF4-FFF2-40B4-BE49-F238E27FC236}">
                <a16:creationId xmlns:a16="http://schemas.microsoft.com/office/drawing/2014/main" id="{77C05FC5-91E5-44A9-8199-5D65185E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仍需維持語意契約</a:t>
            </a:r>
          </a:p>
        </p:txBody>
      </p:sp>
      <p:sp>
        <p:nvSpPr>
          <p:cNvPr id="18" name="精度、可接受範圍與例外， 都可能影響相容性。">
            <a:extLst xmlns:a="http://schemas.openxmlformats.org/drawingml/2006/main">
              <a:ext uri="{FF2B5EF4-FFF2-40B4-BE49-F238E27FC236}">
                <a16:creationId xmlns:a16="http://schemas.microsoft.com/office/drawing/2014/main" id="{3DE52FF5-C99C-45CD-905D-4F917A30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精度、可接受範圍與例外，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都可能影響相容性。</a:t>
            </a:r>
          </a:p>
        </p:txBody>
      </p:sp>
      <p:sp>
        <p:nvSpPr>
          <p:cNvPr id="19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DA9D2000-E252-4BDE-8D33-11CDCDB7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0" name="1.25    {'_millimeters': 1250}">
            <a:extLst xmlns:a="http://schemas.openxmlformats.org/drawingml/2006/main">
              <a:ext uri="{FF2B5EF4-FFF2-40B4-BE49-F238E27FC236}">
                <a16:creationId xmlns:a16="http://schemas.microsoft.com/office/drawing/2014/main" id="{5836949C-8C28-4120-B7CA-6F167141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1.25    {'_millimeters': 1250}</a:t>
            </a:r>
          </a:p>
        </p:txBody>
      </p:sp>
    </p:spTree>
    <p:extLst>
      <p:ext uri="{BB962C8B-B14F-4D97-AF65-F5344CB8AC3E}">
        <p14:creationId xmlns:p14="http://schemas.microsoft.com/office/powerpoint/2010/main" val="1673512627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封裝如何支持後續專案">
            <a:extLst xmlns:a="http://schemas.openxmlformats.org/drawingml/2006/main">
              <a:ext uri="{FF2B5EF4-FFF2-40B4-BE49-F238E27FC236}">
                <a16:creationId xmlns:a16="http://schemas.microsoft.com/office/drawing/2014/main" id="{F2AC9050-328B-472B-B37F-FB7FBE83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封裝如何支持後續專案</a:t>
            </a:r>
          </a:p>
        </p:txBody>
      </p:sp>
      <p:sp>
        <p:nvSpPr>
          <p:cNvPr id="2" name="設計延伸">
            <a:extLst xmlns:a="http://schemas.openxmlformats.org/drawingml/2006/main">
              <a:ext uri="{FF2B5EF4-FFF2-40B4-BE49-F238E27FC236}">
                <a16:creationId xmlns:a16="http://schemas.microsoft.com/office/drawing/2014/main" id="{F910A22A-1760-4F0C-9970-817CFB61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設計延伸</a:t>
            </a:r>
          </a:p>
        </p:txBody>
      </p:sp>
      <p:sp>
        <p:nvSpPr>
          <p:cNvPr id="3" name="42">
            <a:extLst xmlns:a="http://schemas.openxmlformats.org/drawingml/2006/main">
              <a:ext uri="{FF2B5EF4-FFF2-40B4-BE49-F238E27FC236}">
                <a16:creationId xmlns:a16="http://schemas.microsoft.com/office/drawing/2014/main" id="{E35FAD45-7D39-4D08-BFDF-B542BE26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42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19375"/>
                <a:gridCol w="4067175"/>
                <a:gridCol w="4286250"/>
              </a:tblGrid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物件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公開操作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內部設計決策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ToolRegistry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register、get、list_names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工具儲存方式與重名檢查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Task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start、complete、cancel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允許的狀態轉移與紀錄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Package API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文件化的函式與類別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_internal 模組與資料表示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Django 業務服務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表達完整的業務操作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驗證規則與持久化合作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  <p:sp>
        <p:nvSpPr>
          <p:cNvPr id="5" name="本週先掌握 Python 物件的介面，之後再整合框架與套件。">
            <a:extLst xmlns:a="http://schemas.openxmlformats.org/drawingml/2006/main">
              <a:ext uri="{FF2B5EF4-FFF2-40B4-BE49-F238E27FC236}">
                <a16:creationId xmlns:a16="http://schemas.microsoft.com/office/drawing/2014/main" id="{42B9B315-16CF-43F8-B9D1-5346B5C2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0275"/>
            <a:ext cx="10706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本週先掌握 Python 物件的介面，之後再整合框架與套件。</a:t>
            </a:r>
          </a:p>
        </p:txBody>
      </p:sp>
    </p:spTree>
    <p:extLst>
      <p:ext uri="{BB962C8B-B14F-4D97-AF65-F5344CB8AC3E}">
        <p14:creationId xmlns:p14="http://schemas.microsoft.com/office/powerpoint/2010/main" val="1945454190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Django 範例：商品與折扣">
            <a:extLst xmlns:a="http://schemas.openxmlformats.org/drawingml/2006/main">
              <a:ext uri="{FF2B5EF4-FFF2-40B4-BE49-F238E27FC236}">
                <a16:creationId xmlns:a16="http://schemas.microsoft.com/office/drawing/2014/main" id="{E54B97CA-9C87-44A7-AC7D-9645B9A8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Django 範例：商品與折扣</a:t>
            </a:r>
          </a:p>
        </p:txBody>
      </p:sp>
      <p:sp>
        <p:nvSpPr>
          <p:cNvPr id="2" name="Product 模型節錄，完整程式使用 Django 5.2 與 SQLite">
            <a:extLst xmlns:a="http://schemas.openxmlformats.org/drawingml/2006/main">
              <a:ext uri="{FF2B5EF4-FFF2-40B4-BE49-F238E27FC236}">
                <a16:creationId xmlns:a16="http://schemas.microsoft.com/office/drawing/2014/main" id="{027922E2-BD9A-4975-AE25-8ECD70A9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Product 模型節錄，完整程式使用 Django 5.2 與 SQLite</a:t>
            </a:r>
          </a:p>
        </p:txBody>
      </p:sp>
      <p:sp>
        <p:nvSpPr>
          <p:cNvPr id="3" name="42A">
            <a:extLst xmlns:a="http://schemas.openxmlformats.org/drawingml/2006/main">
              <a:ext uri="{FF2B5EF4-FFF2-40B4-BE49-F238E27FC236}">
                <a16:creationId xmlns:a16="http://schemas.microsoft.com/office/drawing/2014/main" id="{71DECA85-5CBA-4B5A-B27C-3A45AC06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6467475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42A</a:t>
            </a:r>
          </a:p>
        </p:txBody>
      </p:sp>
      <p:sp>
        <p:nvSpPr>
          <p:cNvPr id="4" name="class Product(models.Model):">
            <a:extLst xmlns:a="http://schemas.openxmlformats.org/drawingml/2006/main">
              <a:ext uri="{FF2B5EF4-FFF2-40B4-BE49-F238E27FC236}">
                <a16:creationId xmlns:a16="http://schemas.microsoft.com/office/drawing/2014/main" id="{041CC437-C08A-40BD-A0A0-4742932E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Product(models.Model):</a:t>
            </a:r>
          </a:p>
        </p:txBody>
      </p:sp>
      <p:sp>
        <p:nvSpPr>
          <p:cNvPr id="5" name="    name = models.CharField(max_length=80)">
            <a:extLst xmlns:a="http://schemas.openxmlformats.org/drawingml/2006/main">
              <a:ext uri="{FF2B5EF4-FFF2-40B4-BE49-F238E27FC236}">
                <a16:creationId xmlns:a16="http://schemas.microsoft.com/office/drawing/2014/main" id="{BEBA8CAF-3A03-4697-B05B-6D1F67FE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3108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name = models.CharField(max_length=80)</a:t>
            </a:r>
          </a:p>
        </p:txBody>
      </p:sp>
      <p:sp>
        <p:nvSpPr>
          <p:cNvPr id="6" name="    price = models.DecimalField(">
            <a:extLst xmlns:a="http://schemas.openxmlformats.org/drawingml/2006/main">
              <a:ext uri="{FF2B5EF4-FFF2-40B4-BE49-F238E27FC236}">
                <a16:creationId xmlns:a16="http://schemas.microsoft.com/office/drawing/2014/main" id="{D8DB3A1B-8392-4525-B017-04C9F4F0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090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price = models.DecimalField(</a:t>
            </a:r>
          </a:p>
        </p:txBody>
      </p:sp>
      <p:sp>
        <p:nvSpPr>
          <p:cNvPr id="7" name="        max_digits=8, decimal_places=2,">
            <a:extLst xmlns:a="http://schemas.openxmlformats.org/drawingml/2006/main">
              <a:ext uri="{FF2B5EF4-FFF2-40B4-BE49-F238E27FC236}">
                <a16:creationId xmlns:a16="http://schemas.microsoft.com/office/drawing/2014/main" id="{3D70804A-2D80-4941-8F1A-37E6FDAE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5073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max_digits=8, decimal_places=2,</a:t>
            </a:r>
          </a:p>
        </p:txBody>
      </p:sp>
      <p:sp>
        <p:nvSpPr>
          <p:cNvPr id="8" name="        validators=[MinValueValidator(Decimal(&quot;0&quot;))],">
            <a:extLst xmlns:a="http://schemas.openxmlformats.org/drawingml/2006/main">
              <a:ext uri="{FF2B5EF4-FFF2-40B4-BE49-F238E27FC236}">
                <a16:creationId xmlns:a16="http://schemas.microsoft.com/office/drawing/2014/main" id="{4EA14644-42FF-4A67-8478-5ADC9E37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6055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validators=[MinValueValidator(Decimal("0"))],</a:t>
            </a:r>
          </a:p>
        </p:txBody>
      </p:sp>
      <p:sp>
        <p:nvSpPr>
          <p:cNvPr id="9" name="    )">
            <a:extLst xmlns:a="http://schemas.openxmlformats.org/drawingml/2006/main">
              <a:ext uri="{FF2B5EF4-FFF2-40B4-BE49-F238E27FC236}">
                <a16:creationId xmlns:a16="http://schemas.microsoft.com/office/drawing/2014/main" id="{0F249E66-A855-49FC-897E-CDC7658D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7038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)</a:t>
            </a:r>
          </a:p>
        </p:txBody>
      </p:sp>
      <p:sp>
        <p:nvSpPr>
          <p:cNvPr id="10" name="    discount = models.DecimalField(">
            <a:extLst xmlns:a="http://schemas.openxmlformats.org/drawingml/2006/main">
              <a:ext uri="{FF2B5EF4-FFF2-40B4-BE49-F238E27FC236}">
                <a16:creationId xmlns:a16="http://schemas.microsoft.com/office/drawing/2014/main" id="{17AF09A3-8901-4305-8571-F3806720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8020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discount = models.DecimalField(</a:t>
            </a:r>
          </a:p>
        </p:txBody>
      </p:sp>
      <p:sp>
        <p:nvSpPr>
          <p:cNvPr id="11" name="        max_digits=8, decimal_places=2,">
            <a:extLst xmlns:a="http://schemas.openxmlformats.org/drawingml/2006/main">
              <a:ext uri="{FF2B5EF4-FFF2-40B4-BE49-F238E27FC236}">
                <a16:creationId xmlns:a16="http://schemas.microsoft.com/office/drawing/2014/main" id="{70E826FC-5F19-49B9-9DA3-D08774D8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9003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max_digits=8, decimal_places=2,</a:t>
            </a:r>
          </a:p>
        </p:txBody>
      </p:sp>
      <p:sp>
        <p:nvSpPr>
          <p:cNvPr id="12" name="        default=Decimal(&quot;0&quot;),">
            <a:extLst xmlns:a="http://schemas.openxmlformats.org/drawingml/2006/main">
              <a:ext uri="{FF2B5EF4-FFF2-40B4-BE49-F238E27FC236}">
                <a16:creationId xmlns:a16="http://schemas.microsoft.com/office/drawing/2014/main" id="{97484B47-8684-4D08-BFF5-361C9F4F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9985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default=Decimal("0"),</a:t>
            </a:r>
          </a:p>
        </p:txBody>
      </p:sp>
      <p:sp>
        <p:nvSpPr>
          <p:cNvPr id="13" name="        validators=[MinValueValidator(Decimal(&quot;0&quot;))],">
            <a:extLst xmlns:a="http://schemas.openxmlformats.org/drawingml/2006/main">
              <a:ext uri="{FF2B5EF4-FFF2-40B4-BE49-F238E27FC236}">
                <a16:creationId xmlns:a16="http://schemas.microsoft.com/office/drawing/2014/main" id="{42B1CBFA-7921-4C44-AEDC-D827CB6B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0968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validators=[MinValueValidator(Decimal("0"))],</a:t>
            </a:r>
          </a:p>
        </p:txBody>
      </p:sp>
      <p:sp>
        <p:nvSpPr>
          <p:cNvPr id="14" name="    )">
            <a:extLst xmlns:a="http://schemas.openxmlformats.org/drawingml/2006/main">
              <a:ext uri="{FF2B5EF4-FFF2-40B4-BE49-F238E27FC236}">
                <a16:creationId xmlns:a16="http://schemas.microsoft.com/office/drawing/2014/main" id="{28EC9176-F689-4567-BCA5-ACAEDDB3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635B40-7AF7-49E3-9FBD-63922517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2933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    @property">
            <a:extLst xmlns:a="http://schemas.openxmlformats.org/drawingml/2006/main">
              <a:ext uri="{FF2B5EF4-FFF2-40B4-BE49-F238E27FC236}">
                <a16:creationId xmlns:a16="http://schemas.microsoft.com/office/drawing/2014/main" id="{A2F05005-DF50-41F2-AE31-4D9BB516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53915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@property</a:t>
            </a:r>
          </a:p>
        </p:txBody>
      </p:sp>
      <p:sp>
        <p:nvSpPr>
          <p:cNvPr id="17" name="    def final_price(self):">
            <a:extLst xmlns:a="http://schemas.openxmlformats.org/drawingml/2006/main">
              <a:ext uri="{FF2B5EF4-FFF2-40B4-BE49-F238E27FC236}">
                <a16:creationId xmlns:a16="http://schemas.microsoft.com/office/drawing/2014/main" id="{3696B0B6-6F65-413B-8CEE-1CABEDC3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4898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final_price(self):</a:t>
            </a:r>
          </a:p>
        </p:txBody>
      </p:sp>
      <p:sp>
        <p:nvSpPr>
          <p:cNvPr id="18" name="        return self.price - self.discount">
            <a:extLst xmlns:a="http://schemas.openxmlformats.org/drawingml/2006/main">
              <a:ext uri="{FF2B5EF4-FFF2-40B4-BE49-F238E27FC236}">
                <a16:creationId xmlns:a16="http://schemas.microsoft.com/office/drawing/2014/main" id="{DACCDF3A-8987-4763-B2BD-FA869467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5880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return self.price - self.discount</a:t>
            </a:r>
          </a:p>
        </p:txBody>
      </p:sp>
      <p:sp>
        <p:nvSpPr>
          <p:cNvPr id="19" name="欄位與計算分開">
            <a:extLst xmlns:a="http://schemas.openxmlformats.org/drawingml/2006/main">
              <a:ext uri="{FF2B5EF4-FFF2-40B4-BE49-F238E27FC236}">
                <a16:creationId xmlns:a16="http://schemas.microsoft.com/office/drawing/2014/main" id="{CC207824-8385-409F-9B3C-4B1ABF88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欄位與計算分開</a:t>
            </a:r>
          </a:p>
        </p:txBody>
      </p:sp>
      <p:sp>
        <p:nvSpPr>
          <p:cNvPr id="20" name="price、discount 儲存於資料庫。&#10;final_price 每次讀取時計算，&#10;本例沒有對應資料庫欄位。">
            <a:extLst xmlns:a="http://schemas.openxmlformats.org/drawingml/2006/main">
              <a:ext uri="{FF2B5EF4-FFF2-40B4-BE49-F238E27FC236}">
                <a16:creationId xmlns:a16="http://schemas.microsoft.com/office/drawing/2014/main" id="{D47A51CE-9C5C-4DCE-958C-9EE7C92E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09825"/>
            <a:ext cx="34290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price、discount 儲存於資料庫。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final_price 每次讀取時計算，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本例沒有對應資料庫欄位。</a:t>
            </a:r>
          </a:p>
        </p:txBody>
      </p:sp>
      <p:sp>
        <p:nvSpPr>
          <p:cNvPr id="21" name="公開介面的限制">
            <a:extLst xmlns:a="http://schemas.openxmlformats.org/drawingml/2006/main">
              <a:ext uri="{FF2B5EF4-FFF2-40B4-BE49-F238E27FC236}">
                <a16:creationId xmlns:a16="http://schemas.microsoft.com/office/drawing/2014/main" id="{40F2F1A0-D3E8-45A4-9A3A-9758D22C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48075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公開介面的限制</a:t>
            </a:r>
          </a:p>
        </p:txBody>
      </p:sp>
      <p:sp>
        <p:nvSpPr>
          <p:cNvPr id="22" name="final_price 沒有 setter。&#10;price 與 discount 仍可指定，&#10;指定欄位不會自動驗證。">
            <a:extLst xmlns:a="http://schemas.openxmlformats.org/drawingml/2006/main">
              <a:ext uri="{FF2B5EF4-FFF2-40B4-BE49-F238E27FC236}">
                <a16:creationId xmlns:a16="http://schemas.microsoft.com/office/drawing/2014/main" id="{ED9394F3-6269-4BAB-9D3C-87776C86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48150"/>
            <a:ext cx="34290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final_price 沒有 setter。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price 與 discount 仍可指定，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指定欄位不會自動驗證。</a:t>
            </a:r>
          </a:p>
        </p:txBody>
      </p:sp>
      <p:sp>
        <p:nvSpPr>
          <p:cNvPr id="23" name="不變條件：0 ≤ discount ≤ price。金額使用 Decimal，避免二進位浮點誤差。">
            <a:extLst xmlns:a="http://schemas.openxmlformats.org/drawingml/2006/main">
              <a:ext uri="{FF2B5EF4-FFF2-40B4-BE49-F238E27FC236}">
                <a16:creationId xmlns:a16="http://schemas.microsoft.com/office/drawing/2014/main" id="{99081140-427C-47DA-99BB-EFDE0E24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38825"/>
            <a:ext cx="10906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不變條件：0 ≤ discount ≤ price。金額使用 Decimal，避免二進位浮點誤差。</a:t>
            </a:r>
          </a:p>
        </p:txBody>
      </p:sp>
    </p:spTree>
    <p:extLst>
      <p:ext uri="{BB962C8B-B14F-4D97-AF65-F5344CB8AC3E}">
        <p14:creationId xmlns:p14="http://schemas.microsoft.com/office/powerpoint/2010/main" val="778142448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Django 的跨欄位驗證">
            <a:extLst xmlns:a="http://schemas.openxmlformats.org/drawingml/2006/main">
              <a:ext uri="{FF2B5EF4-FFF2-40B4-BE49-F238E27FC236}">
                <a16:creationId xmlns:a16="http://schemas.microsoft.com/office/drawing/2014/main" id="{FE9F861F-263A-4D8D-9866-037B80D2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Django 的跨欄位驗證</a:t>
            </a:r>
          </a:p>
        </p:txBody>
      </p:sp>
      <p:sp>
        <p:nvSpPr>
          <p:cNvPr id="2" name="Product.clean() 類別內片段">
            <a:extLst xmlns:a="http://schemas.openxmlformats.org/drawingml/2006/main">
              <a:ext uri="{FF2B5EF4-FFF2-40B4-BE49-F238E27FC236}">
                <a16:creationId xmlns:a16="http://schemas.microsoft.com/office/drawing/2014/main" id="{89F2F341-36CA-4515-AFC1-E334BD50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Product.clean() 類別內片段</a:t>
            </a:r>
          </a:p>
        </p:txBody>
      </p:sp>
      <p:sp>
        <p:nvSpPr>
          <p:cNvPr id="3" name="42B">
            <a:extLst xmlns:a="http://schemas.openxmlformats.org/drawingml/2006/main">
              <a:ext uri="{FF2B5EF4-FFF2-40B4-BE49-F238E27FC236}">
                <a16:creationId xmlns:a16="http://schemas.microsoft.com/office/drawing/2014/main" id="{62781429-B076-4F36-BAD4-69CC4471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6467475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42B</a:t>
            </a:r>
          </a:p>
        </p:txBody>
      </p:sp>
      <p:sp>
        <p:nvSpPr>
          <p:cNvPr id="4" name="def clean(self):">
            <a:extLst xmlns:a="http://schemas.openxmlformats.org/drawingml/2006/main">
              <a:ext uri="{FF2B5EF4-FFF2-40B4-BE49-F238E27FC236}">
                <a16:creationId xmlns:a16="http://schemas.microsoft.com/office/drawing/2014/main" id="{DAAC9478-C264-45D9-BBCE-ABE4D4F7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def clean(self):</a:t>
            </a:r>
          </a:p>
        </p:txBody>
      </p:sp>
      <p:sp>
        <p:nvSpPr>
          <p:cNvPr id="5" name="    super().clean()">
            <a:extLst xmlns:a="http://schemas.openxmlformats.org/drawingml/2006/main">
              <a:ext uri="{FF2B5EF4-FFF2-40B4-BE49-F238E27FC236}">
                <a16:creationId xmlns:a16="http://schemas.microsoft.com/office/drawing/2014/main" id="{F1690869-A10A-4235-BFAC-694627D1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3108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super().clean()</a:t>
            </a:r>
          </a:p>
        </p:txBody>
      </p:sp>
      <p:sp>
        <p:nvSpPr>
          <p:cNvPr id="6" name="    values = (self.price, self.discount)">
            <a:extLst xmlns:a="http://schemas.openxmlformats.org/drawingml/2006/main">
              <a:ext uri="{FF2B5EF4-FFF2-40B4-BE49-F238E27FC236}">
                <a16:creationId xmlns:a16="http://schemas.microsoft.com/office/drawing/2014/main" id="{2E4596DE-AE38-456B-B127-57DF60F7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090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values = (self.price, self.discount)</a:t>
            </a:r>
          </a:p>
        </p:txBody>
      </p:sp>
      <p:sp>
        <p:nvSpPr>
          <p:cNvPr id="7" name="    if not all(">
            <a:extLst xmlns:a="http://schemas.openxmlformats.org/drawingml/2006/main">
              <a:ext uri="{FF2B5EF4-FFF2-40B4-BE49-F238E27FC236}">
                <a16:creationId xmlns:a16="http://schemas.microsoft.com/office/drawing/2014/main" id="{70CFDD29-9F9F-4962-ACD4-9DF8B695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5073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if not all(</a:t>
            </a:r>
          </a:p>
        </p:txBody>
      </p:sp>
      <p:sp>
        <p:nvSpPr>
          <p:cNvPr id="8" name="        isinstance(v, Decimal) and v.is_finite()">
            <a:extLst xmlns:a="http://schemas.openxmlformats.org/drawingml/2006/main">
              <a:ext uri="{FF2B5EF4-FFF2-40B4-BE49-F238E27FC236}">
                <a16:creationId xmlns:a16="http://schemas.microsoft.com/office/drawing/2014/main" id="{BCEF7DB2-98B6-4701-9EEB-57C9B2F6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6055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isinstance(v, Decimal) and v.is_finite()</a:t>
            </a:r>
          </a:p>
        </p:txBody>
      </p:sp>
      <p:sp>
        <p:nvSpPr>
          <p:cNvPr id="9" name="        for v in values">
            <a:extLst xmlns:a="http://schemas.openxmlformats.org/drawingml/2006/main">
              <a:ext uri="{FF2B5EF4-FFF2-40B4-BE49-F238E27FC236}">
                <a16:creationId xmlns:a16="http://schemas.microsoft.com/office/drawing/2014/main" id="{0DCD63B8-0160-46A4-BC67-FAC89034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7038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for v in values</a:t>
            </a:r>
          </a:p>
        </p:txBody>
      </p:sp>
      <p:sp>
        <p:nvSpPr>
          <p:cNvPr id="10" name="    ):">
            <a:extLst xmlns:a="http://schemas.openxmlformats.org/drawingml/2006/main">
              <a:ext uri="{FF2B5EF4-FFF2-40B4-BE49-F238E27FC236}">
                <a16:creationId xmlns:a16="http://schemas.microsoft.com/office/drawing/2014/main" id="{3CEB504B-4517-4D6A-92FD-17BC8413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8020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):</a:t>
            </a:r>
          </a:p>
        </p:txBody>
      </p:sp>
      <p:sp>
        <p:nvSpPr>
          <p:cNvPr id="11" name="        return">
            <a:extLst xmlns:a="http://schemas.openxmlformats.org/drawingml/2006/main">
              <a:ext uri="{FF2B5EF4-FFF2-40B4-BE49-F238E27FC236}">
                <a16:creationId xmlns:a16="http://schemas.microsoft.com/office/drawing/2014/main" id="{A4357DC1-D595-4273-B879-8AA3A916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9003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return</a:t>
            </a:r>
          </a:p>
        </p:txBody>
      </p:sp>
      <p:sp>
        <p:nvSpPr>
          <p:cNvPr id="12" name="    if self.discount &gt; self.price:">
            <a:extLst xmlns:a="http://schemas.openxmlformats.org/drawingml/2006/main">
              <a:ext uri="{FF2B5EF4-FFF2-40B4-BE49-F238E27FC236}">
                <a16:creationId xmlns:a16="http://schemas.microsoft.com/office/drawing/2014/main" id="{092BDF9E-2E6F-4C78-BC07-55B70847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9985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if self.discount &gt; self.price:</a:t>
            </a:r>
          </a:p>
        </p:txBody>
      </p:sp>
      <p:sp>
        <p:nvSpPr>
          <p:cNvPr id="13" name="        raise ValidationError({">
            <a:extLst xmlns:a="http://schemas.openxmlformats.org/drawingml/2006/main">
              <a:ext uri="{FF2B5EF4-FFF2-40B4-BE49-F238E27FC236}">
                <a16:creationId xmlns:a16="http://schemas.microsoft.com/office/drawing/2014/main" id="{2ECE43C1-8498-4F9B-AC88-F7F914C2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0968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raise ValidationError({</a:t>
            </a:r>
          </a:p>
        </p:txBody>
      </p:sp>
      <p:sp>
        <p:nvSpPr>
          <p:cNvPr id="14" name="            &quot;discount&quot;: &quot;discount exceeds price&quot;">
            <a:extLst xmlns:a="http://schemas.openxmlformats.org/drawingml/2006/main">
              <a:ext uri="{FF2B5EF4-FFF2-40B4-BE49-F238E27FC236}">
                <a16:creationId xmlns:a16="http://schemas.microsoft.com/office/drawing/2014/main" id="{BB9DDF70-BB17-4EE1-90E4-FF4ACF2F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    "discount": "discount exceeds price"</a:t>
            </a:r>
          </a:p>
        </p:txBody>
      </p:sp>
      <p:sp>
        <p:nvSpPr>
          <p:cNvPr id="15" name="        })">
            <a:extLst xmlns:a="http://schemas.openxmlformats.org/drawingml/2006/main">
              <a:ext uri="{FF2B5EF4-FFF2-40B4-BE49-F238E27FC236}">
                <a16:creationId xmlns:a16="http://schemas.microsoft.com/office/drawing/2014/main" id="{A3005308-F020-4319-ACEF-732B1B7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2933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})</a:t>
            </a:r>
          </a:p>
        </p:txBody>
      </p:sp>
      <p:sp>
        <p:nvSpPr>
          <p:cNvPr id="16" name="驗證責任">
            <a:extLst xmlns:a="http://schemas.openxmlformats.org/drawingml/2006/main">
              <a:ext uri="{FF2B5EF4-FFF2-40B4-BE49-F238E27FC236}">
                <a16:creationId xmlns:a16="http://schemas.microsoft.com/office/drawing/2014/main" id="{91FDC0A2-3367-42C1-8F35-F59D29C3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驗證責任</a:t>
            </a:r>
          </a:p>
        </p:txBody>
      </p:sp>
      <p:sp>
        <p:nvSpPr>
          <p:cNvPr id="17" name="欄位 validators 檢查非負值。&#10;clean() 檢查折扣與原價&#10;共同構成的規則。">
            <a:extLst xmlns:a="http://schemas.openxmlformats.org/drawingml/2006/main">
              <a:ext uri="{FF2B5EF4-FFF2-40B4-BE49-F238E27FC236}">
                <a16:creationId xmlns:a16="http://schemas.microsoft.com/office/drawing/2014/main" id="{433960AA-C8F0-40F0-9317-5C6A8017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09825"/>
            <a:ext cx="34290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欄位 validators 檢查非負值。</a:t>
            </a:r>
          </a:p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clean() 檢查折扣與原價</a:t>
            </a:r>
          </a:p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共同構成的規則。</a:t>
            </a:r>
          </a:p>
        </p:txBody>
      </p:sp>
      <p:sp>
        <p:nvSpPr>
          <p:cNvPr id="18" name="呼叫時機">
            <a:extLst xmlns:a="http://schemas.openxmlformats.org/drawingml/2006/main">
              <a:ext uri="{FF2B5EF4-FFF2-40B4-BE49-F238E27FC236}">
                <a16:creationId xmlns:a16="http://schemas.microsoft.com/office/drawing/2014/main" id="{AA7B1A8C-D705-4BDE-B90C-9D5EA548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48075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呼叫時機</a:t>
            </a:r>
          </a:p>
        </p:txBody>
      </p:sp>
      <p:sp>
        <p:nvSpPr>
          <p:cNvPr id="19" name="full_clean() 會執行模型驗證。&#10;save() 不會自動呼叫它。&#10;儲存前須明確安排驗證。">
            <a:extLst xmlns:a="http://schemas.openxmlformats.org/drawingml/2006/main">
              <a:ext uri="{FF2B5EF4-FFF2-40B4-BE49-F238E27FC236}">
                <a16:creationId xmlns:a16="http://schemas.microsoft.com/office/drawing/2014/main" id="{69309405-D1C3-455F-9E95-F75B5DF8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48150"/>
            <a:ext cx="34290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full_clean() 會執行模型驗證。</a:t>
            </a:r>
          </a:p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save() 不會自動呼叫它。</a:t>
            </a:r>
          </a:p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儲存前須明確安排驗證。</a:t>
            </a:r>
          </a:p>
        </p:txBody>
      </p:sp>
      <p:sp>
        <p:nvSpPr>
          <p:cNvPr id="20" name="欄位驗證失敗後，clean() 仍可能執行；先檢查型別可避免比較時再次出錯。">
            <a:extLst xmlns:a="http://schemas.openxmlformats.org/drawingml/2006/main">
              <a:ext uri="{FF2B5EF4-FFF2-40B4-BE49-F238E27FC236}">
                <a16:creationId xmlns:a16="http://schemas.microsoft.com/office/drawing/2014/main" id="{5C3DD80E-6B26-4EEC-8451-6BD0518A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38825"/>
            <a:ext cx="10906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欄位驗證失敗後，clean() 仍可能執行；先檢查型別可避免比較時再次出錯。</a:t>
            </a:r>
          </a:p>
        </p:txBody>
      </p:sp>
    </p:spTree>
    <p:extLst>
      <p:ext uri="{BB962C8B-B14F-4D97-AF65-F5344CB8AC3E}">
        <p14:creationId xmlns:p14="http://schemas.microsoft.com/office/powerpoint/2010/main" val="1201880227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驗證失敗與記憶體中的狀態">
            <a:extLst xmlns:a="http://schemas.openxmlformats.org/drawingml/2006/main">
              <a:ext uri="{FF2B5EF4-FFF2-40B4-BE49-F238E27FC236}">
                <a16:creationId xmlns:a16="http://schemas.microsoft.com/office/drawing/2014/main" id="{38C6E3C1-4013-4073-B0FE-B11BE76E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驗證失敗與記憶體中的狀態</a:t>
            </a:r>
          </a:p>
        </p:txBody>
      </p:sp>
      <p:sp>
        <p:nvSpPr>
          <p:cNvPr id="2" name="同一個商品，觀察物件值與已儲存資料的差異">
            <a:extLst xmlns:a="http://schemas.openxmlformats.org/drawingml/2006/main">
              <a:ext uri="{FF2B5EF4-FFF2-40B4-BE49-F238E27FC236}">
                <a16:creationId xmlns:a16="http://schemas.microsoft.com/office/drawing/2014/main" id="{4A7956EE-E1CF-442E-9D0F-58FB7391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同一個商品，觀察物件值與已儲存資料的差異</a:t>
            </a:r>
          </a:p>
        </p:txBody>
      </p:sp>
      <p:sp>
        <p:nvSpPr>
          <p:cNvPr id="3" name="42C">
            <a:extLst xmlns:a="http://schemas.openxmlformats.org/drawingml/2006/main">
              <a:ext uri="{FF2B5EF4-FFF2-40B4-BE49-F238E27FC236}">
                <a16:creationId xmlns:a16="http://schemas.microsoft.com/office/drawing/2014/main" id="{68AC0390-7DF9-42CD-84F4-03C963F8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6467475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42C</a:t>
            </a:r>
          </a:p>
        </p:txBody>
      </p:sp>
      <p:sp>
        <p:nvSpPr>
          <p:cNvPr id="4" name="p = Product(name=&quot;Keyboard&quot;,">
            <a:extLst xmlns:a="http://schemas.openxmlformats.org/drawingml/2006/main">
              <a:ext uri="{FF2B5EF4-FFF2-40B4-BE49-F238E27FC236}">
                <a16:creationId xmlns:a16="http://schemas.microsoft.com/office/drawing/2014/main" id="{F4DEC52C-A8BB-4298-8F73-CB91CDA8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 = Product(name="Keyboard",</a:t>
            </a:r>
          </a:p>
        </p:txBody>
      </p:sp>
      <p:sp>
        <p:nvSpPr>
          <p:cNvPr id="5" name="    price=Decimal(&quot;100.00&quot;),">
            <a:extLst xmlns:a="http://schemas.openxmlformats.org/drawingml/2006/main">
              <a:ext uri="{FF2B5EF4-FFF2-40B4-BE49-F238E27FC236}">
                <a16:creationId xmlns:a16="http://schemas.microsoft.com/office/drawing/2014/main" id="{47906435-1EB7-441A-860D-55F3A91B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3108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price=Decimal("100.00"),</a:t>
            </a:r>
          </a:p>
        </p:txBody>
      </p:sp>
      <p:sp>
        <p:nvSpPr>
          <p:cNvPr id="6" name="    discount=Decimal(&quot;20.00&quot;))">
            <a:extLst xmlns:a="http://schemas.openxmlformats.org/drawingml/2006/main">
              <a:ext uri="{FF2B5EF4-FFF2-40B4-BE49-F238E27FC236}">
                <a16:creationId xmlns:a16="http://schemas.microsoft.com/office/drawing/2014/main" id="{0ECC3F38-A320-4ED6-894E-366BD820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090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discount=Decimal("20.00"))</a:t>
            </a:r>
          </a:p>
        </p:txBody>
      </p:sp>
      <p:sp>
        <p:nvSpPr>
          <p:cNvPr id="7" name="p.full_clean()">
            <a:extLst xmlns:a="http://schemas.openxmlformats.org/drawingml/2006/main">
              <a:ext uri="{FF2B5EF4-FFF2-40B4-BE49-F238E27FC236}">
                <a16:creationId xmlns:a16="http://schemas.microsoft.com/office/drawing/2014/main" id="{6F2ADCE3-49DE-4CBD-8D70-26988502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5073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p.full_clean()</a:t>
            </a:r>
          </a:p>
        </p:txBody>
      </p:sp>
      <p:sp>
        <p:nvSpPr>
          <p:cNvPr id="8" name="p.save()">
            <a:extLst xmlns:a="http://schemas.openxmlformats.org/drawingml/2006/main">
              <a:ext uri="{FF2B5EF4-FFF2-40B4-BE49-F238E27FC236}">
                <a16:creationId xmlns:a16="http://schemas.microsoft.com/office/drawing/2014/main" id="{58F7B943-1282-4B5E-88F0-709B0F76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6055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p.save()</a:t>
            </a:r>
          </a:p>
        </p:txBody>
      </p:sp>
      <p:sp>
        <p:nvSpPr>
          <p:cNvPr id="9" name="print(p.final_price)">
            <a:extLst xmlns:a="http://schemas.openxmlformats.org/drawingml/2006/main">
              <a:ext uri="{FF2B5EF4-FFF2-40B4-BE49-F238E27FC236}">
                <a16:creationId xmlns:a16="http://schemas.microsoft.com/office/drawing/2014/main" id="{2A74B7DF-E496-4D3A-A5F0-1A2D0D14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7038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print(p.final_price)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2B121E-FCE6-4D2F-90D0-EEEF65F1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8020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p.discount = Decimal(&quot;150.00&quot;)">
            <a:extLst xmlns:a="http://schemas.openxmlformats.org/drawingml/2006/main">
              <a:ext uri="{FF2B5EF4-FFF2-40B4-BE49-F238E27FC236}">
                <a16:creationId xmlns:a16="http://schemas.microsoft.com/office/drawing/2014/main" id="{E2E9D109-F4E4-46A1-8F55-EB5A07D7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9003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p.discount = Decimal("150.00")</a:t>
            </a:r>
          </a:p>
        </p:txBody>
      </p:sp>
      <p:sp>
        <p:nvSpPr>
          <p:cNvPr id="12" name="try:">
            <a:extLst xmlns:a="http://schemas.openxmlformats.org/drawingml/2006/main">
              <a:ext uri="{FF2B5EF4-FFF2-40B4-BE49-F238E27FC236}">
                <a16:creationId xmlns:a16="http://schemas.microsoft.com/office/drawing/2014/main" id="{5E3FB92F-0AE8-445F-818C-6F9F9E3E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9985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try:</a:t>
            </a:r>
          </a:p>
        </p:txBody>
      </p:sp>
      <p:sp>
        <p:nvSpPr>
          <p:cNvPr id="13" name="    p.full_clean()">
            <a:extLst xmlns:a="http://schemas.openxmlformats.org/drawingml/2006/main">
              <a:ext uri="{FF2B5EF4-FFF2-40B4-BE49-F238E27FC236}">
                <a16:creationId xmlns:a16="http://schemas.microsoft.com/office/drawing/2014/main" id="{B59A32F8-A193-4D48-BB8F-A7FCD0CB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0968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p.full_clean()</a:t>
            </a:r>
          </a:p>
        </p:txBody>
      </p:sp>
      <p:sp>
        <p:nvSpPr>
          <p:cNvPr id="14" name="except ValidationError:">
            <a:extLst xmlns:a="http://schemas.openxmlformats.org/drawingml/2006/main">
              <a:ext uri="{FF2B5EF4-FFF2-40B4-BE49-F238E27FC236}">
                <a16:creationId xmlns:a16="http://schemas.microsoft.com/office/drawing/2014/main" id="{47A2936A-420E-4704-9D55-E0512046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except ValidationError:</a:t>
            </a:r>
          </a:p>
        </p:txBody>
      </p:sp>
      <p:sp>
        <p:nvSpPr>
          <p:cNvPr id="15" name="    print(&quot;ValidationError&quot;)">
            <a:extLst xmlns:a="http://schemas.openxmlformats.org/drawingml/2006/main">
              <a:ext uri="{FF2B5EF4-FFF2-40B4-BE49-F238E27FC236}">
                <a16:creationId xmlns:a16="http://schemas.microsoft.com/office/drawing/2014/main" id="{F3950492-A602-4B5F-95AE-38CDAA5B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2933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print("ValidationError")</a:t>
            </a:r>
          </a:p>
        </p:txBody>
      </p:sp>
      <p:sp>
        <p:nvSpPr>
          <p:cNvPr id="16" name="print(p.discount)">
            <a:extLst xmlns:a="http://schemas.openxmlformats.org/drawingml/2006/main">
              <a:ext uri="{FF2B5EF4-FFF2-40B4-BE49-F238E27FC236}">
                <a16:creationId xmlns:a16="http://schemas.microsoft.com/office/drawing/2014/main" id="{70A9C87C-C59A-45CD-AFEF-2072AAFE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53915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print(p.discount)</a:t>
            </a:r>
          </a:p>
        </p:txBody>
      </p:sp>
      <p:sp>
        <p:nvSpPr>
          <p:cNvPr id="17" name="p.refresh_from_db()">
            <a:extLst xmlns:a="http://schemas.openxmlformats.org/drawingml/2006/main">
              <a:ext uri="{FF2B5EF4-FFF2-40B4-BE49-F238E27FC236}">
                <a16:creationId xmlns:a16="http://schemas.microsoft.com/office/drawing/2014/main" id="{C98F4914-A36E-408E-A187-3E0996D3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4898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p.refresh_from_db()</a:t>
            </a:r>
          </a:p>
        </p:txBody>
      </p:sp>
      <p:sp>
        <p:nvSpPr>
          <p:cNvPr id="18" name="print(p.discount)">
            <a:extLst xmlns:a="http://schemas.openxmlformats.org/drawingml/2006/main">
              <a:ext uri="{FF2B5EF4-FFF2-40B4-BE49-F238E27FC236}">
                <a16:creationId xmlns:a16="http://schemas.microsoft.com/office/drawing/2014/main" id="{6FEC6B66-6FB5-4C4B-9AA8-537FB6A4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5880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print(p.discount)</a:t>
            </a:r>
          </a:p>
        </p:txBody>
      </p:sp>
      <p:sp>
        <p:nvSpPr>
          <p:cNvPr id="19" name="正常情況">
            <a:extLst xmlns:a="http://schemas.openxmlformats.org/drawingml/2006/main">
              <a:ext uri="{FF2B5EF4-FFF2-40B4-BE49-F238E27FC236}">
                <a16:creationId xmlns:a16="http://schemas.microsoft.com/office/drawing/2014/main" id="{91DFCA93-3F13-4923-B320-E16B0B18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正常情況</a:t>
            </a:r>
          </a:p>
        </p:txBody>
      </p:sp>
      <p:sp>
        <p:nvSpPr>
          <p:cNvPr id="20" name="原價 100、折扣 20，&#10;final_price 為 80。&#10;驗證後才儲存。">
            <a:extLst xmlns:a="http://schemas.openxmlformats.org/drawingml/2006/main">
              <a:ext uri="{FF2B5EF4-FFF2-40B4-BE49-F238E27FC236}">
                <a16:creationId xmlns:a16="http://schemas.microsoft.com/office/drawing/2014/main" id="{FA4E0F92-C63D-43AC-80D5-8422863E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09825"/>
            <a:ext cx="34290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原價 100、折扣 20，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final_price 為 80。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驗證後才儲存。</a:t>
            </a:r>
          </a:p>
        </p:txBody>
      </p:sp>
      <p:sp>
        <p:nvSpPr>
          <p:cNvPr id="21" name="失敗後的處理">
            <a:extLst xmlns:a="http://schemas.openxmlformats.org/drawingml/2006/main">
              <a:ext uri="{FF2B5EF4-FFF2-40B4-BE49-F238E27FC236}">
                <a16:creationId xmlns:a16="http://schemas.microsoft.com/office/drawing/2014/main" id="{01221300-64A4-4A98-8388-7794F930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48075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失敗後的處理</a:t>
            </a:r>
          </a:p>
        </p:txBody>
      </p:sp>
      <p:sp>
        <p:nvSpPr>
          <p:cNvPr id="22" name="驗證不會還原物件中的值。&#10;refresh_from_db() 重新讀取&#10;資料庫內原有的折扣 20。">
            <a:extLst xmlns:a="http://schemas.openxmlformats.org/drawingml/2006/main">
              <a:ext uri="{FF2B5EF4-FFF2-40B4-BE49-F238E27FC236}">
                <a16:creationId xmlns:a16="http://schemas.microsoft.com/office/drawing/2014/main" id="{5AF9FD88-1D2D-4F75-A559-41AE9C1B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48150"/>
            <a:ext cx="34290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驗證不會還原物件中的值。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refresh_from_db() 重新讀取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資料庫內原有的折扣 20。</a:t>
            </a:r>
          </a:p>
        </p:txBody>
      </p:sp>
      <p:sp>
        <p:nvSpPr>
          <p:cNvPr id="23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8AEE6A08-DE84-453E-9D4B-E8004FEB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292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4" name="80.00    ValidationError    150.00    20.00">
            <a:extLst xmlns:a="http://schemas.openxmlformats.org/drawingml/2006/main">
              <a:ext uri="{FF2B5EF4-FFF2-40B4-BE49-F238E27FC236}">
                <a16:creationId xmlns:a16="http://schemas.microsoft.com/office/drawing/2014/main" id="{6630906D-A9D2-4ED1-BB3A-EE7C4664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91225"/>
            <a:ext cx="1091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80.00    ValidationError    150.00    20.00</a:t>
            </a:r>
          </a:p>
        </p:txBody>
      </p:sp>
    </p:spTree>
    <p:extLst>
      <p:ext uri="{BB962C8B-B14F-4D97-AF65-F5344CB8AC3E}">
        <p14:creationId xmlns:p14="http://schemas.microsoft.com/office/powerpoint/2010/main" val="2132049708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資料庫約束與封裝的邊界">
            <a:extLst xmlns:a="http://schemas.openxmlformats.org/drawingml/2006/main">
              <a:ext uri="{FF2B5EF4-FFF2-40B4-BE49-F238E27FC236}">
                <a16:creationId xmlns:a16="http://schemas.microsoft.com/office/drawing/2014/main" id="{C50D6F7F-1FB2-4051-95BC-1A72D7F9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資料庫約束與封裝的邊界</a:t>
            </a:r>
          </a:p>
        </p:txBody>
      </p:sp>
      <p:sp>
        <p:nvSpPr>
          <p:cNvPr id="2" name="Product.Meta 類別內片段，限制所有資料庫寫入路徑">
            <a:extLst xmlns:a="http://schemas.openxmlformats.org/drawingml/2006/main">
              <a:ext uri="{FF2B5EF4-FFF2-40B4-BE49-F238E27FC236}">
                <a16:creationId xmlns:a16="http://schemas.microsoft.com/office/drawing/2014/main" id="{D4521E8B-977A-4B17-B6DD-96E484C3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Product.Meta 類別內片段，限制所有資料庫寫入路徑</a:t>
            </a:r>
          </a:p>
        </p:txBody>
      </p:sp>
      <p:sp>
        <p:nvSpPr>
          <p:cNvPr id="3" name="42D">
            <a:extLst xmlns:a="http://schemas.openxmlformats.org/drawingml/2006/main">
              <a:ext uri="{FF2B5EF4-FFF2-40B4-BE49-F238E27FC236}">
                <a16:creationId xmlns:a16="http://schemas.microsoft.com/office/drawing/2014/main" id="{492DB296-0E35-4BAA-9AFC-A54B4C4C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6467475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42D</a:t>
            </a:r>
          </a:p>
        </p:txBody>
      </p:sp>
      <p:sp>
        <p:nvSpPr>
          <p:cNvPr id="4" name="class Meta:">
            <a:extLst xmlns:a="http://schemas.openxmlformats.org/drawingml/2006/main">
              <a:ext uri="{FF2B5EF4-FFF2-40B4-BE49-F238E27FC236}">
                <a16:creationId xmlns:a16="http://schemas.microsoft.com/office/drawing/2014/main" id="{D1C2CBA1-CE8C-483B-9E82-0BC07633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class Meta:</a:t>
            </a:r>
          </a:p>
        </p:txBody>
      </p:sp>
      <p:sp>
        <p:nvSpPr>
          <p:cNvPr id="5" name="    constraints = [">
            <a:extLst xmlns:a="http://schemas.openxmlformats.org/drawingml/2006/main">
              <a:ext uri="{FF2B5EF4-FFF2-40B4-BE49-F238E27FC236}">
                <a16:creationId xmlns:a16="http://schemas.microsoft.com/office/drawing/2014/main" id="{D4208A1B-458C-40A1-A7FC-01FD9012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3108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constraints = [</a:t>
            </a:r>
          </a:p>
        </p:txBody>
      </p:sp>
      <p:sp>
        <p:nvSpPr>
          <p:cNvPr id="6" name="        models.CheckConstraint(">
            <a:extLst xmlns:a="http://schemas.openxmlformats.org/drawingml/2006/main">
              <a:ext uri="{FF2B5EF4-FFF2-40B4-BE49-F238E27FC236}">
                <a16:creationId xmlns:a16="http://schemas.microsoft.com/office/drawing/2014/main" id="{A8A871D9-859D-48A7-9ACC-D58F4B5F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090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models.CheckConstraint(</a:t>
            </a:r>
          </a:p>
        </p:txBody>
      </p:sp>
      <p:sp>
        <p:nvSpPr>
          <p:cNvPr id="7" name="            condition=(">
            <a:extLst xmlns:a="http://schemas.openxmlformats.org/drawingml/2006/main">
              <a:ext uri="{FF2B5EF4-FFF2-40B4-BE49-F238E27FC236}">
                <a16:creationId xmlns:a16="http://schemas.microsoft.com/office/drawing/2014/main" id="{8F0685CA-1323-45AF-B089-F317B2B9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5073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    condition=(</a:t>
            </a:r>
          </a:p>
        </p:txBody>
      </p:sp>
      <p:sp>
        <p:nvSpPr>
          <p:cNvPr id="8" name="                models.Q(price__gte=0)">
            <a:extLst xmlns:a="http://schemas.openxmlformats.org/drawingml/2006/main">
              <a:ext uri="{FF2B5EF4-FFF2-40B4-BE49-F238E27FC236}">
                <a16:creationId xmlns:a16="http://schemas.microsoft.com/office/drawing/2014/main" id="{6F1324E4-5365-404F-B632-02F30D4B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6055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        models.Q(price__gte=0)</a:t>
            </a:r>
          </a:p>
        </p:txBody>
      </p:sp>
      <p:sp>
        <p:nvSpPr>
          <p:cNvPr id="9" name="                &amp; models.Q(discount__gte=0)">
            <a:extLst xmlns:a="http://schemas.openxmlformats.org/drawingml/2006/main">
              <a:ext uri="{FF2B5EF4-FFF2-40B4-BE49-F238E27FC236}">
                <a16:creationId xmlns:a16="http://schemas.microsoft.com/office/drawing/2014/main" id="{5B9AA01C-9FBE-4A92-A1A7-DDD79964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7038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        &amp; models.Q(discount__gte=0)</a:t>
            </a:r>
          </a:p>
        </p:txBody>
      </p:sp>
      <p:sp>
        <p:nvSpPr>
          <p:cNvPr id="10" name="                &amp; models.Q(">
            <a:extLst xmlns:a="http://schemas.openxmlformats.org/drawingml/2006/main">
              <a:ext uri="{FF2B5EF4-FFF2-40B4-BE49-F238E27FC236}">
                <a16:creationId xmlns:a16="http://schemas.microsoft.com/office/drawing/2014/main" id="{63D0F749-9A89-4729-BB7F-A5B65C2D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8020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        &amp; models.Q(</a:t>
            </a:r>
          </a:p>
        </p:txBody>
      </p:sp>
      <p:sp>
        <p:nvSpPr>
          <p:cNvPr id="11" name="                    discount__lte=models.F(&quot;price&quot;))">
            <a:extLst xmlns:a="http://schemas.openxmlformats.org/drawingml/2006/main">
              <a:ext uri="{FF2B5EF4-FFF2-40B4-BE49-F238E27FC236}">
                <a16:creationId xmlns:a16="http://schemas.microsoft.com/office/drawing/2014/main" id="{8059464D-FEB2-47F4-88F0-3A3ED5DD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9003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            discount__lte=models.F("price"))</a:t>
            </a:r>
          </a:p>
        </p:txBody>
      </p:sp>
      <p:sp>
        <p:nvSpPr>
          <p:cNvPr id="12" name="            ),">
            <a:extLst xmlns:a="http://schemas.openxmlformats.org/drawingml/2006/main">
              <a:ext uri="{FF2B5EF4-FFF2-40B4-BE49-F238E27FC236}">
                <a16:creationId xmlns:a16="http://schemas.microsoft.com/office/drawing/2014/main" id="{BB0566C9-1564-4904-8F05-B47904F2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9985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    ),</a:t>
            </a:r>
          </a:p>
        </p:txBody>
      </p:sp>
      <p:sp>
        <p:nvSpPr>
          <p:cNvPr id="13" name="            name=&quot;product_valid_discount&quot;,">
            <a:extLst xmlns:a="http://schemas.openxmlformats.org/drawingml/2006/main">
              <a:ext uri="{FF2B5EF4-FFF2-40B4-BE49-F238E27FC236}">
                <a16:creationId xmlns:a16="http://schemas.microsoft.com/office/drawing/2014/main" id="{4B1C97E3-6E9A-4F5D-B03D-F493D44C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0968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    name="product_valid_discount",</a:t>
            </a:r>
          </a:p>
        </p:txBody>
      </p:sp>
      <p:sp>
        <p:nvSpPr>
          <p:cNvPr id="14" name="        )">
            <a:extLst xmlns:a="http://schemas.openxmlformats.org/drawingml/2006/main">
              <a:ext uri="{FF2B5EF4-FFF2-40B4-BE49-F238E27FC236}">
                <a16:creationId xmlns:a16="http://schemas.microsoft.com/office/drawing/2014/main" id="{0AC92F50-6880-4DC8-B0B5-E397C30D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)</a:t>
            </a:r>
          </a:p>
        </p:txBody>
      </p:sp>
      <p:sp>
        <p:nvSpPr>
          <p:cNvPr id="15" name="    ]">
            <a:extLst xmlns:a="http://schemas.openxmlformats.org/drawingml/2006/main">
              <a:ext uri="{FF2B5EF4-FFF2-40B4-BE49-F238E27FC236}">
                <a16:creationId xmlns:a16="http://schemas.microsoft.com/office/drawing/2014/main" id="{A6F9B945-168A-463D-892F-EAEF4585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2933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]</a:t>
            </a:r>
          </a:p>
        </p:txBody>
      </p:sp>
      <p:sp>
        <p:nvSpPr>
          <p:cNvPr id="16" name="查詢更新可繞過方法">
            <a:extLst xmlns:a="http://schemas.openxmlformats.org/drawingml/2006/main">
              <a:ext uri="{FF2B5EF4-FFF2-40B4-BE49-F238E27FC236}">
                <a16:creationId xmlns:a16="http://schemas.microsoft.com/office/drawing/2014/main" id="{E33DD472-AB93-4316-9A94-D12002DF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查詢更新可繞過方法</a:t>
            </a:r>
          </a:p>
        </p:txBody>
      </p:sp>
      <p:sp>
        <p:nvSpPr>
          <p:cNvPr id="17" name="QuerySet.update() 不會執行&#10;模型的 clean() 或 save()。&#10;資料庫仍會檢查此約束。">
            <a:extLst xmlns:a="http://schemas.openxmlformats.org/drawingml/2006/main">
              <a:ext uri="{FF2B5EF4-FFF2-40B4-BE49-F238E27FC236}">
                <a16:creationId xmlns:a16="http://schemas.microsoft.com/office/drawing/2014/main" id="{1E8A41D6-53A8-4BFC-AE62-7A9B0098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09825"/>
            <a:ext cx="34290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QuerySet.update() 不會執行</a:t>
            </a:r>
          </a:p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模型的 clean() 或 save()。</a:t>
            </a:r>
          </a:p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資料庫仍會檢查此約束。</a:t>
            </a:r>
          </a:p>
        </p:txBody>
      </p:sp>
      <p:sp>
        <p:nvSpPr>
          <p:cNvPr id="18" name="兩層保護不同用途">
            <a:extLst xmlns:a="http://schemas.openxmlformats.org/drawingml/2006/main">
              <a:ext uri="{FF2B5EF4-FFF2-40B4-BE49-F238E27FC236}">
                <a16:creationId xmlns:a16="http://schemas.microsoft.com/office/drawing/2014/main" id="{F592AC99-9495-4FCF-B7CF-16E885BA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48075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兩層保護不同用途</a:t>
            </a:r>
          </a:p>
        </p:txBody>
      </p:sp>
      <p:sp>
        <p:nvSpPr>
          <p:cNvPr id="19" name="模型驗證提供錯誤訊息。&#10;資料庫拒絕違規寫入，&#10;此範例會收到 IntegrityError。">
            <a:extLst xmlns:a="http://schemas.openxmlformats.org/drawingml/2006/main">
              <a:ext uri="{FF2B5EF4-FFF2-40B4-BE49-F238E27FC236}">
                <a16:creationId xmlns:a16="http://schemas.microsoft.com/office/drawing/2014/main" id="{48905378-ACE7-4387-B1A7-B5733635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48150"/>
            <a:ext cx="34290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模型驗證提供錯誤訊息。</a:t>
            </a:r>
          </a:p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資料庫拒絕違規寫入，</a:t>
            </a:r>
          </a:p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此範例會收到 IntegrityError。</a:t>
            </a:r>
          </a:p>
        </p:txBody>
      </p:sp>
      <p:sp>
        <p:nvSpPr>
          <p:cNvPr id="20" name="一般專案以 migration 建立約束；配套單檔範例直接建立記憶體資料表。">
            <a:extLst xmlns:a="http://schemas.openxmlformats.org/drawingml/2006/main">
              <a:ext uri="{FF2B5EF4-FFF2-40B4-BE49-F238E27FC236}">
                <a16:creationId xmlns:a16="http://schemas.microsoft.com/office/drawing/2014/main" id="{A95B04F0-A33C-4334-85E6-824E3062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38825"/>
            <a:ext cx="10906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一般專案以 migration 建立約束；配套單檔範例直接建立記憶體資料表。</a:t>
            </a:r>
          </a:p>
        </p:txBody>
      </p:sp>
    </p:spTree>
    <p:extLst>
      <p:ext uri="{BB962C8B-B14F-4D97-AF65-F5344CB8AC3E}">
        <p14:creationId xmlns:p14="http://schemas.microsoft.com/office/powerpoint/2010/main" val="1716126653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常見錯誤與診斷">
            <a:extLst xmlns:a="http://schemas.openxmlformats.org/drawingml/2006/main">
              <a:ext uri="{FF2B5EF4-FFF2-40B4-BE49-F238E27FC236}">
                <a16:creationId xmlns:a16="http://schemas.microsoft.com/office/drawing/2014/main" id="{FE205EBC-D88C-40BC-B054-44F19219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常見錯誤與診斷</a:t>
            </a:r>
          </a:p>
        </p:txBody>
      </p:sp>
      <p:sp>
        <p:nvSpPr>
          <p:cNvPr id="2" name="錯誤觀察">
            <a:extLst xmlns:a="http://schemas.openxmlformats.org/drawingml/2006/main">
              <a:ext uri="{FF2B5EF4-FFF2-40B4-BE49-F238E27FC236}">
                <a16:creationId xmlns:a16="http://schemas.microsoft.com/office/drawing/2014/main" id="{3C1B912E-CC9B-4D94-8A7E-E5FB2831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錯誤觀察</a:t>
            </a:r>
          </a:p>
        </p:txBody>
      </p:sp>
      <p:sp>
        <p:nvSpPr>
          <p:cNvPr id="3" name="43">
            <a:extLst xmlns:a="http://schemas.openxmlformats.org/drawingml/2006/main">
              <a:ext uri="{FF2B5EF4-FFF2-40B4-BE49-F238E27FC236}">
                <a16:creationId xmlns:a16="http://schemas.microsoft.com/office/drawing/2014/main" id="{5EDF27A4-2EC2-4096-AA42-378A3222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43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3905250"/>
                <a:gridCol w="4210050"/>
              </a:tblGrid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現象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常見原因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修正方向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RecursionError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setter 指定同名 property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寫入另一個內部欄位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例外後狀態仍然改變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先賦值，後驗證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先檢查，再修改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唯讀資料仍被改動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getter 回傳共享 list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設計快照與元素型別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雙底線資料仍可存取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誤認為安全存取控制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理解名稱修飾的用途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NaN 通過價格驗證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只檢查 value &lt; 0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加入有限數值政策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5" name="診斷時同時觀察例外、屬性來源，以及操作前後的完整狀態。">
            <a:extLst xmlns:a="http://schemas.openxmlformats.org/drawingml/2006/main">
              <a:ext uri="{FF2B5EF4-FFF2-40B4-BE49-F238E27FC236}">
                <a16:creationId xmlns:a16="http://schemas.microsoft.com/office/drawing/2014/main" id="{C2769D74-6135-4220-BFE6-67D6D52B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0275"/>
            <a:ext cx="10706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診斷時同時觀察例外、屬性來源，以及操作前後的完整狀態。</a:t>
            </a:r>
          </a:p>
        </p:txBody>
      </p:sp>
    </p:spTree>
    <p:extLst>
      <p:ext uri="{BB962C8B-B14F-4D97-AF65-F5344CB8AC3E}">
        <p14:creationId xmlns:p14="http://schemas.microsoft.com/office/powerpoint/2010/main" val="1280825271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以測試檢查公開契約">
            <a:extLst xmlns:a="http://schemas.openxmlformats.org/drawingml/2006/main">
              <a:ext uri="{FF2B5EF4-FFF2-40B4-BE49-F238E27FC236}">
                <a16:creationId xmlns:a16="http://schemas.microsoft.com/office/drawing/2014/main" id="{104C788B-FAC4-4E1C-9B99-E2D5E30A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以測試檢查公開契約</a:t>
            </a:r>
          </a:p>
        </p:txBody>
      </p:sp>
      <p:sp>
        <p:nvSpPr>
          <p:cNvPr id="2" name="驗證設計">
            <a:extLst xmlns:a="http://schemas.openxmlformats.org/drawingml/2006/main">
              <a:ext uri="{FF2B5EF4-FFF2-40B4-BE49-F238E27FC236}">
                <a16:creationId xmlns:a16="http://schemas.microsoft.com/office/drawing/2014/main" id="{382A24E5-3F3E-4AF9-A73C-552529C4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驗證設計</a:t>
            </a:r>
          </a:p>
        </p:txBody>
      </p:sp>
      <p:sp>
        <p:nvSpPr>
          <p:cNvPr id="3" name="44">
            <a:extLst xmlns:a="http://schemas.openxmlformats.org/drawingml/2006/main">
              <a:ext uri="{FF2B5EF4-FFF2-40B4-BE49-F238E27FC236}">
                <a16:creationId xmlns:a16="http://schemas.microsoft.com/office/drawing/2014/main" id="{11301D22-7AB5-49D5-8664-8AC14D08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44</a:t>
            </a:r>
          </a:p>
        </p:txBody>
      </p:sp>
      <p:sp>
        <p:nvSpPr>
          <p:cNvPr id="4" name="a = BankAccount(&quot;A001&quot;, 100)">
            <a:extLst xmlns:a="http://schemas.openxmlformats.org/drawingml/2006/main">
              <a:ext uri="{FF2B5EF4-FFF2-40B4-BE49-F238E27FC236}">
                <a16:creationId xmlns:a16="http://schemas.microsoft.com/office/drawing/2014/main" id="{86C9396A-F824-4236-AECC-A2D17C9E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18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 = BankAccount("A001", 100)</a:t>
            </a:r>
          </a:p>
        </p:txBody>
      </p:sp>
      <p:sp>
        <p:nvSpPr>
          <p:cNvPr id="5" name="a.deposit(20)">
            <a:extLst xmlns:a="http://schemas.openxmlformats.org/drawingml/2006/main">
              <a:ext uri="{FF2B5EF4-FFF2-40B4-BE49-F238E27FC236}">
                <a16:creationId xmlns:a16="http://schemas.microsoft.com/office/drawing/2014/main" id="{97BF2935-A5D5-4C91-8C7C-0019AA06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4332"/>
            <a:ext cx="7391400" cy="318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a.deposit(20)</a:t>
            </a:r>
          </a:p>
        </p:txBody>
      </p:sp>
      <p:sp>
        <p:nvSpPr>
          <p:cNvPr id="6" name="assert a.balance == 120">
            <a:extLst xmlns:a="http://schemas.openxmlformats.org/drawingml/2006/main">
              <a:ext uri="{FF2B5EF4-FFF2-40B4-BE49-F238E27FC236}">
                <a16:creationId xmlns:a16="http://schemas.microsoft.com/office/drawing/2014/main" id="{A98A5EAC-7A7D-46BE-8CB0-8F584100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5589"/>
            <a:ext cx="7391400" cy="318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assert a.balance == 120</a:t>
            </a:r>
          </a:p>
        </p:txBody>
      </p:sp>
      <p:sp>
        <p:nvSpPr>
          <p:cNvPr id="7" name="before = (a.balance, a.transactions)">
            <a:extLst xmlns:a="http://schemas.openxmlformats.org/drawingml/2006/main">
              <a:ext uri="{FF2B5EF4-FFF2-40B4-BE49-F238E27FC236}">
                <a16:creationId xmlns:a16="http://schemas.microsoft.com/office/drawing/2014/main" id="{9B9A3B4B-31F0-42A0-833F-2F1EE5CA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6846"/>
            <a:ext cx="7391400" cy="318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before = (a.balance, a.transactions)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C669E3-710D-4AE4-AC46-E7C649FC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8104"/>
            <a:ext cx="7391400" cy="318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try:">
            <a:extLst xmlns:a="http://schemas.openxmlformats.org/drawingml/2006/main">
              <a:ext uri="{FF2B5EF4-FFF2-40B4-BE49-F238E27FC236}">
                <a16:creationId xmlns:a16="http://schemas.microsoft.com/office/drawing/2014/main" id="{D69DC61E-2509-49D4-9140-4E3C346B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9361"/>
            <a:ext cx="7391400" cy="318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try:</a:t>
            </a:r>
          </a:p>
        </p:txBody>
      </p:sp>
      <p:sp>
        <p:nvSpPr>
          <p:cNvPr id="10" name="    a.withdraw(999)">
            <a:extLst xmlns:a="http://schemas.openxmlformats.org/drawingml/2006/main">
              <a:ext uri="{FF2B5EF4-FFF2-40B4-BE49-F238E27FC236}">
                <a16:creationId xmlns:a16="http://schemas.microsoft.com/office/drawing/2014/main" id="{65BB52B5-803F-45D3-98AB-4D970C97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0618"/>
            <a:ext cx="7391400" cy="318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a.withdraw(999)</a:t>
            </a:r>
          </a:p>
        </p:txBody>
      </p:sp>
      <p:sp>
        <p:nvSpPr>
          <p:cNvPr id="11" name="except ValueError:">
            <a:extLst xmlns:a="http://schemas.openxmlformats.org/drawingml/2006/main">
              <a:ext uri="{FF2B5EF4-FFF2-40B4-BE49-F238E27FC236}">
                <a16:creationId xmlns:a16="http://schemas.microsoft.com/office/drawing/2014/main" id="{3F93C1CC-956D-4F3E-A79A-47214E3D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7391400" cy="318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except ValueError:</a:t>
            </a:r>
          </a:p>
        </p:txBody>
      </p:sp>
      <p:sp>
        <p:nvSpPr>
          <p:cNvPr id="12" name="    pass">
            <a:extLst xmlns:a="http://schemas.openxmlformats.org/drawingml/2006/main">
              <a:ext uri="{FF2B5EF4-FFF2-40B4-BE49-F238E27FC236}">
                <a16:creationId xmlns:a16="http://schemas.microsoft.com/office/drawing/2014/main" id="{EA375AD2-2B77-45F5-A9C1-8C03B1A9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3132"/>
            <a:ext cx="7391400" cy="318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pass</a:t>
            </a:r>
          </a:p>
        </p:txBody>
      </p:sp>
      <p:sp>
        <p:nvSpPr>
          <p:cNvPr id="13" name="else:">
            <a:extLst xmlns:a="http://schemas.openxmlformats.org/drawingml/2006/main">
              <a:ext uri="{FF2B5EF4-FFF2-40B4-BE49-F238E27FC236}">
                <a16:creationId xmlns:a16="http://schemas.microsoft.com/office/drawing/2014/main" id="{2E13EDAF-BE89-4F77-A3D6-D5BAFD0C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4389"/>
            <a:ext cx="7391400" cy="318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else:</a:t>
            </a:r>
          </a:p>
        </p:txBody>
      </p:sp>
      <p:sp>
        <p:nvSpPr>
          <p:cNvPr id="14" name="    raise AssertionError(&quot;exception expected&quot;)">
            <a:extLst xmlns:a="http://schemas.openxmlformats.org/drawingml/2006/main">
              <a:ext uri="{FF2B5EF4-FFF2-40B4-BE49-F238E27FC236}">
                <a16:creationId xmlns:a16="http://schemas.microsoft.com/office/drawing/2014/main" id="{C5B0DA84-0F03-49DB-9ECD-40E49AD9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5646"/>
            <a:ext cx="7391400" cy="318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raise AssertionError("exception expected")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E6150F-2DE8-4D8E-BB83-0A59154B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6904"/>
            <a:ext cx="7391400" cy="318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assert (a.balance, a.transactions) == before">
            <a:extLst xmlns:a="http://schemas.openxmlformats.org/drawingml/2006/main">
              <a:ext uri="{FF2B5EF4-FFF2-40B4-BE49-F238E27FC236}">
                <a16:creationId xmlns:a16="http://schemas.microsoft.com/office/drawing/2014/main" id="{8B670F48-D355-45BC-800B-365042F8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8161"/>
            <a:ext cx="7391400" cy="318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assert (a.balance, a.transactions) == before</a:t>
            </a:r>
          </a:p>
        </p:txBody>
      </p:sp>
      <p:sp>
        <p:nvSpPr>
          <p:cNvPr id="17" name="print(&quot;contract checks passed&quot;)">
            <a:extLst xmlns:a="http://schemas.openxmlformats.org/drawingml/2006/main">
              <a:ext uri="{FF2B5EF4-FFF2-40B4-BE49-F238E27FC236}">
                <a16:creationId xmlns:a16="http://schemas.microsoft.com/office/drawing/2014/main" id="{47828089-841C-4198-8443-7D6E446A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9418"/>
            <a:ext cx="7391400" cy="318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print("contract checks passed")</a:t>
            </a:r>
          </a:p>
        </p:txBody>
      </p:sp>
      <p:sp>
        <p:nvSpPr>
          <p:cNvPr id="18" name="測試涵蓋成功與失敗">
            <a:extLst xmlns:a="http://schemas.openxmlformats.org/drawingml/2006/main">
              <a:ext uri="{FF2B5EF4-FFF2-40B4-BE49-F238E27FC236}">
                <a16:creationId xmlns:a16="http://schemas.microsoft.com/office/drawing/2014/main" id="{F3521031-49F3-4B66-8790-5854CC4C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測試涵蓋成功與失敗</a:t>
            </a:r>
          </a:p>
        </p:txBody>
      </p:sp>
      <p:sp>
        <p:nvSpPr>
          <p:cNvPr id="19" name="合法存款改變餘額。 超額提款必須拒絕。">
            <a:extLst xmlns:a="http://schemas.openxmlformats.org/drawingml/2006/main">
              <a:ext uri="{FF2B5EF4-FFF2-40B4-BE49-F238E27FC236}">
                <a16:creationId xmlns:a16="http://schemas.microsoft.com/office/drawing/2014/main" id="{83A8D5D7-7CA7-4D3A-AB64-9F751BC5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合法存款改變餘額。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超額提款必須拒絕。</a:t>
            </a:r>
          </a:p>
        </p:txBody>
      </p:sp>
      <p:sp>
        <p:nvSpPr>
          <p:cNvPr id="20" name="assert 用於示例測試">
            <a:extLst xmlns:a="http://schemas.openxmlformats.org/drawingml/2006/main">
              <a:ext uri="{FF2B5EF4-FFF2-40B4-BE49-F238E27FC236}">
                <a16:creationId xmlns:a16="http://schemas.microsoft.com/office/drawing/2014/main" id="{AFB55C5B-CCC7-4817-93F7-2CDF5F91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assert 用於示例測試</a:t>
            </a:r>
          </a:p>
        </p:txBody>
      </p:sp>
      <p:sp>
        <p:nvSpPr>
          <p:cNvPr id="21" name="不要用 assert 取代 產品程式的輸入驗證。">
            <a:extLst xmlns:a="http://schemas.openxmlformats.org/drawingml/2006/main">
              <a:ext uri="{FF2B5EF4-FFF2-40B4-BE49-F238E27FC236}">
                <a16:creationId xmlns:a16="http://schemas.microsoft.com/office/drawing/2014/main" id="{AF42887A-05AE-4308-8CB9-CEE1EA7D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不要用 assert 取代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產品程式的輸入驗證。</a:t>
            </a:r>
          </a:p>
        </p:txBody>
      </p:sp>
      <p:sp>
        <p:nvSpPr>
          <p:cNvPr id="22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85DC358A-43DA-40FB-AD39-AE08F7FF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3" name="contract checks passed">
            <a:extLst xmlns:a="http://schemas.openxmlformats.org/drawingml/2006/main">
              <a:ext uri="{FF2B5EF4-FFF2-40B4-BE49-F238E27FC236}">
                <a16:creationId xmlns:a16="http://schemas.microsoft.com/office/drawing/2014/main" id="{E9E1BFB7-F739-461E-8BD5-D9A31E6B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contract checks passed</a:t>
            </a:r>
          </a:p>
        </p:txBody>
      </p:sp>
    </p:spTree>
    <p:extLst>
      <p:ext uri="{BB962C8B-B14F-4D97-AF65-F5344CB8AC3E}">
        <p14:creationId xmlns:p14="http://schemas.microsoft.com/office/powerpoint/2010/main" val="1991765905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不變條件的測試案例">
            <a:extLst xmlns:a="http://schemas.openxmlformats.org/drawingml/2006/main">
              <a:ext uri="{FF2B5EF4-FFF2-40B4-BE49-F238E27FC236}">
                <a16:creationId xmlns:a16="http://schemas.microsoft.com/office/drawing/2014/main" id="{2A2A1452-6D28-466E-9CE4-03320136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不變條件的測試案例</a:t>
            </a:r>
          </a:p>
        </p:txBody>
      </p:sp>
      <p:sp>
        <p:nvSpPr>
          <p:cNvPr id="2" name="驗證設計">
            <a:extLst xmlns:a="http://schemas.openxmlformats.org/drawingml/2006/main">
              <a:ext uri="{FF2B5EF4-FFF2-40B4-BE49-F238E27FC236}">
                <a16:creationId xmlns:a16="http://schemas.microsoft.com/office/drawing/2014/main" id="{A75A190B-5170-4D39-A4B2-698E6663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驗證設計</a:t>
            </a:r>
          </a:p>
        </p:txBody>
      </p:sp>
      <p:sp>
        <p:nvSpPr>
          <p:cNvPr id="3" name="45">
            <a:extLst xmlns:a="http://schemas.openxmlformats.org/drawingml/2006/main">
              <a:ext uri="{FF2B5EF4-FFF2-40B4-BE49-F238E27FC236}">
                <a16:creationId xmlns:a16="http://schemas.microsoft.com/office/drawing/2014/main" id="{5E83ECA7-E617-4FA8-BB4A-28D73681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45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524250"/>
                <a:gridCol w="2762250"/>
                <a:gridCol w="4686300"/>
              </a:tblGrid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案例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預期結果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額外觀察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存款 20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成功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餘額增加，新增一筆紀錄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存款 0 或 -1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ValueError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餘額與紀錄維持原狀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金額為 True 或 "20"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TypeError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拒絕不符合型別政策的值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提款超過餘額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ValueError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不留下失敗交易紀錄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直接指定 balance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AttributeError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公開餘額保持唯讀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5" name="針對公開行為寫測試，內部重構才有較大的自由。">
            <a:extLst xmlns:a="http://schemas.openxmlformats.org/drawingml/2006/main">
              <a:ext uri="{FF2B5EF4-FFF2-40B4-BE49-F238E27FC236}">
                <a16:creationId xmlns:a16="http://schemas.microsoft.com/office/drawing/2014/main" id="{3A56BB5E-D945-484C-A4B5-AF12414F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0275"/>
            <a:ext cx="10706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針對公開行為寫測試，內部重構才有較大的自由。</a:t>
            </a:r>
          </a:p>
        </p:txBody>
      </p:sp>
    </p:spTree>
    <p:extLst>
      <p:ext uri="{BB962C8B-B14F-4D97-AF65-F5344CB8AC3E}">
        <p14:creationId xmlns:p14="http://schemas.microsoft.com/office/powerpoint/2010/main" val="2068838274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第四週的重點整理">
            <a:extLst xmlns:a="http://schemas.openxmlformats.org/drawingml/2006/main">
              <a:ext uri="{FF2B5EF4-FFF2-40B4-BE49-F238E27FC236}">
                <a16:creationId xmlns:a16="http://schemas.microsoft.com/office/drawing/2014/main" id="{BE23557B-2A9C-4576-A203-58228378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第四週的重點整理</a:t>
            </a:r>
          </a:p>
        </p:txBody>
      </p:sp>
      <p:sp>
        <p:nvSpPr>
          <p:cNvPr id="2" name="封裝與資訊隱藏">
            <a:extLst xmlns:a="http://schemas.openxmlformats.org/drawingml/2006/main">
              <a:ext uri="{FF2B5EF4-FFF2-40B4-BE49-F238E27FC236}">
                <a16:creationId xmlns:a16="http://schemas.microsoft.com/office/drawing/2014/main" id="{3106C452-251A-498A-AA09-28F9305F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封裝與資訊隱藏</a:t>
            </a:r>
          </a:p>
        </p:txBody>
      </p:sp>
      <p:sp>
        <p:nvSpPr>
          <p:cNvPr id="3" name="46">
            <a:extLst xmlns:a="http://schemas.openxmlformats.org/drawingml/2006/main">
              <a:ext uri="{FF2B5EF4-FFF2-40B4-BE49-F238E27FC236}">
                <a16:creationId xmlns:a16="http://schemas.microsoft.com/office/drawing/2014/main" id="{6D6FD23B-4043-4C80-8F26-92CAD711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46</a:t>
            </a:r>
          </a:p>
        </p:txBody>
      </p:sp>
      <p:sp>
        <p:nvSpPr>
          <p:cNvPr id="4" name="先定義規則">
            <a:extLst xmlns:a="http://schemas.openxmlformats.org/drawingml/2006/main">
              <a:ext uri="{FF2B5EF4-FFF2-40B4-BE49-F238E27FC236}">
                <a16:creationId xmlns:a16="http://schemas.microsoft.com/office/drawing/2014/main" id="{20C2EC51-3666-41C8-8698-E03CCD5D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1450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先定義規則</a:t>
            </a:r>
          </a:p>
        </p:txBody>
      </p:sp>
      <p:sp>
        <p:nvSpPr>
          <p:cNvPr id="5" name="明確列出合法狀態與失敗行為">
            <a:extLst xmlns:a="http://schemas.openxmlformats.org/drawingml/2006/main">
              <a:ext uri="{FF2B5EF4-FFF2-40B4-BE49-F238E27FC236}">
                <a16:creationId xmlns:a16="http://schemas.microsoft.com/office/drawing/2014/main" id="{6B683CCC-7949-4962-8D29-3840E08A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743075"/>
            <a:ext cx="7858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明確列出合法狀態與失敗行為</a:t>
            </a:r>
          </a:p>
        </p:txBody>
      </p:sp>
      <p:sp>
        <p:nvSpPr>
          <p:cNvPr id="6" name="選擇公開介面">
            <a:extLst xmlns:a="http://schemas.openxmlformats.org/drawingml/2006/main">
              <a:ext uri="{FF2B5EF4-FFF2-40B4-BE49-F238E27FC236}">
                <a16:creationId xmlns:a16="http://schemas.microsoft.com/office/drawing/2014/main" id="{31F9EFC1-CAD3-4B35-A227-14C0DF27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05075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選擇公開介面</a:t>
            </a:r>
          </a:p>
        </p:txBody>
      </p:sp>
      <p:sp>
        <p:nvSpPr>
          <p:cNvPr id="7" name="普通屬性、property 與方法各有用途">
            <a:extLst xmlns:a="http://schemas.openxmlformats.org/drawingml/2006/main">
              <a:ext uri="{FF2B5EF4-FFF2-40B4-BE49-F238E27FC236}">
                <a16:creationId xmlns:a16="http://schemas.microsoft.com/office/drawing/2014/main" id="{381B688E-B05D-40A0-AC3F-F6E67EBB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533650"/>
            <a:ext cx="7858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普通屬性、property 與方法各有用途</a:t>
            </a:r>
          </a:p>
        </p:txBody>
      </p:sp>
      <p:sp>
        <p:nvSpPr>
          <p:cNvPr id="8" name="管理共享資料">
            <a:extLst xmlns:a="http://schemas.openxmlformats.org/drawingml/2006/main">
              <a:ext uri="{FF2B5EF4-FFF2-40B4-BE49-F238E27FC236}">
                <a16:creationId xmlns:a16="http://schemas.microsoft.com/office/drawing/2014/main" id="{AAF3CA67-1A4A-4BC9-BB50-AEE9241C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9565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管理共享資料</a:t>
            </a:r>
          </a:p>
        </p:txBody>
      </p:sp>
      <p:sp>
        <p:nvSpPr>
          <p:cNvPr id="9" name="檢查輸入參照與回傳集合的可變性">
            <a:extLst xmlns:a="http://schemas.openxmlformats.org/drawingml/2006/main">
              <a:ext uri="{FF2B5EF4-FFF2-40B4-BE49-F238E27FC236}">
                <a16:creationId xmlns:a16="http://schemas.microsoft.com/office/drawing/2014/main" id="{2C5E00E7-6980-4D24-AFDC-168E8861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324225"/>
            <a:ext cx="7858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檢查輸入參照與回傳集合的可變性</a:t>
            </a:r>
          </a:p>
        </p:txBody>
      </p:sp>
      <p:sp>
        <p:nvSpPr>
          <p:cNvPr id="10" name="驗證整體行為">
            <a:extLst xmlns:a="http://schemas.openxmlformats.org/drawingml/2006/main">
              <a:ext uri="{FF2B5EF4-FFF2-40B4-BE49-F238E27FC236}">
                <a16:creationId xmlns:a16="http://schemas.microsoft.com/office/drawing/2014/main" id="{FBA1FAE2-F14A-48E2-80ED-7E966DED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86225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驗證整體行為</a:t>
            </a:r>
          </a:p>
        </p:txBody>
      </p:sp>
      <p:sp>
        <p:nvSpPr>
          <p:cNvPr id="11" name="成功時更新正確，拒絕時保持一致">
            <a:extLst xmlns:a="http://schemas.openxmlformats.org/drawingml/2006/main">
              <a:ext uri="{FF2B5EF4-FFF2-40B4-BE49-F238E27FC236}">
                <a16:creationId xmlns:a16="http://schemas.microsoft.com/office/drawing/2014/main" id="{45148DC3-AB17-48E6-8D70-C6771E86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114800"/>
            <a:ext cx="7858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成功時更新正確，拒絕時保持一致</a:t>
            </a:r>
          </a:p>
        </p:txBody>
      </p:sp>
      <p:sp>
        <p:nvSpPr>
          <p:cNvPr id="12" name="下一週：物件生命週期與記憶體模型。">
            <a:extLst xmlns:a="http://schemas.openxmlformats.org/drawingml/2006/main">
              <a:ext uri="{FF2B5EF4-FFF2-40B4-BE49-F238E27FC236}">
                <a16:creationId xmlns:a16="http://schemas.microsoft.com/office/drawing/2014/main" id="{BFC5A94E-64B9-48B7-8907-C9B9DECF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991225"/>
            <a:ext cx="1076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下一週：物件生命週期與記憶體模型。</a:t>
            </a:r>
          </a:p>
        </p:txBody>
      </p:sp>
    </p:spTree>
    <p:extLst>
      <p:ext uri="{BB962C8B-B14F-4D97-AF65-F5344CB8AC3E}">
        <p14:creationId xmlns:p14="http://schemas.microsoft.com/office/powerpoint/2010/main" val="1489383337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概念辨識與結果判讀">
            <a:extLst xmlns:a="http://schemas.openxmlformats.org/drawingml/2006/main">
              <a:ext uri="{FF2B5EF4-FFF2-40B4-BE49-F238E27FC236}">
                <a16:creationId xmlns:a16="http://schemas.microsoft.com/office/drawing/2014/main" id="{5025220F-5A4B-492A-80A1-D996739C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概念辨識與結果判讀</a:t>
            </a:r>
          </a:p>
        </p:txBody>
      </p:sp>
      <p:sp>
        <p:nvSpPr>
          <p:cNvPr id="2" name="課堂回顧">
            <a:extLst xmlns:a="http://schemas.openxmlformats.org/drawingml/2006/main">
              <a:ext uri="{FF2B5EF4-FFF2-40B4-BE49-F238E27FC236}">
                <a16:creationId xmlns:a16="http://schemas.microsoft.com/office/drawing/2014/main" id="{B187C95F-EB37-4F36-8E3A-E73E7A19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課堂回顧</a:t>
            </a:r>
          </a:p>
        </p:txBody>
      </p:sp>
      <p:sp>
        <p:nvSpPr>
          <p:cNvPr id="3" name="47">
            <a:extLst xmlns:a="http://schemas.openxmlformats.org/drawingml/2006/main">
              <a:ext uri="{FF2B5EF4-FFF2-40B4-BE49-F238E27FC236}">
                <a16:creationId xmlns:a16="http://schemas.microsoft.com/office/drawing/2014/main" id="{3F61FA43-6690-44DD-9029-4C6E4685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47</a:t>
            </a:r>
          </a:p>
        </p:txBody>
      </p:sp>
      <p:sp>
        <p:nvSpPr>
          <p:cNvPr id="4" name="_name">
            <a:extLst xmlns:a="http://schemas.openxmlformats.org/drawingml/2006/main">
              <a:ext uri="{FF2B5EF4-FFF2-40B4-BE49-F238E27FC236}">
                <a16:creationId xmlns:a16="http://schemas.microsoft.com/office/drawing/2014/main" id="{A7C1CD25-5D14-445F-BA80-FFA706DF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1450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_name</a:t>
            </a:r>
          </a:p>
        </p:txBody>
      </p:sp>
      <p:sp>
        <p:nvSpPr>
          <p:cNvPr id="5" name="非公開慣例，仍可被外部直接存取">
            <a:extLst xmlns:a="http://schemas.openxmlformats.org/drawingml/2006/main">
              <a:ext uri="{FF2B5EF4-FFF2-40B4-BE49-F238E27FC236}">
                <a16:creationId xmlns:a16="http://schemas.microsoft.com/office/drawing/2014/main" id="{73F3F678-A4D3-4052-84AA-67924014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743075"/>
            <a:ext cx="7858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非公開慣例，仍可被外部直接存取</a:t>
            </a:r>
          </a:p>
        </p:txBody>
      </p:sp>
      <p:sp>
        <p:nvSpPr>
          <p:cNvPr id="6" name="__name">
            <a:extLst xmlns:a="http://schemas.openxmlformats.org/drawingml/2006/main">
              <a:ext uri="{FF2B5EF4-FFF2-40B4-BE49-F238E27FC236}">
                <a16:creationId xmlns:a16="http://schemas.microsoft.com/office/drawing/2014/main" id="{817EF277-EEC7-4CA3-B969-806E1FFD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05075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__name</a:t>
            </a:r>
          </a:p>
        </p:txBody>
      </p:sp>
      <p:sp>
        <p:nvSpPr>
          <p:cNvPr id="7" name="類別內名稱修飾，主要避免繼承衝突">
            <a:extLst xmlns:a="http://schemas.openxmlformats.org/drawingml/2006/main">
              <a:ext uri="{FF2B5EF4-FFF2-40B4-BE49-F238E27FC236}">
                <a16:creationId xmlns:a16="http://schemas.microsoft.com/office/drawing/2014/main" id="{7B1649A6-E06E-45BF-A9C2-2DE53239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533650"/>
            <a:ext cx="7858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類別內名稱修飾，主要避免繼承衝突</a:t>
            </a:r>
          </a:p>
        </p:txBody>
      </p:sp>
      <p:sp>
        <p:nvSpPr>
          <p:cNvPr id="8" name="唯讀 property">
            <a:extLst xmlns:a="http://schemas.openxmlformats.org/drawingml/2006/main">
              <a:ext uri="{FF2B5EF4-FFF2-40B4-BE49-F238E27FC236}">
                <a16:creationId xmlns:a16="http://schemas.microsoft.com/office/drawing/2014/main" id="{BD4C0D9B-59AF-4AB4-AA58-A93A76C4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9565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唯讀 property</a:t>
            </a:r>
          </a:p>
        </p:txBody>
      </p:sp>
      <p:sp>
        <p:nvSpPr>
          <p:cNvPr id="9" name="限制公開賦值，仍需檢查回傳物件">
            <a:extLst xmlns:a="http://schemas.openxmlformats.org/drawingml/2006/main">
              <a:ext uri="{FF2B5EF4-FFF2-40B4-BE49-F238E27FC236}">
                <a16:creationId xmlns:a16="http://schemas.microsoft.com/office/drawing/2014/main" id="{FDC4410B-4C21-4AE3-979D-ADF18C53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324225"/>
            <a:ext cx="7858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限制公開賦值，仍需檢查回傳物件</a:t>
            </a:r>
          </a:p>
        </p:txBody>
      </p:sp>
      <p:sp>
        <p:nvSpPr>
          <p:cNvPr id="10" name="tuple 快照">
            <a:extLst xmlns:a="http://schemas.openxmlformats.org/drawingml/2006/main">
              <a:ext uri="{FF2B5EF4-FFF2-40B4-BE49-F238E27FC236}">
                <a16:creationId xmlns:a16="http://schemas.microsoft.com/office/drawing/2014/main" id="{DA554573-C7A7-4390-B593-34BB0E00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86225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tuple 快照</a:t>
            </a:r>
          </a:p>
        </p:txBody>
      </p:sp>
      <p:sp>
        <p:nvSpPr>
          <p:cNvPr id="11" name="限制外層結構，不會凍結內層可變值">
            <a:extLst xmlns:a="http://schemas.openxmlformats.org/drawingml/2006/main">
              <a:ext uri="{FF2B5EF4-FFF2-40B4-BE49-F238E27FC236}">
                <a16:creationId xmlns:a16="http://schemas.microsoft.com/office/drawing/2014/main" id="{B3CE71F1-0629-474E-8B55-C6E23953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114800"/>
            <a:ext cx="7858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限制外層結構，不會凍結內層可變值</a:t>
            </a:r>
          </a:p>
        </p:txBody>
      </p:sp>
      <p:sp>
        <p:nvSpPr>
          <p:cNvPr id="12" name="封裝的成效取決於介面與規則如何合作。">
            <a:extLst xmlns:a="http://schemas.openxmlformats.org/drawingml/2006/main">
              <a:ext uri="{FF2B5EF4-FFF2-40B4-BE49-F238E27FC236}">
                <a16:creationId xmlns:a16="http://schemas.microsoft.com/office/drawing/2014/main" id="{5B444571-7F6E-46D3-8B92-93CD9134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991225"/>
            <a:ext cx="1076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封裝的成效取決於介面與規則如何合作。</a:t>
            </a:r>
          </a:p>
        </p:txBody>
      </p:sp>
    </p:spTree>
    <p:extLst>
      <p:ext uri="{BB962C8B-B14F-4D97-AF65-F5344CB8AC3E}">
        <p14:creationId xmlns:p14="http://schemas.microsoft.com/office/powerpoint/2010/main" val="345108846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課程與技術參考資料">
            <a:extLst xmlns:a="http://schemas.openxmlformats.org/drawingml/2006/main">
              <a:ext uri="{FF2B5EF4-FFF2-40B4-BE49-F238E27FC236}">
                <a16:creationId xmlns:a16="http://schemas.microsoft.com/office/drawing/2014/main" id="{308335A6-D2E7-42AC-9A09-D0E4599C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課程與技術參考資料</a:t>
            </a:r>
          </a:p>
        </p:txBody>
      </p:sp>
      <p:sp>
        <p:nvSpPr>
          <p:cNvPr id="2" name="48">
            <a:extLst xmlns:a="http://schemas.openxmlformats.org/drawingml/2006/main">
              <a:ext uri="{FF2B5EF4-FFF2-40B4-BE49-F238E27FC236}">
                <a16:creationId xmlns:a16="http://schemas.microsoft.com/office/drawing/2014/main" id="{91BD08C1-7E5B-4023-9D5C-E92FADCD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48</a:t>
            </a:r>
          </a:p>
        </p:txBody>
      </p:sp>
      <p:sp>
        <p:nvSpPr>
          <p:cNvPr id="3" name="第四週課程網站">
            <a:extLst xmlns:a="http://schemas.openxmlformats.org/drawingml/2006/main">
              <a:ext uri="{FF2B5EF4-FFF2-40B4-BE49-F238E27FC236}">
                <a16:creationId xmlns:a16="http://schemas.microsoft.com/office/drawing/2014/main" id="{305B5B14-7A36-4F69-B326-17AC65FE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57375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第四週課程網站</a:t>
            </a:r>
          </a:p>
        </p:txBody>
      </p:sp>
      <p:sp>
        <p:nvSpPr>
          <p:cNvPr id="4" name="minhuangyuntech.github.io/oo2026/week/4/">
            <a:extLst xmlns:a="http://schemas.openxmlformats.org/drawingml/2006/main">
              <a:ext uri="{FF2B5EF4-FFF2-40B4-BE49-F238E27FC236}">
                <a16:creationId xmlns:a16="http://schemas.microsoft.com/office/drawing/2014/main" id="{02692C15-F183-456F-9969-A7CB50D6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85950"/>
            <a:ext cx="6534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minhuangyuntech.github.io/oo2026/week/4/</a:t>
            </a:r>
          </a:p>
        </p:txBody>
      </p:sp>
      <p:sp>
        <p:nvSpPr>
          <p:cNvPr id="5" name="Python 類別與名稱修飾">
            <a:extLst xmlns:a="http://schemas.openxmlformats.org/drawingml/2006/main">
              <a:ext uri="{FF2B5EF4-FFF2-40B4-BE49-F238E27FC236}">
                <a16:creationId xmlns:a16="http://schemas.microsoft.com/office/drawing/2014/main" id="{24B602B9-DCA5-4146-A381-176BFA81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09875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Python 類別與名稱修飾</a:t>
            </a:r>
          </a:p>
        </p:txBody>
      </p:sp>
      <p:sp>
        <p:nvSpPr>
          <p:cNvPr id="6" name="docs.python.org/3/tutorial/classes.html">
            <a:extLst xmlns:a="http://schemas.openxmlformats.org/drawingml/2006/main">
              <a:ext uri="{FF2B5EF4-FFF2-40B4-BE49-F238E27FC236}">
                <a16:creationId xmlns:a16="http://schemas.microsoft.com/office/drawing/2014/main" id="{58DE73AD-9AD5-408E-BF08-66B78079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38450"/>
            <a:ext cx="6534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docs.python.org/3/tutorial/classes.html</a:t>
            </a:r>
          </a:p>
        </p:txBody>
      </p:sp>
      <p:sp>
        <p:nvSpPr>
          <p:cNvPr id="7" name="property 與 descriptor">
            <a:extLst xmlns:a="http://schemas.openxmlformats.org/drawingml/2006/main">
              <a:ext uri="{FF2B5EF4-FFF2-40B4-BE49-F238E27FC236}">
                <a16:creationId xmlns:a16="http://schemas.microsoft.com/office/drawing/2014/main" id="{51966AA8-F9E3-4E75-93F5-F60AE413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62375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property 與 descriptor</a:t>
            </a:r>
          </a:p>
        </p:txBody>
      </p:sp>
      <p:sp>
        <p:nvSpPr>
          <p:cNvPr id="8" name="docs.python.org/3/howto/descriptor.html">
            <a:extLst xmlns:a="http://schemas.openxmlformats.org/drawingml/2006/main">
              <a:ext uri="{FF2B5EF4-FFF2-40B4-BE49-F238E27FC236}">
                <a16:creationId xmlns:a16="http://schemas.microsoft.com/office/drawing/2014/main" id="{BB83C026-3098-48E5-897F-56AA2CBC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790950"/>
            <a:ext cx="6534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docs.python.org/3/howto/descriptor.html</a:t>
            </a:r>
          </a:p>
        </p:txBody>
      </p:sp>
      <p:sp>
        <p:nvSpPr>
          <p:cNvPr id="9" name="數值與 Decimal">
            <a:extLst xmlns:a="http://schemas.openxmlformats.org/drawingml/2006/main">
              <a:ext uri="{FF2B5EF4-FFF2-40B4-BE49-F238E27FC236}">
                <a16:creationId xmlns:a16="http://schemas.microsoft.com/office/drawing/2014/main" id="{CCA5A45B-7201-4782-BBC4-1042BF88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14875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數值與 Decimal</a:t>
            </a:r>
          </a:p>
        </p:txBody>
      </p:sp>
      <p:sp>
        <p:nvSpPr>
          <p:cNvPr id="10" name="docs.python.org/3/library/decimal.html">
            <a:extLst xmlns:a="http://schemas.openxmlformats.org/drawingml/2006/main">
              <a:ext uri="{FF2B5EF4-FFF2-40B4-BE49-F238E27FC236}">
                <a16:creationId xmlns:a16="http://schemas.microsoft.com/office/drawing/2014/main" id="{F9C01A30-72E3-4016-A892-B130FE2D3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743450"/>
            <a:ext cx="6534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docs.python.org/3/library/decimal.html</a:t>
            </a:r>
          </a:p>
        </p:txBody>
      </p:sp>
      <p:sp>
        <p:nvSpPr>
          <p:cNvPr id="11" name="完整連結見各頁備註及配套講義。">
            <a:extLst xmlns:a="http://schemas.openxmlformats.org/drawingml/2006/main">
              <a:ext uri="{FF2B5EF4-FFF2-40B4-BE49-F238E27FC236}">
                <a16:creationId xmlns:a16="http://schemas.microsoft.com/office/drawing/2014/main" id="{E029AB51-18A8-456C-A899-A3652724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057900"/>
            <a:ext cx="1062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完整連結見各頁備註及配套講義。</a:t>
            </a:r>
          </a:p>
        </p:txBody>
      </p:sp>
    </p:spTree>
    <p:extLst>
      <p:ext uri="{BB962C8B-B14F-4D97-AF65-F5344CB8AC3E}">
        <p14:creationId xmlns:p14="http://schemas.microsoft.com/office/powerpoint/2010/main" val="4605925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2026-10-07T02:46:33.9250000Z</dcterms:created>
  <dcterms:modified xsi:type="dcterms:W3CDTF">2026-10-07T02:46:33.9250000Z</dcterms:modified>
</coreProperties>
</file>