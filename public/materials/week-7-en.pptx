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20d717834a4a2f" /><Relationship Type="http://schemas.openxmlformats.org/officeDocument/2006/relationships/extended-properties" Target="/docProps/app.xml" Id="R77cbdb7be13f4a67" /><Relationship Type="http://schemas.openxmlformats.org/officeDocument/2006/relationships/officeDocument" Target="/ppt/presentation.xml" Id="Rfe3e7d091d65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52ae24e7a9412e"/>
  </p:sldMasterIdLst>
  <p:notesMasterIdLst>
    <p:notesMasterId xmlns:r="http://schemas.openxmlformats.org/officeDocument/2006/relationships" r:id="Rb282cebd4938481a"/>
  </p:notesMasterIdLst>
  <p:sldIdLst>
    <p:sldId xmlns:r="http://schemas.openxmlformats.org/officeDocument/2006/relationships" id="256" r:id="Raebeb059d9e44118"/>
    <p:sldId xmlns:r="http://schemas.openxmlformats.org/officeDocument/2006/relationships" id="257" r:id="R31d62a33611e4a6c"/>
    <p:sldId xmlns:r="http://schemas.openxmlformats.org/officeDocument/2006/relationships" id="258" r:id="Rb600e9e5518e4716"/>
    <p:sldId xmlns:r="http://schemas.openxmlformats.org/officeDocument/2006/relationships" id="259" r:id="R0a44422e92984fa3"/>
    <p:sldId xmlns:r="http://schemas.openxmlformats.org/officeDocument/2006/relationships" id="260" r:id="R28171b845b3448ed"/>
    <p:sldId xmlns:r="http://schemas.openxmlformats.org/officeDocument/2006/relationships" id="261" r:id="Re2f8652f689c46da"/>
    <p:sldId xmlns:r="http://schemas.openxmlformats.org/officeDocument/2006/relationships" id="262" r:id="R5e84cfe4175c426d"/>
    <p:sldId xmlns:r="http://schemas.openxmlformats.org/officeDocument/2006/relationships" id="263" r:id="R0076d5dd13714c7c"/>
    <p:sldId xmlns:r="http://schemas.openxmlformats.org/officeDocument/2006/relationships" id="264" r:id="R9efd3d3c080f42e6"/>
    <p:sldId xmlns:r="http://schemas.openxmlformats.org/officeDocument/2006/relationships" id="265" r:id="R6b06254da9df4e9a"/>
    <p:sldId xmlns:r="http://schemas.openxmlformats.org/officeDocument/2006/relationships" id="266" r:id="R58a8abf238c04901"/>
    <p:sldId xmlns:r="http://schemas.openxmlformats.org/officeDocument/2006/relationships" id="267" r:id="Ra5e085805b994963"/>
    <p:sldId xmlns:r="http://schemas.openxmlformats.org/officeDocument/2006/relationships" id="268" r:id="R622177aa16864e89"/>
    <p:sldId xmlns:r="http://schemas.openxmlformats.org/officeDocument/2006/relationships" id="269" r:id="R27b1c38ed92d4679"/>
    <p:sldId xmlns:r="http://schemas.openxmlformats.org/officeDocument/2006/relationships" id="270" r:id="R05baebc234004a3f"/>
    <p:sldId xmlns:r="http://schemas.openxmlformats.org/officeDocument/2006/relationships" id="271" r:id="R16140f17c1104756"/>
    <p:sldId xmlns:r="http://schemas.openxmlformats.org/officeDocument/2006/relationships" id="272" r:id="R1606ff3da2824f41"/>
    <p:sldId xmlns:r="http://schemas.openxmlformats.org/officeDocument/2006/relationships" id="273" r:id="R629b8625d7e94aad"/>
    <p:sldId xmlns:r="http://schemas.openxmlformats.org/officeDocument/2006/relationships" id="274" r:id="Rc0c3fecc29764fab"/>
    <p:sldId xmlns:r="http://schemas.openxmlformats.org/officeDocument/2006/relationships" id="275" r:id="R63bf14a9ec6f4270"/>
    <p:sldId xmlns:r="http://schemas.openxmlformats.org/officeDocument/2006/relationships" id="276" r:id="R0610724232e640c7"/>
    <p:sldId xmlns:r="http://schemas.openxmlformats.org/officeDocument/2006/relationships" id="277" r:id="R288598d6fc094da1"/>
    <p:sldId xmlns:r="http://schemas.openxmlformats.org/officeDocument/2006/relationships" id="278" r:id="R5ca99f7b552142e0"/>
    <p:sldId xmlns:r="http://schemas.openxmlformats.org/officeDocument/2006/relationships" id="279" r:id="Rcea2d5c295864e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749b92c12c4ad7" /><Relationship Type="http://schemas.openxmlformats.org/officeDocument/2006/relationships/slideMaster" Target="/ppt/slideMasters/slideMaster1.xml" Id="Rcc52ae24e7a9412e" /><Relationship Type="http://schemas.openxmlformats.org/officeDocument/2006/relationships/notesMaster" Target="/ppt/notesMasters/notesMaster1.xml" Id="Rb282cebd4938481a" /><Relationship Type="http://schemas.openxmlformats.org/officeDocument/2006/relationships/presProps" Target="/ppt/presProps.xml" Id="R9d26a2e4439f4c29" /><Relationship Type="http://schemas.openxmlformats.org/officeDocument/2006/relationships/tableStyles" Target="/ppt/tableStyles.xml" Id="R77753a8a1c014a59" /><Relationship Type="http://schemas.openxmlformats.org/officeDocument/2006/relationships/slide" Target="/ppt/slides/slide1.xml" Id="Raebeb059d9e44118" /><Relationship Type="http://schemas.openxmlformats.org/officeDocument/2006/relationships/slide" Target="/ppt/slides/slide2.xml" Id="R31d62a33611e4a6c" /><Relationship Type="http://schemas.openxmlformats.org/officeDocument/2006/relationships/slide" Target="/ppt/slides/slide3.xml" Id="Rb600e9e5518e4716" /><Relationship Type="http://schemas.openxmlformats.org/officeDocument/2006/relationships/slide" Target="/ppt/slides/slide4.xml" Id="R0a44422e92984fa3" /><Relationship Type="http://schemas.openxmlformats.org/officeDocument/2006/relationships/slide" Target="/ppt/slides/slide5.xml" Id="R28171b845b3448ed" /><Relationship Type="http://schemas.openxmlformats.org/officeDocument/2006/relationships/slide" Target="/ppt/slides/slide6.xml" Id="Re2f8652f689c46da" /><Relationship Type="http://schemas.openxmlformats.org/officeDocument/2006/relationships/slide" Target="/ppt/slides/slide7.xml" Id="R5e84cfe4175c426d" /><Relationship Type="http://schemas.openxmlformats.org/officeDocument/2006/relationships/slide" Target="/ppt/slides/slide8.xml" Id="R0076d5dd13714c7c" /><Relationship Type="http://schemas.openxmlformats.org/officeDocument/2006/relationships/slide" Target="/ppt/slides/slide9.xml" Id="R9efd3d3c080f42e6" /><Relationship Type="http://schemas.openxmlformats.org/officeDocument/2006/relationships/slide" Target="/ppt/slides/slide10.xml" Id="R6b06254da9df4e9a" /><Relationship Type="http://schemas.openxmlformats.org/officeDocument/2006/relationships/slide" Target="/ppt/slides/slide11.xml" Id="R58a8abf238c04901" /><Relationship Type="http://schemas.openxmlformats.org/officeDocument/2006/relationships/slide" Target="/ppt/slides/slide12.xml" Id="Ra5e085805b994963" /><Relationship Type="http://schemas.openxmlformats.org/officeDocument/2006/relationships/slide" Target="/ppt/slides/slide13.xml" Id="R622177aa16864e89" /><Relationship Type="http://schemas.openxmlformats.org/officeDocument/2006/relationships/slide" Target="/ppt/slides/slide14.xml" Id="R27b1c38ed92d4679" /><Relationship Type="http://schemas.openxmlformats.org/officeDocument/2006/relationships/slide" Target="/ppt/slides/slide15.xml" Id="R05baebc234004a3f" /><Relationship Type="http://schemas.openxmlformats.org/officeDocument/2006/relationships/slide" Target="/ppt/slides/slide16.xml" Id="R16140f17c1104756" /><Relationship Type="http://schemas.openxmlformats.org/officeDocument/2006/relationships/slide" Target="/ppt/slides/slide17.xml" Id="R1606ff3da2824f41" /><Relationship Type="http://schemas.openxmlformats.org/officeDocument/2006/relationships/slide" Target="/ppt/slides/slide18.xml" Id="R629b8625d7e94aad" /><Relationship Type="http://schemas.openxmlformats.org/officeDocument/2006/relationships/slide" Target="/ppt/slides/slide19.xml" Id="Rc0c3fecc29764fab" /><Relationship Type="http://schemas.openxmlformats.org/officeDocument/2006/relationships/slide" Target="/ppt/slides/slide20.xml" Id="R63bf14a9ec6f4270" /><Relationship Type="http://schemas.openxmlformats.org/officeDocument/2006/relationships/slide" Target="/ppt/slides/slide21.xml" Id="R0610724232e640c7" /><Relationship Type="http://schemas.openxmlformats.org/officeDocument/2006/relationships/slide" Target="/ppt/slides/slide22.xml" Id="R288598d6fc094da1" /><Relationship Type="http://schemas.openxmlformats.org/officeDocument/2006/relationships/slide" Target="/ppt/slides/slide23.xml" Id="R5ca99f7b552142e0" /><Relationship Type="http://schemas.openxmlformats.org/officeDocument/2006/relationships/slide" Target="/ppt/slides/slide24.xml" Id="Rcea2d5c295864e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7fe247d29d47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86b9a441841d5" /><Relationship Type="http://schemas.openxmlformats.org/officeDocument/2006/relationships/notesMaster" Target="/ppt/notesMasters/notesMaster1.xml" Id="R1a54728df3ad42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8acfa377404caa" /><Relationship Type="http://schemas.openxmlformats.org/officeDocument/2006/relationships/notesMaster" Target="/ppt/notesMasters/notesMaster1.xml" Id="R43424bd7306b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b493b68ffc4324" /><Relationship Type="http://schemas.openxmlformats.org/officeDocument/2006/relationships/notesMaster" Target="/ppt/notesMasters/notesMaster1.xml" Id="Ra6f1a3ce5f8247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7b62e8c59a48a2" /><Relationship Type="http://schemas.openxmlformats.org/officeDocument/2006/relationships/notesMaster" Target="/ppt/notesMasters/notesMaster1.xml" Id="R59561322912c4c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0599ed9f814888" /><Relationship Type="http://schemas.openxmlformats.org/officeDocument/2006/relationships/notesMaster" Target="/ppt/notesMasters/notesMaster1.xml" Id="R3ba694daf5c0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92f7f3218f4f4f" /><Relationship Type="http://schemas.openxmlformats.org/officeDocument/2006/relationships/notesMaster" Target="/ppt/notesMasters/notesMaster1.xml" Id="Rd182b2b87d4345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5543151d334115" /><Relationship Type="http://schemas.openxmlformats.org/officeDocument/2006/relationships/notesMaster" Target="/ppt/notesMasters/notesMaster1.xml" Id="Rc268c4147d1f4a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c72d8044eb4e8f" /><Relationship Type="http://schemas.openxmlformats.org/officeDocument/2006/relationships/notesMaster" Target="/ppt/notesMasters/notesMaster1.xml" Id="R7a0bdee4398e46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6b1fa4bc1441d3" /><Relationship Type="http://schemas.openxmlformats.org/officeDocument/2006/relationships/notesMaster" Target="/ppt/notesMasters/notesMaster1.xml" Id="Rf48194cafa464d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13edc4cdcf4557" /><Relationship Type="http://schemas.openxmlformats.org/officeDocument/2006/relationships/notesMaster" Target="/ppt/notesMasters/notesMaster1.xml" Id="R81811a43416a49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2d427f24a143fa" /><Relationship Type="http://schemas.openxmlformats.org/officeDocument/2006/relationships/notesMaster" Target="/ppt/notesMasters/notesMaster1.xml" Id="R75922d359c7a42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886ec2a46d4fee" /><Relationship Type="http://schemas.openxmlformats.org/officeDocument/2006/relationships/notesMaster" Target="/ppt/notesMasters/notesMaster1.xml" Id="Raecb4ca373ea46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797de5dae74702" /><Relationship Type="http://schemas.openxmlformats.org/officeDocument/2006/relationships/notesMaster" Target="/ppt/notesMasters/notesMaster1.xml" Id="Rebbe72bfb6c248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a1fefa07804123" /><Relationship Type="http://schemas.openxmlformats.org/officeDocument/2006/relationships/notesMaster" Target="/ppt/notesMasters/notesMaster1.xml" Id="R2527680761da49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16c1913b3349d3" /><Relationship Type="http://schemas.openxmlformats.org/officeDocument/2006/relationships/notesMaster" Target="/ppt/notesMasters/notesMaster1.xml" Id="R89c3fd8c697240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3785d8c74c4807" /><Relationship Type="http://schemas.openxmlformats.org/officeDocument/2006/relationships/notesMaster" Target="/ppt/notesMasters/notesMaster1.xml" Id="R9b1f3172282646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f5694b9fd34959" /><Relationship Type="http://schemas.openxmlformats.org/officeDocument/2006/relationships/notesMaster" Target="/ppt/notesMasters/notesMaster1.xml" Id="R9632871523a749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a9f9c567e64443" /><Relationship Type="http://schemas.openxmlformats.org/officeDocument/2006/relationships/notesMaster" Target="/ppt/notesMasters/notesMaster1.xml" Id="R5e2a25a9cae846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e4f278e9334db4" /><Relationship Type="http://schemas.openxmlformats.org/officeDocument/2006/relationships/notesMaster" Target="/ppt/notesMasters/notesMaster1.xml" Id="R123e1ca93c2542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0ae77573e74fa9" /><Relationship Type="http://schemas.openxmlformats.org/officeDocument/2006/relationships/notesMaster" Target="/ppt/notesMasters/notesMaster1.xml" Id="Rac769854d56a46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aa8ab5a1004c06" /><Relationship Type="http://schemas.openxmlformats.org/officeDocument/2006/relationships/notesMaster" Target="/ppt/notesMasters/notesMaster1.xml" Id="R85180d56934240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db948f57bd48ab" /><Relationship Type="http://schemas.openxmlformats.org/officeDocument/2006/relationships/notesMaster" Target="/ppt/notesMasters/notesMaster1.xml" Id="R36a02d03c9dc4f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0ec3c9d221a4fda" /><Relationship Type="http://schemas.openxmlformats.org/officeDocument/2006/relationships/notesMaster" Target="/ppt/notesMasters/notesMaster1.xml" Id="R2f00c3dcefb545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2104c986814033" /><Relationship Type="http://schemas.openxmlformats.org/officeDocument/2006/relationships/notesMaster" Target="/ppt/notesMasters/notesMaster1.xml" Id="R70297fd4289748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19bda077a4e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b3cb2e5d041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47e8037b84a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cc65cb5c34f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ac16dfb5640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2c90cd99e41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BDB1B3-6E3A-4ED9-82AE-5D2C766F9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C99741-B310-4B4F-ACDD-792C2C3328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0AC5C3-4247-4B8C-AF7E-0C86B431C0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3A72BF-2051-472F-83B6-2FD154C6A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D6F657-2CEF-4B7D-B422-406FB8D0CF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B59E29-E8F6-4435-9788-5F1787356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58B6A1-5901-4321-BF2E-86623E1230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EF4450-9F24-4E04-B133-886D67B716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1F5304-6D1C-48F0-B42A-50FFAEC94A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1EE049-7345-4F1D-80F7-5876C21E67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e2431c681d4bd0" /><Relationship Type="http://schemas.openxmlformats.org/officeDocument/2006/relationships/slideLayout" Target="/ppt/slideLayouts/slideLayout1.xml" Id="Reaa63a4aff7d4284" /><Relationship Type="http://schemas.openxmlformats.org/officeDocument/2006/relationships/slideLayout" Target="/ppt/slideLayouts/slideLayout2.xml" Id="Rdb1ca337dc404aff" /><Relationship Type="http://schemas.openxmlformats.org/officeDocument/2006/relationships/slideLayout" Target="/ppt/slideLayouts/slideLayout3.xml" Id="R5849cfb5957f4ef0" /><Relationship Type="http://schemas.openxmlformats.org/officeDocument/2006/relationships/slideLayout" Target="/ppt/slideLayouts/slideLayout4.xml" Id="Rc00cbbce65c54275" /><Relationship Type="http://schemas.openxmlformats.org/officeDocument/2006/relationships/slideLayout" Target="/ppt/slideLayouts/slideLayout5.xml" Id="Re1cf7e0db0164758" /><Relationship Type="http://schemas.openxmlformats.org/officeDocument/2006/relationships/slideLayout" Target="/ppt/slideLayouts/slideLayout6.xml" Id="R8a0904738d27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63a4aff7d4284"/>
    <p:sldLayoutId xmlns:r="http://schemas.openxmlformats.org/officeDocument/2006/relationships" id="2147483650" r:id="Rdb1ca337dc404aff"/>
    <p:sldLayoutId xmlns:r="http://schemas.openxmlformats.org/officeDocument/2006/relationships" id="2147483651" r:id="R5849cfb5957f4ef0"/>
    <p:sldLayoutId xmlns:r="http://schemas.openxmlformats.org/officeDocument/2006/relationships" id="2147483652" r:id="Rc00cbbce65c54275"/>
    <p:sldLayoutId xmlns:r="http://schemas.openxmlformats.org/officeDocument/2006/relationships" id="2147483653" r:id="Re1cf7e0db0164758"/>
    <p:sldLayoutId xmlns:r="http://schemas.openxmlformats.org/officeDocument/2006/relationships" id="2147483654" r:id="R8a0904738d27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03de08008415d" /><Relationship Type="http://schemas.openxmlformats.org/officeDocument/2006/relationships/notesSlide" Target="/ppt/notesSlides/notesSlide1.xml" Id="Rbbf8c797dca443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ee67aaa30487d" /><Relationship Type="http://schemas.openxmlformats.org/officeDocument/2006/relationships/notesSlide" Target="/ppt/notesSlides/notesSlide2.xml" Id="R28012cb49f4f42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591a7457548a5" /><Relationship Type="http://schemas.openxmlformats.org/officeDocument/2006/relationships/notesSlide" Target="/ppt/notesSlides/notesSlide3.xml" Id="R4526e5b87584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88300016cd4938" /><Relationship Type="http://schemas.openxmlformats.org/officeDocument/2006/relationships/notesSlide" Target="/ppt/notesSlides/notesSlide4.xml" Id="R0148125957a04a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8170117694f3b" /><Relationship Type="http://schemas.openxmlformats.org/officeDocument/2006/relationships/notesSlide" Target="/ppt/notesSlides/notesSlide5.xml" Id="R6a5167f14b8342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492973e114975" /><Relationship Type="http://schemas.openxmlformats.org/officeDocument/2006/relationships/notesSlide" Target="/ppt/notesSlides/notesSlide6.xml" Id="R6af5d24a08cb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6869890334f07" /><Relationship Type="http://schemas.openxmlformats.org/officeDocument/2006/relationships/notesSlide" Target="/ppt/notesSlides/notesSlide7.xml" Id="R862e25d9882b44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e8e851f354a57" /><Relationship Type="http://schemas.openxmlformats.org/officeDocument/2006/relationships/notesSlide" Target="/ppt/notesSlides/notesSlide8.xml" Id="Rc281ac8f60a843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a131ac1614f0a" /><Relationship Type="http://schemas.openxmlformats.org/officeDocument/2006/relationships/notesSlide" Target="/ppt/notesSlides/notesSlide9.xml" Id="Rfd5492605eb649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3dfca823b4eb2" /><Relationship Type="http://schemas.openxmlformats.org/officeDocument/2006/relationships/notesSlide" Target="/ppt/notesSlides/notesSlide10.xml" Id="R3a45eece30c04b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b5b7e04ee4ac8" /><Relationship Type="http://schemas.openxmlformats.org/officeDocument/2006/relationships/notesSlide" Target="/ppt/notesSlides/notesSlide11.xml" Id="R2b2601096d0e45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314e5cd41458d" /><Relationship Type="http://schemas.openxmlformats.org/officeDocument/2006/relationships/notesSlide" Target="/ppt/notesSlides/notesSlide12.xml" Id="R3775c902b72a49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a218be4f94d5d" /><Relationship Type="http://schemas.openxmlformats.org/officeDocument/2006/relationships/notesSlide" Target="/ppt/notesSlides/notesSlide13.xml" Id="R6359c2587a184c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2465296d64996" /><Relationship Type="http://schemas.openxmlformats.org/officeDocument/2006/relationships/notesSlide" Target="/ppt/notesSlides/notesSlide14.xml" Id="R1b0086008eaa42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73b47fc964291" /><Relationship Type="http://schemas.openxmlformats.org/officeDocument/2006/relationships/notesSlide" Target="/ppt/notesSlides/notesSlide15.xml" Id="Ra5f49373f1c94b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cf05def3240d0" /><Relationship Type="http://schemas.openxmlformats.org/officeDocument/2006/relationships/notesSlide" Target="/ppt/notesSlides/notesSlide16.xml" Id="R2497324772f94c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646246b709480e" /><Relationship Type="http://schemas.openxmlformats.org/officeDocument/2006/relationships/notesSlide" Target="/ppt/notesSlides/notesSlide17.xml" Id="Rb95de13bc6b34e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85ed73abf4b77" /><Relationship Type="http://schemas.openxmlformats.org/officeDocument/2006/relationships/notesSlide" Target="/ppt/notesSlides/notesSlide18.xml" Id="Rb0cfe23d0e1948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481ee35d34daa" /><Relationship Type="http://schemas.openxmlformats.org/officeDocument/2006/relationships/notesSlide" Target="/ppt/notesSlides/notesSlide19.xml" Id="R73d2cd43ba2645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069b8a9cde4082" /><Relationship Type="http://schemas.openxmlformats.org/officeDocument/2006/relationships/notesSlide" Target="/ppt/notesSlides/notesSlide20.xml" Id="R2849f42083ac4c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7921a6d3d4583" /><Relationship Type="http://schemas.openxmlformats.org/officeDocument/2006/relationships/notesSlide" Target="/ppt/notesSlides/notesSlide21.xml" Id="R7cd92cd696634b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f500d821d4269" /><Relationship Type="http://schemas.openxmlformats.org/officeDocument/2006/relationships/notesSlide" Target="/ppt/notesSlides/notesSlide22.xml" Id="R6f70cbe67c95481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27b0bfee34a99" /><Relationship Type="http://schemas.openxmlformats.org/officeDocument/2006/relationships/hyperlink" Target="https://minhuangyuntech.github.io/oo2026/materials/week-7-examples.zip" TargetMode="External" Id="R5fd8f247efb543ae" /><Relationship Type="http://schemas.openxmlformats.org/officeDocument/2006/relationships/notesSlide" Target="/ppt/notesSlides/notesSlide23.xml" Id="R6e3471aefe654b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cb5b733cd4098" /><Relationship Type="http://schemas.openxmlformats.org/officeDocument/2006/relationships/notesSlide" Target="/ppt/notesSlides/notesSlide24.xml" Id="R42d29bad9e2c4d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OOP  /  Week 7">
            <a:extLst xmlns:a="http://schemas.openxmlformats.org/drawingml/2006/main">
              <a:ext uri="{FF2B5EF4-FFF2-40B4-BE49-F238E27FC236}">
                <a16:creationId xmlns:a16="http://schemas.microsoft.com/office/drawing/2014/main" id="{E880DF5C-BE1A-4140-95B2-C7871F7A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100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OOP  /  Week 7</a:t>
            </a:r>
          </a:p>
        </p:txBody>
      </p:sp>
      <p:sp>
        <p:nvSpPr>
          <p:cNvPr id="2" name="Inheritance &amp; class hierarchies">
            <a:extLst xmlns:a="http://schemas.openxmlformats.org/drawingml/2006/main">
              <a:ext uri="{FF2B5EF4-FFF2-40B4-BE49-F238E27FC236}">
                <a16:creationId xmlns:a16="http://schemas.microsoft.com/office/drawing/2014/main" id="{5D81B903-B72C-4D51-B33D-494799F9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57375"/>
            <a:ext cx="11049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Inheritance &amp;</a:t>
            </a:r>
          </a:p>
          <a:p xmlns:a="http://schemas.openxmlformats.org/drawingml/2006/main">
            <a:pPr algn="l">
              <a:defRPr sz="48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class hierarchies</a:t>
            </a:r>
          </a:p>
        </p:txBody>
      </p:sp>
      <p:sp>
        <p:nvSpPr>
          <p:cNvPr id="3" name="Shared behavior and subclass extensions in the shooter">
            <a:extLst xmlns:a="http://schemas.openxmlformats.org/drawingml/2006/main">
              <a:ext uri="{FF2B5EF4-FFF2-40B4-BE49-F238E27FC236}">
                <a16:creationId xmlns:a16="http://schemas.microsoft.com/office/drawing/2014/main" id="{8A2384CB-C1B9-45B9-9701-0C7E4097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Shared behavior and subclass extensions in the shooter</a:t>
            </a:r>
          </a:p>
        </p:txBody>
      </p:sp>
      <p:sp>
        <p:nvSpPr>
          <p:cNvPr id="4" name="Actor · Enemy · Bullet · super() · MRO">
            <a:extLst xmlns:a="http://schemas.openxmlformats.org/drawingml/2006/main">
              <a:ext uri="{FF2B5EF4-FFF2-40B4-BE49-F238E27FC236}">
                <a16:creationId xmlns:a16="http://schemas.microsoft.com/office/drawing/2014/main" id="{5DAAF897-9D6F-44CF-9ABA-194F54EC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8EDBE"/>
                </a:solidFill>
                <a:latin typeface="Consolas"/>
                <a:ea typeface="Consolas"/>
                <a:cs typeface="Consolas"/>
              </a:rPr>
              <a:t>Actor · Enemy · Bullet · super() · MRO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1A43344-D91C-48D1-AD2A-B946229D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9118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arning path">
            <a:extLst xmlns:a="http://schemas.openxmlformats.org/drawingml/2006/main">
              <a:ext uri="{FF2B5EF4-FFF2-40B4-BE49-F238E27FC236}">
                <a16:creationId xmlns:a16="http://schemas.microsoft.com/office/drawing/2014/main" id="{6C146854-E182-4E59-8069-1162F162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Learning path</a:t>
            </a:r>
          </a:p>
        </p:txBody>
      </p:sp>
      <p:sp>
        <p:nvSpPr>
          <p:cNvPr id="2" name="From UML to executable classes">
            <a:extLst xmlns:a="http://schemas.openxmlformats.org/drawingml/2006/main">
              <a:ext uri="{FF2B5EF4-FFF2-40B4-BE49-F238E27FC236}">
                <a16:creationId xmlns:a16="http://schemas.microsoft.com/office/drawing/2014/main" id="{95638F07-A458-41CD-B8A8-0590C19F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From UML to executable classes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EAE45ECF-A300-4FAE-BB13-0F0E7B6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Identify base classes, subclasses, and per-object state.">
            <a:extLst xmlns:a="http://schemas.openxmlformats.org/drawingml/2006/main">
              <a:ext uri="{FF2B5EF4-FFF2-40B4-BE49-F238E27FC236}">
                <a16:creationId xmlns:a16="http://schemas.microsoft.com/office/drawing/2014/main" id="{4620FE23-B2ED-4D9A-B581-94949B4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Identify base classes, subclasses, and per-object state.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1384556A-5A7A-4791-A2FC-C3E71865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race initialization, overriding, and super() calls.">
            <a:extLst xmlns:a="http://schemas.openxmlformats.org/drawingml/2006/main">
              <a:ext uri="{FF2B5EF4-FFF2-40B4-BE49-F238E27FC236}">
                <a16:creationId xmlns:a16="http://schemas.microsoft.com/office/drawing/2014/main" id="{3C93A4B6-9809-4769-A563-16436A7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Trace initialization, overriding, and super() calls.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02B07FAA-AED2-4DC4-B5A0-AD5CA2BB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Distinguish is-a from has-a and read the MRO.">
            <a:extLst xmlns:a="http://schemas.openxmlformats.org/drawingml/2006/main">
              <a:ext uri="{FF2B5EF4-FFF2-40B4-BE49-F238E27FC236}">
                <a16:creationId xmlns:a16="http://schemas.microsoft.com/office/drawing/2014/main" id="{2DDE6073-0B10-417E-A673-60E541AF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Distinguish is-a from has-a and read the MRO.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29C93A92-86E6-42A4-8A20-E751FFB4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0984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shooter hierarchy">
            <a:extLst xmlns:a="http://schemas.openxmlformats.org/drawingml/2006/main">
              <a:ext uri="{FF2B5EF4-FFF2-40B4-BE49-F238E27FC236}">
                <a16:creationId xmlns:a16="http://schemas.microsoft.com/office/drawing/2014/main" id="{D871D81E-8541-457C-BA1F-43925E0E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The shooter hierarchy</a:t>
            </a:r>
          </a:p>
        </p:txBody>
      </p:sp>
      <p:sp>
        <p:nvSpPr>
          <p:cNvPr id="2" name="Indentation shows direct inheritance">
            <a:extLst xmlns:a="http://schemas.openxmlformats.org/drawingml/2006/main">
              <a:ext uri="{FF2B5EF4-FFF2-40B4-BE49-F238E27FC236}">
                <a16:creationId xmlns:a16="http://schemas.microsoft.com/office/drawing/2014/main" id="{2DF84C70-D93E-4B40-ADDB-8907F6D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Indentation shows direct inheritance</a:t>
            </a:r>
          </a:p>
        </p:txBody>
      </p:sp>
      <p:sp>
        <p:nvSpPr>
          <p:cNvPr id="3" name="object">
            <a:extLst xmlns:a="http://schemas.openxmlformats.org/drawingml/2006/main">
              <a:ext uri="{FF2B5EF4-FFF2-40B4-BE49-F238E27FC236}">
                <a16:creationId xmlns:a16="http://schemas.microsoft.com/office/drawing/2014/main" id="{F427002A-0C68-4ACA-B506-F2361F2F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object</a:t>
            </a:r>
          </a:p>
        </p:txBody>
      </p:sp>
      <p:sp>
        <p:nvSpPr>
          <p:cNvPr id="4" name="  pygame.sprite.Sprite">
            <a:extLst xmlns:a="http://schemas.openxmlformats.org/drawingml/2006/main">
              <a:ext uri="{FF2B5EF4-FFF2-40B4-BE49-F238E27FC236}">
                <a16:creationId xmlns:a16="http://schemas.microsoft.com/office/drawing/2014/main" id="{B2C4C0B2-4E60-4244-AE32-C4273627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pygame.sprite.Sprite</a:t>
            </a:r>
          </a:p>
        </p:txBody>
      </p:sp>
      <p:sp>
        <p:nvSpPr>
          <p:cNvPr id="5" name="    Actor">
            <a:extLst xmlns:a="http://schemas.openxmlformats.org/drawingml/2006/main">
              <a:ext uri="{FF2B5EF4-FFF2-40B4-BE49-F238E27FC236}">
                <a16:creationId xmlns:a16="http://schemas.microsoft.com/office/drawing/2014/main" id="{8F41F252-8614-46C3-9917-AF6B81CF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Actor</a:t>
            </a:r>
          </a:p>
        </p:txBody>
      </p:sp>
      <p:sp>
        <p:nvSpPr>
          <p:cNvPr id="6" name="      Player">
            <a:extLst xmlns:a="http://schemas.openxmlformats.org/drawingml/2006/main">
              <a:ext uri="{FF2B5EF4-FFF2-40B4-BE49-F238E27FC236}">
                <a16:creationId xmlns:a16="http://schemas.microsoft.com/office/drawing/2014/main" id="{CF514EF5-BA46-4131-8BBF-9DD3EF4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Player</a:t>
            </a:r>
          </a:p>
        </p:txBody>
      </p:sp>
      <p:sp>
        <p:nvSpPr>
          <p:cNvPr id="7" name="      Enemy">
            <a:extLst xmlns:a="http://schemas.openxmlformats.org/drawingml/2006/main">
              <a:ext uri="{FF2B5EF4-FFF2-40B4-BE49-F238E27FC236}">
                <a16:creationId xmlns:a16="http://schemas.microsoft.com/office/drawing/2014/main" id="{A04909A1-5C16-4121-BCDA-3AFCBD8C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Enemy</a:t>
            </a:r>
          </a:p>
        </p:txBody>
      </p:sp>
      <p:sp>
        <p:nvSpPr>
          <p:cNvPr id="8" name="      Bullet">
            <a:extLst xmlns:a="http://schemas.openxmlformats.org/drawingml/2006/main">
              <a:ext uri="{FF2B5EF4-FFF2-40B4-BE49-F238E27FC236}">
                <a16:creationId xmlns:a16="http://schemas.microsoft.com/office/drawing/2014/main" id="{48AA2196-2091-415F-A9D0-CFEA8A0D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Bullet</a:t>
            </a:r>
          </a:p>
        </p:txBody>
      </p:sp>
      <p:sp>
        <p:nvSpPr>
          <p:cNvPr id="9" name="Player, Enemy, and Bullet all derive from Actor.">
            <a:extLst xmlns:a="http://schemas.openxmlformats.org/drawingml/2006/main">
              <a:ext uri="{FF2B5EF4-FFF2-40B4-BE49-F238E27FC236}">
                <a16:creationId xmlns:a16="http://schemas.microsoft.com/office/drawing/2014/main" id="{1440AC99-F4F7-405D-AEEF-A8CAD47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Player, Enemy, and Bullet all derive from Actor.</a:t>
            </a:r>
          </a:p>
        </p:txBody>
      </p:sp>
      <p:sp>
        <p:nvSpPr>
          <p:cNvPr id="10" name="In UML, a solid line with a hollow triangle points to the base class.">
            <a:extLst xmlns:a="http://schemas.openxmlformats.org/drawingml/2006/main">
              <a:ext uri="{FF2B5EF4-FFF2-40B4-BE49-F238E27FC236}">
                <a16:creationId xmlns:a16="http://schemas.microsoft.com/office/drawing/2014/main" id="{9D2FE1DF-FBFD-4F91-A10F-27DFC6AE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In UML, a solid line with a hollow triangle points to the base class.</a:t>
            </a:r>
          </a:p>
        </p:txBody>
      </p:sp>
      <p:sp>
        <p:nvSpPr>
          <p:cNvPr id="11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BCBD07EA-99C2-49DB-A32F-A79A2B7A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A9106D34-F8BD-420D-A740-5046D12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2189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red and specific responsibilities">
            <a:extLst xmlns:a="http://schemas.openxmlformats.org/drawingml/2006/main">
              <a:ext uri="{FF2B5EF4-FFF2-40B4-BE49-F238E27FC236}">
                <a16:creationId xmlns:a16="http://schemas.microsoft.com/office/drawing/2014/main" id="{0562CF16-E6B3-4C85-9449-C30C8EFF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Shared and specific responsibilities</a:t>
            </a:r>
          </a:p>
        </p:txBody>
      </p:sp>
      <p:sp>
        <p:nvSpPr>
          <p:cNvPr id="2" name="Responsibilities in the existing actors.py">
            <a:extLst xmlns:a="http://schemas.openxmlformats.org/drawingml/2006/main">
              <a:ext uri="{FF2B5EF4-FFF2-40B4-BE49-F238E27FC236}">
                <a16:creationId xmlns:a16="http://schemas.microsoft.com/office/drawing/2014/main" id="{635CAF91-C4A4-4AB0-96D3-8A51BBC8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Responsibilities in the existing actors.py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A9E19-8A79-4ACA-A443-09CA0F70AB33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763000"/>
              </a:tblGrid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Class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State and behavior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name, image, pos, rect, velocity; update(dt)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hp, cooldown; direction, shooting, damage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hp, max_hp; inherited movement, hit handling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owner, damage; move and check screen exit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7AF16-3ABD-432A-AD0B-1FDF13E6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322BFC58-B409-4F0F-89B4-F511446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0382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tor supplies movement">
            <a:extLst xmlns:a="http://schemas.openxmlformats.org/drawingml/2006/main">
              <a:ext uri="{FF2B5EF4-FFF2-40B4-BE49-F238E27FC236}">
                <a16:creationId xmlns:a16="http://schemas.microsoft.com/office/drawing/2014/main" id="{22016CCC-DA19-4A3E-95DC-DEED589C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Actor supplies movement</a:t>
            </a:r>
          </a:p>
        </p:txBody>
      </p:sp>
      <p:sp>
        <p:nvSpPr>
          <p:cNvPr id="2" name="Original excerpt; dt is measured in seconds">
            <a:extLst xmlns:a="http://schemas.openxmlformats.org/drawingml/2006/main">
              <a:ext uri="{FF2B5EF4-FFF2-40B4-BE49-F238E27FC236}">
                <a16:creationId xmlns:a16="http://schemas.microsoft.com/office/drawing/2014/main" id="{456AB846-1CA2-4E91-8448-FE61B225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Original excerpt; dt is measured in seconds</a:t>
            </a:r>
          </a:p>
        </p:txBody>
      </p:sp>
      <p:sp>
        <p:nvSpPr>
          <p:cNvPr id="3" name="class Actor(pygame.sprite.Sprite):">
            <a:extLst xmlns:a="http://schemas.openxmlformats.org/drawingml/2006/main">
              <a:ext uri="{FF2B5EF4-FFF2-40B4-BE49-F238E27FC236}">
                <a16:creationId xmlns:a16="http://schemas.microsoft.com/office/drawing/2014/main" id="{649CC73D-52A0-445A-BFE0-7A68968E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Actor(pygame.sprite.Sprite):</a:t>
            </a:r>
          </a:p>
        </p:txBody>
      </p:sp>
      <p:sp>
        <p:nvSpPr>
          <p:cNvPr id="4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B9538E34-4EF1-4573-BE99-3B791DBF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5" name="        self.pos += self.velocity * dt">
            <a:extLst xmlns:a="http://schemas.openxmlformats.org/drawingml/2006/main">
              <a:ext uri="{FF2B5EF4-FFF2-40B4-BE49-F238E27FC236}">
                <a16:creationId xmlns:a16="http://schemas.microsoft.com/office/drawing/2014/main" id="{CD094A2C-E2B1-4A40-9FD8-4907B0F2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self.pos += self.velocity * dt</a:t>
            </a:r>
          </a:p>
        </p:txBody>
      </p:sp>
      <p:sp>
        <p:nvSpPr>
          <p:cNvPr id="6" name="        self.rect.center = (">
            <a:extLst xmlns:a="http://schemas.openxmlformats.org/drawingml/2006/main">
              <a:ext uri="{FF2B5EF4-FFF2-40B4-BE49-F238E27FC236}">
                <a16:creationId xmlns:a16="http://schemas.microsoft.com/office/drawing/2014/main" id="{4D66913D-EB44-4CEB-A2EB-2473BB25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self.rect.center = (</a:t>
            </a:r>
          </a:p>
        </p:txBody>
      </p:sp>
      <p:sp>
        <p:nvSpPr>
          <p:cNvPr id="7" name="            round(self.pos.x), round(self.pos.y)">
            <a:extLst xmlns:a="http://schemas.openxmlformats.org/drawingml/2006/main">
              <a:ext uri="{FF2B5EF4-FFF2-40B4-BE49-F238E27FC236}">
                <a16:creationId xmlns:a16="http://schemas.microsoft.com/office/drawing/2014/main" id="{E15E2937-CD5F-4820-AA76-CECCB2B3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round(self.pos.x), round(self.pos.y)</a:t>
            </a:r>
          </a:p>
        </p:txBody>
      </p:sp>
      <p:sp>
        <p:nvSpPr>
          <p:cNvPr id="8" name="        )">
            <a:extLst xmlns:a="http://schemas.openxmlformats.org/drawingml/2006/main">
              <a:ext uri="{FF2B5EF4-FFF2-40B4-BE49-F238E27FC236}">
                <a16:creationId xmlns:a16="http://schemas.microsoft.com/office/drawing/2014/main" id="{2186D948-A090-474D-991E-AE1FEA54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9" name="Velocity times dt gives displacement for this step.">
            <a:extLst xmlns:a="http://schemas.openxmlformats.org/drawingml/2006/main">
              <a:ext uri="{FF2B5EF4-FFF2-40B4-BE49-F238E27FC236}">
                <a16:creationId xmlns:a16="http://schemas.microsoft.com/office/drawing/2014/main" id="{ABE3FACB-8916-4BDD-8BCE-0E7915A9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Velocity times dt gives displacement for this step.</a:t>
            </a:r>
          </a:p>
        </p:txBody>
      </p:sp>
      <p:sp>
        <p:nvSpPr>
          <p:cNvPr id="10" name="pos keeps float coordinates; rect supports drawing and collisions.">
            <a:extLst xmlns:a="http://schemas.openxmlformats.org/drawingml/2006/main">
              <a:ext uri="{FF2B5EF4-FFF2-40B4-BE49-F238E27FC236}">
                <a16:creationId xmlns:a16="http://schemas.microsoft.com/office/drawing/2014/main" id="{2945A7C1-2B9B-41B9-8BD3-CD5FBAE4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pos keeps float coordinates; rect supports drawing and collisions.</a:t>
            </a:r>
          </a:p>
        </p:txBody>
      </p:sp>
      <p:sp>
        <p:nvSpPr>
          <p:cNvPr id="11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B5330192-A4EC-4970-9B2D-6581EE6F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2" name="05">
            <a:extLst xmlns:a="http://schemas.openxmlformats.org/drawingml/2006/main">
              <a:ext uri="{FF2B5EF4-FFF2-40B4-BE49-F238E27FC236}">
                <a16:creationId xmlns:a16="http://schemas.microsoft.com/office/drawing/2014/main" id="{BD3ADB9A-0B60-4EE5-ABE5-877AD319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9638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my inherits update">
            <a:extLst xmlns:a="http://schemas.openxmlformats.org/drawingml/2006/main">
              <a:ext uri="{FF2B5EF4-FFF2-40B4-BE49-F238E27FC236}">
                <a16:creationId xmlns:a16="http://schemas.microsoft.com/office/drawing/2014/main" id="{57BD9140-2F27-424D-B632-311D4D15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Enemy inherits update</a:t>
            </a:r>
          </a:p>
        </p:txBody>
      </p:sp>
      <p:sp>
        <p:nvSpPr>
          <p:cNvPr id="2" name="Lookup follows the MRO when update is absent">
            <a:extLst xmlns:a="http://schemas.openxmlformats.org/drawingml/2006/main">
              <a:ext uri="{FF2B5EF4-FFF2-40B4-BE49-F238E27FC236}">
                <a16:creationId xmlns:a16="http://schemas.microsoft.com/office/drawing/2014/main" id="{3807CCB5-BEBC-49E3-8670-A175332F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Lookup follows the MRO when update is absent</a:t>
            </a:r>
          </a:p>
        </p:txBody>
      </p:sp>
      <p:sp>
        <p:nvSpPr>
          <p:cNvPr id="3" name="enemy = Enemy(&quot;E01&quot;, (200, 100), speed=80)">
            <a:extLst xmlns:a="http://schemas.openxmlformats.org/drawingml/2006/main">
              <a:ext uri="{FF2B5EF4-FFF2-40B4-BE49-F238E27FC236}">
                <a16:creationId xmlns:a16="http://schemas.microsoft.com/office/drawing/2014/main" id="{A13FC2D6-D7AA-4D58-82BC-2977D01D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 = Enemy("E01", (200, 100), speed=80)</a:t>
            </a:r>
          </a:p>
        </p:txBody>
      </p:sp>
      <p:sp>
        <p:nvSpPr>
          <p:cNvPr id="4" name="enemy.update(0.25)">
            <a:extLst xmlns:a="http://schemas.openxmlformats.org/drawingml/2006/main">
              <a:ext uri="{FF2B5EF4-FFF2-40B4-BE49-F238E27FC236}">
                <a16:creationId xmlns:a16="http://schemas.microsoft.com/office/drawing/2014/main" id="{A8E4E3E2-BF0F-41C8-8A4D-6A816E0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enemy.update(0.25)</a:t>
            </a:r>
          </a:p>
        </p:txBody>
      </p:sp>
      <p:sp>
        <p:nvSpPr>
          <p:cNvPr id="5" name="print(enemy.pos.y)  # 120.0">
            <a:extLst xmlns:a="http://schemas.openxmlformats.org/drawingml/2006/main">
              <a:ext uri="{FF2B5EF4-FFF2-40B4-BE49-F238E27FC236}">
                <a16:creationId xmlns:a16="http://schemas.microsoft.com/office/drawing/2014/main" id="{5D4BF973-D7C9-4330-B6EF-CF7D0F99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print(enemy.pos.y)  # 120.0</a:t>
            </a:r>
          </a:p>
        </p:txBody>
      </p:sp>
      <p:sp>
        <p:nvSpPr>
          <p:cNvPr id="6" name="print(Enemy.update is Actor.update)  # True">
            <a:extLst xmlns:a="http://schemas.openxmlformats.org/drawingml/2006/main">
              <a:ext uri="{FF2B5EF4-FFF2-40B4-BE49-F238E27FC236}">
                <a16:creationId xmlns:a16="http://schemas.microsoft.com/office/drawing/2014/main" id="{D9332D9C-E98C-42A5-B8C4-EBEBFFD0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print(Enemy.update is Actor.update)  # True</a:t>
            </a:r>
          </a:p>
        </p:txBody>
      </p:sp>
      <p:sp>
        <p:nvSpPr>
          <p:cNvPr id="7" name="Enemy does not override update, so this calls Actor.update.">
            <a:extLst xmlns:a="http://schemas.openxmlformats.org/drawingml/2006/main">
              <a:ext uri="{FF2B5EF4-FFF2-40B4-BE49-F238E27FC236}">
                <a16:creationId xmlns:a16="http://schemas.microsoft.com/office/drawing/2014/main" id="{59CF52B0-1B40-4CE7-8DAF-2E65ECA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Enemy does not override update, so this calls Actor.update.</a:t>
            </a:r>
          </a:p>
        </p:txBody>
      </p:sp>
      <p:sp>
        <p:nvSpPr>
          <p:cNvPr id="8" name="y changes from 100 to 120; self is enemy.">
            <a:extLst xmlns:a="http://schemas.openxmlformats.org/drawingml/2006/main">
              <a:ext uri="{FF2B5EF4-FFF2-40B4-BE49-F238E27FC236}">
                <a16:creationId xmlns:a16="http://schemas.microsoft.com/office/drawing/2014/main" id="{122B09B6-241F-4B85-B996-F7237B4C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y changes from 100 to 120; self is enemy.</a:t>
            </a:r>
          </a:p>
        </p:txBody>
      </p:sp>
      <p:sp>
        <p:nvSpPr>
          <p:cNvPr id="9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FE4A9344-9F71-4C52-B52F-C4A87F2A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0" name="06">
            <a:extLst xmlns:a="http://schemas.openxmlformats.org/drawingml/2006/main">
              <a:ext uri="{FF2B5EF4-FFF2-40B4-BE49-F238E27FC236}">
                <a16:creationId xmlns:a16="http://schemas.microsoft.com/office/drawing/2014/main" id="{ACCB6AF6-4E42-4256-B9F6-14B7E37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8190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Initializing shared attributes">
            <a:extLst xmlns:a="http://schemas.openxmlformats.org/drawingml/2006/main">
              <a:ext uri="{FF2B5EF4-FFF2-40B4-BE49-F238E27FC236}">
                <a16:creationId xmlns:a16="http://schemas.microsoft.com/office/drawing/2014/main" id="{3152316D-E90B-4EA7-9931-D5223EBE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Initializing shared attributes</a:t>
            </a:r>
          </a:p>
        </p:txBody>
      </p:sp>
      <p:sp>
        <p:nvSpPr>
          <p:cNvPr id="2" name="Excerpt from Actor.__init__">
            <a:extLst xmlns:a="http://schemas.openxmlformats.org/drawingml/2006/main">
              <a:ext uri="{FF2B5EF4-FFF2-40B4-BE49-F238E27FC236}">
                <a16:creationId xmlns:a16="http://schemas.microsoft.com/office/drawing/2014/main" id="{2D9AD8E7-68FB-4076-98CF-A9ED97F7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Excerpt from Actor.__init__</a:t>
            </a:r>
          </a:p>
        </p:txBody>
      </p:sp>
      <p:sp>
        <p:nvSpPr>
          <p:cNvPr id="3" name="def __init__(self, name, position, size):">
            <a:extLst xmlns:a="http://schemas.openxmlformats.org/drawingml/2006/main">
              <a:ext uri="{FF2B5EF4-FFF2-40B4-BE49-F238E27FC236}">
                <a16:creationId xmlns:a16="http://schemas.microsoft.com/office/drawing/2014/main" id="{C644DBC6-7BB0-47B7-A9E4-F2D3880C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__init__(self, name, position, size):</a:t>
            </a:r>
          </a:p>
        </p:txBody>
      </p:sp>
      <p:sp>
        <p:nvSpPr>
          <p:cNvPr id="4" name="    super().__init__()">
            <a:extLst xmlns:a="http://schemas.openxmlformats.org/drawingml/2006/main">
              <a:ext uri="{FF2B5EF4-FFF2-40B4-BE49-F238E27FC236}">
                <a16:creationId xmlns:a16="http://schemas.microsoft.com/office/drawing/2014/main" id="{D8EB81D2-8057-4A8A-86B8-3FFFAF94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super().__init__()</a:t>
            </a:r>
          </a:p>
        </p:txBody>
      </p:sp>
      <p:sp>
        <p:nvSpPr>
          <p:cNvPr id="5" name="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4FAA2D98-7A2C-4BA8-8A2D-7EA5603A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self.name = name</a:t>
            </a:r>
          </a:p>
        </p:txBody>
      </p:sp>
      <p:sp>
        <p:nvSpPr>
          <p:cNvPr id="6" name="    self.image = pygame.Surface(size, pygame.SRCALPHA)">
            <a:extLst xmlns:a="http://schemas.openxmlformats.org/drawingml/2006/main">
              <a:ext uri="{FF2B5EF4-FFF2-40B4-BE49-F238E27FC236}">
                <a16:creationId xmlns:a16="http://schemas.microsoft.com/office/drawing/2014/main" id="{E3463631-7EF0-4273-AD52-566006AF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self.image = pygame.Surface(size, pygame.SRCALPHA)</a:t>
            </a:r>
          </a:p>
        </p:txBody>
      </p:sp>
      <p:sp>
        <p:nvSpPr>
          <p:cNvPr id="7" name="    self.pos = pygame.Vector2(position)">
            <a:extLst xmlns:a="http://schemas.openxmlformats.org/drawingml/2006/main">
              <a:ext uri="{FF2B5EF4-FFF2-40B4-BE49-F238E27FC236}">
                <a16:creationId xmlns:a16="http://schemas.microsoft.com/office/drawing/2014/main" id="{82252CEF-5129-4E9A-89B9-0E32732A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self.pos = pygame.Vector2(position)</a:t>
            </a:r>
          </a:p>
        </p:txBody>
      </p:sp>
      <p:sp>
        <p:nvSpPr>
          <p:cNvPr id="8" name="    self.rect = self.image.get_rect(center=position)">
            <a:extLst xmlns:a="http://schemas.openxmlformats.org/drawingml/2006/main">
              <a:ext uri="{FF2B5EF4-FFF2-40B4-BE49-F238E27FC236}">
                <a16:creationId xmlns:a16="http://schemas.microsoft.com/office/drawing/2014/main" id="{A42C64A7-63D3-4349-947F-311A79E3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self.rect = self.image.get_rect(center=position)</a:t>
            </a:r>
          </a:p>
        </p:txBody>
      </p:sp>
      <p:sp>
        <p:nvSpPr>
          <p:cNvPr id="9" name="    self.velocity = pygame.Vector2()">
            <a:extLst xmlns:a="http://schemas.openxmlformats.org/drawingml/2006/main">
              <a:ext uri="{FF2B5EF4-FFF2-40B4-BE49-F238E27FC236}">
                <a16:creationId xmlns:a16="http://schemas.microsoft.com/office/drawing/2014/main" id="{95E4EA69-E377-49D7-B7BC-663E723F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self.velocity = pygame.Vector2()</a:t>
            </a:r>
          </a:p>
        </p:txBody>
      </p:sp>
      <p:sp>
        <p:nvSpPr>
          <p:cNvPr id="10" name="super().__init__() initializes Sprite state.">
            <a:extLst xmlns:a="http://schemas.openxmlformats.org/drawingml/2006/main">
              <a:ext uri="{FF2B5EF4-FFF2-40B4-BE49-F238E27FC236}">
                <a16:creationId xmlns:a16="http://schemas.microsoft.com/office/drawing/2014/main" id="{4227346B-51CA-44A6-B44D-71F4EBF7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super().__init__() initializes Sprite state.</a:t>
            </a:r>
          </a:p>
        </p:txBody>
      </p:sp>
      <p:sp>
        <p:nvSpPr>
          <p:cNvPr id="11" name="These self attributes belong to this same instance.">
            <a:extLst xmlns:a="http://schemas.openxmlformats.org/drawingml/2006/main">
              <a:ext uri="{FF2B5EF4-FFF2-40B4-BE49-F238E27FC236}">
                <a16:creationId xmlns:a16="http://schemas.microsoft.com/office/drawing/2014/main" id="{85D12E29-786B-495D-912B-5E8397D0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These self attributes belong to this same instance.</a:t>
            </a:r>
          </a:p>
        </p:txBody>
      </p:sp>
      <p:sp>
        <p:nvSpPr>
          <p:cNvPr id="12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C3A8B673-3E70-4399-87C0-1AFBA49B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3" name="07">
            <a:extLst xmlns:a="http://schemas.openxmlformats.org/drawingml/2006/main">
              <a:ext uri="{FF2B5EF4-FFF2-40B4-BE49-F238E27FC236}">
                <a16:creationId xmlns:a16="http://schemas.microsoft.com/office/drawing/2014/main" id="{A4796D40-3EE8-4360-A77B-967CF93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8222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ending initialization">
            <a:extLst xmlns:a="http://schemas.openxmlformats.org/drawingml/2006/main">
              <a:ext uri="{FF2B5EF4-FFF2-40B4-BE49-F238E27FC236}">
                <a16:creationId xmlns:a16="http://schemas.microsoft.com/office/drawing/2014/main" id="{A84FCC7E-A0D5-4E73-B3FF-C9E4C2EE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Extending initialization</a:t>
            </a:r>
          </a:p>
        </p:txBody>
      </p:sp>
      <p:sp>
        <p:nvSpPr>
          <p:cNvPr id="2" name="Enemy.__init__ excerpt; drawing omitted">
            <a:extLst xmlns:a="http://schemas.openxmlformats.org/drawingml/2006/main">
              <a:ext uri="{FF2B5EF4-FFF2-40B4-BE49-F238E27FC236}">
                <a16:creationId xmlns:a16="http://schemas.microsoft.com/office/drawing/2014/main" id="{58A08C47-00BE-43CC-9BF6-566033C2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Enemy.__init__ excerpt; drawing omitted</a:t>
            </a:r>
          </a:p>
        </p:txBody>
      </p:sp>
      <p:sp>
        <p:nvSpPr>
          <p:cNvPr id="3" name="class Enemy(Actor):">
            <a:extLst xmlns:a="http://schemas.openxmlformats.org/drawingml/2006/main">
              <a:ext uri="{FF2B5EF4-FFF2-40B4-BE49-F238E27FC236}">
                <a16:creationId xmlns:a16="http://schemas.microsoft.com/office/drawing/2014/main" id="{D796F86C-2984-48FB-A141-5E40916A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Enemy(Actor):</a:t>
            </a:r>
          </a:p>
        </p:txBody>
      </p:sp>
      <p:sp>
        <p:nvSpPr>
          <p:cNvPr id="4" name="    def __init__(self, name, position, speed=80, hp=1):">
            <a:extLst xmlns:a="http://schemas.openxmlformats.org/drawingml/2006/main">
              <a:ext uri="{FF2B5EF4-FFF2-40B4-BE49-F238E27FC236}">
                <a16:creationId xmlns:a16="http://schemas.microsoft.com/office/drawing/2014/main" id="{F5B24E1C-D00A-4E47-84E8-B882B630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speed=80, hp=1):</a:t>
            </a:r>
          </a:p>
        </p:txBody>
      </p:sp>
      <p:sp>
        <p:nvSpPr>
          <p:cNvPr id="5" name="        super().__init__(name, position, (44, 40))">
            <a:extLst xmlns:a="http://schemas.openxmlformats.org/drawingml/2006/main">
              <a:ext uri="{FF2B5EF4-FFF2-40B4-BE49-F238E27FC236}">
                <a16:creationId xmlns:a16="http://schemas.microsoft.com/office/drawing/2014/main" id="{B03059D8-274C-4FFC-A474-3056EFC7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position, (44, 40))</a:t>
            </a:r>
          </a:p>
        </p:txBody>
      </p:sp>
      <p:sp>
        <p:nvSpPr>
          <p:cNvPr id="6" name="        self.velocity.y = speed">
            <a:extLst xmlns:a="http://schemas.openxmlformats.org/drawingml/2006/main">
              <a:ext uri="{FF2B5EF4-FFF2-40B4-BE49-F238E27FC236}">
                <a16:creationId xmlns:a16="http://schemas.microsoft.com/office/drawing/2014/main" id="{A61E6E73-F76E-4038-A088-30834F7C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self.velocity.y = speed</a:t>
            </a:r>
          </a:p>
        </p:txBody>
      </p:sp>
      <p:sp>
        <p:nvSpPr>
          <p:cNvPr id="7" name="        self.hp = hp">
            <a:extLst xmlns:a="http://schemas.openxmlformats.org/drawingml/2006/main">
              <a:ext uri="{FF2B5EF4-FFF2-40B4-BE49-F238E27FC236}">
                <a16:creationId xmlns:a16="http://schemas.microsoft.com/office/drawing/2014/main" id="{B1C98502-CB70-4D46-8BAA-DDE4F661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self.hp = hp</a:t>
            </a:r>
          </a:p>
        </p:txBody>
      </p:sp>
      <p:sp>
        <p:nvSpPr>
          <p:cNvPr id="8" name="        self.max_hp = hp">
            <a:extLst xmlns:a="http://schemas.openxmlformats.org/drawingml/2006/main">
              <a:ext uri="{FF2B5EF4-FFF2-40B4-BE49-F238E27FC236}">
                <a16:creationId xmlns:a16="http://schemas.microsoft.com/office/drawing/2014/main" id="{6B2E09E8-DA26-40C3-A214-2DF58F2F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self.max_hp = hp</a:t>
            </a:r>
          </a:p>
        </p:txBody>
      </p:sp>
      <p:sp>
        <p:nvSpPr>
          <p:cNvPr id="9" name="Initialize common state, then enemy speed and health.">
            <a:extLst xmlns:a="http://schemas.openxmlformats.org/drawingml/2006/main">
              <a:ext uri="{FF2B5EF4-FFF2-40B4-BE49-F238E27FC236}">
                <a16:creationId xmlns:a16="http://schemas.microsoft.com/office/drawing/2014/main" id="{FD38FCB1-5051-4D81-A630-91C20C8F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Initialize common state, then enemy speed and health.</a:t>
            </a:r>
          </a:p>
        </p:txBody>
      </p:sp>
      <p:sp>
        <p:nvSpPr>
          <p:cNvPr id="10" name="An overridden __init__ must explicitly call the base initializer when needed.">
            <a:extLst xmlns:a="http://schemas.openxmlformats.org/drawingml/2006/main">
              <a:ext uri="{FF2B5EF4-FFF2-40B4-BE49-F238E27FC236}">
                <a16:creationId xmlns:a16="http://schemas.microsoft.com/office/drawing/2014/main" id="{86553E0F-3997-4236-9776-E81A9CF4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An overridden __init__ must explicitly call the base initializer when needed.</a:t>
            </a:r>
          </a:p>
        </p:txBody>
      </p:sp>
      <p:sp>
        <p:nvSpPr>
          <p:cNvPr id="11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5741475F-A15C-420E-B38F-2B434F7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2" name="08">
            <a:extLst xmlns:a="http://schemas.openxmlformats.org/drawingml/2006/main">
              <a:ext uri="{FF2B5EF4-FFF2-40B4-BE49-F238E27FC236}">
                <a16:creationId xmlns:a16="http://schemas.microsoft.com/office/drawing/2014/main" id="{EB33D4D7-C198-41F4-B9F1-7BFA9060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9813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nitialization order">
            <a:extLst xmlns:a="http://schemas.openxmlformats.org/drawingml/2006/main">
              <a:ext uri="{FF2B5EF4-FFF2-40B4-BE49-F238E27FC236}">
                <a16:creationId xmlns:a16="http://schemas.microsoft.com/office/drawing/2014/main" id="{A431DF3B-1594-4FD3-A938-39E86EDD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Initialization order</a:t>
            </a:r>
          </a:p>
        </p:txBody>
      </p:sp>
      <p:sp>
        <p:nvSpPr>
          <p:cNvPr id="2" name="Enemy(&quot;E01&quot;, (200, 100))">
            <a:extLst xmlns:a="http://schemas.openxmlformats.org/drawingml/2006/main">
              <a:ext uri="{FF2B5EF4-FFF2-40B4-BE49-F238E27FC236}">
                <a16:creationId xmlns:a16="http://schemas.microsoft.com/office/drawing/2014/main" id="{D282488F-3DC3-476E-9AAB-8EBE77A8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Enemy("E01", (200, 100))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01D2D94E-CDEE-4676-A10A-CFF12E84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Enter Enemy.__init__; self is the newly created Enemy.">
            <a:extLst xmlns:a="http://schemas.openxmlformats.org/drawingml/2006/main">
              <a:ext uri="{FF2B5EF4-FFF2-40B4-BE49-F238E27FC236}">
                <a16:creationId xmlns:a16="http://schemas.microsoft.com/office/drawing/2014/main" id="{3BF4C691-1A4C-4731-8849-267A92F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Enter Enemy.__init__; self is the newly created Enemy.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131C1634-2FC4-4105-BE10-202F9545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super() calls Actor.__init__, which initializes Sprite.">
            <a:extLst xmlns:a="http://schemas.openxmlformats.org/drawingml/2006/main">
              <a:ext uri="{FF2B5EF4-FFF2-40B4-BE49-F238E27FC236}">
                <a16:creationId xmlns:a16="http://schemas.microsoft.com/office/drawing/2014/main" id="{647B8CA0-00DD-4936-8234-7D4D3E26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super() calls Actor.__init__, which initializes Sprite.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78B68CB5-AC55-4225-A6B1-155D0ADD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turn to Enemy to set hp. Every step uses the same self.">
            <a:extLst xmlns:a="http://schemas.openxmlformats.org/drawingml/2006/main">
              <a:ext uri="{FF2B5EF4-FFF2-40B4-BE49-F238E27FC236}">
                <a16:creationId xmlns:a16="http://schemas.microsoft.com/office/drawing/2014/main" id="{FBE2FB41-AA2C-4273-8430-0716FB45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Return to Enemy to set hp. Every step uses the same self.</a:t>
            </a:r>
          </a:p>
        </p:txBody>
      </p:sp>
      <p:sp>
        <p:nvSpPr>
          <p:cNvPr id="9" name="09">
            <a:extLst xmlns:a="http://schemas.openxmlformats.org/drawingml/2006/main">
              <a:ext uri="{FF2B5EF4-FFF2-40B4-BE49-F238E27FC236}">
                <a16:creationId xmlns:a16="http://schemas.microsoft.com/office/drawing/2014/main" id="{067CC00A-6169-442B-BED3-0B6109C8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7983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red methods, independent state">
            <a:extLst xmlns:a="http://schemas.openxmlformats.org/drawingml/2006/main">
              <a:ext uri="{FF2B5EF4-FFF2-40B4-BE49-F238E27FC236}">
                <a16:creationId xmlns:a16="http://schemas.microsoft.com/office/drawing/2014/main" id="{9974216E-D8A3-4DAB-8734-E6CB6558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Shared methods, independent state</a:t>
            </a:r>
          </a:p>
        </p:txBody>
      </p:sp>
      <p:sp>
        <p:nvSpPr>
          <p:cNvPr id="2" name="Two Enemy instances">
            <a:extLst xmlns:a="http://schemas.openxmlformats.org/drawingml/2006/main">
              <a:ext uri="{FF2B5EF4-FFF2-40B4-BE49-F238E27FC236}">
                <a16:creationId xmlns:a16="http://schemas.microsoft.com/office/drawing/2014/main" id="{4DE8F0C0-AD4A-439F-AA4C-BA265798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Two Enemy instances</a:t>
            </a:r>
          </a:p>
        </p:txBody>
      </p:sp>
      <p:sp>
        <p:nvSpPr>
          <p:cNvPr id="3" name="a = Enemy(&quot;E01&quot;, (100, 100), hp=1)">
            <a:extLst xmlns:a="http://schemas.openxmlformats.org/drawingml/2006/main">
              <a:ext uri="{FF2B5EF4-FFF2-40B4-BE49-F238E27FC236}">
                <a16:creationId xmlns:a16="http://schemas.microsoft.com/office/drawing/2014/main" id="{A7C094C6-5A1C-417C-BCBF-03AA222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 = Enemy("E01", (100, 100), hp=1)</a:t>
            </a:r>
          </a:p>
        </p:txBody>
      </p:sp>
      <p:sp>
        <p:nvSpPr>
          <p:cNvPr id="4" name="b = Enemy(&quot;E02&quot;, (200, 100), hp=3)">
            <a:extLst xmlns:a="http://schemas.openxmlformats.org/drawingml/2006/main">
              <a:ext uri="{FF2B5EF4-FFF2-40B4-BE49-F238E27FC236}">
                <a16:creationId xmlns:a16="http://schemas.microsoft.com/office/drawing/2014/main" id="{B99112BF-6583-4210-9F4B-5E83EFA8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 = Enemy("E02", (200, 100), hp=3)</a:t>
            </a:r>
          </a:p>
        </p:txBody>
      </p:sp>
      <p:sp>
        <p:nvSpPr>
          <p:cNvPr id="5" name="a.hp = 0">
            <a:extLst xmlns:a="http://schemas.openxmlformats.org/drawingml/2006/main">
              <a:ext uri="{FF2B5EF4-FFF2-40B4-BE49-F238E27FC236}">
                <a16:creationId xmlns:a16="http://schemas.microsoft.com/office/drawing/2014/main" id="{F1E1E200-3CA4-4645-B28B-EFCF5497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a.hp = 0</a:t>
            </a:r>
          </a:p>
        </p:txBody>
      </p:sp>
      <p:sp>
        <p:nvSpPr>
          <p:cNvPr id="6" name="print(b.hp)  # 3">
            <a:extLst xmlns:a="http://schemas.openxmlformats.org/drawingml/2006/main">
              <a:ext uri="{FF2B5EF4-FFF2-40B4-BE49-F238E27FC236}">
                <a16:creationId xmlns:a16="http://schemas.microsoft.com/office/drawing/2014/main" id="{713A9CEA-3BF6-4833-866D-88B430A5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print(b.hp)  # 3</a:t>
            </a:r>
          </a:p>
        </p:txBody>
      </p:sp>
      <p:sp>
        <p:nvSpPr>
          <p:cNvPr id="7" name="print(a.velocity is b.velocity)  # False">
            <a:extLst xmlns:a="http://schemas.openxmlformats.org/drawingml/2006/main">
              <a:ext uri="{FF2B5EF4-FFF2-40B4-BE49-F238E27FC236}">
                <a16:creationId xmlns:a16="http://schemas.microsoft.com/office/drawing/2014/main" id="{D1D67AC5-3263-410D-98B4-8EE3220E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print(a.velocity is b.velocity)  # False</a:t>
            </a:r>
          </a:p>
        </p:txBody>
      </p:sp>
      <p:sp>
        <p:nvSpPr>
          <p:cNvPr id="8" name="Each initializer creates its own velocity Vector2.">
            <a:extLst xmlns:a="http://schemas.openxmlformats.org/drawingml/2006/main">
              <a:ext uri="{FF2B5EF4-FFF2-40B4-BE49-F238E27FC236}">
                <a16:creationId xmlns:a16="http://schemas.microsoft.com/office/drawing/2014/main" id="{97E729CB-0C87-4384-8B24-C83D33B2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Each initializer creates its own velocity Vector2.</a:t>
            </a:r>
          </a:p>
        </p:txBody>
      </p:sp>
      <p:sp>
        <p:nvSpPr>
          <p:cNvPr id="9" name="Inheritance does not make the two instances share hp.">
            <a:extLst xmlns:a="http://schemas.openxmlformats.org/drawingml/2006/main">
              <a:ext uri="{FF2B5EF4-FFF2-40B4-BE49-F238E27FC236}">
                <a16:creationId xmlns:a16="http://schemas.microsoft.com/office/drawing/2014/main" id="{774E876C-2AB1-4451-B911-ADBC709D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Inheritance does not make the two instances share hp.</a:t>
            </a:r>
          </a:p>
        </p:txBody>
      </p:sp>
      <p:sp>
        <p:nvSpPr>
          <p:cNvPr id="10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59CFD043-2BA2-437C-A801-A32292E0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1" name="10">
            <a:extLst xmlns:a="http://schemas.openxmlformats.org/drawingml/2006/main">
              <a:ext uri="{FF2B5EF4-FFF2-40B4-BE49-F238E27FC236}">
                <a16:creationId xmlns:a16="http://schemas.microsoft.com/office/drawing/2014/main" id="{BAE02D0D-1446-4FD7-A0D6-BE84E80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77134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ecking class relationships">
            <a:extLst xmlns:a="http://schemas.openxmlformats.org/drawingml/2006/main">
              <a:ext uri="{FF2B5EF4-FFF2-40B4-BE49-F238E27FC236}">
                <a16:creationId xmlns:a16="http://schemas.microsoft.com/office/drawing/2014/main" id="{EF1AD178-C7BE-4CFB-B23D-91801479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Checking class relationships</a:t>
            </a:r>
          </a:p>
        </p:txBody>
      </p:sp>
      <p:sp>
        <p:nvSpPr>
          <p:cNvPr id="2" name="isinstance and issubclass">
            <a:extLst xmlns:a="http://schemas.openxmlformats.org/drawingml/2006/main">
              <a:ext uri="{FF2B5EF4-FFF2-40B4-BE49-F238E27FC236}">
                <a16:creationId xmlns:a16="http://schemas.microsoft.com/office/drawing/2014/main" id="{2A33714D-26C4-4E6E-B414-E5651258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isinstance and issubclass</a:t>
            </a:r>
          </a:p>
        </p:txBody>
      </p:sp>
      <p:sp>
        <p:nvSpPr>
          <p:cNvPr id="3" name="enemy = Enemy(&quot;E01&quot;, (200, 100))">
            <a:extLst xmlns:a="http://schemas.openxmlformats.org/drawingml/2006/main">
              <a:ext uri="{FF2B5EF4-FFF2-40B4-BE49-F238E27FC236}">
                <a16:creationId xmlns:a16="http://schemas.microsoft.com/office/drawing/2014/main" id="{A6D08F62-33B1-4E3F-B43A-E6387F3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 = Enemy("E01", (200, 100))</a:t>
            </a:r>
          </a:p>
        </p:txBody>
      </p:sp>
      <p:sp>
        <p:nvSpPr>
          <p:cNvPr id="4" name="print(isinstance(enemy, Enemy))  # True">
            <a:extLst xmlns:a="http://schemas.openxmlformats.org/drawingml/2006/main">
              <a:ext uri="{FF2B5EF4-FFF2-40B4-BE49-F238E27FC236}">
                <a16:creationId xmlns:a16="http://schemas.microsoft.com/office/drawing/2014/main" id="{EA40C6EE-3E2B-4461-99DD-C08E226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print(isinstance(enemy, Enemy))  # True</a:t>
            </a:r>
          </a:p>
        </p:txBody>
      </p:sp>
      <p:sp>
        <p:nvSpPr>
          <p:cNvPr id="5" name="print(isinstance(enemy, Actor))  # True">
            <a:extLst xmlns:a="http://schemas.openxmlformats.org/drawingml/2006/main">
              <a:ext uri="{FF2B5EF4-FFF2-40B4-BE49-F238E27FC236}">
                <a16:creationId xmlns:a16="http://schemas.microsoft.com/office/drawing/2014/main" id="{81852264-1F99-4783-B568-DC3717F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print(isinstance(enemy, Actor))  # True</a:t>
            </a:r>
          </a:p>
        </p:txBody>
      </p:sp>
      <p:sp>
        <p:nvSpPr>
          <p:cNvPr id="6" name="print(issubclass(Enemy, Actor))  # True">
            <a:extLst xmlns:a="http://schemas.openxmlformats.org/drawingml/2006/main">
              <a:ext uri="{FF2B5EF4-FFF2-40B4-BE49-F238E27FC236}">
                <a16:creationId xmlns:a16="http://schemas.microsoft.com/office/drawing/2014/main" id="{B8C6EEB8-3E29-4EF9-A2EC-C8AFC7BE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print(issubclass(Enemy, Actor))  # True</a:t>
            </a:r>
          </a:p>
        </p:txBody>
      </p:sp>
      <p:sp>
        <p:nvSpPr>
          <p:cNvPr id="7" name="print(type(enemy) is Actor)     # False">
            <a:extLst xmlns:a="http://schemas.openxmlformats.org/drawingml/2006/main">
              <a:ext uri="{FF2B5EF4-FFF2-40B4-BE49-F238E27FC236}">
                <a16:creationId xmlns:a16="http://schemas.microsoft.com/office/drawing/2014/main" id="{813C7E26-B123-45BC-8748-117BB2D0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print(type(enemy) is Actor)     # False</a:t>
            </a:r>
          </a:p>
        </p:txBody>
      </p:sp>
      <p:sp>
        <p:nvSpPr>
          <p:cNvPr id="8" name="isinstance includes subclass instances; type identity is exact.">
            <a:extLst xmlns:a="http://schemas.openxmlformats.org/drawingml/2006/main">
              <a:ext uri="{FF2B5EF4-FFF2-40B4-BE49-F238E27FC236}">
                <a16:creationId xmlns:a16="http://schemas.microsoft.com/office/drawing/2014/main" id="{93EEF254-7361-45FF-8F37-0B651483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isinstance includes subclass instances; type identity is exact.</a:t>
            </a:r>
          </a:p>
        </p:txBody>
      </p:sp>
      <p:sp>
        <p:nvSpPr>
          <p:cNvPr id="9" name="These checks describe relationships, not behavioral correctness.">
            <a:extLst xmlns:a="http://schemas.openxmlformats.org/drawingml/2006/main">
              <a:ext uri="{FF2B5EF4-FFF2-40B4-BE49-F238E27FC236}">
                <a16:creationId xmlns:a16="http://schemas.microsoft.com/office/drawing/2014/main" id="{F453E231-BCB4-4A58-9B41-2B72CB9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These checks describe relationships, not behavioral correctness.</a:t>
            </a:r>
          </a:p>
        </p:txBody>
      </p:sp>
      <p:sp>
        <p:nvSpPr>
          <p:cNvPr id="10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6720602C-C881-419B-92CB-FAAADB45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1" name="11">
            <a:extLst xmlns:a="http://schemas.openxmlformats.org/drawingml/2006/main">
              <a:ext uri="{FF2B5EF4-FFF2-40B4-BE49-F238E27FC236}">
                <a16:creationId xmlns:a16="http://schemas.microsoft.com/office/drawing/2014/main" id="{FDDFAE64-0D05-4516-B009-CEAEBB1B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551997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Where attributes belong">
            <a:extLst xmlns:a="http://schemas.openxmlformats.org/drawingml/2006/main">
              <a:ext uri="{FF2B5EF4-FFF2-40B4-BE49-F238E27FC236}">
                <a16:creationId xmlns:a16="http://schemas.microsoft.com/office/drawing/2014/main" id="{BAF2F1E0-1ABC-46A4-AB20-3C1851F4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Where attributes belong</a:t>
            </a:r>
          </a:p>
        </p:txBody>
      </p:sp>
      <p:sp>
        <p:nvSpPr>
          <p:cNvPr id="2" name="Use shared responsibilities to decide">
            <a:extLst xmlns:a="http://schemas.openxmlformats.org/drawingml/2006/main">
              <a:ext uri="{FF2B5EF4-FFF2-40B4-BE49-F238E27FC236}">
                <a16:creationId xmlns:a16="http://schemas.microsoft.com/office/drawing/2014/main" id="{9FDDC174-14C7-4A97-BC7B-B7BFE8BC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Use shared responsibilities to decide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BA4174B-1266-4FBE-AEE1-98078319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All actors need position and velocity, so Actor initializes them.">
            <a:extLst xmlns:a="http://schemas.openxmlformats.org/drawingml/2006/main">
              <a:ext uri="{FF2B5EF4-FFF2-40B4-BE49-F238E27FC236}">
                <a16:creationId xmlns:a16="http://schemas.microsoft.com/office/drawing/2014/main" id="{118C65D1-B8A2-4B63-9EDC-F666FE8C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All actors need position and velocity, so Actor initializes them.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9C416561-331F-4459-AB3D-581EFF45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Only Bullet needs owner, so Bullet defines it.">
            <a:extLst xmlns:a="http://schemas.openxmlformats.org/drawingml/2006/main">
              <a:ext uri="{FF2B5EF4-FFF2-40B4-BE49-F238E27FC236}">
                <a16:creationId xmlns:a16="http://schemas.microsoft.com/office/drawing/2014/main" id="{240E2E1F-F567-48BD-A5B7-B3A96890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Only Bullet needs owner, so Bullet defines it.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7A019326-B357-4B1A-829E-E53F545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Create mutable lists in __init__ when each instance needs its own.">
            <a:extLst xmlns:a="http://schemas.openxmlformats.org/drawingml/2006/main">
              <a:ext uri="{FF2B5EF4-FFF2-40B4-BE49-F238E27FC236}">
                <a16:creationId xmlns:a16="http://schemas.microsoft.com/office/drawing/2014/main" id="{E4F10E2E-0860-47D4-A8A8-249A4306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Create mutable lists in __init__ when each instance needs its own.</a:t>
            </a:r>
          </a:p>
        </p:txBody>
      </p:sp>
      <p:sp>
        <p:nvSpPr>
          <p:cNvPr id="9" name="12">
            <a:extLst xmlns:a="http://schemas.openxmlformats.org/drawingml/2006/main">
              <a:ext uri="{FF2B5EF4-FFF2-40B4-BE49-F238E27FC236}">
                <a16:creationId xmlns:a16="http://schemas.microsoft.com/office/drawing/2014/main" id="{9DFE8A19-300A-4139-88B8-07BB05B0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89903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Overriding and extending behavior">
            <a:extLst xmlns:a="http://schemas.openxmlformats.org/drawingml/2006/main">
              <a:ext uri="{FF2B5EF4-FFF2-40B4-BE49-F238E27FC236}">
                <a16:creationId xmlns:a16="http://schemas.microsoft.com/office/drawing/2014/main" id="{C511552F-D1E4-4A1C-B9A5-C35B2A0C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Overriding and extending behavior</a:t>
            </a:r>
          </a:p>
        </p:txBody>
      </p:sp>
      <p:sp>
        <p:nvSpPr>
          <p:cNvPr id="2" name="Original Bullet.update excerpt">
            <a:extLst xmlns:a="http://schemas.openxmlformats.org/drawingml/2006/main">
              <a:ext uri="{FF2B5EF4-FFF2-40B4-BE49-F238E27FC236}">
                <a16:creationId xmlns:a16="http://schemas.microsoft.com/office/drawing/2014/main" id="{51091C3C-9A2A-40FD-A8A9-A8594394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Original Bullet.update excerpt</a:t>
            </a:r>
          </a:p>
        </p:txBody>
      </p:sp>
      <p:sp>
        <p:nvSpPr>
          <p:cNvPr id="3" name="class Bullet(Actor):">
            <a:extLst xmlns:a="http://schemas.openxmlformats.org/drawingml/2006/main">
              <a:ext uri="{FF2B5EF4-FFF2-40B4-BE49-F238E27FC236}">
                <a16:creationId xmlns:a16="http://schemas.microsoft.com/office/drawing/2014/main" id="{110E1573-B0D5-4E04-B558-37ACAF14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Bullet(Actor):</a:t>
            </a:r>
          </a:p>
        </p:txBody>
      </p:sp>
      <p:sp>
        <p:nvSpPr>
          <p:cNvPr id="4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DB528C59-30B6-45D6-8EBF-145B16F4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5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FF12384B-6F31-4C38-A1BE-69BE2B98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6" name="        if self.rect.bottom &lt; PLAY_AREA.top:">
            <a:extLst xmlns:a="http://schemas.openxmlformats.org/drawingml/2006/main">
              <a:ext uri="{FF2B5EF4-FFF2-40B4-BE49-F238E27FC236}">
                <a16:creationId xmlns:a16="http://schemas.microsoft.com/office/drawing/2014/main" id="{CB07C556-57E6-4ED8-8BBB-6C3F2F48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self.rect.bottom &lt; PLAY_AREA.top:</a:t>
            </a:r>
          </a:p>
        </p:txBody>
      </p:sp>
      <p:sp>
        <p:nvSpPr>
          <p:cNvPr id="7" name="            self.kill()">
            <a:extLst xmlns:a="http://schemas.openxmlformats.org/drawingml/2006/main">
              <a:ext uri="{FF2B5EF4-FFF2-40B4-BE49-F238E27FC236}">
                <a16:creationId xmlns:a16="http://schemas.microsoft.com/office/drawing/2014/main" id="{8A65B873-538E-4F02-B694-72210A01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self.kill()</a:t>
            </a:r>
          </a:p>
        </p:txBody>
      </p:sp>
      <p:sp>
        <p:nvSpPr>
          <p:cNvPr id="8" name="Bullet defines update, so Bullet.update runs first.">
            <a:extLst xmlns:a="http://schemas.openxmlformats.org/drawingml/2006/main">
              <a:ext uri="{FF2B5EF4-FFF2-40B4-BE49-F238E27FC236}">
                <a16:creationId xmlns:a16="http://schemas.microsoft.com/office/drawing/2014/main" id="{70F42F1A-226C-48C4-89DF-3CA268F0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Bullet defines update, so Bullet.update runs first.</a:t>
            </a:r>
          </a:p>
        </p:txBody>
      </p:sp>
      <p:sp>
        <p:nvSpPr>
          <p:cNvPr id="9" name="super() moves the bullet before the exit check.">
            <a:extLst xmlns:a="http://schemas.openxmlformats.org/drawingml/2006/main">
              <a:ext uri="{FF2B5EF4-FFF2-40B4-BE49-F238E27FC236}">
                <a16:creationId xmlns:a16="http://schemas.microsoft.com/office/drawing/2014/main" id="{6455013D-CD1D-467E-A2BF-3B7F84D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super() moves the bullet before the exit check.</a:t>
            </a:r>
          </a:p>
        </p:txBody>
      </p:sp>
      <p:sp>
        <p:nvSpPr>
          <p:cNvPr id="10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DD0889A5-0E40-480F-9029-CBAC5BF4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1" name="13">
            <a:extLst xmlns:a="http://schemas.openxmlformats.org/drawingml/2006/main">
              <a:ext uri="{FF2B5EF4-FFF2-40B4-BE49-F238E27FC236}">
                <a16:creationId xmlns:a16="http://schemas.microsoft.com/office/drawing/2014/main" id="{23E3D828-726D-4FBA-B50A-DC024081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4499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What super() means">
            <a:extLst xmlns:a="http://schemas.openxmlformats.org/drawingml/2006/main">
              <a:ext uri="{FF2B5EF4-FFF2-40B4-BE49-F238E27FC236}">
                <a16:creationId xmlns:a16="http://schemas.microsoft.com/office/drawing/2014/main" id="{D8CFE5F5-BC8D-41A4-96DE-9EF95AA3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What super() means</a:t>
            </a:r>
          </a:p>
        </p:txBody>
      </p:sp>
      <p:sp>
        <p:nvSpPr>
          <p:cNvPr id="2" name="Continue lookup along the method resolution order">
            <a:extLst xmlns:a="http://schemas.openxmlformats.org/drawingml/2006/main">
              <a:ext uri="{FF2B5EF4-FFF2-40B4-BE49-F238E27FC236}">
                <a16:creationId xmlns:a16="http://schemas.microsoft.com/office/drawing/2014/main" id="{F579C37B-5384-4D21-B0D6-41B7A48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Continue lookup along the method resolution order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D15D07F0-68D9-40AE-984C-A3B5ABFF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super() returns a proxy that searches after the current class in the MRO.">
            <a:extLst xmlns:a="http://schemas.openxmlformats.org/drawingml/2006/main">
              <a:ext uri="{FF2B5EF4-FFF2-40B4-BE49-F238E27FC236}">
                <a16:creationId xmlns:a16="http://schemas.microsoft.com/office/drawing/2014/main" id="{6303C6B3-3870-47D5-BD18-CD1C3356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super() returns a proxy that searches after the current class in the MRO.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A4B0E18A-6C4A-40D6-87F1-22661CE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In this single-inheritance example, it finds Actor.update.">
            <a:extLst xmlns:a="http://schemas.openxmlformats.org/drawingml/2006/main">
              <a:ext uri="{FF2B5EF4-FFF2-40B4-BE49-F238E27FC236}">
                <a16:creationId xmlns:a16="http://schemas.microsoft.com/office/drawing/2014/main" id="{06311FCF-847D-43FE-A8C4-996AAF3D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In this single-inheritance example, it finds Actor.update.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323AD886-148C-4E83-889A-B082EC61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self remains the original Bullet; no separate Actor is created.">
            <a:extLst xmlns:a="http://schemas.openxmlformats.org/drawingml/2006/main">
              <a:ext uri="{FF2B5EF4-FFF2-40B4-BE49-F238E27FC236}">
                <a16:creationId xmlns:a16="http://schemas.microsoft.com/office/drawing/2014/main" id="{8B692743-E832-4642-BC13-C32F006B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self remains the original Bullet; no separate Actor is created.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3A9C4870-E524-4070-9174-03418DC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78945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dding a fast enemy">
            <a:extLst xmlns:a="http://schemas.openxmlformats.org/drawingml/2006/main">
              <a:ext uri="{FF2B5EF4-FFF2-40B4-BE49-F238E27FC236}">
                <a16:creationId xmlns:a16="http://schemas.microsoft.com/office/drawing/2014/main" id="{9BC414E8-11B4-474A-841D-E0EA8399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Adding a fast enemy</a:t>
            </a:r>
          </a:p>
        </p:txBody>
      </p:sp>
      <p:sp>
        <p:nvSpPr>
          <p:cNvPr id="2" name="Works with the original actors.py; changes defaults">
            <a:extLst xmlns:a="http://schemas.openxmlformats.org/drawingml/2006/main">
              <a:ext uri="{FF2B5EF4-FFF2-40B4-BE49-F238E27FC236}">
                <a16:creationId xmlns:a16="http://schemas.microsoft.com/office/drawing/2014/main" id="{D2D8DB45-E058-4111-8A96-C28F134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Works with the original actors.py; changes defaults</a:t>
            </a:r>
          </a:p>
        </p:txBody>
      </p:sp>
      <p:sp>
        <p:nvSpPr>
          <p:cNvPr id="3" name="class FastEnemy(Enemy):">
            <a:extLst xmlns:a="http://schemas.openxmlformats.org/drawingml/2006/main">
              <a:ext uri="{FF2B5EF4-FFF2-40B4-BE49-F238E27FC236}">
                <a16:creationId xmlns:a16="http://schemas.microsoft.com/office/drawing/2014/main" id="{95ADFE80-885A-4056-A9EA-71CA0EB3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FastEnemy(Enemy):</a:t>
            </a:r>
          </a:p>
        </p:txBody>
      </p:sp>
      <p:sp>
        <p:nvSpPr>
          <p:cNvPr id="4" name="    def __init__(self, name, position):">
            <a:extLst xmlns:a="http://schemas.openxmlformats.org/drawingml/2006/main">
              <a:ext uri="{FF2B5EF4-FFF2-40B4-BE49-F238E27FC236}">
                <a16:creationId xmlns:a16="http://schemas.microsoft.com/office/drawing/2014/main" id="{6F517EEC-4235-441A-AEE6-8C48BD0C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position):</a:t>
            </a:r>
          </a:p>
        </p:txBody>
      </p:sp>
      <p:sp>
        <p:nvSpPr>
          <p:cNvPr id="5" name="        super().__init__(name, position, speed=160)">
            <a:extLst xmlns:a="http://schemas.openxmlformats.org/drawingml/2006/main">
              <a:ext uri="{FF2B5EF4-FFF2-40B4-BE49-F238E27FC236}">
                <a16:creationId xmlns:a16="http://schemas.microsoft.com/office/drawing/2014/main" id="{BA5820B8-9600-45CE-BB4C-38E8DBBF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position, speed=160)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A807E-E96A-4026-BB54-977D64B3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fast = FastEnemy(&quot;F01&quot;, (200, 100))">
            <a:extLst xmlns:a="http://schemas.openxmlformats.org/drawingml/2006/main">
              <a:ext uri="{FF2B5EF4-FFF2-40B4-BE49-F238E27FC236}">
                <a16:creationId xmlns:a16="http://schemas.microsoft.com/office/drawing/2014/main" id="{318347AF-DC67-4076-ABA5-76C5B91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fast = FastEnemy("F01", (200, 100))</a:t>
            </a:r>
          </a:p>
        </p:txBody>
      </p:sp>
      <p:sp>
        <p:nvSpPr>
          <p:cNvPr id="8" name="fast.update(0.25)">
            <a:extLst xmlns:a="http://schemas.openxmlformats.org/drawingml/2006/main">
              <a:ext uri="{FF2B5EF4-FFF2-40B4-BE49-F238E27FC236}">
                <a16:creationId xmlns:a16="http://schemas.microsoft.com/office/drawing/2014/main" id="{B15FA071-F8A6-4A23-A169-45EE1F48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fast.update(0.25)</a:t>
            </a:r>
          </a:p>
        </p:txBody>
      </p:sp>
      <p:sp>
        <p:nvSpPr>
          <p:cNvPr id="9" name="print(fast.pos.y)  # 140.0">
            <a:extLst xmlns:a="http://schemas.openxmlformats.org/drawingml/2006/main">
              <a:ext uri="{FF2B5EF4-FFF2-40B4-BE49-F238E27FC236}">
                <a16:creationId xmlns:a16="http://schemas.microsoft.com/office/drawing/2014/main" id="{22581C0D-7094-4B20-8369-69D661AF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print(fast.pos.y)  # 140.0</a:t>
            </a:r>
          </a:p>
        </p:txBody>
      </p:sp>
      <p:sp>
        <p:nvSpPr>
          <p:cNvPr id="10" name="FastEnemy inherits hit handling and movement.">
            <a:extLst xmlns:a="http://schemas.openxmlformats.org/drawingml/2006/main">
              <a:ext uri="{FF2B5EF4-FFF2-40B4-BE49-F238E27FC236}">
                <a16:creationId xmlns:a16="http://schemas.microsoft.com/office/drawing/2014/main" id="{4034A991-8CDF-4E70-8B31-FF426070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FastEnemy inherits hit handling and movement.</a:t>
            </a:r>
          </a:p>
        </p:txBody>
      </p:sp>
      <p:sp>
        <p:nvSpPr>
          <p:cNvPr id="11" name="For a speed-only difference, passing speed=160 also works.">
            <a:extLst xmlns:a="http://schemas.openxmlformats.org/drawingml/2006/main">
              <a:ext uri="{FF2B5EF4-FFF2-40B4-BE49-F238E27FC236}">
                <a16:creationId xmlns:a16="http://schemas.microsoft.com/office/drawing/2014/main" id="{84EAF299-3CE2-42AD-9F32-6A9E481B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For a speed-only difference, passing speed=160 also works.</a:t>
            </a:r>
          </a:p>
        </p:txBody>
      </p:sp>
      <p:sp>
        <p:nvSpPr>
          <p:cNvPr id="12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ADB6D988-7E93-41F6-A18F-B03932EB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3" name="15">
            <a:extLst xmlns:a="http://schemas.openxmlformats.org/drawingml/2006/main">
              <a:ext uri="{FF2B5EF4-FFF2-40B4-BE49-F238E27FC236}">
                <a16:creationId xmlns:a16="http://schemas.microsoft.com/office/drawing/2014/main" id="{D114C4A9-A644-4F62-889B-74A3A8A1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692435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dding a diagonal enemy">
            <a:extLst xmlns:a="http://schemas.openxmlformats.org/drawingml/2006/main">
              <a:ext uri="{FF2B5EF4-FFF2-40B4-BE49-F238E27FC236}">
                <a16:creationId xmlns:a16="http://schemas.microsoft.com/office/drawing/2014/main" id="{EBBC8381-B30B-4C98-A917-2C1707BF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Adding a diagonal enemy</a:t>
            </a:r>
          </a:p>
        </p:txBody>
      </p:sp>
      <p:sp>
        <p:nvSpPr>
          <p:cNvPr id="2" name="Override update and reuse the movement calculation">
            <a:extLst xmlns:a="http://schemas.openxmlformats.org/drawingml/2006/main">
              <a:ext uri="{FF2B5EF4-FFF2-40B4-BE49-F238E27FC236}">
                <a16:creationId xmlns:a16="http://schemas.microsoft.com/office/drawing/2014/main" id="{57D58EC5-8B14-4322-904F-AB9C125D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Override update and reuse the movement calculation</a:t>
            </a:r>
          </a:p>
        </p:txBody>
      </p:sp>
      <p:sp>
        <p:nvSpPr>
          <p:cNvPr id="3" name="class DiagonalEnemy(Enemy):">
            <a:extLst xmlns:a="http://schemas.openxmlformats.org/drawingml/2006/main">
              <a:ext uri="{FF2B5EF4-FFF2-40B4-BE49-F238E27FC236}">
                <a16:creationId xmlns:a16="http://schemas.microsoft.com/office/drawing/2014/main" id="{505DA1FA-B98D-4F00-916D-9B7F4B9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DiagonalEnemy(Enemy):</a:t>
            </a:r>
          </a:p>
        </p:txBody>
      </p:sp>
      <p:sp>
        <p:nvSpPr>
          <p:cNvPr id="4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553E8EF9-17A3-438B-ABF8-2AE31250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5" name="        self.velocity.x = 60">
            <a:extLst xmlns:a="http://schemas.openxmlformats.org/drawingml/2006/main">
              <a:ext uri="{FF2B5EF4-FFF2-40B4-BE49-F238E27FC236}">
                <a16:creationId xmlns:a16="http://schemas.microsoft.com/office/drawing/2014/main" id="{13BA1198-FB75-4E30-B057-F018306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self.velocity.x = 60</a:t>
            </a:r>
          </a:p>
        </p:txBody>
      </p:sp>
      <p:sp>
        <p:nvSpPr>
          <p:cNvPr id="6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4798FBF3-652B-46D5-A4D5-D2DA3945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10C8E-3A91-4207-844C-1FFFF3E6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diagonal = DiagonalEnemy(&quot;D01&quot;, (200, 100))">
            <a:extLst xmlns:a="http://schemas.openxmlformats.org/drawingml/2006/main">
              <a:ext uri="{FF2B5EF4-FFF2-40B4-BE49-F238E27FC236}">
                <a16:creationId xmlns:a16="http://schemas.microsoft.com/office/drawing/2014/main" id="{00B75C57-DDA4-4916-87DB-42ADE6E4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diagonal = DiagonalEnemy("D01", (200, 100))</a:t>
            </a:r>
          </a:p>
        </p:txBody>
      </p:sp>
      <p:sp>
        <p:nvSpPr>
          <p:cNvPr id="9" name="diagonal.update(0.25)">
            <a:extLst xmlns:a="http://schemas.openxmlformats.org/drawingml/2006/main">
              <a:ext uri="{FF2B5EF4-FFF2-40B4-BE49-F238E27FC236}">
                <a16:creationId xmlns:a16="http://schemas.microsoft.com/office/drawing/2014/main" id="{CCBC1862-5A5D-406D-B858-D2E5EF25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diagonal.update(0.25)</a:t>
            </a:r>
          </a:p>
        </p:txBody>
      </p:sp>
      <p:sp>
        <p:nvSpPr>
          <p:cNvPr id="10" name="print(tuple(diagonal.pos))  # (215.0, 120.0)">
            <a:extLst xmlns:a="http://schemas.openxmlformats.org/drawingml/2006/main">
              <a:ext uri="{FF2B5EF4-FFF2-40B4-BE49-F238E27FC236}">
                <a16:creationId xmlns:a16="http://schemas.microsoft.com/office/drawing/2014/main" id="{3CCA8C47-4181-4896-A878-FCAB0EFD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print(tuple(diagonal.pos))  # (215.0, 120.0)</a:t>
            </a:r>
          </a:p>
        </p:txBody>
      </p:sp>
      <p:sp>
        <p:nvSpPr>
          <p:cNvPr id="11" name="Set horizontal velocity, then call super() to move once.">
            <a:extLst xmlns:a="http://schemas.openxmlformats.org/drawingml/2006/main">
              <a:ext uri="{FF2B5EF4-FFF2-40B4-BE49-F238E27FC236}">
                <a16:creationId xmlns:a16="http://schemas.microsoft.com/office/drawing/2014/main" id="{AD1E2BA4-B301-4AFD-9E3B-3804DA62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Set horizontal velocity, then call super() to move once.</a:t>
            </a:r>
          </a:p>
        </p:txBody>
      </p:sp>
      <p:sp>
        <p:nvSpPr>
          <p:cNvPr id="12" name="Call chain: DiagonalEnemy.update, then Actor.update.">
            <a:extLst xmlns:a="http://schemas.openxmlformats.org/drawingml/2006/main">
              <a:ext uri="{FF2B5EF4-FFF2-40B4-BE49-F238E27FC236}">
                <a16:creationId xmlns:a16="http://schemas.microsoft.com/office/drawing/2014/main" id="{CEF5457B-5645-48A1-8EDC-F96AC6C9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Call chain: DiagonalEnemy.update, then Actor.update.</a:t>
            </a:r>
          </a:p>
        </p:txBody>
      </p:sp>
      <p:sp>
        <p:nvSpPr>
          <p:cNvPr id="13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BB057D29-F030-4815-B34B-E271994A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4A84EF0C-7417-4ABF-B604-95170AC7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00141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ne update step">
            <a:extLst xmlns:a="http://schemas.openxmlformats.org/drawingml/2006/main">
              <a:ext uri="{FF2B5EF4-FFF2-40B4-BE49-F238E27FC236}">
                <a16:creationId xmlns:a16="http://schemas.microsoft.com/office/drawing/2014/main" id="{43AB4698-6C4C-48A6-BE9D-663F372C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One update step</a:t>
            </a:r>
          </a:p>
        </p:txBody>
      </p:sp>
      <p:sp>
        <p:nvSpPr>
          <p:cNvPr id="2" name="Start (200, 100), dt = 0.25 seconds">
            <a:extLst xmlns:a="http://schemas.openxmlformats.org/drawingml/2006/main">
              <a:ext uri="{FF2B5EF4-FFF2-40B4-BE49-F238E27FC236}">
                <a16:creationId xmlns:a16="http://schemas.microsoft.com/office/drawing/2014/main" id="{3851A367-0148-46AA-8879-A53819DE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Start (200, 100), dt = 0.25 seconds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F2F0E-2749-4438-81DA-D5A6E61D58F2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33875"/>
                <a:gridCol w="4333875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Class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velocity (x, y)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pos (x, y)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(0, 80)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(200, 120)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FastEnemy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(0, 160)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(200, 140)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DiagonalEnemy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(60, 80)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(215, 120)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Each object uses its own velocity for update(dt).">
            <a:extLst xmlns:a="http://schemas.openxmlformats.org/drawingml/2006/main">
              <a:ext uri="{FF2B5EF4-FFF2-40B4-BE49-F238E27FC236}">
                <a16:creationId xmlns:a16="http://schemas.microsoft.com/office/drawing/2014/main" id="{CE384217-BC5B-4AD8-8367-C94A59B8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Each object uses its own velocity for update(dt).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616DD298-E2E7-43DD-B443-46458940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345949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mmon mistakes">
            <a:extLst xmlns:a="http://schemas.openxmlformats.org/drawingml/2006/main">
              <a:ext uri="{FF2B5EF4-FFF2-40B4-BE49-F238E27FC236}">
                <a16:creationId xmlns:a16="http://schemas.microsoft.com/office/drawing/2014/main" id="{42F507CA-5AFA-49F9-B0E1-A345AD68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Common mistakes</a:t>
            </a:r>
          </a:p>
        </p:txBody>
      </p:sp>
      <p:sp>
        <p:nvSpPr>
          <p:cNvPr id="2" name="Check call order and method contracts">
            <a:extLst xmlns:a="http://schemas.openxmlformats.org/drawingml/2006/main">
              <a:ext uri="{FF2B5EF4-FFF2-40B4-BE49-F238E27FC236}">
                <a16:creationId xmlns:a16="http://schemas.microsoft.com/office/drawing/2014/main" id="{0424A681-4EA6-4FB8-AA33-C4A5DD7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Check call order and method contracts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A1A08327-75CF-44F0-A6CB-C2B31552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Missing required base initialization can leave pos or rect undefined.">
            <a:extLst xmlns:a="http://schemas.openxmlformats.org/drawingml/2006/main">
              <a:ext uri="{FF2B5EF4-FFF2-40B4-BE49-F238E27FC236}">
                <a16:creationId xmlns:a16="http://schemas.microsoft.com/office/drawing/2014/main" id="{5E16C9F5-6397-4F29-A7DE-A0670514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Missing required base initialization can leave pos or rect undefined.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821A241C-F77E-4ED3-968E-60EF7324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Moving manually and calling super().update can move twice.">
            <a:extLst xmlns:a="http://schemas.openxmlformats.org/drawingml/2006/main">
              <a:ext uri="{FF2B5EF4-FFF2-40B4-BE49-F238E27FC236}">
                <a16:creationId xmlns:a16="http://schemas.microsoft.com/office/drawing/2014/main" id="{45200853-FFFE-4027-A412-96714ED9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Moving manually and calling super().update can move twice.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D4D53D2D-4B2C-4EFE-9021-7BB93C3F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Changing update(self, dt) to update(self) breaks existing calls.">
            <a:extLst xmlns:a="http://schemas.openxmlformats.org/drawingml/2006/main">
              <a:ext uri="{FF2B5EF4-FFF2-40B4-BE49-F238E27FC236}">
                <a16:creationId xmlns:a16="http://schemas.microsoft.com/office/drawing/2014/main" id="{259268BF-6F1C-4616-BF60-5F1616C4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Changing update(self, dt) to update(self) breaks existing calls.</a:t>
            </a:r>
          </a:p>
        </p:txBody>
      </p:sp>
      <p:sp>
        <p:nvSpPr>
          <p:cNvPr id="9" name="18">
            <a:extLst xmlns:a="http://schemas.openxmlformats.org/drawingml/2006/main">
              <a:ext uri="{FF2B5EF4-FFF2-40B4-BE49-F238E27FC236}">
                <a16:creationId xmlns:a16="http://schemas.microsoft.com/office/drawing/2014/main" id="{8DD8F9DC-E96D-432D-B832-B220170E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0374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s-a and has-a">
            <a:extLst xmlns:a="http://schemas.openxmlformats.org/drawingml/2006/main">
              <a:ext uri="{FF2B5EF4-FFF2-40B4-BE49-F238E27FC236}">
                <a16:creationId xmlns:a16="http://schemas.microsoft.com/office/drawing/2014/main" id="{BFC35A46-3264-4EB2-8433-10072CB3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Is-a and has-a</a:t>
            </a:r>
          </a:p>
        </p:txBody>
      </p:sp>
      <p:sp>
        <p:nvSpPr>
          <p:cNvPr id="2" name="Inheritance and references serve different purposes">
            <a:extLst xmlns:a="http://schemas.openxmlformats.org/drawingml/2006/main">
              <a:ext uri="{FF2B5EF4-FFF2-40B4-BE49-F238E27FC236}">
                <a16:creationId xmlns:a16="http://schemas.microsoft.com/office/drawing/2014/main" id="{F128A458-1E15-4CE9-A336-49EF1E7F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Inheritance and references serve different purposes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48B8445-18F0-41D6-8CB8-26771E9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Enemy is an Actor and should honor its interface and behavior.">
            <a:extLst xmlns:a="http://schemas.openxmlformats.org/drawingml/2006/main">
              <a:ext uri="{FF2B5EF4-FFF2-40B4-BE49-F238E27FC236}">
                <a16:creationId xmlns:a16="http://schemas.microsoft.com/office/drawing/2014/main" id="{AA5F1E2C-98DD-4FE1-8C4B-240D596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Enemy is an Actor and should honor its interface and behavior.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009A8F53-32AD-41DD-AF12-311FC48F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Bullet has an owner reference to Player; it does not inherit Player.">
            <a:extLst xmlns:a="http://schemas.openxmlformats.org/drawingml/2006/main">
              <a:ext uri="{FF2B5EF4-FFF2-40B4-BE49-F238E27FC236}">
                <a16:creationId xmlns:a16="http://schemas.microsoft.com/office/drawing/2014/main" id="{276E7D0A-7E4A-493A-8AAF-0BAF04E9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Bullet has an owner reference to Player; it does not inherit Player.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85583D0D-5CFB-4955-8206-2BFF1955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Inheriting only to borrow a convenient method can create a poor model.">
            <a:extLst xmlns:a="http://schemas.openxmlformats.org/drawingml/2006/main">
              <a:ext uri="{FF2B5EF4-FFF2-40B4-BE49-F238E27FC236}">
                <a16:creationId xmlns:a16="http://schemas.microsoft.com/office/drawing/2014/main" id="{7E675BF4-BADC-42F6-8F83-3F91ADDE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Inheriting only to borrow a convenient method can create a poor model.</a:t>
            </a:r>
          </a:p>
        </p:txBody>
      </p:sp>
      <p:sp>
        <p:nvSpPr>
          <p:cNvPr id="9" name="19">
            <a:extLst xmlns:a="http://schemas.openxmlformats.org/drawingml/2006/main">
              <a:ext uri="{FF2B5EF4-FFF2-40B4-BE49-F238E27FC236}">
                <a16:creationId xmlns:a16="http://schemas.microsoft.com/office/drawing/2014/main" id="{8D1CB702-578D-4C8A-AE72-F92DF7DC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18017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bstitutability">
            <a:extLst xmlns:a="http://schemas.openxmlformats.org/drawingml/2006/main">
              <a:ext uri="{FF2B5EF4-FFF2-40B4-BE49-F238E27FC236}">
                <a16:creationId xmlns:a16="http://schemas.microsoft.com/office/drawing/2014/main" id="{E741E0CE-59CE-44E5-9EA7-6F8461C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Substitutability</a:t>
            </a:r>
          </a:p>
        </p:txBody>
      </p:sp>
      <p:sp>
        <p:nvSpPr>
          <p:cNvPr id="2" name="The caller relies on the shared update(dt) contract">
            <a:extLst xmlns:a="http://schemas.openxmlformats.org/drawingml/2006/main">
              <a:ext uri="{FF2B5EF4-FFF2-40B4-BE49-F238E27FC236}">
                <a16:creationId xmlns:a16="http://schemas.microsoft.com/office/drawing/2014/main" id="{CC702470-F972-4E40-87A7-A5A5276F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caller relies on the shared update(dt) contract</a:t>
            </a:r>
          </a:p>
        </p:txBody>
      </p:sp>
      <p:sp>
        <p:nvSpPr>
          <p:cNvPr id="3" name="enemies = [">
            <a:extLst xmlns:a="http://schemas.openxmlformats.org/drawingml/2006/main">
              <a:ext uri="{FF2B5EF4-FFF2-40B4-BE49-F238E27FC236}">
                <a16:creationId xmlns:a16="http://schemas.microsoft.com/office/drawing/2014/main" id="{C79D899A-EB27-4A8E-BCCD-EBC517F9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enemies = [</a:t>
            </a:r>
          </a:p>
        </p:txBody>
      </p:sp>
      <p:sp>
        <p:nvSpPr>
          <p:cNvPr id="4" name="    Enemy(&quot;E01&quot;, (200, 100)),">
            <a:extLst xmlns:a="http://schemas.openxmlformats.org/drawingml/2006/main">
              <a:ext uri="{FF2B5EF4-FFF2-40B4-BE49-F238E27FC236}">
                <a16:creationId xmlns:a16="http://schemas.microsoft.com/office/drawing/2014/main" id="{AA9CABC8-B97B-4A28-8BE5-C1FA9F55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Enemy("E01", (200, 100)),</a:t>
            </a:r>
          </a:p>
        </p:txBody>
      </p:sp>
      <p:sp>
        <p:nvSpPr>
          <p:cNvPr id="5" name="    FastEnemy(&quot;F01&quot;, (200, 100)),">
            <a:extLst xmlns:a="http://schemas.openxmlformats.org/drawingml/2006/main">
              <a:ext uri="{FF2B5EF4-FFF2-40B4-BE49-F238E27FC236}">
                <a16:creationId xmlns:a16="http://schemas.microsoft.com/office/drawing/2014/main" id="{AF30FA36-AEF2-4CAF-BE2C-5045D1CC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FastEnemy("F01", (200, 100)),</a:t>
            </a:r>
          </a:p>
        </p:txBody>
      </p:sp>
      <p:sp>
        <p:nvSpPr>
          <p:cNvPr id="6" name="    DiagonalEnemy(&quot;D01&quot;, (200, 100)),">
            <a:extLst xmlns:a="http://schemas.openxmlformats.org/drawingml/2006/main">
              <a:ext uri="{FF2B5EF4-FFF2-40B4-BE49-F238E27FC236}">
                <a16:creationId xmlns:a16="http://schemas.microsoft.com/office/drawing/2014/main" id="{D1A55C87-2D59-4F7C-9555-0CB66D4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DiagonalEnemy("D01", (200, 100)),</a:t>
            </a:r>
          </a:p>
        </p:txBody>
      </p:sp>
      <p:sp>
        <p:nvSpPr>
          <p:cNvPr id="7" name="]">
            <a:extLst xmlns:a="http://schemas.openxmlformats.org/drawingml/2006/main">
              <a:ext uri="{FF2B5EF4-FFF2-40B4-BE49-F238E27FC236}">
                <a16:creationId xmlns:a16="http://schemas.microsoft.com/office/drawing/2014/main" id="{DE402911-ED2E-4F2D-BD9E-46DAB7F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8" name="for enemy in enemies:">
            <a:extLst xmlns:a="http://schemas.openxmlformats.org/drawingml/2006/main">
              <a:ext uri="{FF2B5EF4-FFF2-40B4-BE49-F238E27FC236}">
                <a16:creationId xmlns:a16="http://schemas.microsoft.com/office/drawing/2014/main" id="{1F38F044-1508-4628-A672-3CF66E93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for enemy in enemies:</a:t>
            </a:r>
          </a:p>
        </p:txBody>
      </p:sp>
      <p:sp>
        <p:nvSpPr>
          <p:cNvPr id="9" name="    enemy.update(0.25)">
            <a:extLst xmlns:a="http://schemas.openxmlformats.org/drawingml/2006/main">
              <a:ext uri="{FF2B5EF4-FFF2-40B4-BE49-F238E27FC236}">
                <a16:creationId xmlns:a16="http://schemas.microsoft.com/office/drawing/2014/main" id="{7DB89BAA-120F-457D-980D-3026F548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enemy.update(0.25)</a:t>
            </a:r>
          </a:p>
        </p:txBody>
      </p:sp>
      <p:sp>
        <p:nvSpPr>
          <p:cNvPr id="10" name="Subclasses preserve seconds as input and synchronize pos and rect.">
            <a:extLst xmlns:a="http://schemas.openxmlformats.org/drawingml/2006/main">
              <a:ext uri="{FF2B5EF4-FFF2-40B4-BE49-F238E27FC236}">
                <a16:creationId xmlns:a16="http://schemas.microsoft.com/office/drawing/2014/main" id="{B7365662-4BFC-467E-81A6-DB189FF1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Subclasses preserve seconds as input and synchronize pos and rect.</a:t>
            </a:r>
          </a:p>
        </p:txBody>
      </p:sp>
      <p:sp>
        <p:nvSpPr>
          <p:cNvPr id="11" name="Matching names alone is insufficient; behavior must meet caller expectations.">
            <a:extLst xmlns:a="http://schemas.openxmlformats.org/drawingml/2006/main">
              <a:ext uri="{FF2B5EF4-FFF2-40B4-BE49-F238E27FC236}">
                <a16:creationId xmlns:a16="http://schemas.microsoft.com/office/drawing/2014/main" id="{35AEA0FA-F029-4841-A169-BD4FF46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Matching names alone is insufficient; behavior must meet caller expectations.</a:t>
            </a:r>
          </a:p>
        </p:txBody>
      </p:sp>
      <p:sp>
        <p:nvSpPr>
          <p:cNvPr id="12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D2A691F8-4DD5-4FEB-A14F-7EFD6DED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3" name="20">
            <a:extLst xmlns:a="http://schemas.openxmlformats.org/drawingml/2006/main">
              <a:ext uri="{FF2B5EF4-FFF2-40B4-BE49-F238E27FC236}">
                <a16:creationId xmlns:a16="http://schemas.microsoft.com/office/drawing/2014/main" id="{9BDFFCE9-7040-4EAF-82CC-68BF361D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618427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ultiple inheritance and MRO">
            <a:extLst xmlns:a="http://schemas.openxmlformats.org/drawingml/2006/main">
              <a:ext uri="{FF2B5EF4-FFF2-40B4-BE49-F238E27FC236}">
                <a16:creationId xmlns:a16="http://schemas.microsoft.com/office/drawing/2014/main" id="{2A75A36A-F8AC-4123-9A99-47C09ECF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Multiple inheritance and MRO</a:t>
            </a:r>
          </a:p>
        </p:txBody>
      </p:sp>
      <p:sp>
        <p:nvSpPr>
          <p:cNvPr id="2" name="Standalone example; the game hierarchy is unchanged">
            <a:extLst xmlns:a="http://schemas.openxmlformats.org/drawingml/2006/main">
              <a:ext uri="{FF2B5EF4-FFF2-40B4-BE49-F238E27FC236}">
                <a16:creationId xmlns:a16="http://schemas.microsoft.com/office/drawing/2014/main" id="{3CBFF587-87D3-4EF3-91BF-6D4355A9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Standalone example; the game hierarchy is unchanged</a:t>
            </a:r>
          </a:p>
        </p:txBody>
      </p:sp>
      <p:sp>
        <p:nvSpPr>
          <p:cNvPr id="3" name="class A: pass">
            <a:extLst xmlns:a="http://schemas.openxmlformats.org/drawingml/2006/main">
              <a:ext uri="{FF2B5EF4-FFF2-40B4-BE49-F238E27FC236}">
                <a16:creationId xmlns:a16="http://schemas.microsoft.com/office/drawing/2014/main" id="{29E2ACAD-6468-41BD-A28E-BDA8AF63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A: pass</a:t>
            </a:r>
          </a:p>
        </p:txBody>
      </p:sp>
      <p:sp>
        <p:nvSpPr>
          <p:cNvPr id="4" name="class B(A): pass">
            <a:extLst xmlns:a="http://schemas.openxmlformats.org/drawingml/2006/main">
              <a:ext uri="{FF2B5EF4-FFF2-40B4-BE49-F238E27FC236}">
                <a16:creationId xmlns:a16="http://schemas.microsoft.com/office/drawing/2014/main" id="{982979EB-DAAE-4C89-9478-874FE41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B(A): pass</a:t>
            </a:r>
          </a:p>
        </p:txBody>
      </p:sp>
      <p:sp>
        <p:nvSpPr>
          <p:cNvPr id="5" name="class C(A): pass">
            <a:extLst xmlns:a="http://schemas.openxmlformats.org/drawingml/2006/main">
              <a:ext uri="{FF2B5EF4-FFF2-40B4-BE49-F238E27FC236}">
                <a16:creationId xmlns:a16="http://schemas.microsoft.com/office/drawing/2014/main" id="{4AA2E13F-39C3-445F-A67F-E1F2DF5D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C(A): pass</a:t>
            </a:r>
          </a:p>
        </p:txBody>
      </p:sp>
      <p:sp>
        <p:nvSpPr>
          <p:cNvPr id="6" name="class D(B, C): pass">
            <a:extLst xmlns:a="http://schemas.openxmlformats.org/drawingml/2006/main">
              <a:ext uri="{FF2B5EF4-FFF2-40B4-BE49-F238E27FC236}">
                <a16:creationId xmlns:a16="http://schemas.microsoft.com/office/drawing/2014/main" id="{3D1885CE-8939-4D2F-B21F-9905DE02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D(B, C):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95278-785D-449E-9982-CA2E65E6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print([cls.__name__ for cls in D.__mro__])">
            <a:extLst xmlns:a="http://schemas.openxmlformats.org/drawingml/2006/main">
              <a:ext uri="{FF2B5EF4-FFF2-40B4-BE49-F238E27FC236}">
                <a16:creationId xmlns:a16="http://schemas.microsoft.com/office/drawing/2014/main" id="{EC9F24EA-57D2-4050-815C-F9536141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print([cls.__name__ for cls in D.__mro__])</a:t>
            </a:r>
          </a:p>
        </p:txBody>
      </p:sp>
      <p:sp>
        <p:nvSpPr>
          <p:cNvPr id="9" name="# [&quot;D&quot;, &quot;B&quot;, &quot;C&quot;, &quot;A&quot;, &quot;object&quot;]">
            <a:extLst xmlns:a="http://schemas.openxmlformats.org/drawingml/2006/main">
              <a:ext uri="{FF2B5EF4-FFF2-40B4-BE49-F238E27FC236}">
                <a16:creationId xmlns:a16="http://schemas.microsoft.com/office/drawing/2014/main" id="{6685D2AD-A395-42B7-9837-5596A26B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["D", "B", "C", "A", "object"]</a:t>
            </a:r>
          </a:p>
        </p:txBody>
      </p:sp>
      <p:sp>
        <p:nvSpPr>
          <p:cNvPr id="10" name="MRO is the method resolution order, computed with C3 linearization.">
            <a:extLst xmlns:a="http://schemas.openxmlformats.org/drawingml/2006/main">
              <a:ext uri="{FF2B5EF4-FFF2-40B4-BE49-F238E27FC236}">
                <a16:creationId xmlns:a16="http://schemas.microsoft.com/office/drawing/2014/main" id="{0A2E03DE-29ED-474B-B0CA-2546E1F7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MRO is the method resolution order, computed with C3 linearization.</a:t>
            </a:r>
          </a:p>
        </p:txBody>
      </p:sp>
      <p:sp>
        <p:nvSpPr>
          <p:cNvPr id="11" name="The order for D is D, B, C, A, object.">
            <a:extLst xmlns:a="http://schemas.openxmlformats.org/drawingml/2006/main">
              <a:ext uri="{FF2B5EF4-FFF2-40B4-BE49-F238E27FC236}">
                <a16:creationId xmlns:a16="http://schemas.microsoft.com/office/drawing/2014/main" id="{3944ADA2-7090-4035-9551-E2687C3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order for D is D, B, C, A, object.</a:t>
            </a:r>
          </a:p>
        </p:txBody>
      </p:sp>
      <p:sp>
        <p:nvSpPr>
          <p:cNvPr id="12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13B8AA69-56DA-48ED-8F33-0E476E39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3" name="21">
            <a:extLst xmlns:a="http://schemas.openxmlformats.org/drawingml/2006/main">
              <a:ext uri="{FF2B5EF4-FFF2-40B4-BE49-F238E27FC236}">
                <a16:creationId xmlns:a16="http://schemas.microsoft.com/office/drawing/2014/main" id="{C92C9BB5-6E24-4DE1-B60C-7101F687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816243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operative super() calls">
            <a:extLst xmlns:a="http://schemas.openxmlformats.org/drawingml/2006/main">
              <a:ext uri="{FF2B5EF4-FFF2-40B4-BE49-F238E27FC236}">
                <a16:creationId xmlns:a16="http://schemas.microsoft.com/office/drawing/2014/main" id="{D68E5FD0-6812-4369-B06F-4E304585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Cooperative super() calls</a:t>
            </a:r>
          </a:p>
        </p:txBody>
      </p:sp>
      <p:sp>
        <p:nvSpPr>
          <p:cNvPr id="2" name="Recreate D(B, C) after defining these classes">
            <a:extLst xmlns:a="http://schemas.openxmlformats.org/drawingml/2006/main">
              <a:ext uri="{FF2B5EF4-FFF2-40B4-BE49-F238E27FC236}">
                <a16:creationId xmlns:a16="http://schemas.microsoft.com/office/drawing/2014/main" id="{8F4419A6-8740-4E87-8775-B144E370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Recreate D(B, C) after defining these classes</a:t>
            </a:r>
          </a:p>
        </p:txBody>
      </p:sp>
      <p:sp>
        <p:nvSpPr>
          <p:cNvPr id="3" name="class A:">
            <a:extLst xmlns:a="http://schemas.openxmlformats.org/drawingml/2006/main">
              <a:ext uri="{FF2B5EF4-FFF2-40B4-BE49-F238E27FC236}">
                <a16:creationId xmlns:a16="http://schemas.microsoft.com/office/drawing/2014/main" id="{BCFFF587-48F2-4E7D-B27E-003D670C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A:</a:t>
            </a:r>
          </a:p>
        </p:txBody>
      </p:sp>
      <p:sp>
        <p:nvSpPr>
          <p:cNvPr id="4" name="    def act(self): print(&quot;A&quot;)">
            <a:extLst xmlns:a="http://schemas.openxmlformats.org/drawingml/2006/main">
              <a:ext uri="{FF2B5EF4-FFF2-40B4-BE49-F238E27FC236}">
                <a16:creationId xmlns:a16="http://schemas.microsoft.com/office/drawing/2014/main" id="{C88C5DB1-95A0-4AA7-9AE5-7E284F7C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8838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act(self): print("A")</a:t>
            </a:r>
          </a:p>
        </p:txBody>
      </p:sp>
      <p:sp>
        <p:nvSpPr>
          <p:cNvPr id="5" name="class B(A):">
            <a:extLst xmlns:a="http://schemas.openxmlformats.org/drawingml/2006/main">
              <a:ext uri="{FF2B5EF4-FFF2-40B4-BE49-F238E27FC236}">
                <a16:creationId xmlns:a16="http://schemas.microsoft.com/office/drawing/2014/main" id="{A3795146-E14C-4758-B952-FEE19CBB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B(A):</a:t>
            </a:r>
          </a:p>
        </p:txBody>
      </p:sp>
      <p:sp>
        <p:nvSpPr>
          <p:cNvPr id="6" name="    def act(self):">
            <a:extLst xmlns:a="http://schemas.openxmlformats.org/drawingml/2006/main">
              <a:ext uri="{FF2B5EF4-FFF2-40B4-BE49-F238E27FC236}">
                <a16:creationId xmlns:a16="http://schemas.microsoft.com/office/drawing/2014/main" id="{E644D596-EE27-4E92-8A7C-2A9BB826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9863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act(self):</a:t>
            </a:r>
          </a:p>
        </p:txBody>
      </p:sp>
      <p:sp>
        <p:nvSpPr>
          <p:cNvPr id="7" name="        print(&quot;B&quot;)">
            <a:extLst xmlns:a="http://schemas.openxmlformats.org/drawingml/2006/main">
              <a:ext uri="{FF2B5EF4-FFF2-40B4-BE49-F238E27FC236}">
                <a16:creationId xmlns:a16="http://schemas.microsoft.com/office/drawing/2014/main" id="{1C8906D9-DB42-4CEC-9703-63C8DDA0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print("B")</a:t>
            </a:r>
          </a:p>
        </p:txBody>
      </p:sp>
      <p:sp>
        <p:nvSpPr>
          <p:cNvPr id="8" name="        super().act()">
            <a:extLst xmlns:a="http://schemas.openxmlformats.org/drawingml/2006/main">
              <a:ext uri="{FF2B5EF4-FFF2-40B4-BE49-F238E27FC236}">
                <a16:creationId xmlns:a16="http://schemas.microsoft.com/office/drawing/2014/main" id="{9B64529E-E71E-44F1-8CAF-A3DDD261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0888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super().act()</a:t>
            </a:r>
          </a:p>
        </p:txBody>
      </p:sp>
      <p:sp>
        <p:nvSpPr>
          <p:cNvPr id="9" name="class C(A):">
            <a:extLst xmlns:a="http://schemas.openxmlformats.org/drawingml/2006/main">
              <a:ext uri="{FF2B5EF4-FFF2-40B4-BE49-F238E27FC236}">
                <a16:creationId xmlns:a16="http://schemas.microsoft.com/office/drawing/2014/main" id="{9316E0B1-0098-4F98-BF77-C3CB82E6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C(A):</a:t>
            </a:r>
          </a:p>
        </p:txBody>
      </p:sp>
      <p:sp>
        <p:nvSpPr>
          <p:cNvPr id="10" name="    def act(self):">
            <a:extLst xmlns:a="http://schemas.openxmlformats.org/drawingml/2006/main">
              <a:ext uri="{FF2B5EF4-FFF2-40B4-BE49-F238E27FC236}">
                <a16:creationId xmlns:a16="http://schemas.microsoft.com/office/drawing/2014/main" id="{B6B4BC76-B11C-4985-AA91-6393DC2B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1913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act(self):</a:t>
            </a:r>
          </a:p>
        </p:txBody>
      </p:sp>
      <p:sp>
        <p:nvSpPr>
          <p:cNvPr id="11" name="        print(&quot;C&quot;)">
            <a:extLst xmlns:a="http://schemas.openxmlformats.org/drawingml/2006/main">
              <a:ext uri="{FF2B5EF4-FFF2-40B4-BE49-F238E27FC236}">
                <a16:creationId xmlns:a16="http://schemas.microsoft.com/office/drawing/2014/main" id="{A01E77AC-CCB2-40E5-9A96-DB47C9C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print("C")</a:t>
            </a:r>
          </a:p>
        </p:txBody>
      </p:sp>
      <p:sp>
        <p:nvSpPr>
          <p:cNvPr id="12" name="        super().act()">
            <a:extLst xmlns:a="http://schemas.openxmlformats.org/drawingml/2006/main">
              <a:ext uri="{FF2B5EF4-FFF2-40B4-BE49-F238E27FC236}">
                <a16:creationId xmlns:a16="http://schemas.microsoft.com/office/drawing/2014/main" id="{1F33114E-A00E-43D6-ADA3-3D3988F4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2938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super().act()</a:t>
            </a:r>
          </a:p>
        </p:txBody>
      </p:sp>
      <p:sp>
        <p:nvSpPr>
          <p:cNvPr id="13" name="class D(B, C): pass">
            <a:extLst xmlns:a="http://schemas.openxmlformats.org/drawingml/2006/main">
              <a:ext uri="{FF2B5EF4-FFF2-40B4-BE49-F238E27FC236}">
                <a16:creationId xmlns:a16="http://schemas.microsoft.com/office/drawing/2014/main" id="{8C0DAB8D-282A-46CD-96F3-3CAF132B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D(B, C): pass</a:t>
            </a:r>
          </a:p>
        </p:txBody>
      </p:sp>
      <p:sp>
        <p:nvSpPr>
          <p:cNvPr id="14" name="D().act()">
            <a:extLst xmlns:a="http://schemas.openxmlformats.org/drawingml/2006/main">
              <a:ext uri="{FF2B5EF4-FFF2-40B4-BE49-F238E27FC236}">
                <a16:creationId xmlns:a16="http://schemas.microsoft.com/office/drawing/2014/main" id="{668AD74E-6728-44C9-AE1F-61C4F467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33963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D().act()</a:t>
            </a:r>
          </a:p>
        </p:txBody>
      </p:sp>
      <p:sp>
        <p:nvSpPr>
          <p:cNvPr id="15" name="D().act() prints B, C, A; B continues to C.">
            <a:extLst xmlns:a="http://schemas.openxmlformats.org/drawingml/2006/main">
              <a:ext uri="{FF2B5EF4-FFF2-40B4-BE49-F238E27FC236}">
                <a16:creationId xmlns:a16="http://schemas.microsoft.com/office/drawing/2014/main" id="{64D97B9A-5CC1-4A55-BF02-7CE7A294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D().act() prints B, C, A; B continues to C.</a:t>
            </a:r>
          </a:p>
        </p:txBody>
      </p:sp>
      <p:sp>
        <p:nvSpPr>
          <p:cNvPr id="16" name="Cooperative methods need compatible parameters and consistent super() calls.">
            <a:extLst xmlns:a="http://schemas.openxmlformats.org/drawingml/2006/main">
              <a:ext uri="{FF2B5EF4-FFF2-40B4-BE49-F238E27FC236}">
                <a16:creationId xmlns:a16="http://schemas.microsoft.com/office/drawing/2014/main" id="{EFFAAA8F-1534-4392-BCEE-DAA6D487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Cooperative methods need compatible parameters and consistent super() calls.</a:t>
            </a:r>
          </a:p>
        </p:txBody>
      </p:sp>
      <p:sp>
        <p:nvSpPr>
          <p:cNvPr id="17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56755ADB-F4E3-49DA-AA84-21F817A6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8" name="22">
            <a:extLst xmlns:a="http://schemas.openxmlformats.org/drawingml/2006/main">
              <a:ext uri="{FF2B5EF4-FFF2-40B4-BE49-F238E27FC236}">
                <a16:creationId xmlns:a16="http://schemas.microsoft.com/office/drawing/2014/main" id="{1BC37068-0D57-4C80-BC81-2AD5D578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356121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ownload and run">
            <a:extLst xmlns:a="http://schemas.openxmlformats.org/drawingml/2006/main">
              <a:ext uri="{FF2B5EF4-FFF2-40B4-BE49-F238E27FC236}">
                <a16:creationId xmlns:a16="http://schemas.microsoft.com/office/drawing/2014/main" id="{7F940965-14F5-433B-8310-3FA921C6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Download and run</a:t>
            </a:r>
          </a:p>
        </p:txBody>
      </p:sp>
      <p:sp>
        <p:nvSpPr>
          <p:cNvPr id="2" name="Python 3.12; open a terminal in the extracted folder">
            <a:extLst xmlns:a="http://schemas.openxmlformats.org/drawingml/2006/main">
              <a:ext uri="{FF2B5EF4-FFF2-40B4-BE49-F238E27FC236}">
                <a16:creationId xmlns:a16="http://schemas.microsoft.com/office/drawing/2014/main" id="{5EF13159-AAC5-49A4-A417-8EF3EA67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3.12; open a terminal in the extracted folder</a:t>
            </a:r>
          </a:p>
        </p:txBody>
      </p:sp>
      <p:sp>
        <p:nvSpPr>
          <p:cNvPr id="3" name="python -m pip install pygame==2.6.1">
            <a:extLst xmlns:a="http://schemas.openxmlformats.org/drawingml/2006/main">
              <a:ext uri="{FF2B5EF4-FFF2-40B4-BE49-F238E27FC236}">
                <a16:creationId xmlns:a16="http://schemas.microsoft.com/office/drawing/2014/main" id="{6B7EB7E7-0441-4829-8ADA-A2CECCB9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pip install pygame==2.6.1</a:t>
            </a:r>
          </a:p>
        </p:txBody>
      </p:sp>
      <p:sp>
        <p:nvSpPr>
          <p:cNvPr id="4" name="python week7_demo.py">
            <a:extLst xmlns:a="http://schemas.openxmlformats.org/drawingml/2006/main">
              <a:ext uri="{FF2B5EF4-FFF2-40B4-BE49-F238E27FC236}">
                <a16:creationId xmlns:a16="http://schemas.microsoft.com/office/drawing/2014/main" id="{728BFF75-4C75-4E65-BAAE-12CD7292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week7_demo.py</a:t>
            </a:r>
          </a:p>
        </p:txBody>
      </p:sp>
      <p:sp>
        <p:nvSpPr>
          <p:cNvPr id="5" name="week7_demo.py prints and checks positions, inheritance, and MRO.">
            <a:extLst xmlns:a="http://schemas.openxmlformats.org/drawingml/2006/main">
              <a:ext uri="{FF2B5EF4-FFF2-40B4-BE49-F238E27FC236}">
                <a16:creationId xmlns:a16="http://schemas.microsoft.com/office/drawing/2014/main" id="{807B8D36-5593-465E-9989-F6F4862A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week7_demo.py prints and checks positions, inheritance, and MRO.</a:t>
            </a:r>
          </a:p>
        </p:txBody>
      </p:sp>
      <p:sp>
        <p:nvSpPr>
          <p:cNvPr id="6" name="The original game and object labels are available on the shooter page.">
            <a:extLst xmlns:a="http://schemas.openxmlformats.org/drawingml/2006/main">
              <a:ext uri="{FF2B5EF4-FFF2-40B4-BE49-F238E27FC236}">
                <a16:creationId xmlns:a16="http://schemas.microsoft.com/office/drawing/2014/main" id="{B1983593-C2E5-4AF6-8FAD-06DE81F1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original game and object labels are available on the shooter page.</a:t>
            </a:r>
          </a:p>
        </p:txBody>
      </p:sp>
      <p:sp>
        <p:nvSpPr>
          <p:cNvPr id="7" name="Download examples ↗">
            <a:extLst xmlns:a="http://schemas.openxmlformats.org/drawingml/2006/main">
              <a:ext uri="{FF2B5EF4-FFF2-40B4-BE49-F238E27FC236}">
                <a16:creationId xmlns:a16="http://schemas.microsoft.com/office/drawing/2014/main" id="{D2952204-72CE-4415-86E1-C4C6CAF2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8EDBE"/>
                </a:solidFill>
                <a:latin typeface="Aptos"/>
                <a:ea typeface="Aptos"/>
                <a:cs typeface="Aptos"/>
                <a:hlinkClick xmlns:r="http://schemas.openxmlformats.org/officeDocument/2006/relationships" r:id="R5fd8f247efb543ae"/>
              </a:rPr>
              <a:t>Download examples ↗</a:t>
            </a:r>
          </a:p>
        </p:txBody>
      </p:sp>
      <p:sp>
        <p:nvSpPr>
          <p:cNvPr id="8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270973EE-3CC8-4581-A7F4-CBC48789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9" name="23">
            <a:extLst xmlns:a="http://schemas.openxmlformats.org/drawingml/2006/main">
              <a:ext uri="{FF2B5EF4-FFF2-40B4-BE49-F238E27FC236}">
                <a16:creationId xmlns:a16="http://schemas.microsoft.com/office/drawing/2014/main" id="{B263614A-1462-4E0F-8E04-0DD84037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380091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ractice and the next step">
            <a:extLst xmlns:a="http://schemas.openxmlformats.org/drawingml/2006/main">
              <a:ext uri="{FF2B5EF4-FFF2-40B4-BE49-F238E27FC236}">
                <a16:creationId xmlns:a16="http://schemas.microsoft.com/office/drawing/2014/main" id="{AD95ED62-5348-4E46-8C9B-57F36CAC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Practice and the next step</a:t>
            </a:r>
          </a:p>
        </p:txBody>
      </p:sp>
      <p:sp>
        <p:nvSpPr>
          <p:cNvPr id="2" name="Predict, then run and observe">
            <a:extLst xmlns:a="http://schemas.openxmlformats.org/drawingml/2006/main">
              <a:ext uri="{FF2B5EF4-FFF2-40B4-BE49-F238E27FC236}">
                <a16:creationId xmlns:a16="http://schemas.microsoft.com/office/drawing/2014/main" id="{72F42A15-FDDF-4AE7-8FA9-0D8844D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Predict, then run and observe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E519A6B-AE17-4554-9C1F-FDE99738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Change FastEnemy speed to 200 and calculate its position after 0.25 s.">
            <a:extLst xmlns:a="http://schemas.openxmlformats.org/drawingml/2006/main">
              <a:ext uri="{FF2B5EF4-FFF2-40B4-BE49-F238E27FC236}">
                <a16:creationId xmlns:a16="http://schemas.microsoft.com/office/drawing/2014/main" id="{848EA6BA-2A81-45B2-990B-8AD73558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Change FastEnemy speed to 200 and calculate its position after 0.25 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40BCB1D6-BCEE-45E4-A561-55C6213C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Answer: (200, 150). Explain which class implements movement.">
            <a:extLst xmlns:a="http://schemas.openxmlformats.org/drawingml/2006/main">
              <a:ext uri="{FF2B5EF4-FFF2-40B4-BE49-F238E27FC236}">
                <a16:creationId xmlns:a16="http://schemas.microsoft.com/office/drawing/2014/main" id="{DC110CFE-3477-4273-B8F9-E971940C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Answer: (200, 150). Explain which class implements movement.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967F44B5-D33B-456F-B116-3D82CF16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Week 8 develops polymorphism, ABCs, and Protocols for shared interfaces.">
            <a:extLst xmlns:a="http://schemas.openxmlformats.org/drawingml/2006/main">
              <a:ext uri="{FF2B5EF4-FFF2-40B4-BE49-F238E27FC236}">
                <a16:creationId xmlns:a16="http://schemas.microsoft.com/office/drawing/2014/main" id="{7AF015F9-B41C-491C-9F34-E3604F7E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Week 8 develops polymorphism, ABCs, and Protocols for shared interfaces.</a:t>
            </a:r>
          </a:p>
        </p:txBody>
      </p:sp>
      <p:sp>
        <p:nvSpPr>
          <p:cNvPr id="9" name="24">
            <a:extLst xmlns:a="http://schemas.openxmlformats.org/drawingml/2006/main">
              <a:ext uri="{FF2B5EF4-FFF2-40B4-BE49-F238E27FC236}">
                <a16:creationId xmlns:a16="http://schemas.microsoft.com/office/drawing/2014/main" id="{9D2CAC5E-B4AB-4629-81D2-8DFACE92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87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56443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2026-10-28T05:28:29.8360000Z</dcterms:created>
  <dcterms:modified xsi:type="dcterms:W3CDTF">2026-10-28T05:28:29.8360000Z</dcterms:modified>
</coreProperties>
</file>