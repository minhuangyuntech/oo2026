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afb7c0ce241e8" /><Relationship Type="http://schemas.openxmlformats.org/officeDocument/2006/relationships/extended-properties" Target="/docProps/app.xml" Id="Rc19a4f405e644b24" /><Relationship Type="http://schemas.openxmlformats.org/officeDocument/2006/relationships/officeDocument" Target="/ppt/presentation.xml" Id="R42cf84c1591247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9b3e38cda54791"/>
  </p:sldMasterIdLst>
  <p:notesMasterIdLst>
    <p:notesMasterId xmlns:r="http://schemas.openxmlformats.org/officeDocument/2006/relationships" r:id="R23e42f36170c4ecb"/>
  </p:notesMasterIdLst>
  <p:sldIdLst>
    <p:sldId xmlns:r="http://schemas.openxmlformats.org/officeDocument/2006/relationships" id="256" r:id="R920c4a5f518940fa"/>
    <p:sldId xmlns:r="http://schemas.openxmlformats.org/officeDocument/2006/relationships" id="257" r:id="Rc8318a4f8bda42f7"/>
    <p:sldId xmlns:r="http://schemas.openxmlformats.org/officeDocument/2006/relationships" id="258" r:id="R025c099eb82f4e81"/>
    <p:sldId xmlns:r="http://schemas.openxmlformats.org/officeDocument/2006/relationships" id="259" r:id="Rdfb3a552930446f8"/>
    <p:sldId xmlns:r="http://schemas.openxmlformats.org/officeDocument/2006/relationships" id="260" r:id="Rad6892c9da2544e5"/>
    <p:sldId xmlns:r="http://schemas.openxmlformats.org/officeDocument/2006/relationships" id="261" r:id="R2cb5a2076aef49ab"/>
    <p:sldId xmlns:r="http://schemas.openxmlformats.org/officeDocument/2006/relationships" id="262" r:id="R5dbb758b6f6e4a8c"/>
    <p:sldId xmlns:r="http://schemas.openxmlformats.org/officeDocument/2006/relationships" id="263" r:id="R9345d91443f64c8d"/>
    <p:sldId xmlns:r="http://schemas.openxmlformats.org/officeDocument/2006/relationships" id="264" r:id="R737fa48419994a03"/>
    <p:sldId xmlns:r="http://schemas.openxmlformats.org/officeDocument/2006/relationships" id="265" r:id="R5fa7b6fdf4824738"/>
    <p:sldId xmlns:r="http://schemas.openxmlformats.org/officeDocument/2006/relationships" id="266" r:id="Raf53ed293dba4ac9"/>
    <p:sldId xmlns:r="http://schemas.openxmlformats.org/officeDocument/2006/relationships" id="267" r:id="R0fb249e05db340a8"/>
    <p:sldId xmlns:r="http://schemas.openxmlformats.org/officeDocument/2006/relationships" id="268" r:id="Rdb8796eabc7d4af3"/>
    <p:sldId xmlns:r="http://schemas.openxmlformats.org/officeDocument/2006/relationships" id="269" r:id="Ra236a08dbbe64306"/>
    <p:sldId xmlns:r="http://schemas.openxmlformats.org/officeDocument/2006/relationships" id="270" r:id="Rc191b3c4c1754c18"/>
    <p:sldId xmlns:r="http://schemas.openxmlformats.org/officeDocument/2006/relationships" id="271" r:id="R4fff7b20e5f64bba"/>
    <p:sldId xmlns:r="http://schemas.openxmlformats.org/officeDocument/2006/relationships" id="272" r:id="R882e3ad7868f41ad"/>
    <p:sldId xmlns:r="http://schemas.openxmlformats.org/officeDocument/2006/relationships" id="273" r:id="Raa12de8232b14939"/>
    <p:sldId xmlns:r="http://schemas.openxmlformats.org/officeDocument/2006/relationships" id="274" r:id="R5a4cd7e0050947f2"/>
    <p:sldId xmlns:r="http://schemas.openxmlformats.org/officeDocument/2006/relationships" id="275" r:id="R049e42bec7004498"/>
    <p:sldId xmlns:r="http://schemas.openxmlformats.org/officeDocument/2006/relationships" id="276" r:id="Rec122eab786f4604"/>
    <p:sldId xmlns:r="http://schemas.openxmlformats.org/officeDocument/2006/relationships" id="277" r:id="R46e8b8774b144200"/>
    <p:sldId xmlns:r="http://schemas.openxmlformats.org/officeDocument/2006/relationships" id="278" r:id="R6e5c3f89f2b2444a"/>
    <p:sldId xmlns:r="http://schemas.openxmlformats.org/officeDocument/2006/relationships" id="279" r:id="R1964fe06372e4069"/>
    <p:sldId xmlns:r="http://schemas.openxmlformats.org/officeDocument/2006/relationships" id="280" r:id="Rde1e3c13cf22423d"/>
    <p:sldId xmlns:r="http://schemas.openxmlformats.org/officeDocument/2006/relationships" id="281" r:id="Rc6ec6c1f1b48481c"/>
    <p:sldId xmlns:r="http://schemas.openxmlformats.org/officeDocument/2006/relationships" id="282" r:id="R4bbb87525a7f4f79"/>
    <p:sldId xmlns:r="http://schemas.openxmlformats.org/officeDocument/2006/relationships" id="283" r:id="R2ac2244b5140448a"/>
    <p:sldId xmlns:r="http://schemas.openxmlformats.org/officeDocument/2006/relationships" id="284" r:id="R29883080be504b75"/>
    <p:sldId xmlns:r="http://schemas.openxmlformats.org/officeDocument/2006/relationships" id="285" r:id="R4e4154ae82b94e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bf851b28149a4" /><Relationship Type="http://schemas.openxmlformats.org/officeDocument/2006/relationships/slideMaster" Target="/ppt/slideMasters/slideMaster1.xml" Id="Ra99b3e38cda54791" /><Relationship Type="http://schemas.openxmlformats.org/officeDocument/2006/relationships/notesMaster" Target="/ppt/notesMasters/notesMaster1.xml" Id="R23e42f36170c4ecb" /><Relationship Type="http://schemas.openxmlformats.org/officeDocument/2006/relationships/presProps" Target="/ppt/presProps.xml" Id="R32c84e8e77b743b9" /><Relationship Type="http://schemas.openxmlformats.org/officeDocument/2006/relationships/tableStyles" Target="/ppt/tableStyles.xml" Id="Rf40b83c7e5194c1b" /><Relationship Type="http://schemas.openxmlformats.org/officeDocument/2006/relationships/slide" Target="/ppt/slides/slide1.xml" Id="R920c4a5f518940fa" /><Relationship Type="http://schemas.openxmlformats.org/officeDocument/2006/relationships/slide" Target="/ppt/slides/slide2.xml" Id="Rc8318a4f8bda42f7" /><Relationship Type="http://schemas.openxmlformats.org/officeDocument/2006/relationships/slide" Target="/ppt/slides/slide3.xml" Id="R025c099eb82f4e81" /><Relationship Type="http://schemas.openxmlformats.org/officeDocument/2006/relationships/slide" Target="/ppt/slides/slide4.xml" Id="Rdfb3a552930446f8" /><Relationship Type="http://schemas.openxmlformats.org/officeDocument/2006/relationships/slide" Target="/ppt/slides/slide5.xml" Id="Rad6892c9da2544e5" /><Relationship Type="http://schemas.openxmlformats.org/officeDocument/2006/relationships/slide" Target="/ppt/slides/slide6.xml" Id="R2cb5a2076aef49ab" /><Relationship Type="http://schemas.openxmlformats.org/officeDocument/2006/relationships/slide" Target="/ppt/slides/slide7.xml" Id="R5dbb758b6f6e4a8c" /><Relationship Type="http://schemas.openxmlformats.org/officeDocument/2006/relationships/slide" Target="/ppt/slides/slide8.xml" Id="R9345d91443f64c8d" /><Relationship Type="http://schemas.openxmlformats.org/officeDocument/2006/relationships/slide" Target="/ppt/slides/slide9.xml" Id="R737fa48419994a03" /><Relationship Type="http://schemas.openxmlformats.org/officeDocument/2006/relationships/slide" Target="/ppt/slides/slide10.xml" Id="R5fa7b6fdf4824738" /><Relationship Type="http://schemas.openxmlformats.org/officeDocument/2006/relationships/slide" Target="/ppt/slides/slide11.xml" Id="Raf53ed293dba4ac9" /><Relationship Type="http://schemas.openxmlformats.org/officeDocument/2006/relationships/slide" Target="/ppt/slides/slide12.xml" Id="R0fb249e05db340a8" /><Relationship Type="http://schemas.openxmlformats.org/officeDocument/2006/relationships/slide" Target="/ppt/slides/slide13.xml" Id="Rdb8796eabc7d4af3" /><Relationship Type="http://schemas.openxmlformats.org/officeDocument/2006/relationships/slide" Target="/ppt/slides/slide14.xml" Id="Ra236a08dbbe64306" /><Relationship Type="http://schemas.openxmlformats.org/officeDocument/2006/relationships/slide" Target="/ppt/slides/slide15.xml" Id="Rc191b3c4c1754c18" /><Relationship Type="http://schemas.openxmlformats.org/officeDocument/2006/relationships/slide" Target="/ppt/slides/slide16.xml" Id="R4fff7b20e5f64bba" /><Relationship Type="http://schemas.openxmlformats.org/officeDocument/2006/relationships/slide" Target="/ppt/slides/slide17.xml" Id="R882e3ad7868f41ad" /><Relationship Type="http://schemas.openxmlformats.org/officeDocument/2006/relationships/slide" Target="/ppt/slides/slide18.xml" Id="Raa12de8232b14939" /><Relationship Type="http://schemas.openxmlformats.org/officeDocument/2006/relationships/slide" Target="/ppt/slides/slide19.xml" Id="R5a4cd7e0050947f2" /><Relationship Type="http://schemas.openxmlformats.org/officeDocument/2006/relationships/slide" Target="/ppt/slides/slide20.xml" Id="R049e42bec7004498" /><Relationship Type="http://schemas.openxmlformats.org/officeDocument/2006/relationships/slide" Target="/ppt/slides/slide21.xml" Id="Rec122eab786f4604" /><Relationship Type="http://schemas.openxmlformats.org/officeDocument/2006/relationships/slide" Target="/ppt/slides/slide22.xml" Id="R46e8b8774b144200" /><Relationship Type="http://schemas.openxmlformats.org/officeDocument/2006/relationships/slide" Target="/ppt/slides/slide23.xml" Id="R6e5c3f89f2b2444a" /><Relationship Type="http://schemas.openxmlformats.org/officeDocument/2006/relationships/slide" Target="/ppt/slides/slide24.xml" Id="R1964fe06372e4069" /><Relationship Type="http://schemas.openxmlformats.org/officeDocument/2006/relationships/slide" Target="/ppt/slides/slide25.xml" Id="Rde1e3c13cf22423d" /><Relationship Type="http://schemas.openxmlformats.org/officeDocument/2006/relationships/slide" Target="/ppt/slides/slide26.xml" Id="Rc6ec6c1f1b48481c" /><Relationship Type="http://schemas.openxmlformats.org/officeDocument/2006/relationships/slide" Target="/ppt/slides/slide27.xml" Id="R4bbb87525a7f4f79" /><Relationship Type="http://schemas.openxmlformats.org/officeDocument/2006/relationships/slide" Target="/ppt/slides/slide28.xml" Id="R2ac2244b5140448a" /><Relationship Type="http://schemas.openxmlformats.org/officeDocument/2006/relationships/slide" Target="/ppt/slides/slide29.xml" Id="R29883080be504b75" /><Relationship Type="http://schemas.openxmlformats.org/officeDocument/2006/relationships/slide" Target="/ppt/slides/slide30.xml" Id="R4e4154ae82b94e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46084cc76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cd2c79426d41ab" /><Relationship Type="http://schemas.openxmlformats.org/officeDocument/2006/relationships/notesMaster" Target="/ppt/notesMasters/notesMaster1.xml" Id="Rc94092c4e8a143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b2ffa4b4f64534" /><Relationship Type="http://schemas.openxmlformats.org/officeDocument/2006/relationships/notesMaster" Target="/ppt/notesMasters/notesMaster1.xml" Id="R5fcb5c94b830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8ff482efa4db3" /><Relationship Type="http://schemas.openxmlformats.org/officeDocument/2006/relationships/notesMaster" Target="/ppt/notesMasters/notesMaster1.xml" Id="Rdac829ce3bb5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1419518cc4e59" /><Relationship Type="http://schemas.openxmlformats.org/officeDocument/2006/relationships/notesMaster" Target="/ppt/notesMasters/notesMaster1.xml" Id="R6edff4f5b07245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4db5acd80c4edb" /><Relationship Type="http://schemas.openxmlformats.org/officeDocument/2006/relationships/notesMaster" Target="/ppt/notesMasters/notesMaster1.xml" Id="R3e23b04f8ebb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d5f70a71314e5e" /><Relationship Type="http://schemas.openxmlformats.org/officeDocument/2006/relationships/notesMaster" Target="/ppt/notesMasters/notesMaster1.xml" Id="R793a8319226249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c7fedc24c944c6" /><Relationship Type="http://schemas.openxmlformats.org/officeDocument/2006/relationships/notesMaster" Target="/ppt/notesMasters/notesMaster1.xml" Id="R6a542c521d034f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9d4c83d5c0499f" /><Relationship Type="http://schemas.openxmlformats.org/officeDocument/2006/relationships/notesMaster" Target="/ppt/notesMasters/notesMaster1.xml" Id="Rba789aa101c847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ad1a60d8f24da5" /><Relationship Type="http://schemas.openxmlformats.org/officeDocument/2006/relationships/notesMaster" Target="/ppt/notesMasters/notesMaster1.xml" Id="R9855e527a85141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0626a2354d4613" /><Relationship Type="http://schemas.openxmlformats.org/officeDocument/2006/relationships/notesMaster" Target="/ppt/notesMasters/notesMaster1.xml" Id="R6dbd835bc06546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81874c38c64f19" /><Relationship Type="http://schemas.openxmlformats.org/officeDocument/2006/relationships/notesMaster" Target="/ppt/notesMasters/notesMaster1.xml" Id="R58ecd7b02f5146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3d616f20034c4c" /><Relationship Type="http://schemas.openxmlformats.org/officeDocument/2006/relationships/notesMaster" Target="/ppt/notesMasters/notesMaster1.xml" Id="R4fc63ff4ea0d49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ef03e9fcf74830" /><Relationship Type="http://schemas.openxmlformats.org/officeDocument/2006/relationships/notesMaster" Target="/ppt/notesMasters/notesMaster1.xml" Id="R073b0ebd477f46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1a9083e0fd42e2" /><Relationship Type="http://schemas.openxmlformats.org/officeDocument/2006/relationships/notesMaster" Target="/ppt/notesMasters/notesMaster1.xml" Id="R5e7f81fe26fc41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91baf4207d4d8a" /><Relationship Type="http://schemas.openxmlformats.org/officeDocument/2006/relationships/notesMaster" Target="/ppt/notesMasters/notesMaster1.xml" Id="R310d1d42f4e74d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665520e52c4d0e" /><Relationship Type="http://schemas.openxmlformats.org/officeDocument/2006/relationships/notesMaster" Target="/ppt/notesMasters/notesMaster1.xml" Id="R300e6cb71c454d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841ea6b1294dc5" /><Relationship Type="http://schemas.openxmlformats.org/officeDocument/2006/relationships/notesMaster" Target="/ppt/notesMasters/notesMaster1.xml" Id="Rf6951ba6f76246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4d5ac307a04e6d" /><Relationship Type="http://schemas.openxmlformats.org/officeDocument/2006/relationships/notesMaster" Target="/ppt/notesMasters/notesMaster1.xml" Id="R7fab57225d324c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78aac4a6504664" /><Relationship Type="http://schemas.openxmlformats.org/officeDocument/2006/relationships/notesMaster" Target="/ppt/notesMasters/notesMaster1.xml" Id="R2d760cb3869044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91c159c7554457" /><Relationship Type="http://schemas.openxmlformats.org/officeDocument/2006/relationships/notesMaster" Target="/ppt/notesMasters/notesMaster1.xml" Id="Rbc0a14f60b7242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f8f318c22e9416d" /><Relationship Type="http://schemas.openxmlformats.org/officeDocument/2006/relationships/notesMaster" Target="/ppt/notesMasters/notesMaster1.xml" Id="R25b7d3cd436a424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200be1717bd495d" /><Relationship Type="http://schemas.openxmlformats.org/officeDocument/2006/relationships/notesMaster" Target="/ppt/notesMasters/notesMaster1.xml" Id="Rdcf90e65c795462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dcb0b44b2a4ffa" /><Relationship Type="http://schemas.openxmlformats.org/officeDocument/2006/relationships/notesMaster" Target="/ppt/notesMasters/notesMaster1.xml" Id="Ra6f0be7818474c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ae5470566fd4243" /><Relationship Type="http://schemas.openxmlformats.org/officeDocument/2006/relationships/notesMaster" Target="/ppt/notesMasters/notesMaster1.xml" Id="R52bb125e6d424d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311e38c3b24781" /><Relationship Type="http://schemas.openxmlformats.org/officeDocument/2006/relationships/notesMaster" Target="/ppt/notesMasters/notesMaster1.xml" Id="R05ff7d9741764c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7c539cc8344403" /><Relationship Type="http://schemas.openxmlformats.org/officeDocument/2006/relationships/notesMaster" Target="/ppt/notesMasters/notesMaster1.xml" Id="R5d14d4ce9776452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e4a51e94e3047ef" /><Relationship Type="http://schemas.openxmlformats.org/officeDocument/2006/relationships/notesMaster" Target="/ppt/notesMasters/notesMaster1.xml" Id="R63c7d4b2bcb74b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f9009678c68497a" /><Relationship Type="http://schemas.openxmlformats.org/officeDocument/2006/relationships/notesMaster" Target="/ppt/notesMasters/notesMaster1.xml" Id="R0291324d65df46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b4cfe28d644c51" /><Relationship Type="http://schemas.openxmlformats.org/officeDocument/2006/relationships/notesMaster" Target="/ppt/notesMasters/notesMaster1.xml" Id="R3756ab674c7c4f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e3504657694bd2" /><Relationship Type="http://schemas.openxmlformats.org/officeDocument/2006/relationships/notesMaster" Target="/ppt/notesMasters/notesMaster1.xml" Id="R4afb6edee3e943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https://www.pygame.org/docs/ref/sprite.html</a:t>
            </a:r>
          </a:p>
          <a:p xmlns:a="http://schemas.openxmlformats.org/drawingml/2006/main">
            <a:r>
              <a:t>https://www.pygame.org/docs/ref/time.html</a:t>
            </a:r>
          </a:p>
          <a:p xmlns:a="http://schemas.openxmlformats.org/drawingml/2006/main">
            <a:r>
              <a:t>https://docs.python.org/3.12/reference/datamodel.html</a:t>
            </a:r>
          </a:p>
          <a:p xmlns:a="http://schemas.openxmlformats.org/drawingml/2006/main">
            <a:r>
              <a:t>https://www.omg.org/spec/UML/2.5.1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e3085efd74f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3f4848f2146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6c5e7b7456479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5e60bc6634f7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ac32229ef49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fb94071cc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97F933-8F11-4EA2-B66F-59C7F72895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382047-E689-49D0-BD0C-F604CA4A34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180890-6200-43B4-9D8F-19331079C4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6BBCD8-F19F-493C-8F79-43C4D90D0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221104-5F39-4105-8FA6-B87D1A4B6E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602603-AC9D-445A-BB92-AD2F73BDD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52D105-CBB8-48DC-9EA7-EC461D2B14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0409DC-258D-4348-B975-2AC5B0DD4E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BFD56A-D96D-49AC-B078-B215284DD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4CF7EB-9ACC-401D-B1E3-9BCB9EFA9D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2271d8937e4356" /><Relationship Type="http://schemas.openxmlformats.org/officeDocument/2006/relationships/slideLayout" Target="/ppt/slideLayouts/slideLayout1.xml" Id="Rfcd6c89e0e194773" /><Relationship Type="http://schemas.openxmlformats.org/officeDocument/2006/relationships/slideLayout" Target="/ppt/slideLayouts/slideLayout2.xml" Id="R46e55d1ec0674cbb" /><Relationship Type="http://schemas.openxmlformats.org/officeDocument/2006/relationships/slideLayout" Target="/ppt/slideLayouts/slideLayout3.xml" Id="Rf0ab900506a14404" /><Relationship Type="http://schemas.openxmlformats.org/officeDocument/2006/relationships/slideLayout" Target="/ppt/slideLayouts/slideLayout4.xml" Id="Rf66ceb4087234250" /><Relationship Type="http://schemas.openxmlformats.org/officeDocument/2006/relationships/slideLayout" Target="/ppt/slideLayouts/slideLayout5.xml" Id="R9f95a31be2124b8f" /><Relationship Type="http://schemas.openxmlformats.org/officeDocument/2006/relationships/slideLayout" Target="/ppt/slideLayouts/slideLayout6.xml" Id="R61b816816ba0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d6c89e0e194773"/>
    <p:sldLayoutId xmlns:r="http://schemas.openxmlformats.org/officeDocument/2006/relationships" id="2147483650" r:id="R46e55d1ec0674cbb"/>
    <p:sldLayoutId xmlns:r="http://schemas.openxmlformats.org/officeDocument/2006/relationships" id="2147483651" r:id="Rf0ab900506a14404"/>
    <p:sldLayoutId xmlns:r="http://schemas.openxmlformats.org/officeDocument/2006/relationships" id="2147483652" r:id="Rf66ceb4087234250"/>
    <p:sldLayoutId xmlns:r="http://schemas.openxmlformats.org/officeDocument/2006/relationships" id="2147483653" r:id="R9f95a31be2124b8f"/>
    <p:sldLayoutId xmlns:r="http://schemas.openxmlformats.org/officeDocument/2006/relationships" id="2147483654" r:id="R61b816816ba0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619360dd041d7" /><Relationship Type="http://schemas.openxmlformats.org/officeDocument/2006/relationships/notesSlide" Target="/ppt/notesSlides/notesSlide1.xml" Id="R08082905477848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0adb0590644574" /><Relationship Type="http://schemas.openxmlformats.org/officeDocument/2006/relationships/image" Target="/ppt/media/image.png" Id="Rd3ea551c34bb43a2" /><Relationship Type="http://schemas.openxmlformats.org/officeDocument/2006/relationships/notesSlide" Target="/ppt/notesSlides/notesSlide2.xml" Id="R60360aaa5319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d3e232a0e403e" /><Relationship Type="http://schemas.openxmlformats.org/officeDocument/2006/relationships/notesSlide" Target="/ppt/notesSlides/notesSlide3.xml" Id="R301db5eadb7743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77afddec04b14" /><Relationship Type="http://schemas.openxmlformats.org/officeDocument/2006/relationships/notesSlide" Target="/ppt/notesSlides/notesSlide4.xml" Id="R78ac0db41bfc48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e97e8b8464e34" /><Relationship Type="http://schemas.openxmlformats.org/officeDocument/2006/relationships/notesSlide" Target="/ppt/notesSlides/notesSlide5.xml" Id="R21d9b61e8a4f4a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734932f0ce4a1e" /><Relationship Type="http://schemas.openxmlformats.org/officeDocument/2006/relationships/notesSlide" Target="/ppt/notesSlides/notesSlide6.xml" Id="R97dede6680c447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a465052214f62" /><Relationship Type="http://schemas.openxmlformats.org/officeDocument/2006/relationships/notesSlide" Target="/ppt/notesSlides/notesSlide7.xml" Id="R8e197f7432b04a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86e56dbd14d9d" /><Relationship Type="http://schemas.openxmlformats.org/officeDocument/2006/relationships/notesSlide" Target="/ppt/notesSlides/notesSlide8.xml" Id="R2285d283f0324d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23486c423544e0" /><Relationship Type="http://schemas.openxmlformats.org/officeDocument/2006/relationships/notesSlide" Target="/ppt/notesSlides/notesSlide9.xml" Id="R6883615c5cba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4cb7b00274e26" /><Relationship Type="http://schemas.openxmlformats.org/officeDocument/2006/relationships/notesSlide" Target="/ppt/notesSlides/notesSlide10.xml" Id="R8444243c4e4341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e9cc5903c4b83" /><Relationship Type="http://schemas.openxmlformats.org/officeDocument/2006/relationships/notesSlide" Target="/ppt/notesSlides/notesSlide11.xml" Id="Rbf122d5c398142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218acd234f6c" /><Relationship Type="http://schemas.openxmlformats.org/officeDocument/2006/relationships/notesSlide" Target="/ppt/notesSlides/notesSlide12.xml" Id="R8aa64f05e2424e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982e4c30f4391" /><Relationship Type="http://schemas.openxmlformats.org/officeDocument/2006/relationships/notesSlide" Target="/ppt/notesSlides/notesSlide13.xml" Id="Re2001e0104084c0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fbc29b00c43a8" /><Relationship Type="http://schemas.openxmlformats.org/officeDocument/2006/relationships/notesSlide" Target="/ppt/notesSlides/notesSlide14.xml" Id="Ra0633cbee54540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747d2a82341cd" /><Relationship Type="http://schemas.openxmlformats.org/officeDocument/2006/relationships/notesSlide" Target="/ppt/notesSlides/notesSlide15.xml" Id="Rf251c40612e949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3987b91314e17" /><Relationship Type="http://schemas.openxmlformats.org/officeDocument/2006/relationships/notesSlide" Target="/ppt/notesSlides/notesSlide16.xml" Id="Rb0b5fc00b70844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d49235f9f46c9" /><Relationship Type="http://schemas.openxmlformats.org/officeDocument/2006/relationships/notesSlide" Target="/ppt/notesSlides/notesSlide17.xml" Id="Rc6fdea09b16943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b02faa9054325" /><Relationship Type="http://schemas.openxmlformats.org/officeDocument/2006/relationships/notesSlide" Target="/ppt/notesSlides/notesSlide18.xml" Id="R71d09dfb13ee43a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7383719e44d4c" /><Relationship Type="http://schemas.openxmlformats.org/officeDocument/2006/relationships/notesSlide" Target="/ppt/notesSlides/notesSlide19.xml" Id="R3f9161e6bd4547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44031b868a4ee0" /><Relationship Type="http://schemas.openxmlformats.org/officeDocument/2006/relationships/notesSlide" Target="/ppt/notesSlides/notesSlide20.xml" Id="Rc8a104e4191d47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9b216e7744788" /><Relationship Type="http://schemas.openxmlformats.org/officeDocument/2006/relationships/notesSlide" Target="/ppt/notesSlides/notesSlide21.xml" Id="R34d499696c3a47b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19a46de10435d" /><Relationship Type="http://schemas.openxmlformats.org/officeDocument/2006/relationships/notesSlide" Target="/ppt/notesSlides/notesSlide22.xml" Id="R6ca1419aa1434f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900c9324f4f5c" /><Relationship Type="http://schemas.openxmlformats.org/officeDocument/2006/relationships/notesSlide" Target="/ppt/notesSlides/notesSlide23.xml" Id="R737d1774f9494c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1493ea00594496" /><Relationship Type="http://schemas.openxmlformats.org/officeDocument/2006/relationships/notesSlide" Target="/ppt/notesSlides/notesSlide24.xml" Id="Rb88d6a0bf9a7401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1f0e30bdf473f" /><Relationship Type="http://schemas.openxmlformats.org/officeDocument/2006/relationships/notesSlide" Target="/ppt/notesSlides/notesSlide25.xml" Id="R8a9df7010b0142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ebff0c7b04981" /><Relationship Type="http://schemas.openxmlformats.org/officeDocument/2006/relationships/notesSlide" Target="/ppt/notesSlides/notesSlide26.xml" Id="R8d84a61335b644a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6abaa6bb44278" /><Relationship Type="http://schemas.openxmlformats.org/officeDocument/2006/relationships/notesSlide" Target="/ppt/notesSlides/notesSlide27.xml" Id="R30815a476dfa45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7744687374793" /><Relationship Type="http://schemas.openxmlformats.org/officeDocument/2006/relationships/notesSlide" Target="/ppt/notesSlides/notesSlide28.xml" Id="R0398fe649f60467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09c7d4d3ec4caa" /><Relationship Type="http://schemas.openxmlformats.org/officeDocument/2006/relationships/notesSlide" Target="/ppt/notesSlides/notesSlide29.xml" Id="Rb26d05e3623b4e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24a32dadc46ab" /><Relationship Type="http://schemas.openxmlformats.org/officeDocument/2006/relationships/hyperlink" Target="https://www.pygame.org/docs/ref/sprite.html" TargetMode="External" Id="R40799038d7734331" /><Relationship Type="http://schemas.openxmlformats.org/officeDocument/2006/relationships/hyperlink" Target="https://www.pygame.org/docs/ref/time.html" TargetMode="External" Id="R30ba823f23ff4b35" /><Relationship Type="http://schemas.openxmlformats.org/officeDocument/2006/relationships/hyperlink" Target="https://docs.python.org/3.12/reference/datamodel.html" TargetMode="External" Id="Rd9b1cdf307a2456d" /><Relationship Type="http://schemas.openxmlformats.org/officeDocument/2006/relationships/hyperlink" Target="https://www.omg.org/spec/UML/2.5.1" TargetMode="External" Id="R08fc73dc1e7b4a7f" /><Relationship Type="http://schemas.openxmlformats.org/officeDocument/2006/relationships/hyperlink" Target="https://minhuangyuntech.github.io/oo2026/en/pygame/" TargetMode="External" Id="Rf964aeadf5034ffa" /><Relationship Type="http://schemas.openxmlformats.org/officeDocument/2006/relationships/notesSlide" Target="/ppt/notesSlides/notesSlide30.xml" Id="Re6914d1373d5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PYGAME">
            <a:extLst xmlns:a="http://schemas.openxmlformats.org/drawingml/2006/main">
              <a:ext uri="{FF2B5EF4-FFF2-40B4-BE49-F238E27FC236}">
                <a16:creationId xmlns:a16="http://schemas.microsoft.com/office/drawing/2014/main" id="{E98EA886-C7A7-4CCC-9F36-3C11B8EF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8EDBE"/>
                </a:solidFill>
                <a:latin typeface="Aptos"/>
                <a:ea typeface="Aptos"/>
                <a:cs typeface="Aptos"/>
              </a:rPr>
              <a:t>PYTHON OOP  /  PYGAME</a:t>
            </a:r>
          </a:p>
        </p:txBody>
      </p:sp>
      <p:sp>
        <p:nvSpPr>
          <p:cNvPr id="2" name="Objects in a shooting game">
            <a:extLst xmlns:a="http://schemas.openxmlformats.org/drawingml/2006/main">
              <a:ext uri="{FF2B5EF4-FFF2-40B4-BE49-F238E27FC236}">
                <a16:creationId xmlns:a16="http://schemas.microsoft.com/office/drawing/2014/main" id="{25719F81-C1E5-4B6B-9D34-C108CC24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09750"/>
            <a:ext cx="11001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Objects in a shooting game</a:t>
            </a:r>
          </a:p>
        </p:txBody>
      </p:sp>
      <p:sp>
        <p:nvSpPr>
          <p:cNvPr id="3" name="Pygame · Classes, references &amp; interactions">
            <a:extLst xmlns:a="http://schemas.openxmlformats.org/drawingml/2006/main">
              <a:ext uri="{FF2B5EF4-FFF2-40B4-BE49-F238E27FC236}">
                <a16:creationId xmlns:a16="http://schemas.microsoft.com/office/drawing/2014/main" id="{216D9899-E9CB-4900-88A7-DB3CA64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Pygame · Classes, references &amp; interactions</a:t>
            </a:r>
          </a:p>
        </p:txBody>
      </p:sp>
      <p:sp>
        <p:nvSpPr>
          <p:cNvPr id="4" name="One game. Three languages. Five core classes. Start with the screen; see how obj">
            <a:extLst xmlns:a="http://schemas.openxmlformats.org/drawingml/2006/main">
              <a:ext uri="{FF2B5EF4-FFF2-40B4-BE49-F238E27FC236}">
                <a16:creationId xmlns:a16="http://schemas.microsoft.com/office/drawing/2014/main" id="{5C7177F3-6A98-451E-9A3A-C1B941EC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One game. Three languages. Five core classes.</a:t>
            </a:r>
          </a:p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Start with the screen; see how objects cooperate.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EE883FAB-BFB2-4D0C-A5FB-FF0AEE61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2284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ery on-screen actor is an object">
            <a:extLst xmlns:a="http://schemas.openxmlformats.org/drawingml/2006/main">
              <a:ext uri="{FF2B5EF4-FFF2-40B4-BE49-F238E27FC236}">
                <a16:creationId xmlns:a16="http://schemas.microsoft.com/office/drawing/2014/main" id="{487FEA6E-4D8E-4B98-95A0-85FF89CB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Every on-screen actor is an object</a:t>
            </a:r>
          </a:p>
        </p:txBody>
      </p:sp>
      <p:sp>
        <p:nvSpPr>
          <p:cNvPr id="2" name="Observe labels, state, and references in the inspector">
            <a:extLst xmlns:a="http://schemas.openxmlformats.org/drawingml/2006/main">
              <a:ext uri="{FF2B5EF4-FFF2-40B4-BE49-F238E27FC236}">
                <a16:creationId xmlns:a16="http://schemas.microsoft.com/office/drawing/2014/main" id="{328DBD42-AB7E-43F0-8B99-FB6B508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Observe labels, state, and references in the inspector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75FA-5DD2-405F-9995-21B2B33506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a551c34bb43a2"/>
          <a:stretch xmlns:a="http://schemas.openxmlformats.org/drawingml/2006/main"/>
        </p:blipFill>
        <p:spPr>
          <a:xfrm xmlns:a="http://schemas.openxmlformats.org/drawingml/2006/main">
            <a:off x="571500" y="1743075"/>
            <a:ext cx="6858000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The green Player is you; red and purple Enemies are separate instances.">
            <a:extLst xmlns:a="http://schemas.openxmlformats.org/drawingml/2006/main">
              <a:ext uri="{FF2B5EF4-FFF2-40B4-BE49-F238E27FC236}">
                <a16:creationId xmlns:a16="http://schemas.microsoft.com/office/drawing/2014/main" id="{30E3CF95-9A06-4FE9-B5E7-9DE54C4C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002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The green Player is you; red and purple Enemies are separate instances.</a:t>
            </a:r>
          </a:p>
        </p:txBody>
      </p:sp>
      <p:sp>
        <p:nvSpPr>
          <p:cNvPr id="5" name="Each yellow Bullet holds an owner reference; the panel counts live objects.">
            <a:extLst xmlns:a="http://schemas.openxmlformats.org/drawingml/2006/main">
              <a:ext uri="{FF2B5EF4-FFF2-40B4-BE49-F238E27FC236}">
                <a16:creationId xmlns:a16="http://schemas.microsoft.com/office/drawing/2014/main" id="{7598F954-FF58-42B9-92C8-82F89576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43375"/>
            <a:ext cx="3667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Each yellow Bullet holds an owner reference; the panel counts live objects.</a:t>
            </a:r>
          </a:p>
        </p:txBody>
      </p:sp>
      <p:sp>
        <p:nvSpPr>
          <p:cNvPr id="6" name="02">
            <a:extLst xmlns:a="http://schemas.openxmlformats.org/drawingml/2006/main">
              <a:ext uri="{FF2B5EF4-FFF2-40B4-BE49-F238E27FC236}">
                <a16:creationId xmlns:a16="http://schemas.microsoft.com/office/drawing/2014/main" id="{A2E9B965-2565-45CC-A8EA-6894D90A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7511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nstall and run: Windows">
            <a:extLst xmlns:a="http://schemas.openxmlformats.org/drawingml/2006/main">
              <a:ext uri="{FF2B5EF4-FFF2-40B4-BE49-F238E27FC236}">
                <a16:creationId xmlns:a16="http://schemas.microsoft.com/office/drawing/2014/main" id="{BF9940E6-2DE7-4F4D-AA77-C60F186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Install and run: Windows</a:t>
            </a:r>
          </a:p>
        </p:txBody>
      </p:sp>
      <p:sp>
        <p:nvSpPr>
          <p:cNvPr id="2" name="Extract the ZIP; open PowerShell in the project folder">
            <a:extLst xmlns:a="http://schemas.openxmlformats.org/drawingml/2006/main">
              <a:ext uri="{FF2B5EF4-FFF2-40B4-BE49-F238E27FC236}">
                <a16:creationId xmlns:a16="http://schemas.microsoft.com/office/drawing/2014/main" id="{00AA1ABA-5CC2-42D6-95AD-D6B24902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Extract the ZIP; open PowerShell in the project folder</a:t>
            </a:r>
          </a:p>
        </p:txBody>
      </p:sp>
      <p:sp>
        <p:nvSpPr>
          <p:cNvPr id="3" name="py -3.12 -m venv .venv">
            <a:extLst xmlns:a="http://schemas.openxmlformats.org/drawingml/2006/main">
              <a:ext uri="{FF2B5EF4-FFF2-40B4-BE49-F238E27FC236}">
                <a16:creationId xmlns:a16="http://schemas.microsoft.com/office/drawing/2014/main" id="{D54A3DC3-01E2-4A28-98E8-1DF92A72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 -3.12 -m venv .venv</a:t>
            </a:r>
          </a:p>
        </p:txBody>
      </p:sp>
      <p:sp>
        <p:nvSpPr>
          <p:cNvPr id="4" name=".\.venv\Scripts\python.exe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B8F5DA7C-42C4-4783-9DFD-8C2E5014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pip install -r requirements.txt</a:t>
            </a:r>
          </a:p>
        </p:txBody>
      </p:sp>
      <p:sp>
        <p:nvSpPr>
          <p:cNvPr id="5" name=".\.venv\Scripts\python.exe main.py --lang en">
            <a:extLst xmlns:a="http://schemas.openxmlformats.org/drawingml/2006/main">
              <a:ext uri="{FF2B5EF4-FFF2-40B4-BE49-F238E27FC236}">
                <a16:creationId xmlns:a16="http://schemas.microsoft.com/office/drawing/2014/main" id="{C63D4B7C-A5FE-43F6-BE2C-C39634C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main.py --lang en</a:t>
            </a:r>
          </a:p>
        </p:txBody>
      </p:sp>
      <p:sp>
        <p:nvSpPr>
          <p:cNvPr id="6" name="Use Python 3.12; requirements.txt pins pygame==2.6.1.">
            <a:extLst xmlns:a="http://schemas.openxmlformats.org/drawingml/2006/main">
              <a:ext uri="{FF2B5EF4-FFF2-40B4-BE49-F238E27FC236}">
                <a16:creationId xmlns:a16="http://schemas.microsoft.com/office/drawing/2014/main" id="{ACE82119-1BFE-40BD-8E54-3ECB664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Use Python 3.12; requirements.txt pins pygame==2.6.1.</a:t>
            </a:r>
          </a:p>
        </p:txBody>
      </p:sp>
      <p:sp>
        <p:nvSpPr>
          <p:cNvPr id="7" name="Call the environment's Python directly; activation is unnecessary.">
            <a:extLst xmlns:a="http://schemas.openxmlformats.org/drawingml/2006/main">
              <a:ext uri="{FF2B5EF4-FFF2-40B4-BE49-F238E27FC236}">
                <a16:creationId xmlns:a16="http://schemas.microsoft.com/office/drawing/2014/main" id="{AD57389C-2CD0-4014-9FC0-CEA04C57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Call the environment's Python directly; activation is unnecessary.</a:t>
            </a:r>
          </a:p>
        </p:txBody>
      </p:sp>
      <p:sp>
        <p:nvSpPr>
          <p:cNvPr id="8" name="PowerShell">
            <a:extLst xmlns:a="http://schemas.openxmlformats.org/drawingml/2006/main">
              <a:ext uri="{FF2B5EF4-FFF2-40B4-BE49-F238E27FC236}">
                <a16:creationId xmlns:a16="http://schemas.microsoft.com/office/drawing/2014/main" id="{09E98FA1-D028-440B-8709-E9C42DD4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PowerShell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D9753148-E8F4-4B89-9935-764C6E35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3087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nstall and run: macOS / Linux">
            <a:extLst xmlns:a="http://schemas.openxmlformats.org/drawingml/2006/main">
              <a:ext uri="{FF2B5EF4-FFF2-40B4-BE49-F238E27FC236}">
                <a16:creationId xmlns:a16="http://schemas.microsoft.com/office/drawing/2014/main" id="{BD03D8F6-2ED3-4A02-A1A1-A66E3114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Install and run: macOS / Linux</a:t>
            </a:r>
          </a:p>
        </p:txBody>
      </p:sp>
      <p:sp>
        <p:nvSpPr>
          <p:cNvPr id="2" name="Open a terminal in the project; use a graphical desktop">
            <a:extLst xmlns:a="http://schemas.openxmlformats.org/drawingml/2006/main">
              <a:ext uri="{FF2B5EF4-FFF2-40B4-BE49-F238E27FC236}">
                <a16:creationId xmlns:a16="http://schemas.microsoft.com/office/drawing/2014/main" id="{7002AC82-6630-4411-8335-6E00D658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Open a terminal in the project; use a graphical desktop</a:t>
            </a:r>
          </a:p>
        </p:txBody>
      </p:sp>
      <p:sp>
        <p:nvSpPr>
          <p:cNvPr id="3" name="python3 -m venv .venv">
            <a:extLst xmlns:a="http://schemas.openxmlformats.org/drawingml/2006/main">
              <a:ext uri="{FF2B5EF4-FFF2-40B4-BE49-F238E27FC236}">
                <a16:creationId xmlns:a16="http://schemas.microsoft.com/office/drawing/2014/main" id="{50CF1E4A-E152-4EDE-9F1B-EAAE7DF5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python3 -m venv .venv</a:t>
            </a:r>
          </a:p>
        </p:txBody>
      </p:sp>
      <p:sp>
        <p:nvSpPr>
          <p:cNvPr id="4" name=".venv/bin/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A9D6C88B-949F-4962-9A86-7522A13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pip install -r requirements.txt</a:t>
            </a:r>
          </a:p>
        </p:txBody>
      </p:sp>
      <p:sp>
        <p:nvSpPr>
          <p:cNvPr id="5" name=".venv/bin/python main.py --lang en">
            <a:extLst xmlns:a="http://schemas.openxmlformats.org/drawingml/2006/main">
              <a:ext uri="{FF2B5EF4-FFF2-40B4-BE49-F238E27FC236}">
                <a16:creationId xmlns:a16="http://schemas.microsoft.com/office/drawing/2014/main" id="{CEFB352F-44CD-458D-AC87-C6D77CC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main.py --lang en</a:t>
            </a:r>
          </a:p>
        </p:txBody>
      </p:sp>
      <p:sp>
        <p:nvSpPr>
          <p:cNvPr id="6" name="--lang accepts zh, en, or ja; game rules stay the same.">
            <a:extLst xmlns:a="http://schemas.openxmlformats.org/drawingml/2006/main">
              <a:ext uri="{FF2B5EF4-FFF2-40B4-BE49-F238E27FC236}">
                <a16:creationId xmlns:a16="http://schemas.microsoft.com/office/drawing/2014/main" id="{1C892F42-05A8-4E5D-A79D-29BDF7CA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--lang accepts zh, en, or ja; game rules stay the same.</a:t>
            </a:r>
          </a:p>
        </p:txBody>
      </p:sp>
      <p:sp>
        <p:nvSpPr>
          <p:cNvPr id="7" name="If CJK text is missing, install a system Noto Sans CJK font.">
            <a:extLst xmlns:a="http://schemas.openxmlformats.org/drawingml/2006/main">
              <a:ext uri="{FF2B5EF4-FFF2-40B4-BE49-F238E27FC236}">
                <a16:creationId xmlns:a16="http://schemas.microsoft.com/office/drawing/2014/main" id="{2E1D6BAE-8894-48F1-B3C5-A76E70F5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If CJK text is missing, install a system Noto Sans CJK font.</a:t>
            </a:r>
          </a:p>
        </p:txBody>
      </p:sp>
      <p:sp>
        <p:nvSpPr>
          <p:cNvPr id="8" name="Terminal">
            <a:extLst xmlns:a="http://schemas.openxmlformats.org/drawingml/2006/main">
              <a:ext uri="{FF2B5EF4-FFF2-40B4-BE49-F238E27FC236}">
                <a16:creationId xmlns:a16="http://schemas.microsoft.com/office/drawing/2014/main" id="{4DE544D9-D1B1-40CD-B853-7708E9F1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E4E740B3-A804-4D67-9EEA-DB6FBA9D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2753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y one round; observe the objects">
            <a:extLst xmlns:a="http://schemas.openxmlformats.org/drawingml/2006/main">
              <a:ext uri="{FF2B5EF4-FFF2-40B4-BE49-F238E27FC236}">
                <a16:creationId xmlns:a16="http://schemas.microsoft.com/office/drawing/2014/main" id="{15E54040-DAF8-46AB-A5D6-1414C811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Play one round; observe the objects</a:t>
            </a:r>
          </a:p>
        </p:txBody>
      </p:sp>
      <p:sp>
        <p:nvSpPr>
          <p:cNvPr id="2" name="+10 per defeated enemy; win at 200; start with 3 HP">
            <a:extLst xmlns:a="http://schemas.openxmlformats.org/drawingml/2006/main">
              <a:ext uri="{FF2B5EF4-FFF2-40B4-BE49-F238E27FC236}">
                <a16:creationId xmlns:a16="http://schemas.microsoft.com/office/drawing/2014/main" id="{61CE9738-E35E-4BE9-9942-7BF9A06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+10 per defeated enemy; win at 200; start with 3 HP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0822C-2C6A-4536-8F99-F14E7EFC62C7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Key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Action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Start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Arrows / WASD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Move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Space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Shoot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Pause / advance one paused frame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Tab / R / Esc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Labels / reset to ready / quit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act or a missed enemy triggers damage; invulnerability prevents repeated HP ">
            <a:extLst xmlns:a="http://schemas.openxmlformats.org/drawingml/2006/main">
              <a:ext uri="{FF2B5EF4-FFF2-40B4-BE49-F238E27FC236}">
                <a16:creationId xmlns:a16="http://schemas.microsoft.com/office/drawing/2014/main" id="{8811D437-1478-4095-B458-9758305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Contact or a missed enemy triggers damage; invulnerability prevents repeated HP loss.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D953D3FE-AD9E-4F8D-AAA0-CAEFBA62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3497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ive classes, five responsibilities">
            <a:extLst xmlns:a="http://schemas.openxmlformats.org/drawingml/2006/main">
              <a:ext uri="{FF2B5EF4-FFF2-40B4-BE49-F238E27FC236}">
                <a16:creationId xmlns:a16="http://schemas.microsoft.com/office/drawing/2014/main" id="{BE4DEB07-5D3A-481A-98E2-7D929C30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Five classes, five responsibilities</a:t>
            </a:r>
          </a:p>
        </p:txBody>
      </p:sp>
      <p:sp>
        <p:nvSpPr>
          <p:cNvPr id="2" name="Actors handle themselves; Game coordinates interactions">
            <a:extLst xmlns:a="http://schemas.openxmlformats.org/drawingml/2006/main">
              <a:ext uri="{FF2B5EF4-FFF2-40B4-BE49-F238E27FC236}">
                <a16:creationId xmlns:a16="http://schemas.microsoft.com/office/drawing/2014/main" id="{0EA130B9-7987-49F3-9268-AF3BA9BD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Actors handle themselves; Game coordinates interactions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27BEC-4359-4847-BD03-C3FC9D4098E7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3905250"/>
                <a:gridCol w="53340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Class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State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Responsibility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pos, velocity, image, rect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Shared position and visual data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hp, cooldown, invulnerable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Direction, shooting, damage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hp, max_hp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Descent, hits, defeat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owner, damage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Travel and off-screen removal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score, state, groups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Spawning, collisions, game loop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D809D48-B6F1-443D-81C7-DCDF5458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7362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One class can create many objects">
            <a:extLst xmlns:a="http://schemas.openxmlformats.org/drawingml/2006/main">
              <a:ext uri="{FF2B5EF4-FFF2-40B4-BE49-F238E27FC236}">
                <a16:creationId xmlns:a16="http://schemas.microsoft.com/office/drawing/2014/main" id="{F22AB309-50FC-4855-BD9F-27B5896B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One class can create many objects</a:t>
            </a:r>
          </a:p>
        </p:txBody>
      </p:sp>
      <p:sp>
        <p:nvSpPr>
          <p:cNvPr id="2" name="A class defines shared rules; instances keep separate state">
            <a:extLst xmlns:a="http://schemas.openxmlformats.org/drawingml/2006/main">
              <a:ext uri="{FF2B5EF4-FFF2-40B4-BE49-F238E27FC236}">
                <a16:creationId xmlns:a16="http://schemas.microsoft.com/office/drawing/2014/main" id="{A868BC59-B604-4A59-AED9-6F042CB0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 class defines shared rules; instances keep separate state</a:t>
            </a:r>
          </a:p>
        </p:txBody>
      </p:sp>
      <p:sp>
        <p:nvSpPr>
          <p:cNvPr id="3" name="e1 = Enemy(&quot;E01&quot;, (180, 180), hp=1)">
            <a:extLst xmlns:a="http://schemas.openxmlformats.org/drawingml/2006/main">
              <a:ext uri="{FF2B5EF4-FFF2-40B4-BE49-F238E27FC236}">
                <a16:creationId xmlns:a16="http://schemas.microsoft.com/office/drawing/2014/main" id="{5B971455-E3C7-4F26-96C6-09669CB5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 = Enemy("E01", (180, 180), hp=1)</a:t>
            </a:r>
          </a:p>
        </p:txBody>
      </p:sp>
      <p:sp>
        <p:nvSpPr>
          <p:cNvPr id="4" name="e2 = Enemy(&quot;E02&quot;, (395, 235), hp=2)">
            <a:extLst xmlns:a="http://schemas.openxmlformats.org/drawingml/2006/main">
              <a:ext uri="{FF2B5EF4-FFF2-40B4-BE49-F238E27FC236}">
                <a16:creationId xmlns:a16="http://schemas.microsoft.com/office/drawing/2014/main" id="{AFBC77B4-A3ED-415F-8B0B-7975CAAF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e2 = Enemy("E02", (395, 235), hp=2)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44D30-E0DE-47D4-BEB7-2821174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print(e1 is e2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29D5FBE9-9499-4980-AD55-2023D89D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 is e2)                 # False</a:t>
            </a:r>
          </a:p>
        </p:txBody>
      </p:sp>
      <p:sp>
        <p:nvSpPr>
          <p:cNvPr id="7" name="print(isinstance(e2, Enemy))    # True">
            <a:extLst xmlns:a="http://schemas.openxmlformats.org/drawingml/2006/main">
              <a:ext uri="{FF2B5EF4-FFF2-40B4-BE49-F238E27FC236}">
                <a16:creationId xmlns:a16="http://schemas.microsoft.com/office/drawing/2014/main" id="{3AD18743-9EFD-4748-BFF2-73A929E7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print(isinstance(e2, Enemy))    # True</a:t>
            </a:r>
          </a:p>
        </p:txBody>
      </p:sp>
      <p:sp>
        <p:nvSpPr>
          <p:cNvPr id="8" name="e1.take_hit(1)">
            <a:extLst xmlns:a="http://schemas.openxmlformats.org/drawingml/2006/main">
              <a:ext uri="{FF2B5EF4-FFF2-40B4-BE49-F238E27FC236}">
                <a16:creationId xmlns:a16="http://schemas.microsoft.com/office/drawing/2014/main" id="{0271E5B4-DEB8-45E8-ACC3-F64A923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e1.take_hit(1)</a:t>
            </a:r>
          </a:p>
        </p:txBody>
      </p:sp>
      <p:sp>
        <p:nvSpPr>
          <p:cNvPr id="9" name="print(e1.hp, e2.hp)             # 0 2">
            <a:extLst xmlns:a="http://schemas.openxmlformats.org/drawingml/2006/main">
              <a:ext uri="{FF2B5EF4-FFF2-40B4-BE49-F238E27FC236}">
                <a16:creationId xmlns:a16="http://schemas.microsoft.com/office/drawing/2014/main" id="{91C00B07-F697-4AAA-8508-FE30795A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print(e1.hp, e2.hp)             # 0 2</a:t>
            </a:r>
          </a:p>
        </p:txBody>
      </p:sp>
      <p:sp>
        <p:nvSpPr>
          <p:cNvPr id="10" name="e1 and e2 are both Enemies, but have different identities and HP.">
            <a:extLst xmlns:a="http://schemas.openxmlformats.org/drawingml/2006/main">
              <a:ext uri="{FF2B5EF4-FFF2-40B4-BE49-F238E27FC236}">
                <a16:creationId xmlns:a16="http://schemas.microsoft.com/office/drawing/2014/main" id="{7B6DE70A-4174-4F7C-B9AC-91138B8D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e1 and e2 are both Enemies, but have different identities and HP.</a:t>
            </a:r>
          </a:p>
        </p:txBody>
      </p:sp>
      <p:sp>
        <p:nvSpPr>
          <p:cNvPr id="11" name="e1.take_hit(1) does not reduce e2.hp.">
            <a:extLst xmlns:a="http://schemas.openxmlformats.org/drawingml/2006/main">
              <a:ext uri="{FF2B5EF4-FFF2-40B4-BE49-F238E27FC236}">
                <a16:creationId xmlns:a16="http://schemas.microsoft.com/office/drawing/2014/main" id="{B27867FA-F258-425C-9738-0079D9E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e1.take_hit(1) does not reduce e2.hp.</a:t>
            </a:r>
          </a:p>
        </p:txBody>
      </p:sp>
      <p:sp>
        <p:nvSpPr>
          <p:cNvPr id="12" name="actors.py · Enemy">
            <a:extLst xmlns:a="http://schemas.openxmlformats.org/drawingml/2006/main">
              <a:ext uri="{FF2B5EF4-FFF2-40B4-BE49-F238E27FC236}">
                <a16:creationId xmlns:a16="http://schemas.microsoft.com/office/drawing/2014/main" id="{2E5DD774-0DD5-42EB-944F-15FF274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</a:t>
            </a:r>
          </a:p>
        </p:txBody>
      </p:sp>
      <p:sp>
        <p:nvSpPr>
          <p:cNvPr id="13" name="07">
            <a:extLst xmlns:a="http://schemas.openxmlformats.org/drawingml/2006/main">
              <a:ext uri="{FF2B5EF4-FFF2-40B4-BE49-F238E27FC236}">
                <a16:creationId xmlns:a16="http://schemas.microsoft.com/office/drawing/2014/main" id="{1850A4C8-4BA7-4433-A7BC-A95FA540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57102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ad three UML notations">
            <a:extLst xmlns:a="http://schemas.openxmlformats.org/drawingml/2006/main">
              <a:ext uri="{FF2B5EF4-FFF2-40B4-BE49-F238E27FC236}">
                <a16:creationId xmlns:a16="http://schemas.microsoft.com/office/drawing/2014/main" id="{4122F9BF-8098-480C-A336-8F428F4D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Read three UML notations</a:t>
            </a:r>
          </a:p>
        </p:txBody>
      </p:sp>
      <p:sp>
        <p:nvSpPr>
          <p:cNvPr id="2" name="Class diagrams show structure; object diagrams show instances at a moment">
            <a:extLst xmlns:a="http://schemas.openxmlformats.org/drawingml/2006/main">
              <a:ext uri="{FF2B5EF4-FFF2-40B4-BE49-F238E27FC236}">
                <a16:creationId xmlns:a16="http://schemas.microsoft.com/office/drawing/2014/main" id="{4118A20F-9752-4A83-A8A3-7655E45E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Class diagrams show structure; object diagrams show instances at a moment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18DB6F62-5F57-4BAD-B214-BC87C9F7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Class box: name at the top, attributes in the middle, methods below.">
            <a:extLst xmlns:a="http://schemas.openxmlformats.org/drawingml/2006/main">
              <a:ext uri="{FF2B5EF4-FFF2-40B4-BE49-F238E27FC236}">
                <a16:creationId xmlns:a16="http://schemas.microsoft.com/office/drawing/2014/main" id="{77CDB7F5-9F3B-4792-9644-0D98A1F8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Class box: name at the top, attributes in the middle, methods below.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366A3B12-098D-4FE0-9344-91DF6B4E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A hollow triangle points to the superclass; an open arrow shows a navigable asso">
            <a:extLst xmlns:a="http://schemas.openxmlformats.org/drawingml/2006/main">
              <a:ext uri="{FF2B5EF4-FFF2-40B4-BE49-F238E27FC236}">
                <a16:creationId xmlns:a16="http://schemas.microsoft.com/office/drawing/2014/main" id="{882037A9-6663-4B71-9FDE-22718ABC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 hollow triangle points to the superclass; an open arrow shows a navigable association.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C4CFE24D-B172-406F-A4DC-098AF751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1 means one; 0..* means zero or more. Underline name : Class for an instance.">
            <a:extLst xmlns:a="http://schemas.openxmlformats.org/drawingml/2006/main">
              <a:ext uri="{FF2B5EF4-FFF2-40B4-BE49-F238E27FC236}">
                <a16:creationId xmlns:a16="http://schemas.microsoft.com/office/drawing/2014/main" id="{690DDDDA-8D12-4728-87AB-815F813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 means one; 0..* means zero or more. Underline name : Class for an instance.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80B6D9A1-4D15-41A5-92C4-F307FD1F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3591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Class diagram: three kinds of Actor">
            <a:extLst xmlns:a="http://schemas.openxmlformats.org/drawingml/2006/main">
              <a:ext uri="{FF2B5EF4-FFF2-40B4-BE49-F238E27FC236}">
                <a16:creationId xmlns:a16="http://schemas.microsoft.com/office/drawing/2014/main" id="{740EF52A-C767-4791-9708-AB8A9636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Class diagram: three kinds of Actor</a:t>
            </a:r>
          </a:p>
        </p:txBody>
      </p:sp>
      <p:sp>
        <p:nvSpPr>
          <p:cNvPr id="2" name="Share movement, then add specialized behavior">
            <a:extLst xmlns:a="http://schemas.openxmlformats.org/drawingml/2006/main">
              <a:ext uri="{FF2B5EF4-FFF2-40B4-BE49-F238E27FC236}">
                <a16:creationId xmlns:a16="http://schemas.microsoft.com/office/drawing/2014/main" id="{80234846-574E-4BF4-B7B6-987C1B8C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Share movement, then add specialized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CA31A-D4B1-45AD-8EB8-B9E404C1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4" name="pygame.sprite.Sprite">
            <a:extLst xmlns:a="http://schemas.openxmlformats.org/drawingml/2006/main">
              <a:ext uri="{FF2B5EF4-FFF2-40B4-BE49-F238E27FC236}">
                <a16:creationId xmlns:a16="http://schemas.microsoft.com/office/drawing/2014/main" id="{E9AE3E9E-461B-43D7-B031-AAF1F31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75260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7082"/>
                </a:solidFill>
                <a:latin typeface="Aptos"/>
                <a:ea typeface="Aptos"/>
                <a:cs typeface="Aptos"/>
              </a:rPr>
              <a:t>pygame.sprite.Sprite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B63BB-BD1E-4AF9-9177-52BED6F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581275"/>
            <a:ext cx="4286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6" name="Actor">
            <a:extLst xmlns:a="http://schemas.openxmlformats.org/drawingml/2006/main">
              <a:ext uri="{FF2B5EF4-FFF2-40B4-BE49-F238E27FC236}">
                <a16:creationId xmlns:a16="http://schemas.microsoft.com/office/drawing/2014/main" id="{F4537EBC-EB56-4D2B-9E4A-451DF30C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67000"/>
            <a:ext cx="3981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B49F6-5C17-4E81-BB77-3B7574B5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038475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name, pos, velocity, image, rect">
            <a:extLst xmlns:a="http://schemas.openxmlformats.org/drawingml/2006/main">
              <a:ext uri="{FF2B5EF4-FFF2-40B4-BE49-F238E27FC236}">
                <a16:creationId xmlns:a16="http://schemas.microsoft.com/office/drawing/2014/main" id="{FA238543-8812-4EE1-AC5D-E788CFB9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337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name, pos, velocity, image, 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712A0-1E24-4E88-873A-450B666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52875" y="3409950"/>
            <a:ext cx="4286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0" name="update(dt)">
            <a:extLst xmlns:a="http://schemas.openxmlformats.org/drawingml/2006/main">
              <a:ext uri="{FF2B5EF4-FFF2-40B4-BE49-F238E27FC236}">
                <a16:creationId xmlns:a16="http://schemas.microsoft.com/office/drawing/2014/main" id="{308B93C7-F9FF-4FDD-8F34-531FF0D8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4956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update(dt)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12896-562A-405A-8E2C-4279B8B0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2" name="Player">
            <a:extLst xmlns:a="http://schemas.openxmlformats.org/drawingml/2006/main">
              <a:ext uri="{FF2B5EF4-FFF2-40B4-BE49-F238E27FC236}">
                <a16:creationId xmlns:a16="http://schemas.microsoft.com/office/drawing/2014/main" id="{5B42FA42-15D3-45EA-B4D3-587C6E54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F2311-DF9B-4CF4-B541-369BE8D3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hp, cooldown, invulnerable">
            <a:extLst xmlns:a="http://schemas.openxmlformats.org/drawingml/2006/main">
              <a:ext uri="{FF2B5EF4-FFF2-40B4-BE49-F238E27FC236}">
                <a16:creationId xmlns:a16="http://schemas.microsoft.com/office/drawing/2014/main" id="{68C7D560-FA03-4DBF-81E9-BCB9342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hp, cooldown, invulnerable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48400-8AA6-4FD2-86FB-62C309D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shoot(name), take_damage() set_direction(x, y), update(dt)">
            <a:extLst xmlns:a="http://schemas.openxmlformats.org/drawingml/2006/main">
              <a:ext uri="{FF2B5EF4-FFF2-40B4-BE49-F238E27FC236}">
                <a16:creationId xmlns:a16="http://schemas.microsoft.com/office/drawing/2014/main" id="{D8F70FB0-5DE0-43B4-8A1E-6E29B02C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shoot(name), take_damage()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set_direction(x, y), update(dt)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30704-BF31-4A2E-93CE-D2D589B3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8" name="Enemy">
            <a:extLst xmlns:a="http://schemas.openxmlformats.org/drawingml/2006/main">
              <a:ext uri="{FF2B5EF4-FFF2-40B4-BE49-F238E27FC236}">
                <a16:creationId xmlns:a16="http://schemas.microsoft.com/office/drawing/2014/main" id="{EA57D7DC-7DF4-46D0-AF6D-666C855C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F4A44"/>
                </a:solidFill>
                <a:latin typeface="Aptos"/>
                <a:ea typeface="Aptos"/>
                <a:cs typeface="Aptos"/>
              </a:rPr>
              <a:t>Enemy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A2D72-E61F-40D0-BD78-A7951A9F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0" name="hp, max_hp">
            <a:extLst xmlns:a="http://schemas.openxmlformats.org/drawingml/2006/main">
              <a:ext uri="{FF2B5EF4-FFF2-40B4-BE49-F238E27FC236}">
                <a16:creationId xmlns:a16="http://schemas.microsoft.com/office/drawing/2014/main" id="{2A3DD1FD-9847-4773-9120-B8AEBC2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hp, max_hp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CDD8F9-4391-4C95-AB38-79CC1FD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0055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2" name="take_hit(damage)">
            <a:extLst xmlns:a="http://schemas.openxmlformats.org/drawingml/2006/main">
              <a:ext uri="{FF2B5EF4-FFF2-40B4-BE49-F238E27FC236}">
                <a16:creationId xmlns:a16="http://schemas.microsoft.com/office/drawing/2014/main" id="{E1C9270F-555E-48C1-BDF8-1BDAE13E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take_hit(damage)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AA8AFC-79CA-4E31-B8EB-C7D91D47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524375"/>
            <a:ext cx="3381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4" name="Bullet">
            <a:extLst xmlns:a="http://schemas.openxmlformats.org/drawingml/2006/main">
              <a:ext uri="{FF2B5EF4-FFF2-40B4-BE49-F238E27FC236}">
                <a16:creationId xmlns:a16="http://schemas.microsoft.com/office/drawing/2014/main" id="{A6386944-CA62-4B5E-8692-8A79E83B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3076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D08"/>
                </a:solidFill>
                <a:latin typeface="Aptos"/>
                <a:ea typeface="Aptos"/>
                <a:cs typeface="Aptos"/>
              </a:rPr>
              <a:t>Bullet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E27D4-20E1-449A-874C-93882E5A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4981575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6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BD3B02A8-C7C8-4C42-BB5A-CED09C80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7682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owner, damage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6F1FE-7CA0-488D-9FB8-64FD0D80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29600" y="5353050"/>
            <a:ext cx="3381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8" name="update(dt)">
            <a:extLst xmlns:a="http://schemas.openxmlformats.org/drawingml/2006/main">
              <a:ext uri="{FF2B5EF4-FFF2-40B4-BE49-F238E27FC236}">
                <a16:creationId xmlns:a16="http://schemas.microsoft.com/office/drawing/2014/main" id="{267A922A-A3AA-428E-AD2C-F18464F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38775"/>
            <a:ext cx="3095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update(dt)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9BC36-A45D-43A4-BE7F-B466BAB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717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8CF34-4156-4CBF-B2E3-0F41A7B6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2305050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E0E7A-962D-4EF6-B4F5-C3539924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000A7-A033-449C-8F75-1B8EEA2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057650"/>
            <a:ext cx="0" cy="2190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0FACE-8305-4181-9281-95C5347B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76581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C52826-0001-495E-831F-312D1246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21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F56F13-A180-43B0-89FF-A779064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123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409B2A-06E2-4AC3-BF26-66BC83E3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20288" y="4276725"/>
            <a:ext cx="0" cy="2476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Hollow triangles point to superclasses. Some drawing details are omitted.">
            <a:extLst xmlns:a="http://schemas.openxmlformats.org/drawingml/2006/main">
              <a:ext uri="{FF2B5EF4-FFF2-40B4-BE49-F238E27FC236}">
                <a16:creationId xmlns:a16="http://schemas.microsoft.com/office/drawing/2014/main" id="{6F9BE7A6-B578-48C5-92E7-74DBFDA3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Hollow triangles point to superclasses. Some drawing details are omitted.</a:t>
            </a:r>
          </a:p>
        </p:txBody>
      </p:sp>
      <p:sp>
        <p:nvSpPr>
          <p:cNvPr id="38" name="09">
            <a:extLst xmlns:a="http://schemas.openxmlformats.org/drawingml/2006/main">
              <a:ext uri="{FF2B5EF4-FFF2-40B4-BE49-F238E27FC236}">
                <a16:creationId xmlns:a16="http://schemas.microsoft.com/office/drawing/2014/main" id="{A67548ED-428A-4B3B-A158-C011CB89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548024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Relationships: manage, reference, create">
            <a:extLst xmlns:a="http://schemas.openxmlformats.org/drawingml/2006/main">
              <a:ext uri="{FF2B5EF4-FFF2-40B4-BE49-F238E27FC236}">
                <a16:creationId xmlns:a16="http://schemas.microsoft.com/office/drawing/2014/main" id="{38F990BE-092D-42DE-8A73-590E636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Relationships: manage, reference, create</a:t>
            </a:r>
          </a:p>
        </p:txBody>
      </p:sp>
      <p:sp>
        <p:nvSpPr>
          <p:cNvPr id="2" name="Bullet.owner is a reference; Game manages actors through groups">
            <a:extLst xmlns:a="http://schemas.openxmlformats.org/drawingml/2006/main">
              <a:ext uri="{FF2B5EF4-FFF2-40B4-BE49-F238E27FC236}">
                <a16:creationId xmlns:a16="http://schemas.microsoft.com/office/drawing/2014/main" id="{1144E570-2C62-4E8C-B0C5-AC034466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Bullet.owner is a reference; Game manages actors through groups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53788-7695-4DDF-A106-58E226C5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5241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EC0E1B12-CFC3-40FB-BD6F-BCD0B89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A1B30-8328-4993-B362-1792B7FB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45757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player, score, state all_sprites enemies, bullets">
            <a:extLst xmlns:a="http://schemas.openxmlformats.org/drawingml/2006/main">
              <a:ext uri="{FF2B5EF4-FFF2-40B4-BE49-F238E27FC236}">
                <a16:creationId xmlns:a16="http://schemas.microsoft.com/office/drawing/2014/main" id="{7AE85C14-6B52-42D4-B164-624A4212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player, score, state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all_sprites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enemies, bullets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5160-718B-4046-8EC5-EFF708A5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362450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update(dt)">
            <a:extLst xmlns:a="http://schemas.openxmlformats.org/drawingml/2006/main">
              <a:ext uri="{FF2B5EF4-FFF2-40B4-BE49-F238E27FC236}">
                <a16:creationId xmlns:a16="http://schemas.microsoft.com/office/drawing/2014/main" id="{F961036A-3F48-4BD6-9509-47578642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238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update(dt)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EAF9B-DDD8-40C0-9E5D-C750022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Player">
            <a:extLst xmlns:a="http://schemas.openxmlformats.org/drawingml/2006/main">
              <a:ext uri="{FF2B5EF4-FFF2-40B4-BE49-F238E27FC236}">
                <a16:creationId xmlns:a16="http://schemas.microsoft.com/office/drawing/2014/main" id="{C94C9B68-2328-408A-BA9F-007B1977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34856-2478-4EF2-8C5D-341B0759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2" name="hp, cooldown">
            <a:extLst xmlns:a="http://schemas.openxmlformats.org/drawingml/2006/main">
              <a:ext uri="{FF2B5EF4-FFF2-40B4-BE49-F238E27FC236}">
                <a16:creationId xmlns:a16="http://schemas.microsoft.com/office/drawing/2014/main" id="{E95C880A-8599-4FCB-AFDC-73B558F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hp, cooldown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1D1F3-E91D-481B-A381-E4F9627D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4" name="shoot(name)">
            <a:extLst xmlns:a="http://schemas.openxmlformats.org/drawingml/2006/main">
              <a:ext uri="{FF2B5EF4-FFF2-40B4-BE49-F238E27FC236}">
                <a16:creationId xmlns:a16="http://schemas.microsoft.com/office/drawing/2014/main" id="{425F2579-AD3A-4525-812A-C8B6E56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shoot(name)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D177B-E28D-4552-A015-003AFED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16" name="Group">
            <a:extLst xmlns:a="http://schemas.openxmlformats.org/drawingml/2006/main">
              <a:ext uri="{FF2B5EF4-FFF2-40B4-BE49-F238E27FC236}">
                <a16:creationId xmlns:a16="http://schemas.microsoft.com/office/drawing/2014/main" id="{CBF6C1D1-AD21-43CC-82C1-C2EEB0E3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B7082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83AA8-95E7-4410-89E0-EB07182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8" name="Sprite references">
            <a:extLst xmlns:a="http://schemas.openxmlformats.org/drawingml/2006/main">
              <a:ext uri="{FF2B5EF4-FFF2-40B4-BE49-F238E27FC236}">
                <a16:creationId xmlns:a16="http://schemas.microsoft.com/office/drawing/2014/main" id="{CB1B3302-28C0-4081-9A04-E41E311F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Sprite 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527D8-2B1D-439C-B7CF-3AA9A111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20" name="add(), update(), draw()">
            <a:extLst xmlns:a="http://schemas.openxmlformats.org/drawingml/2006/main">
              <a:ext uri="{FF2B5EF4-FFF2-40B4-BE49-F238E27FC236}">
                <a16:creationId xmlns:a16="http://schemas.microsoft.com/office/drawing/2014/main" id="{2AD9DFAE-BF6E-408C-93F7-5F4E0EA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add(), update(), draw()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DB234-C0FE-47AD-AE86-BADDD1B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524250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22" name="Actor">
            <a:extLst xmlns:a="http://schemas.openxmlformats.org/drawingml/2006/main">
              <a:ext uri="{FF2B5EF4-FFF2-40B4-BE49-F238E27FC236}">
                <a16:creationId xmlns:a16="http://schemas.microsoft.com/office/drawing/2014/main" id="{8115FEC3-8156-42CD-B11E-5AE9D72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9975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A908D-55A8-46D1-BC0B-3D497D62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39814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os, velocity">
            <a:extLst xmlns:a="http://schemas.openxmlformats.org/drawingml/2006/main">
              <a:ext uri="{FF2B5EF4-FFF2-40B4-BE49-F238E27FC236}">
                <a16:creationId xmlns:a16="http://schemas.microsoft.com/office/drawing/2014/main" id="{7730A375-CE7F-4B15-9F80-78091039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76700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pos, velocity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E1868-5E9F-400C-AA16-87F67430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435292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6" name="update(dt)">
            <a:extLst xmlns:a="http://schemas.openxmlformats.org/drawingml/2006/main">
              <a:ext uri="{FF2B5EF4-FFF2-40B4-BE49-F238E27FC236}">
                <a16:creationId xmlns:a16="http://schemas.microsoft.com/office/drawing/2014/main" id="{9719DC03-9031-4DE9-8C38-36C28FD7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386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update(dt)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1D359-9AD5-4303-958D-BF717D4F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66875"/>
            <a:ext cx="261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28" name="Bullet">
            <a:extLst xmlns:a="http://schemas.openxmlformats.org/drawingml/2006/main">
              <a:ext uri="{FF2B5EF4-FFF2-40B4-BE49-F238E27FC236}">
                <a16:creationId xmlns:a16="http://schemas.microsoft.com/office/drawing/2014/main" id="{6F7F72FA-F945-4C9B-BF77-1A2A079F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752600"/>
            <a:ext cx="2314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D08"/>
                </a:solidFill>
                <a:latin typeface="Aptos"/>
                <a:ea typeface="Aptos"/>
                <a:cs typeface="Aptos"/>
              </a:rPr>
              <a:t>Bullet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5551B-7660-4082-824D-A113C34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124075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0" name="owner, damage">
            <a:extLst xmlns:a="http://schemas.openxmlformats.org/drawingml/2006/main">
              <a:ext uri="{FF2B5EF4-FFF2-40B4-BE49-F238E27FC236}">
                <a16:creationId xmlns:a16="http://schemas.microsoft.com/office/drawing/2014/main" id="{5E44C230-57ED-4A15-9E66-D61A9E36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19325"/>
            <a:ext cx="2333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owner, damage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8F97A-A1E3-4D1D-8170-70E6C50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01125" y="24955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32" name="update(dt)">
            <a:extLst xmlns:a="http://schemas.openxmlformats.org/drawingml/2006/main">
              <a:ext uri="{FF2B5EF4-FFF2-40B4-BE49-F238E27FC236}">
                <a16:creationId xmlns:a16="http://schemas.microsoft.com/office/drawing/2014/main" id="{4AF795FB-6A58-4D25-90AB-AD98A63F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581275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update(dt)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EFED7-4CCE-44DD-A11B-3BE2C33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809750" y="2200275"/>
            <a:ext cx="0" cy="8001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5AEFA6-9CE9-4C2C-B7C8-48308BDA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2200275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9F72F-770E-4B77-A2F3-98CE007E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22002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98B1DF-D40A-4E1A-B8D8-E058B3E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21500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7" name="player">
            <a:extLst xmlns:a="http://schemas.openxmlformats.org/drawingml/2006/main">
              <a:ext uri="{FF2B5EF4-FFF2-40B4-BE49-F238E27FC236}">
                <a16:creationId xmlns:a16="http://schemas.microsoft.com/office/drawing/2014/main" id="{4561881F-43CC-411D-9E9E-2FE02D7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38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38" name="1">
            <a:extLst xmlns:a="http://schemas.openxmlformats.org/drawingml/2006/main">
              <a:ext uri="{FF2B5EF4-FFF2-40B4-BE49-F238E27FC236}">
                <a16:creationId xmlns:a16="http://schemas.microsoft.com/office/drawing/2014/main" id="{E4FBF621-FDF6-4859-B502-05BC9F8A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86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1">
            <a:extLst xmlns:a="http://schemas.openxmlformats.org/drawingml/2006/main">
              <a:ext uri="{FF2B5EF4-FFF2-40B4-BE49-F238E27FC236}">
                <a16:creationId xmlns:a16="http://schemas.microsoft.com/office/drawing/2014/main" id="{A593AE62-FD9D-4EB1-93CD-62DF08B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95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C36971-7450-400A-9433-12B05601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5625" y="4048125"/>
            <a:ext cx="1619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F3AF2-4946-46C7-B292-C746483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2292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D767B7-B505-4A42-8C5F-01B7522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2292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3" name="groups">
            <a:extLst xmlns:a="http://schemas.openxmlformats.org/drawingml/2006/main">
              <a:ext uri="{FF2B5EF4-FFF2-40B4-BE49-F238E27FC236}">
                <a16:creationId xmlns:a16="http://schemas.microsoft.com/office/drawing/2014/main" id="{F2B9B612-17F7-4EC1-8A58-AC205610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052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groups</a:t>
            </a:r>
          </a:p>
        </p:txBody>
      </p:sp>
      <p:sp>
        <p:nvSpPr>
          <p:cNvPr id="44" name="1">
            <a:extLst xmlns:a="http://schemas.openxmlformats.org/drawingml/2006/main">
              <a:ext uri="{FF2B5EF4-FFF2-40B4-BE49-F238E27FC236}">
                <a16:creationId xmlns:a16="http://schemas.microsoft.com/office/drawing/2014/main" id="{F8DFAE17-4FE8-4EC1-8A4F-02366ED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3">
            <a:extLst xmlns:a="http://schemas.openxmlformats.org/drawingml/2006/main">
              <a:ext uri="{FF2B5EF4-FFF2-40B4-BE49-F238E27FC236}">
                <a16:creationId xmlns:a16="http://schemas.microsoft.com/office/drawing/2014/main" id="{59406CDB-6B0D-4B2B-8BE0-CC3838A6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71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ACFEF2-7DC4-445D-9FD3-3AEABD70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04812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D24F8B-B8DD-42A6-A100-9798F12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909176" y="40481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D10664-D968-4B73-B55C-8ADC0443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909176" y="39978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49" name="members">
            <a:extLst xmlns:a="http://schemas.openxmlformats.org/drawingml/2006/main">
              <a:ext uri="{FF2B5EF4-FFF2-40B4-BE49-F238E27FC236}">
                <a16:creationId xmlns:a16="http://schemas.microsoft.com/office/drawing/2014/main" id="{31C4431E-6D2D-4495-912A-829C826F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957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members</a:t>
            </a:r>
          </a:p>
        </p:txBody>
      </p:sp>
      <p:sp>
        <p:nvSpPr>
          <p:cNvPr id="50" name="0..*">
            <a:extLst xmlns:a="http://schemas.openxmlformats.org/drawingml/2006/main">
              <a:ext uri="{FF2B5EF4-FFF2-40B4-BE49-F238E27FC236}">
                <a16:creationId xmlns:a16="http://schemas.microsoft.com/office/drawing/2014/main" id="{1947E83C-191E-46BD-B4F7-437FF873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0..*</a:t>
            </a:r>
          </a:p>
        </p:txBody>
      </p:sp>
      <p:sp>
        <p:nvSpPr>
          <p:cNvPr id="51" name="0..*">
            <a:extLst xmlns:a="http://schemas.openxmlformats.org/drawingml/2006/main">
              <a:ext uri="{FF2B5EF4-FFF2-40B4-BE49-F238E27FC236}">
                <a16:creationId xmlns:a16="http://schemas.microsoft.com/office/drawing/2014/main" id="{7E34274E-4B81-4422-9DDD-1E07AEC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0..*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259FE4-21F3-4350-AFE2-4DD6BA0F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2238375"/>
            <a:ext cx="16668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45A2DF-6E23-46E4-81C1-1B36931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334250" y="21881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DB4431-B381-4DCB-93F6-873775FB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22383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55" name="owner">
            <a:extLst xmlns:a="http://schemas.openxmlformats.org/drawingml/2006/main">
              <a:ext uri="{FF2B5EF4-FFF2-40B4-BE49-F238E27FC236}">
                <a16:creationId xmlns:a16="http://schemas.microsoft.com/office/drawing/2014/main" id="{E76BD4EF-5C48-401D-A4C4-80602704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57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66D08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56" name="1">
            <a:extLst xmlns:a="http://schemas.openxmlformats.org/drawingml/2006/main">
              <a:ext uri="{FF2B5EF4-FFF2-40B4-BE49-F238E27FC236}">
                <a16:creationId xmlns:a16="http://schemas.microsoft.com/office/drawing/2014/main" id="{869D1E40-72CB-4546-9EB2-9BE2CB5A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0..*">
            <a:extLst xmlns:a="http://schemas.openxmlformats.org/drawingml/2006/main">
              <a:ext uri="{FF2B5EF4-FFF2-40B4-BE49-F238E27FC236}">
                <a16:creationId xmlns:a16="http://schemas.microsoft.com/office/drawing/2014/main" id="{F56FE7D5-D871-4E8B-970A-99BE9FBD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0..*</a:t>
            </a:r>
          </a:p>
        </p:txBody>
      </p:sp>
      <p:sp>
        <p:nvSpPr>
          <p:cNvPr id="58" name="groups = all_sprites, enemies, bullets">
            <a:extLst xmlns:a="http://schemas.openxmlformats.org/drawingml/2006/main">
              <a:ext uri="{FF2B5EF4-FFF2-40B4-BE49-F238E27FC236}">
                <a16:creationId xmlns:a16="http://schemas.microsoft.com/office/drawing/2014/main" id="{69944D7A-1829-4D8D-A624-7D7026D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0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groups = all_sprites, enemies, bullets</a:t>
            </a:r>
          </a:p>
        </p:txBody>
      </p:sp>
      <p:sp>
        <p:nvSpPr>
          <p:cNvPr id="59" name="Each Bullet references one Player; many Bullets can reference that same Player.">
            <a:extLst xmlns:a="http://schemas.openxmlformats.org/drawingml/2006/main">
              <a:ext uri="{FF2B5EF4-FFF2-40B4-BE49-F238E27FC236}">
                <a16:creationId xmlns:a16="http://schemas.microsoft.com/office/drawing/2014/main" id="{F7E4E712-B8F2-40C7-90DA-86DBF47E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Each Bullet references one Player; many Bullets can reference that same Player.</a:t>
            </a:r>
          </a:p>
        </p:txBody>
      </p:sp>
      <p:sp>
        <p:nvSpPr>
          <p:cNvPr id="60" name="Group membership is not exclusive ownership, so no composition diamond is used.">
            <a:extLst xmlns:a="http://schemas.openxmlformats.org/drawingml/2006/main">
              <a:ext uri="{FF2B5EF4-FFF2-40B4-BE49-F238E27FC236}">
                <a16:creationId xmlns:a16="http://schemas.microsoft.com/office/drawing/2014/main" id="{6C7EDCE9-7AE9-42C3-A574-8E63DFDF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Group membership is not exclusive ownership, so no composition diamond is used.</a:t>
            </a:r>
          </a:p>
        </p:txBody>
      </p:sp>
      <p:sp>
        <p:nvSpPr>
          <p:cNvPr id="61" name="10">
            <a:extLst xmlns:a="http://schemas.openxmlformats.org/drawingml/2006/main">
              <a:ext uri="{FF2B5EF4-FFF2-40B4-BE49-F238E27FC236}">
                <a16:creationId xmlns:a16="http://schemas.microsoft.com/office/drawing/2014/main" id="{C3A33B80-A9A0-4F96-9E80-606052F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16285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Object diagram: one player, two references">
            <a:extLst xmlns:a="http://schemas.openxmlformats.org/drawingml/2006/main">
              <a:ext uri="{FF2B5EF4-FFF2-40B4-BE49-F238E27FC236}">
                <a16:creationId xmlns:a16="http://schemas.microsoft.com/office/drawing/2014/main" id="{B1AA9EC9-6F8E-42AA-B7AA-1DC91C7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Object diagram: one player, two references</a:t>
            </a:r>
          </a:p>
        </p:txBody>
      </p:sp>
      <p:sp>
        <p:nvSpPr>
          <p:cNvPr id="2" name="Paused snapshot: 1 Player, 3 Enemies, 2 Bullets">
            <a:extLst xmlns:a="http://schemas.openxmlformats.org/drawingml/2006/main">
              <a:ext uri="{FF2B5EF4-FFF2-40B4-BE49-F238E27FC236}">
                <a16:creationId xmlns:a16="http://schemas.microsoft.com/office/drawing/2014/main" id="{F44C5DCB-4F35-4472-85FF-2C9F087A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Paused snapshot: 1 Player, 3 Enemies, 2 Bullets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67C9F-8249-4E54-853F-02BB516B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4" name="B01 : Bullet">
            <a:extLst xmlns:a="http://schemas.openxmlformats.org/drawingml/2006/main">
              <a:ext uri="{FF2B5EF4-FFF2-40B4-BE49-F238E27FC236}">
                <a16:creationId xmlns:a16="http://schemas.microsoft.com/office/drawing/2014/main" id="{28E9DA09-8CBE-4355-B4F6-663D320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D08"/>
                </a:solidFill>
                <a:latin typeface="Aptos"/>
                <a:ea typeface="Aptos"/>
                <a:cs typeface="Aptos"/>
              </a:rPr>
              <a:t>B01 : Bullet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A2303-1A6B-4C19-8DCE-21C1ED4D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019300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96C6C-3578-4327-BC65-469BE09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124075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7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8375C036-4146-47BD-BE87-342BC59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19325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damage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owner → player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AC9C8-DF5F-4F27-92DE-6054A0EB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095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9" name="B02 : Bullet">
            <a:extLst xmlns:a="http://schemas.openxmlformats.org/drawingml/2006/main">
              <a:ext uri="{FF2B5EF4-FFF2-40B4-BE49-F238E27FC236}">
                <a16:creationId xmlns:a16="http://schemas.microsoft.com/office/drawing/2014/main" id="{278F37CB-7E1C-42AF-B427-1B3C8E07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790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D08"/>
                </a:solidFill>
                <a:latin typeface="Aptos"/>
                <a:ea typeface="Aptos"/>
                <a:cs typeface="Aptos"/>
              </a:rPr>
              <a:t>B02 : Bullet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992BF-6E9F-4380-B7A4-292F8B46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352925"/>
            <a:ext cx="16002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E49A7-2BF8-4790-B4F1-F97962B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457700"/>
            <a:ext cx="3095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2" name="damage = 1 owner → player">
            <a:extLst xmlns:a="http://schemas.openxmlformats.org/drawingml/2006/main">
              <a:ext uri="{FF2B5EF4-FFF2-40B4-BE49-F238E27FC236}">
                <a16:creationId xmlns:a16="http://schemas.microsoft.com/office/drawing/2014/main" id="{4F7DFFC4-325C-4A76-BC75-30833EF7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09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damage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owner → player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A96CE-CDCE-4C8C-8E08-7EC0569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57500"/>
            <a:ext cx="2952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4" name="player : Player">
            <a:extLst xmlns:a="http://schemas.openxmlformats.org/drawingml/2006/main">
              <a:ext uri="{FF2B5EF4-FFF2-40B4-BE49-F238E27FC236}">
                <a16:creationId xmlns:a16="http://schemas.microsoft.com/office/drawing/2014/main" id="{9C2701B4-CC92-4C63-867E-73897050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4322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player : 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E0500-2A83-40F4-BF81-869CD243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6350" y="3209925"/>
            <a:ext cx="2000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7FFBE-0933-4DF5-81A9-8375690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33950" y="331470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7" name="hp = 3 pos = (394, 664)">
            <a:extLst xmlns:a="http://schemas.openxmlformats.org/drawingml/2006/main">
              <a:ext uri="{FF2B5EF4-FFF2-40B4-BE49-F238E27FC236}">
                <a16:creationId xmlns:a16="http://schemas.microsoft.com/office/drawing/2014/main" id="{D82A3AFA-BC3E-4BD5-95F1-7977057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09950"/>
            <a:ext cx="266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 = 3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pos = (394, 664)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0FAEF-308F-4380-9407-72CFE0F1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67125" y="2305050"/>
            <a:ext cx="1266825" cy="7905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C98C1-116B-4951-8641-E5E79498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29351" y="3089559"/>
            <a:ext cx="104599" cy="6066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5A6C1-B7D2-42D1-8428-508218A3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82539" y="3004331"/>
            <a:ext cx="51411" cy="91294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27F3D-B27D-4FB8-86AD-D7B691D0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67125" y="3857625"/>
            <a:ext cx="1266825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35EF2-13F2-41BB-9388-341B03E3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78532" y="3857625"/>
            <a:ext cx="55418" cy="8891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26A48-C10A-4D1C-A694-C948393B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829184" y="3857625"/>
            <a:ext cx="104766" cy="141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6D08"/>
            </a:solidFill>
          </a:ln>
        </p:spPr>
      </p:sp>
      <p:sp>
        <p:nvSpPr>
          <p:cNvPr id="24" name="owner">
            <a:extLst xmlns:a="http://schemas.openxmlformats.org/drawingml/2006/main">
              <a:ext uri="{FF2B5EF4-FFF2-40B4-BE49-F238E27FC236}">
                <a16:creationId xmlns:a16="http://schemas.microsoft.com/office/drawing/2014/main" id="{51B17FEC-4129-4840-ABDC-EB144C6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62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66D08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5" name="owner">
            <a:extLst xmlns:a="http://schemas.openxmlformats.org/drawingml/2006/main">
              <a:ext uri="{FF2B5EF4-FFF2-40B4-BE49-F238E27FC236}">
                <a16:creationId xmlns:a16="http://schemas.microsoft.com/office/drawing/2014/main" id="{5ACC2920-1B3F-4F72-BDE2-3CEFCAE3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338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66D08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3080E-3951-4301-949F-30FF2CF6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27" name="E01 : Enemy">
            <a:extLst xmlns:a="http://schemas.openxmlformats.org/drawingml/2006/main">
              <a:ext uri="{FF2B5EF4-FFF2-40B4-BE49-F238E27FC236}">
                <a16:creationId xmlns:a16="http://schemas.microsoft.com/office/drawing/2014/main" id="{2FC6684B-587A-4895-8024-139D2CBD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F4A44"/>
                </a:solidFill>
                <a:latin typeface="Aptos"/>
                <a:ea typeface="Aptos"/>
                <a:cs typeface="Aptos"/>
              </a:rPr>
              <a:t>E01 : Enemy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EA505-F7D6-42BC-86C8-A02EC29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2019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BDAC96-2C90-4A2F-9641-C544DFE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2124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0" name="hp = 1 velocity.y = 65">
            <a:extLst xmlns:a="http://schemas.openxmlformats.org/drawingml/2006/main">
              <a:ext uri="{FF2B5EF4-FFF2-40B4-BE49-F238E27FC236}">
                <a16:creationId xmlns:a16="http://schemas.microsoft.com/office/drawing/2014/main" id="{70EF11B9-F4FD-465F-B40F-39992288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19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velocity.y = 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CF422-ECA0-458F-B070-E126D0A4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32" name="E02 : Enemy">
            <a:extLst xmlns:a="http://schemas.openxmlformats.org/drawingml/2006/main">
              <a:ext uri="{FF2B5EF4-FFF2-40B4-BE49-F238E27FC236}">
                <a16:creationId xmlns:a16="http://schemas.microsoft.com/office/drawing/2014/main" id="{A659D1EF-16C2-4117-BEDC-C86A4C6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4B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654B2"/>
                </a:solidFill>
                <a:latin typeface="Aptos"/>
                <a:ea typeface="Aptos"/>
                <a:cs typeface="Aptos"/>
              </a:rPr>
              <a:t>E02 : Enemy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7BAEF-4BAF-44E6-8A24-62CFF2D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35433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0AEF71-F453-4587-85CA-7D1C2D31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6480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35" name="hp = 2 velocity.y = 85">
            <a:extLst xmlns:a="http://schemas.openxmlformats.org/drawingml/2006/main">
              <a:ext uri="{FF2B5EF4-FFF2-40B4-BE49-F238E27FC236}">
                <a16:creationId xmlns:a16="http://schemas.microsoft.com/office/drawing/2014/main" id="{C57532BA-A2AF-4518-8C64-0CACEC0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433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 = 2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velocity.y = 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3BE78-3E40-4985-ABE5-50C6AA12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37" name="E03 : Enemy">
            <a:extLst xmlns:a="http://schemas.openxmlformats.org/drawingml/2006/main">
              <a:ext uri="{FF2B5EF4-FFF2-40B4-BE49-F238E27FC236}">
                <a16:creationId xmlns:a16="http://schemas.microsoft.com/office/drawing/2014/main" id="{82203361-A061-4D8E-8CA5-5E88882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10100"/>
            <a:ext cx="2362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F4A44"/>
                </a:solidFill>
                <a:latin typeface="Aptos"/>
                <a:ea typeface="Aptos"/>
                <a:cs typeface="Aptos"/>
              </a:rPr>
              <a:t>E03 : Enemy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31A983-455A-46AD-9E40-7588B379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05900" y="4876800"/>
            <a:ext cx="14668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B2A59-9C65-45BB-83B2-7B05D2AB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49815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BF4A44"/>
            </a:solidFill>
          </a:ln>
        </p:spPr>
      </p:sp>
      <p:sp>
        <p:nvSpPr>
          <p:cNvPr id="40" name="hp = 1 velocity.y = 100">
            <a:extLst xmlns:a="http://schemas.openxmlformats.org/drawingml/2006/main">
              <a:ext uri="{FF2B5EF4-FFF2-40B4-BE49-F238E27FC236}">
                <a16:creationId xmlns:a16="http://schemas.microsoft.com/office/drawing/2014/main" id="{90CF38DF-13A4-4A8A-AE9A-2A1EB4B7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768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hp = 1</a:t>
            </a:r>
          </a:p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velocity.y = 100</a:t>
            </a:r>
          </a:p>
        </p:txBody>
      </p:sp>
      <p:sp>
        <p:nvSpPr>
          <p:cNvPr id="41" name="B01.owner is B02.owner  →  True">
            <a:extLst xmlns:a="http://schemas.openxmlformats.org/drawingml/2006/main">
              <a:ext uri="{FF2B5EF4-FFF2-40B4-BE49-F238E27FC236}">
                <a16:creationId xmlns:a16="http://schemas.microsoft.com/office/drawing/2014/main" id="{186D956C-8324-4032-A5F4-81374BF3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87C62"/>
                </a:solidFill>
                <a:latin typeface="Aptos"/>
                <a:ea typeface="Aptos"/>
                <a:cs typeface="Aptos"/>
              </a:rPr>
              <a:t>B01.owner is B02.owner  →  True</a:t>
            </a:r>
          </a:p>
        </p:txBody>
      </p:sp>
      <p:sp>
        <p:nvSpPr>
          <p:cNvPr id="42" name="B01.owner and B02.owner refer to the same player; no player is copied.">
            <a:extLst xmlns:a="http://schemas.openxmlformats.org/drawingml/2006/main">
              <a:ext uri="{FF2B5EF4-FFF2-40B4-BE49-F238E27FC236}">
                <a16:creationId xmlns:a16="http://schemas.microsoft.com/office/drawing/2014/main" id="{A7557065-F6B9-4E34-87A4-EF7FE59B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B01.owner and B02.owner refer to the same player; no player is copied.</a:t>
            </a:r>
          </a:p>
        </p:txBody>
      </p:sp>
      <p:sp>
        <p:nvSpPr>
          <p:cNvPr id="43" name="Each enemy still has its own HP, position, and velocity.">
            <a:extLst xmlns:a="http://schemas.openxmlformats.org/drawingml/2006/main">
              <a:ext uri="{FF2B5EF4-FFF2-40B4-BE49-F238E27FC236}">
                <a16:creationId xmlns:a16="http://schemas.microsoft.com/office/drawing/2014/main" id="{8E3E8B21-7D3F-41DD-A16C-5C341629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Each enemy still has its own HP, position, and velocity.</a:t>
            </a:r>
          </a:p>
        </p:txBody>
      </p:sp>
      <p:sp>
        <p:nvSpPr>
          <p:cNvPr id="44" name="11">
            <a:extLst xmlns:a="http://schemas.openxmlformats.org/drawingml/2006/main">
              <a:ext uri="{FF2B5EF4-FFF2-40B4-BE49-F238E27FC236}">
                <a16:creationId xmlns:a16="http://schemas.microsoft.com/office/drawing/2014/main" id="{D0F6FFCE-F40B-4378-966E-FA87833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0695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roups organize; they do not copy">
            <a:extLst xmlns:a="http://schemas.openxmlformats.org/drawingml/2006/main">
              <a:ext uri="{FF2B5EF4-FFF2-40B4-BE49-F238E27FC236}">
                <a16:creationId xmlns:a16="http://schemas.microsoft.com/office/drawing/2014/main" id="{D2ACE6CF-3FED-4DFC-9FD7-DA81DF18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Groups organize; they do not copy</a:t>
            </a:r>
          </a:p>
        </p:txBody>
      </p:sp>
      <p:sp>
        <p:nvSpPr>
          <p:cNvPr id="2" name="One Enemy can belong to two groups at once">
            <a:extLst xmlns:a="http://schemas.openxmlformats.org/drawingml/2006/main">
              <a:ext uri="{FF2B5EF4-FFF2-40B4-BE49-F238E27FC236}">
                <a16:creationId xmlns:a16="http://schemas.microsoft.com/office/drawing/2014/main" id="{E3A8A605-5FD0-47B4-8B77-016351C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One Enemy can belong to two groups at once</a:t>
            </a:r>
          </a:p>
        </p:txBody>
      </p:sp>
      <p:sp>
        <p:nvSpPr>
          <p:cNvPr id="3" name="e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F57ABCE4-8128-42C5-81F0-5FBF1677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 = Enemy("E01", (180, 180))</a:t>
            </a:r>
          </a:p>
        </p:txBody>
      </p:sp>
      <p:sp>
        <p:nvSpPr>
          <p:cNvPr id="4" name="all_sprit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D3FED52A-5C3E-4409-B680-80BF44E8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all_sprites = pygame.sprite.Group(e)</a:t>
            </a:r>
          </a:p>
        </p:txBody>
      </p:sp>
      <p:sp>
        <p:nvSpPr>
          <p:cNvPr id="5" name="enemies = pygame.sprite.Group(e)">
            <a:extLst xmlns:a="http://schemas.openxmlformats.org/drawingml/2006/main">
              <a:ext uri="{FF2B5EF4-FFF2-40B4-BE49-F238E27FC236}">
                <a16:creationId xmlns:a16="http://schemas.microsoft.com/office/drawing/2014/main" id="{01B49496-F485-4785-8348-DEEDC26E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enemies = pygame.sprite.Group(e)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CD52F-16D5-42DD-8FA8-12781DFA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print(all_sprites.sprites()[0] is e)  # True">
            <a:extLst xmlns:a="http://schemas.openxmlformats.org/drawingml/2006/main">
              <a:ext uri="{FF2B5EF4-FFF2-40B4-BE49-F238E27FC236}">
                <a16:creationId xmlns:a16="http://schemas.microsoft.com/office/drawing/2014/main" id="{90CE6A90-BF6B-4976-800C-00F3218D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print(all_sprites.sprites()[0] is e)  # True</a:t>
            </a:r>
          </a:p>
        </p:txBody>
      </p:sp>
      <p:sp>
        <p:nvSpPr>
          <p:cNvPr id="8" name="print(enemies.sprites()[0] is e)      # True">
            <a:extLst xmlns:a="http://schemas.openxmlformats.org/drawingml/2006/main">
              <a:ext uri="{FF2B5EF4-FFF2-40B4-BE49-F238E27FC236}">
                <a16:creationId xmlns:a16="http://schemas.microsoft.com/office/drawing/2014/main" id="{D64E117B-3BA9-4816-9C0D-270F970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print(enemies.sprites()[0] is e)      # True</a:t>
            </a:r>
          </a:p>
        </p:txBody>
      </p:sp>
      <p:sp>
        <p:nvSpPr>
          <p:cNvPr id="9" name="all_sprites updates and draws; enemies narrows collision checks.">
            <a:extLst xmlns:a="http://schemas.openxmlformats.org/drawingml/2006/main">
              <a:ext uri="{FF2B5EF4-FFF2-40B4-BE49-F238E27FC236}">
                <a16:creationId xmlns:a16="http://schemas.microsoft.com/office/drawing/2014/main" id="{B131A79E-EF96-4C04-90CA-C204343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all_sprites updates and draws; enemies narrows collision checks.</a:t>
            </a:r>
          </a:p>
        </p:txBody>
      </p:sp>
      <p:sp>
        <p:nvSpPr>
          <p:cNvPr id="10" name="Changing e.hp is visible through either reference to that same object.">
            <a:extLst xmlns:a="http://schemas.openxmlformats.org/drawingml/2006/main">
              <a:ext uri="{FF2B5EF4-FFF2-40B4-BE49-F238E27FC236}">
                <a16:creationId xmlns:a16="http://schemas.microsoft.com/office/drawing/2014/main" id="{B3E4B465-AAA3-4804-9F1D-4DC29543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Changing e.hp is visible through either reference to that same object.</a:t>
            </a:r>
          </a:p>
        </p:txBody>
      </p:sp>
      <p:sp>
        <p:nvSpPr>
          <p:cNvPr id="11" name="game.py · spawn_enemy()">
            <a:extLst xmlns:a="http://schemas.openxmlformats.org/drawingml/2006/main">
              <a:ext uri="{FF2B5EF4-FFF2-40B4-BE49-F238E27FC236}">
                <a16:creationId xmlns:a16="http://schemas.microsoft.com/office/drawing/2014/main" id="{5BA5D927-48E5-4291-A3F9-A99A666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spawn_enemy()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3A6872EE-3780-4B16-84F1-C5360BD1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793182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tor: keep shared data together">
            <a:extLst xmlns:a="http://schemas.openxmlformats.org/drawingml/2006/main">
              <a:ext uri="{FF2B5EF4-FFF2-40B4-BE49-F238E27FC236}">
                <a16:creationId xmlns:a16="http://schemas.microsoft.com/office/drawing/2014/main" id="{77C2D15A-EF5D-4CC6-8852-3F1922B2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Actor: keep shared data together</a:t>
            </a:r>
          </a:p>
        </p:txBody>
      </p:sp>
      <p:sp>
        <p:nvSpPr>
          <p:cNvPr id="2" name="image holds appearance; rect holds placement and collision bounds">
            <a:extLst xmlns:a="http://schemas.openxmlformats.org/drawingml/2006/main">
              <a:ext uri="{FF2B5EF4-FFF2-40B4-BE49-F238E27FC236}">
                <a16:creationId xmlns:a16="http://schemas.microsoft.com/office/drawing/2014/main" id="{69710DDF-DB66-403E-AEEC-E40B2717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image holds appearance; rect holds placement and collision bounds</a:t>
            </a:r>
          </a:p>
        </p:txBody>
      </p:sp>
      <p:sp>
        <p:nvSpPr>
          <p:cNvPr id="3" name="class Actor(pygame.sprite.Sprite):">
            <a:extLst xmlns:a="http://schemas.openxmlformats.org/drawingml/2006/main">
              <a:ext uri="{FF2B5EF4-FFF2-40B4-BE49-F238E27FC236}">
                <a16:creationId xmlns:a16="http://schemas.microsoft.com/office/drawing/2014/main" id="{0DE11E97-1322-4405-8CFE-861E19DA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Actor(pygame.sprite.Sprite):</a:t>
            </a:r>
          </a:p>
        </p:txBody>
      </p:sp>
      <p:sp>
        <p:nvSpPr>
          <p:cNvPr id="4" name="    def __init__(self, name, position, size):">
            <a:extLst xmlns:a="http://schemas.openxmlformats.org/drawingml/2006/main">
              <a:ext uri="{FF2B5EF4-FFF2-40B4-BE49-F238E27FC236}">
                <a16:creationId xmlns:a16="http://schemas.microsoft.com/office/drawing/2014/main" id="{17731E0B-1C67-413D-B773-694646F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size):</a:t>
            </a:r>
          </a:p>
        </p:txBody>
      </p:sp>
      <p:sp>
        <p:nvSpPr>
          <p:cNvPr id="5" name="        super().__init__()">
            <a:extLst xmlns:a="http://schemas.openxmlformats.org/drawingml/2006/main">
              <a:ext uri="{FF2B5EF4-FFF2-40B4-BE49-F238E27FC236}">
                <a16:creationId xmlns:a16="http://schemas.microsoft.com/office/drawing/2014/main" id="{8D7B796A-9C88-46EA-885E-C8DB367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super().__init__()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AA9909D3-F0B1-4566-90E9-087EFF7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image = pygame.Surface(size, pygame.SRCALPHA)">
            <a:extLst xmlns:a="http://schemas.openxmlformats.org/drawingml/2006/main">
              <a:ext uri="{FF2B5EF4-FFF2-40B4-BE49-F238E27FC236}">
                <a16:creationId xmlns:a16="http://schemas.microsoft.com/office/drawing/2014/main" id="{E045B6D2-6E7C-4688-A99E-257880E3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self.image = pygame.Surface(size, pygame.SRCALPHA)</a:t>
            </a:r>
          </a:p>
        </p:txBody>
      </p:sp>
      <p:sp>
        <p:nvSpPr>
          <p:cNvPr id="8" name="        self.pos = pygame.Vector2(position)">
            <a:extLst xmlns:a="http://schemas.openxmlformats.org/drawingml/2006/main">
              <a:ext uri="{FF2B5EF4-FFF2-40B4-BE49-F238E27FC236}">
                <a16:creationId xmlns:a16="http://schemas.microsoft.com/office/drawing/2014/main" id="{EBA0C899-7897-4055-BA8B-B4BA5A4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self.pos = pygame.Vector2(position)</a:t>
            </a:r>
          </a:p>
        </p:txBody>
      </p:sp>
      <p:sp>
        <p:nvSpPr>
          <p:cNvPr id="9" name="        self.rect = self.image.get_rect(center=position)">
            <a:extLst xmlns:a="http://schemas.openxmlformats.org/drawingml/2006/main">
              <a:ext uri="{FF2B5EF4-FFF2-40B4-BE49-F238E27FC236}">
                <a16:creationId xmlns:a16="http://schemas.microsoft.com/office/drawing/2014/main" id="{A7DCEB93-B5FF-4412-8E2E-92708251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self.rect = self.image.get_rect(center=position)</a:t>
            </a:r>
          </a:p>
        </p:txBody>
      </p:sp>
      <p:sp>
        <p:nvSpPr>
          <p:cNvPr id="10" name="        self.velocity = pygame.Vector2()">
            <a:extLst xmlns:a="http://schemas.openxmlformats.org/drawingml/2006/main">
              <a:ext uri="{FF2B5EF4-FFF2-40B4-BE49-F238E27FC236}">
                <a16:creationId xmlns:a16="http://schemas.microsoft.com/office/drawing/2014/main" id="{6B8DD8CE-5026-4A63-8BFB-71B050A4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 = pygame.Vector2()</a:t>
            </a:r>
          </a:p>
        </p:txBody>
      </p:sp>
      <p:sp>
        <p:nvSpPr>
          <p:cNvPr id="11" name="super().__init__() initializes Sprite's group machinery.">
            <a:extLst xmlns:a="http://schemas.openxmlformats.org/drawingml/2006/main">
              <a:ext uri="{FF2B5EF4-FFF2-40B4-BE49-F238E27FC236}">
                <a16:creationId xmlns:a16="http://schemas.microsoft.com/office/drawing/2014/main" id="{E9A4CB71-8007-41F0-BD86-9FC40DB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super().__init__() initializes Sprite's group machinery.</a:t>
            </a:r>
          </a:p>
        </p:txBody>
      </p:sp>
      <p:sp>
        <p:nvSpPr>
          <p:cNvPr id="12" name="pos keeps floating-point coordinates; rect uses integer pixels.">
            <a:extLst xmlns:a="http://schemas.openxmlformats.org/drawingml/2006/main">
              <a:ext uri="{FF2B5EF4-FFF2-40B4-BE49-F238E27FC236}">
                <a16:creationId xmlns:a16="http://schemas.microsoft.com/office/drawing/2014/main" id="{857112DD-3EF3-470A-8173-AA43754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pos keeps floating-point coordinates; rect uses integer pixels.</a:t>
            </a:r>
          </a:p>
        </p:txBody>
      </p:sp>
      <p:sp>
        <p:nvSpPr>
          <p:cNvPr id="13" name="actors.py · Actor.__init__()">
            <a:extLst xmlns:a="http://schemas.openxmlformats.org/drawingml/2006/main">
              <a:ext uri="{FF2B5EF4-FFF2-40B4-BE49-F238E27FC236}">
                <a16:creationId xmlns:a16="http://schemas.microsoft.com/office/drawing/2014/main" id="{A981B983-31E2-4128-8586-44271198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Actor.__init__()</a:t>
            </a:r>
          </a:p>
        </p:txBody>
      </p:sp>
      <p:sp>
        <p:nvSpPr>
          <p:cNvPr id="14" name="13">
            <a:extLst xmlns:a="http://schemas.openxmlformats.org/drawingml/2006/main">
              <a:ext uri="{FF2B5EF4-FFF2-40B4-BE49-F238E27FC236}">
                <a16:creationId xmlns:a16="http://schemas.microsoft.com/office/drawing/2014/main" id="{507F2667-AC04-485E-8467-3C3A4F3C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98350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Movement = velocity × elapsed time">
            <a:extLst xmlns:a="http://schemas.openxmlformats.org/drawingml/2006/main">
              <a:ext uri="{FF2B5EF4-FFF2-40B4-BE49-F238E27FC236}">
                <a16:creationId xmlns:a16="http://schemas.microsoft.com/office/drawing/2014/main" id="{BD5B79C1-2294-43F0-9A2C-29AAD639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Movement = velocity × elapsed time</a:t>
            </a:r>
          </a:p>
        </p:txBody>
      </p:sp>
      <p:sp>
        <p:nvSpPr>
          <p:cNvPr id="2" name="dt is in seconds; velocity is in pixels per second">
            <a:extLst xmlns:a="http://schemas.openxmlformats.org/drawingml/2006/main">
              <a:ext uri="{FF2B5EF4-FFF2-40B4-BE49-F238E27FC236}">
                <a16:creationId xmlns:a16="http://schemas.microsoft.com/office/drawing/2014/main" id="{97ED74CE-9AC6-4D49-B1B1-8F947C4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dt is in seconds; velocity is in pixels per second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8586DA0B-48DE-4680-A88A-1EC7AB5D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9BA3F242-62F8-4E13-B044-9636F9D0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19DBDBBE-F2DC-493C-B069-BBB8358C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At 80 pixels per second, 0.5 seconds produces 40 pixels of movement.">
            <a:extLst xmlns:a="http://schemas.openxmlformats.org/drawingml/2006/main">
              <a:ext uri="{FF2B5EF4-FFF2-40B4-BE49-F238E27FC236}">
                <a16:creationId xmlns:a16="http://schemas.microsoft.com/office/drawing/2014/main" id="{E448ABE5-4A72-4B4F-B033-AE8B6E9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At 80 pixels per second, 0.5 seconds produces 40 pixels of movement.</a:t>
            </a:r>
          </a:p>
        </p:txBody>
      </p:sp>
      <p:sp>
        <p:nvSpPr>
          <p:cNvPr id="7" name="Update pos, then sync rect, so fractional movement is retained.">
            <a:extLst xmlns:a="http://schemas.openxmlformats.org/drawingml/2006/main">
              <a:ext uri="{FF2B5EF4-FFF2-40B4-BE49-F238E27FC236}">
                <a16:creationId xmlns:a16="http://schemas.microsoft.com/office/drawing/2014/main" id="{923BA9EB-E781-496C-864B-57586BA3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Update pos, then sync rect, so fractional movement is retained.</a:t>
            </a:r>
          </a:p>
        </p:txBody>
      </p:sp>
      <p:sp>
        <p:nvSpPr>
          <p:cNvPr id="8" name="actors.py · Actor.update()">
            <a:extLst xmlns:a="http://schemas.openxmlformats.org/drawingml/2006/main">
              <a:ext uri="{FF2B5EF4-FFF2-40B4-BE49-F238E27FC236}">
                <a16:creationId xmlns:a16="http://schemas.microsoft.com/office/drawing/2014/main" id="{3ECDDEF4-B842-474A-93C2-44B07766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Actor.update()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CDA0579A-C4F5-4AE2-89DF-78F6D55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419423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: turn input into direction">
            <a:extLst xmlns:a="http://schemas.openxmlformats.org/drawingml/2006/main">
              <a:ext uri="{FF2B5EF4-FFF2-40B4-BE49-F238E27FC236}">
                <a16:creationId xmlns:a16="http://schemas.microsoft.com/office/drawing/2014/main" id="{81DB8083-64B8-468D-A6A6-907A06AB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Player: turn input into direction</a:t>
            </a:r>
          </a:p>
        </p:txBody>
      </p:sp>
      <p:sp>
        <p:nvSpPr>
          <p:cNvPr id="2" name="Game reads keys; Player sets its own velocity">
            <a:extLst xmlns:a="http://schemas.openxmlformats.org/drawingml/2006/main">
              <a:ext uri="{FF2B5EF4-FFF2-40B4-BE49-F238E27FC236}">
                <a16:creationId xmlns:a16="http://schemas.microsoft.com/office/drawing/2014/main" id="{CA474C77-DE87-4D9D-94D7-A1CE42EA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Game reads keys; Player sets its own velocity</a:t>
            </a:r>
          </a:p>
        </p:txBody>
      </p:sp>
      <p:sp>
        <p:nvSpPr>
          <p:cNvPr id="3" name="def set_direction(self, x, y):">
            <a:extLst xmlns:a="http://schemas.openxmlformats.org/drawingml/2006/main">
              <a:ext uri="{FF2B5EF4-FFF2-40B4-BE49-F238E27FC236}">
                <a16:creationId xmlns:a16="http://schemas.microsoft.com/office/drawing/2014/main" id="{638C55AA-D054-45B5-9B69-071B0ABA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set_direction(self, x, y):</a:t>
            </a:r>
          </a:p>
        </p:txBody>
      </p:sp>
      <p:sp>
        <p:nvSpPr>
          <p:cNvPr id="4" name="    direction = pygame.Vector2(x, y)">
            <a:extLst xmlns:a="http://schemas.openxmlformats.org/drawingml/2006/main">
              <a:ext uri="{FF2B5EF4-FFF2-40B4-BE49-F238E27FC236}">
                <a16:creationId xmlns:a16="http://schemas.microsoft.com/office/drawing/2014/main" id="{886040A1-455F-4BBA-BEDD-2A882F8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direction = pygame.Vector2(x, y)</a:t>
            </a:r>
          </a:p>
        </p:txBody>
      </p:sp>
      <p:sp>
        <p:nvSpPr>
          <p:cNvPr id="5" name="    if direction.length_squared() &gt; 1:">
            <a:extLst xmlns:a="http://schemas.openxmlformats.org/drawingml/2006/main">
              <a:ext uri="{FF2B5EF4-FFF2-40B4-BE49-F238E27FC236}">
                <a16:creationId xmlns:a16="http://schemas.microsoft.com/office/drawing/2014/main" id="{7E6A265B-367B-464B-8794-44F3FEF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direction.length_squared() &gt; 1:</a:t>
            </a:r>
          </a:p>
        </p:txBody>
      </p:sp>
      <p:sp>
        <p:nvSpPr>
          <p:cNvPr id="6" name="        direction = direction.normalize()">
            <a:extLst xmlns:a="http://schemas.openxmlformats.org/drawingml/2006/main">
              <a:ext uri="{FF2B5EF4-FFF2-40B4-BE49-F238E27FC236}">
                <a16:creationId xmlns:a16="http://schemas.microsoft.com/office/drawing/2014/main" id="{B5B2C11B-7556-4800-97A4-6718A396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direction = direction.normalize()</a:t>
            </a:r>
          </a:p>
        </p:txBody>
      </p:sp>
      <p:sp>
        <p:nvSpPr>
          <p:cNvPr id="7" name="    self.velocity = direction * PLAYER_SPEED">
            <a:extLst xmlns:a="http://schemas.openxmlformats.org/drawingml/2006/main">
              <a:ext uri="{FF2B5EF4-FFF2-40B4-BE49-F238E27FC236}">
                <a16:creationId xmlns:a16="http://schemas.microsoft.com/office/drawing/2014/main" id="{16508526-226D-4963-8F85-0DC8A050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 = direction * PLAYER_SPEED</a:t>
            </a:r>
          </a:p>
        </p:txBody>
      </p:sp>
      <p:sp>
        <p:nvSpPr>
          <p:cNvPr id="8" name="(1, 0) moves right; (0, -1) moves up; (0, 0) stops.">
            <a:extLst xmlns:a="http://schemas.openxmlformats.org/drawingml/2006/main">
              <a:ext uri="{FF2B5EF4-FFF2-40B4-BE49-F238E27FC236}">
                <a16:creationId xmlns:a16="http://schemas.microsoft.com/office/drawing/2014/main" id="{A7B43849-4B3C-423E-AA25-91D6C9D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(1, 0) moves right; (0, -1) moves up; (0, 0) stops.</a:t>
            </a:r>
          </a:p>
        </p:txBody>
      </p:sp>
      <p:sp>
        <p:nvSpPr>
          <p:cNvPr id="9" name="normalize() keeps diagonal and straight movement at the same speed.">
            <a:extLst xmlns:a="http://schemas.openxmlformats.org/drawingml/2006/main">
              <a:ext uri="{FF2B5EF4-FFF2-40B4-BE49-F238E27FC236}">
                <a16:creationId xmlns:a16="http://schemas.microsoft.com/office/drawing/2014/main" id="{3C4942FE-644E-4507-9FB6-94A3A03E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normalize() keeps diagonal and straight movement at the same speed.</a:t>
            </a:r>
          </a:p>
        </p:txBody>
      </p:sp>
      <p:sp>
        <p:nvSpPr>
          <p:cNvPr id="10" name="actors.py · Player.set_direction()">
            <a:extLst xmlns:a="http://schemas.openxmlformats.org/drawingml/2006/main">
              <a:ext uri="{FF2B5EF4-FFF2-40B4-BE49-F238E27FC236}">
                <a16:creationId xmlns:a16="http://schemas.microsoft.com/office/drawing/2014/main" id="{C95A45BB-F1BB-46E0-BF4A-034AD886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Player.set_direction()</a:t>
            </a:r>
          </a:p>
        </p:txBody>
      </p:sp>
      <p:sp>
        <p:nvSpPr>
          <p:cNvPr id="11" name="15">
            <a:extLst xmlns:a="http://schemas.openxmlformats.org/drawingml/2006/main">
              <a:ext uri="{FF2B5EF4-FFF2-40B4-BE49-F238E27FC236}">
                <a16:creationId xmlns:a16="http://schemas.microsoft.com/office/drawing/2014/main" id="{E42F6C6C-E0E5-44FD-8C04-B0E71A31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976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yer.shoot(): decide whether to fire">
            <a:extLst xmlns:a="http://schemas.openxmlformats.org/drawingml/2006/main">
              <a:ext uri="{FF2B5EF4-FFF2-40B4-BE49-F238E27FC236}">
                <a16:creationId xmlns:a16="http://schemas.microsoft.com/office/drawing/2014/main" id="{01B922AA-1E3E-4416-A8EC-2EEFA558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Player.shoot(): decide whether to fire</a:t>
            </a:r>
          </a:p>
        </p:txBody>
      </p:sp>
      <p:sp>
        <p:nvSpPr>
          <p:cNvPr id="2" name="One method encapsulates the rule and state change">
            <a:extLst xmlns:a="http://schemas.openxmlformats.org/drawingml/2006/main">
              <a:ext uri="{FF2B5EF4-FFF2-40B4-BE49-F238E27FC236}">
                <a16:creationId xmlns:a16="http://schemas.microsoft.com/office/drawing/2014/main" id="{4900A228-4543-49CA-B0EF-062E296D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One method encapsulates the rule and state change</a:t>
            </a:r>
          </a:p>
        </p:txBody>
      </p:sp>
      <p:sp>
        <p:nvSpPr>
          <p:cNvPr id="3" name="def shoot(self, name):">
            <a:extLst xmlns:a="http://schemas.openxmlformats.org/drawingml/2006/main">
              <a:ext uri="{FF2B5EF4-FFF2-40B4-BE49-F238E27FC236}">
                <a16:creationId xmlns:a16="http://schemas.microsoft.com/office/drawing/2014/main" id="{692DFDC0-4C3E-4ACB-9A54-4343A080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shoot(self, name):</a:t>
            </a:r>
          </a:p>
        </p:txBody>
      </p:sp>
      <p:sp>
        <p:nvSpPr>
          <p:cNvPr id="4" name="    if self.cooldown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8446E7CB-870D-4FEE-903F-52437DB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self.cooldown &gt; 0 or self.hp == 0:</a:t>
            </a:r>
          </a:p>
        </p:txBody>
      </p:sp>
      <p:sp>
        <p:nvSpPr>
          <p:cNvPr id="5" name="        return None">
            <a:extLst xmlns:a="http://schemas.openxmlformats.org/drawingml/2006/main">
              <a:ext uri="{FF2B5EF4-FFF2-40B4-BE49-F238E27FC236}">
                <a16:creationId xmlns:a16="http://schemas.microsoft.com/office/drawing/2014/main" id="{8A597678-88FE-4689-A0AC-94F07AC9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None</a:t>
            </a:r>
          </a:p>
        </p:txBody>
      </p:sp>
      <p:sp>
        <p:nvSpPr>
          <p:cNvPr id="6" name="    self.cooldown = SHOT_INTERVAL">
            <a:extLst xmlns:a="http://schemas.openxmlformats.org/drawingml/2006/main">
              <a:ext uri="{FF2B5EF4-FFF2-40B4-BE49-F238E27FC236}">
                <a16:creationId xmlns:a16="http://schemas.microsoft.com/office/drawing/2014/main" id="{6132BD59-ED66-4373-8F94-637A1B6F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self.cooldown = SHOT_INTERVAL</a:t>
            </a:r>
          </a:p>
        </p:txBody>
      </p:sp>
      <p:sp>
        <p:nvSpPr>
          <p:cNvPr id="7" name="    return Bullet(name, self)">
            <a:extLst xmlns:a="http://schemas.openxmlformats.org/drawingml/2006/main">
              <a:ext uri="{FF2B5EF4-FFF2-40B4-BE49-F238E27FC236}">
                <a16:creationId xmlns:a16="http://schemas.microsoft.com/office/drawing/2014/main" id="{27F040B2-A4A2-41CC-8DEE-9C08113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Bullet(name, self)</a:t>
            </a:r>
          </a:p>
        </p:txBody>
      </p:sp>
      <p:sp>
        <p:nvSpPr>
          <p:cNvPr id="8" name="Return None while cooling down or when HP is zero.">
            <a:extLst xmlns:a="http://schemas.openxmlformats.org/drawingml/2006/main">
              <a:ext uri="{FF2B5EF4-FFF2-40B4-BE49-F238E27FC236}">
                <a16:creationId xmlns:a16="http://schemas.microsoft.com/office/drawing/2014/main" id="{9E1166A5-9382-42F7-BC3A-07526446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Return None while cooling down or when HP is zero.</a:t>
            </a:r>
          </a:p>
        </p:txBody>
      </p:sp>
      <p:sp>
        <p:nvSpPr>
          <p:cNvPr id="9" name="On success, create a new Bullet; self is the player firing it.">
            <a:extLst xmlns:a="http://schemas.openxmlformats.org/drawingml/2006/main">
              <a:ext uri="{FF2B5EF4-FFF2-40B4-BE49-F238E27FC236}">
                <a16:creationId xmlns:a16="http://schemas.microsoft.com/office/drawing/2014/main" id="{4F5380C0-BF59-4431-8CF0-E5C6D13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On success, create a new Bullet; self is the player firing it.</a:t>
            </a:r>
          </a:p>
        </p:txBody>
      </p:sp>
      <p:sp>
        <p:nvSpPr>
          <p:cNvPr id="10" name="actors.py · Player.shoot()">
            <a:extLst xmlns:a="http://schemas.openxmlformats.org/drawingml/2006/main">
              <a:ext uri="{FF2B5EF4-FFF2-40B4-BE49-F238E27FC236}">
                <a16:creationId xmlns:a16="http://schemas.microsoft.com/office/drawing/2014/main" id="{332488E4-39FD-42F1-8722-C2A19830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Player.shoot()</a:t>
            </a:r>
          </a:p>
        </p:txBody>
      </p:sp>
      <p:sp>
        <p:nvSpPr>
          <p:cNvPr id="11" name="16">
            <a:extLst xmlns:a="http://schemas.openxmlformats.org/drawingml/2006/main">
              <a:ext uri="{FF2B5EF4-FFF2-40B4-BE49-F238E27FC236}">
                <a16:creationId xmlns:a16="http://schemas.microsoft.com/office/drawing/2014/main" id="{919A4C7A-3986-4D39-9F11-9DDE2FE9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394273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ullet: remember who fired it">
            <a:extLst xmlns:a="http://schemas.openxmlformats.org/drawingml/2006/main">
              <a:ext uri="{FF2B5EF4-FFF2-40B4-BE49-F238E27FC236}">
                <a16:creationId xmlns:a16="http://schemas.microsoft.com/office/drawing/2014/main" id="{F9D71BBE-38D6-4147-A986-33654FD7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Bullet: remember who fired it</a:t>
            </a:r>
          </a:p>
        </p:txBody>
      </p:sp>
      <p:sp>
        <p:nvSpPr>
          <p:cNvPr id="2" name="owner stores a reference; negative y velocity moves upward">
            <a:extLst xmlns:a="http://schemas.openxmlformats.org/drawingml/2006/main">
              <a:ext uri="{FF2B5EF4-FFF2-40B4-BE49-F238E27FC236}">
                <a16:creationId xmlns:a16="http://schemas.microsoft.com/office/drawing/2014/main" id="{32CE9B7D-BA57-481D-9139-09C3AD73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owner stores a reference; negative y velocity moves upward</a:t>
            </a:r>
          </a:p>
        </p:txBody>
      </p:sp>
      <p:sp>
        <p:nvSpPr>
          <p:cNvPr id="3" name="def __init__(self, name, owner):">
            <a:extLst xmlns:a="http://schemas.openxmlformats.org/drawingml/2006/main">
              <a:ext uri="{FF2B5EF4-FFF2-40B4-BE49-F238E27FC236}">
                <a16:creationId xmlns:a16="http://schemas.microsoft.com/office/drawing/2014/main" id="{2CF44F06-D9FF-4E0F-8C21-18898BDE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name, owner):</a:t>
            </a:r>
          </a:p>
        </p:txBody>
      </p:sp>
      <p:sp>
        <p:nvSpPr>
          <p:cNvPr id="4" name="    position = (owner.rect.centerx, owner.rect.top - 9)">
            <a:extLst xmlns:a="http://schemas.openxmlformats.org/drawingml/2006/main">
              <a:ext uri="{FF2B5EF4-FFF2-40B4-BE49-F238E27FC236}">
                <a16:creationId xmlns:a16="http://schemas.microsoft.com/office/drawing/2014/main" id="{3859F918-1AED-41F6-970C-8959781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position = (owner.rect.centerx, owner.rect.top - 9)</a:t>
            </a:r>
          </a:p>
        </p:txBody>
      </p:sp>
      <p:sp>
        <p:nvSpPr>
          <p:cNvPr id="5" name="    super().__init__(name, position, (8, 20))">
            <a:extLst xmlns:a="http://schemas.openxmlformats.org/drawingml/2006/main">
              <a:ext uri="{FF2B5EF4-FFF2-40B4-BE49-F238E27FC236}">
                <a16:creationId xmlns:a16="http://schemas.microsoft.com/office/drawing/2014/main" id="{8D26D034-7EE0-45FF-B92A-6805CF12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super().__init__(name, position, (8, 20))</a:t>
            </a:r>
          </a:p>
        </p:txBody>
      </p:sp>
      <p:sp>
        <p:nvSpPr>
          <p:cNvPr id="6" name="    self.owner = owner">
            <a:extLst xmlns:a="http://schemas.openxmlformats.org/drawingml/2006/main">
              <a:ext uri="{FF2B5EF4-FFF2-40B4-BE49-F238E27FC236}">
                <a16:creationId xmlns:a16="http://schemas.microsoft.com/office/drawing/2014/main" id="{5589FDC4-A344-44C4-B852-46D03E2B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self.owner = owner</a:t>
            </a:r>
          </a:p>
        </p:txBody>
      </p:sp>
      <p:sp>
        <p:nvSpPr>
          <p:cNvPr id="7" name="    self.damage = 1">
            <a:extLst xmlns:a="http://schemas.openxmlformats.org/drawingml/2006/main">
              <a:ext uri="{FF2B5EF4-FFF2-40B4-BE49-F238E27FC236}">
                <a16:creationId xmlns:a16="http://schemas.microsoft.com/office/drawing/2014/main" id="{A2F6D015-3D6A-4B9E-8799-CA54FF37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self.damage = 1</a:t>
            </a:r>
          </a:p>
        </p:txBody>
      </p:sp>
      <p:sp>
        <p:nvSpPr>
          <p:cNvPr id="8" name="    self.velocity.y = -BULLET_SPEED">
            <a:extLst xmlns:a="http://schemas.openxmlformats.org/drawingml/2006/main">
              <a:ext uri="{FF2B5EF4-FFF2-40B4-BE49-F238E27FC236}">
                <a16:creationId xmlns:a16="http://schemas.microsoft.com/office/drawing/2014/main" id="{65B93B56-7B83-42DE-9C8F-ED06716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self.velocity.y = -BULLET_SPEED</a:t>
            </a:r>
          </a:p>
        </p:txBody>
      </p:sp>
      <p:sp>
        <p:nvSpPr>
          <p:cNvPr id="9" name="owner is a Player object, not a string or a copy.">
            <a:extLst xmlns:a="http://schemas.openxmlformats.org/drawingml/2006/main">
              <a:ext uri="{FF2B5EF4-FFF2-40B4-BE49-F238E27FC236}">
                <a16:creationId xmlns:a16="http://schemas.microsoft.com/office/drawing/2014/main" id="{2070E692-ED79-40A5-9879-04E264A3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owner is a Player object, not a string or a copy.</a:t>
            </a:r>
          </a:p>
        </p:txBody>
      </p:sp>
      <p:sp>
        <p:nvSpPr>
          <p:cNvPr id="10" name="Drawing details are omitted here; damage is 1.">
            <a:extLst xmlns:a="http://schemas.openxmlformats.org/drawingml/2006/main">
              <a:ext uri="{FF2B5EF4-FFF2-40B4-BE49-F238E27FC236}">
                <a16:creationId xmlns:a16="http://schemas.microsoft.com/office/drawing/2014/main" id="{A2C5B933-60CF-435A-A95E-BD1607ED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Drawing details are omitted here; damage is 1.</a:t>
            </a:r>
          </a:p>
        </p:txBody>
      </p:sp>
      <p:sp>
        <p:nvSpPr>
          <p:cNvPr id="11" name="actors.py · Bullet.__init__() · excerpt">
            <a:extLst xmlns:a="http://schemas.openxmlformats.org/drawingml/2006/main">
              <a:ext uri="{FF2B5EF4-FFF2-40B4-BE49-F238E27FC236}">
                <a16:creationId xmlns:a16="http://schemas.microsoft.com/office/drawing/2014/main" id="{7742B578-B8E9-407D-A1B1-0072C858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Bullet.__init__() · excerpt</a:t>
            </a:r>
          </a:p>
        </p:txBody>
      </p:sp>
      <p:sp>
        <p:nvSpPr>
          <p:cNvPr id="12" name="17">
            <a:extLst xmlns:a="http://schemas.openxmlformats.org/drawingml/2006/main">
              <a:ext uri="{FF2B5EF4-FFF2-40B4-BE49-F238E27FC236}">
                <a16:creationId xmlns:a16="http://schemas.microsoft.com/office/drawing/2014/main" id="{6C64E478-F9D0-4CF7-B647-E74ABA23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29626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ame: add the new bullet to the scene">
            <a:extLst xmlns:a="http://schemas.openxmlformats.org/drawingml/2006/main">
              <a:ext uri="{FF2B5EF4-FFF2-40B4-BE49-F238E27FC236}">
                <a16:creationId xmlns:a16="http://schemas.microsoft.com/office/drawing/2014/main" id="{EAB070BC-3B97-4133-AD8F-9CC5EF75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Game: add the new bullet to the scene</a:t>
            </a:r>
          </a:p>
        </p:txBody>
      </p:sp>
      <p:sp>
        <p:nvSpPr>
          <p:cNvPr id="2" name="Constructing an object and adding it to a group are separate steps">
            <a:extLst xmlns:a="http://schemas.openxmlformats.org/drawingml/2006/main">
              <a:ext uri="{FF2B5EF4-FFF2-40B4-BE49-F238E27FC236}">
                <a16:creationId xmlns:a16="http://schemas.microsoft.com/office/drawing/2014/main" id="{D7F20334-EF67-4A61-8189-B0221D7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Constructing an object and adding it to a group are separate steps</a:t>
            </a:r>
          </a:p>
        </p:txBody>
      </p:sp>
      <p:sp>
        <p:nvSpPr>
          <p:cNvPr id="3" name="bullet = self.player.shoot(f&quot;B{self.next_bullet:02}&quot;)">
            <a:extLst xmlns:a="http://schemas.openxmlformats.org/drawingml/2006/main">
              <a:ext uri="{FF2B5EF4-FFF2-40B4-BE49-F238E27FC236}">
                <a16:creationId xmlns:a16="http://schemas.microsoft.com/office/drawing/2014/main" id="{7E5FEDE4-1A1C-4AB2-A59A-6C89B88C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bullet = self.player.shoot(f"B{self.next_bullet:02}")</a:t>
            </a:r>
          </a:p>
        </p:txBody>
      </p:sp>
      <p:sp>
        <p:nvSpPr>
          <p:cNvPr id="4" name="if bullet is not None:">
            <a:extLst xmlns:a="http://schemas.openxmlformats.org/drawingml/2006/main">
              <a:ext uri="{FF2B5EF4-FFF2-40B4-BE49-F238E27FC236}">
                <a16:creationId xmlns:a16="http://schemas.microsoft.com/office/drawing/2014/main" id="{9A0E9BEA-9CF1-4448-9D7D-AEBAD054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bullet is not None:</a:t>
            </a:r>
          </a:p>
        </p:txBody>
      </p:sp>
      <p:sp>
        <p:nvSpPr>
          <p:cNvPr id="5" name="    self.next_bullet += 1">
            <a:extLst xmlns:a="http://schemas.openxmlformats.org/drawingml/2006/main">
              <a:ext uri="{FF2B5EF4-FFF2-40B4-BE49-F238E27FC236}">
                <a16:creationId xmlns:a16="http://schemas.microsoft.com/office/drawing/2014/main" id="{AFEE9830-D423-4EDE-9B18-F5F0A6C0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self.next_bullet += 1</a:t>
            </a:r>
          </a:p>
        </p:txBody>
      </p:sp>
      <p:sp>
        <p:nvSpPr>
          <p:cNvPr id="6" name="    self.bullets.add(bullet)">
            <a:extLst xmlns:a="http://schemas.openxmlformats.org/drawingml/2006/main">
              <a:ext uri="{FF2B5EF4-FFF2-40B4-BE49-F238E27FC236}">
                <a16:creationId xmlns:a16="http://schemas.microsoft.com/office/drawing/2014/main" id="{01E7F430-8C4D-4D63-91B4-47F3006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self.bullets.add(bullet)</a:t>
            </a:r>
          </a:p>
        </p:txBody>
      </p:sp>
      <p:sp>
        <p:nvSpPr>
          <p:cNvPr id="7" name="    self.all_sprites.add(bullet)">
            <a:extLst xmlns:a="http://schemas.openxmlformats.org/drawingml/2006/main">
              <a:ext uri="{FF2B5EF4-FFF2-40B4-BE49-F238E27FC236}">
                <a16:creationId xmlns:a16="http://schemas.microsoft.com/office/drawing/2014/main" id="{F3C2C40E-FA01-4149-954C-6E6B3014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self.all_sprites.add(bullet)</a:t>
            </a:r>
          </a:p>
        </p:txBody>
      </p:sp>
      <p:sp>
        <p:nvSpPr>
          <p:cNvPr id="8" name="Player creates the Bullet; Game chooses its group memberships.">
            <a:extLst xmlns:a="http://schemas.openxmlformats.org/drawingml/2006/main">
              <a:ext uri="{FF2B5EF4-FFF2-40B4-BE49-F238E27FC236}">
                <a16:creationId xmlns:a16="http://schemas.microsoft.com/office/drawing/2014/main" id="{2B451067-406D-438F-936F-6B5FBF1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Player creates the Bullet; Game chooses its group memberships.</a:t>
            </a:r>
          </a:p>
        </p:txBody>
      </p:sp>
      <p:sp>
        <p:nvSpPr>
          <p:cNvPr id="9" name="bullets enables collision checks; all_sprites enables updates and drawing.">
            <a:extLst xmlns:a="http://schemas.openxmlformats.org/drawingml/2006/main">
              <a:ext uri="{FF2B5EF4-FFF2-40B4-BE49-F238E27FC236}">
                <a16:creationId xmlns:a16="http://schemas.microsoft.com/office/drawing/2014/main" id="{3AF34DCA-9CE5-4C2F-80AC-0C41C1AA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bullets enables collision checks; all_sprites enables updates and drawing.</a:t>
            </a:r>
          </a:p>
        </p:txBody>
      </p:sp>
      <p:sp>
        <p:nvSpPr>
          <p:cNvPr id="10" name="game.py · Game.try_shoot() · excerpt">
            <a:extLst xmlns:a="http://schemas.openxmlformats.org/drawingml/2006/main">
              <a:ext uri="{FF2B5EF4-FFF2-40B4-BE49-F238E27FC236}">
                <a16:creationId xmlns:a16="http://schemas.microsoft.com/office/drawing/2014/main" id="{F70FDE1B-217B-45F9-ACC6-651E182F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Game.try_shoot() · excerpt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ACAFB9AC-B6CB-48F9-9889-A82E6FD8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33538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olymorphism: one call, different behavior">
            <a:extLst xmlns:a="http://schemas.openxmlformats.org/drawingml/2006/main">
              <a:ext uri="{FF2B5EF4-FFF2-40B4-BE49-F238E27FC236}">
                <a16:creationId xmlns:a16="http://schemas.microsoft.com/office/drawing/2014/main" id="{D0E7D051-EC74-43B7-9005-D0297E96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Polymorphism: one call, different behavior</a:t>
            </a:r>
          </a:p>
        </p:txBody>
      </p:sp>
      <p:sp>
        <p:nvSpPr>
          <p:cNvPr id="2" name="game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18424EB8-6EB7-4384-BF6A-5F5E5B83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game.all_sprites.update(dt)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4FCF1B6-AA6A-4DEB-9C1B-9BA54CBE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Player.update: move, clamp to the field, update cooldown and invulnerability.">
            <a:extLst xmlns:a="http://schemas.openxmlformats.org/drawingml/2006/main">
              <a:ext uri="{FF2B5EF4-FFF2-40B4-BE49-F238E27FC236}">
                <a16:creationId xmlns:a16="http://schemas.microsoft.com/office/drawing/2014/main" id="{24671DE0-3B3D-4283-832C-E4202380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Player.update: move, clamp to the field, update cooldown and invulnerability.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BE56FDE-AEAD-4E29-8B9D-DD642A70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Enemy inherits Actor.update and moves downward using its own velocity.">
            <a:extLst xmlns:a="http://schemas.openxmlformats.org/drawingml/2006/main">
              <a:ext uri="{FF2B5EF4-FFF2-40B4-BE49-F238E27FC236}">
                <a16:creationId xmlns:a16="http://schemas.microsoft.com/office/drawing/2014/main" id="{34C7EBE0-EBBB-4B27-BCF2-BBA151C1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Enemy inherits Actor.update and moves downward using its own velocity.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4C634D88-6056-43DD-8A58-99CE5351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Bullet.update: move, then kill() when it leaves the top edge.">
            <a:extLst xmlns:a="http://schemas.openxmlformats.org/drawingml/2006/main">
              <a:ext uri="{FF2B5EF4-FFF2-40B4-BE49-F238E27FC236}">
                <a16:creationId xmlns:a16="http://schemas.microsoft.com/office/drawing/2014/main" id="{78ED98A2-DB5C-4D33-ABD9-6E7E83F6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Bullet.update: move, then kill() when it leaves the top edge.</a:t>
            </a:r>
          </a:p>
        </p:txBody>
      </p:sp>
      <p:sp>
        <p:nvSpPr>
          <p:cNvPr id="9" name="19">
            <a:extLst xmlns:a="http://schemas.openxmlformats.org/drawingml/2006/main">
              <a:ext uri="{FF2B5EF4-FFF2-40B4-BE49-F238E27FC236}">
                <a16:creationId xmlns:a16="http://schemas.microsoft.com/office/drawing/2014/main" id="{B0D5F5D1-42F9-4221-B22F-C0D901BC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55664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nemy: manage its own damage state">
            <a:extLst xmlns:a="http://schemas.openxmlformats.org/drawingml/2006/main">
              <a:ext uri="{FF2B5EF4-FFF2-40B4-BE49-F238E27FC236}">
                <a16:creationId xmlns:a16="http://schemas.microsoft.com/office/drawing/2014/main" id="{BEA5D201-0CBC-41D2-9F50-578CD28D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Enemy: manage its own damage state</a:t>
            </a:r>
          </a:p>
        </p:txBody>
      </p:sp>
      <p:sp>
        <p:nvSpPr>
          <p:cNvPr id="2" name="Game asks whether it was defeated; Enemy manages its HP">
            <a:extLst xmlns:a="http://schemas.openxmlformats.org/drawingml/2006/main">
              <a:ext uri="{FF2B5EF4-FFF2-40B4-BE49-F238E27FC236}">
                <a16:creationId xmlns:a16="http://schemas.microsoft.com/office/drawing/2014/main" id="{0CD5C462-10EA-41A3-B811-93F7638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Game asks whether it was defeated; Enemy manages its HP</a:t>
            </a:r>
          </a:p>
        </p:txBody>
      </p:sp>
      <p:sp>
        <p:nvSpPr>
          <p:cNvPr id="3" name="def take_hit(self, damage):">
            <a:extLst xmlns:a="http://schemas.openxmlformats.org/drawingml/2006/main">
              <a:ext uri="{FF2B5EF4-FFF2-40B4-BE49-F238E27FC236}">
                <a16:creationId xmlns:a16="http://schemas.microsoft.com/office/drawing/2014/main" id="{2854EDF4-01EB-414A-B41A-8A05A9CF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take_hit(self, damage):</a:t>
            </a:r>
          </a:p>
        </p:txBody>
      </p:sp>
      <p:sp>
        <p:nvSpPr>
          <p:cNvPr id="4" name="    self.hp = max(0, self.hp - damage)">
            <a:extLst xmlns:a="http://schemas.openxmlformats.org/drawingml/2006/main">
              <a:ext uri="{FF2B5EF4-FFF2-40B4-BE49-F238E27FC236}">
                <a16:creationId xmlns:a16="http://schemas.microsoft.com/office/drawing/2014/main" id="{7679D9A4-8D55-45F1-8299-BB9F4153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= max(0, self.hp - damage)</a:t>
            </a:r>
          </a:p>
        </p:txBody>
      </p:sp>
      <p:sp>
        <p:nvSpPr>
          <p:cNvPr id="5" name="    if self.hp == 0:">
            <a:extLst xmlns:a="http://schemas.openxmlformats.org/drawingml/2006/main">
              <a:ext uri="{FF2B5EF4-FFF2-40B4-BE49-F238E27FC236}">
                <a16:creationId xmlns:a16="http://schemas.microsoft.com/office/drawing/2014/main" id="{F5CF6B1D-0715-4BB6-8282-E5BB9797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self.hp == 0: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9387D915-C897-494E-B5B6-9007AA09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B909A015-23C3-4689-9662-2E62AB1E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8" name="    return False">
            <a:extLst xmlns:a="http://schemas.openxmlformats.org/drawingml/2006/main">
              <a:ext uri="{FF2B5EF4-FFF2-40B4-BE49-F238E27FC236}">
                <a16:creationId xmlns:a16="http://schemas.microsoft.com/office/drawing/2014/main" id="{E2044776-B2AD-4BC1-B244-692DF694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9" name="max(0, ...) prevents HP from becoming negative.">
            <a:extLst xmlns:a="http://schemas.openxmlformats.org/drawingml/2006/main">
              <a:ext uri="{FF2B5EF4-FFF2-40B4-BE49-F238E27FC236}">
                <a16:creationId xmlns:a16="http://schemas.microsoft.com/office/drawing/2014/main" id="{282F1E7D-24BB-4440-82A5-94C2023B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max(0, ...) prevents HP from becoming negative.</a:t>
            </a:r>
          </a:p>
        </p:txBody>
      </p:sp>
      <p:sp>
        <p:nvSpPr>
          <p:cNvPr id="10" name="True reports defeat; Game then awards the points.">
            <a:extLst xmlns:a="http://schemas.openxmlformats.org/drawingml/2006/main">
              <a:ext uri="{FF2B5EF4-FFF2-40B4-BE49-F238E27FC236}">
                <a16:creationId xmlns:a16="http://schemas.microsoft.com/office/drawing/2014/main" id="{B4C228B4-7CC7-44E2-B2DC-3AA55ADE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True reports defeat; Game then awards the points.</a:t>
            </a:r>
          </a:p>
        </p:txBody>
      </p:sp>
      <p:sp>
        <p:nvSpPr>
          <p:cNvPr id="11" name="actors.py · Enemy.take_hit()">
            <a:extLst xmlns:a="http://schemas.openxmlformats.org/drawingml/2006/main">
              <a:ext uri="{FF2B5EF4-FFF2-40B4-BE49-F238E27FC236}">
                <a16:creationId xmlns:a16="http://schemas.microsoft.com/office/drawing/2014/main" id="{88941FC8-50CD-4CB1-B358-24262991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Enemy.take_hit()</a:t>
            </a:r>
          </a:p>
        </p:txBody>
      </p:sp>
      <p:sp>
        <p:nvSpPr>
          <p:cNvPr id="12" name="20">
            <a:extLst xmlns:a="http://schemas.openxmlformats.org/drawingml/2006/main">
              <a:ext uri="{FF2B5EF4-FFF2-40B4-BE49-F238E27FC236}">
                <a16:creationId xmlns:a16="http://schemas.microsoft.com/office/drawing/2014/main" id="{9352CFE1-B46B-4E75-88C2-A05E7C6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624934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llision: one bullet, one hit">
            <a:extLst xmlns:a="http://schemas.openxmlformats.org/drawingml/2006/main">
              <a:ext uri="{FF2B5EF4-FFF2-40B4-BE49-F238E27FC236}">
                <a16:creationId xmlns:a16="http://schemas.microsoft.com/office/drawing/2014/main" id="{4488F987-5AB6-4E0C-AB73-9443B171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Collision: one bullet, one hit</a:t>
            </a:r>
          </a:p>
        </p:txBody>
      </p:sp>
      <p:sp>
        <p:nvSpPr>
          <p:cNvPr id="2" name="Use rect overlap; this example does not use pixel masks">
            <a:extLst xmlns:a="http://schemas.openxmlformats.org/drawingml/2006/main">
              <a:ext uri="{FF2B5EF4-FFF2-40B4-BE49-F238E27FC236}">
                <a16:creationId xmlns:a16="http://schemas.microsoft.com/office/drawing/2014/main" id="{E593EF26-94CB-47E9-A3AA-E766CAEB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Use rect overlap; this example does not use pixel masks</a:t>
            </a:r>
          </a:p>
        </p:txBody>
      </p:sp>
      <p:sp>
        <p:nvSpPr>
          <p:cNvPr id="3" name="for bullet in self.bullets.sprites():">
            <a:extLst xmlns:a="http://schemas.openxmlformats.org/drawingml/2006/main">
              <a:ext uri="{FF2B5EF4-FFF2-40B4-BE49-F238E27FC236}">
                <a16:creationId xmlns:a16="http://schemas.microsoft.com/office/drawing/2014/main" id="{821C422A-BD47-41C6-B449-6ADD1E65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bullet in self.bullets.sprites():</a:t>
            </a:r>
          </a:p>
        </p:txBody>
      </p:sp>
      <p:sp>
        <p:nvSpPr>
          <p:cNvPr id="4" name="    hits = pygame.sprite.spritecollide(">
            <a:extLst xmlns:a="http://schemas.openxmlformats.org/drawingml/2006/main">
              <a:ext uri="{FF2B5EF4-FFF2-40B4-BE49-F238E27FC236}">
                <a16:creationId xmlns:a16="http://schemas.microsoft.com/office/drawing/2014/main" id="{5EF9CAEA-9E96-4028-9ACD-E4569FC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hits = pygame.sprite.spritecollide(</a:t>
            </a:r>
          </a:p>
        </p:txBody>
      </p:sp>
      <p:sp>
        <p:nvSpPr>
          <p:cNvPr id="5" name="        bullet, self.enemies, False)">
            <a:extLst xmlns:a="http://schemas.openxmlformats.org/drawingml/2006/main">
              <a:ext uri="{FF2B5EF4-FFF2-40B4-BE49-F238E27FC236}">
                <a16:creationId xmlns:a16="http://schemas.microsoft.com/office/drawing/2014/main" id="{68F10A7C-88B6-4A32-9EB6-7B72AF6C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bullet, self.enemies, False)</a:t>
            </a:r>
          </a:p>
        </p:txBody>
      </p:sp>
      <p:sp>
        <p:nvSpPr>
          <p:cNvPr id="6" name="    if hits:">
            <a:extLst xmlns:a="http://schemas.openxmlformats.org/drawingml/2006/main">
              <a:ext uri="{FF2B5EF4-FFF2-40B4-BE49-F238E27FC236}">
                <a16:creationId xmlns:a16="http://schemas.microsoft.com/office/drawing/2014/main" id="{8BCC0F2A-39FF-474D-B8D5-C8B1E60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hits:</a:t>
            </a:r>
          </a:p>
        </p:txBody>
      </p:sp>
      <p:sp>
        <p:nvSpPr>
          <p:cNvPr id="7" name="        enemy = hits[0]">
            <a:extLst xmlns:a="http://schemas.openxmlformats.org/drawingml/2006/main">
              <a:ext uri="{FF2B5EF4-FFF2-40B4-BE49-F238E27FC236}">
                <a16:creationId xmlns:a16="http://schemas.microsoft.com/office/drawing/2014/main" id="{856779E1-FFC0-4E3C-AB9D-744F84C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enemy = hits[0]</a:t>
            </a:r>
          </a:p>
        </p:txBody>
      </p:sp>
      <p:sp>
        <p:nvSpPr>
          <p:cNvPr id="8" name="        destroyed = enemy.take_hit(bullet.damage)">
            <a:extLst xmlns:a="http://schemas.openxmlformats.org/drawingml/2006/main">
              <a:ext uri="{FF2B5EF4-FFF2-40B4-BE49-F238E27FC236}">
                <a16:creationId xmlns:a16="http://schemas.microsoft.com/office/drawing/2014/main" id="{2C4BA4E1-7367-4AF3-96AF-1C987D7A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destroyed = enemy.take_hit(bullet.damage)</a:t>
            </a:r>
          </a:p>
        </p:txBody>
      </p:sp>
      <p:sp>
        <p:nvSpPr>
          <p:cNvPr id="9" name="        bullet.kill()">
            <a:extLst xmlns:a="http://schemas.openxmlformats.org/drawingml/2006/main">
              <a:ext uri="{FF2B5EF4-FFF2-40B4-BE49-F238E27FC236}">
                <a16:creationId xmlns:a16="http://schemas.microsoft.com/office/drawing/2014/main" id="{C44E3C37-79EE-4023-A257-ED57AFCE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bullet.kill()</a:t>
            </a:r>
          </a:p>
        </p:txBody>
      </p:sp>
      <p:sp>
        <p:nvSpPr>
          <p:cNvPr id="10" name="        if destroyed:">
            <a:extLst xmlns:a="http://schemas.openxmlformats.org/drawingml/2006/main">
              <a:ext uri="{FF2B5EF4-FFF2-40B4-BE49-F238E27FC236}">
                <a16:creationId xmlns:a16="http://schemas.microsoft.com/office/drawing/2014/main" id="{19DE1696-E2CD-44C9-8ADB-1C0BDCE2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destroyed:</a:t>
            </a:r>
          </a:p>
        </p:txBody>
      </p:sp>
      <p:sp>
        <p:nvSpPr>
          <p:cNvPr id="11" name="            self.score += 10">
            <a:extLst xmlns:a="http://schemas.openxmlformats.org/drawingml/2006/main">
              <a:ext uri="{FF2B5EF4-FFF2-40B4-BE49-F238E27FC236}">
                <a16:creationId xmlns:a16="http://schemas.microsoft.com/office/drawing/2014/main" id="{26618274-61DC-4477-8976-716E2E5B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self.score += 10</a:t>
            </a:r>
          </a:p>
        </p:txBody>
      </p:sp>
      <p:sp>
        <p:nvSpPr>
          <p:cNvPr id="12" name="hits[0] selects one enemy, so one bullet does not hit every overlapping enemy.">
            <a:extLst xmlns:a="http://schemas.openxmlformats.org/drawingml/2006/main">
              <a:ext uri="{FF2B5EF4-FFF2-40B4-BE49-F238E27FC236}">
                <a16:creationId xmlns:a16="http://schemas.microsoft.com/office/drawing/2014/main" id="{812BCE2A-0B06-4F16-AD54-57ADE088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hits[0] selects one enemy, so one bullet does not hit every overlapping enemy.</a:t>
            </a:r>
          </a:p>
        </p:txBody>
      </p:sp>
      <p:sp>
        <p:nvSpPr>
          <p:cNvPr id="13" name="Apply damage, remove the bullet, then add 10 only on defeat.">
            <a:extLst xmlns:a="http://schemas.openxmlformats.org/drawingml/2006/main">
              <a:ext uri="{FF2B5EF4-FFF2-40B4-BE49-F238E27FC236}">
                <a16:creationId xmlns:a16="http://schemas.microsoft.com/office/drawing/2014/main" id="{8B977DEB-C07A-4E27-AEE6-A98031E9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Apply damage, remove the bullet, then add 10 only on defeat.</a:t>
            </a:r>
          </a:p>
        </p:txBody>
      </p:sp>
      <p:sp>
        <p:nvSpPr>
          <p:cNvPr id="14" name="game.py · Game.resolve_collisions() · excerpt">
            <a:extLst xmlns:a="http://schemas.openxmlformats.org/drawingml/2006/main">
              <a:ext uri="{FF2B5EF4-FFF2-40B4-BE49-F238E27FC236}">
                <a16:creationId xmlns:a16="http://schemas.microsoft.com/office/drawing/2014/main" id="{AC4AD11F-3AF6-4075-BD28-991FCE1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Game.resolve_collisions() · excerpt</a:t>
            </a:r>
          </a:p>
        </p:txBody>
      </p:sp>
      <p:sp>
        <p:nvSpPr>
          <p:cNvPr id="15" name="21">
            <a:extLst xmlns:a="http://schemas.openxmlformats.org/drawingml/2006/main">
              <a:ext uri="{FF2B5EF4-FFF2-40B4-BE49-F238E27FC236}">
                <a16:creationId xmlns:a16="http://schemas.microsoft.com/office/drawing/2014/main" id="{018F4510-924E-42BD-9E36-4BFEB2D8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00388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amage: Player keeps its state valid">
            <a:extLst xmlns:a="http://schemas.openxmlformats.org/drawingml/2006/main">
              <a:ext uri="{FF2B5EF4-FFF2-40B4-BE49-F238E27FC236}">
                <a16:creationId xmlns:a16="http://schemas.microsoft.com/office/drawing/2014/main" id="{E481FFE7-4D05-4BE7-AE0C-01BDF06F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Damage: Player keeps its state valid</a:t>
            </a:r>
          </a:p>
        </p:txBody>
      </p:sp>
      <p:sp>
        <p:nvSpPr>
          <p:cNvPr id="2" name="Lose 1 HP per accepted hit, then gain 0.8 seconds of invulnerability">
            <a:extLst xmlns:a="http://schemas.openxmlformats.org/drawingml/2006/main">
              <a:ext uri="{FF2B5EF4-FFF2-40B4-BE49-F238E27FC236}">
                <a16:creationId xmlns:a16="http://schemas.microsoft.com/office/drawing/2014/main" id="{08DBF42B-96F3-4748-991E-A85957F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Lose 1 HP per accepted hit, then gain 0.8 seconds of invulnerability</a:t>
            </a:r>
          </a:p>
        </p:txBody>
      </p:sp>
      <p:sp>
        <p:nvSpPr>
          <p:cNvPr id="3" name="def take_damage(self):">
            <a:extLst xmlns:a="http://schemas.openxmlformats.org/drawingml/2006/main">
              <a:ext uri="{FF2B5EF4-FFF2-40B4-BE49-F238E27FC236}">
                <a16:creationId xmlns:a16="http://schemas.microsoft.com/office/drawing/2014/main" id="{CB2D8C28-F9C6-4AC9-9855-835755B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take_damage(self):</a:t>
            </a:r>
          </a:p>
        </p:txBody>
      </p:sp>
      <p:sp>
        <p:nvSpPr>
          <p:cNvPr id="4" name="    if self.invulnerable &gt; 0 or self.hp == 0:">
            <a:extLst xmlns:a="http://schemas.openxmlformats.org/drawingml/2006/main">
              <a:ext uri="{FF2B5EF4-FFF2-40B4-BE49-F238E27FC236}">
                <a16:creationId xmlns:a16="http://schemas.microsoft.com/office/drawing/2014/main" id="{5B9CE568-3471-429F-8CCF-6D2AF271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self.invulnerable &gt; 0 or self.hp == 0: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18016E8F-BCEF-4031-9366-15A2E177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self.hp -= 1">
            <a:extLst xmlns:a="http://schemas.openxmlformats.org/drawingml/2006/main">
              <a:ext uri="{FF2B5EF4-FFF2-40B4-BE49-F238E27FC236}">
                <a16:creationId xmlns:a16="http://schemas.microsoft.com/office/drawing/2014/main" id="{D31712C6-17A9-44CA-A8FE-2C3E622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self.hp -= 1</a:t>
            </a:r>
          </a:p>
        </p:txBody>
      </p:sp>
      <p:sp>
        <p:nvSpPr>
          <p:cNvPr id="7" name="    self.invulnerable = 0.8">
            <a:extLst xmlns:a="http://schemas.openxmlformats.org/drawingml/2006/main">
              <a:ext uri="{FF2B5EF4-FFF2-40B4-BE49-F238E27FC236}">
                <a16:creationId xmlns:a16="http://schemas.microsoft.com/office/drawing/2014/main" id="{34B14202-4931-4B80-9AB3-1657C8AC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self.invulnerable = 0.8</a:t>
            </a:r>
          </a:p>
        </p:txBody>
      </p:sp>
      <p:sp>
        <p:nvSpPr>
          <p:cNvPr id="8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EAE13D1E-E49C-4DCD-8CE0-BAD8F363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9" name="Reject damage during invulnerability or when HP is already zero.">
            <a:extLst xmlns:a="http://schemas.openxmlformats.org/drawingml/2006/main">
              <a:ext uri="{FF2B5EF4-FFF2-40B4-BE49-F238E27FC236}">
                <a16:creationId xmlns:a16="http://schemas.microsoft.com/office/drawing/2014/main" id="{E3B5A34B-99D3-401C-AFDD-D510A9BB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Reject damage during invulnerability or when HP is already zero.</a:t>
            </a:r>
          </a:p>
        </p:txBody>
      </p:sp>
      <p:sp>
        <p:nvSpPr>
          <p:cNvPr id="10" name="Game calls take_damage() instead of changing player.hp directly.">
            <a:extLst xmlns:a="http://schemas.openxmlformats.org/drawingml/2006/main">
              <a:ext uri="{FF2B5EF4-FFF2-40B4-BE49-F238E27FC236}">
                <a16:creationId xmlns:a16="http://schemas.microsoft.com/office/drawing/2014/main" id="{9AB5542B-8F21-40DF-9BA1-7822E6A6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Game calls take_damage() instead of changing player.hp directly.</a:t>
            </a:r>
          </a:p>
        </p:txBody>
      </p:sp>
      <p:sp>
        <p:nvSpPr>
          <p:cNvPr id="11" name="actors.py · Player.take_damage()">
            <a:extLst xmlns:a="http://schemas.openxmlformats.org/drawingml/2006/main">
              <a:ext uri="{FF2B5EF4-FFF2-40B4-BE49-F238E27FC236}">
                <a16:creationId xmlns:a16="http://schemas.microsoft.com/office/drawing/2014/main" id="{0AE12A58-A867-42F2-B011-B815C47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· Player.take_damage()</a:t>
            </a:r>
          </a:p>
        </p:txBody>
      </p:sp>
      <p:sp>
        <p:nvSpPr>
          <p:cNvPr id="12" name="22">
            <a:extLst xmlns:a="http://schemas.openxmlformats.org/drawingml/2006/main">
              <a:ext uri="{FF2B5EF4-FFF2-40B4-BE49-F238E27FC236}">
                <a16:creationId xmlns:a16="http://schemas.microsoft.com/office/drawing/2014/main" id="{6DBE989D-A9F7-4917-B95D-2ECE19A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1311739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ll(): leave the scene, still an object">
            <a:extLst xmlns:a="http://schemas.openxmlformats.org/drawingml/2006/main">
              <a:ext uri="{FF2B5EF4-FFF2-40B4-BE49-F238E27FC236}">
                <a16:creationId xmlns:a16="http://schemas.microsoft.com/office/drawing/2014/main" id="{7BB4D8A0-9C96-47A5-8508-BB63FD10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kill(): leave the scene, still an object</a:t>
            </a:r>
          </a:p>
        </p:txBody>
      </p:sp>
      <p:sp>
        <p:nvSpPr>
          <p:cNvPr id="2" name="Group membership and Python object lifetime are different">
            <a:extLst xmlns:a="http://schemas.openxmlformats.org/drawingml/2006/main">
              <a:ext uri="{FF2B5EF4-FFF2-40B4-BE49-F238E27FC236}">
                <a16:creationId xmlns:a16="http://schemas.microsoft.com/office/drawing/2014/main" id="{A7528DB0-E5B6-44DB-9552-2ECF058F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Group membership and Python object lifetime are different</a:t>
            </a:r>
          </a:p>
        </p:txBody>
      </p:sp>
      <p:sp>
        <p:nvSpPr>
          <p:cNvPr id="3" name="b = game.player.shoot(&quot;B99&quot;)">
            <a:extLst xmlns:a="http://schemas.openxmlformats.org/drawingml/2006/main">
              <a:ext uri="{FF2B5EF4-FFF2-40B4-BE49-F238E27FC236}">
                <a16:creationId xmlns:a16="http://schemas.microsoft.com/office/drawing/2014/main" id="{66580EA3-0AAA-43C3-BB6D-14C0A330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game.player.shoot("B99")</a:t>
            </a:r>
          </a:p>
        </p:txBody>
      </p:sp>
      <p:sp>
        <p:nvSpPr>
          <p:cNvPr id="4" name="if b is not None:">
            <a:extLst xmlns:a="http://schemas.openxmlformats.org/drawingml/2006/main">
              <a:ext uri="{FF2B5EF4-FFF2-40B4-BE49-F238E27FC236}">
                <a16:creationId xmlns:a16="http://schemas.microsoft.com/office/drawing/2014/main" id="{55F4262D-DEF4-4274-BBD1-DD2C432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b is not None:</a:t>
            </a:r>
          </a:p>
        </p:txBody>
      </p:sp>
      <p:sp>
        <p:nvSpPr>
          <p:cNvPr id="5" name="    game.bullets.add(b)">
            <a:extLst xmlns:a="http://schemas.openxmlformats.org/drawingml/2006/main">
              <a:ext uri="{FF2B5EF4-FFF2-40B4-BE49-F238E27FC236}">
                <a16:creationId xmlns:a16="http://schemas.microsoft.com/office/drawing/2014/main" id="{FE8BF851-D77F-4F27-9A2F-516DBF6E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game.bullets.add(b)</a:t>
            </a:r>
          </a:p>
        </p:txBody>
      </p:sp>
      <p:sp>
        <p:nvSpPr>
          <p:cNvPr id="6" name="    game.all_sprites.add(b)">
            <a:extLst xmlns:a="http://schemas.openxmlformats.org/drawingml/2006/main">
              <a:ext uri="{FF2B5EF4-FFF2-40B4-BE49-F238E27FC236}">
                <a16:creationId xmlns:a16="http://schemas.microsoft.com/office/drawing/2014/main" id="{1D13D00B-3623-47D8-8A9B-4544FE0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game.all_sprites.add(b)</a:t>
            </a:r>
          </a:p>
        </p:txBody>
      </p:sp>
      <p:sp>
        <p:nvSpPr>
          <p:cNvPr id="7" name="    b.kill()">
            <a:extLst xmlns:a="http://schemas.openxmlformats.org/drawingml/2006/main">
              <a:ext uri="{FF2B5EF4-FFF2-40B4-BE49-F238E27FC236}">
                <a16:creationId xmlns:a16="http://schemas.microsoft.com/office/drawing/2014/main" id="{9546A41B-BE91-4234-A1C1-2F4F2607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b.kill()</a:t>
            </a:r>
          </a:p>
        </p:txBody>
      </p:sp>
      <p:sp>
        <p:nvSpPr>
          <p:cNvPr id="8" name="    print(b.alive())                 # False">
            <a:extLst xmlns:a="http://schemas.openxmlformats.org/drawingml/2006/main">
              <a:ext uri="{FF2B5EF4-FFF2-40B4-BE49-F238E27FC236}">
                <a16:creationId xmlns:a16="http://schemas.microsoft.com/office/drawing/2014/main" id="{CAA6F8CD-4AD3-45A3-A85D-FB3E4AB0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print(b.alive())                 # False</a:t>
            </a:r>
          </a:p>
        </p:txBody>
      </p:sp>
      <p:sp>
        <p:nvSpPr>
          <p:cNvPr id="9" name="    print(b.owner is game.player)    # True">
            <a:extLst xmlns:a="http://schemas.openxmlformats.org/drawingml/2006/main">
              <a:ext uri="{FF2B5EF4-FFF2-40B4-BE49-F238E27FC236}">
                <a16:creationId xmlns:a16="http://schemas.microsoft.com/office/drawing/2014/main" id="{51DA0462-A29C-4AAB-A43E-A0D3098C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print(b.owner is game.player)    # True</a:t>
            </a:r>
          </a:p>
        </p:txBody>
      </p:sp>
      <p:sp>
        <p:nvSpPr>
          <p:cNvPr id="10" name="kill() removes every Group membership; b still holds a reference.">
            <a:extLst xmlns:a="http://schemas.openxmlformats.org/drawingml/2006/main">
              <a:ext uri="{FF2B5EF4-FFF2-40B4-BE49-F238E27FC236}">
                <a16:creationId xmlns:a16="http://schemas.microsoft.com/office/drawing/2014/main" id="{AF203014-96E8-476F-888F-07F5FFD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kill() removes every Group membership; b still holds a reference.</a:t>
            </a:r>
          </a:p>
        </p:txBody>
      </p:sp>
      <p:sp>
        <p:nvSpPr>
          <p:cNvPr id="11" name="alive() checks group membership, not HP.">
            <a:extLst xmlns:a="http://schemas.openxmlformats.org/drawingml/2006/main">
              <a:ext uri="{FF2B5EF4-FFF2-40B4-BE49-F238E27FC236}">
                <a16:creationId xmlns:a16="http://schemas.microsoft.com/office/drawing/2014/main" id="{26E5AC82-B7E9-458C-884A-0F5608D7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alive() checks group membership, not HP.</a:t>
            </a:r>
          </a:p>
        </p:txBody>
      </p:sp>
      <p:sp>
        <p:nvSpPr>
          <p:cNvPr id="12" name="interactive example · fresh Game">
            <a:extLst xmlns:a="http://schemas.openxmlformats.org/drawingml/2006/main">
              <a:ext uri="{FF2B5EF4-FFF2-40B4-BE49-F238E27FC236}">
                <a16:creationId xmlns:a16="http://schemas.microsoft.com/office/drawing/2014/main" id="{42B3C284-617C-4D2C-9A2F-D3BAC722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interactive example · fresh Game</a:t>
            </a:r>
          </a:p>
        </p:txBody>
      </p:sp>
      <p:sp>
        <p:nvSpPr>
          <p:cNvPr id="13" name="23">
            <a:extLst xmlns:a="http://schemas.openxmlformats.org/drawingml/2006/main">
              <a:ext uri="{FF2B5EF4-FFF2-40B4-BE49-F238E27FC236}">
                <a16:creationId xmlns:a16="http://schemas.microsoft.com/office/drawing/2014/main" id="{0C212FB4-3B12-4A88-BAF8-055244D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33893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he loop: input, update, draw">
            <a:extLst xmlns:a="http://schemas.openxmlformats.org/drawingml/2006/main">
              <a:ext uri="{FF2B5EF4-FFF2-40B4-BE49-F238E27FC236}">
                <a16:creationId xmlns:a16="http://schemas.microsoft.com/office/drawing/2014/main" id="{4BD0D51C-648B-4DE0-9BCC-EB5022BB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The loop: input, update, draw</a:t>
            </a:r>
          </a:p>
        </p:txBody>
      </p:sp>
      <p:sp>
        <p:nvSpPr>
          <p:cNvPr id="2" name="Order inside run(); key-reading details are omitted">
            <a:extLst xmlns:a="http://schemas.openxmlformats.org/drawingml/2006/main">
              <a:ext uri="{FF2B5EF4-FFF2-40B4-BE49-F238E27FC236}">
                <a16:creationId xmlns:a16="http://schemas.microsoft.com/office/drawing/2014/main" id="{D6FA17BB-78EA-4B6E-AD0A-3FAEB792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Order inside run(); key-reading details are omitted</a:t>
            </a:r>
          </a:p>
        </p:txBody>
      </p:sp>
      <p:sp>
        <p:nvSpPr>
          <p:cNvPr id="3" name="dt = min(self.clock.tick(FPS) / 1000, 1 / 30)">
            <a:extLst xmlns:a="http://schemas.openxmlformats.org/drawingml/2006/main">
              <a:ext uri="{FF2B5EF4-FFF2-40B4-BE49-F238E27FC236}">
                <a16:creationId xmlns:a16="http://schemas.microsoft.com/office/drawing/2014/main" id="{0CAA274F-EEA3-45FB-A6E7-63BD9DED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dt = min(self.clock.tick(FPS) / 1000, 1 / 30)</a:t>
            </a:r>
          </a:p>
        </p:txBody>
      </p:sp>
      <p:sp>
        <p:nvSpPr>
          <p:cNvPr id="4" name="self.handle_events(pygame.event.get())">
            <a:extLst xmlns:a="http://schemas.openxmlformats.org/drawingml/2006/main">
              <a:ext uri="{FF2B5EF4-FFF2-40B4-BE49-F238E27FC236}">
                <a16:creationId xmlns:a16="http://schemas.microsoft.com/office/drawing/2014/main" id="{64027DB1-85ED-4305-949B-7698F62C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self.handle_events(pygame.event.get())</a:t>
            </a:r>
          </a:p>
        </p:txBody>
      </p:sp>
      <p:sp>
        <p:nvSpPr>
          <p:cNvPr id="5" name="# direction and shooting come from keyboard input">
            <a:extLst xmlns:a="http://schemas.openxmlformats.org/drawingml/2006/main">
              <a:ext uri="{FF2B5EF4-FFF2-40B4-BE49-F238E27FC236}">
                <a16:creationId xmlns:a16="http://schemas.microsoft.com/office/drawing/2014/main" id="{DDCA24BD-E1A0-4882-8BA7-6516F5E8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direction and shooting come from keyboard input</a:t>
            </a:r>
          </a:p>
        </p:txBody>
      </p:sp>
      <p:sp>
        <p:nvSpPr>
          <p:cNvPr id="6" name="self.tick(dt, direction, shooting)">
            <a:extLst xmlns:a="http://schemas.openxmlformats.org/drawingml/2006/main">
              <a:ext uri="{FF2B5EF4-FFF2-40B4-BE49-F238E27FC236}">
                <a16:creationId xmlns:a16="http://schemas.microsoft.com/office/drawing/2014/main" id="{6B349E63-5450-4396-8EB0-D96B6AF6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self.tick(dt, direction, shooting)</a:t>
            </a:r>
          </a:p>
        </p:txBody>
      </p:sp>
      <p:sp>
        <p:nvSpPr>
          <p:cNvPr id="7" name="view.draw(self)">
            <a:extLst xmlns:a="http://schemas.openxmlformats.org/drawingml/2006/main">
              <a:ext uri="{FF2B5EF4-FFF2-40B4-BE49-F238E27FC236}">
                <a16:creationId xmlns:a16="http://schemas.microsoft.com/office/drawing/2014/main" id="{228FEDC4-13A6-4D54-B94A-1127882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view.draw(self)</a:t>
            </a:r>
          </a:p>
        </p:txBody>
      </p:sp>
      <p:sp>
        <p:nvSpPr>
          <p:cNvPr id="8" name="pygame.display.flip()">
            <a:extLst xmlns:a="http://schemas.openxmlformats.org/drawingml/2006/main">
              <a:ext uri="{FF2B5EF4-FFF2-40B4-BE49-F238E27FC236}">
                <a16:creationId xmlns:a16="http://schemas.microsoft.com/office/drawing/2014/main" id="{2BE9AA84-2861-4414-A672-A5D288AE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pygame.display.flip()</a:t>
            </a:r>
          </a:p>
        </p:txBody>
      </p:sp>
      <p:sp>
        <p:nvSpPr>
          <p:cNvPr id="9" name="tick() updates only while playing; view.draw() also renders paused and end state">
            <a:extLst xmlns:a="http://schemas.openxmlformats.org/drawingml/2006/main">
              <a:ext uri="{FF2B5EF4-FFF2-40B4-BE49-F238E27FC236}">
                <a16:creationId xmlns:a16="http://schemas.microsoft.com/office/drawing/2014/main" id="{E005DA35-EAF4-4237-8593-F2B1059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tick() updates only while playing; view.draw() also renders paused and end states.</a:t>
            </a:r>
          </a:p>
        </p:txBody>
      </p:sp>
      <p:sp>
        <p:nvSpPr>
          <p:cNvPr id="10" name="Clock returns milliseconds; divide by 1000 for seconds. This game caps dt at 1/3">
            <a:extLst xmlns:a="http://schemas.openxmlformats.org/drawingml/2006/main">
              <a:ext uri="{FF2B5EF4-FFF2-40B4-BE49-F238E27FC236}">
                <a16:creationId xmlns:a16="http://schemas.microsoft.com/office/drawing/2014/main" id="{90FDFB61-329A-4991-9873-5BB663EE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Clock returns milliseconds; divide by 1000 for seconds. This game caps dt at 1/30.</a:t>
            </a:r>
          </a:p>
        </p:txBody>
      </p:sp>
      <p:sp>
        <p:nvSpPr>
          <p:cNvPr id="11" name="game.py · Game.run() · excerpt">
            <a:extLst xmlns:a="http://schemas.openxmlformats.org/drawingml/2006/main">
              <a:ext uri="{FF2B5EF4-FFF2-40B4-BE49-F238E27FC236}">
                <a16:creationId xmlns:a16="http://schemas.microsoft.com/office/drawing/2014/main" id="{57AEC215-B356-4EBA-874E-E102A06E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Game.run() · excerpt</a:t>
            </a:r>
          </a:p>
        </p:txBody>
      </p:sp>
      <p:sp>
        <p:nvSpPr>
          <p:cNvPr id="12" name="24">
            <a:extLst xmlns:a="http://schemas.openxmlformats.org/drawingml/2006/main">
              <a:ext uri="{FF2B5EF4-FFF2-40B4-BE49-F238E27FC236}">
                <a16:creationId xmlns:a16="http://schemas.microsoft.com/office/drawing/2014/main" id="{8C000DF1-BC59-4BBF-A62B-13D8136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379665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tate: paused really means paused">
            <a:extLst xmlns:a="http://schemas.openxmlformats.org/drawingml/2006/main">
              <a:ext uri="{FF2B5EF4-FFF2-40B4-BE49-F238E27FC236}">
                <a16:creationId xmlns:a16="http://schemas.microsoft.com/office/drawing/2014/main" id="{5522C6DF-FE44-4118-ADBA-F50EBE97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State: paused really means paused</a:t>
            </a:r>
          </a:p>
        </p:txBody>
      </p:sp>
      <p:sp>
        <p:nvSpPr>
          <p:cNvPr id="2" name="ready → playing ⇄ paused; playing → won / lost">
            <a:extLst xmlns:a="http://schemas.openxmlformats.org/drawingml/2006/main">
              <a:ext uri="{FF2B5EF4-FFF2-40B4-BE49-F238E27FC236}">
                <a16:creationId xmlns:a16="http://schemas.microsoft.com/office/drawing/2014/main" id="{70666967-D07C-45E9-95AF-317B828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ready → playing ⇄ paused; playing → won /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BEBBA-C169-4557-97A9-A9019BDA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00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725324A6-BAF9-4868-A687-4937435A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1695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9A09C-09F9-40CD-9A8E-A09D1B5A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6" name="playing">
            <a:extLst xmlns:a="http://schemas.openxmlformats.org/drawingml/2006/main">
              <a:ext uri="{FF2B5EF4-FFF2-40B4-BE49-F238E27FC236}">
                <a16:creationId xmlns:a16="http://schemas.microsoft.com/office/drawing/2014/main" id="{1453599F-7BD9-43E1-BD20-8F30B33D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66975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playing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DB5FE-FD0B-44FB-A8BF-B870630A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2428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D08"/>
            </a:solidFill>
          </a:ln>
        </p:spPr>
      </p:sp>
      <p:sp>
        <p:nvSpPr>
          <p:cNvPr id="8" name="paused">
            <a:extLst xmlns:a="http://schemas.openxmlformats.org/drawingml/2006/main">
              <a:ext uri="{FF2B5EF4-FFF2-40B4-BE49-F238E27FC236}">
                <a16:creationId xmlns:a16="http://schemas.microsoft.com/office/drawing/2014/main" id="{869350DE-0960-4169-BA6C-7521035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14850"/>
            <a:ext cx="2124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66D0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66D08"/>
                </a:solidFill>
                <a:latin typeface="Aptos"/>
                <a:ea typeface="Aptos"/>
                <a:cs typeface="Aptos"/>
              </a:rPr>
              <a:t>paused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51D12-A5F5-4A59-B8A8-414DE152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66875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0" name="won">
            <a:extLst xmlns:a="http://schemas.openxmlformats.org/drawingml/2006/main">
              <a:ext uri="{FF2B5EF4-FFF2-40B4-BE49-F238E27FC236}">
                <a16:creationId xmlns:a16="http://schemas.microsoft.com/office/drawing/2014/main" id="{73B34601-D028-443E-A4CE-F925777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won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BDD80-94AE-4FD6-A54A-E68B79B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204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4A44"/>
            </a:solidFill>
          </a:ln>
        </p:spPr>
      </p:sp>
      <p:sp>
        <p:nvSpPr>
          <p:cNvPr id="12" name="lost">
            <a:extLst xmlns:a="http://schemas.openxmlformats.org/drawingml/2006/main">
              <a:ext uri="{FF2B5EF4-FFF2-40B4-BE49-F238E27FC236}">
                <a16:creationId xmlns:a16="http://schemas.microsoft.com/office/drawing/2014/main" id="{8770C0D3-DD8E-40AB-A846-64E8DB19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9975"/>
            <a:ext cx="17430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F4A4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F4A44"/>
                </a:solidFill>
                <a:latin typeface="Aptos"/>
                <a:ea typeface="Aptos"/>
                <a:cs typeface="Aptos"/>
              </a:rPr>
              <a:t>lost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556F8-6CBE-4281-AA19-41D036ED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71750" y="2686050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0A0D7-A899-4FBB-AA77-112C468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670551" y="26860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E440C-08F0-4A91-B2E4-AEE8B64C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670551" y="26358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6" name="Enter">
            <a:extLst xmlns:a="http://schemas.openxmlformats.org/drawingml/2006/main">
              <a:ext uri="{FF2B5EF4-FFF2-40B4-BE49-F238E27FC236}">
                <a16:creationId xmlns:a16="http://schemas.microsoft.com/office/drawing/2014/main" id="{52412094-5B77-4558-9133-4D103E13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574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Enter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C1C6-5C45-47C5-9C19-3BF2E5B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24500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9239D-4FD5-4820-A964-BE33FFD1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4268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5F021D-1AEA-4CC8-B922-B3E982D3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524500" y="4337176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0" name="P">
            <a:extLst xmlns:a="http://schemas.openxmlformats.org/drawingml/2006/main">
              <a:ext uri="{FF2B5EF4-FFF2-40B4-BE49-F238E27FC236}">
                <a16:creationId xmlns:a16="http://schemas.microsoft.com/office/drawing/2014/main" id="{76A23B39-F9E6-4F40-A46D-D411CF9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9754F-3363-4E78-B181-359C219C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429375" y="3000375"/>
            <a:ext cx="0" cy="142875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78546-C2B0-4029-82C5-DBE811F0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D2646-154B-4D30-BDF0-A07E7C83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379143" y="3000375"/>
            <a:ext cx="50232" cy="91949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P">
            <a:extLst xmlns:a="http://schemas.openxmlformats.org/drawingml/2006/main">
              <a:ext uri="{FF2B5EF4-FFF2-40B4-BE49-F238E27FC236}">
                <a16:creationId xmlns:a16="http://schemas.microsoft.com/office/drawing/2014/main" id="{2BE7D0E3-23EA-46C1-B273-4A1555B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52825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39CE9-104D-46BD-B401-4FD643A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91375" y="26860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B846C-79C5-410D-9BB5-006A318E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334375" y="1971675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E1D52-BB78-4165-9C7A-33744A2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19716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C5DF7-3CEF-4E44-80BA-471F60C5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19716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E7DE5-0CC6-4B15-81EC-4C6B973A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19214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0" name="score ≥ 200">
            <a:extLst xmlns:a="http://schemas.openxmlformats.org/drawingml/2006/main">
              <a:ext uri="{FF2B5EF4-FFF2-40B4-BE49-F238E27FC236}">
                <a16:creationId xmlns:a16="http://schemas.microsoft.com/office/drawing/2014/main" id="{60779CAC-067E-4557-9BDA-B9E71AD7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4782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87C62"/>
                </a:solidFill>
                <a:latin typeface="Aptos"/>
                <a:ea typeface="Aptos"/>
                <a:cs typeface="Aptos"/>
              </a:rPr>
              <a:t>score ≥ 200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27B66-DD1F-47CF-BE83-40158414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2686050"/>
            <a:ext cx="0" cy="115252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113013-1E6D-4796-BDFB-2AE85EFE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34375" y="3838575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523AB-F285-4CD6-B280-B1830060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433051" y="383857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EDC33-B465-43DF-BD0D-55A25AF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433051" y="378834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35" name="hp = 0">
            <a:extLst xmlns:a="http://schemas.openxmlformats.org/drawingml/2006/main">
              <a:ext uri="{FF2B5EF4-FFF2-40B4-BE49-F238E27FC236}">
                <a16:creationId xmlns:a16="http://schemas.microsoft.com/office/drawing/2014/main" id="{07FC627F-7EB5-4510-A708-42AE00C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194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F4A4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F4A44"/>
                </a:solidFill>
                <a:latin typeface="Aptos"/>
                <a:ea typeface="Aptos"/>
                <a:cs typeface="Aptos"/>
              </a:rPr>
              <a:t>hp = 0</a:t>
            </a:r>
          </a:p>
        </p:txBody>
      </p:sp>
      <p:sp>
        <p:nvSpPr>
          <p:cNvPr id="36" name="R: any state → ready">
            <a:extLst xmlns:a="http://schemas.openxmlformats.org/drawingml/2006/main">
              <a:ext uri="{FF2B5EF4-FFF2-40B4-BE49-F238E27FC236}">
                <a16:creationId xmlns:a16="http://schemas.microsoft.com/office/drawing/2014/main" id="{7A27D924-1BEE-4412-BC05-5B6995A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91125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R: any state → ready</a:t>
            </a:r>
          </a:p>
        </p:txBody>
      </p:sp>
      <p:sp>
        <p:nvSpPr>
          <p:cNvPr id="37" name="N calls update(1 / FPS) only while paused: one frame, without automatic firing.">
            <a:extLst xmlns:a="http://schemas.openxmlformats.org/drawingml/2006/main">
              <a:ext uri="{FF2B5EF4-FFF2-40B4-BE49-F238E27FC236}">
                <a16:creationId xmlns:a16="http://schemas.microsoft.com/office/drawing/2014/main" id="{6C755FAA-54C6-4946-9071-B02252B8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N calls update(1 / FPS) only while paused: one frame, without automatic firing.</a:t>
            </a:r>
          </a:p>
        </p:txBody>
      </p:sp>
      <p:sp>
        <p:nvSpPr>
          <p:cNvPr id="38" name="R resets to ready; Enter starts again. Zero HP takes priority over reaching 200 ">
            <a:extLst xmlns:a="http://schemas.openxmlformats.org/drawingml/2006/main">
              <a:ext uri="{FF2B5EF4-FFF2-40B4-BE49-F238E27FC236}">
                <a16:creationId xmlns:a16="http://schemas.microsoft.com/office/drawing/2014/main" id="{30BA7037-AB60-45A6-B37F-7A8D79F4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R resets to ready; Enter starts again. Zero HP takes priority over reaching 200 points.</a:t>
            </a:r>
          </a:p>
        </p:txBody>
      </p:sp>
      <p:sp>
        <p:nvSpPr>
          <p:cNvPr id="39" name="25">
            <a:extLst xmlns:a="http://schemas.openxmlformats.org/drawingml/2006/main">
              <a:ext uri="{FF2B5EF4-FFF2-40B4-BE49-F238E27FC236}">
                <a16:creationId xmlns:a16="http://schemas.microsoft.com/office/drawing/2014/main" id="{C28750B1-EA4F-4822-A401-C4AA34F1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827564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set: create a new round of objects">
            <a:extLst xmlns:a="http://schemas.openxmlformats.org/drawingml/2006/main">
              <a:ext uri="{FF2B5EF4-FFF2-40B4-BE49-F238E27FC236}">
                <a16:creationId xmlns:a16="http://schemas.microsoft.com/office/drawing/2014/main" id="{A790215E-7EEF-435A-AB02-7C16729C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Reset: create a new round of objects</a:t>
            </a:r>
          </a:p>
        </p:txBody>
      </p:sp>
      <p:sp>
        <p:nvSpPr>
          <p:cNvPr id="2" name="reset() rebuilds the player and groups, then resets score and state">
            <a:extLst xmlns:a="http://schemas.openxmlformats.org/drawingml/2006/main">
              <a:ext uri="{FF2B5EF4-FFF2-40B4-BE49-F238E27FC236}">
                <a16:creationId xmlns:a16="http://schemas.microsoft.com/office/drawing/2014/main" id="{B9591B87-14F3-44B3-BCD9-E44F966D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reset() rebuilds the player and groups, then resets score and state</a:t>
            </a:r>
          </a:p>
        </p:txBody>
      </p:sp>
      <p:sp>
        <p:nvSpPr>
          <p:cNvPr id="3" name="if hasattr(self, &quot;all_sprites&quot;):">
            <a:extLst xmlns:a="http://schemas.openxmlformats.org/drawingml/2006/main">
              <a:ext uri="{FF2B5EF4-FFF2-40B4-BE49-F238E27FC236}">
                <a16:creationId xmlns:a16="http://schemas.microsoft.com/office/drawing/2014/main" id="{7AB727B6-D66D-41B0-AD5A-899E52F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if hasattr(self, "all_sprites"):</a:t>
            </a:r>
          </a:p>
        </p:txBody>
      </p:sp>
      <p:sp>
        <p:nvSpPr>
          <p:cNvPr id="4" name="    for actor in self.all_sprites.sprites():">
            <a:extLst xmlns:a="http://schemas.openxmlformats.org/drawingml/2006/main">
              <a:ext uri="{FF2B5EF4-FFF2-40B4-BE49-F238E27FC236}">
                <a16:creationId xmlns:a16="http://schemas.microsoft.com/office/drawing/2014/main" id="{FCA0EFC4-08C3-4C4D-9516-C1FF6DE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actor in self.all_sprites.sprites():</a:t>
            </a:r>
          </a:p>
        </p:txBody>
      </p:sp>
      <p:sp>
        <p:nvSpPr>
          <p:cNvPr id="5" name="        actor.kill()">
            <a:extLst xmlns:a="http://schemas.openxmlformats.org/drawingml/2006/main">
              <a:ext uri="{FF2B5EF4-FFF2-40B4-BE49-F238E27FC236}">
                <a16:creationId xmlns:a16="http://schemas.microsoft.com/office/drawing/2014/main" id="{064A3397-8D81-41BC-9A7F-CBAD96C3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actor.kill()</a:t>
            </a:r>
          </a:p>
        </p:txBody>
      </p:sp>
      <p:sp>
        <p:nvSpPr>
          <p:cNvPr id="6" name="self.player = Player((PLAY_AREA.centerx, PLAY_AREA.bottom - 60))">
            <a:extLst xmlns:a="http://schemas.openxmlformats.org/drawingml/2006/main">
              <a:ext uri="{FF2B5EF4-FFF2-40B4-BE49-F238E27FC236}">
                <a16:creationId xmlns:a16="http://schemas.microsoft.com/office/drawing/2014/main" id="{4AAE7B00-A3E8-49D4-9E45-C9D1672D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self.player = Player((PLAY_AREA.centerx, PLAY_AREA.bottom - 60))</a:t>
            </a:r>
          </a:p>
        </p:txBody>
      </p:sp>
      <p:sp>
        <p:nvSpPr>
          <p:cNvPr id="7" name="self.all_sprites = pygame.sprite.Group(self.player)">
            <a:extLst xmlns:a="http://schemas.openxmlformats.org/drawingml/2006/main">
              <a:ext uri="{FF2B5EF4-FFF2-40B4-BE49-F238E27FC236}">
                <a16:creationId xmlns:a16="http://schemas.microsoft.com/office/drawing/2014/main" id="{EE7376D0-D518-4AE0-A671-B6F6C517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 = pygame.sprite.Group(self.player)</a:t>
            </a:r>
          </a:p>
        </p:txBody>
      </p:sp>
      <p:sp>
        <p:nvSpPr>
          <p:cNvPr id="8" name="self.enemie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DEA135B3-9C7E-4C78-9B2C-DD85B80C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self.enemies = pygame.sprite.Group()</a:t>
            </a:r>
          </a:p>
        </p:txBody>
      </p:sp>
      <p:sp>
        <p:nvSpPr>
          <p:cNvPr id="9" name="self.bullets = pygame.sprite.Group()">
            <a:extLst xmlns:a="http://schemas.openxmlformats.org/drawingml/2006/main">
              <a:ext uri="{FF2B5EF4-FFF2-40B4-BE49-F238E27FC236}">
                <a16:creationId xmlns:a16="http://schemas.microsoft.com/office/drawing/2014/main" id="{08BA6B2F-AD0B-45FD-A5AD-352BBE0F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self.bullets = pygame.sprite.Group()</a:t>
            </a:r>
          </a:p>
        </p:txBody>
      </p:sp>
      <p:sp>
        <p:nvSpPr>
          <p:cNvPr id="10" name="self.score = 0">
            <a:extLst xmlns:a="http://schemas.openxmlformats.org/drawingml/2006/main">
              <a:ext uri="{FF2B5EF4-FFF2-40B4-BE49-F238E27FC236}">
                <a16:creationId xmlns:a16="http://schemas.microsoft.com/office/drawing/2014/main" id="{87528E4B-40E7-4A0A-8BC4-FB7849B3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self.score = 0</a:t>
            </a:r>
          </a:p>
        </p:txBody>
      </p:sp>
      <p:sp>
        <p:nvSpPr>
          <p:cNvPr id="11" name="self.state = &quot;ready&quot;">
            <a:extLst xmlns:a="http://schemas.openxmlformats.org/drawingml/2006/main">
              <a:ext uri="{FF2B5EF4-FFF2-40B4-BE49-F238E27FC236}">
                <a16:creationId xmlns:a16="http://schemas.microsoft.com/office/drawing/2014/main" id="{3D9C0400-431A-47EC-BF7B-15076CFD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self.state = "ready"</a:t>
            </a:r>
          </a:p>
        </p:txBody>
      </p:sp>
      <p:sp>
        <p:nvSpPr>
          <p:cNvPr id="12" name="Old objects leave their groups; other references can still keep them accessible.">
            <a:extLst xmlns:a="http://schemas.openxmlformats.org/drawingml/2006/main">
              <a:ext uri="{FF2B5EF4-FFF2-40B4-BE49-F238E27FC236}">
                <a16:creationId xmlns:a16="http://schemas.microsoft.com/office/drawing/2014/main" id="{EF368500-2D7D-4A97-A388-0E2EADC6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Old objects leave their groups; other references can still keep them accessible.</a:t>
            </a:r>
          </a:p>
        </p:txBody>
      </p:sp>
      <p:sp>
        <p:nvSpPr>
          <p:cNvPr id="13" name="The game then spawns three initial enemies; the new player is a new object.">
            <a:extLst xmlns:a="http://schemas.openxmlformats.org/drawingml/2006/main">
              <a:ext uri="{FF2B5EF4-FFF2-40B4-BE49-F238E27FC236}">
                <a16:creationId xmlns:a16="http://schemas.microsoft.com/office/drawing/2014/main" id="{4062A65C-32E6-461B-8F86-C5C2456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The game then spawns three initial enemies; the new player is a new object.</a:t>
            </a:r>
          </a:p>
        </p:txBody>
      </p:sp>
      <p:sp>
        <p:nvSpPr>
          <p:cNvPr id="14" name="game.py · Game.reset() · excerpt after first initialization">
            <a:extLst xmlns:a="http://schemas.openxmlformats.org/drawingml/2006/main">
              <a:ext uri="{FF2B5EF4-FFF2-40B4-BE49-F238E27FC236}">
                <a16:creationId xmlns:a16="http://schemas.microsoft.com/office/drawing/2014/main" id="{7D8F1663-4581-43D2-9DC2-F8A35275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· Game.reset() · excerpt after first initialization</a:t>
            </a:r>
          </a:p>
        </p:txBody>
      </p:sp>
      <p:sp>
        <p:nvSpPr>
          <p:cNvPr id="15" name="26">
            <a:extLst xmlns:a="http://schemas.openxmlformats.org/drawingml/2006/main">
              <a:ext uri="{FF2B5EF4-FFF2-40B4-BE49-F238E27FC236}">
                <a16:creationId xmlns:a16="http://schemas.microsoft.com/office/drawing/2014/main" id="{EC9EE365-9259-46D6-A767-5BC151D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177376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ind the file that owns the change">
            <a:extLst xmlns:a="http://schemas.openxmlformats.org/drawingml/2006/main">
              <a:ext uri="{FF2B5EF4-FFF2-40B4-BE49-F238E27FC236}">
                <a16:creationId xmlns:a16="http://schemas.microsoft.com/office/drawing/2014/main" id="{63D83BB5-4585-4D8A-971F-E05B7246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Find the file that owns the change</a:t>
            </a:r>
          </a:p>
        </p:txBody>
      </p:sp>
      <p:sp>
        <p:nvSpPr>
          <p:cNvPr id="2" name="Five core classes; display and language use separate functions">
            <a:extLst xmlns:a="http://schemas.openxmlformats.org/drawingml/2006/main">
              <a:ext uri="{FF2B5EF4-FFF2-40B4-BE49-F238E27FC236}">
                <a16:creationId xmlns:a16="http://schemas.microsoft.com/office/drawing/2014/main" id="{AC486EDA-17F2-4AF9-963A-9CACB8A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Five core classes; display and language use separate functions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18D32-3D10-4C2E-B6BA-73C0E1FB01FF}"/>
              </a:ext>
            </a:extLst>
          </p:cNvPr>
          <p:cNvGraphicFramePr/>
          <p:nvPr/>
        </p:nvGraphicFramePr>
        <p:xfrm>
          <a:off xmlns:a="http://schemas.openxmlformats.org/drawingml/2006/main" x="571500" y="1762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File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Aptos"/>
                          <a:ea typeface="Aptos"/>
                          <a:cs typeface="Aptos"/>
                        </a:rPr>
                        <a:t>Contents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actors.py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Actor, Player, Enemy, Bullet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Game: events, spawning, collision, state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view.py / i18n.py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Display and UI text; no game rules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settings.py / main.py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Parameters / command-line entry point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6826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tests/test_game.py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Aptos"/>
                          <a:ea typeface="Aptos"/>
                          <a:cs typeface="Aptos"/>
                        </a:rPr>
                        <a:t>Behavior, collisions, state, rendering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219F4D8E-1E68-4E0C-8548-F087B34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608395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st how the objects cooperate">
            <a:extLst xmlns:a="http://schemas.openxmlformats.org/drawingml/2006/main">
              <a:ext uri="{FF2B5EF4-FFF2-40B4-BE49-F238E27FC236}">
                <a16:creationId xmlns:a16="http://schemas.microsoft.com/office/drawing/2014/main" id="{615B4CB7-148F-4D12-B2DB-4ED0B89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DF4FB"/>
                </a:solidFill>
                <a:latin typeface="Aptos"/>
                <a:ea typeface="Aptos"/>
                <a:cs typeface="Aptos"/>
              </a:rPr>
              <a:t>Test how the objects cooperate</a:t>
            </a:r>
          </a:p>
        </p:txBody>
      </p:sp>
      <p:sp>
        <p:nvSpPr>
          <p:cNvPr id="2" name="Check observable outcomes, not just the code's appearance">
            <a:extLst xmlns:a="http://schemas.openxmlformats.org/drawingml/2006/main">
              <a:ext uri="{FF2B5EF4-FFF2-40B4-BE49-F238E27FC236}">
                <a16:creationId xmlns:a16="http://schemas.microsoft.com/office/drawing/2014/main" id="{1DE43029-32F7-400D-AC0E-DE9FD03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Check observable outcomes, not just the code's appearance</a:t>
            </a:r>
          </a:p>
        </p:txBody>
      </p:sp>
      <p:sp>
        <p:nvSpPr>
          <p:cNvPr id="3" name="# Windows PowerShell">
            <a:extLst xmlns:a="http://schemas.openxmlformats.org/drawingml/2006/main">
              <a:ext uri="{FF2B5EF4-FFF2-40B4-BE49-F238E27FC236}">
                <a16:creationId xmlns:a16="http://schemas.microsoft.com/office/drawing/2014/main" id="{337EEBC3-4EA9-49C5-B93E-642F69F7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Windows PowerShell</a:t>
            </a:r>
          </a:p>
        </p:txBody>
      </p:sp>
      <p:sp>
        <p:nvSpPr>
          <p:cNvPr id="4" name=".\.venv\Scripts\python.exe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0DC67045-02F0-420D-AC73-C21F0445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.\.venv\Scripts\python.exe -m unittest discover -s tests -v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DE1BA-104B-4F2A-A3EA-A81EA85C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# macOS / Linux">
            <a:extLst xmlns:a="http://schemas.openxmlformats.org/drawingml/2006/main">
              <a:ext uri="{FF2B5EF4-FFF2-40B4-BE49-F238E27FC236}">
                <a16:creationId xmlns:a16="http://schemas.microsoft.com/office/drawing/2014/main" id="{13227C3B-C4B8-455D-899C-19FF88E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macOS / Linux</a:t>
            </a:r>
          </a:p>
        </p:txBody>
      </p:sp>
      <p:sp>
        <p:nvSpPr>
          <p:cNvPr id="7" name=".venv/bin/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FE96EE95-80D2-4052-AC0E-8BA69A42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.venv/bin/python -m unittest discover -s tests -v</a:t>
            </a:r>
          </a:p>
        </p:txBody>
      </p:sp>
      <p:sp>
        <p:nvSpPr>
          <p:cNvPr id="8" name="Check identity, cooldown, single hits, invulnerability, and stopped end states.">
            <a:extLst xmlns:a="http://schemas.openxmlformats.org/drawingml/2006/main">
              <a:ext uri="{FF2B5EF4-FFF2-40B4-BE49-F238E27FC236}">
                <a16:creationId xmlns:a16="http://schemas.microsoft.com/office/drawing/2014/main" id="{4F533B24-5159-4B93-A33E-C510F900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Check identity, cooldown, single hits, invulnerability, and stopped end states.</a:t>
            </a:r>
          </a:p>
        </p:txBody>
      </p:sp>
      <p:sp>
        <p:nvSpPr>
          <p:cNvPr id="9" name="Tests use SDL's dummy driver, so they do not need a game window.">
            <a:extLst xmlns:a="http://schemas.openxmlformats.org/drawingml/2006/main">
              <a:ext uri="{FF2B5EF4-FFF2-40B4-BE49-F238E27FC236}">
                <a16:creationId xmlns:a16="http://schemas.microsoft.com/office/drawing/2014/main" id="{7F8AC74D-C841-49D4-A2DE-B7B843FD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51911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8EDBE"/>
                </a:solidFill>
                <a:latin typeface="Aptos"/>
                <a:ea typeface="Aptos"/>
                <a:cs typeface="Aptos"/>
              </a:rPr>
              <a:t>Tests use SDL's dummy driver, so they do not need a game window.</a:t>
            </a:r>
          </a:p>
        </p:txBody>
      </p:sp>
      <p:sp>
        <p:nvSpPr>
          <p:cNvPr id="10" name="project folder">
            <a:extLst xmlns:a="http://schemas.openxmlformats.org/drawingml/2006/main">
              <a:ext uri="{FF2B5EF4-FFF2-40B4-BE49-F238E27FC236}">
                <a16:creationId xmlns:a16="http://schemas.microsoft.com/office/drawing/2014/main" id="{151A8346-5280-4EB5-B16D-79665714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674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project folder</a:t>
            </a:r>
          </a:p>
        </p:txBody>
      </p:sp>
      <p:sp>
        <p:nvSpPr>
          <p:cNvPr id="11" name="28">
            <a:extLst xmlns:a="http://schemas.openxmlformats.org/drawingml/2006/main">
              <a:ext uri="{FF2B5EF4-FFF2-40B4-BE49-F238E27FC236}">
                <a16:creationId xmlns:a16="http://schemas.microsoft.com/office/drawing/2014/main" id="{ADEAF12B-178B-48A4-9A27-2434EE0F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DF4F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400684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mall exercises: change the responsible class">
            <a:extLst xmlns:a="http://schemas.openxmlformats.org/drawingml/2006/main">
              <a:ext uri="{FF2B5EF4-FFF2-40B4-BE49-F238E27FC236}">
                <a16:creationId xmlns:a16="http://schemas.microsoft.com/office/drawing/2014/main" id="{F46BF7A6-6143-4F5C-AE39-258B776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Small exercises: change the responsible class</a:t>
            </a:r>
          </a:p>
        </p:txBody>
      </p:sp>
      <p:sp>
        <p:nvSpPr>
          <p:cNvPr id="2" name="Describe completion through observable, testable behavior">
            <a:extLst xmlns:a="http://schemas.openxmlformats.org/drawingml/2006/main">
              <a:ext uri="{FF2B5EF4-FFF2-40B4-BE49-F238E27FC236}">
                <a16:creationId xmlns:a16="http://schemas.microsoft.com/office/drawing/2014/main" id="{EBF8B0B4-D5AB-4A16-9ADD-79EE927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Describe completion through observable, testable behavior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718DC4B-99E0-4905-AFFC-C7BF3738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Give an Enemy 3 HP: three hits to defeat it, with one 10-point award.">
            <a:extLst xmlns:a="http://schemas.openxmlformats.org/drawingml/2006/main">
              <a:ext uri="{FF2B5EF4-FFF2-40B4-BE49-F238E27FC236}">
                <a16:creationId xmlns:a16="http://schemas.microsoft.com/office/drawing/2014/main" id="{93D07DED-2FA0-4DAB-890F-50398280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907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Give an Enemy 3 HP: three hits to defeat it, with one 10-point award.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6F788F02-FF58-44EA-BB42-AE0266FE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Set Bullet.damage to 2: defeat a 2-HP enemy with one shot.">
            <a:extLst xmlns:a="http://schemas.openxmlformats.org/drawingml/2006/main">
              <a:ext uri="{FF2B5EF4-FFF2-40B4-BE49-F238E27FC236}">
                <a16:creationId xmlns:a16="http://schemas.microsoft.com/office/drawing/2014/main" id="{2330EB33-C07B-4F94-93A1-9154821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1947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Set Bullet.damage to 2: defeat a 2-HP enemy with one shot.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323C74D0-7099-4FDF-85A1-08CB1CFA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Shorten SHOT_INTERVAL: verify no new Bullet is created during cooldown.">
            <a:extLst xmlns:a="http://schemas.openxmlformats.org/drawingml/2006/main">
              <a:ext uri="{FF2B5EF4-FFF2-40B4-BE49-F238E27FC236}">
                <a16:creationId xmlns:a16="http://schemas.microsoft.com/office/drawing/2014/main" id="{10EECA82-0682-455E-9512-9DD5AB1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9858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Shorten SHOT_INTERVAL: verify no new Bullet is created during cooldown.</a:t>
            </a:r>
          </a:p>
        </p:txBody>
      </p:sp>
      <p:sp>
        <p:nvSpPr>
          <p:cNvPr id="9" name="29">
            <a:extLst xmlns:a="http://schemas.openxmlformats.org/drawingml/2006/main">
              <a:ext uri="{FF2B5EF4-FFF2-40B4-BE49-F238E27FC236}">
                <a16:creationId xmlns:a16="http://schemas.microsoft.com/office/drawing/2014/main" id="{0C682B88-266D-4B02-A3A4-10E1D300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710757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ive classes explain one system">
            <a:extLst xmlns:a="http://schemas.openxmlformats.org/drawingml/2006/main">
              <a:ext uri="{FF2B5EF4-FFF2-40B4-BE49-F238E27FC236}">
                <a16:creationId xmlns:a16="http://schemas.microsoft.com/office/drawing/2014/main" id="{59DA587C-5ABA-4906-A068-71AF3BBE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2C40"/>
                </a:solidFill>
                <a:latin typeface="Aptos"/>
                <a:ea typeface="Aptos"/>
                <a:cs typeface="Aptos"/>
              </a:rPr>
              <a:t>Five classes explain one system</a:t>
            </a:r>
          </a:p>
        </p:txBody>
      </p:sp>
      <p:sp>
        <p:nvSpPr>
          <p:cNvPr id="2" name="Keep state in objects; let methods coordinate behavior">
            <a:extLst xmlns:a="http://schemas.openxmlformats.org/drawingml/2006/main">
              <a:ext uri="{FF2B5EF4-FFF2-40B4-BE49-F238E27FC236}">
                <a16:creationId xmlns:a16="http://schemas.microsoft.com/office/drawing/2014/main" id="{CCE2BDF9-BEC2-4A68-B6BE-FDE3795D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811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Keep state in objects; let methods coordinate behavior</a:t>
            </a:r>
          </a:p>
        </p:txBody>
      </p:sp>
      <p:sp>
        <p:nvSpPr>
          <p:cNvPr id="3" name="Inheritance shares behavior; associations hold references; polymorphism unifies ">
            <a:extLst xmlns:a="http://schemas.openxmlformats.org/drawingml/2006/main">
              <a:ext uri="{FF2B5EF4-FFF2-40B4-BE49-F238E27FC236}">
                <a16:creationId xmlns:a16="http://schemas.microsoft.com/office/drawing/2014/main" id="{9F53F344-4300-4E75-9489-7B695106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095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Inheritance shares behavior; associations hold references; polymorphism unifies calls.</a:t>
            </a:r>
          </a:p>
          <a:p xmlns:a="http://schemas.openxmlformats.org/drawingml/2006/main">
            <a:pPr algn="l">
              <a:defRPr sz="2175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72C40"/>
                </a:solidFill>
                <a:latin typeface="Aptos"/>
                <a:ea typeface="Aptos"/>
                <a:cs typeface="Aptos"/>
              </a:rPr>
              <a:t>The course website includes the complete example, three decks, and searchable chapters.</a:t>
            </a:r>
          </a:p>
        </p:txBody>
      </p:sp>
      <p:sp>
        <p:nvSpPr>
          <p:cNvPr id="4" name="Pygame · Sprite / Group">
            <a:extLst xmlns:a="http://schemas.openxmlformats.org/drawingml/2006/main">
              <a:ext uri="{FF2B5EF4-FFF2-40B4-BE49-F238E27FC236}">
                <a16:creationId xmlns:a16="http://schemas.microsoft.com/office/drawing/2014/main" id="{657BA173-867B-4313-A2B9-AB6A4AF3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Pygame · Sprite / Group</a:t>
            </a:r>
          </a:p>
        </p:txBody>
      </p:sp>
      <p:sp>
        <p:nvSpPr>
          <p:cNvPr id="5" name="https://www.pygame.org/docs/ref/sprite.html">
            <a:extLst xmlns:a="http://schemas.openxmlformats.org/drawingml/2006/main">
              <a:ext uri="{FF2B5EF4-FFF2-40B4-BE49-F238E27FC236}">
                <a16:creationId xmlns:a16="http://schemas.microsoft.com/office/drawing/2014/main" id="{C41C4193-5337-414F-882F-1AEA97CA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766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  <a:hlinkClick xmlns:r="http://schemas.openxmlformats.org/officeDocument/2006/relationships" r:id="R40799038d7734331"/>
              </a:rPr>
              <a:t>https://www.pygame.org/docs/ref/sprite.html</a:t>
            </a:r>
          </a:p>
        </p:txBody>
      </p:sp>
      <p:sp>
        <p:nvSpPr>
          <p:cNvPr id="6" name="Pygame · Clock">
            <a:extLst xmlns:a="http://schemas.openxmlformats.org/drawingml/2006/main">
              <a:ext uri="{FF2B5EF4-FFF2-40B4-BE49-F238E27FC236}">
                <a16:creationId xmlns:a16="http://schemas.microsoft.com/office/drawing/2014/main" id="{BEC89279-4072-48CC-8FB0-58B4A8D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Pygame · Clock</a:t>
            </a:r>
          </a:p>
        </p:txBody>
      </p:sp>
      <p:sp>
        <p:nvSpPr>
          <p:cNvPr id="7" name="https://www.pygame.org/docs/ref/time.html">
            <a:extLst xmlns:a="http://schemas.openxmlformats.org/drawingml/2006/main">
              <a:ext uri="{FF2B5EF4-FFF2-40B4-BE49-F238E27FC236}">
                <a16:creationId xmlns:a16="http://schemas.microsoft.com/office/drawing/2014/main" id="{D99DEB22-3797-439A-B1C8-71D2AF26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005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  <a:hlinkClick xmlns:r="http://schemas.openxmlformats.org/officeDocument/2006/relationships" r:id="R30ba823f23ff4b35"/>
              </a:rPr>
              <a:t>https://www.pygame.org/docs/ref/time.html</a:t>
            </a:r>
          </a:p>
        </p:txBody>
      </p:sp>
      <p:sp>
        <p:nvSpPr>
          <p:cNvPr id="8" name="Python 3.12 · Data model">
            <a:extLst xmlns:a="http://schemas.openxmlformats.org/drawingml/2006/main">
              <a:ext uri="{FF2B5EF4-FFF2-40B4-BE49-F238E27FC236}">
                <a16:creationId xmlns:a16="http://schemas.microsoft.com/office/drawing/2014/main" id="{F319DBAF-671C-4BBC-A1EA-96601C7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Python 3.12 · Data model</a:t>
            </a:r>
          </a:p>
        </p:txBody>
      </p:sp>
      <p:sp>
        <p:nvSpPr>
          <p:cNvPr id="9" name="https://docs.python.org/3.12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2189EBAA-653A-4E9E-B259-0FF0712B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2437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  <a:hlinkClick xmlns:r="http://schemas.openxmlformats.org/officeDocument/2006/relationships" r:id="Rd9b1cdf307a2456d"/>
              </a:rPr>
              <a:t>https://docs.python.org/3.12/reference/datamodel.html</a:t>
            </a:r>
          </a:p>
        </p:txBody>
      </p:sp>
      <p:sp>
        <p:nvSpPr>
          <p:cNvPr id="10" name="OMG · UML 2.5.1">
            <a:extLst xmlns:a="http://schemas.openxmlformats.org/drawingml/2006/main">
              <a:ext uri="{FF2B5EF4-FFF2-40B4-BE49-F238E27FC236}">
                <a16:creationId xmlns:a16="http://schemas.microsoft.com/office/drawing/2014/main" id="{D3066AD3-40A7-450F-A32F-59D243D0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OMG · UML 2.5.1</a:t>
            </a:r>
          </a:p>
        </p:txBody>
      </p:sp>
      <p:sp>
        <p:nvSpPr>
          <p:cNvPr id="11" name="https://www.omg.org/spec/UML/2.5.1">
            <a:extLst xmlns:a="http://schemas.openxmlformats.org/drawingml/2006/main">
              <a:ext uri="{FF2B5EF4-FFF2-40B4-BE49-F238E27FC236}">
                <a16:creationId xmlns:a16="http://schemas.microsoft.com/office/drawing/2014/main" id="{821E9233-4112-4C5B-B14E-C25D9E2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48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  <a:hlinkClick xmlns:r="http://schemas.openxmlformats.org/officeDocument/2006/relationships" r:id="R08fc73dc1e7b4a7f"/>
              </a:rPr>
              <a:t>https://www.omg.org/spec/UML/2.5.1</a:t>
            </a:r>
          </a:p>
        </p:txBody>
      </p:sp>
      <p:sp>
        <p:nvSpPr>
          <p:cNvPr id="12" name="Course · Pygame">
            <a:extLst xmlns:a="http://schemas.openxmlformats.org/drawingml/2006/main">
              <a:ext uri="{FF2B5EF4-FFF2-40B4-BE49-F238E27FC236}">
                <a16:creationId xmlns:a16="http://schemas.microsoft.com/office/drawing/2014/main" id="{85571CFA-C847-4670-9DCF-A829FD10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C6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C62"/>
                </a:solidFill>
                <a:latin typeface="Aptos"/>
                <a:ea typeface="Aptos"/>
                <a:cs typeface="Aptos"/>
              </a:rPr>
              <a:t>Course · Pygame</a:t>
            </a:r>
          </a:p>
        </p:txBody>
      </p:sp>
      <p:sp>
        <p:nvSpPr>
          <p:cNvPr id="13" name="https://minhuangyuntech.github.io/oo2026/en/pygame/">
            <a:extLst xmlns:a="http://schemas.openxmlformats.org/drawingml/2006/main">
              <a:ext uri="{FF2B5EF4-FFF2-40B4-BE49-F238E27FC236}">
                <a16:creationId xmlns:a16="http://schemas.microsoft.com/office/drawing/2014/main" id="{32C89D49-DF53-4BD9-9F56-2781B3FC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721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72C4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C40"/>
                </a:solidFill>
                <a:latin typeface="Aptos"/>
                <a:ea typeface="Aptos"/>
                <a:cs typeface="Aptos"/>
                <a:hlinkClick xmlns:r="http://schemas.openxmlformats.org/officeDocument/2006/relationships" r:id="Rf964aeadf5034ffa"/>
              </a:rPr>
              <a:t>https://minhuangyuntech.github.io/oo2026/en/pygame/</a:t>
            </a:r>
          </a:p>
        </p:txBody>
      </p:sp>
      <p:sp>
        <p:nvSpPr>
          <p:cNvPr id="14" name="30">
            <a:extLst xmlns:a="http://schemas.openxmlformats.org/drawingml/2006/main">
              <a:ext uri="{FF2B5EF4-FFF2-40B4-BE49-F238E27FC236}">
                <a16:creationId xmlns:a16="http://schemas.microsoft.com/office/drawing/2014/main" id="{9D51E94E-D520-41FC-A214-D0E7CB7B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055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2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142936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2026-10-20T09:41:18.1390000Z</dcterms:created>
  <dcterms:modified xsi:type="dcterms:W3CDTF">2026-10-20T09:41:18.1390000Z</dcterms:modified>
</coreProperties>
</file>