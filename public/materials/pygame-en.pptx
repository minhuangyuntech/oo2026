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41831809fc84ac7" /><Relationship Type="http://schemas.openxmlformats.org/officeDocument/2006/relationships/extended-properties" Target="/docProps/app.xml" Id="R12cd0b4d3bbe4c56" /><Relationship Type="http://schemas.openxmlformats.org/officeDocument/2006/relationships/officeDocument" Target="/ppt/presentation.xml" Id="Re896e63f8f01425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8f2a1177c994d1d"/>
  </p:sldMasterIdLst>
  <p:notesMasterIdLst>
    <p:notesMasterId xmlns:r="http://schemas.openxmlformats.org/officeDocument/2006/relationships" r:id="R10ccb0956f6b4cf3"/>
  </p:notesMasterIdLst>
  <p:sldIdLst>
    <p:sldId xmlns:r="http://schemas.openxmlformats.org/officeDocument/2006/relationships" id="256" r:id="R1c1eae5b7e0e4545"/>
    <p:sldId xmlns:r="http://schemas.openxmlformats.org/officeDocument/2006/relationships" id="257" r:id="Rc4b55cd988014b44"/>
    <p:sldId xmlns:r="http://schemas.openxmlformats.org/officeDocument/2006/relationships" id="258" r:id="R64d979d055e840a0"/>
    <p:sldId xmlns:r="http://schemas.openxmlformats.org/officeDocument/2006/relationships" id="259" r:id="R60ff6490a3914d0a"/>
    <p:sldId xmlns:r="http://schemas.openxmlformats.org/officeDocument/2006/relationships" id="260" r:id="R4f926bbb369b4456"/>
    <p:sldId xmlns:r="http://schemas.openxmlformats.org/officeDocument/2006/relationships" id="261" r:id="Rab667673183a48d1"/>
    <p:sldId xmlns:r="http://schemas.openxmlformats.org/officeDocument/2006/relationships" id="262" r:id="R090bb79005284a33"/>
    <p:sldId xmlns:r="http://schemas.openxmlformats.org/officeDocument/2006/relationships" id="263" r:id="Rcdbaa4cda72e4a1b"/>
    <p:sldId xmlns:r="http://schemas.openxmlformats.org/officeDocument/2006/relationships" id="264" r:id="Reffd3b92bcbe4be5"/>
    <p:sldId xmlns:r="http://schemas.openxmlformats.org/officeDocument/2006/relationships" id="265" r:id="Rfc40ea27f3994f1b"/>
    <p:sldId xmlns:r="http://schemas.openxmlformats.org/officeDocument/2006/relationships" id="266" r:id="Rab2d2cdd124a43d9"/>
    <p:sldId xmlns:r="http://schemas.openxmlformats.org/officeDocument/2006/relationships" id="267" r:id="R30ee6a42f27743bd"/>
    <p:sldId xmlns:r="http://schemas.openxmlformats.org/officeDocument/2006/relationships" id="268" r:id="R2c11509595c24ab3"/>
    <p:sldId xmlns:r="http://schemas.openxmlformats.org/officeDocument/2006/relationships" id="269" r:id="R6f833267c89e4de1"/>
    <p:sldId xmlns:r="http://schemas.openxmlformats.org/officeDocument/2006/relationships" id="270" r:id="Rf25f805c48604e17"/>
    <p:sldId xmlns:r="http://schemas.openxmlformats.org/officeDocument/2006/relationships" id="271" r:id="R20f3e65d1ce0434b"/>
    <p:sldId xmlns:r="http://schemas.openxmlformats.org/officeDocument/2006/relationships" id="272" r:id="Rcc81d4967cab4ba4"/>
    <p:sldId xmlns:r="http://schemas.openxmlformats.org/officeDocument/2006/relationships" id="273" r:id="R2168708c75334c11"/>
    <p:sldId xmlns:r="http://schemas.openxmlformats.org/officeDocument/2006/relationships" id="274" r:id="R29114e3697c94c60"/>
    <p:sldId xmlns:r="http://schemas.openxmlformats.org/officeDocument/2006/relationships" id="275" r:id="R625fc28cfacb42db"/>
    <p:sldId xmlns:r="http://schemas.openxmlformats.org/officeDocument/2006/relationships" id="276" r:id="R2ae0d7b3b6954092"/>
    <p:sldId xmlns:r="http://schemas.openxmlformats.org/officeDocument/2006/relationships" id="277" r:id="R9951d879a2164a0b"/>
    <p:sldId xmlns:r="http://schemas.openxmlformats.org/officeDocument/2006/relationships" id="278" r:id="R54bab0cd0c814e5c"/>
    <p:sldId xmlns:r="http://schemas.openxmlformats.org/officeDocument/2006/relationships" id="279" r:id="R8f10319bca944ffa"/>
    <p:sldId xmlns:r="http://schemas.openxmlformats.org/officeDocument/2006/relationships" id="280" r:id="R72eeed75fecb45c9"/>
    <p:sldId xmlns:r="http://schemas.openxmlformats.org/officeDocument/2006/relationships" id="281" r:id="R6b4f30968ece4f75"/>
    <p:sldId xmlns:r="http://schemas.openxmlformats.org/officeDocument/2006/relationships" id="282" r:id="R8efe19e46e8949cc"/>
    <p:sldId xmlns:r="http://schemas.openxmlformats.org/officeDocument/2006/relationships" id="283" r:id="R38d6e71e8e5443c6"/>
    <p:sldId xmlns:r="http://schemas.openxmlformats.org/officeDocument/2006/relationships" id="284" r:id="Rb471123c0d8c46a0"/>
    <p:sldId xmlns:r="http://schemas.openxmlformats.org/officeDocument/2006/relationships" id="285" r:id="Re0c405b51acf4ff8"/>
    <p:sldId xmlns:r="http://schemas.openxmlformats.org/officeDocument/2006/relationships" id="286" r:id="R47f3e3ac2e5e4b0f"/>
    <p:sldId xmlns:r="http://schemas.openxmlformats.org/officeDocument/2006/relationships" id="287" r:id="R2131dd75f7774678"/>
    <p:sldId xmlns:r="http://schemas.openxmlformats.org/officeDocument/2006/relationships" id="288" r:id="R97b8a7a66c7b472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44ee68f70d94106" /><Relationship Type="http://schemas.openxmlformats.org/officeDocument/2006/relationships/slideMaster" Target="/ppt/slideMasters/slideMaster1.xml" Id="R48f2a1177c994d1d" /><Relationship Type="http://schemas.openxmlformats.org/officeDocument/2006/relationships/notesMaster" Target="/ppt/notesMasters/notesMaster1.xml" Id="R10ccb0956f6b4cf3" /><Relationship Type="http://schemas.openxmlformats.org/officeDocument/2006/relationships/presProps" Target="/ppt/presProps.xml" Id="R278b493d6dfc4635" /><Relationship Type="http://schemas.openxmlformats.org/officeDocument/2006/relationships/tableStyles" Target="/ppt/tableStyles.xml" Id="Rc958e2b59a9b4260" /><Relationship Type="http://schemas.openxmlformats.org/officeDocument/2006/relationships/slide" Target="/ppt/slides/slide1.xml" Id="R1c1eae5b7e0e4545" /><Relationship Type="http://schemas.openxmlformats.org/officeDocument/2006/relationships/slide" Target="/ppt/slides/slide2.xml" Id="Rc4b55cd988014b44" /><Relationship Type="http://schemas.openxmlformats.org/officeDocument/2006/relationships/slide" Target="/ppt/slides/slide3.xml" Id="R64d979d055e840a0" /><Relationship Type="http://schemas.openxmlformats.org/officeDocument/2006/relationships/slide" Target="/ppt/slides/slide4.xml" Id="R60ff6490a3914d0a" /><Relationship Type="http://schemas.openxmlformats.org/officeDocument/2006/relationships/slide" Target="/ppt/slides/slide5.xml" Id="R4f926bbb369b4456" /><Relationship Type="http://schemas.openxmlformats.org/officeDocument/2006/relationships/slide" Target="/ppt/slides/slide6.xml" Id="Rab667673183a48d1" /><Relationship Type="http://schemas.openxmlformats.org/officeDocument/2006/relationships/slide" Target="/ppt/slides/slide7.xml" Id="R090bb79005284a33" /><Relationship Type="http://schemas.openxmlformats.org/officeDocument/2006/relationships/slide" Target="/ppt/slides/slide8.xml" Id="Rcdbaa4cda72e4a1b" /><Relationship Type="http://schemas.openxmlformats.org/officeDocument/2006/relationships/slide" Target="/ppt/slides/slide9.xml" Id="Reffd3b92bcbe4be5" /><Relationship Type="http://schemas.openxmlformats.org/officeDocument/2006/relationships/slide" Target="/ppt/slides/slide10.xml" Id="Rfc40ea27f3994f1b" /><Relationship Type="http://schemas.openxmlformats.org/officeDocument/2006/relationships/slide" Target="/ppt/slides/slide11.xml" Id="Rab2d2cdd124a43d9" /><Relationship Type="http://schemas.openxmlformats.org/officeDocument/2006/relationships/slide" Target="/ppt/slides/slide12.xml" Id="R30ee6a42f27743bd" /><Relationship Type="http://schemas.openxmlformats.org/officeDocument/2006/relationships/slide" Target="/ppt/slides/slide13.xml" Id="R2c11509595c24ab3" /><Relationship Type="http://schemas.openxmlformats.org/officeDocument/2006/relationships/slide" Target="/ppt/slides/slide14.xml" Id="R6f833267c89e4de1" /><Relationship Type="http://schemas.openxmlformats.org/officeDocument/2006/relationships/slide" Target="/ppt/slides/slide15.xml" Id="Rf25f805c48604e17" /><Relationship Type="http://schemas.openxmlformats.org/officeDocument/2006/relationships/slide" Target="/ppt/slides/slide16.xml" Id="R20f3e65d1ce0434b" /><Relationship Type="http://schemas.openxmlformats.org/officeDocument/2006/relationships/slide" Target="/ppt/slides/slide17.xml" Id="Rcc81d4967cab4ba4" /><Relationship Type="http://schemas.openxmlformats.org/officeDocument/2006/relationships/slide" Target="/ppt/slides/slide18.xml" Id="R2168708c75334c11" /><Relationship Type="http://schemas.openxmlformats.org/officeDocument/2006/relationships/slide" Target="/ppt/slides/slide19.xml" Id="R29114e3697c94c60" /><Relationship Type="http://schemas.openxmlformats.org/officeDocument/2006/relationships/slide" Target="/ppt/slides/slide20.xml" Id="R625fc28cfacb42db" /><Relationship Type="http://schemas.openxmlformats.org/officeDocument/2006/relationships/slide" Target="/ppt/slides/slide21.xml" Id="R2ae0d7b3b6954092" /><Relationship Type="http://schemas.openxmlformats.org/officeDocument/2006/relationships/slide" Target="/ppt/slides/slide22.xml" Id="R9951d879a2164a0b" /><Relationship Type="http://schemas.openxmlformats.org/officeDocument/2006/relationships/slide" Target="/ppt/slides/slide23.xml" Id="R54bab0cd0c814e5c" /><Relationship Type="http://schemas.openxmlformats.org/officeDocument/2006/relationships/slide" Target="/ppt/slides/slide24.xml" Id="R8f10319bca944ffa" /><Relationship Type="http://schemas.openxmlformats.org/officeDocument/2006/relationships/slide" Target="/ppt/slides/slide25.xml" Id="R72eeed75fecb45c9" /><Relationship Type="http://schemas.openxmlformats.org/officeDocument/2006/relationships/slide" Target="/ppt/slides/slide26.xml" Id="R6b4f30968ece4f75" /><Relationship Type="http://schemas.openxmlformats.org/officeDocument/2006/relationships/slide" Target="/ppt/slides/slide27.xml" Id="R8efe19e46e8949cc" /><Relationship Type="http://schemas.openxmlformats.org/officeDocument/2006/relationships/slide" Target="/ppt/slides/slide28.xml" Id="R38d6e71e8e5443c6" /><Relationship Type="http://schemas.openxmlformats.org/officeDocument/2006/relationships/slide" Target="/ppt/slides/slide29.xml" Id="Rb471123c0d8c46a0" /><Relationship Type="http://schemas.openxmlformats.org/officeDocument/2006/relationships/slide" Target="/ppt/slides/slide30.xml" Id="Re0c405b51acf4ff8" /><Relationship Type="http://schemas.openxmlformats.org/officeDocument/2006/relationships/slide" Target="/ppt/slides/slide31.xml" Id="R47f3e3ac2e5e4b0f" /><Relationship Type="http://schemas.openxmlformats.org/officeDocument/2006/relationships/slide" Target="/ppt/slides/slide32.xml" Id="R2131dd75f7774678" /><Relationship Type="http://schemas.openxmlformats.org/officeDocument/2006/relationships/slide" Target="/ppt/slides/slide33.xml" Id="R97b8a7a66c7b472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c1fa744cce8443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80d30beef4245cc" /><Relationship Type="http://schemas.openxmlformats.org/officeDocument/2006/relationships/notesMaster" Target="/ppt/notesMasters/notesMaster1.xml" Id="R135ade37346442f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ea07a7eadca45fc" /><Relationship Type="http://schemas.openxmlformats.org/officeDocument/2006/relationships/notesMaster" Target="/ppt/notesMasters/notesMaster1.xml" Id="R43bcae010a6e405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8c8df57e7ab4f27" /><Relationship Type="http://schemas.openxmlformats.org/officeDocument/2006/relationships/notesMaster" Target="/ppt/notesMasters/notesMaster1.xml" Id="R162c92413419486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8a09c1302e34c25" /><Relationship Type="http://schemas.openxmlformats.org/officeDocument/2006/relationships/notesMaster" Target="/ppt/notesMasters/notesMaster1.xml" Id="R98a799cf49264c7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4a36aabada74382" /><Relationship Type="http://schemas.openxmlformats.org/officeDocument/2006/relationships/notesMaster" Target="/ppt/notesMasters/notesMaster1.xml" Id="R1e66ad74f3d1498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4f9c310989c41e4" /><Relationship Type="http://schemas.openxmlformats.org/officeDocument/2006/relationships/notesMaster" Target="/ppt/notesMasters/notesMaster1.xml" Id="Rb24cbfea7772435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c843da88d464f6c" /><Relationship Type="http://schemas.openxmlformats.org/officeDocument/2006/relationships/notesMaster" Target="/ppt/notesMasters/notesMaster1.xml" Id="Reaade25e572c4fe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4da523eaded47fc" /><Relationship Type="http://schemas.openxmlformats.org/officeDocument/2006/relationships/notesMaster" Target="/ppt/notesMasters/notesMaster1.xml" Id="R7274fed19040477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e3c57d4ae5044e9" /><Relationship Type="http://schemas.openxmlformats.org/officeDocument/2006/relationships/notesMaster" Target="/ppt/notesMasters/notesMaster1.xml" Id="R6eeb1045fa5b424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914494ed30b43e3" /><Relationship Type="http://schemas.openxmlformats.org/officeDocument/2006/relationships/notesMaster" Target="/ppt/notesMasters/notesMaster1.xml" Id="R8c3a3f60cdaf432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47e7eae59a5476a" /><Relationship Type="http://schemas.openxmlformats.org/officeDocument/2006/relationships/notesMaster" Target="/ppt/notesMasters/notesMaster1.xml" Id="R733d295eec014cf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db453a974804c61" /><Relationship Type="http://schemas.openxmlformats.org/officeDocument/2006/relationships/notesMaster" Target="/ppt/notesMasters/notesMaster1.xml" Id="R88c7aeed9cc34451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e100a380c9b2405f" /><Relationship Type="http://schemas.openxmlformats.org/officeDocument/2006/relationships/notesMaster" Target="/ppt/notesMasters/notesMaster1.xml" Id="R068de6567b3a4237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92e03cc6e1254a42" /><Relationship Type="http://schemas.openxmlformats.org/officeDocument/2006/relationships/notesMaster" Target="/ppt/notesMasters/notesMaster1.xml" Id="R0406b9a7a5ce4363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0309810eb20440f4" /><Relationship Type="http://schemas.openxmlformats.org/officeDocument/2006/relationships/notesMaster" Target="/ppt/notesMasters/notesMaster1.xml" Id="Rf16a1c5a4f5a4756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fce62f5b664c4560" /><Relationship Type="http://schemas.openxmlformats.org/officeDocument/2006/relationships/notesMaster" Target="/ppt/notesMasters/notesMaster1.xml" Id="Rb8c632bed8ad4688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37bfd0757a504536" /><Relationship Type="http://schemas.openxmlformats.org/officeDocument/2006/relationships/notesMaster" Target="/ppt/notesMasters/notesMaster1.xml" Id="R8820f8abc6124ac7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d2f73947a8204c85" /><Relationship Type="http://schemas.openxmlformats.org/officeDocument/2006/relationships/notesMaster" Target="/ppt/notesMasters/notesMaster1.xml" Id="Rb504b45c9aff4f6b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1c22470b0e2a4f10" /><Relationship Type="http://schemas.openxmlformats.org/officeDocument/2006/relationships/notesMaster" Target="/ppt/notesMasters/notesMaster1.xml" Id="Rb087b94f524d405d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38dccfe7e198428e" /><Relationship Type="http://schemas.openxmlformats.org/officeDocument/2006/relationships/notesMaster" Target="/ppt/notesMasters/notesMaster1.xml" Id="Rb7eeec81657b495e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e32d6925c71e48a9" /><Relationship Type="http://schemas.openxmlformats.org/officeDocument/2006/relationships/notesMaster" Target="/ppt/notesMasters/notesMaster1.xml" Id="R55867714fc914340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176eca8ec40e4c16" /><Relationship Type="http://schemas.openxmlformats.org/officeDocument/2006/relationships/notesMaster" Target="/ppt/notesMasters/notesMaster1.xml" Id="R1eb0e959d2554d9c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efc94e7996d7478b" /><Relationship Type="http://schemas.openxmlformats.org/officeDocument/2006/relationships/notesMaster" Target="/ppt/notesMasters/notesMaster1.xml" Id="R5b9c334c8f914b0f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143c76f7a26d47ad" /><Relationship Type="http://schemas.openxmlformats.org/officeDocument/2006/relationships/notesMaster" Target="/ppt/notesMasters/notesMaster1.xml" Id="R52901fe95590411b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f805ed21a6d74dad" /><Relationship Type="http://schemas.openxmlformats.org/officeDocument/2006/relationships/notesMaster" Target="/ppt/notesMasters/notesMaster1.xml" Id="R90fc75cc1fbd40ac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952326c6b95a40e8" /><Relationship Type="http://schemas.openxmlformats.org/officeDocument/2006/relationships/notesMaster" Target="/ppt/notesMasters/notesMaster1.xml" Id="R40d69dfdc10c45df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ddea596e0ae7406f" /><Relationship Type="http://schemas.openxmlformats.org/officeDocument/2006/relationships/notesMaster" Target="/ppt/notesMasters/notesMaster1.xml" Id="Re370a1cee5df48d9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0d38219edd0644b6" /><Relationship Type="http://schemas.openxmlformats.org/officeDocument/2006/relationships/notesMaster" Target="/ppt/notesMasters/notesMaster1.xml" Id="Rb3e9e521020d4cce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26b74ebbcd0641b6" /><Relationship Type="http://schemas.openxmlformats.org/officeDocument/2006/relationships/notesMaster" Target="/ppt/notesMasters/notesMaster1.xml" Id="Ra381ac02341c4ee7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6d417a10c6274525" /><Relationship Type="http://schemas.openxmlformats.org/officeDocument/2006/relationships/notesMaster" Target="/ppt/notesMasters/notesMaster1.xml" Id="R5716fcec93424861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7e8b4f9b157943a9" /><Relationship Type="http://schemas.openxmlformats.org/officeDocument/2006/relationships/notesMaster" Target="/ppt/notesMasters/notesMaster1.xml" Id="Rbd5611f526004b03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f2b8f4cefab94aa5" /><Relationship Type="http://schemas.openxmlformats.org/officeDocument/2006/relationships/notesMaster" Target="/ppt/notesMasters/notesMaster1.xml" Id="Rcc7d9f52f27942d8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67db1a670b784b19" /><Relationship Type="http://schemas.openxmlformats.org/officeDocument/2006/relationships/notesMaster" Target="/ppt/notesMasters/notesMaster1.xml" Id="R4a9d6030ddd349e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>https://www.pygame.org/docs/ref/sprite.html</a:t>
            </a:r>
          </a:p>
          <a:p xmlns:a="http://schemas.openxmlformats.org/drawingml/2006/main">
            <a:r>
              <a:t>https://www.pygame.org/docs/ref/time.html</a:t>
            </a:r>
          </a:p>
          <a:p xmlns:a="http://schemas.openxmlformats.org/drawingml/2006/main">
            <a:r>
              <a:t>https://docs.python.org/3.12/reference/datamodel.html</a:t>
            </a:r>
          </a:p>
          <a:p xmlns:a="http://schemas.openxmlformats.org/drawingml/2006/main">
            <a:r>
              <a:t>https://www.omg.org/spec/UML/2.5.1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>https://www.pygame.org/docs/ref/sprite.html</a:t>
            </a:r>
          </a:p>
          <a:p xmlns:a="http://schemas.openxmlformats.org/drawingml/2006/main">
            <a:r>
              <a:t>https://www.pygame.org/docs/ref/time.html</a:t>
            </a:r>
          </a:p>
          <a:p xmlns:a="http://schemas.openxmlformats.org/drawingml/2006/main">
            <a:r>
              <a:t>https://docs.python.org/3.12/reference/datamodel.html</a:t>
            </a:r>
          </a:p>
          <a:p xmlns:a="http://schemas.openxmlformats.org/drawingml/2006/main">
            <a:r>
              <a:t>https://www.omg.org/spec/UML/2.5.1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>https://www.pygame.org/docs/ref/sprite.html</a:t>
            </a:r>
          </a:p>
          <a:p xmlns:a="http://schemas.openxmlformats.org/drawingml/2006/main">
            <a:r>
              <a:t>https://www.pygame.org/docs/ref/time.html</a:t>
            </a:r>
          </a:p>
          <a:p xmlns:a="http://schemas.openxmlformats.org/drawingml/2006/main">
            <a:r>
              <a:t>https://docs.python.org/3.12/reference/datamodel.html</a:t>
            </a:r>
          </a:p>
          <a:p xmlns:a="http://schemas.openxmlformats.org/drawingml/2006/main">
            <a:r>
              <a:t>https://www.omg.org/spec/UML/2.5.1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>https://www.pygame.org/docs/ref/sprite.html</a:t>
            </a:r>
          </a:p>
          <a:p xmlns:a="http://schemas.openxmlformats.org/drawingml/2006/main">
            <a:r>
              <a:t>https://www.pygame.org/docs/ref/time.html</a:t>
            </a:r>
          </a:p>
          <a:p xmlns:a="http://schemas.openxmlformats.org/drawingml/2006/main">
            <a:r>
              <a:t>https://docs.python.org/3.12/reference/datamodel.html</a:t>
            </a:r>
          </a:p>
          <a:p xmlns:a="http://schemas.openxmlformats.org/drawingml/2006/main">
            <a:r>
              <a:t>https://www.omg.org/spec/UML/2.5.1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>https://www.pygame.org/docs/ref/sprite.html</a:t>
            </a:r>
          </a:p>
          <a:p xmlns:a="http://schemas.openxmlformats.org/drawingml/2006/main">
            <a:r>
              <a:t>https://www.pygame.org/docs/ref/time.html</a:t>
            </a:r>
          </a:p>
          <a:p xmlns:a="http://schemas.openxmlformats.org/drawingml/2006/main">
            <a:r>
              <a:t>https://docs.python.org/3.12/reference/datamodel.html</a:t>
            </a:r>
          </a:p>
          <a:p xmlns:a="http://schemas.openxmlformats.org/drawingml/2006/main">
            <a:r>
              <a:t>https://www.omg.org/spec/UML/2.5.1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>https://www.pygame.org/docs/ref/sprite.html</a:t>
            </a:r>
          </a:p>
          <a:p xmlns:a="http://schemas.openxmlformats.org/drawingml/2006/main">
            <a:r>
              <a:t>https://www.pygame.org/docs/ref/time.html</a:t>
            </a:r>
          </a:p>
          <a:p xmlns:a="http://schemas.openxmlformats.org/drawingml/2006/main">
            <a:r>
              <a:t>https://docs.python.org/3.12/reference/datamodel.html</a:t>
            </a:r>
          </a:p>
          <a:p xmlns:a="http://schemas.openxmlformats.org/drawingml/2006/main">
            <a:r>
              <a:t>https://www.omg.org/spec/UML/2.5.1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>https://www.pygame.org/docs/ref/sprite.html</a:t>
            </a:r>
          </a:p>
          <a:p xmlns:a="http://schemas.openxmlformats.org/drawingml/2006/main">
            <a:r>
              <a:t>https://www.pygame.org/docs/ref/time.html</a:t>
            </a:r>
          </a:p>
          <a:p xmlns:a="http://schemas.openxmlformats.org/drawingml/2006/main">
            <a:r>
              <a:t>https://docs.python.org/3.12/reference/datamodel.html</a:t>
            </a:r>
          </a:p>
          <a:p xmlns:a="http://schemas.openxmlformats.org/drawingml/2006/main">
            <a:r>
              <a:t>https://www.omg.org/spec/UML/2.5.1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>https://www.pygame.org/docs/ref/sprite.html</a:t>
            </a:r>
          </a:p>
          <a:p xmlns:a="http://schemas.openxmlformats.org/drawingml/2006/main">
            <a:r>
              <a:t>https://www.pygame.org/docs/ref/time.html</a:t>
            </a:r>
          </a:p>
          <a:p xmlns:a="http://schemas.openxmlformats.org/drawingml/2006/main">
            <a:r>
              <a:t>https://docs.python.org/3.12/reference/datamodel.html</a:t>
            </a:r>
          </a:p>
          <a:p xmlns:a="http://schemas.openxmlformats.org/drawingml/2006/main">
            <a:r>
              <a:t>https://www.omg.org/spec/UML/2.5.1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>https://www.pygame.org/docs/ref/sprite.html</a:t>
            </a:r>
          </a:p>
          <a:p xmlns:a="http://schemas.openxmlformats.org/drawingml/2006/main">
            <a:r>
              <a:t>https://www.pygame.org/docs/ref/time.html</a:t>
            </a:r>
          </a:p>
          <a:p xmlns:a="http://schemas.openxmlformats.org/drawingml/2006/main">
            <a:r>
              <a:t>https://docs.python.org/3.12/reference/datamodel.html</a:t>
            </a:r>
          </a:p>
          <a:p xmlns:a="http://schemas.openxmlformats.org/drawingml/2006/main">
            <a:r>
              <a:t>https://www.omg.org/spec/UML/2.5.1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>https://minhuangyuntech.github.io/oo2026/en/pygame/play/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>https://minhuangyuntech.github.io/oo2026/en/pygame/play/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>https://minhuangyuntech.github.io/oo2026/en/pygame/play/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4dcc51883ee4fa8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8c97d7b92d840d8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71e625efca2486b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9927d9714d645e7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6c6cf26e9874c2f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5fce272c00c41f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697F933-8F11-4EA2-B66F-59C7F728955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76382047-E689-49D0-BD0C-F604CA4A34C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21180890-6200-43B4-9D8F-19331079C49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76BBCD8-F19F-493C-8F79-43C4D90D0E3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F0221104-5F39-4105-8FA6-B87D1A4B6EE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6A602603-AC9D-445A-BB92-AD2F73BDD06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6252D105-CBB8-48DC-9EA7-EC461D2B144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690409DC-258D-4348-B975-2AC5B0DD4E2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FBFD56A-D96D-49AC-B078-B215284DD5B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C94CF7EB-9ACC-401D-B1E3-9BCB9EFA9DD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808d3b411824411" /><Relationship Type="http://schemas.openxmlformats.org/officeDocument/2006/relationships/slideLayout" Target="/ppt/slideLayouts/slideLayout1.xml" Id="R5347156bf5714115" /><Relationship Type="http://schemas.openxmlformats.org/officeDocument/2006/relationships/slideLayout" Target="/ppt/slideLayouts/slideLayout2.xml" Id="R9d61752adeb24c21" /><Relationship Type="http://schemas.openxmlformats.org/officeDocument/2006/relationships/slideLayout" Target="/ppt/slideLayouts/slideLayout3.xml" Id="Rf25d004172944033" /><Relationship Type="http://schemas.openxmlformats.org/officeDocument/2006/relationships/slideLayout" Target="/ppt/slideLayouts/slideLayout4.xml" Id="Ra67258a0054a4f11" /><Relationship Type="http://schemas.openxmlformats.org/officeDocument/2006/relationships/slideLayout" Target="/ppt/slideLayouts/slideLayout5.xml" Id="R6a63eafed6cb4b5b" /><Relationship Type="http://schemas.openxmlformats.org/officeDocument/2006/relationships/slideLayout" Target="/ppt/slideLayouts/slideLayout6.xml" Id="R2203e12128c74ad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347156bf5714115"/>
    <p:sldLayoutId xmlns:r="http://schemas.openxmlformats.org/officeDocument/2006/relationships" id="2147483650" r:id="R9d61752adeb24c21"/>
    <p:sldLayoutId xmlns:r="http://schemas.openxmlformats.org/officeDocument/2006/relationships" id="2147483651" r:id="Rf25d004172944033"/>
    <p:sldLayoutId xmlns:r="http://schemas.openxmlformats.org/officeDocument/2006/relationships" id="2147483652" r:id="Ra67258a0054a4f11"/>
    <p:sldLayoutId xmlns:r="http://schemas.openxmlformats.org/officeDocument/2006/relationships" id="2147483653" r:id="R6a63eafed6cb4b5b"/>
    <p:sldLayoutId xmlns:r="http://schemas.openxmlformats.org/officeDocument/2006/relationships" id="2147483654" r:id="R2203e12128c74ad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e321f2ec8b1498c" /><Relationship Type="http://schemas.openxmlformats.org/officeDocument/2006/relationships/notesSlide" Target="/ppt/notesSlides/notesSlide1.xml" Id="R88dce4d2f0a64e4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06c22a23f1e4abc" /><Relationship Type="http://schemas.openxmlformats.org/officeDocument/2006/relationships/image" Target="/ppt/media/image.png" Id="Ra377aff2fbb242e5" /><Relationship Type="http://schemas.openxmlformats.org/officeDocument/2006/relationships/notesSlide" Target="/ppt/notesSlides/notesSlide2.xml" Id="Rea190106bd9c428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ec7cb51d46e4aaf" /><Relationship Type="http://schemas.openxmlformats.org/officeDocument/2006/relationships/notesSlide" Target="/ppt/notesSlides/notesSlide3.xml" Id="R98324c8b535145e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edb25b4b5414a07" /><Relationship Type="http://schemas.openxmlformats.org/officeDocument/2006/relationships/notesSlide" Target="/ppt/notesSlides/notesSlide4.xml" Id="R0a6b45cc4de44b5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6978acad53642b0" /><Relationship Type="http://schemas.openxmlformats.org/officeDocument/2006/relationships/notesSlide" Target="/ppt/notesSlides/notesSlide5.xml" Id="R09de921f2a1b44a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da6dfdebe874cca" /><Relationship Type="http://schemas.openxmlformats.org/officeDocument/2006/relationships/notesSlide" Target="/ppt/notesSlides/notesSlide6.xml" Id="Re3bac6e6ce1849e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3d6d19cf6e6441d" /><Relationship Type="http://schemas.openxmlformats.org/officeDocument/2006/relationships/notesSlide" Target="/ppt/notesSlides/notesSlide7.xml" Id="Rf64a22311d36492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0af4b0af18c4d4e" /><Relationship Type="http://schemas.openxmlformats.org/officeDocument/2006/relationships/notesSlide" Target="/ppt/notesSlides/notesSlide8.xml" Id="Rb17a0447ed934db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817c8d7e45840d6" /><Relationship Type="http://schemas.openxmlformats.org/officeDocument/2006/relationships/notesSlide" Target="/ppt/notesSlides/notesSlide9.xml" Id="R05b5fb2a210642e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4811eb564094d14" /><Relationship Type="http://schemas.openxmlformats.org/officeDocument/2006/relationships/notesSlide" Target="/ppt/notesSlides/notesSlide10.xml" Id="Rcf0caa9aac034bd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f54deaebf4544a7" /><Relationship Type="http://schemas.openxmlformats.org/officeDocument/2006/relationships/notesSlide" Target="/ppt/notesSlides/notesSlide11.xml" Id="Ra6f02927a2104e5e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8aaf8703ea94a0e" /><Relationship Type="http://schemas.openxmlformats.org/officeDocument/2006/relationships/notesSlide" Target="/ppt/notesSlides/notesSlide12.xml" Id="R56e54175ff6548e4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0f104d0ffb74c45" /><Relationship Type="http://schemas.openxmlformats.org/officeDocument/2006/relationships/notesSlide" Target="/ppt/notesSlides/notesSlide13.xml" Id="R8788d57e038d4e16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9d2057d9a3f4711" /><Relationship Type="http://schemas.openxmlformats.org/officeDocument/2006/relationships/notesSlide" Target="/ppt/notesSlides/notesSlide14.xml" Id="R241ea40f03e04d2c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a0efc4319d64f8a" /><Relationship Type="http://schemas.openxmlformats.org/officeDocument/2006/relationships/notesSlide" Target="/ppt/notesSlides/notesSlide15.xml" Id="R78cd2626a0bc4ceb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d27ce9e40ea44cb" /><Relationship Type="http://schemas.openxmlformats.org/officeDocument/2006/relationships/notesSlide" Target="/ppt/notesSlides/notesSlide16.xml" Id="Rff99fdda270e4258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8583bc4c89342b2" /><Relationship Type="http://schemas.openxmlformats.org/officeDocument/2006/relationships/notesSlide" Target="/ppt/notesSlides/notesSlide17.xml" Id="R8611d0b004334189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0ace2a322c1403c" /><Relationship Type="http://schemas.openxmlformats.org/officeDocument/2006/relationships/notesSlide" Target="/ppt/notesSlides/notesSlide18.xml" Id="R4e7495d082fa43cf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d7d5dc6c6dd4103" /><Relationship Type="http://schemas.openxmlformats.org/officeDocument/2006/relationships/notesSlide" Target="/ppt/notesSlides/notesSlide19.xml" Id="Rd9cd935869ea4df1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da6472e0dac4e6d" /><Relationship Type="http://schemas.openxmlformats.org/officeDocument/2006/relationships/notesSlide" Target="/ppt/notesSlides/notesSlide20.xml" Id="R518414c7000b4c69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9c251a2449c4fd9" /><Relationship Type="http://schemas.openxmlformats.org/officeDocument/2006/relationships/notesSlide" Target="/ppt/notesSlides/notesSlide21.xml" Id="Rfed32180a24f48cd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0ee213fd6e842e0" /><Relationship Type="http://schemas.openxmlformats.org/officeDocument/2006/relationships/notesSlide" Target="/ppt/notesSlides/notesSlide22.xml" Id="R7d192a4b72924ddc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b58d2cc65484021" /><Relationship Type="http://schemas.openxmlformats.org/officeDocument/2006/relationships/notesSlide" Target="/ppt/notesSlides/notesSlide23.xml" Id="Rf73e9e8aff804894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a39f8e238794198" /><Relationship Type="http://schemas.openxmlformats.org/officeDocument/2006/relationships/notesSlide" Target="/ppt/notesSlides/notesSlide24.xml" Id="Racb2a07c881846ae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86600ef7ac94718" /><Relationship Type="http://schemas.openxmlformats.org/officeDocument/2006/relationships/notesSlide" Target="/ppt/notesSlides/notesSlide25.xml" Id="R8d204d66d62d48c1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65b8c606bcd4592" /><Relationship Type="http://schemas.openxmlformats.org/officeDocument/2006/relationships/notesSlide" Target="/ppt/notesSlides/notesSlide26.xml" Id="R922677331da34b9d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5b1be56b92e43d1" /><Relationship Type="http://schemas.openxmlformats.org/officeDocument/2006/relationships/notesSlide" Target="/ppt/notesSlides/notesSlide27.xml" Id="R5bc8a41e391e4ce1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db4afb0fc7d41d3" /><Relationship Type="http://schemas.openxmlformats.org/officeDocument/2006/relationships/notesSlide" Target="/ppt/notesSlides/notesSlide28.xml" Id="R4dd17326be664941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3d5929b6ed74500" /><Relationship Type="http://schemas.openxmlformats.org/officeDocument/2006/relationships/notesSlide" Target="/ppt/notesSlides/notesSlide29.xml" Id="R2dee2e482c824292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09f948cd4334042" /><Relationship Type="http://schemas.openxmlformats.org/officeDocument/2006/relationships/hyperlink" Target="https://www.pygame.org/docs/ref/sprite.html" TargetMode="External" Id="R57e7aa6a30bc4c78" /><Relationship Type="http://schemas.openxmlformats.org/officeDocument/2006/relationships/hyperlink" Target="https://www.pygame.org/docs/ref/time.html" TargetMode="External" Id="R10f5de044c9d43db" /><Relationship Type="http://schemas.openxmlformats.org/officeDocument/2006/relationships/hyperlink" Target="https://docs.python.org/3.12/reference/datamodel.html" TargetMode="External" Id="R5d7db861c6874a5e" /><Relationship Type="http://schemas.openxmlformats.org/officeDocument/2006/relationships/hyperlink" Target="https://www.omg.org/spec/UML/2.5.1" TargetMode="External" Id="R12d9453d1a784c4f" /><Relationship Type="http://schemas.openxmlformats.org/officeDocument/2006/relationships/hyperlink" Target="https://minhuangyuntech.github.io/oo2026/en/pygame/" TargetMode="External" Id="R1083ce9b1e4b4331" /><Relationship Type="http://schemas.openxmlformats.org/officeDocument/2006/relationships/notesSlide" Target="/ppt/notesSlides/notesSlide30.xml" Id="Rb54495eaed4049d1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2d136595f2c4383" /><Relationship Type="http://schemas.openxmlformats.org/officeDocument/2006/relationships/hyperlink" Target="https://minhuangyuntech.github.io/oo2026/en/pygame/play/" TargetMode="External" Id="R8b9dc4e3beba48ad" /><Relationship Type="http://schemas.openxmlformats.org/officeDocument/2006/relationships/hyperlink" Target="https://minhuangyuntech.github.io/oo2026/en/pygame/play/" TargetMode="External" Id="Ra8bcb1fdfaf34f86" /><Relationship Type="http://schemas.openxmlformats.org/officeDocument/2006/relationships/notesSlide" Target="/ppt/notesSlides/notesSlide31.xml" Id="R87ae99c51cde4461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f192acf64c2466b" /><Relationship Type="http://schemas.openxmlformats.org/officeDocument/2006/relationships/notesSlide" Target="/ppt/notesSlides/notesSlide32.xml" Id="Ra118b2af70334dd1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c423f22ae0a40f2" /><Relationship Type="http://schemas.openxmlformats.org/officeDocument/2006/relationships/image" Target="/ppt/media/image.jpeg" Id="Rbaeadc209a3c436c" /><Relationship Type="http://schemas.openxmlformats.org/officeDocument/2006/relationships/notesSlide" Target="/ppt/notesSlides/notesSlide33.xml" Id="Rb5abfcd2a6b643c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4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PYTHON OOP  /  PYGAME">
            <a:extLst xmlns:a="http://schemas.openxmlformats.org/drawingml/2006/main">
              <a:ext uri="{FF2B5EF4-FFF2-40B4-BE49-F238E27FC236}">
                <a16:creationId xmlns:a16="http://schemas.microsoft.com/office/drawing/2014/main" id="{E98EA886-C7A7-4CCC-9F36-3C11B8EF2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90550"/>
            <a:ext cx="1047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68EDBE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75" b="1">
                <a:solidFill>
                  <a:srgbClr val="68EDBE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75" b="1">
                <a:solidFill>
                  <a:srgbClr val="68EDBE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75" b="1">
                <a:solidFill>
                  <a:srgbClr val="68EDBE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75" b="1">
                <a:solidFill>
                  <a:srgbClr val="68EDBE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75" b="1">
                <a:solidFill>
                  <a:srgbClr val="68EDBE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75" b="1">
                <a:solidFill>
                  <a:srgbClr val="68EDBE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75" b="1">
                <a:solidFill>
                  <a:srgbClr val="68EDBE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75" b="1">
                <a:solidFill>
                  <a:srgbClr val="68EDBE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75" b="1">
                <a:solidFill>
                  <a:srgbClr val="68EDBE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875" b="1">
                <a:solidFill>
                  <a:srgbClr val="68EDBE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68EDBE"/>
                </a:solidFill>
                <a:latin typeface="Aptos"/>
                <a:ea typeface="Aptos"/>
                <a:cs typeface="Aptos"/>
              </a:rPr>
              <a:t>PYTHON OOP  /  PYGAME</a:t>
            </a:r>
          </a:p>
        </p:txBody>
      </p:sp>
      <p:sp>
        <p:nvSpPr>
          <p:cNvPr id="2" name="Objects in a shooting game">
            <a:extLst xmlns:a="http://schemas.openxmlformats.org/drawingml/2006/main">
              <a:ext uri="{FF2B5EF4-FFF2-40B4-BE49-F238E27FC236}">
                <a16:creationId xmlns:a16="http://schemas.microsoft.com/office/drawing/2014/main" id="{25719F81-C1E5-4B6B-9D34-C108CC246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1809750"/>
            <a:ext cx="11001375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57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57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57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57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57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57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57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57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57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57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57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pPr>
            <a:r>
              <a:rPr sz="5700" b="1">
                <a:solidFill>
                  <a:srgbClr val="EDF4FB"/>
                </a:solidFill>
                <a:latin typeface="Aptos"/>
                <a:ea typeface="Aptos"/>
                <a:cs typeface="Aptos"/>
              </a:rPr>
              <a:t>Objects in a shooting game</a:t>
            </a:r>
          </a:p>
        </p:txBody>
      </p:sp>
      <p:sp>
        <p:nvSpPr>
          <p:cNvPr id="3" name="Pygame · Classes, references &amp; interactions">
            <a:extLst xmlns:a="http://schemas.openxmlformats.org/drawingml/2006/main">
              <a:ext uri="{FF2B5EF4-FFF2-40B4-BE49-F238E27FC236}">
                <a16:creationId xmlns:a16="http://schemas.microsoft.com/office/drawing/2014/main" id="{216D9899-E9CB-4900-88A7-DB3CA6417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858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55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55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55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55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55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55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55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55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55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255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pPr>
            <a:r>
              <a:rPr sz="2550" b="0">
                <a:solidFill>
                  <a:srgbClr val="68EDBE"/>
                </a:solidFill>
                <a:latin typeface="Aptos"/>
                <a:ea typeface="Aptos"/>
                <a:cs typeface="Aptos"/>
              </a:rPr>
              <a:t>Pygame · Classes, references &amp; interactions</a:t>
            </a:r>
          </a:p>
        </p:txBody>
      </p:sp>
      <p:sp>
        <p:nvSpPr>
          <p:cNvPr id="4" name="One game. Three languages. Five core classes. Start with the screen; see how obj">
            <a:extLst xmlns:a="http://schemas.openxmlformats.org/drawingml/2006/main">
              <a:ext uri="{FF2B5EF4-FFF2-40B4-BE49-F238E27FC236}">
                <a16:creationId xmlns:a16="http://schemas.microsoft.com/office/drawing/2014/main" id="{5C7177F3-6A98-451E-9A3A-C1B941ECE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572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pPr>
            <a:r>
              <a:rPr sz="2025" b="0">
                <a:solidFill>
                  <a:srgbClr val="EDF4FB"/>
                </a:solidFill>
                <a:latin typeface="Aptos"/>
                <a:ea typeface="Aptos"/>
                <a:cs typeface="Aptos"/>
              </a:rPr>
              <a:t>One game. Three languages. Five core classes.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pPr>
            <a:r>
              <a:rPr sz="2025" b="0">
                <a:solidFill>
                  <a:srgbClr val="EDF4FB"/>
                </a:solidFill>
                <a:latin typeface="Aptos"/>
                <a:ea typeface="Aptos"/>
                <a:cs typeface="Aptos"/>
              </a:rPr>
              <a:t>Start with the screen; see how objects cooperate.</a:t>
            </a:r>
          </a:p>
        </p:txBody>
      </p:sp>
      <p:sp>
        <p:nvSpPr>
          <p:cNvPr id="5" name="01">
            <a:extLst xmlns:a="http://schemas.openxmlformats.org/drawingml/2006/main">
              <a:ext uri="{FF2B5EF4-FFF2-40B4-BE49-F238E27FC236}">
                <a16:creationId xmlns:a16="http://schemas.microsoft.com/office/drawing/2014/main" id="{EE883FAB-BFB2-4D0C-A5FB-FF0AEE61A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05575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DF4FB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210228401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Every on-screen actor is an object">
            <a:extLst xmlns:a="http://schemas.openxmlformats.org/drawingml/2006/main">
              <a:ext uri="{FF2B5EF4-FFF2-40B4-BE49-F238E27FC236}">
                <a16:creationId xmlns:a16="http://schemas.microsoft.com/office/drawing/2014/main" id="{487FEA6E-4D8E-4B98-95A0-85FF89CB4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2862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pPr>
            <a:r>
              <a:rPr sz="3300" b="1">
                <a:solidFill>
                  <a:srgbClr val="172C40"/>
                </a:solidFill>
                <a:latin typeface="Aptos"/>
                <a:ea typeface="Aptos"/>
                <a:cs typeface="Aptos"/>
              </a:rPr>
              <a:t>Every on-screen actor is an object</a:t>
            </a:r>
          </a:p>
        </p:txBody>
      </p:sp>
      <p:sp>
        <p:nvSpPr>
          <p:cNvPr id="2" name="Observe labels, state, and references in the inspector">
            <a:extLst xmlns:a="http://schemas.openxmlformats.org/drawingml/2006/main">
              <a:ext uri="{FF2B5EF4-FFF2-40B4-BE49-F238E27FC236}">
                <a16:creationId xmlns:a16="http://schemas.microsoft.com/office/drawing/2014/main" id="{328DBD42-AB7E-43F0-8B99-FB6B50845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181100"/>
            <a:ext cx="11001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5B7082"/>
                </a:solidFill>
                <a:latin typeface="Aptos"/>
                <a:ea typeface="Aptos"/>
                <a:cs typeface="Aptos"/>
              </a:rPr>
              <a:t>Observe labels, state, and references in the inspector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70C463-69BC-4C27-A233-0C801FA6B80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77aff2fbb242e5"/>
          <a:stretch xmlns:a="http://schemas.openxmlformats.org/drawingml/2006/main"/>
        </p:blipFill>
        <p:spPr>
          <a:xfrm xmlns:a="http://schemas.openxmlformats.org/drawingml/2006/main">
            <a:off x="571500" y="1743075"/>
            <a:ext cx="6858000" cy="4572000"/>
          </a:xfrm>
          <a:prstGeom xmlns:a="http://schemas.openxmlformats.org/drawingml/2006/main" prst="rect">
            <a:avLst/>
          </a:prstGeom>
        </p:spPr>
      </p:pic>
      <p:sp>
        <p:nvSpPr>
          <p:cNvPr id="4" name="The green Player is you; red and purple Enemies are separate instances.">
            <a:extLst xmlns:a="http://schemas.openxmlformats.org/drawingml/2006/main">
              <a:ext uri="{FF2B5EF4-FFF2-40B4-BE49-F238E27FC236}">
                <a16:creationId xmlns:a16="http://schemas.microsoft.com/office/drawing/2014/main" id="{30E3CF95-9A06-4FE9-B5E7-9DE54C4C5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200275"/>
            <a:ext cx="3667125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0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0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0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0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0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0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0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0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0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pPr>
            <a:r>
              <a:rPr sz="2025" b="0">
                <a:solidFill>
                  <a:srgbClr val="172C40"/>
                </a:solidFill>
                <a:latin typeface="Aptos"/>
                <a:ea typeface="Aptos"/>
                <a:cs typeface="Aptos"/>
              </a:rPr>
              <a:t>The green Player is you; red and purple Enemies are separate instances.</a:t>
            </a:r>
          </a:p>
        </p:txBody>
      </p:sp>
      <p:sp>
        <p:nvSpPr>
          <p:cNvPr id="5" name="Each yellow Bullet holds an owner reference; the panel counts live objects.">
            <a:extLst xmlns:a="http://schemas.openxmlformats.org/drawingml/2006/main">
              <a:ext uri="{FF2B5EF4-FFF2-40B4-BE49-F238E27FC236}">
                <a16:creationId xmlns:a16="http://schemas.microsoft.com/office/drawing/2014/main" id="{7598F954-FF58-42B9-92C8-82F895765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143375"/>
            <a:ext cx="3667125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0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0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0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0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0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0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0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0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0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pPr>
            <a:r>
              <a:rPr sz="2025" b="0">
                <a:solidFill>
                  <a:srgbClr val="172C40"/>
                </a:solidFill>
                <a:latin typeface="Aptos"/>
                <a:ea typeface="Aptos"/>
                <a:cs typeface="Aptos"/>
              </a:rPr>
              <a:t>Each yellow Bullet holds an owner reference; the panel counts live objects.</a:t>
            </a:r>
          </a:p>
        </p:txBody>
      </p:sp>
      <p:sp>
        <p:nvSpPr>
          <p:cNvPr id="6" name="02">
            <a:extLst xmlns:a="http://schemas.openxmlformats.org/drawingml/2006/main">
              <a:ext uri="{FF2B5EF4-FFF2-40B4-BE49-F238E27FC236}">
                <a16:creationId xmlns:a16="http://schemas.microsoft.com/office/drawing/2014/main" id="{A2E9B965-2565-45CC-A8EA-6894D90A1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05575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B7082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08751128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B14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Install and run: Windows">
            <a:extLst xmlns:a="http://schemas.openxmlformats.org/drawingml/2006/main">
              <a:ext uri="{FF2B5EF4-FFF2-40B4-BE49-F238E27FC236}">
                <a16:creationId xmlns:a16="http://schemas.microsoft.com/office/drawing/2014/main" id="{BF9940E6-2DE7-4F4D-AA77-C60F186DA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2862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pPr>
            <a:r>
              <a:rPr sz="3300" b="1">
                <a:solidFill>
                  <a:srgbClr val="EDF4FB"/>
                </a:solidFill>
                <a:latin typeface="Aptos"/>
                <a:ea typeface="Aptos"/>
                <a:cs typeface="Aptos"/>
              </a:rPr>
              <a:t>Install and run: Windows</a:t>
            </a:r>
          </a:p>
        </p:txBody>
      </p:sp>
      <p:sp>
        <p:nvSpPr>
          <p:cNvPr id="2" name="Extract the ZIP; open PowerShell in the project folder">
            <a:extLst xmlns:a="http://schemas.openxmlformats.org/drawingml/2006/main">
              <a:ext uri="{FF2B5EF4-FFF2-40B4-BE49-F238E27FC236}">
                <a16:creationId xmlns:a16="http://schemas.microsoft.com/office/drawing/2014/main" id="{00AA1ABA-5CC2-42D6-95AD-D6B24902F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181100"/>
            <a:ext cx="11001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68EDBE"/>
                </a:solidFill>
                <a:latin typeface="Aptos"/>
                <a:ea typeface="Aptos"/>
                <a:cs typeface="Aptos"/>
              </a:rPr>
              <a:t>Extract the ZIP; open PowerShell in the project folder</a:t>
            </a:r>
          </a:p>
        </p:txBody>
      </p:sp>
      <p:sp>
        <p:nvSpPr>
          <p:cNvPr id="3" name="py -3.12 -m venv .venv">
            <a:extLst xmlns:a="http://schemas.openxmlformats.org/drawingml/2006/main">
              <a:ext uri="{FF2B5EF4-FFF2-40B4-BE49-F238E27FC236}">
                <a16:creationId xmlns:a16="http://schemas.microsoft.com/office/drawing/2014/main" id="{D54A3DC3-01E2-4A28-98E8-1DF92A72D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9145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py -3.12 -m venv .venv</a:t>
            </a:r>
          </a:p>
        </p:txBody>
      </p:sp>
      <p:sp>
        <p:nvSpPr>
          <p:cNvPr id="4" name=".\.venv\Scripts\python.exe -m pip install -r requirements.txt">
            <a:extLst xmlns:a="http://schemas.openxmlformats.org/drawingml/2006/main">
              <a:ext uri="{FF2B5EF4-FFF2-40B4-BE49-F238E27FC236}">
                <a16:creationId xmlns:a16="http://schemas.microsoft.com/office/drawing/2014/main" id="{B8F5DA7C-42C4-4783-9DFD-8C2E5014A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3837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.\.venv\Scripts\python.exe -m pip install -r requirements.txt</a:t>
            </a:r>
          </a:p>
        </p:txBody>
      </p:sp>
      <p:sp>
        <p:nvSpPr>
          <p:cNvPr id="5" name=".\.venv\Scripts\python.exe main.py --lang en">
            <a:extLst xmlns:a="http://schemas.openxmlformats.org/drawingml/2006/main">
              <a:ext uri="{FF2B5EF4-FFF2-40B4-BE49-F238E27FC236}">
                <a16:creationId xmlns:a16="http://schemas.microsoft.com/office/drawing/2014/main" id="{C63D4B7C-A5FE-43F6-BE2C-C39634C93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5622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.\.venv\Scripts\python.exe main.py --lang en</a:t>
            </a:r>
          </a:p>
        </p:txBody>
      </p:sp>
      <p:sp>
        <p:nvSpPr>
          <p:cNvPr id="6" name="Use Python 3.12; requirements.txt pins pygame==2.6.1.">
            <a:extLst xmlns:a="http://schemas.openxmlformats.org/drawingml/2006/main">
              <a:ext uri="{FF2B5EF4-FFF2-40B4-BE49-F238E27FC236}">
                <a16:creationId xmlns:a16="http://schemas.microsoft.com/office/drawing/2014/main" id="{ACE82119-1BFE-40BD-8E54-3ECB66449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67325"/>
            <a:ext cx="5191125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68EDBE"/>
                </a:solidFill>
                <a:latin typeface="Aptos"/>
                <a:ea typeface="Aptos"/>
                <a:cs typeface="Aptos"/>
              </a:rPr>
              <a:t>Use Python 3.12; requirements.txt pins pygame==2.6.1.</a:t>
            </a:r>
          </a:p>
        </p:txBody>
      </p:sp>
      <p:sp>
        <p:nvSpPr>
          <p:cNvPr id="7" name="Call the environment's Python directly; activation is unnecessary.">
            <a:extLst xmlns:a="http://schemas.openxmlformats.org/drawingml/2006/main">
              <a:ext uri="{FF2B5EF4-FFF2-40B4-BE49-F238E27FC236}">
                <a16:creationId xmlns:a16="http://schemas.microsoft.com/office/drawing/2014/main" id="{AD57389C-2CD0-4014-9FC0-CEA04C575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267325"/>
            <a:ext cx="5191125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68EDBE"/>
                </a:solidFill>
                <a:latin typeface="Aptos"/>
                <a:ea typeface="Aptos"/>
                <a:cs typeface="Aptos"/>
              </a:rPr>
              <a:t>Call the environment's Python directly; activation is unnecessary.</a:t>
            </a:r>
          </a:p>
        </p:txBody>
      </p:sp>
      <p:sp>
        <p:nvSpPr>
          <p:cNvPr id="8" name="PowerShell">
            <a:extLst xmlns:a="http://schemas.openxmlformats.org/drawingml/2006/main">
              <a:ext uri="{FF2B5EF4-FFF2-40B4-BE49-F238E27FC236}">
                <a16:creationId xmlns:a16="http://schemas.microsoft.com/office/drawing/2014/main" id="{09E98FA1-D028-440B-8709-E9C42DD45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67475"/>
            <a:ext cx="1047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PowerShell</a:t>
            </a:r>
          </a:p>
        </p:txBody>
      </p:sp>
      <p:sp>
        <p:nvSpPr>
          <p:cNvPr id="9" name="03">
            <a:extLst xmlns:a="http://schemas.openxmlformats.org/drawingml/2006/main">
              <a:ext uri="{FF2B5EF4-FFF2-40B4-BE49-F238E27FC236}">
                <a16:creationId xmlns:a16="http://schemas.microsoft.com/office/drawing/2014/main" id="{D9753148-E8F4-4B89-9935-764C6E352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05575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DF4F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30308783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B14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Install and run: macOS / Linux">
            <a:extLst xmlns:a="http://schemas.openxmlformats.org/drawingml/2006/main">
              <a:ext uri="{FF2B5EF4-FFF2-40B4-BE49-F238E27FC236}">
                <a16:creationId xmlns:a16="http://schemas.microsoft.com/office/drawing/2014/main" id="{BD03D8F6-2ED3-4A02-A1A1-A66E31145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2862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pPr>
            <a:r>
              <a:rPr sz="3300" b="1">
                <a:solidFill>
                  <a:srgbClr val="EDF4FB"/>
                </a:solidFill>
                <a:latin typeface="Aptos"/>
                <a:ea typeface="Aptos"/>
                <a:cs typeface="Aptos"/>
              </a:rPr>
              <a:t>Install and run: macOS / Linux</a:t>
            </a:r>
          </a:p>
        </p:txBody>
      </p:sp>
      <p:sp>
        <p:nvSpPr>
          <p:cNvPr id="2" name="Open a terminal in the project; use a graphical desktop">
            <a:extLst xmlns:a="http://schemas.openxmlformats.org/drawingml/2006/main">
              <a:ext uri="{FF2B5EF4-FFF2-40B4-BE49-F238E27FC236}">
                <a16:creationId xmlns:a16="http://schemas.microsoft.com/office/drawing/2014/main" id="{7002AC82-6630-4411-8335-6E00D658F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181100"/>
            <a:ext cx="11001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68EDBE"/>
                </a:solidFill>
                <a:latin typeface="Aptos"/>
                <a:ea typeface="Aptos"/>
                <a:cs typeface="Aptos"/>
              </a:rPr>
              <a:t>Open a terminal in the project; use a graphical desktop</a:t>
            </a:r>
          </a:p>
        </p:txBody>
      </p:sp>
      <p:sp>
        <p:nvSpPr>
          <p:cNvPr id="3" name="python3 -m venv .venv">
            <a:extLst xmlns:a="http://schemas.openxmlformats.org/drawingml/2006/main">
              <a:ext uri="{FF2B5EF4-FFF2-40B4-BE49-F238E27FC236}">
                <a16:creationId xmlns:a16="http://schemas.microsoft.com/office/drawing/2014/main" id="{50CF1E4A-E152-4EDE-9F1B-EAAE7DF59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9145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python3 -m venv .venv</a:t>
            </a:r>
          </a:p>
        </p:txBody>
      </p:sp>
      <p:sp>
        <p:nvSpPr>
          <p:cNvPr id="4" name=".venv/bin/python -m pip install -r requirements.txt">
            <a:extLst xmlns:a="http://schemas.openxmlformats.org/drawingml/2006/main">
              <a:ext uri="{FF2B5EF4-FFF2-40B4-BE49-F238E27FC236}">
                <a16:creationId xmlns:a16="http://schemas.microsoft.com/office/drawing/2014/main" id="{A9D6C88B-949F-4962-9A86-7522A132D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3837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.venv/bin/python -m pip install -r requirements.txt</a:t>
            </a:r>
          </a:p>
        </p:txBody>
      </p:sp>
      <p:sp>
        <p:nvSpPr>
          <p:cNvPr id="5" name=".venv/bin/python main.py --lang en">
            <a:extLst xmlns:a="http://schemas.openxmlformats.org/drawingml/2006/main">
              <a:ext uri="{FF2B5EF4-FFF2-40B4-BE49-F238E27FC236}">
                <a16:creationId xmlns:a16="http://schemas.microsoft.com/office/drawing/2014/main" id="{CEFB352F-44CD-458D-AC87-C6D77CCE3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5622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.venv/bin/python main.py --lang en</a:t>
            </a:r>
          </a:p>
        </p:txBody>
      </p:sp>
      <p:sp>
        <p:nvSpPr>
          <p:cNvPr id="6" name="--lang accepts zh, en, or ja; game rules stay the same.">
            <a:extLst xmlns:a="http://schemas.openxmlformats.org/drawingml/2006/main">
              <a:ext uri="{FF2B5EF4-FFF2-40B4-BE49-F238E27FC236}">
                <a16:creationId xmlns:a16="http://schemas.microsoft.com/office/drawing/2014/main" id="{1C892F42-05A8-4E5D-A79D-29BDF7CA2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67325"/>
            <a:ext cx="5191125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68EDBE"/>
                </a:solidFill>
                <a:latin typeface="Aptos"/>
                <a:ea typeface="Aptos"/>
                <a:cs typeface="Aptos"/>
              </a:rPr>
              <a:t>--lang accepts zh, en, or ja; game rules stay the same.</a:t>
            </a:r>
          </a:p>
        </p:txBody>
      </p:sp>
      <p:sp>
        <p:nvSpPr>
          <p:cNvPr id="7" name="If CJK text is missing, install a system Noto Sans CJK font.">
            <a:extLst xmlns:a="http://schemas.openxmlformats.org/drawingml/2006/main">
              <a:ext uri="{FF2B5EF4-FFF2-40B4-BE49-F238E27FC236}">
                <a16:creationId xmlns:a16="http://schemas.microsoft.com/office/drawing/2014/main" id="{2E1D6BAE-8894-48F1-B3C5-A76E70F5B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267325"/>
            <a:ext cx="5191125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68EDBE"/>
                </a:solidFill>
                <a:latin typeface="Aptos"/>
                <a:ea typeface="Aptos"/>
                <a:cs typeface="Aptos"/>
              </a:rPr>
              <a:t>If CJK text is missing, install a system Noto Sans CJK font.</a:t>
            </a:r>
          </a:p>
        </p:txBody>
      </p:sp>
      <p:sp>
        <p:nvSpPr>
          <p:cNvPr id="8" name="Terminal">
            <a:extLst xmlns:a="http://schemas.openxmlformats.org/drawingml/2006/main">
              <a:ext uri="{FF2B5EF4-FFF2-40B4-BE49-F238E27FC236}">
                <a16:creationId xmlns:a16="http://schemas.microsoft.com/office/drawing/2014/main" id="{4DE544D9-D1B1-40CD-B853-7708E9F1C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67475"/>
            <a:ext cx="1047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Terminal</a:t>
            </a:r>
          </a:p>
        </p:txBody>
      </p:sp>
      <p:sp>
        <p:nvSpPr>
          <p:cNvPr id="9" name="04">
            <a:extLst xmlns:a="http://schemas.openxmlformats.org/drawingml/2006/main">
              <a:ext uri="{FF2B5EF4-FFF2-40B4-BE49-F238E27FC236}">
                <a16:creationId xmlns:a16="http://schemas.microsoft.com/office/drawing/2014/main" id="{E4E740B3-A804-4D67-9EEA-DB6FBA9DA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05575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DF4F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34275384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Play one round; observe the objects">
            <a:extLst xmlns:a="http://schemas.openxmlformats.org/drawingml/2006/main">
              <a:ext uri="{FF2B5EF4-FFF2-40B4-BE49-F238E27FC236}">
                <a16:creationId xmlns:a16="http://schemas.microsoft.com/office/drawing/2014/main" id="{15E54040-DAF8-46AB-A5D6-1414C8112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2862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pPr>
            <a:r>
              <a:rPr sz="3300" b="1">
                <a:solidFill>
                  <a:srgbClr val="172C40"/>
                </a:solidFill>
                <a:latin typeface="Aptos"/>
                <a:ea typeface="Aptos"/>
                <a:cs typeface="Aptos"/>
              </a:rPr>
              <a:t>Play one round; observe the objects</a:t>
            </a:r>
          </a:p>
        </p:txBody>
      </p:sp>
      <p:sp>
        <p:nvSpPr>
          <p:cNvPr id="2" name="+10 per defeated enemy; win at 200; start with 3 HP">
            <a:extLst xmlns:a="http://schemas.openxmlformats.org/drawingml/2006/main">
              <a:ext uri="{FF2B5EF4-FFF2-40B4-BE49-F238E27FC236}">
                <a16:creationId xmlns:a16="http://schemas.microsoft.com/office/drawing/2014/main" id="{61CE9738-E35E-4BE9-9942-7BF9A0603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181100"/>
            <a:ext cx="11001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5B7082"/>
                </a:solidFill>
                <a:latin typeface="Aptos"/>
                <a:ea typeface="Aptos"/>
                <a:cs typeface="Aptos"/>
              </a:rPr>
              <a:t>+10 per defeated enemy; win at 200; start with 3 HP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3146EF1-3B67-4A96-9E99-9C337CBC31B2}"/>
              </a:ext>
            </a:extLst>
          </p:cNvPr>
          <p:cNvGraphicFramePr/>
          <p:nvPr/>
        </p:nvGraphicFramePr>
        <p:xfrm>
          <a:off xmlns:a="http://schemas.openxmlformats.org/drawingml/2006/main" x="571500" y="1762125"/>
          <a:ext xmlns:a="http://schemas.openxmlformats.org/drawingml/2006/main" cx="11049000" cy="409575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3238500"/>
                <a:gridCol w="7810500"/>
              </a:tblGrid>
              <a:tr h="682625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EDF4FB"/>
                          </a:solidFill>
                          <a:latin typeface="Aptos"/>
                          <a:ea typeface="Aptos"/>
                          <a:cs typeface="Aptos"/>
                        </a:rPr>
                        <a:t>Key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T w="9525">
                      <a:solidFill>
                        <a:srgbClr val="CCD6DF"/>
                      </a:solidFill>
                      <a:prstDash val="solid"/>
                    </a:lnT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172C40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EDF4FB"/>
                          </a:solidFill>
                          <a:latin typeface="Aptos"/>
                          <a:ea typeface="Aptos"/>
                          <a:cs typeface="Aptos"/>
                        </a:rPr>
                        <a:t>Action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T w="9525">
                      <a:solidFill>
                        <a:srgbClr val="CCD6DF"/>
                      </a:solidFill>
                      <a:prstDash val="solid"/>
                    </a:lnT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172C40"/>
                    </a:solidFill>
                  </a:tcPr>
                </a:tc>
              </a:tr>
              <a:tr h="682625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172C40"/>
                          </a:solidFill>
                          <a:latin typeface="Aptos"/>
                          <a:ea typeface="Aptos"/>
                          <a:cs typeface="Aptos"/>
                        </a:rPr>
                        <a:t>Enter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Aptos"/>
                          <a:ea typeface="Aptos"/>
                          <a:cs typeface="Aptos"/>
                        </a:rPr>
                        <a:t>Start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2625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172C40"/>
                          </a:solidFill>
                          <a:latin typeface="Aptos"/>
                          <a:ea typeface="Aptos"/>
                          <a:cs typeface="Aptos"/>
                        </a:rPr>
                        <a:t>Arrows / WASD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Aptos"/>
                          <a:ea typeface="Aptos"/>
                          <a:cs typeface="Aptos"/>
                        </a:rPr>
                        <a:t>Move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5F7FA"/>
                    </a:solidFill>
                  </a:tcPr>
                </a:tc>
              </a:tr>
              <a:tr h="682625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172C40"/>
                          </a:solidFill>
                          <a:latin typeface="Aptos"/>
                          <a:ea typeface="Aptos"/>
                          <a:cs typeface="Aptos"/>
                        </a:rPr>
                        <a:t>Space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Aptos"/>
                          <a:ea typeface="Aptos"/>
                          <a:cs typeface="Aptos"/>
                        </a:rPr>
                        <a:t>Shoot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2625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172C40"/>
                          </a:solidFill>
                          <a:latin typeface="Aptos"/>
                          <a:ea typeface="Aptos"/>
                          <a:cs typeface="Aptos"/>
                        </a:rPr>
                        <a:t>P / N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Aptos"/>
                          <a:ea typeface="Aptos"/>
                          <a:cs typeface="Aptos"/>
                        </a:rPr>
                        <a:t>Pause / advance one paused frame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5F7FA"/>
                    </a:solidFill>
                  </a:tcPr>
                </a:tc>
              </a:tr>
              <a:tr h="682625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172C40"/>
                          </a:solidFill>
                          <a:latin typeface="Aptos"/>
                          <a:ea typeface="Aptos"/>
                          <a:cs typeface="Aptos"/>
                        </a:rPr>
                        <a:t>Tab / R / Esc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Aptos"/>
                          <a:ea typeface="Aptos"/>
                          <a:cs typeface="Aptos"/>
                        </a:rPr>
                        <a:t>Labels / reset to ready / quit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Contact or a missed enemy triggers damage; invulnerability prevents repeated HP ">
            <a:extLst xmlns:a="http://schemas.openxmlformats.org/drawingml/2006/main">
              <a:ext uri="{FF2B5EF4-FFF2-40B4-BE49-F238E27FC236}">
                <a16:creationId xmlns:a16="http://schemas.microsoft.com/office/drawing/2014/main" id="{8811D437-1478-4095-B458-97583055D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019800"/>
            <a:ext cx="1095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7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7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7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7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7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7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7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7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7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5B7082"/>
                </a:solidFill>
                <a:latin typeface="Aptos"/>
                <a:ea typeface="Aptos"/>
                <a:cs typeface="Aptos"/>
              </a:rPr>
              <a:t>Contact or a missed enemy triggers damage; invulnerability prevents repeated HP loss.</a:t>
            </a:r>
          </a:p>
        </p:txBody>
      </p:sp>
      <p:sp>
        <p:nvSpPr>
          <p:cNvPr id="5" name="05">
            <a:extLst xmlns:a="http://schemas.openxmlformats.org/drawingml/2006/main">
              <a:ext uri="{FF2B5EF4-FFF2-40B4-BE49-F238E27FC236}">
                <a16:creationId xmlns:a16="http://schemas.microsoft.com/office/drawing/2014/main" id="{D953D3FE-AD9E-4F8D-AAA0-CAEFBA624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05575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B7082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0349715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Five classes, five responsibilities">
            <a:extLst xmlns:a="http://schemas.openxmlformats.org/drawingml/2006/main">
              <a:ext uri="{FF2B5EF4-FFF2-40B4-BE49-F238E27FC236}">
                <a16:creationId xmlns:a16="http://schemas.microsoft.com/office/drawing/2014/main" id="{BE4DEB07-5D3A-481A-98E2-7D929C304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2862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pPr>
            <a:r>
              <a:rPr sz="3300" b="1">
                <a:solidFill>
                  <a:srgbClr val="172C40"/>
                </a:solidFill>
                <a:latin typeface="Aptos"/>
                <a:ea typeface="Aptos"/>
                <a:cs typeface="Aptos"/>
              </a:rPr>
              <a:t>Five classes, five responsibilities</a:t>
            </a:r>
          </a:p>
        </p:txBody>
      </p:sp>
      <p:sp>
        <p:nvSpPr>
          <p:cNvPr id="2" name="Actors handle themselves; Game coordinates interactions">
            <a:extLst xmlns:a="http://schemas.openxmlformats.org/drawingml/2006/main">
              <a:ext uri="{FF2B5EF4-FFF2-40B4-BE49-F238E27FC236}">
                <a16:creationId xmlns:a16="http://schemas.microsoft.com/office/drawing/2014/main" id="{0EA130B9-7987-49F3-9268-AF3BA9BD2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181100"/>
            <a:ext cx="11001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5B7082"/>
                </a:solidFill>
                <a:latin typeface="Aptos"/>
                <a:ea typeface="Aptos"/>
                <a:cs typeface="Aptos"/>
              </a:rPr>
              <a:t>Actors handle themselves; Game coordinates interactions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08AFE0A-6117-4E6B-9E96-3857C7AED858}"/>
              </a:ext>
            </a:extLst>
          </p:cNvPr>
          <p:cNvGraphicFramePr/>
          <p:nvPr/>
        </p:nvGraphicFramePr>
        <p:xfrm>
          <a:off xmlns:a="http://schemas.openxmlformats.org/drawingml/2006/main" x="571500" y="1762125"/>
          <a:ext xmlns:a="http://schemas.openxmlformats.org/drawingml/2006/main" cx="11049000" cy="409575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1809750"/>
                <a:gridCol w="3905250"/>
                <a:gridCol w="5334000"/>
              </a:tblGrid>
              <a:tr h="682625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EDF4FB"/>
                          </a:solidFill>
                          <a:latin typeface="Aptos"/>
                          <a:ea typeface="Aptos"/>
                          <a:cs typeface="Aptos"/>
                        </a:rPr>
                        <a:t>Class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T w="9525">
                      <a:solidFill>
                        <a:srgbClr val="CCD6DF"/>
                      </a:solidFill>
                      <a:prstDash val="solid"/>
                    </a:lnT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172C40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EDF4FB"/>
                          </a:solidFill>
                          <a:latin typeface="Aptos"/>
                          <a:ea typeface="Aptos"/>
                          <a:cs typeface="Aptos"/>
                        </a:rPr>
                        <a:t>State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T w="9525">
                      <a:solidFill>
                        <a:srgbClr val="CCD6DF"/>
                      </a:solidFill>
                      <a:prstDash val="solid"/>
                    </a:lnT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172C40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EDF4FB"/>
                          </a:solidFill>
                          <a:latin typeface="Aptos"/>
                          <a:ea typeface="Aptos"/>
                          <a:cs typeface="Aptos"/>
                        </a:rPr>
                        <a:t>Responsibility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T w="9525">
                      <a:solidFill>
                        <a:srgbClr val="CCD6DF"/>
                      </a:solidFill>
                      <a:prstDash val="solid"/>
                    </a:lnT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172C40"/>
                    </a:solidFill>
                  </a:tcPr>
                </a:tc>
              </a:tr>
              <a:tr h="682625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172C40"/>
                          </a:solidFill>
                          <a:latin typeface="Aptos"/>
                          <a:ea typeface="Aptos"/>
                          <a:cs typeface="Aptos"/>
                        </a:rPr>
                        <a:t>Actor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Aptos"/>
                          <a:ea typeface="Aptos"/>
                          <a:cs typeface="Aptos"/>
                        </a:rPr>
                        <a:t>pos, velocity, image, rect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Aptos"/>
                          <a:ea typeface="Aptos"/>
                          <a:cs typeface="Aptos"/>
                        </a:rPr>
                        <a:t>Shared position and visual data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2625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172C40"/>
                          </a:solidFill>
                          <a:latin typeface="Aptos"/>
                          <a:ea typeface="Aptos"/>
                          <a:cs typeface="Aptos"/>
                        </a:rPr>
                        <a:t>Player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Aptos"/>
                          <a:ea typeface="Aptos"/>
                          <a:cs typeface="Aptos"/>
                        </a:rPr>
                        <a:t>hp, cooldown, invulnerable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Aptos"/>
                          <a:ea typeface="Aptos"/>
                          <a:cs typeface="Aptos"/>
                        </a:rPr>
                        <a:t>Direction, shooting, damage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5F7FA"/>
                    </a:solidFill>
                  </a:tcPr>
                </a:tc>
              </a:tr>
              <a:tr h="682625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172C40"/>
                          </a:solidFill>
                          <a:latin typeface="Aptos"/>
                          <a:ea typeface="Aptos"/>
                          <a:cs typeface="Aptos"/>
                        </a:rPr>
                        <a:t>Enemy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Aptos"/>
                          <a:ea typeface="Aptos"/>
                          <a:cs typeface="Aptos"/>
                        </a:rPr>
                        <a:t>hp, max_hp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Aptos"/>
                          <a:ea typeface="Aptos"/>
                          <a:cs typeface="Aptos"/>
                        </a:rPr>
                        <a:t>Descent, hits, defeat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2625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172C40"/>
                          </a:solidFill>
                          <a:latin typeface="Aptos"/>
                          <a:ea typeface="Aptos"/>
                          <a:cs typeface="Aptos"/>
                        </a:rPr>
                        <a:t>Bullet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Aptos"/>
                          <a:ea typeface="Aptos"/>
                          <a:cs typeface="Aptos"/>
                        </a:rPr>
                        <a:t>owner, damage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Aptos"/>
                          <a:ea typeface="Aptos"/>
                          <a:cs typeface="Aptos"/>
                        </a:rPr>
                        <a:t>Travel and off-screen removal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5F7FA"/>
                    </a:solidFill>
                  </a:tcPr>
                </a:tc>
              </a:tr>
              <a:tr h="682625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172C40"/>
                          </a:solidFill>
                          <a:latin typeface="Aptos"/>
                          <a:ea typeface="Aptos"/>
                          <a:cs typeface="Aptos"/>
                        </a:rPr>
                        <a:t>Game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Aptos"/>
                          <a:ea typeface="Aptos"/>
                          <a:cs typeface="Aptos"/>
                        </a:rPr>
                        <a:t>score, state, groups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Aptos"/>
                          <a:ea typeface="Aptos"/>
                          <a:cs typeface="Aptos"/>
                        </a:rPr>
                        <a:t>Spawning, collisions, game loop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06">
            <a:extLst xmlns:a="http://schemas.openxmlformats.org/drawingml/2006/main">
              <a:ext uri="{FF2B5EF4-FFF2-40B4-BE49-F238E27FC236}">
                <a16:creationId xmlns:a16="http://schemas.microsoft.com/office/drawing/2014/main" id="{3D809D48-B6F1-443D-81C7-DCDF54588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05575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B7082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11736208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B14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One class can create many objects">
            <a:extLst xmlns:a="http://schemas.openxmlformats.org/drawingml/2006/main">
              <a:ext uri="{FF2B5EF4-FFF2-40B4-BE49-F238E27FC236}">
                <a16:creationId xmlns:a16="http://schemas.microsoft.com/office/drawing/2014/main" id="{F22AB309-50FC-4855-BD9F-27B5896B4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2862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pPr>
            <a:r>
              <a:rPr sz="3300" b="1">
                <a:solidFill>
                  <a:srgbClr val="EDF4FB"/>
                </a:solidFill>
                <a:latin typeface="Aptos"/>
                <a:ea typeface="Aptos"/>
                <a:cs typeface="Aptos"/>
              </a:rPr>
              <a:t>One class can create many objects</a:t>
            </a:r>
          </a:p>
        </p:txBody>
      </p:sp>
      <p:sp>
        <p:nvSpPr>
          <p:cNvPr id="2" name="A class defines shared rules; instances keep separate state">
            <a:extLst xmlns:a="http://schemas.openxmlformats.org/drawingml/2006/main">
              <a:ext uri="{FF2B5EF4-FFF2-40B4-BE49-F238E27FC236}">
                <a16:creationId xmlns:a16="http://schemas.microsoft.com/office/drawing/2014/main" id="{A868BC59-B604-4A59-AED9-6F042CB0D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181100"/>
            <a:ext cx="11001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68EDBE"/>
                </a:solidFill>
                <a:latin typeface="Aptos"/>
                <a:ea typeface="Aptos"/>
                <a:cs typeface="Aptos"/>
              </a:rPr>
              <a:t>A class defines shared rules; instances keep separate state</a:t>
            </a:r>
          </a:p>
        </p:txBody>
      </p:sp>
      <p:sp>
        <p:nvSpPr>
          <p:cNvPr id="3" name="e1 = Enemy(&quot;E01&quot;, (180, 180), hp=1)">
            <a:extLst xmlns:a="http://schemas.openxmlformats.org/drawingml/2006/main">
              <a:ext uri="{FF2B5EF4-FFF2-40B4-BE49-F238E27FC236}">
                <a16:creationId xmlns:a16="http://schemas.microsoft.com/office/drawing/2014/main" id="{5B971455-E3C7-4F26-96C6-09669CB54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9145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e1 = Enemy("E01", (180, 180), hp=1)</a:t>
            </a:r>
          </a:p>
        </p:txBody>
      </p:sp>
      <p:sp>
        <p:nvSpPr>
          <p:cNvPr id="4" name="e2 = Enemy(&quot;E02&quot;, (395, 235), hp=2)">
            <a:extLst xmlns:a="http://schemas.openxmlformats.org/drawingml/2006/main">
              <a:ext uri="{FF2B5EF4-FFF2-40B4-BE49-F238E27FC236}">
                <a16:creationId xmlns:a16="http://schemas.microsoft.com/office/drawing/2014/main" id="{AFBC77B4-A3ED-415F-8B0B-7975CAAFF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3837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e2 = Enemy("E02", (395, 235), hp=2)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144D30-E0DE-47D4-BEB7-28211747B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5622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r>
              <a:t/>
            </a:r>
          </a:p>
        </p:txBody>
      </p:sp>
      <p:sp>
        <p:nvSpPr>
          <p:cNvPr id="6" name="print(e1 is e2)                 # False">
            <a:extLst xmlns:a="http://schemas.openxmlformats.org/drawingml/2006/main">
              <a:ext uri="{FF2B5EF4-FFF2-40B4-BE49-F238E27FC236}">
                <a16:creationId xmlns:a16="http://schemas.microsoft.com/office/drawing/2014/main" id="{29D5FBE9-9499-4980-AD55-2023D89D0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8607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print(e1 is e2)                 # False</a:t>
            </a:r>
          </a:p>
        </p:txBody>
      </p:sp>
      <p:sp>
        <p:nvSpPr>
          <p:cNvPr id="7" name="print(isinstance(e2, Enemy))    # True">
            <a:extLst xmlns:a="http://schemas.openxmlformats.org/drawingml/2006/main">
              <a:ext uri="{FF2B5EF4-FFF2-40B4-BE49-F238E27FC236}">
                <a16:creationId xmlns:a16="http://schemas.microsoft.com/office/drawing/2014/main" id="{3AD18743-9EFD-4748-BFF2-73A929E7D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2099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print(isinstance(e2, Enemy))    # True</a:t>
            </a:r>
          </a:p>
        </p:txBody>
      </p:sp>
      <p:sp>
        <p:nvSpPr>
          <p:cNvPr id="8" name="e1.take_hit(1)">
            <a:extLst xmlns:a="http://schemas.openxmlformats.org/drawingml/2006/main">
              <a:ext uri="{FF2B5EF4-FFF2-40B4-BE49-F238E27FC236}">
                <a16:creationId xmlns:a16="http://schemas.microsoft.com/office/drawing/2014/main" id="{0271E5B4-DEB8-45E8-ACC3-F64A92303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53377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e1.take_hit(1)</a:t>
            </a:r>
          </a:p>
        </p:txBody>
      </p:sp>
      <p:sp>
        <p:nvSpPr>
          <p:cNvPr id="9" name="print(e1.hp, e2.hp)             # 0 2">
            <a:extLst xmlns:a="http://schemas.openxmlformats.org/drawingml/2006/main">
              <a:ext uri="{FF2B5EF4-FFF2-40B4-BE49-F238E27FC236}">
                <a16:creationId xmlns:a16="http://schemas.microsoft.com/office/drawing/2014/main" id="{91C00B07-F697-4AAA-8508-FE30795A5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8576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print(e1.hp, e2.hp)             # 0 2</a:t>
            </a:r>
          </a:p>
        </p:txBody>
      </p:sp>
      <p:sp>
        <p:nvSpPr>
          <p:cNvPr id="10" name="e1 and e2 are both Enemies, but have different identities and HP.">
            <a:extLst xmlns:a="http://schemas.openxmlformats.org/drawingml/2006/main">
              <a:ext uri="{FF2B5EF4-FFF2-40B4-BE49-F238E27FC236}">
                <a16:creationId xmlns:a16="http://schemas.microsoft.com/office/drawing/2014/main" id="{7B6DE70A-4174-4F7C-B9AC-91138B8D5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67325"/>
            <a:ext cx="5191125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68EDBE"/>
                </a:solidFill>
                <a:latin typeface="Aptos"/>
                <a:ea typeface="Aptos"/>
                <a:cs typeface="Aptos"/>
              </a:rPr>
              <a:t>e1 and e2 are both Enemies, but have different identities and HP.</a:t>
            </a:r>
          </a:p>
        </p:txBody>
      </p:sp>
      <p:sp>
        <p:nvSpPr>
          <p:cNvPr id="11" name="e1.take_hit(1) does not reduce e2.hp.">
            <a:extLst xmlns:a="http://schemas.openxmlformats.org/drawingml/2006/main">
              <a:ext uri="{FF2B5EF4-FFF2-40B4-BE49-F238E27FC236}">
                <a16:creationId xmlns:a16="http://schemas.microsoft.com/office/drawing/2014/main" id="{B27867FA-F258-425C-9738-0079D9E90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267325"/>
            <a:ext cx="5191125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68EDBE"/>
                </a:solidFill>
                <a:latin typeface="Aptos"/>
                <a:ea typeface="Aptos"/>
                <a:cs typeface="Aptos"/>
              </a:rPr>
              <a:t>e1.take_hit(1) does not reduce e2.hp.</a:t>
            </a:r>
          </a:p>
        </p:txBody>
      </p:sp>
      <p:sp>
        <p:nvSpPr>
          <p:cNvPr id="12" name="actors.py · Enemy">
            <a:extLst xmlns:a="http://schemas.openxmlformats.org/drawingml/2006/main">
              <a:ext uri="{FF2B5EF4-FFF2-40B4-BE49-F238E27FC236}">
                <a16:creationId xmlns:a16="http://schemas.microsoft.com/office/drawing/2014/main" id="{2E5DD774-0DD5-42EB-944F-15FF27465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67475"/>
            <a:ext cx="1047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actors.py · Enemy</a:t>
            </a:r>
          </a:p>
        </p:txBody>
      </p:sp>
      <p:sp>
        <p:nvSpPr>
          <p:cNvPr id="13" name="07">
            <a:extLst xmlns:a="http://schemas.openxmlformats.org/drawingml/2006/main">
              <a:ext uri="{FF2B5EF4-FFF2-40B4-BE49-F238E27FC236}">
                <a16:creationId xmlns:a16="http://schemas.microsoft.com/office/drawing/2014/main" id="{1850A4C8-4BA7-4433-A7BC-A95FA5407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05575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DF4FB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65710279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Read three UML notations">
            <a:extLst xmlns:a="http://schemas.openxmlformats.org/drawingml/2006/main">
              <a:ext uri="{FF2B5EF4-FFF2-40B4-BE49-F238E27FC236}">
                <a16:creationId xmlns:a16="http://schemas.microsoft.com/office/drawing/2014/main" id="{4122F9BF-8098-480C-A336-8F428F4DD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2862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pPr>
            <a:r>
              <a:rPr sz="3300" b="1">
                <a:solidFill>
                  <a:srgbClr val="172C40"/>
                </a:solidFill>
                <a:latin typeface="Aptos"/>
                <a:ea typeface="Aptos"/>
                <a:cs typeface="Aptos"/>
              </a:rPr>
              <a:t>Read three UML notations</a:t>
            </a:r>
          </a:p>
        </p:txBody>
      </p:sp>
      <p:sp>
        <p:nvSpPr>
          <p:cNvPr id="2" name="Class diagrams show structure; object diagrams show instances at a moment">
            <a:extLst xmlns:a="http://schemas.openxmlformats.org/drawingml/2006/main">
              <a:ext uri="{FF2B5EF4-FFF2-40B4-BE49-F238E27FC236}">
                <a16:creationId xmlns:a16="http://schemas.microsoft.com/office/drawing/2014/main" id="{4118A20F-9752-4A83-A8A3-7655E45EF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181100"/>
            <a:ext cx="11001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5B7082"/>
                </a:solidFill>
                <a:latin typeface="Aptos"/>
                <a:ea typeface="Aptos"/>
                <a:cs typeface="Aptos"/>
              </a:rPr>
              <a:t>Class diagrams show structure; object diagrams show instances at a moment</a:t>
            </a:r>
          </a:p>
        </p:txBody>
      </p:sp>
      <p:sp>
        <p:nvSpPr>
          <p:cNvPr id="3" name="01">
            <a:extLst xmlns:a="http://schemas.openxmlformats.org/drawingml/2006/main">
              <a:ext uri="{FF2B5EF4-FFF2-40B4-BE49-F238E27FC236}">
                <a16:creationId xmlns:a16="http://schemas.microsoft.com/office/drawing/2014/main" id="{18DB6F62-5F57-4BAD-B214-BC87C9F79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971675"/>
            <a:ext cx="685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62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62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62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62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62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62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62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62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62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262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pPr>
            <a:r>
              <a:rPr sz="2625" b="1">
                <a:solidFill>
                  <a:srgbClr val="087C62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4" name="Class box: name at the top, attributes in the middle, methods below.">
            <a:extLst xmlns:a="http://schemas.openxmlformats.org/drawingml/2006/main">
              <a:ext uri="{FF2B5EF4-FFF2-40B4-BE49-F238E27FC236}">
                <a16:creationId xmlns:a16="http://schemas.microsoft.com/office/drawing/2014/main" id="{77CDB7F5-9F3B-4792-9644-0D98A1F86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1990725"/>
            <a:ext cx="9858375" cy="1171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3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3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3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3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3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3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3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3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3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23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pPr>
            <a:r>
              <a:rPr sz="2325" b="0">
                <a:solidFill>
                  <a:srgbClr val="172C40"/>
                </a:solidFill>
                <a:latin typeface="Aptos"/>
                <a:ea typeface="Aptos"/>
                <a:cs typeface="Aptos"/>
              </a:rPr>
              <a:t>Class box: name at the top, attributes in the middle, methods below.</a:t>
            </a:r>
          </a:p>
        </p:txBody>
      </p:sp>
      <p:sp>
        <p:nvSpPr>
          <p:cNvPr id="5" name="02">
            <a:extLst xmlns:a="http://schemas.openxmlformats.org/drawingml/2006/main">
              <a:ext uri="{FF2B5EF4-FFF2-40B4-BE49-F238E27FC236}">
                <a16:creationId xmlns:a16="http://schemas.microsoft.com/office/drawing/2014/main" id="{366A3B12-098D-4FE0-9344-91DF6B4E9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400425"/>
            <a:ext cx="685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62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62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62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62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62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62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62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62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62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262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pPr>
            <a:r>
              <a:rPr sz="2625" b="1">
                <a:solidFill>
                  <a:srgbClr val="087C62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6" name="A hollow triangle points to the superclass; an open arrow shows a navigable asso">
            <a:extLst xmlns:a="http://schemas.openxmlformats.org/drawingml/2006/main">
              <a:ext uri="{FF2B5EF4-FFF2-40B4-BE49-F238E27FC236}">
                <a16:creationId xmlns:a16="http://schemas.microsoft.com/office/drawing/2014/main" id="{882037A9-6663-4B71-9FDE-22718ABC2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3419475"/>
            <a:ext cx="9858375" cy="1171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3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3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3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3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3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3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3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3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3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23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pPr>
            <a:r>
              <a:rPr sz="2325" b="0">
                <a:solidFill>
                  <a:srgbClr val="172C40"/>
                </a:solidFill>
                <a:latin typeface="Aptos"/>
                <a:ea typeface="Aptos"/>
                <a:cs typeface="Aptos"/>
              </a:rPr>
              <a:t>A hollow triangle points to the superclass; an open arrow shows a navigable association.</a:t>
            </a:r>
          </a:p>
        </p:txBody>
      </p:sp>
      <p:sp>
        <p:nvSpPr>
          <p:cNvPr id="7" name="03">
            <a:extLst xmlns:a="http://schemas.openxmlformats.org/drawingml/2006/main">
              <a:ext uri="{FF2B5EF4-FFF2-40B4-BE49-F238E27FC236}">
                <a16:creationId xmlns:a16="http://schemas.microsoft.com/office/drawing/2014/main" id="{C4CFE24D-B172-406F-A4DC-098AF7510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829175"/>
            <a:ext cx="685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62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62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62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62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62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62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62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62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62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262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pPr>
            <a:r>
              <a:rPr sz="2625" b="1">
                <a:solidFill>
                  <a:srgbClr val="087C62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8" name="1 means one; 0..* means zero or more. Underline name : Class for an instance.">
            <a:extLst xmlns:a="http://schemas.openxmlformats.org/drawingml/2006/main">
              <a:ext uri="{FF2B5EF4-FFF2-40B4-BE49-F238E27FC236}">
                <a16:creationId xmlns:a16="http://schemas.microsoft.com/office/drawing/2014/main" id="{690DDDDA-8D12-4728-87AB-815F8131C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4848225"/>
            <a:ext cx="9858375" cy="1171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3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3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3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3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3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3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3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3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3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23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pPr>
            <a:r>
              <a:rPr sz="2325" b="0">
                <a:solidFill>
                  <a:srgbClr val="172C40"/>
                </a:solidFill>
                <a:latin typeface="Aptos"/>
                <a:ea typeface="Aptos"/>
                <a:cs typeface="Aptos"/>
              </a:rPr>
              <a:t>1 means one; 0..* means zero or more. Underline name : Class for an instance.</a:t>
            </a:r>
          </a:p>
        </p:txBody>
      </p:sp>
      <p:sp>
        <p:nvSpPr>
          <p:cNvPr id="9" name="08">
            <a:extLst xmlns:a="http://schemas.openxmlformats.org/drawingml/2006/main">
              <a:ext uri="{FF2B5EF4-FFF2-40B4-BE49-F238E27FC236}">
                <a16:creationId xmlns:a16="http://schemas.microsoft.com/office/drawing/2014/main" id="{80B6D9A1-4D15-41A5-92C4-F307FD1F6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05575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B7082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44359101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Class diagram: three kinds of Actor">
            <a:extLst xmlns:a="http://schemas.openxmlformats.org/drawingml/2006/main">
              <a:ext uri="{FF2B5EF4-FFF2-40B4-BE49-F238E27FC236}">
                <a16:creationId xmlns:a16="http://schemas.microsoft.com/office/drawing/2014/main" id="{740EF52A-C767-4791-9708-AB8A96363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2862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pPr>
            <a:r>
              <a:rPr sz="3300" b="1">
                <a:solidFill>
                  <a:srgbClr val="172C40"/>
                </a:solidFill>
                <a:latin typeface="Aptos"/>
                <a:ea typeface="Aptos"/>
                <a:cs typeface="Aptos"/>
              </a:rPr>
              <a:t>Class diagram: three kinds of Actor</a:t>
            </a:r>
          </a:p>
        </p:txBody>
      </p:sp>
      <p:sp>
        <p:nvSpPr>
          <p:cNvPr id="2" name="Share movement, then add specialized behavior">
            <a:extLst xmlns:a="http://schemas.openxmlformats.org/drawingml/2006/main">
              <a:ext uri="{FF2B5EF4-FFF2-40B4-BE49-F238E27FC236}">
                <a16:creationId xmlns:a16="http://schemas.microsoft.com/office/drawing/2014/main" id="{80234846-574E-4BF4-B7B6-987C1B8CF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181100"/>
            <a:ext cx="11001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5B7082"/>
                </a:solidFill>
                <a:latin typeface="Aptos"/>
                <a:ea typeface="Aptos"/>
                <a:cs typeface="Aptos"/>
              </a:rPr>
              <a:t>Share movement, then add specialized behavior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D1CA31A-D4B1-45AD-8EB8-B9E404C18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1666875"/>
            <a:ext cx="2952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5B7082"/>
            </a:solidFill>
          </a:ln>
        </p:spPr>
      </p:sp>
      <p:sp>
        <p:nvSpPr>
          <p:cNvPr id="4" name="pygame.sprite.Sprite">
            <a:extLst xmlns:a="http://schemas.openxmlformats.org/drawingml/2006/main">
              <a:ext uri="{FF2B5EF4-FFF2-40B4-BE49-F238E27FC236}">
                <a16:creationId xmlns:a16="http://schemas.microsoft.com/office/drawing/2014/main" id="{E9AE3E9E-461B-43D7-B031-AAF1F316E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2025" y="1752600"/>
            <a:ext cx="26479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5B708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75" b="1">
                <a:solidFill>
                  <a:srgbClr val="5B708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75" b="1">
                <a:solidFill>
                  <a:srgbClr val="5B708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75" b="1">
                <a:solidFill>
                  <a:srgbClr val="5B708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75" b="1">
                <a:solidFill>
                  <a:srgbClr val="5B708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75" b="1">
                <a:solidFill>
                  <a:srgbClr val="5B708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75" b="1">
                <a:solidFill>
                  <a:srgbClr val="5B708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75" b="1">
                <a:solidFill>
                  <a:srgbClr val="5B708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75" b="1">
                <a:solidFill>
                  <a:srgbClr val="5B708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75" b="1">
                <a:solidFill>
                  <a:srgbClr val="5B708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875" b="1">
                <a:solidFill>
                  <a:srgbClr val="5B7082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5B7082"/>
                </a:solidFill>
                <a:latin typeface="Aptos"/>
                <a:ea typeface="Aptos"/>
                <a:cs typeface="Aptos"/>
              </a:rPr>
              <a:t>pygame.sprite.Sprite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FB63BB-BD1E-4AF9-9177-52BED6F17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2581275"/>
            <a:ext cx="428625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72C40"/>
            </a:solidFill>
          </a:ln>
        </p:spPr>
      </p:sp>
      <p:sp>
        <p:nvSpPr>
          <p:cNvPr id="6" name="Actor">
            <a:extLst xmlns:a="http://schemas.openxmlformats.org/drawingml/2006/main">
              <a:ext uri="{FF2B5EF4-FFF2-40B4-BE49-F238E27FC236}">
                <a16:creationId xmlns:a16="http://schemas.microsoft.com/office/drawing/2014/main" id="{F4537EBC-EB56-4D2B-9E4A-451DF30CF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5275" y="2667000"/>
            <a:ext cx="39814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75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75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75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75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75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75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75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75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75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875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72C40"/>
                </a:solidFill>
                <a:latin typeface="Aptos"/>
                <a:ea typeface="Aptos"/>
                <a:cs typeface="Aptos"/>
              </a:rPr>
              <a:t>Actor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B9B49F6-5C17-4E81-BB77-3B7574B5A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952875" y="3038475"/>
            <a:ext cx="4286250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172C40"/>
            </a:solidFill>
          </a:ln>
        </p:spPr>
      </p:sp>
      <p:sp>
        <p:nvSpPr>
          <p:cNvPr id="8" name="name, pos, velocity, image, rect">
            <a:extLst xmlns:a="http://schemas.openxmlformats.org/drawingml/2006/main">
              <a:ext uri="{FF2B5EF4-FFF2-40B4-BE49-F238E27FC236}">
                <a16:creationId xmlns:a16="http://schemas.microsoft.com/office/drawing/2014/main" id="{FA238543-8812-4EE1-AC5D-E788CFB99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5275" y="3133725"/>
            <a:ext cx="4000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72C40"/>
                </a:solidFill>
                <a:latin typeface="Aptos"/>
                <a:ea typeface="Aptos"/>
                <a:cs typeface="Aptos"/>
              </a:rPr>
              <a:t>name, pos, velocity, image, rect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55712A0-1E24-4E88-873A-450B66631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952875" y="3409950"/>
            <a:ext cx="4286250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172C40"/>
            </a:solidFill>
          </a:ln>
        </p:spPr>
      </p:sp>
      <p:sp>
        <p:nvSpPr>
          <p:cNvPr id="10" name="update(dt)">
            <a:extLst xmlns:a="http://schemas.openxmlformats.org/drawingml/2006/main">
              <a:ext uri="{FF2B5EF4-FFF2-40B4-BE49-F238E27FC236}">
                <a16:creationId xmlns:a16="http://schemas.microsoft.com/office/drawing/2014/main" id="{308B93C7-F9FF-4FDD-8F34-531FF0D80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5275" y="3495675"/>
            <a:ext cx="40005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72C40"/>
                </a:solidFill>
                <a:latin typeface="Aptos"/>
                <a:ea typeface="Aptos"/>
                <a:cs typeface="Aptos"/>
              </a:rPr>
              <a:t>update(dt)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F112896-562A-405A-8E2C-4279B8B09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24375"/>
            <a:ext cx="338137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87C62"/>
            </a:solidFill>
          </a:ln>
        </p:spPr>
      </p:sp>
      <p:sp>
        <p:nvSpPr>
          <p:cNvPr id="12" name="Player">
            <a:extLst xmlns:a="http://schemas.openxmlformats.org/drawingml/2006/main">
              <a:ext uri="{FF2B5EF4-FFF2-40B4-BE49-F238E27FC236}">
                <a16:creationId xmlns:a16="http://schemas.microsoft.com/office/drawing/2014/main" id="{5B42FA42-15D3-45EA-B4D3-587C6E546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10100"/>
            <a:ext cx="30765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7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7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7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7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7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7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7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7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7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87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087C62"/>
                </a:solidFill>
                <a:latin typeface="Aptos"/>
                <a:ea typeface="Aptos"/>
                <a:cs typeface="Aptos"/>
              </a:rPr>
              <a:t>Player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DBF2311-DF9B-4CF4-B541-369BE8D33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71500" y="4981575"/>
            <a:ext cx="3381375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087C62"/>
            </a:solidFill>
          </a:ln>
        </p:spPr>
      </p:sp>
      <p:sp>
        <p:nvSpPr>
          <p:cNvPr id="14" name="hp, cooldown, invulnerable">
            <a:extLst xmlns:a="http://schemas.openxmlformats.org/drawingml/2006/main">
              <a:ext uri="{FF2B5EF4-FFF2-40B4-BE49-F238E27FC236}">
                <a16:creationId xmlns:a16="http://schemas.microsoft.com/office/drawing/2014/main" id="{68C7D560-FA03-4DBF-81E9-BCB9342F2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076825"/>
            <a:ext cx="30956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72C40"/>
                </a:solidFill>
                <a:latin typeface="Aptos"/>
                <a:ea typeface="Aptos"/>
                <a:cs typeface="Aptos"/>
              </a:rPr>
              <a:t>hp, cooldown, invulnerable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7048400-8AA6-4FD2-86FB-62C309D0F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71500" y="5353050"/>
            <a:ext cx="3381375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087C62"/>
            </a:solidFill>
          </a:ln>
        </p:spPr>
      </p:sp>
      <p:sp>
        <p:nvSpPr>
          <p:cNvPr id="16" name="shoot(name), take_damage() set_direction(x, y), update(dt)">
            <a:extLst xmlns:a="http://schemas.openxmlformats.org/drawingml/2006/main">
              <a:ext uri="{FF2B5EF4-FFF2-40B4-BE49-F238E27FC236}">
                <a16:creationId xmlns:a16="http://schemas.microsoft.com/office/drawing/2014/main" id="{D8F70FB0-5DE0-43B4-8A1E-6E29B02CA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38775"/>
            <a:ext cx="3095625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72C40"/>
                </a:solidFill>
                <a:latin typeface="Aptos"/>
                <a:ea typeface="Aptos"/>
                <a:cs typeface="Aptos"/>
              </a:rPr>
              <a:t>shoot(name), take_damage()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72C40"/>
                </a:solidFill>
                <a:latin typeface="Aptos"/>
                <a:ea typeface="Aptos"/>
                <a:cs typeface="Aptos"/>
              </a:rPr>
              <a:t>set_direction(x, y), update(dt)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1C30704-BF31-4A2E-93CE-D2D589B3E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524375"/>
            <a:ext cx="338137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BF4A44"/>
            </a:solidFill>
          </a:ln>
        </p:spPr>
      </p:sp>
      <p:sp>
        <p:nvSpPr>
          <p:cNvPr id="18" name="Enemy">
            <a:extLst xmlns:a="http://schemas.openxmlformats.org/drawingml/2006/main">
              <a:ext uri="{FF2B5EF4-FFF2-40B4-BE49-F238E27FC236}">
                <a16:creationId xmlns:a16="http://schemas.microsoft.com/office/drawing/2014/main" id="{EA57D7DC-7DF4-46D0-AF6D-666C855CB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4610100"/>
            <a:ext cx="30765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BF4A44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75" b="1">
                <a:solidFill>
                  <a:srgbClr val="BF4A44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75" b="1">
                <a:solidFill>
                  <a:srgbClr val="BF4A44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75" b="1">
                <a:solidFill>
                  <a:srgbClr val="BF4A44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75" b="1">
                <a:solidFill>
                  <a:srgbClr val="BF4A44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75" b="1">
                <a:solidFill>
                  <a:srgbClr val="BF4A44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75" b="1">
                <a:solidFill>
                  <a:srgbClr val="BF4A44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75" b="1">
                <a:solidFill>
                  <a:srgbClr val="BF4A44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75" b="1">
                <a:solidFill>
                  <a:srgbClr val="BF4A44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75" b="1">
                <a:solidFill>
                  <a:srgbClr val="BF4A44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875" b="1">
                <a:solidFill>
                  <a:srgbClr val="BF4A44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BF4A44"/>
                </a:solidFill>
                <a:latin typeface="Aptos"/>
                <a:ea typeface="Aptos"/>
                <a:cs typeface="Aptos"/>
              </a:rPr>
              <a:t>Enemy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B4A2D72-E61F-40D0-BD78-A7951A9F7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400550" y="4981575"/>
            <a:ext cx="3381375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BF4A44"/>
            </a:solidFill>
          </a:ln>
        </p:spPr>
      </p:sp>
      <p:sp>
        <p:nvSpPr>
          <p:cNvPr id="20" name="hp, max_hp">
            <a:extLst xmlns:a="http://schemas.openxmlformats.org/drawingml/2006/main">
              <a:ext uri="{FF2B5EF4-FFF2-40B4-BE49-F238E27FC236}">
                <a16:creationId xmlns:a16="http://schemas.microsoft.com/office/drawing/2014/main" id="{2A3DD1FD-9847-4773-9120-B8AEBC22D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5076825"/>
            <a:ext cx="30956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72C40"/>
                </a:solidFill>
                <a:latin typeface="Aptos"/>
                <a:ea typeface="Aptos"/>
                <a:cs typeface="Aptos"/>
              </a:rPr>
              <a:t>hp, max_hp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BCDD8F9-4391-4C95-AB38-79CC1FD6E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400550" y="5353050"/>
            <a:ext cx="3381375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BF4A44"/>
            </a:solidFill>
          </a:ln>
        </p:spPr>
      </p:sp>
      <p:sp>
        <p:nvSpPr>
          <p:cNvPr id="22" name="take_hit(damage)">
            <a:extLst xmlns:a="http://schemas.openxmlformats.org/drawingml/2006/main">
              <a:ext uri="{FF2B5EF4-FFF2-40B4-BE49-F238E27FC236}">
                <a16:creationId xmlns:a16="http://schemas.microsoft.com/office/drawing/2014/main" id="{E1C9270F-555E-48C1-BDF8-1BDAE13E2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5438775"/>
            <a:ext cx="3095625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72C40"/>
                </a:solidFill>
                <a:latin typeface="Aptos"/>
                <a:ea typeface="Aptos"/>
                <a:cs typeface="Aptos"/>
              </a:rPr>
              <a:t>take_hit(damage)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EAA8AFC-79CA-4E31-B8EB-C7D91D474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524375"/>
            <a:ext cx="338137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A66D08"/>
            </a:solidFill>
          </a:ln>
        </p:spPr>
      </p:sp>
      <p:sp>
        <p:nvSpPr>
          <p:cNvPr id="24" name="Bullet">
            <a:extLst xmlns:a="http://schemas.openxmlformats.org/drawingml/2006/main">
              <a:ext uri="{FF2B5EF4-FFF2-40B4-BE49-F238E27FC236}">
                <a16:creationId xmlns:a16="http://schemas.microsoft.com/office/drawing/2014/main" id="{A6386944-CA62-4B5E-8692-8A79E83BD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610100"/>
            <a:ext cx="30765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A66D0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75" b="1">
                <a:solidFill>
                  <a:srgbClr val="A66D0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75" b="1">
                <a:solidFill>
                  <a:srgbClr val="A66D0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75" b="1">
                <a:solidFill>
                  <a:srgbClr val="A66D0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75" b="1">
                <a:solidFill>
                  <a:srgbClr val="A66D0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75" b="1">
                <a:solidFill>
                  <a:srgbClr val="A66D0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75" b="1">
                <a:solidFill>
                  <a:srgbClr val="A66D0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75" b="1">
                <a:solidFill>
                  <a:srgbClr val="A66D0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75" b="1">
                <a:solidFill>
                  <a:srgbClr val="A66D0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75" b="1">
                <a:solidFill>
                  <a:srgbClr val="A66D08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875" b="1">
                <a:solidFill>
                  <a:srgbClr val="A66D08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A66D08"/>
                </a:solidFill>
                <a:latin typeface="Aptos"/>
                <a:ea typeface="Aptos"/>
                <a:cs typeface="Aptos"/>
              </a:rPr>
              <a:t>Bullet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FAE27D4-20E1-449A-874C-93882E5AB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8229600" y="4981575"/>
            <a:ext cx="3381375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A66D08"/>
            </a:solidFill>
          </a:ln>
        </p:spPr>
      </p:sp>
      <p:sp>
        <p:nvSpPr>
          <p:cNvPr id="26" name="owner, damage">
            <a:extLst xmlns:a="http://schemas.openxmlformats.org/drawingml/2006/main">
              <a:ext uri="{FF2B5EF4-FFF2-40B4-BE49-F238E27FC236}">
                <a16:creationId xmlns:a16="http://schemas.microsoft.com/office/drawing/2014/main" id="{BD3B02A8-C7C8-4C42-BB5A-CED09C806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5076825"/>
            <a:ext cx="30956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72C40"/>
                </a:solidFill>
                <a:latin typeface="Aptos"/>
                <a:ea typeface="Aptos"/>
                <a:cs typeface="Aptos"/>
              </a:rPr>
              <a:t>owner, damage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8F6F1FE-7CA0-488D-9FB8-64FD0D807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8229600" y="5353050"/>
            <a:ext cx="3381375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A66D08"/>
            </a:solidFill>
          </a:ln>
        </p:spPr>
      </p:sp>
      <p:sp>
        <p:nvSpPr>
          <p:cNvPr id="28" name="update(dt)">
            <a:extLst xmlns:a="http://schemas.openxmlformats.org/drawingml/2006/main">
              <a:ext uri="{FF2B5EF4-FFF2-40B4-BE49-F238E27FC236}">
                <a16:creationId xmlns:a16="http://schemas.microsoft.com/office/drawing/2014/main" id="{267A922A-A3AA-428E-AD2C-F18464F5A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5438775"/>
            <a:ext cx="3095625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72C40"/>
                </a:solidFill>
                <a:latin typeface="Aptos"/>
                <a:ea typeface="Aptos"/>
                <a:cs typeface="Aptos"/>
              </a:rPr>
              <a:t>update(dt)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959BC36-A45D-43A4-BE7F-B466BABF8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171700"/>
            <a:ext cx="152400" cy="1333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F5F7FA"/>
          </a:solidFill>
          <a:ln xmlns:a="http://schemas.openxmlformats.org/drawingml/2006/main" w="15240">
            <a:solidFill>
              <a:srgbClr val="172C40"/>
            </a:solidFill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BB8CF34-4156-4CBF-B2E3-0F41A7B66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0" y="2305050"/>
            <a:ext cx="0" cy="276225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172C40"/>
            </a:solidFill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4CE0E7A-962D-4EF6-B4F5-C35399241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924300"/>
            <a:ext cx="152400" cy="1333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F5F7FA"/>
          </a:solidFill>
          <a:ln xmlns:a="http://schemas.openxmlformats.org/drawingml/2006/main" w="15240">
            <a:solidFill>
              <a:srgbClr val="172C40"/>
            </a:solidFill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91000A7-A033-449C-8F75-1B8EEA213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0" y="4057650"/>
            <a:ext cx="0" cy="219075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172C40"/>
            </a:solidFill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990FACE-8305-4181-9281-95C5347BC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262188" y="4276725"/>
            <a:ext cx="7658100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172C40"/>
            </a:solidFill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3C52826-0001-495E-831F-312D1246B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262188" y="4276725"/>
            <a:ext cx="0" cy="24765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172C40"/>
            </a:solidFill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7F56F13-A180-43B0-89FF-A77906478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1238" y="4276725"/>
            <a:ext cx="0" cy="24765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172C40"/>
            </a:solidFill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1409B2A-06E2-4AC3-BF26-66BC83E33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9920288" y="4276725"/>
            <a:ext cx="0" cy="24765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172C40"/>
            </a:solidFill>
          </a:ln>
        </p:spPr>
      </p:sp>
      <p:sp>
        <p:nvSpPr>
          <p:cNvPr id="37" name="Hollow triangles point to superclasses. Some drawing details are omitted.">
            <a:extLst xmlns:a="http://schemas.openxmlformats.org/drawingml/2006/main">
              <a:ext uri="{FF2B5EF4-FFF2-40B4-BE49-F238E27FC236}">
                <a16:creationId xmlns:a16="http://schemas.microsoft.com/office/drawing/2014/main" id="{6F9BE7A6-B578-48C5-92E7-74DBFDA3C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191250"/>
            <a:ext cx="1100137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B7082"/>
                </a:solidFill>
                <a:latin typeface="Aptos"/>
                <a:ea typeface="Aptos"/>
                <a:cs typeface="Aptos"/>
              </a:rPr>
              <a:t>Hollow triangles point to superclasses. Some drawing details are omitted.</a:t>
            </a:r>
          </a:p>
        </p:txBody>
      </p:sp>
      <p:sp>
        <p:nvSpPr>
          <p:cNvPr id="38" name="09">
            <a:extLst xmlns:a="http://schemas.openxmlformats.org/drawingml/2006/main">
              <a:ext uri="{FF2B5EF4-FFF2-40B4-BE49-F238E27FC236}">
                <a16:creationId xmlns:a16="http://schemas.microsoft.com/office/drawing/2014/main" id="{A67548ED-428A-4B3B-A158-C011CB897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05575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B7082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35480249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2" name="Relationships: manage, reference, create">
            <a:extLst xmlns:a="http://schemas.openxmlformats.org/drawingml/2006/main">
              <a:ext uri="{FF2B5EF4-FFF2-40B4-BE49-F238E27FC236}">
                <a16:creationId xmlns:a16="http://schemas.microsoft.com/office/drawing/2014/main" id="{38F990BE-092D-42DE-8A73-590E636E6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2862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pPr>
            <a:r>
              <a:rPr sz="3300" b="1">
                <a:solidFill>
                  <a:srgbClr val="172C40"/>
                </a:solidFill>
                <a:latin typeface="Aptos"/>
                <a:ea typeface="Aptos"/>
                <a:cs typeface="Aptos"/>
              </a:rPr>
              <a:t>Relationships: manage, reference, create</a:t>
            </a:r>
          </a:p>
        </p:txBody>
      </p:sp>
      <p:sp>
        <p:nvSpPr>
          <p:cNvPr id="2" name="Bullet.owner is a reference; Game manages actors through groups">
            <a:extLst xmlns:a="http://schemas.openxmlformats.org/drawingml/2006/main">
              <a:ext uri="{FF2B5EF4-FFF2-40B4-BE49-F238E27FC236}">
                <a16:creationId xmlns:a16="http://schemas.microsoft.com/office/drawing/2014/main" id="{1144E570-2C62-4E8C-B0C5-AC0344668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181100"/>
            <a:ext cx="11001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5B7082"/>
                </a:solidFill>
                <a:latin typeface="Aptos"/>
                <a:ea typeface="Aptos"/>
                <a:cs typeface="Aptos"/>
              </a:rPr>
              <a:t>Bullet.owner is a reference; Game manages actors through groups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2553788-7695-4DDF-A106-58E226C57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00375"/>
            <a:ext cx="2524125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72C40"/>
            </a:solidFill>
          </a:ln>
        </p:spPr>
      </p:sp>
      <p:sp>
        <p:nvSpPr>
          <p:cNvPr id="4" name="Game">
            <a:extLst xmlns:a="http://schemas.openxmlformats.org/drawingml/2006/main">
              <a:ext uri="{FF2B5EF4-FFF2-40B4-BE49-F238E27FC236}">
                <a16:creationId xmlns:a16="http://schemas.microsoft.com/office/drawing/2014/main" id="{EC0E1B12-CFC3-40FB-BD6F-BCD0B8936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86100"/>
            <a:ext cx="22193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75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75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75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75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75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75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75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75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75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875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72C40"/>
                </a:solidFill>
                <a:latin typeface="Aptos"/>
                <a:ea typeface="Aptos"/>
                <a:cs typeface="Aptos"/>
              </a:rPr>
              <a:t>Game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FA1B30-8328-4993-B362-1792B7FB7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71500" y="3457575"/>
            <a:ext cx="2524125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172C40"/>
            </a:solidFill>
          </a:ln>
        </p:spPr>
      </p:sp>
      <p:sp>
        <p:nvSpPr>
          <p:cNvPr id="6" name="player, score, state all_sprites enemies, bullets">
            <a:extLst xmlns:a="http://schemas.openxmlformats.org/drawingml/2006/main">
              <a:ext uri="{FF2B5EF4-FFF2-40B4-BE49-F238E27FC236}">
                <a16:creationId xmlns:a16="http://schemas.microsoft.com/office/drawing/2014/main" id="{7AE85C14-6B52-42D4-B164-624A42124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52825"/>
            <a:ext cx="223837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72C40"/>
                </a:solidFill>
                <a:latin typeface="Aptos"/>
                <a:ea typeface="Aptos"/>
                <a:cs typeface="Aptos"/>
              </a:rPr>
              <a:t>player, score, state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72C40"/>
                </a:solidFill>
                <a:latin typeface="Aptos"/>
                <a:ea typeface="Aptos"/>
                <a:cs typeface="Aptos"/>
              </a:rPr>
              <a:t>all_sprites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72C40"/>
                </a:solidFill>
                <a:latin typeface="Aptos"/>
                <a:ea typeface="Aptos"/>
                <a:cs typeface="Aptos"/>
              </a:rPr>
              <a:t>enemies, bullets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3C65160-718B-4046-8EC5-EFF708A5D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71500" y="4362450"/>
            <a:ext cx="2524125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172C40"/>
            </a:solidFill>
          </a:ln>
        </p:spPr>
      </p:sp>
      <p:sp>
        <p:nvSpPr>
          <p:cNvPr id="8" name="update(dt)">
            <a:extLst xmlns:a="http://schemas.openxmlformats.org/drawingml/2006/main">
              <a:ext uri="{FF2B5EF4-FFF2-40B4-BE49-F238E27FC236}">
                <a16:creationId xmlns:a16="http://schemas.microsoft.com/office/drawing/2014/main" id="{F961036A-3F48-4BD6-9509-475786428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48175"/>
            <a:ext cx="2238375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72C40"/>
                </a:solidFill>
                <a:latin typeface="Aptos"/>
                <a:ea typeface="Aptos"/>
                <a:cs typeface="Aptos"/>
              </a:rPr>
              <a:t>update(dt)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72EAF9B-DDD8-40C0-9E5D-C750022F5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1666875"/>
            <a:ext cx="261937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87C62"/>
            </a:solidFill>
          </a:ln>
        </p:spPr>
      </p:sp>
      <p:sp>
        <p:nvSpPr>
          <p:cNvPr id="10" name="Player">
            <a:extLst xmlns:a="http://schemas.openxmlformats.org/drawingml/2006/main">
              <a:ext uri="{FF2B5EF4-FFF2-40B4-BE49-F238E27FC236}">
                <a16:creationId xmlns:a16="http://schemas.microsoft.com/office/drawing/2014/main" id="{C94C9B68-2328-408A-BA9F-007B1977D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7275" y="1752600"/>
            <a:ext cx="23145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7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7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7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7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7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7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7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7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7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87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087C62"/>
                </a:solidFill>
                <a:latin typeface="Aptos"/>
                <a:ea typeface="Aptos"/>
                <a:cs typeface="Aptos"/>
              </a:rPr>
              <a:t>Player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9134856-2478-4EF2-8C5D-341B07590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714875" y="2124075"/>
            <a:ext cx="2619375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087C62"/>
            </a:solidFill>
          </a:ln>
        </p:spPr>
      </p:sp>
      <p:sp>
        <p:nvSpPr>
          <p:cNvPr id="12" name="hp, cooldown">
            <a:extLst xmlns:a="http://schemas.openxmlformats.org/drawingml/2006/main">
              <a:ext uri="{FF2B5EF4-FFF2-40B4-BE49-F238E27FC236}">
                <a16:creationId xmlns:a16="http://schemas.microsoft.com/office/drawing/2014/main" id="{E95C880A-8599-4FCB-AFDC-73B558F1C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7275" y="2219325"/>
            <a:ext cx="2333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72C40"/>
                </a:solidFill>
                <a:latin typeface="Aptos"/>
                <a:ea typeface="Aptos"/>
                <a:cs typeface="Aptos"/>
              </a:rPr>
              <a:t>hp, cooldown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CE1D1F3-E91D-481B-A381-E4F9627DD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714875" y="2495550"/>
            <a:ext cx="2619375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087C62"/>
            </a:solidFill>
          </a:ln>
        </p:spPr>
      </p:sp>
      <p:sp>
        <p:nvSpPr>
          <p:cNvPr id="14" name="shoot(name)">
            <a:extLst xmlns:a="http://schemas.openxmlformats.org/drawingml/2006/main">
              <a:ext uri="{FF2B5EF4-FFF2-40B4-BE49-F238E27FC236}">
                <a16:creationId xmlns:a16="http://schemas.microsoft.com/office/drawing/2014/main" id="{425F2579-AD3A-4525-812A-C8B6E561E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7275" y="2581275"/>
            <a:ext cx="23336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72C40"/>
                </a:solidFill>
                <a:latin typeface="Aptos"/>
                <a:ea typeface="Aptos"/>
                <a:cs typeface="Aptos"/>
              </a:rPr>
              <a:t>shoot(name)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A4D177B-E28D-4552-A015-003AFED31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3524250"/>
            <a:ext cx="261937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5B7082"/>
            </a:solidFill>
          </a:ln>
        </p:spPr>
      </p:sp>
      <p:sp>
        <p:nvSpPr>
          <p:cNvPr id="16" name="Group">
            <a:extLst xmlns:a="http://schemas.openxmlformats.org/drawingml/2006/main">
              <a:ext uri="{FF2B5EF4-FFF2-40B4-BE49-F238E27FC236}">
                <a16:creationId xmlns:a16="http://schemas.microsoft.com/office/drawing/2014/main" id="{CBF6C1D1-AD21-43CC-82C1-C2EEB0E3C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7275" y="3609975"/>
            <a:ext cx="23145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5B708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75" b="1">
                <a:solidFill>
                  <a:srgbClr val="5B708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75" b="1">
                <a:solidFill>
                  <a:srgbClr val="5B708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75" b="1">
                <a:solidFill>
                  <a:srgbClr val="5B708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75" b="1">
                <a:solidFill>
                  <a:srgbClr val="5B708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75" b="1">
                <a:solidFill>
                  <a:srgbClr val="5B708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75" b="1">
                <a:solidFill>
                  <a:srgbClr val="5B708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75" b="1">
                <a:solidFill>
                  <a:srgbClr val="5B708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75" b="1">
                <a:solidFill>
                  <a:srgbClr val="5B708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75" b="1">
                <a:solidFill>
                  <a:srgbClr val="5B708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875" b="1">
                <a:solidFill>
                  <a:srgbClr val="5B7082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5B7082"/>
                </a:solidFill>
                <a:latin typeface="Aptos"/>
                <a:ea typeface="Aptos"/>
                <a:cs typeface="Aptos"/>
              </a:rPr>
              <a:t>Group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5B83AA8-95E7-4410-89E0-EB071822D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714875" y="3981450"/>
            <a:ext cx="2619375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5B7082"/>
            </a:solidFill>
          </a:ln>
        </p:spPr>
      </p:sp>
      <p:sp>
        <p:nvSpPr>
          <p:cNvPr id="18" name="Sprite references">
            <a:extLst xmlns:a="http://schemas.openxmlformats.org/drawingml/2006/main">
              <a:ext uri="{FF2B5EF4-FFF2-40B4-BE49-F238E27FC236}">
                <a16:creationId xmlns:a16="http://schemas.microsoft.com/office/drawing/2014/main" id="{CB1B3302-28C0-4081-9A04-E41E311F2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7275" y="4076700"/>
            <a:ext cx="2333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72C40"/>
                </a:solidFill>
                <a:latin typeface="Aptos"/>
                <a:ea typeface="Aptos"/>
                <a:cs typeface="Aptos"/>
              </a:rPr>
              <a:t>Sprite references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7F527D8-2B1D-439C-B7CF-3AA9A1119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714875" y="4352925"/>
            <a:ext cx="2619375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5B7082"/>
            </a:solidFill>
          </a:ln>
        </p:spPr>
      </p:sp>
      <p:sp>
        <p:nvSpPr>
          <p:cNvPr id="20" name="add(), update(), draw()">
            <a:extLst xmlns:a="http://schemas.openxmlformats.org/drawingml/2006/main">
              <a:ext uri="{FF2B5EF4-FFF2-40B4-BE49-F238E27FC236}">
                <a16:creationId xmlns:a16="http://schemas.microsoft.com/office/drawing/2014/main" id="{2AD9DFAE-BF6E-408C-93F7-5F4E0EA9F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7275" y="4438650"/>
            <a:ext cx="23336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72C40"/>
                </a:solidFill>
                <a:latin typeface="Aptos"/>
                <a:ea typeface="Aptos"/>
                <a:cs typeface="Aptos"/>
              </a:rPr>
              <a:t>add(), update(), draw()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6FDB234-C0FE-47AD-AE86-BADDD1B28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3524250"/>
            <a:ext cx="261937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72C40"/>
            </a:solidFill>
          </a:ln>
        </p:spPr>
      </p:sp>
      <p:sp>
        <p:nvSpPr>
          <p:cNvPr id="22" name="Actor">
            <a:extLst xmlns:a="http://schemas.openxmlformats.org/drawingml/2006/main">
              <a:ext uri="{FF2B5EF4-FFF2-40B4-BE49-F238E27FC236}">
                <a16:creationId xmlns:a16="http://schemas.microsoft.com/office/drawing/2014/main" id="{8115FEC3-8156-42CD-B11E-5AE9D7226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3525" y="3609975"/>
            <a:ext cx="23145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75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75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75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75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75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75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75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75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75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875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72C40"/>
                </a:solidFill>
                <a:latin typeface="Aptos"/>
                <a:ea typeface="Aptos"/>
                <a:cs typeface="Aptos"/>
              </a:rPr>
              <a:t>Actor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1AA908D-55A8-46D1-BC0B-3D497D62D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9001125" y="3981450"/>
            <a:ext cx="2619375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172C40"/>
            </a:solidFill>
          </a:ln>
        </p:spPr>
      </p:sp>
      <p:sp>
        <p:nvSpPr>
          <p:cNvPr id="24" name="pos, velocity">
            <a:extLst xmlns:a="http://schemas.openxmlformats.org/drawingml/2006/main">
              <a:ext uri="{FF2B5EF4-FFF2-40B4-BE49-F238E27FC236}">
                <a16:creationId xmlns:a16="http://schemas.microsoft.com/office/drawing/2014/main" id="{7730A375-CE7F-4B15-9F80-780910392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3525" y="4076700"/>
            <a:ext cx="2333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72C40"/>
                </a:solidFill>
                <a:latin typeface="Aptos"/>
                <a:ea typeface="Aptos"/>
                <a:cs typeface="Aptos"/>
              </a:rPr>
              <a:t>pos, velocity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DBE1868-5E9F-400C-AA16-87F674302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9001125" y="4352925"/>
            <a:ext cx="2619375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172C40"/>
            </a:solidFill>
          </a:ln>
        </p:spPr>
      </p:sp>
      <p:sp>
        <p:nvSpPr>
          <p:cNvPr id="26" name="update(dt)">
            <a:extLst xmlns:a="http://schemas.openxmlformats.org/drawingml/2006/main">
              <a:ext uri="{FF2B5EF4-FFF2-40B4-BE49-F238E27FC236}">
                <a16:creationId xmlns:a16="http://schemas.microsoft.com/office/drawing/2014/main" id="{9719DC03-9031-4DE9-8C38-36C28FD7D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3525" y="4438650"/>
            <a:ext cx="23336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72C40"/>
                </a:solidFill>
                <a:latin typeface="Aptos"/>
                <a:ea typeface="Aptos"/>
                <a:cs typeface="Aptos"/>
              </a:rPr>
              <a:t>update(dt)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081D359-9AD5-4303-958D-BF717D4FD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1666875"/>
            <a:ext cx="261937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A66D08"/>
            </a:solidFill>
          </a:ln>
        </p:spPr>
      </p:sp>
      <p:sp>
        <p:nvSpPr>
          <p:cNvPr id="28" name="Bullet">
            <a:extLst xmlns:a="http://schemas.openxmlformats.org/drawingml/2006/main">
              <a:ext uri="{FF2B5EF4-FFF2-40B4-BE49-F238E27FC236}">
                <a16:creationId xmlns:a16="http://schemas.microsoft.com/office/drawing/2014/main" id="{6F7F72FA-F945-4C9B-BF77-1A2A079F8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3525" y="1752600"/>
            <a:ext cx="23145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A66D0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75" b="1">
                <a:solidFill>
                  <a:srgbClr val="A66D0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75" b="1">
                <a:solidFill>
                  <a:srgbClr val="A66D0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75" b="1">
                <a:solidFill>
                  <a:srgbClr val="A66D0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75" b="1">
                <a:solidFill>
                  <a:srgbClr val="A66D0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75" b="1">
                <a:solidFill>
                  <a:srgbClr val="A66D0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75" b="1">
                <a:solidFill>
                  <a:srgbClr val="A66D0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75" b="1">
                <a:solidFill>
                  <a:srgbClr val="A66D0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75" b="1">
                <a:solidFill>
                  <a:srgbClr val="A66D0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75" b="1">
                <a:solidFill>
                  <a:srgbClr val="A66D08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875" b="1">
                <a:solidFill>
                  <a:srgbClr val="A66D08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A66D08"/>
                </a:solidFill>
                <a:latin typeface="Aptos"/>
                <a:ea typeface="Aptos"/>
                <a:cs typeface="Aptos"/>
              </a:rPr>
              <a:t>Bullet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575551B-7660-4082-824D-A113C345E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9001125" y="2124075"/>
            <a:ext cx="2619375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A66D08"/>
            </a:solidFill>
          </a:ln>
        </p:spPr>
      </p:sp>
      <p:sp>
        <p:nvSpPr>
          <p:cNvPr id="30" name="owner, damage">
            <a:extLst xmlns:a="http://schemas.openxmlformats.org/drawingml/2006/main">
              <a:ext uri="{FF2B5EF4-FFF2-40B4-BE49-F238E27FC236}">
                <a16:creationId xmlns:a16="http://schemas.microsoft.com/office/drawing/2014/main" id="{5E44C230-57ED-4A15-9E66-D61A9E366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3525" y="2219325"/>
            <a:ext cx="2333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72C40"/>
                </a:solidFill>
                <a:latin typeface="Aptos"/>
                <a:ea typeface="Aptos"/>
                <a:cs typeface="Aptos"/>
              </a:rPr>
              <a:t>owner, damage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7F8F97A-A1E3-4D1D-8170-70E6C504F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9001125" y="2495550"/>
            <a:ext cx="2619375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A66D08"/>
            </a:solidFill>
          </a:ln>
        </p:spPr>
      </p:sp>
      <p:sp>
        <p:nvSpPr>
          <p:cNvPr id="32" name="update(dt)">
            <a:extLst xmlns:a="http://schemas.openxmlformats.org/drawingml/2006/main">
              <a:ext uri="{FF2B5EF4-FFF2-40B4-BE49-F238E27FC236}">
                <a16:creationId xmlns:a16="http://schemas.microsoft.com/office/drawing/2014/main" id="{4AF795FB-6A58-4D25-90AB-AD98A63F4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3525" y="2581275"/>
            <a:ext cx="23336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72C40"/>
                </a:solidFill>
                <a:latin typeface="Aptos"/>
                <a:ea typeface="Aptos"/>
                <a:cs typeface="Aptos"/>
              </a:rPr>
              <a:t>update(dt)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FDEFED7-4CCE-44DD-A11B-3BE2C33AD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1809750" y="2200275"/>
            <a:ext cx="0" cy="80010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172C40"/>
            </a:solidFill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65AEFA6-9CE9-4C2C-B7C8-48308BDAA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809750" y="2200275"/>
            <a:ext cx="2905125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172C40"/>
            </a:solidFill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F29F72F-770E-4B77-A2F3-98CE007E1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4622926" y="2200275"/>
            <a:ext cx="91949" cy="50232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172C40"/>
            </a:solidFill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F98B1DF-D40A-4E1A-B8D8-E058B3E22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4622926" y="2150043"/>
            <a:ext cx="91949" cy="50232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172C40"/>
            </a:solidFill>
          </a:ln>
        </p:spPr>
      </p:sp>
      <p:sp>
        <p:nvSpPr>
          <p:cNvPr id="37" name="player">
            <a:extLst xmlns:a="http://schemas.openxmlformats.org/drawingml/2006/main">
              <a:ext uri="{FF2B5EF4-FFF2-40B4-BE49-F238E27FC236}">
                <a16:creationId xmlns:a16="http://schemas.microsoft.com/office/drawing/2014/main" id="{4561881F-43CC-411D-9E9E-2FE02D709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1838325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72C40"/>
                </a:solidFill>
                <a:latin typeface="Aptos"/>
                <a:ea typeface="Aptos"/>
                <a:cs typeface="Aptos"/>
              </a:rPr>
              <a:t>player</a:t>
            </a:r>
          </a:p>
        </p:txBody>
      </p:sp>
      <p:sp>
        <p:nvSpPr>
          <p:cNvPr id="38" name="1">
            <a:extLst xmlns:a="http://schemas.openxmlformats.org/drawingml/2006/main">
              <a:ext uri="{FF2B5EF4-FFF2-40B4-BE49-F238E27FC236}">
                <a16:creationId xmlns:a16="http://schemas.microsoft.com/office/drawing/2014/main" id="{E4FBF621-FDF6-4859-B502-05BC9F8AB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0075" y="2286000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72C40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39" name="1">
            <a:extLst xmlns:a="http://schemas.openxmlformats.org/drawingml/2006/main">
              <a:ext uri="{FF2B5EF4-FFF2-40B4-BE49-F238E27FC236}">
                <a16:creationId xmlns:a16="http://schemas.microsoft.com/office/drawing/2014/main" id="{A593AE62-FD9D-4EB1-93CD-62DF08BE1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2695575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72C40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FC36971-7450-400A-9433-12B056015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095625" y="4048125"/>
            <a:ext cx="1619250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172C40"/>
            </a:solidFill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DBF3AF2-4946-46C7-B292-C746483CE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4622926" y="4048125"/>
            <a:ext cx="91949" cy="50232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172C40"/>
            </a:solidFill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9D767B7-B505-4A42-8C5F-01B75223E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4622926" y="3997893"/>
            <a:ext cx="91949" cy="50232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172C40"/>
            </a:solidFill>
          </a:ln>
        </p:spPr>
      </p:sp>
      <p:sp>
        <p:nvSpPr>
          <p:cNvPr id="43" name="groups">
            <a:extLst xmlns:a="http://schemas.openxmlformats.org/drawingml/2006/main">
              <a:ext uri="{FF2B5EF4-FFF2-40B4-BE49-F238E27FC236}">
                <a16:creationId xmlns:a16="http://schemas.microsoft.com/office/drawing/2014/main" id="{F2B9B612-17F7-4EC1-8A58-AC2056100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5175" y="3705225"/>
            <a:ext cx="1285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72C40"/>
                </a:solidFill>
                <a:latin typeface="Aptos"/>
                <a:ea typeface="Aptos"/>
                <a:cs typeface="Aptos"/>
              </a:rPr>
              <a:t>groups</a:t>
            </a:r>
          </a:p>
        </p:txBody>
      </p:sp>
      <p:sp>
        <p:nvSpPr>
          <p:cNvPr id="44" name="1">
            <a:extLst xmlns:a="http://schemas.openxmlformats.org/drawingml/2006/main">
              <a:ext uri="{FF2B5EF4-FFF2-40B4-BE49-F238E27FC236}">
                <a16:creationId xmlns:a16="http://schemas.microsoft.com/office/drawing/2014/main" id="{F8DFAE17-4FE8-4EC1-8A4F-02366ED94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4171950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72C40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45" name="3">
            <a:extLst xmlns:a="http://schemas.openxmlformats.org/drawingml/2006/main">
              <a:ext uri="{FF2B5EF4-FFF2-40B4-BE49-F238E27FC236}">
                <a16:creationId xmlns:a16="http://schemas.microsoft.com/office/drawing/2014/main" id="{59406CDB-6B0D-4B2B-8BE0-CC3838A65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171950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72C40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7ACFEF2-7DC4-445D-9FD3-3AEABD701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334250" y="4048125"/>
            <a:ext cx="1666875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172C40"/>
            </a:solidFill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3D24F8B-B8DD-42A6-A100-9798F12D2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8909176" y="4048125"/>
            <a:ext cx="91949" cy="50232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172C40"/>
            </a:solidFill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69D10664-D968-4B73-B55C-8ADC04436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8909176" y="3997893"/>
            <a:ext cx="91949" cy="50232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172C40"/>
            </a:solidFill>
          </a:ln>
        </p:spPr>
      </p:sp>
      <p:sp>
        <p:nvSpPr>
          <p:cNvPr id="49" name="members">
            <a:extLst xmlns:a="http://schemas.openxmlformats.org/drawingml/2006/main">
              <a:ext uri="{FF2B5EF4-FFF2-40B4-BE49-F238E27FC236}">
                <a16:creationId xmlns:a16="http://schemas.microsoft.com/office/drawing/2014/main" id="{31C4431E-6D2D-4495-912A-829C826F1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3695700"/>
            <a:ext cx="133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72C40"/>
                </a:solidFill>
                <a:latin typeface="Aptos"/>
                <a:ea typeface="Aptos"/>
                <a:cs typeface="Aptos"/>
              </a:rPr>
              <a:t>members</a:t>
            </a:r>
          </a:p>
        </p:txBody>
      </p:sp>
      <p:sp>
        <p:nvSpPr>
          <p:cNvPr id="50" name="0..*">
            <a:extLst xmlns:a="http://schemas.openxmlformats.org/drawingml/2006/main">
              <a:ext uri="{FF2B5EF4-FFF2-40B4-BE49-F238E27FC236}">
                <a16:creationId xmlns:a16="http://schemas.microsoft.com/office/drawing/2014/main" id="{1947E83C-191E-46BD-B4F7-437FF8733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4171950"/>
            <a:ext cx="619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72C40"/>
                </a:solidFill>
                <a:latin typeface="Aptos"/>
                <a:ea typeface="Aptos"/>
                <a:cs typeface="Aptos"/>
              </a:rPr>
              <a:t>0..*</a:t>
            </a:r>
          </a:p>
        </p:txBody>
      </p:sp>
      <p:sp>
        <p:nvSpPr>
          <p:cNvPr id="51" name="0..*">
            <a:extLst xmlns:a="http://schemas.openxmlformats.org/drawingml/2006/main">
              <a:ext uri="{FF2B5EF4-FFF2-40B4-BE49-F238E27FC236}">
                <a16:creationId xmlns:a16="http://schemas.microsoft.com/office/drawing/2014/main" id="{7E34274E-4B81-4422-9DDD-1E07AEC12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171950"/>
            <a:ext cx="619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72C40"/>
                </a:solidFill>
                <a:latin typeface="Aptos"/>
                <a:ea typeface="Aptos"/>
                <a:cs typeface="Aptos"/>
              </a:rPr>
              <a:t>0..*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7E259FE4-21F3-4350-AFE2-4DD6BA0F7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7334250" y="2238375"/>
            <a:ext cx="1666875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A66D08"/>
            </a:solidFill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9745A2DF-6E23-46E4-81C1-1B36931C2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7334250" y="2188143"/>
            <a:ext cx="91949" cy="50232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A66D08"/>
            </a:solidFill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82DB4431-B381-4DCB-93F6-873775FBD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334250" y="2238375"/>
            <a:ext cx="91949" cy="50232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A66D08"/>
            </a:solidFill>
          </a:ln>
        </p:spPr>
      </p:sp>
      <p:sp>
        <p:nvSpPr>
          <p:cNvPr id="55" name="owner">
            <a:extLst xmlns:a="http://schemas.openxmlformats.org/drawingml/2006/main">
              <a:ext uri="{FF2B5EF4-FFF2-40B4-BE49-F238E27FC236}">
                <a16:creationId xmlns:a16="http://schemas.microsoft.com/office/drawing/2014/main" id="{E76BD4EF-5C48-401D-A4C4-806027043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1857375"/>
            <a:ext cx="95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66D0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75" b="0">
                <a:solidFill>
                  <a:srgbClr val="A66D0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75" b="0">
                <a:solidFill>
                  <a:srgbClr val="A66D0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75" b="0">
                <a:solidFill>
                  <a:srgbClr val="A66D0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75" b="0">
                <a:solidFill>
                  <a:srgbClr val="A66D0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75" b="0">
                <a:solidFill>
                  <a:srgbClr val="A66D0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75" b="0">
                <a:solidFill>
                  <a:srgbClr val="A66D0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75" b="0">
                <a:solidFill>
                  <a:srgbClr val="A66D0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75" b="0">
                <a:solidFill>
                  <a:srgbClr val="A66D0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75" b="0">
                <a:solidFill>
                  <a:srgbClr val="A66D08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A66D08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A66D08"/>
                </a:solidFill>
                <a:latin typeface="Aptos"/>
                <a:ea typeface="Aptos"/>
                <a:cs typeface="Aptos"/>
              </a:rPr>
              <a:t>owner</a:t>
            </a:r>
          </a:p>
        </p:txBody>
      </p:sp>
      <p:sp>
        <p:nvSpPr>
          <p:cNvPr id="56" name="1">
            <a:extLst xmlns:a="http://schemas.openxmlformats.org/drawingml/2006/main">
              <a:ext uri="{FF2B5EF4-FFF2-40B4-BE49-F238E27FC236}">
                <a16:creationId xmlns:a16="http://schemas.microsoft.com/office/drawing/2014/main" id="{869D1E40-72CB-4546-9EB2-9BE2CB5A6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333625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72C40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57" name="0..*">
            <a:extLst xmlns:a="http://schemas.openxmlformats.org/drawingml/2006/main">
              <a:ext uri="{FF2B5EF4-FFF2-40B4-BE49-F238E27FC236}">
                <a16:creationId xmlns:a16="http://schemas.microsoft.com/office/drawing/2014/main" id="{F56FE7D5-D871-4E8B-970A-99BE9FBDB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333625"/>
            <a:ext cx="619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72C40"/>
                </a:solidFill>
                <a:latin typeface="Aptos"/>
                <a:ea typeface="Aptos"/>
                <a:cs typeface="Aptos"/>
              </a:rPr>
              <a:t>0..*</a:t>
            </a:r>
          </a:p>
        </p:txBody>
      </p:sp>
      <p:sp>
        <p:nvSpPr>
          <p:cNvPr id="58" name="groups = all_sprites, enemies, bullets">
            <a:extLst xmlns:a="http://schemas.openxmlformats.org/drawingml/2006/main">
              <a:ext uri="{FF2B5EF4-FFF2-40B4-BE49-F238E27FC236}">
                <a16:creationId xmlns:a16="http://schemas.microsoft.com/office/drawing/2014/main" id="{69944D7A-1829-4D8D-A624-7D7026DA2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38750"/>
            <a:ext cx="11001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7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7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7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7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7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7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7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7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7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5B7082"/>
                </a:solidFill>
                <a:latin typeface="Aptos"/>
                <a:ea typeface="Aptos"/>
                <a:cs typeface="Aptos"/>
              </a:rPr>
              <a:t>groups = all_sprites, enemies, bullets</a:t>
            </a:r>
          </a:p>
        </p:txBody>
      </p:sp>
      <p:sp>
        <p:nvSpPr>
          <p:cNvPr id="59" name="Each Bullet references one Player; many Bullets can reference that same Player.">
            <a:extLst xmlns:a="http://schemas.openxmlformats.org/drawingml/2006/main">
              <a:ext uri="{FF2B5EF4-FFF2-40B4-BE49-F238E27FC236}">
                <a16:creationId xmlns:a16="http://schemas.microsoft.com/office/drawing/2014/main" id="{F7E4E712-B8F2-40C7-90DA-86DBF47E6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905500"/>
            <a:ext cx="5238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B7082"/>
                </a:solidFill>
                <a:latin typeface="Aptos"/>
                <a:ea typeface="Aptos"/>
                <a:cs typeface="Aptos"/>
              </a:rPr>
              <a:t>Each Bullet references one Player; many Bullets can reference that same Player.</a:t>
            </a:r>
          </a:p>
        </p:txBody>
      </p:sp>
      <p:sp>
        <p:nvSpPr>
          <p:cNvPr id="60" name="Group membership is not exclusive ownership, so no composition diamond is used.">
            <a:extLst xmlns:a="http://schemas.openxmlformats.org/drawingml/2006/main">
              <a:ext uri="{FF2B5EF4-FFF2-40B4-BE49-F238E27FC236}">
                <a16:creationId xmlns:a16="http://schemas.microsoft.com/office/drawing/2014/main" id="{6C7EDCE9-7AE9-42C3-A574-8E63DFDF2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905500"/>
            <a:ext cx="5238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B7082"/>
                </a:solidFill>
                <a:latin typeface="Aptos"/>
                <a:ea typeface="Aptos"/>
                <a:cs typeface="Aptos"/>
              </a:rPr>
              <a:t>Group membership is not exclusive ownership, so no composition diamond is used.</a:t>
            </a:r>
          </a:p>
        </p:txBody>
      </p:sp>
      <p:sp>
        <p:nvSpPr>
          <p:cNvPr id="61" name="10">
            <a:extLst xmlns:a="http://schemas.openxmlformats.org/drawingml/2006/main">
              <a:ext uri="{FF2B5EF4-FFF2-40B4-BE49-F238E27FC236}">
                <a16:creationId xmlns:a16="http://schemas.microsoft.com/office/drawing/2014/main" id="{C3A33B80-A9A0-4F96-9E80-606052FB4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05575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B7082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5162856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Object diagram: one player, two references">
            <a:extLst xmlns:a="http://schemas.openxmlformats.org/drawingml/2006/main">
              <a:ext uri="{FF2B5EF4-FFF2-40B4-BE49-F238E27FC236}">
                <a16:creationId xmlns:a16="http://schemas.microsoft.com/office/drawing/2014/main" id="{B1AA9EC9-6F8E-42AA-B7AA-1DC91C72F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2862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pPr>
            <a:r>
              <a:rPr sz="3300" b="1">
                <a:solidFill>
                  <a:srgbClr val="172C40"/>
                </a:solidFill>
                <a:latin typeface="Aptos"/>
                <a:ea typeface="Aptos"/>
                <a:cs typeface="Aptos"/>
              </a:rPr>
              <a:t>Object diagram: one player, two references</a:t>
            </a:r>
          </a:p>
        </p:txBody>
      </p:sp>
      <p:sp>
        <p:nvSpPr>
          <p:cNvPr id="2" name="Paused snapshot: 1 Player, 3 Enemies, 2 Bullets">
            <a:extLst xmlns:a="http://schemas.openxmlformats.org/drawingml/2006/main">
              <a:ext uri="{FF2B5EF4-FFF2-40B4-BE49-F238E27FC236}">
                <a16:creationId xmlns:a16="http://schemas.microsoft.com/office/drawing/2014/main" id="{F44C5DCB-4F35-4472-85FF-2C9F087AE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181100"/>
            <a:ext cx="11001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5B7082"/>
                </a:solidFill>
                <a:latin typeface="Aptos"/>
                <a:ea typeface="Aptos"/>
                <a:cs typeface="Aptos"/>
              </a:rPr>
              <a:t>Paused snapshot: 1 Player, 3 Enemies, 2 Bullets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A67C9F-8249-4E54-853F-02BB516B6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66875"/>
            <a:ext cx="3095625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A66D08"/>
            </a:solidFill>
          </a:ln>
        </p:spPr>
      </p:sp>
      <p:sp>
        <p:nvSpPr>
          <p:cNvPr id="4" name="B01 : Bullet">
            <a:extLst xmlns:a="http://schemas.openxmlformats.org/drawingml/2006/main">
              <a:ext uri="{FF2B5EF4-FFF2-40B4-BE49-F238E27FC236}">
                <a16:creationId xmlns:a16="http://schemas.microsoft.com/office/drawing/2014/main" id="{28E9DA09-8CBE-4355-B4F6-663D320C6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52600"/>
            <a:ext cx="27908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A66D0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75" b="1">
                <a:solidFill>
                  <a:srgbClr val="A66D0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75" b="1">
                <a:solidFill>
                  <a:srgbClr val="A66D0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75" b="1">
                <a:solidFill>
                  <a:srgbClr val="A66D0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75" b="1">
                <a:solidFill>
                  <a:srgbClr val="A66D0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75" b="1">
                <a:solidFill>
                  <a:srgbClr val="A66D0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75" b="1">
                <a:solidFill>
                  <a:srgbClr val="A66D0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75" b="1">
                <a:solidFill>
                  <a:srgbClr val="A66D0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75" b="1">
                <a:solidFill>
                  <a:srgbClr val="A66D0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75" b="1">
                <a:solidFill>
                  <a:srgbClr val="A66D08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875" b="1">
                <a:solidFill>
                  <a:srgbClr val="A66D08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A66D08"/>
                </a:solidFill>
                <a:latin typeface="Aptos"/>
                <a:ea typeface="Aptos"/>
                <a:cs typeface="Aptos"/>
              </a:rPr>
              <a:t>B01 : Bullet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0A2303-1A6B-4C19-8DCE-21C1ED4D2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23900" y="2019300"/>
            <a:ext cx="1600200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A66D08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996C6C-3578-4327-BC65-469BE09C4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71500" y="2124075"/>
            <a:ext cx="3095625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A66D08"/>
            </a:solidFill>
          </a:ln>
        </p:spPr>
      </p:sp>
      <p:sp>
        <p:nvSpPr>
          <p:cNvPr id="7" name="damage = 1 owner → player">
            <a:extLst xmlns:a="http://schemas.openxmlformats.org/drawingml/2006/main">
              <a:ext uri="{FF2B5EF4-FFF2-40B4-BE49-F238E27FC236}">
                <a16:creationId xmlns:a16="http://schemas.microsoft.com/office/drawing/2014/main" id="{8375C036-4146-47BD-BE87-342BC5982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19325"/>
            <a:ext cx="28098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72C40"/>
                </a:solidFill>
                <a:latin typeface="Aptos"/>
                <a:ea typeface="Aptos"/>
                <a:cs typeface="Aptos"/>
              </a:rPr>
              <a:t>damage = 1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72C40"/>
                </a:solidFill>
                <a:latin typeface="Aptos"/>
                <a:ea typeface="Aptos"/>
                <a:cs typeface="Aptos"/>
              </a:rPr>
              <a:t>owner → player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89AC9C8-DF5F-4F27-92DE-6054A0EBE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0"/>
            <a:ext cx="3095625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A66D08"/>
            </a:solidFill>
          </a:ln>
        </p:spPr>
      </p:sp>
      <p:sp>
        <p:nvSpPr>
          <p:cNvPr id="9" name="B02 : Bullet">
            <a:extLst xmlns:a="http://schemas.openxmlformats.org/drawingml/2006/main">
              <a:ext uri="{FF2B5EF4-FFF2-40B4-BE49-F238E27FC236}">
                <a16:creationId xmlns:a16="http://schemas.microsoft.com/office/drawing/2014/main" id="{278F37CB-7E1C-42AF-B427-1B3C8E07C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86225"/>
            <a:ext cx="27908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A66D0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75" b="1">
                <a:solidFill>
                  <a:srgbClr val="A66D0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75" b="1">
                <a:solidFill>
                  <a:srgbClr val="A66D0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75" b="1">
                <a:solidFill>
                  <a:srgbClr val="A66D0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75" b="1">
                <a:solidFill>
                  <a:srgbClr val="A66D0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75" b="1">
                <a:solidFill>
                  <a:srgbClr val="A66D0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75" b="1">
                <a:solidFill>
                  <a:srgbClr val="A66D0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75" b="1">
                <a:solidFill>
                  <a:srgbClr val="A66D0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75" b="1">
                <a:solidFill>
                  <a:srgbClr val="A66D0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75" b="1">
                <a:solidFill>
                  <a:srgbClr val="A66D08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875" b="1">
                <a:solidFill>
                  <a:srgbClr val="A66D08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A66D08"/>
                </a:solidFill>
                <a:latin typeface="Aptos"/>
                <a:ea typeface="Aptos"/>
                <a:cs typeface="Aptos"/>
              </a:rPr>
              <a:t>B02 : Bullet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A6992BF-6E9F-4380-B7A4-292F8B468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23900" y="4352925"/>
            <a:ext cx="1600200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A66D08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42E49A7-2BF8-4790-B4F1-F97962BE5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71500" y="4457700"/>
            <a:ext cx="3095625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A66D08"/>
            </a:solidFill>
          </a:ln>
        </p:spPr>
      </p:sp>
      <p:sp>
        <p:nvSpPr>
          <p:cNvPr id="12" name="damage = 1 owner → player">
            <a:extLst xmlns:a="http://schemas.openxmlformats.org/drawingml/2006/main">
              <a:ext uri="{FF2B5EF4-FFF2-40B4-BE49-F238E27FC236}">
                <a16:creationId xmlns:a16="http://schemas.microsoft.com/office/drawing/2014/main" id="{4F7DFFC4-325C-4A76-BC75-30833EF75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52950"/>
            <a:ext cx="28098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72C40"/>
                </a:solidFill>
                <a:latin typeface="Aptos"/>
                <a:ea typeface="Aptos"/>
                <a:cs typeface="Aptos"/>
              </a:rPr>
              <a:t>damage = 1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72C40"/>
                </a:solidFill>
                <a:latin typeface="Aptos"/>
                <a:ea typeface="Aptos"/>
                <a:cs typeface="Aptos"/>
              </a:rPr>
              <a:t>owner → player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88A96CE-CDCE-4C8C-8E08-7EC056951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2857500"/>
            <a:ext cx="2952750" cy="1285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87C62"/>
            </a:solidFill>
          </a:ln>
        </p:spPr>
      </p:sp>
      <p:sp>
        <p:nvSpPr>
          <p:cNvPr id="14" name="player : Player">
            <a:extLst xmlns:a="http://schemas.openxmlformats.org/drawingml/2006/main">
              <a:ext uri="{FF2B5EF4-FFF2-40B4-BE49-F238E27FC236}">
                <a16:creationId xmlns:a16="http://schemas.microsoft.com/office/drawing/2014/main" id="{9C2701B4-CC92-4C63-867E-738970500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943225"/>
            <a:ext cx="26479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7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7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7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7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7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7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7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7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7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87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087C62"/>
                </a:solidFill>
                <a:latin typeface="Aptos"/>
                <a:ea typeface="Aptos"/>
                <a:cs typeface="Aptos"/>
              </a:rPr>
              <a:t>player : Player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C7E0500-2A83-40F4-BF81-869CD2435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086350" y="3209925"/>
            <a:ext cx="2000250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087C62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857FFBE-0933-4DF5-81A9-83756902C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933950" y="3314700"/>
            <a:ext cx="2952750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087C62"/>
            </a:solidFill>
          </a:ln>
        </p:spPr>
      </p:sp>
      <p:sp>
        <p:nvSpPr>
          <p:cNvPr id="17" name="hp = 3 pos = (394, 664)">
            <a:extLst xmlns:a="http://schemas.openxmlformats.org/drawingml/2006/main">
              <a:ext uri="{FF2B5EF4-FFF2-40B4-BE49-F238E27FC236}">
                <a16:creationId xmlns:a16="http://schemas.microsoft.com/office/drawing/2014/main" id="{D82A3AFA-BC3E-4BD5-95F1-797705724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3409950"/>
            <a:ext cx="2667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72C40"/>
                </a:solidFill>
                <a:latin typeface="Aptos"/>
                <a:ea typeface="Aptos"/>
                <a:cs typeface="Aptos"/>
              </a:rPr>
              <a:t>hp = 3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72C40"/>
                </a:solidFill>
                <a:latin typeface="Aptos"/>
                <a:ea typeface="Aptos"/>
                <a:cs typeface="Aptos"/>
              </a:rPr>
              <a:t>pos = (394, 664)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550FAEF-308F-4380-9407-72CFE0F1B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667125" y="2305050"/>
            <a:ext cx="1266825" cy="790575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A66D08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96C98C1-116B-4951-8641-E5E79498D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4829351" y="3089559"/>
            <a:ext cx="104599" cy="6066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A66D08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3E5A6C1-B7D2-42D1-8428-508218A3E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4882539" y="3004331"/>
            <a:ext cx="51411" cy="91294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A66D08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0427F3D-B27D-4FB8-86AD-D7B691D0F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3667125" y="3857625"/>
            <a:ext cx="1266825" cy="714375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A66D08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5A35EF2-13F2-41BB-9388-341B03E34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4878532" y="3857625"/>
            <a:ext cx="55418" cy="88919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A66D08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E026A48-C10A-4D1C-A694-C948393B8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4829184" y="3857625"/>
            <a:ext cx="104766" cy="141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A66D08"/>
            </a:solidFill>
          </a:ln>
        </p:spPr>
      </p:sp>
      <p:sp>
        <p:nvSpPr>
          <p:cNvPr id="24" name="owner">
            <a:extLst xmlns:a="http://schemas.openxmlformats.org/drawingml/2006/main">
              <a:ext uri="{FF2B5EF4-FFF2-40B4-BE49-F238E27FC236}">
                <a16:creationId xmlns:a16="http://schemas.microsoft.com/office/drawing/2014/main" id="{51B17FEC-4129-4840-ABDC-EB144C629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2362200"/>
            <a:ext cx="95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66D0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75" b="0">
                <a:solidFill>
                  <a:srgbClr val="A66D0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75" b="0">
                <a:solidFill>
                  <a:srgbClr val="A66D0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75" b="0">
                <a:solidFill>
                  <a:srgbClr val="A66D0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75" b="0">
                <a:solidFill>
                  <a:srgbClr val="A66D0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75" b="0">
                <a:solidFill>
                  <a:srgbClr val="A66D0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75" b="0">
                <a:solidFill>
                  <a:srgbClr val="A66D0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75" b="0">
                <a:solidFill>
                  <a:srgbClr val="A66D0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75" b="0">
                <a:solidFill>
                  <a:srgbClr val="A66D0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75" b="0">
                <a:solidFill>
                  <a:srgbClr val="A66D08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A66D08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A66D08"/>
                </a:solidFill>
                <a:latin typeface="Aptos"/>
                <a:ea typeface="Aptos"/>
                <a:cs typeface="Aptos"/>
              </a:rPr>
              <a:t>owner</a:t>
            </a:r>
          </a:p>
        </p:txBody>
      </p:sp>
      <p:sp>
        <p:nvSpPr>
          <p:cNvPr id="25" name="owner">
            <a:extLst xmlns:a="http://schemas.openxmlformats.org/drawingml/2006/main">
              <a:ext uri="{FF2B5EF4-FFF2-40B4-BE49-F238E27FC236}">
                <a16:creationId xmlns:a16="http://schemas.microsoft.com/office/drawing/2014/main" id="{5ACC2920-1B3F-4F72-BDE2-3CEFCAE36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333875"/>
            <a:ext cx="95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66D0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75" b="0">
                <a:solidFill>
                  <a:srgbClr val="A66D0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75" b="0">
                <a:solidFill>
                  <a:srgbClr val="A66D0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75" b="0">
                <a:solidFill>
                  <a:srgbClr val="A66D0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75" b="0">
                <a:solidFill>
                  <a:srgbClr val="A66D0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75" b="0">
                <a:solidFill>
                  <a:srgbClr val="A66D0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75" b="0">
                <a:solidFill>
                  <a:srgbClr val="A66D0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75" b="0">
                <a:solidFill>
                  <a:srgbClr val="A66D0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75" b="0">
                <a:solidFill>
                  <a:srgbClr val="A66D0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75" b="0">
                <a:solidFill>
                  <a:srgbClr val="A66D08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A66D08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A66D08"/>
                </a:solidFill>
                <a:latin typeface="Aptos"/>
                <a:ea typeface="Aptos"/>
                <a:cs typeface="Aptos"/>
              </a:rPr>
              <a:t>owner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123080E-3951-4301-949F-30FF2CF68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1666875"/>
            <a:ext cx="26670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BF4A44"/>
            </a:solidFill>
          </a:ln>
        </p:spPr>
      </p:sp>
      <p:sp>
        <p:nvSpPr>
          <p:cNvPr id="27" name="E01 : Enemy">
            <a:extLst xmlns:a="http://schemas.openxmlformats.org/drawingml/2006/main">
              <a:ext uri="{FF2B5EF4-FFF2-40B4-BE49-F238E27FC236}">
                <a16:creationId xmlns:a16="http://schemas.microsoft.com/office/drawing/2014/main" id="{2FC6684B-587A-4895-8024-139D2CBD6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1752600"/>
            <a:ext cx="23622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BF4A44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75" b="1">
                <a:solidFill>
                  <a:srgbClr val="BF4A44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75" b="1">
                <a:solidFill>
                  <a:srgbClr val="BF4A44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75" b="1">
                <a:solidFill>
                  <a:srgbClr val="BF4A44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75" b="1">
                <a:solidFill>
                  <a:srgbClr val="BF4A44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75" b="1">
                <a:solidFill>
                  <a:srgbClr val="BF4A44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75" b="1">
                <a:solidFill>
                  <a:srgbClr val="BF4A44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75" b="1">
                <a:solidFill>
                  <a:srgbClr val="BF4A44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75" b="1">
                <a:solidFill>
                  <a:srgbClr val="BF4A44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75" b="1">
                <a:solidFill>
                  <a:srgbClr val="BF4A44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875" b="1">
                <a:solidFill>
                  <a:srgbClr val="BF4A44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BF4A44"/>
                </a:solidFill>
                <a:latin typeface="Aptos"/>
                <a:ea typeface="Aptos"/>
                <a:cs typeface="Aptos"/>
              </a:rPr>
              <a:t>E01 : Enemy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2CEA505-F7D6-42BC-86C8-A02EC29A7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9105900" y="2019300"/>
            <a:ext cx="1466850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BF4A44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8BDAC96-2C90-4A2F-9641-C544DFE69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8953500" y="2124075"/>
            <a:ext cx="2667000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BF4A44"/>
            </a:solidFill>
          </a:ln>
        </p:spPr>
      </p:sp>
      <p:sp>
        <p:nvSpPr>
          <p:cNvPr id="30" name="hp = 1 velocity.y = 65">
            <a:extLst xmlns:a="http://schemas.openxmlformats.org/drawingml/2006/main">
              <a:ext uri="{FF2B5EF4-FFF2-40B4-BE49-F238E27FC236}">
                <a16:creationId xmlns:a16="http://schemas.microsoft.com/office/drawing/2014/main" id="{70EF11B9-F4FD-465F-B40F-399922880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219325"/>
            <a:ext cx="2381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72C40"/>
                </a:solidFill>
                <a:latin typeface="Aptos"/>
                <a:ea typeface="Aptos"/>
                <a:cs typeface="Aptos"/>
              </a:rPr>
              <a:t>hp = 1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72C40"/>
                </a:solidFill>
                <a:latin typeface="Aptos"/>
                <a:ea typeface="Aptos"/>
                <a:cs typeface="Aptos"/>
              </a:rPr>
              <a:t>velocity.y = 65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A0CF422-ECA0-458F-B070-E126D0A4B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190875"/>
            <a:ext cx="26670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7654B2"/>
            </a:solidFill>
          </a:ln>
        </p:spPr>
      </p:sp>
      <p:sp>
        <p:nvSpPr>
          <p:cNvPr id="32" name="E02 : Enemy">
            <a:extLst xmlns:a="http://schemas.openxmlformats.org/drawingml/2006/main">
              <a:ext uri="{FF2B5EF4-FFF2-40B4-BE49-F238E27FC236}">
                <a16:creationId xmlns:a16="http://schemas.microsoft.com/office/drawing/2014/main" id="{A659D1EF-16C2-4117-BEDC-C86A4C6A5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276600"/>
            <a:ext cx="23622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7654B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75" b="1">
                <a:solidFill>
                  <a:srgbClr val="7654B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75" b="1">
                <a:solidFill>
                  <a:srgbClr val="7654B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75" b="1">
                <a:solidFill>
                  <a:srgbClr val="7654B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75" b="1">
                <a:solidFill>
                  <a:srgbClr val="7654B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75" b="1">
                <a:solidFill>
                  <a:srgbClr val="7654B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75" b="1">
                <a:solidFill>
                  <a:srgbClr val="7654B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75" b="1">
                <a:solidFill>
                  <a:srgbClr val="7654B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75" b="1">
                <a:solidFill>
                  <a:srgbClr val="7654B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75" b="1">
                <a:solidFill>
                  <a:srgbClr val="7654B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875" b="1">
                <a:solidFill>
                  <a:srgbClr val="7654B2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7654B2"/>
                </a:solidFill>
                <a:latin typeface="Aptos"/>
                <a:ea typeface="Aptos"/>
                <a:cs typeface="Aptos"/>
              </a:rPr>
              <a:t>E02 : Enemy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2A7BAEF-4BAF-44E6-8A24-62CFF2D83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9105900" y="3543300"/>
            <a:ext cx="1466850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7654B2"/>
            </a:solidFill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50AEF71-F453-4587-85CA-7D1C2D31F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8953500" y="3648075"/>
            <a:ext cx="2667000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7654B2"/>
            </a:solidFill>
          </a:ln>
        </p:spPr>
      </p:sp>
      <p:sp>
        <p:nvSpPr>
          <p:cNvPr id="35" name="hp = 2 velocity.y = 85">
            <a:extLst xmlns:a="http://schemas.openxmlformats.org/drawingml/2006/main">
              <a:ext uri="{FF2B5EF4-FFF2-40B4-BE49-F238E27FC236}">
                <a16:creationId xmlns:a16="http://schemas.microsoft.com/office/drawing/2014/main" id="{C57532BA-A2AF-4518-8C64-0CACEC064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743325"/>
            <a:ext cx="2381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72C40"/>
                </a:solidFill>
                <a:latin typeface="Aptos"/>
                <a:ea typeface="Aptos"/>
                <a:cs typeface="Aptos"/>
              </a:rPr>
              <a:t>hp = 2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72C40"/>
                </a:solidFill>
                <a:latin typeface="Aptos"/>
                <a:ea typeface="Aptos"/>
                <a:cs typeface="Aptos"/>
              </a:rPr>
              <a:t>velocity.y = 85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943BE78-3E40-4985-ABE5-50C6AA12D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524375"/>
            <a:ext cx="26670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BF4A44"/>
            </a:solidFill>
          </a:ln>
        </p:spPr>
      </p:sp>
      <p:sp>
        <p:nvSpPr>
          <p:cNvPr id="37" name="E03 : Enemy">
            <a:extLst xmlns:a="http://schemas.openxmlformats.org/drawingml/2006/main">
              <a:ext uri="{FF2B5EF4-FFF2-40B4-BE49-F238E27FC236}">
                <a16:creationId xmlns:a16="http://schemas.microsoft.com/office/drawing/2014/main" id="{82203361-A061-4D8E-8CA5-5E888822F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4610100"/>
            <a:ext cx="23622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BF4A44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75" b="1">
                <a:solidFill>
                  <a:srgbClr val="BF4A44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75" b="1">
                <a:solidFill>
                  <a:srgbClr val="BF4A44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75" b="1">
                <a:solidFill>
                  <a:srgbClr val="BF4A44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75" b="1">
                <a:solidFill>
                  <a:srgbClr val="BF4A44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75" b="1">
                <a:solidFill>
                  <a:srgbClr val="BF4A44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75" b="1">
                <a:solidFill>
                  <a:srgbClr val="BF4A44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75" b="1">
                <a:solidFill>
                  <a:srgbClr val="BF4A44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75" b="1">
                <a:solidFill>
                  <a:srgbClr val="BF4A44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75" b="1">
                <a:solidFill>
                  <a:srgbClr val="BF4A44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875" b="1">
                <a:solidFill>
                  <a:srgbClr val="BF4A44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BF4A44"/>
                </a:solidFill>
                <a:latin typeface="Aptos"/>
                <a:ea typeface="Aptos"/>
                <a:cs typeface="Aptos"/>
              </a:rPr>
              <a:t>E03 : Enemy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731A983-455A-46AD-9E40-7588B379F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9105900" y="4876800"/>
            <a:ext cx="1466850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BF4A44"/>
            </a:solidFill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56B2A59-9C65-45BB-83B2-7B05D2AB4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8953500" y="4981575"/>
            <a:ext cx="2667000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BF4A44"/>
            </a:solidFill>
          </a:ln>
        </p:spPr>
      </p:sp>
      <p:sp>
        <p:nvSpPr>
          <p:cNvPr id="40" name="hp = 1 velocity.y = 100">
            <a:extLst xmlns:a="http://schemas.openxmlformats.org/drawingml/2006/main">
              <a:ext uri="{FF2B5EF4-FFF2-40B4-BE49-F238E27FC236}">
                <a16:creationId xmlns:a16="http://schemas.microsoft.com/office/drawing/2014/main" id="{90CF38DF-13A4-4A8A-AE9A-2A1EB4B7B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5076825"/>
            <a:ext cx="2381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72C40"/>
                </a:solidFill>
                <a:latin typeface="Aptos"/>
                <a:ea typeface="Aptos"/>
                <a:cs typeface="Aptos"/>
              </a:rPr>
              <a:t>hp = 1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72C40"/>
                </a:solidFill>
                <a:latin typeface="Aptos"/>
                <a:ea typeface="Aptos"/>
                <a:cs typeface="Aptos"/>
              </a:rPr>
              <a:t>velocity.y = 100</a:t>
            </a:r>
          </a:p>
        </p:txBody>
      </p:sp>
      <p:sp>
        <p:nvSpPr>
          <p:cNvPr id="41" name="B01.owner is B02.owner  →  True">
            <a:extLst xmlns:a="http://schemas.openxmlformats.org/drawingml/2006/main">
              <a:ext uri="{FF2B5EF4-FFF2-40B4-BE49-F238E27FC236}">
                <a16:creationId xmlns:a16="http://schemas.microsoft.com/office/drawing/2014/main" id="{186D956C-8324-4032-A5F4-81374BF36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29250"/>
            <a:ext cx="7810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087C6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75" b="0">
                <a:solidFill>
                  <a:srgbClr val="087C6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75" b="0">
                <a:solidFill>
                  <a:srgbClr val="087C6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75" b="0">
                <a:solidFill>
                  <a:srgbClr val="087C6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75" b="0">
                <a:solidFill>
                  <a:srgbClr val="087C6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75" b="0">
                <a:solidFill>
                  <a:srgbClr val="087C6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75" b="0">
                <a:solidFill>
                  <a:srgbClr val="087C6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75" b="0">
                <a:solidFill>
                  <a:srgbClr val="087C6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75" b="0">
                <a:solidFill>
                  <a:srgbClr val="087C6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75" b="0">
                <a:solidFill>
                  <a:srgbClr val="087C6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087C62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087C62"/>
                </a:solidFill>
                <a:latin typeface="Aptos"/>
                <a:ea typeface="Aptos"/>
                <a:cs typeface="Aptos"/>
              </a:rPr>
              <a:t>B01.owner is B02.owner  →  True</a:t>
            </a:r>
          </a:p>
        </p:txBody>
      </p:sp>
      <p:sp>
        <p:nvSpPr>
          <p:cNvPr id="42" name="B01.owner and B02.owner refer to the same player; no player is copied.">
            <a:extLst xmlns:a="http://schemas.openxmlformats.org/drawingml/2006/main">
              <a:ext uri="{FF2B5EF4-FFF2-40B4-BE49-F238E27FC236}">
                <a16:creationId xmlns:a16="http://schemas.microsoft.com/office/drawing/2014/main" id="{A7557065-F6B9-4E34-87A4-EF7FE59B9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905500"/>
            <a:ext cx="5238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B7082"/>
                </a:solidFill>
                <a:latin typeface="Aptos"/>
                <a:ea typeface="Aptos"/>
                <a:cs typeface="Aptos"/>
              </a:rPr>
              <a:t>B01.owner and B02.owner refer to the same player; no player is copied.</a:t>
            </a:r>
          </a:p>
        </p:txBody>
      </p:sp>
      <p:sp>
        <p:nvSpPr>
          <p:cNvPr id="43" name="Each enemy still has its own HP, position, and velocity.">
            <a:extLst xmlns:a="http://schemas.openxmlformats.org/drawingml/2006/main">
              <a:ext uri="{FF2B5EF4-FFF2-40B4-BE49-F238E27FC236}">
                <a16:creationId xmlns:a16="http://schemas.microsoft.com/office/drawing/2014/main" id="{8E3E8B21-7D3F-41DD-A16C-5C341629C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905500"/>
            <a:ext cx="5238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B7082"/>
                </a:solidFill>
                <a:latin typeface="Aptos"/>
                <a:ea typeface="Aptos"/>
                <a:cs typeface="Aptos"/>
              </a:rPr>
              <a:t>Each enemy still has its own HP, position, and velocity.</a:t>
            </a:r>
          </a:p>
        </p:txBody>
      </p:sp>
      <p:sp>
        <p:nvSpPr>
          <p:cNvPr id="44" name="11">
            <a:extLst xmlns:a="http://schemas.openxmlformats.org/drawingml/2006/main">
              <a:ext uri="{FF2B5EF4-FFF2-40B4-BE49-F238E27FC236}">
                <a16:creationId xmlns:a16="http://schemas.microsoft.com/office/drawing/2014/main" id="{D0F6FFCE-F40B-4378-966E-FA87833DC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05575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B7082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54069505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B14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Groups organize; they do not copy">
            <a:extLst xmlns:a="http://schemas.openxmlformats.org/drawingml/2006/main">
              <a:ext uri="{FF2B5EF4-FFF2-40B4-BE49-F238E27FC236}">
                <a16:creationId xmlns:a16="http://schemas.microsoft.com/office/drawing/2014/main" id="{D2ACE6CF-3FED-4DFC-9FD7-DA81DF187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2862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pPr>
            <a:r>
              <a:rPr sz="3300" b="1">
                <a:solidFill>
                  <a:srgbClr val="EDF4FB"/>
                </a:solidFill>
                <a:latin typeface="Aptos"/>
                <a:ea typeface="Aptos"/>
                <a:cs typeface="Aptos"/>
              </a:rPr>
              <a:t>Groups organize; they do not copy</a:t>
            </a:r>
          </a:p>
        </p:txBody>
      </p:sp>
      <p:sp>
        <p:nvSpPr>
          <p:cNvPr id="2" name="One Enemy can belong to two groups at once">
            <a:extLst xmlns:a="http://schemas.openxmlformats.org/drawingml/2006/main">
              <a:ext uri="{FF2B5EF4-FFF2-40B4-BE49-F238E27FC236}">
                <a16:creationId xmlns:a16="http://schemas.microsoft.com/office/drawing/2014/main" id="{E3A8A605-5FD0-47B4-8B77-016351C2C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181100"/>
            <a:ext cx="11001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68EDBE"/>
                </a:solidFill>
                <a:latin typeface="Aptos"/>
                <a:ea typeface="Aptos"/>
                <a:cs typeface="Aptos"/>
              </a:rPr>
              <a:t>One Enemy can belong to two groups at once</a:t>
            </a:r>
          </a:p>
        </p:txBody>
      </p:sp>
      <p:sp>
        <p:nvSpPr>
          <p:cNvPr id="3" name="e = Enemy(&quot;E01&quot;, (180, 180))">
            <a:extLst xmlns:a="http://schemas.openxmlformats.org/drawingml/2006/main">
              <a:ext uri="{FF2B5EF4-FFF2-40B4-BE49-F238E27FC236}">
                <a16:creationId xmlns:a16="http://schemas.microsoft.com/office/drawing/2014/main" id="{F57ABCE4-8128-42C5-81F0-5FBF1677B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9145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e = Enemy("E01", (180, 180))</a:t>
            </a:r>
          </a:p>
        </p:txBody>
      </p:sp>
      <p:sp>
        <p:nvSpPr>
          <p:cNvPr id="4" name="all_sprites = pygame.sprite.Group(e)">
            <a:extLst xmlns:a="http://schemas.openxmlformats.org/drawingml/2006/main">
              <a:ext uri="{FF2B5EF4-FFF2-40B4-BE49-F238E27FC236}">
                <a16:creationId xmlns:a16="http://schemas.microsoft.com/office/drawing/2014/main" id="{D3FED52A-5C3E-4409-B680-80BF44E84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3837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all_sprites = pygame.sprite.Group(e)</a:t>
            </a:r>
          </a:p>
        </p:txBody>
      </p:sp>
      <p:sp>
        <p:nvSpPr>
          <p:cNvPr id="5" name="enemies = pygame.sprite.Group(e)">
            <a:extLst xmlns:a="http://schemas.openxmlformats.org/drawingml/2006/main">
              <a:ext uri="{FF2B5EF4-FFF2-40B4-BE49-F238E27FC236}">
                <a16:creationId xmlns:a16="http://schemas.microsoft.com/office/drawing/2014/main" id="{01B49496-F485-4785-8348-DEEDC26E4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5622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enemies = pygame.sprite.Group(e)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1ACD52F-16D5-42DD-8FA8-12781DFA9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8607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r>
              <a:t/>
            </a:r>
          </a:p>
        </p:txBody>
      </p:sp>
      <p:sp>
        <p:nvSpPr>
          <p:cNvPr id="7" name="print(all_sprites.sprites()[0] is e)  # True">
            <a:extLst xmlns:a="http://schemas.openxmlformats.org/drawingml/2006/main">
              <a:ext uri="{FF2B5EF4-FFF2-40B4-BE49-F238E27FC236}">
                <a16:creationId xmlns:a16="http://schemas.microsoft.com/office/drawing/2014/main" id="{90CE6A90-BF6B-4976-800C-00F3218DD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2099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print(all_sprites.sprites()[0] is e)  # True</a:t>
            </a:r>
          </a:p>
        </p:txBody>
      </p:sp>
      <p:sp>
        <p:nvSpPr>
          <p:cNvPr id="8" name="print(enemies.sprites()[0] is e)      # True">
            <a:extLst xmlns:a="http://schemas.openxmlformats.org/drawingml/2006/main">
              <a:ext uri="{FF2B5EF4-FFF2-40B4-BE49-F238E27FC236}">
                <a16:creationId xmlns:a16="http://schemas.microsoft.com/office/drawing/2014/main" id="{D64E117B-3BA9-4816-9C0D-270F970B5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53377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print(enemies.sprites()[0] is e)      # True</a:t>
            </a:r>
          </a:p>
        </p:txBody>
      </p:sp>
      <p:sp>
        <p:nvSpPr>
          <p:cNvPr id="9" name="all_sprites updates and draws; enemies narrows collision checks.">
            <a:extLst xmlns:a="http://schemas.openxmlformats.org/drawingml/2006/main">
              <a:ext uri="{FF2B5EF4-FFF2-40B4-BE49-F238E27FC236}">
                <a16:creationId xmlns:a16="http://schemas.microsoft.com/office/drawing/2014/main" id="{B131A79E-EF96-4C04-90CA-C20434314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67325"/>
            <a:ext cx="5191125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68EDBE"/>
                </a:solidFill>
                <a:latin typeface="Aptos"/>
                <a:ea typeface="Aptos"/>
                <a:cs typeface="Aptos"/>
              </a:rPr>
              <a:t>all_sprites updates and draws; enemies narrows collision checks.</a:t>
            </a:r>
          </a:p>
        </p:txBody>
      </p:sp>
      <p:sp>
        <p:nvSpPr>
          <p:cNvPr id="10" name="Changing e.hp is visible through either reference to that same object.">
            <a:extLst xmlns:a="http://schemas.openxmlformats.org/drawingml/2006/main">
              <a:ext uri="{FF2B5EF4-FFF2-40B4-BE49-F238E27FC236}">
                <a16:creationId xmlns:a16="http://schemas.microsoft.com/office/drawing/2014/main" id="{B3E4B465-AAA3-4804-9F1D-4DC29543A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267325"/>
            <a:ext cx="5191125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68EDBE"/>
                </a:solidFill>
                <a:latin typeface="Aptos"/>
                <a:ea typeface="Aptos"/>
                <a:cs typeface="Aptos"/>
              </a:rPr>
              <a:t>Changing e.hp is visible through either reference to that same object.</a:t>
            </a:r>
          </a:p>
        </p:txBody>
      </p:sp>
      <p:sp>
        <p:nvSpPr>
          <p:cNvPr id="11" name="game.py · spawn_enemy()">
            <a:extLst xmlns:a="http://schemas.openxmlformats.org/drawingml/2006/main">
              <a:ext uri="{FF2B5EF4-FFF2-40B4-BE49-F238E27FC236}">
                <a16:creationId xmlns:a16="http://schemas.microsoft.com/office/drawing/2014/main" id="{5BA5D927-48E5-4291-A3F9-A99A66609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67475"/>
            <a:ext cx="1047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game.py · spawn_enemy()</a:t>
            </a:r>
          </a:p>
        </p:txBody>
      </p:sp>
      <p:sp>
        <p:nvSpPr>
          <p:cNvPr id="12" name="12">
            <a:extLst xmlns:a="http://schemas.openxmlformats.org/drawingml/2006/main">
              <a:ext uri="{FF2B5EF4-FFF2-40B4-BE49-F238E27FC236}">
                <a16:creationId xmlns:a16="http://schemas.microsoft.com/office/drawing/2014/main" id="{3A6872EE-3780-4B16-84F1-C5360BD14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05575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DF4FB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47931829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B14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Actor: keep shared data together">
            <a:extLst xmlns:a="http://schemas.openxmlformats.org/drawingml/2006/main">
              <a:ext uri="{FF2B5EF4-FFF2-40B4-BE49-F238E27FC236}">
                <a16:creationId xmlns:a16="http://schemas.microsoft.com/office/drawing/2014/main" id="{77C2D15A-EF5D-4CC6-8852-3F1922B21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2862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pPr>
            <a:r>
              <a:rPr sz="3300" b="1">
                <a:solidFill>
                  <a:srgbClr val="EDF4FB"/>
                </a:solidFill>
                <a:latin typeface="Aptos"/>
                <a:ea typeface="Aptos"/>
                <a:cs typeface="Aptos"/>
              </a:rPr>
              <a:t>Actor: keep shared data together</a:t>
            </a:r>
          </a:p>
        </p:txBody>
      </p:sp>
      <p:sp>
        <p:nvSpPr>
          <p:cNvPr id="2" name="image holds appearance; rect holds placement and collision bounds">
            <a:extLst xmlns:a="http://schemas.openxmlformats.org/drawingml/2006/main">
              <a:ext uri="{FF2B5EF4-FFF2-40B4-BE49-F238E27FC236}">
                <a16:creationId xmlns:a16="http://schemas.microsoft.com/office/drawing/2014/main" id="{69710DDF-DB66-403E-AEEC-E40B27178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181100"/>
            <a:ext cx="11001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68EDBE"/>
                </a:solidFill>
                <a:latin typeface="Aptos"/>
                <a:ea typeface="Aptos"/>
                <a:cs typeface="Aptos"/>
              </a:rPr>
              <a:t>image holds appearance; rect holds placement and collision bounds</a:t>
            </a:r>
          </a:p>
        </p:txBody>
      </p:sp>
      <p:sp>
        <p:nvSpPr>
          <p:cNvPr id="3" name="class Actor(pygame.sprite.Sprite):">
            <a:extLst xmlns:a="http://schemas.openxmlformats.org/drawingml/2006/main">
              <a:ext uri="{FF2B5EF4-FFF2-40B4-BE49-F238E27FC236}">
                <a16:creationId xmlns:a16="http://schemas.microsoft.com/office/drawing/2014/main" id="{0DE11E97-1322-4405-8CFE-861E19DAE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9145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class Actor(pygame.sprite.Sprite):</a:t>
            </a:r>
          </a:p>
        </p:txBody>
      </p:sp>
      <p:sp>
        <p:nvSpPr>
          <p:cNvPr id="4" name="    def __init__(self, name, position, size):">
            <a:extLst xmlns:a="http://schemas.openxmlformats.org/drawingml/2006/main">
              <a:ext uri="{FF2B5EF4-FFF2-40B4-BE49-F238E27FC236}">
                <a16:creationId xmlns:a16="http://schemas.microsoft.com/office/drawing/2014/main" id="{17731E0B-1C67-413D-B773-694646F3E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3837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def __init__(self, name, position, size):</a:t>
            </a:r>
          </a:p>
        </p:txBody>
      </p:sp>
      <p:sp>
        <p:nvSpPr>
          <p:cNvPr id="5" name="        super().__init__()">
            <a:extLst xmlns:a="http://schemas.openxmlformats.org/drawingml/2006/main">
              <a:ext uri="{FF2B5EF4-FFF2-40B4-BE49-F238E27FC236}">
                <a16:creationId xmlns:a16="http://schemas.microsoft.com/office/drawing/2014/main" id="{8D7B796A-9C88-46EA-885E-C8DB367D9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5622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super().__init__()</a:t>
            </a:r>
          </a:p>
        </p:txBody>
      </p:sp>
      <p:sp>
        <p:nvSpPr>
          <p:cNvPr id="6" name="        self.name = name">
            <a:extLst xmlns:a="http://schemas.openxmlformats.org/drawingml/2006/main">
              <a:ext uri="{FF2B5EF4-FFF2-40B4-BE49-F238E27FC236}">
                <a16:creationId xmlns:a16="http://schemas.microsoft.com/office/drawing/2014/main" id="{AA9909D3-F0B1-4566-90E9-087EFF74E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8607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self.name = name</a:t>
            </a:r>
          </a:p>
        </p:txBody>
      </p:sp>
      <p:sp>
        <p:nvSpPr>
          <p:cNvPr id="7" name="        self.image = pygame.Surface(size, pygame.SRCALPHA)">
            <a:extLst xmlns:a="http://schemas.openxmlformats.org/drawingml/2006/main">
              <a:ext uri="{FF2B5EF4-FFF2-40B4-BE49-F238E27FC236}">
                <a16:creationId xmlns:a16="http://schemas.microsoft.com/office/drawing/2014/main" id="{E045B6D2-6E7C-4688-A99E-257880E3D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2099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self.image = pygame.Surface(size, pygame.SRCALPHA)</a:t>
            </a:r>
          </a:p>
        </p:txBody>
      </p:sp>
      <p:sp>
        <p:nvSpPr>
          <p:cNvPr id="8" name="        self.pos = pygame.Vector2(position)">
            <a:extLst xmlns:a="http://schemas.openxmlformats.org/drawingml/2006/main">
              <a:ext uri="{FF2B5EF4-FFF2-40B4-BE49-F238E27FC236}">
                <a16:creationId xmlns:a16="http://schemas.microsoft.com/office/drawing/2014/main" id="{EBA0C899-7897-4055-BA8B-B4BA5A448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53377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self.pos = pygame.Vector2(position)</a:t>
            </a:r>
          </a:p>
        </p:txBody>
      </p:sp>
      <p:sp>
        <p:nvSpPr>
          <p:cNvPr id="9" name="        self.rect = self.image.get_rect(center=position)">
            <a:extLst xmlns:a="http://schemas.openxmlformats.org/drawingml/2006/main">
              <a:ext uri="{FF2B5EF4-FFF2-40B4-BE49-F238E27FC236}">
                <a16:creationId xmlns:a16="http://schemas.microsoft.com/office/drawing/2014/main" id="{A7DCEB93-B5FF-4412-8E2E-927082512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8576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self.rect = self.image.get_rect(center=position)</a:t>
            </a:r>
          </a:p>
        </p:txBody>
      </p:sp>
      <p:sp>
        <p:nvSpPr>
          <p:cNvPr id="10" name="        self.velocity = pygame.Vector2()">
            <a:extLst xmlns:a="http://schemas.openxmlformats.org/drawingml/2006/main">
              <a:ext uri="{FF2B5EF4-FFF2-40B4-BE49-F238E27FC236}">
                <a16:creationId xmlns:a16="http://schemas.microsoft.com/office/drawing/2014/main" id="{6B8DD8CE-5026-4A63-8BFB-71B050A4E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18147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self.velocity = pygame.Vector2()</a:t>
            </a:r>
          </a:p>
        </p:txBody>
      </p:sp>
      <p:sp>
        <p:nvSpPr>
          <p:cNvPr id="11" name="super().__init__() initializes Sprite's group machinery.">
            <a:extLst xmlns:a="http://schemas.openxmlformats.org/drawingml/2006/main">
              <a:ext uri="{FF2B5EF4-FFF2-40B4-BE49-F238E27FC236}">
                <a16:creationId xmlns:a16="http://schemas.microsoft.com/office/drawing/2014/main" id="{E9A4CB71-8007-41F0-BD86-9FC40DBE8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67325"/>
            <a:ext cx="5191125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68EDBE"/>
                </a:solidFill>
                <a:latin typeface="Aptos"/>
                <a:ea typeface="Aptos"/>
                <a:cs typeface="Aptos"/>
              </a:rPr>
              <a:t>super().__init__() initializes Sprite's group machinery.</a:t>
            </a:r>
          </a:p>
        </p:txBody>
      </p:sp>
      <p:sp>
        <p:nvSpPr>
          <p:cNvPr id="12" name="pos keeps floating-point coordinates; rect uses integer pixels.">
            <a:extLst xmlns:a="http://schemas.openxmlformats.org/drawingml/2006/main">
              <a:ext uri="{FF2B5EF4-FFF2-40B4-BE49-F238E27FC236}">
                <a16:creationId xmlns:a16="http://schemas.microsoft.com/office/drawing/2014/main" id="{857112DD-3EF3-470A-8173-AA4375471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267325"/>
            <a:ext cx="5191125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68EDBE"/>
                </a:solidFill>
                <a:latin typeface="Aptos"/>
                <a:ea typeface="Aptos"/>
                <a:cs typeface="Aptos"/>
              </a:rPr>
              <a:t>pos keeps floating-point coordinates; rect uses integer pixels.</a:t>
            </a:r>
          </a:p>
        </p:txBody>
      </p:sp>
      <p:sp>
        <p:nvSpPr>
          <p:cNvPr id="13" name="actors.py · Actor.__init__()">
            <a:extLst xmlns:a="http://schemas.openxmlformats.org/drawingml/2006/main">
              <a:ext uri="{FF2B5EF4-FFF2-40B4-BE49-F238E27FC236}">
                <a16:creationId xmlns:a16="http://schemas.microsoft.com/office/drawing/2014/main" id="{A981B983-31E2-4128-8586-442711987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67475"/>
            <a:ext cx="1047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actors.py · Actor.__init__()</a:t>
            </a:r>
          </a:p>
        </p:txBody>
      </p:sp>
      <p:sp>
        <p:nvSpPr>
          <p:cNvPr id="14" name="13">
            <a:extLst xmlns:a="http://schemas.openxmlformats.org/drawingml/2006/main">
              <a:ext uri="{FF2B5EF4-FFF2-40B4-BE49-F238E27FC236}">
                <a16:creationId xmlns:a16="http://schemas.microsoft.com/office/drawing/2014/main" id="{507F2667-AC04-485E-8467-3C3A4F3CA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05575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DF4FB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299835036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B14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Movement = velocity × elapsed time">
            <a:extLst xmlns:a="http://schemas.openxmlformats.org/drawingml/2006/main">
              <a:ext uri="{FF2B5EF4-FFF2-40B4-BE49-F238E27FC236}">
                <a16:creationId xmlns:a16="http://schemas.microsoft.com/office/drawing/2014/main" id="{BD5B79C1-2294-43F0-9A2C-29AAD639C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2862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pPr>
            <a:r>
              <a:rPr sz="3300" b="1">
                <a:solidFill>
                  <a:srgbClr val="EDF4FB"/>
                </a:solidFill>
                <a:latin typeface="Aptos"/>
                <a:ea typeface="Aptos"/>
                <a:cs typeface="Aptos"/>
              </a:rPr>
              <a:t>Movement = velocity × elapsed time</a:t>
            </a:r>
          </a:p>
        </p:txBody>
      </p:sp>
      <p:sp>
        <p:nvSpPr>
          <p:cNvPr id="2" name="dt is in seconds; velocity is in pixels per second">
            <a:extLst xmlns:a="http://schemas.openxmlformats.org/drawingml/2006/main">
              <a:ext uri="{FF2B5EF4-FFF2-40B4-BE49-F238E27FC236}">
                <a16:creationId xmlns:a16="http://schemas.microsoft.com/office/drawing/2014/main" id="{97ED74CE-9AC6-4D49-B1B1-8F947C478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181100"/>
            <a:ext cx="11001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68EDBE"/>
                </a:solidFill>
                <a:latin typeface="Aptos"/>
                <a:ea typeface="Aptos"/>
                <a:cs typeface="Aptos"/>
              </a:rPr>
              <a:t>dt is in seconds; velocity is in pixels per second</a:t>
            </a:r>
          </a:p>
        </p:txBody>
      </p:sp>
      <p:sp>
        <p:nvSpPr>
          <p:cNvPr id="3" name="def update(self, dt):">
            <a:extLst xmlns:a="http://schemas.openxmlformats.org/drawingml/2006/main">
              <a:ext uri="{FF2B5EF4-FFF2-40B4-BE49-F238E27FC236}">
                <a16:creationId xmlns:a16="http://schemas.microsoft.com/office/drawing/2014/main" id="{8586DA0B-48DE-4680-A88A-1EC7AB5D4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9145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def update(self, dt):</a:t>
            </a:r>
          </a:p>
        </p:txBody>
      </p:sp>
      <p:sp>
        <p:nvSpPr>
          <p:cNvPr id="4" name="    self.pos += self.velocity * dt">
            <a:extLst xmlns:a="http://schemas.openxmlformats.org/drawingml/2006/main">
              <a:ext uri="{FF2B5EF4-FFF2-40B4-BE49-F238E27FC236}">
                <a16:creationId xmlns:a16="http://schemas.microsoft.com/office/drawing/2014/main" id="{9BA3F242-62F8-4E13-B044-9636F9D08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3837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self.pos += self.velocity * dt</a:t>
            </a:r>
          </a:p>
        </p:txBody>
      </p:sp>
      <p:sp>
        <p:nvSpPr>
          <p:cNvPr id="5" name="    self.rect.center = (round(self.pos.x), round(self.pos.y))">
            <a:extLst xmlns:a="http://schemas.openxmlformats.org/drawingml/2006/main">
              <a:ext uri="{FF2B5EF4-FFF2-40B4-BE49-F238E27FC236}">
                <a16:creationId xmlns:a16="http://schemas.microsoft.com/office/drawing/2014/main" id="{19DBDBBE-F2DC-493C-B069-BBB8358CC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5622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self.rect.center = (round(self.pos.x), round(self.pos.y))</a:t>
            </a:r>
          </a:p>
        </p:txBody>
      </p:sp>
      <p:sp>
        <p:nvSpPr>
          <p:cNvPr id="6" name="At 80 pixels per second, 0.5 seconds produces 40 pixels of movement.">
            <a:extLst xmlns:a="http://schemas.openxmlformats.org/drawingml/2006/main">
              <a:ext uri="{FF2B5EF4-FFF2-40B4-BE49-F238E27FC236}">
                <a16:creationId xmlns:a16="http://schemas.microsoft.com/office/drawing/2014/main" id="{E448ABE5-4A72-4B4F-B033-AE8B6E91A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67325"/>
            <a:ext cx="5191125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68EDBE"/>
                </a:solidFill>
                <a:latin typeface="Aptos"/>
                <a:ea typeface="Aptos"/>
                <a:cs typeface="Aptos"/>
              </a:rPr>
              <a:t>At 80 pixels per second, 0.5 seconds produces 40 pixels of movement.</a:t>
            </a:r>
          </a:p>
        </p:txBody>
      </p:sp>
      <p:sp>
        <p:nvSpPr>
          <p:cNvPr id="7" name="Update pos, then sync rect, so fractional movement is retained.">
            <a:extLst xmlns:a="http://schemas.openxmlformats.org/drawingml/2006/main">
              <a:ext uri="{FF2B5EF4-FFF2-40B4-BE49-F238E27FC236}">
                <a16:creationId xmlns:a16="http://schemas.microsoft.com/office/drawing/2014/main" id="{923BA9EB-E781-496C-864B-57586BA30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267325"/>
            <a:ext cx="5191125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68EDBE"/>
                </a:solidFill>
                <a:latin typeface="Aptos"/>
                <a:ea typeface="Aptos"/>
                <a:cs typeface="Aptos"/>
              </a:rPr>
              <a:t>Update pos, then sync rect, so fractional movement is retained.</a:t>
            </a:r>
          </a:p>
        </p:txBody>
      </p:sp>
      <p:sp>
        <p:nvSpPr>
          <p:cNvPr id="8" name="actors.py · Actor.update()">
            <a:extLst xmlns:a="http://schemas.openxmlformats.org/drawingml/2006/main">
              <a:ext uri="{FF2B5EF4-FFF2-40B4-BE49-F238E27FC236}">
                <a16:creationId xmlns:a16="http://schemas.microsoft.com/office/drawing/2014/main" id="{3ECDDEF4-B842-474A-93C2-44B07766D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67475"/>
            <a:ext cx="1047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actors.py · Actor.update()</a:t>
            </a:r>
          </a:p>
        </p:txBody>
      </p:sp>
      <p:sp>
        <p:nvSpPr>
          <p:cNvPr id="9" name="14">
            <a:extLst xmlns:a="http://schemas.openxmlformats.org/drawingml/2006/main">
              <a:ext uri="{FF2B5EF4-FFF2-40B4-BE49-F238E27FC236}">
                <a16:creationId xmlns:a16="http://schemas.microsoft.com/office/drawing/2014/main" id="{CDA0579A-C4F5-4AE2-89DF-78F6D55BE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05575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DF4FB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741942386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B14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Player: turn input into direction">
            <a:extLst xmlns:a="http://schemas.openxmlformats.org/drawingml/2006/main">
              <a:ext uri="{FF2B5EF4-FFF2-40B4-BE49-F238E27FC236}">
                <a16:creationId xmlns:a16="http://schemas.microsoft.com/office/drawing/2014/main" id="{81DB8083-64B8-468D-A6A6-907A06ABF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2862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pPr>
            <a:r>
              <a:rPr sz="3300" b="1">
                <a:solidFill>
                  <a:srgbClr val="EDF4FB"/>
                </a:solidFill>
                <a:latin typeface="Aptos"/>
                <a:ea typeface="Aptos"/>
                <a:cs typeface="Aptos"/>
              </a:rPr>
              <a:t>Player: turn input into direction</a:t>
            </a:r>
          </a:p>
        </p:txBody>
      </p:sp>
      <p:sp>
        <p:nvSpPr>
          <p:cNvPr id="2" name="Game reads keys; Player sets its own velocity">
            <a:extLst xmlns:a="http://schemas.openxmlformats.org/drawingml/2006/main">
              <a:ext uri="{FF2B5EF4-FFF2-40B4-BE49-F238E27FC236}">
                <a16:creationId xmlns:a16="http://schemas.microsoft.com/office/drawing/2014/main" id="{CA474C77-DE87-4D9D-94D7-A1CE42EA9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181100"/>
            <a:ext cx="11001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68EDBE"/>
                </a:solidFill>
                <a:latin typeface="Aptos"/>
                <a:ea typeface="Aptos"/>
                <a:cs typeface="Aptos"/>
              </a:rPr>
              <a:t>Game reads keys; Player sets its own velocity</a:t>
            </a:r>
          </a:p>
        </p:txBody>
      </p:sp>
      <p:sp>
        <p:nvSpPr>
          <p:cNvPr id="3" name="def set_direction(self, x, y):">
            <a:extLst xmlns:a="http://schemas.openxmlformats.org/drawingml/2006/main">
              <a:ext uri="{FF2B5EF4-FFF2-40B4-BE49-F238E27FC236}">
                <a16:creationId xmlns:a16="http://schemas.microsoft.com/office/drawing/2014/main" id="{638C55AA-D054-45B5-9B69-071B0ABA4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9145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def set_direction(self, x, y):</a:t>
            </a:r>
          </a:p>
        </p:txBody>
      </p:sp>
      <p:sp>
        <p:nvSpPr>
          <p:cNvPr id="4" name="    direction = pygame.Vector2(x, y)">
            <a:extLst xmlns:a="http://schemas.openxmlformats.org/drawingml/2006/main">
              <a:ext uri="{FF2B5EF4-FFF2-40B4-BE49-F238E27FC236}">
                <a16:creationId xmlns:a16="http://schemas.microsoft.com/office/drawing/2014/main" id="{886040A1-455F-4BBA-BEDD-2A882F825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3837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direction = pygame.Vector2(x, y)</a:t>
            </a:r>
          </a:p>
        </p:txBody>
      </p:sp>
      <p:sp>
        <p:nvSpPr>
          <p:cNvPr id="5" name="    if direction.length_squared() &gt; 1:">
            <a:extLst xmlns:a="http://schemas.openxmlformats.org/drawingml/2006/main">
              <a:ext uri="{FF2B5EF4-FFF2-40B4-BE49-F238E27FC236}">
                <a16:creationId xmlns:a16="http://schemas.microsoft.com/office/drawing/2014/main" id="{7E6A265B-367B-464B-8794-44F3FEFE1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5622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if direction.length_squared() &gt; 1:</a:t>
            </a:r>
          </a:p>
        </p:txBody>
      </p:sp>
      <p:sp>
        <p:nvSpPr>
          <p:cNvPr id="6" name="        direction = direction.normalize()">
            <a:extLst xmlns:a="http://schemas.openxmlformats.org/drawingml/2006/main">
              <a:ext uri="{FF2B5EF4-FFF2-40B4-BE49-F238E27FC236}">
                <a16:creationId xmlns:a16="http://schemas.microsoft.com/office/drawing/2014/main" id="{B5B2C11B-7556-4800-97A4-6718A3960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8607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direction = direction.normalize()</a:t>
            </a:r>
          </a:p>
        </p:txBody>
      </p:sp>
      <p:sp>
        <p:nvSpPr>
          <p:cNvPr id="7" name="    self.velocity = direction * PLAYER_SPEED">
            <a:extLst xmlns:a="http://schemas.openxmlformats.org/drawingml/2006/main">
              <a:ext uri="{FF2B5EF4-FFF2-40B4-BE49-F238E27FC236}">
                <a16:creationId xmlns:a16="http://schemas.microsoft.com/office/drawing/2014/main" id="{16508526-226D-4963-8F85-0DC8A050D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2099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self.velocity = direction * PLAYER_SPEED</a:t>
            </a:r>
          </a:p>
        </p:txBody>
      </p:sp>
      <p:sp>
        <p:nvSpPr>
          <p:cNvPr id="8" name="(1, 0) moves right; (0, -1) moves up; (0, 0) stops.">
            <a:extLst xmlns:a="http://schemas.openxmlformats.org/drawingml/2006/main">
              <a:ext uri="{FF2B5EF4-FFF2-40B4-BE49-F238E27FC236}">
                <a16:creationId xmlns:a16="http://schemas.microsoft.com/office/drawing/2014/main" id="{A7B43849-4B3C-423E-AA25-91D6C9D04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67325"/>
            <a:ext cx="5191125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68EDBE"/>
                </a:solidFill>
                <a:latin typeface="Aptos"/>
                <a:ea typeface="Aptos"/>
                <a:cs typeface="Aptos"/>
              </a:rPr>
              <a:t>(1, 0) moves right; (0, -1) moves up; (0, 0) stops.</a:t>
            </a:r>
          </a:p>
        </p:txBody>
      </p:sp>
      <p:sp>
        <p:nvSpPr>
          <p:cNvPr id="9" name="normalize() keeps diagonal and straight movement at the same speed.">
            <a:extLst xmlns:a="http://schemas.openxmlformats.org/drawingml/2006/main">
              <a:ext uri="{FF2B5EF4-FFF2-40B4-BE49-F238E27FC236}">
                <a16:creationId xmlns:a16="http://schemas.microsoft.com/office/drawing/2014/main" id="{3C4942FE-644E-4507-9FB6-94A3A03E1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267325"/>
            <a:ext cx="5191125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68EDBE"/>
                </a:solidFill>
                <a:latin typeface="Aptos"/>
                <a:ea typeface="Aptos"/>
                <a:cs typeface="Aptos"/>
              </a:rPr>
              <a:t>normalize() keeps diagonal and straight movement at the same speed.</a:t>
            </a:r>
          </a:p>
        </p:txBody>
      </p:sp>
      <p:sp>
        <p:nvSpPr>
          <p:cNvPr id="10" name="actors.py · Player.set_direction()">
            <a:extLst xmlns:a="http://schemas.openxmlformats.org/drawingml/2006/main">
              <a:ext uri="{FF2B5EF4-FFF2-40B4-BE49-F238E27FC236}">
                <a16:creationId xmlns:a16="http://schemas.microsoft.com/office/drawing/2014/main" id="{C95A45BB-F1BB-46E0-BF4A-034AD886F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67475"/>
            <a:ext cx="1047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actors.py · Player.set_direction()</a:t>
            </a:r>
          </a:p>
        </p:txBody>
      </p:sp>
      <p:sp>
        <p:nvSpPr>
          <p:cNvPr id="11" name="15">
            <a:extLst xmlns:a="http://schemas.openxmlformats.org/drawingml/2006/main">
              <a:ext uri="{FF2B5EF4-FFF2-40B4-BE49-F238E27FC236}">
                <a16:creationId xmlns:a16="http://schemas.microsoft.com/office/drawing/2014/main" id="{E42F6C6C-E0E5-44FD-8C04-B0E71A312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05575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DF4FB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69976778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B14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Player.shoot(): decide whether to fire">
            <a:extLst xmlns:a="http://schemas.openxmlformats.org/drawingml/2006/main">
              <a:ext uri="{FF2B5EF4-FFF2-40B4-BE49-F238E27FC236}">
                <a16:creationId xmlns:a16="http://schemas.microsoft.com/office/drawing/2014/main" id="{01B922AA-1E3E-4416-A8EC-2EEFA5581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2862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pPr>
            <a:r>
              <a:rPr sz="3300" b="1">
                <a:solidFill>
                  <a:srgbClr val="EDF4FB"/>
                </a:solidFill>
                <a:latin typeface="Aptos"/>
                <a:ea typeface="Aptos"/>
                <a:cs typeface="Aptos"/>
              </a:rPr>
              <a:t>Player.shoot(): decide whether to fire</a:t>
            </a:r>
          </a:p>
        </p:txBody>
      </p:sp>
      <p:sp>
        <p:nvSpPr>
          <p:cNvPr id="2" name="One method encapsulates the rule and state change">
            <a:extLst xmlns:a="http://schemas.openxmlformats.org/drawingml/2006/main">
              <a:ext uri="{FF2B5EF4-FFF2-40B4-BE49-F238E27FC236}">
                <a16:creationId xmlns:a16="http://schemas.microsoft.com/office/drawing/2014/main" id="{4900A228-4543-49CA-B0EF-062E296DA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181100"/>
            <a:ext cx="11001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68EDBE"/>
                </a:solidFill>
                <a:latin typeface="Aptos"/>
                <a:ea typeface="Aptos"/>
                <a:cs typeface="Aptos"/>
              </a:rPr>
              <a:t>One method encapsulates the rule and state change</a:t>
            </a:r>
          </a:p>
        </p:txBody>
      </p:sp>
      <p:sp>
        <p:nvSpPr>
          <p:cNvPr id="3" name="def shoot(self, name):">
            <a:extLst xmlns:a="http://schemas.openxmlformats.org/drawingml/2006/main">
              <a:ext uri="{FF2B5EF4-FFF2-40B4-BE49-F238E27FC236}">
                <a16:creationId xmlns:a16="http://schemas.microsoft.com/office/drawing/2014/main" id="{692DFDC0-4C3E-4ACB-9A54-4343A080B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9145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def shoot(self, name):</a:t>
            </a:r>
          </a:p>
        </p:txBody>
      </p:sp>
      <p:sp>
        <p:nvSpPr>
          <p:cNvPr id="4" name="    if self.cooldown &gt; 0 or self.hp == 0:">
            <a:extLst xmlns:a="http://schemas.openxmlformats.org/drawingml/2006/main">
              <a:ext uri="{FF2B5EF4-FFF2-40B4-BE49-F238E27FC236}">
                <a16:creationId xmlns:a16="http://schemas.microsoft.com/office/drawing/2014/main" id="{8446E7CB-870D-4FEE-903F-52437DB74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3837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if self.cooldown &gt; 0 or self.hp == 0:</a:t>
            </a:r>
          </a:p>
        </p:txBody>
      </p:sp>
      <p:sp>
        <p:nvSpPr>
          <p:cNvPr id="5" name="        return None">
            <a:extLst xmlns:a="http://schemas.openxmlformats.org/drawingml/2006/main">
              <a:ext uri="{FF2B5EF4-FFF2-40B4-BE49-F238E27FC236}">
                <a16:creationId xmlns:a16="http://schemas.microsoft.com/office/drawing/2014/main" id="{8A597678-88FE-4689-A0AC-94F07AC92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5622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return None</a:t>
            </a:r>
          </a:p>
        </p:txBody>
      </p:sp>
      <p:sp>
        <p:nvSpPr>
          <p:cNvPr id="6" name="    self.cooldown = SHOT_INTERVAL">
            <a:extLst xmlns:a="http://schemas.openxmlformats.org/drawingml/2006/main">
              <a:ext uri="{FF2B5EF4-FFF2-40B4-BE49-F238E27FC236}">
                <a16:creationId xmlns:a16="http://schemas.microsoft.com/office/drawing/2014/main" id="{6132BD59-ED66-4373-8F94-637A1B6FE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8607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self.cooldown = SHOT_INTERVAL</a:t>
            </a:r>
          </a:p>
        </p:txBody>
      </p:sp>
      <p:sp>
        <p:nvSpPr>
          <p:cNvPr id="7" name="    return Bullet(name, self)">
            <a:extLst xmlns:a="http://schemas.openxmlformats.org/drawingml/2006/main">
              <a:ext uri="{FF2B5EF4-FFF2-40B4-BE49-F238E27FC236}">
                <a16:creationId xmlns:a16="http://schemas.microsoft.com/office/drawing/2014/main" id="{27F040B2-A4A2-41CC-8DEE-9C0811353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2099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return Bullet(name, self)</a:t>
            </a:r>
          </a:p>
        </p:txBody>
      </p:sp>
      <p:sp>
        <p:nvSpPr>
          <p:cNvPr id="8" name="Return None while cooling down or when HP is zero.">
            <a:extLst xmlns:a="http://schemas.openxmlformats.org/drawingml/2006/main">
              <a:ext uri="{FF2B5EF4-FFF2-40B4-BE49-F238E27FC236}">
                <a16:creationId xmlns:a16="http://schemas.microsoft.com/office/drawing/2014/main" id="{9E1166A5-9382-42F7-BC3A-07526446B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67325"/>
            <a:ext cx="5191125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68EDBE"/>
                </a:solidFill>
                <a:latin typeface="Aptos"/>
                <a:ea typeface="Aptos"/>
                <a:cs typeface="Aptos"/>
              </a:rPr>
              <a:t>Return None while cooling down or when HP is zero.</a:t>
            </a:r>
          </a:p>
        </p:txBody>
      </p:sp>
      <p:sp>
        <p:nvSpPr>
          <p:cNvPr id="9" name="On success, create a new Bullet; self is the player firing it.">
            <a:extLst xmlns:a="http://schemas.openxmlformats.org/drawingml/2006/main">
              <a:ext uri="{FF2B5EF4-FFF2-40B4-BE49-F238E27FC236}">
                <a16:creationId xmlns:a16="http://schemas.microsoft.com/office/drawing/2014/main" id="{4F5380C0-BF59-4431-8CF0-E5C6D1377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267325"/>
            <a:ext cx="5191125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68EDBE"/>
                </a:solidFill>
                <a:latin typeface="Aptos"/>
                <a:ea typeface="Aptos"/>
                <a:cs typeface="Aptos"/>
              </a:rPr>
              <a:t>On success, create a new Bullet; self is the player firing it.</a:t>
            </a:r>
          </a:p>
        </p:txBody>
      </p:sp>
      <p:sp>
        <p:nvSpPr>
          <p:cNvPr id="10" name="actors.py · Player.shoot()">
            <a:extLst xmlns:a="http://schemas.openxmlformats.org/drawingml/2006/main">
              <a:ext uri="{FF2B5EF4-FFF2-40B4-BE49-F238E27FC236}">
                <a16:creationId xmlns:a16="http://schemas.microsoft.com/office/drawing/2014/main" id="{332488E4-39FD-42F1-8722-C2A198303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67475"/>
            <a:ext cx="1047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actors.py · Player.shoot()</a:t>
            </a:r>
          </a:p>
        </p:txBody>
      </p:sp>
      <p:sp>
        <p:nvSpPr>
          <p:cNvPr id="11" name="16">
            <a:extLst xmlns:a="http://schemas.openxmlformats.org/drawingml/2006/main">
              <a:ext uri="{FF2B5EF4-FFF2-40B4-BE49-F238E27FC236}">
                <a16:creationId xmlns:a16="http://schemas.microsoft.com/office/drawing/2014/main" id="{919A4C7A-3986-4D39-9F11-9DDE2FE95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05575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DF4FB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839427379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0B14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Bullet: remember who fired it">
            <a:extLst xmlns:a="http://schemas.openxmlformats.org/drawingml/2006/main">
              <a:ext uri="{FF2B5EF4-FFF2-40B4-BE49-F238E27FC236}">
                <a16:creationId xmlns:a16="http://schemas.microsoft.com/office/drawing/2014/main" id="{F9D71BBE-38D6-4147-A986-33654FD78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2862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pPr>
            <a:r>
              <a:rPr sz="3300" b="1">
                <a:solidFill>
                  <a:srgbClr val="EDF4FB"/>
                </a:solidFill>
                <a:latin typeface="Aptos"/>
                <a:ea typeface="Aptos"/>
                <a:cs typeface="Aptos"/>
              </a:rPr>
              <a:t>Bullet: remember who fired it</a:t>
            </a:r>
          </a:p>
        </p:txBody>
      </p:sp>
      <p:sp>
        <p:nvSpPr>
          <p:cNvPr id="2" name="owner stores a reference; negative y velocity moves upward">
            <a:extLst xmlns:a="http://schemas.openxmlformats.org/drawingml/2006/main">
              <a:ext uri="{FF2B5EF4-FFF2-40B4-BE49-F238E27FC236}">
                <a16:creationId xmlns:a16="http://schemas.microsoft.com/office/drawing/2014/main" id="{32CE9B7D-BA57-481D-9139-09C3AD730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181100"/>
            <a:ext cx="11001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68EDBE"/>
                </a:solidFill>
                <a:latin typeface="Aptos"/>
                <a:ea typeface="Aptos"/>
                <a:cs typeface="Aptos"/>
              </a:rPr>
              <a:t>owner stores a reference; negative y velocity moves upward</a:t>
            </a:r>
          </a:p>
        </p:txBody>
      </p:sp>
      <p:sp>
        <p:nvSpPr>
          <p:cNvPr id="3" name="def __init__(self, name, owner):">
            <a:extLst xmlns:a="http://schemas.openxmlformats.org/drawingml/2006/main">
              <a:ext uri="{FF2B5EF4-FFF2-40B4-BE49-F238E27FC236}">
                <a16:creationId xmlns:a16="http://schemas.microsoft.com/office/drawing/2014/main" id="{2CF44F06-D9FF-4E0F-8C21-18898BDE6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9145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def __init__(self, name, owner):</a:t>
            </a:r>
          </a:p>
        </p:txBody>
      </p:sp>
      <p:sp>
        <p:nvSpPr>
          <p:cNvPr id="4" name="    position = (owner.rect.centerx, owner.rect.top - 9)">
            <a:extLst xmlns:a="http://schemas.openxmlformats.org/drawingml/2006/main">
              <a:ext uri="{FF2B5EF4-FFF2-40B4-BE49-F238E27FC236}">
                <a16:creationId xmlns:a16="http://schemas.microsoft.com/office/drawing/2014/main" id="{3859F918-1AED-41F6-970C-895978196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3837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position = (owner.rect.centerx, owner.rect.top - 9)</a:t>
            </a:r>
          </a:p>
        </p:txBody>
      </p:sp>
      <p:sp>
        <p:nvSpPr>
          <p:cNvPr id="5" name="    super().__init__(name, position, (8, 20))">
            <a:extLst xmlns:a="http://schemas.openxmlformats.org/drawingml/2006/main">
              <a:ext uri="{FF2B5EF4-FFF2-40B4-BE49-F238E27FC236}">
                <a16:creationId xmlns:a16="http://schemas.microsoft.com/office/drawing/2014/main" id="{8D26D034-7EE0-45FF-B92A-6805CF12B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5622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super().__init__(name, position, (8, 20))</a:t>
            </a:r>
          </a:p>
        </p:txBody>
      </p:sp>
      <p:sp>
        <p:nvSpPr>
          <p:cNvPr id="6" name="    self.owner = owner">
            <a:extLst xmlns:a="http://schemas.openxmlformats.org/drawingml/2006/main">
              <a:ext uri="{FF2B5EF4-FFF2-40B4-BE49-F238E27FC236}">
                <a16:creationId xmlns:a16="http://schemas.microsoft.com/office/drawing/2014/main" id="{5589FDC4-A344-44C4-B852-46D03E2BB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8607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self.owner = owner</a:t>
            </a:r>
          </a:p>
        </p:txBody>
      </p:sp>
      <p:sp>
        <p:nvSpPr>
          <p:cNvPr id="7" name="    self.damage = 1">
            <a:extLst xmlns:a="http://schemas.openxmlformats.org/drawingml/2006/main">
              <a:ext uri="{FF2B5EF4-FFF2-40B4-BE49-F238E27FC236}">
                <a16:creationId xmlns:a16="http://schemas.microsoft.com/office/drawing/2014/main" id="{A2F6D015-3D6A-4B9E-8799-CA54FF377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2099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self.damage = 1</a:t>
            </a:r>
          </a:p>
        </p:txBody>
      </p:sp>
      <p:sp>
        <p:nvSpPr>
          <p:cNvPr id="8" name="    self.velocity.y = -BULLET_SPEED">
            <a:extLst xmlns:a="http://schemas.openxmlformats.org/drawingml/2006/main">
              <a:ext uri="{FF2B5EF4-FFF2-40B4-BE49-F238E27FC236}">
                <a16:creationId xmlns:a16="http://schemas.microsoft.com/office/drawing/2014/main" id="{65B93B56-7B83-42DE-9C8F-ED06716D0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53377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self.velocity.y = -BULLET_SPEED</a:t>
            </a:r>
          </a:p>
        </p:txBody>
      </p:sp>
      <p:sp>
        <p:nvSpPr>
          <p:cNvPr id="9" name="owner is a Player object, not a string or a copy.">
            <a:extLst xmlns:a="http://schemas.openxmlformats.org/drawingml/2006/main">
              <a:ext uri="{FF2B5EF4-FFF2-40B4-BE49-F238E27FC236}">
                <a16:creationId xmlns:a16="http://schemas.microsoft.com/office/drawing/2014/main" id="{2070E692-ED79-40A5-9879-04E264A3E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67325"/>
            <a:ext cx="5191125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68EDBE"/>
                </a:solidFill>
                <a:latin typeface="Aptos"/>
                <a:ea typeface="Aptos"/>
                <a:cs typeface="Aptos"/>
              </a:rPr>
              <a:t>owner is a Player object, not a string or a copy.</a:t>
            </a:r>
          </a:p>
        </p:txBody>
      </p:sp>
      <p:sp>
        <p:nvSpPr>
          <p:cNvPr id="10" name="Drawing details are omitted here; damage is 1.">
            <a:extLst xmlns:a="http://schemas.openxmlformats.org/drawingml/2006/main">
              <a:ext uri="{FF2B5EF4-FFF2-40B4-BE49-F238E27FC236}">
                <a16:creationId xmlns:a16="http://schemas.microsoft.com/office/drawing/2014/main" id="{A2C5B933-60CF-435A-A95E-BD1607ED4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267325"/>
            <a:ext cx="5191125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68EDBE"/>
                </a:solidFill>
                <a:latin typeface="Aptos"/>
                <a:ea typeface="Aptos"/>
                <a:cs typeface="Aptos"/>
              </a:rPr>
              <a:t>Drawing details are omitted here; damage is 1.</a:t>
            </a:r>
          </a:p>
        </p:txBody>
      </p:sp>
      <p:sp>
        <p:nvSpPr>
          <p:cNvPr id="11" name="actors.py · Bullet.__init__() · excerpt">
            <a:extLst xmlns:a="http://schemas.openxmlformats.org/drawingml/2006/main">
              <a:ext uri="{FF2B5EF4-FFF2-40B4-BE49-F238E27FC236}">
                <a16:creationId xmlns:a16="http://schemas.microsoft.com/office/drawing/2014/main" id="{7742B578-B8E9-407D-A1B1-0072C8581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67475"/>
            <a:ext cx="1047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actors.py · Bullet.__init__() · excerpt</a:t>
            </a:r>
          </a:p>
        </p:txBody>
      </p:sp>
      <p:sp>
        <p:nvSpPr>
          <p:cNvPr id="12" name="17">
            <a:extLst xmlns:a="http://schemas.openxmlformats.org/drawingml/2006/main">
              <a:ext uri="{FF2B5EF4-FFF2-40B4-BE49-F238E27FC236}">
                <a16:creationId xmlns:a16="http://schemas.microsoft.com/office/drawing/2014/main" id="{6C64E478-F9D0-4CF7-B647-E74ABA235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05575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DF4FB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1782962615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0B14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Game: add the new bullet to the scene">
            <a:extLst xmlns:a="http://schemas.openxmlformats.org/drawingml/2006/main">
              <a:ext uri="{FF2B5EF4-FFF2-40B4-BE49-F238E27FC236}">
                <a16:creationId xmlns:a16="http://schemas.microsoft.com/office/drawing/2014/main" id="{EAB070BC-3B97-4133-AD8F-9CC5EF75E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2862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pPr>
            <a:r>
              <a:rPr sz="3300" b="1">
                <a:solidFill>
                  <a:srgbClr val="EDF4FB"/>
                </a:solidFill>
                <a:latin typeface="Aptos"/>
                <a:ea typeface="Aptos"/>
                <a:cs typeface="Aptos"/>
              </a:rPr>
              <a:t>Game: add the new bullet to the scene</a:t>
            </a:r>
          </a:p>
        </p:txBody>
      </p:sp>
      <p:sp>
        <p:nvSpPr>
          <p:cNvPr id="2" name="Constructing an object and adding it to a group are separate steps">
            <a:extLst xmlns:a="http://schemas.openxmlformats.org/drawingml/2006/main">
              <a:ext uri="{FF2B5EF4-FFF2-40B4-BE49-F238E27FC236}">
                <a16:creationId xmlns:a16="http://schemas.microsoft.com/office/drawing/2014/main" id="{D7F20334-EF67-4A61-8189-B0221D7C4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181100"/>
            <a:ext cx="11001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68EDBE"/>
                </a:solidFill>
                <a:latin typeface="Aptos"/>
                <a:ea typeface="Aptos"/>
                <a:cs typeface="Aptos"/>
              </a:rPr>
              <a:t>Constructing an object and adding it to a group are separate steps</a:t>
            </a:r>
          </a:p>
        </p:txBody>
      </p:sp>
      <p:sp>
        <p:nvSpPr>
          <p:cNvPr id="3" name="bullet = self.player.shoot(f&quot;B{self.next_bullet:02}&quot;)">
            <a:extLst xmlns:a="http://schemas.openxmlformats.org/drawingml/2006/main">
              <a:ext uri="{FF2B5EF4-FFF2-40B4-BE49-F238E27FC236}">
                <a16:creationId xmlns:a16="http://schemas.microsoft.com/office/drawing/2014/main" id="{7E5FEDE4-1A1C-4AB2-A59A-6C89B88C8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9145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bullet = self.player.shoot(f"B{self.next_bullet:02}")</a:t>
            </a:r>
          </a:p>
        </p:txBody>
      </p:sp>
      <p:sp>
        <p:nvSpPr>
          <p:cNvPr id="4" name="if bullet is not None:">
            <a:extLst xmlns:a="http://schemas.openxmlformats.org/drawingml/2006/main">
              <a:ext uri="{FF2B5EF4-FFF2-40B4-BE49-F238E27FC236}">
                <a16:creationId xmlns:a16="http://schemas.microsoft.com/office/drawing/2014/main" id="{9A0E9BEA-9CF1-4448-9D7D-AEBAD0545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3837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if bullet is not None:</a:t>
            </a:r>
          </a:p>
        </p:txBody>
      </p:sp>
      <p:sp>
        <p:nvSpPr>
          <p:cNvPr id="5" name="    self.next_bullet += 1">
            <a:extLst xmlns:a="http://schemas.openxmlformats.org/drawingml/2006/main">
              <a:ext uri="{FF2B5EF4-FFF2-40B4-BE49-F238E27FC236}">
                <a16:creationId xmlns:a16="http://schemas.microsoft.com/office/drawing/2014/main" id="{AFEE9830-D423-4EDE-9B18-F5F0A6C04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5622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self.next_bullet += 1</a:t>
            </a:r>
          </a:p>
        </p:txBody>
      </p:sp>
      <p:sp>
        <p:nvSpPr>
          <p:cNvPr id="6" name="    self.bullets.add(bullet)">
            <a:extLst xmlns:a="http://schemas.openxmlformats.org/drawingml/2006/main">
              <a:ext uri="{FF2B5EF4-FFF2-40B4-BE49-F238E27FC236}">
                <a16:creationId xmlns:a16="http://schemas.microsoft.com/office/drawing/2014/main" id="{01E7F430-8C4D-4D63-91B4-47F30068E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8607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self.bullets.add(bullet)</a:t>
            </a:r>
          </a:p>
        </p:txBody>
      </p:sp>
      <p:sp>
        <p:nvSpPr>
          <p:cNvPr id="7" name="    self.all_sprites.add(bullet)">
            <a:extLst xmlns:a="http://schemas.openxmlformats.org/drawingml/2006/main">
              <a:ext uri="{FF2B5EF4-FFF2-40B4-BE49-F238E27FC236}">
                <a16:creationId xmlns:a16="http://schemas.microsoft.com/office/drawing/2014/main" id="{F3C2C40E-FA01-4149-954C-6E6B3014A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2099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self.all_sprites.add(bullet)</a:t>
            </a:r>
          </a:p>
        </p:txBody>
      </p:sp>
      <p:sp>
        <p:nvSpPr>
          <p:cNvPr id="8" name="Player creates the Bullet; Game chooses its group memberships.">
            <a:extLst xmlns:a="http://schemas.openxmlformats.org/drawingml/2006/main">
              <a:ext uri="{FF2B5EF4-FFF2-40B4-BE49-F238E27FC236}">
                <a16:creationId xmlns:a16="http://schemas.microsoft.com/office/drawing/2014/main" id="{2B451067-406D-438F-936F-6B5FBF146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67325"/>
            <a:ext cx="5191125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68EDBE"/>
                </a:solidFill>
                <a:latin typeface="Aptos"/>
                <a:ea typeface="Aptos"/>
                <a:cs typeface="Aptos"/>
              </a:rPr>
              <a:t>Player creates the Bullet; Game chooses its group memberships.</a:t>
            </a:r>
          </a:p>
        </p:txBody>
      </p:sp>
      <p:sp>
        <p:nvSpPr>
          <p:cNvPr id="9" name="bullets enables collision checks; all_sprites enables updates and drawing.">
            <a:extLst xmlns:a="http://schemas.openxmlformats.org/drawingml/2006/main">
              <a:ext uri="{FF2B5EF4-FFF2-40B4-BE49-F238E27FC236}">
                <a16:creationId xmlns:a16="http://schemas.microsoft.com/office/drawing/2014/main" id="{3AF34DCA-9CE5-4C2F-80AC-0C41C1AAE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267325"/>
            <a:ext cx="5191125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68EDBE"/>
                </a:solidFill>
                <a:latin typeface="Aptos"/>
                <a:ea typeface="Aptos"/>
                <a:cs typeface="Aptos"/>
              </a:rPr>
              <a:t>bullets enables collision checks; all_sprites enables updates and drawing.</a:t>
            </a:r>
          </a:p>
        </p:txBody>
      </p:sp>
      <p:sp>
        <p:nvSpPr>
          <p:cNvPr id="10" name="game.py · Game.try_shoot() · excerpt">
            <a:extLst xmlns:a="http://schemas.openxmlformats.org/drawingml/2006/main">
              <a:ext uri="{FF2B5EF4-FFF2-40B4-BE49-F238E27FC236}">
                <a16:creationId xmlns:a16="http://schemas.microsoft.com/office/drawing/2014/main" id="{F70FDE1B-217B-45F9-ACC6-651E182F7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67475"/>
            <a:ext cx="1047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game.py · Game.try_shoot() · excerpt</a:t>
            </a:r>
          </a:p>
        </p:txBody>
      </p:sp>
      <p:sp>
        <p:nvSpPr>
          <p:cNvPr id="11" name="18">
            <a:extLst xmlns:a="http://schemas.openxmlformats.org/drawingml/2006/main">
              <a:ext uri="{FF2B5EF4-FFF2-40B4-BE49-F238E27FC236}">
                <a16:creationId xmlns:a16="http://schemas.microsoft.com/office/drawing/2014/main" id="{ACAFB9AC-B6CB-48F9-9889-A82E6FD84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05575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DF4FB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813353831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Polymorphism: one call, different behavior">
            <a:extLst xmlns:a="http://schemas.openxmlformats.org/drawingml/2006/main">
              <a:ext uri="{FF2B5EF4-FFF2-40B4-BE49-F238E27FC236}">
                <a16:creationId xmlns:a16="http://schemas.microsoft.com/office/drawing/2014/main" id="{D0E7D051-EC74-43B7-9005-D0297E969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2862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pPr>
            <a:r>
              <a:rPr sz="3300" b="1">
                <a:solidFill>
                  <a:srgbClr val="172C40"/>
                </a:solidFill>
                <a:latin typeface="Aptos"/>
                <a:ea typeface="Aptos"/>
                <a:cs typeface="Aptos"/>
              </a:rPr>
              <a:t>Polymorphism: one call, different behavior</a:t>
            </a:r>
          </a:p>
        </p:txBody>
      </p:sp>
      <p:sp>
        <p:nvSpPr>
          <p:cNvPr id="2" name="game.all_sprites.update(dt)">
            <a:extLst xmlns:a="http://schemas.openxmlformats.org/drawingml/2006/main">
              <a:ext uri="{FF2B5EF4-FFF2-40B4-BE49-F238E27FC236}">
                <a16:creationId xmlns:a16="http://schemas.microsoft.com/office/drawing/2014/main" id="{18424EB8-6EB7-4384-BF6A-5F5E5B83F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181100"/>
            <a:ext cx="11001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5B7082"/>
                </a:solidFill>
                <a:latin typeface="Aptos"/>
                <a:ea typeface="Aptos"/>
                <a:cs typeface="Aptos"/>
              </a:rPr>
              <a:t>game.all_sprites.update(dt)</a:t>
            </a:r>
          </a:p>
        </p:txBody>
      </p:sp>
      <p:sp>
        <p:nvSpPr>
          <p:cNvPr id="3" name="01">
            <a:extLst xmlns:a="http://schemas.openxmlformats.org/drawingml/2006/main">
              <a:ext uri="{FF2B5EF4-FFF2-40B4-BE49-F238E27FC236}">
                <a16:creationId xmlns:a16="http://schemas.microsoft.com/office/drawing/2014/main" id="{64FCF1B6-AA6A-4DEB-9C1B-9BA54CBE1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971675"/>
            <a:ext cx="685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62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62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62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62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62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62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62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62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62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262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pPr>
            <a:r>
              <a:rPr sz="2625" b="1">
                <a:solidFill>
                  <a:srgbClr val="087C62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4" name="Player.update: move, clamp to the field, update cooldown and invulnerability.">
            <a:extLst xmlns:a="http://schemas.openxmlformats.org/drawingml/2006/main">
              <a:ext uri="{FF2B5EF4-FFF2-40B4-BE49-F238E27FC236}">
                <a16:creationId xmlns:a16="http://schemas.microsoft.com/office/drawing/2014/main" id="{24671DE0-3B3D-4283-832C-E42023802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1990725"/>
            <a:ext cx="9858375" cy="1171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3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3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3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3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3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3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3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3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3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23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pPr>
            <a:r>
              <a:rPr sz="2325" b="0">
                <a:solidFill>
                  <a:srgbClr val="172C40"/>
                </a:solidFill>
                <a:latin typeface="Aptos"/>
                <a:ea typeface="Aptos"/>
                <a:cs typeface="Aptos"/>
              </a:rPr>
              <a:t>Player.update: move, clamp to the field, update cooldown and invulnerability.</a:t>
            </a:r>
          </a:p>
        </p:txBody>
      </p:sp>
      <p:sp>
        <p:nvSpPr>
          <p:cNvPr id="5" name="02">
            <a:extLst xmlns:a="http://schemas.openxmlformats.org/drawingml/2006/main">
              <a:ext uri="{FF2B5EF4-FFF2-40B4-BE49-F238E27FC236}">
                <a16:creationId xmlns:a16="http://schemas.microsoft.com/office/drawing/2014/main" id="{0BE56FDE-AEAD-4E29-8B9D-DD642A705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400425"/>
            <a:ext cx="685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62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62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62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62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62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62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62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62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62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262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pPr>
            <a:r>
              <a:rPr sz="2625" b="1">
                <a:solidFill>
                  <a:srgbClr val="087C62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6" name="Enemy inherits Actor.update and moves downward using its own velocity.">
            <a:extLst xmlns:a="http://schemas.openxmlformats.org/drawingml/2006/main">
              <a:ext uri="{FF2B5EF4-FFF2-40B4-BE49-F238E27FC236}">
                <a16:creationId xmlns:a16="http://schemas.microsoft.com/office/drawing/2014/main" id="{34C7EBE0-EBBB-4B27-BCF2-BBA151C15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3419475"/>
            <a:ext cx="9858375" cy="1171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3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3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3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3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3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3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3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3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3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23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pPr>
            <a:r>
              <a:rPr sz="2325" b="0">
                <a:solidFill>
                  <a:srgbClr val="172C40"/>
                </a:solidFill>
                <a:latin typeface="Aptos"/>
                <a:ea typeface="Aptos"/>
                <a:cs typeface="Aptos"/>
              </a:rPr>
              <a:t>Enemy inherits Actor.update and moves downward using its own velocity.</a:t>
            </a:r>
          </a:p>
        </p:txBody>
      </p:sp>
      <p:sp>
        <p:nvSpPr>
          <p:cNvPr id="7" name="03">
            <a:extLst xmlns:a="http://schemas.openxmlformats.org/drawingml/2006/main">
              <a:ext uri="{FF2B5EF4-FFF2-40B4-BE49-F238E27FC236}">
                <a16:creationId xmlns:a16="http://schemas.microsoft.com/office/drawing/2014/main" id="{4C634D88-6056-43DD-8A58-99CE53515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829175"/>
            <a:ext cx="685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62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62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62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62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62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62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62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62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62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262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pPr>
            <a:r>
              <a:rPr sz="2625" b="1">
                <a:solidFill>
                  <a:srgbClr val="087C62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8" name="Bullet.update: move, then kill() when it leaves the top edge.">
            <a:extLst xmlns:a="http://schemas.openxmlformats.org/drawingml/2006/main">
              <a:ext uri="{FF2B5EF4-FFF2-40B4-BE49-F238E27FC236}">
                <a16:creationId xmlns:a16="http://schemas.microsoft.com/office/drawing/2014/main" id="{78ED98A2-DB5C-4D33-ABD9-6E7E83F68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4848225"/>
            <a:ext cx="9858375" cy="1171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3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3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3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3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3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3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3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3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3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23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pPr>
            <a:r>
              <a:rPr sz="2325" b="0">
                <a:solidFill>
                  <a:srgbClr val="172C40"/>
                </a:solidFill>
                <a:latin typeface="Aptos"/>
                <a:ea typeface="Aptos"/>
                <a:cs typeface="Aptos"/>
              </a:rPr>
              <a:t>Bullet.update: move, then kill() when it leaves the top edge.</a:t>
            </a:r>
          </a:p>
        </p:txBody>
      </p:sp>
      <p:sp>
        <p:nvSpPr>
          <p:cNvPr id="9" name="19">
            <a:extLst xmlns:a="http://schemas.openxmlformats.org/drawingml/2006/main">
              <a:ext uri="{FF2B5EF4-FFF2-40B4-BE49-F238E27FC236}">
                <a16:creationId xmlns:a16="http://schemas.microsoft.com/office/drawing/2014/main" id="{B0D5F5D1-42F9-4221-B22F-C0D901BC3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05575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B7082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185566490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0B14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Enemy: manage its own damage state">
            <a:extLst xmlns:a="http://schemas.openxmlformats.org/drawingml/2006/main">
              <a:ext uri="{FF2B5EF4-FFF2-40B4-BE49-F238E27FC236}">
                <a16:creationId xmlns:a16="http://schemas.microsoft.com/office/drawing/2014/main" id="{BEA5D201-0CBC-41D2-9F50-578CD28D1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2862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pPr>
            <a:r>
              <a:rPr sz="3300" b="1">
                <a:solidFill>
                  <a:srgbClr val="EDF4FB"/>
                </a:solidFill>
                <a:latin typeface="Aptos"/>
                <a:ea typeface="Aptos"/>
                <a:cs typeface="Aptos"/>
              </a:rPr>
              <a:t>Enemy: manage its own damage state</a:t>
            </a:r>
          </a:p>
        </p:txBody>
      </p:sp>
      <p:sp>
        <p:nvSpPr>
          <p:cNvPr id="2" name="Game asks whether it was defeated; Enemy manages its HP">
            <a:extLst xmlns:a="http://schemas.openxmlformats.org/drawingml/2006/main">
              <a:ext uri="{FF2B5EF4-FFF2-40B4-BE49-F238E27FC236}">
                <a16:creationId xmlns:a16="http://schemas.microsoft.com/office/drawing/2014/main" id="{0CD5C462-10EA-41A3-B811-93F76383E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181100"/>
            <a:ext cx="11001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68EDBE"/>
                </a:solidFill>
                <a:latin typeface="Aptos"/>
                <a:ea typeface="Aptos"/>
                <a:cs typeface="Aptos"/>
              </a:rPr>
              <a:t>Game asks whether it was defeated; Enemy manages its HP</a:t>
            </a:r>
          </a:p>
        </p:txBody>
      </p:sp>
      <p:sp>
        <p:nvSpPr>
          <p:cNvPr id="3" name="def take_hit(self, damage):">
            <a:extLst xmlns:a="http://schemas.openxmlformats.org/drawingml/2006/main">
              <a:ext uri="{FF2B5EF4-FFF2-40B4-BE49-F238E27FC236}">
                <a16:creationId xmlns:a16="http://schemas.microsoft.com/office/drawing/2014/main" id="{2854EDF4-01EB-414A-B41A-8A05A9CF2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9145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def take_hit(self, damage):</a:t>
            </a:r>
          </a:p>
        </p:txBody>
      </p:sp>
      <p:sp>
        <p:nvSpPr>
          <p:cNvPr id="4" name="    self.hp = max(0, self.hp - damage)">
            <a:extLst xmlns:a="http://schemas.openxmlformats.org/drawingml/2006/main">
              <a:ext uri="{FF2B5EF4-FFF2-40B4-BE49-F238E27FC236}">
                <a16:creationId xmlns:a16="http://schemas.microsoft.com/office/drawing/2014/main" id="{7679D9A4-8D55-45F1-8299-BB9F41533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3837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self.hp = max(0, self.hp - damage)</a:t>
            </a:r>
          </a:p>
        </p:txBody>
      </p:sp>
      <p:sp>
        <p:nvSpPr>
          <p:cNvPr id="5" name="    if self.hp == 0:">
            <a:extLst xmlns:a="http://schemas.openxmlformats.org/drawingml/2006/main">
              <a:ext uri="{FF2B5EF4-FFF2-40B4-BE49-F238E27FC236}">
                <a16:creationId xmlns:a16="http://schemas.microsoft.com/office/drawing/2014/main" id="{F5CF6B1D-0715-4BB6-8282-E5BB9797E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5622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if self.hp == 0:</a:t>
            </a:r>
          </a:p>
        </p:txBody>
      </p:sp>
      <p:sp>
        <p:nvSpPr>
          <p:cNvPr id="6" name="        self.kill()">
            <a:extLst xmlns:a="http://schemas.openxmlformats.org/drawingml/2006/main">
              <a:ext uri="{FF2B5EF4-FFF2-40B4-BE49-F238E27FC236}">
                <a16:creationId xmlns:a16="http://schemas.microsoft.com/office/drawing/2014/main" id="{9387D915-C897-494E-B5B6-9007AA09C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8607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self.kill()</a:t>
            </a:r>
          </a:p>
        </p:txBody>
      </p:sp>
      <p:sp>
        <p:nvSpPr>
          <p:cNvPr id="7" name="        return True">
            <a:extLst xmlns:a="http://schemas.openxmlformats.org/drawingml/2006/main">
              <a:ext uri="{FF2B5EF4-FFF2-40B4-BE49-F238E27FC236}">
                <a16:creationId xmlns:a16="http://schemas.microsoft.com/office/drawing/2014/main" id="{B909A015-23C3-4689-9662-2E62AB1E6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2099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return True</a:t>
            </a:r>
          </a:p>
        </p:txBody>
      </p:sp>
      <p:sp>
        <p:nvSpPr>
          <p:cNvPr id="8" name="    return False">
            <a:extLst xmlns:a="http://schemas.openxmlformats.org/drawingml/2006/main">
              <a:ext uri="{FF2B5EF4-FFF2-40B4-BE49-F238E27FC236}">
                <a16:creationId xmlns:a16="http://schemas.microsoft.com/office/drawing/2014/main" id="{E2044776-B2AD-4BC1-B244-692DF6949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53377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return False</a:t>
            </a:r>
          </a:p>
        </p:txBody>
      </p:sp>
      <p:sp>
        <p:nvSpPr>
          <p:cNvPr id="9" name="max(0, ...) prevents HP from becoming negative.">
            <a:extLst xmlns:a="http://schemas.openxmlformats.org/drawingml/2006/main">
              <a:ext uri="{FF2B5EF4-FFF2-40B4-BE49-F238E27FC236}">
                <a16:creationId xmlns:a16="http://schemas.microsoft.com/office/drawing/2014/main" id="{282F1E7D-24BB-4440-82A5-94C2023B4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67325"/>
            <a:ext cx="5191125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68EDBE"/>
                </a:solidFill>
                <a:latin typeface="Aptos"/>
                <a:ea typeface="Aptos"/>
                <a:cs typeface="Aptos"/>
              </a:rPr>
              <a:t>max(0, ...) prevents HP from becoming negative.</a:t>
            </a:r>
          </a:p>
        </p:txBody>
      </p:sp>
      <p:sp>
        <p:nvSpPr>
          <p:cNvPr id="10" name="True reports defeat; Game then awards the points.">
            <a:extLst xmlns:a="http://schemas.openxmlformats.org/drawingml/2006/main">
              <a:ext uri="{FF2B5EF4-FFF2-40B4-BE49-F238E27FC236}">
                <a16:creationId xmlns:a16="http://schemas.microsoft.com/office/drawing/2014/main" id="{B4C228B4-7CC7-44E2-B2DC-3AA55ADE9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267325"/>
            <a:ext cx="5191125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68EDBE"/>
                </a:solidFill>
                <a:latin typeface="Aptos"/>
                <a:ea typeface="Aptos"/>
                <a:cs typeface="Aptos"/>
              </a:rPr>
              <a:t>True reports defeat; Game then awards the points.</a:t>
            </a:r>
          </a:p>
        </p:txBody>
      </p:sp>
      <p:sp>
        <p:nvSpPr>
          <p:cNvPr id="11" name="actors.py · Enemy.take_hit()">
            <a:extLst xmlns:a="http://schemas.openxmlformats.org/drawingml/2006/main">
              <a:ext uri="{FF2B5EF4-FFF2-40B4-BE49-F238E27FC236}">
                <a16:creationId xmlns:a16="http://schemas.microsoft.com/office/drawing/2014/main" id="{88941FC8-50CD-4CB1-B358-24262991A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67475"/>
            <a:ext cx="1047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actors.py · Enemy.take_hit()</a:t>
            </a:r>
          </a:p>
        </p:txBody>
      </p:sp>
      <p:sp>
        <p:nvSpPr>
          <p:cNvPr id="12" name="20">
            <a:extLst xmlns:a="http://schemas.openxmlformats.org/drawingml/2006/main">
              <a:ext uri="{FF2B5EF4-FFF2-40B4-BE49-F238E27FC236}">
                <a16:creationId xmlns:a16="http://schemas.microsoft.com/office/drawing/2014/main" id="{9352CFE1-B46B-4E75-88C2-A05E7C691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05575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DF4FB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1662493447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0B14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Collision: one bullet, one hit">
            <a:extLst xmlns:a="http://schemas.openxmlformats.org/drawingml/2006/main">
              <a:ext uri="{FF2B5EF4-FFF2-40B4-BE49-F238E27FC236}">
                <a16:creationId xmlns:a16="http://schemas.microsoft.com/office/drawing/2014/main" id="{4488F987-5AB6-4E0C-AB73-9443B1719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2862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pPr>
            <a:r>
              <a:rPr sz="3300" b="1">
                <a:solidFill>
                  <a:srgbClr val="EDF4FB"/>
                </a:solidFill>
                <a:latin typeface="Aptos"/>
                <a:ea typeface="Aptos"/>
                <a:cs typeface="Aptos"/>
              </a:rPr>
              <a:t>Collision: one bullet, one hit</a:t>
            </a:r>
          </a:p>
        </p:txBody>
      </p:sp>
      <p:sp>
        <p:nvSpPr>
          <p:cNvPr id="2" name="Use rect overlap; this example does not use pixel masks">
            <a:extLst xmlns:a="http://schemas.openxmlformats.org/drawingml/2006/main">
              <a:ext uri="{FF2B5EF4-FFF2-40B4-BE49-F238E27FC236}">
                <a16:creationId xmlns:a16="http://schemas.microsoft.com/office/drawing/2014/main" id="{E593EF26-94CB-47E9-A3AA-E766CAEB5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181100"/>
            <a:ext cx="11001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68EDBE"/>
                </a:solidFill>
                <a:latin typeface="Aptos"/>
                <a:ea typeface="Aptos"/>
                <a:cs typeface="Aptos"/>
              </a:rPr>
              <a:t>Use rect overlap; this example does not use pixel masks</a:t>
            </a:r>
          </a:p>
        </p:txBody>
      </p:sp>
      <p:sp>
        <p:nvSpPr>
          <p:cNvPr id="3" name="for bullet in self.bullets.sprites():">
            <a:extLst xmlns:a="http://schemas.openxmlformats.org/drawingml/2006/main">
              <a:ext uri="{FF2B5EF4-FFF2-40B4-BE49-F238E27FC236}">
                <a16:creationId xmlns:a16="http://schemas.microsoft.com/office/drawing/2014/main" id="{821C422A-BD47-41C6-B449-6ADD1E65B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9145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for bullet in self.bullets.sprites():</a:t>
            </a:r>
          </a:p>
        </p:txBody>
      </p:sp>
      <p:sp>
        <p:nvSpPr>
          <p:cNvPr id="4" name="    hits = pygame.sprite.spritecollide(">
            <a:extLst xmlns:a="http://schemas.openxmlformats.org/drawingml/2006/main">
              <a:ext uri="{FF2B5EF4-FFF2-40B4-BE49-F238E27FC236}">
                <a16:creationId xmlns:a16="http://schemas.microsoft.com/office/drawing/2014/main" id="{5EF9CAEA-9E96-4028-9ACD-E4569FCF9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3837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hits = pygame.sprite.spritecollide(</a:t>
            </a:r>
          </a:p>
        </p:txBody>
      </p:sp>
      <p:sp>
        <p:nvSpPr>
          <p:cNvPr id="5" name="        bullet, self.enemies, False)">
            <a:extLst xmlns:a="http://schemas.openxmlformats.org/drawingml/2006/main">
              <a:ext uri="{FF2B5EF4-FFF2-40B4-BE49-F238E27FC236}">
                <a16:creationId xmlns:a16="http://schemas.microsoft.com/office/drawing/2014/main" id="{68F10A7C-88B6-4A32-9EB6-7B72AF6C5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5622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bullet, self.enemies, False)</a:t>
            </a:r>
          </a:p>
        </p:txBody>
      </p:sp>
      <p:sp>
        <p:nvSpPr>
          <p:cNvPr id="6" name="    if hits:">
            <a:extLst xmlns:a="http://schemas.openxmlformats.org/drawingml/2006/main">
              <a:ext uri="{FF2B5EF4-FFF2-40B4-BE49-F238E27FC236}">
                <a16:creationId xmlns:a16="http://schemas.microsoft.com/office/drawing/2014/main" id="{8BCC0F2A-39FF-474D-B8D5-C8B1E60B4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8607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if hits:</a:t>
            </a:r>
          </a:p>
        </p:txBody>
      </p:sp>
      <p:sp>
        <p:nvSpPr>
          <p:cNvPr id="7" name="        enemy = hits[0]">
            <a:extLst xmlns:a="http://schemas.openxmlformats.org/drawingml/2006/main">
              <a:ext uri="{FF2B5EF4-FFF2-40B4-BE49-F238E27FC236}">
                <a16:creationId xmlns:a16="http://schemas.microsoft.com/office/drawing/2014/main" id="{856779E1-FFC0-4E3C-AB9D-744F84CEB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2099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enemy = hits[0]</a:t>
            </a:r>
          </a:p>
        </p:txBody>
      </p:sp>
      <p:sp>
        <p:nvSpPr>
          <p:cNvPr id="8" name="        destroyed = enemy.take_hit(bullet.damage)">
            <a:extLst xmlns:a="http://schemas.openxmlformats.org/drawingml/2006/main">
              <a:ext uri="{FF2B5EF4-FFF2-40B4-BE49-F238E27FC236}">
                <a16:creationId xmlns:a16="http://schemas.microsoft.com/office/drawing/2014/main" id="{2C4BA4E1-7367-4AF3-96AF-1C987D7A2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53377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destroyed = enemy.take_hit(bullet.damage)</a:t>
            </a:r>
          </a:p>
        </p:txBody>
      </p:sp>
      <p:sp>
        <p:nvSpPr>
          <p:cNvPr id="9" name="        bullet.kill()">
            <a:extLst xmlns:a="http://schemas.openxmlformats.org/drawingml/2006/main">
              <a:ext uri="{FF2B5EF4-FFF2-40B4-BE49-F238E27FC236}">
                <a16:creationId xmlns:a16="http://schemas.microsoft.com/office/drawing/2014/main" id="{C44E3C37-79EE-4023-A257-ED57AFCE1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8576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bullet.kill()</a:t>
            </a:r>
          </a:p>
        </p:txBody>
      </p:sp>
      <p:sp>
        <p:nvSpPr>
          <p:cNvPr id="10" name="        if destroyed:">
            <a:extLst xmlns:a="http://schemas.openxmlformats.org/drawingml/2006/main">
              <a:ext uri="{FF2B5EF4-FFF2-40B4-BE49-F238E27FC236}">
                <a16:creationId xmlns:a16="http://schemas.microsoft.com/office/drawing/2014/main" id="{19DE1696-E2CD-44C9-8ADB-1C0BDCE29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18147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if destroyed:</a:t>
            </a:r>
          </a:p>
        </p:txBody>
      </p:sp>
      <p:sp>
        <p:nvSpPr>
          <p:cNvPr id="11" name="            self.score += 10">
            <a:extLst xmlns:a="http://schemas.openxmlformats.org/drawingml/2006/main">
              <a:ext uri="{FF2B5EF4-FFF2-40B4-BE49-F238E27FC236}">
                <a16:creationId xmlns:a16="http://schemas.microsoft.com/office/drawing/2014/main" id="{26618274-61DC-4477-8976-716E2E5BB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5053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    self.score += 10</a:t>
            </a:r>
          </a:p>
        </p:txBody>
      </p:sp>
      <p:sp>
        <p:nvSpPr>
          <p:cNvPr id="12" name="hits[0] selects one enemy, so one bullet does not hit every overlapping enemy.">
            <a:extLst xmlns:a="http://schemas.openxmlformats.org/drawingml/2006/main">
              <a:ext uri="{FF2B5EF4-FFF2-40B4-BE49-F238E27FC236}">
                <a16:creationId xmlns:a16="http://schemas.microsoft.com/office/drawing/2014/main" id="{812BCE2A-0B06-4F16-AD54-57ADE088E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67325"/>
            <a:ext cx="5191125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68EDBE"/>
                </a:solidFill>
                <a:latin typeface="Aptos"/>
                <a:ea typeface="Aptos"/>
                <a:cs typeface="Aptos"/>
              </a:rPr>
              <a:t>hits[0] selects one enemy, so one bullet does not hit every overlapping enemy.</a:t>
            </a:r>
          </a:p>
        </p:txBody>
      </p:sp>
      <p:sp>
        <p:nvSpPr>
          <p:cNvPr id="13" name="Apply damage, remove the bullet, then add 10 only on defeat.">
            <a:extLst xmlns:a="http://schemas.openxmlformats.org/drawingml/2006/main">
              <a:ext uri="{FF2B5EF4-FFF2-40B4-BE49-F238E27FC236}">
                <a16:creationId xmlns:a16="http://schemas.microsoft.com/office/drawing/2014/main" id="{8B977DEB-C07A-4E27-AEE6-A98031E98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267325"/>
            <a:ext cx="5191125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68EDBE"/>
                </a:solidFill>
                <a:latin typeface="Aptos"/>
                <a:ea typeface="Aptos"/>
                <a:cs typeface="Aptos"/>
              </a:rPr>
              <a:t>Apply damage, remove the bullet, then add 10 only on defeat.</a:t>
            </a:r>
          </a:p>
        </p:txBody>
      </p:sp>
      <p:sp>
        <p:nvSpPr>
          <p:cNvPr id="14" name="game.py · Game.resolve_collisions() · excerpt">
            <a:extLst xmlns:a="http://schemas.openxmlformats.org/drawingml/2006/main">
              <a:ext uri="{FF2B5EF4-FFF2-40B4-BE49-F238E27FC236}">
                <a16:creationId xmlns:a16="http://schemas.microsoft.com/office/drawing/2014/main" id="{AC4AD11F-3AF6-4075-BD28-991FCE1EE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67475"/>
            <a:ext cx="1047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game.py · Game.resolve_collisions() · excerpt</a:t>
            </a:r>
          </a:p>
        </p:txBody>
      </p:sp>
      <p:sp>
        <p:nvSpPr>
          <p:cNvPr id="15" name="21">
            <a:extLst xmlns:a="http://schemas.openxmlformats.org/drawingml/2006/main">
              <a:ext uri="{FF2B5EF4-FFF2-40B4-BE49-F238E27FC236}">
                <a16:creationId xmlns:a16="http://schemas.microsoft.com/office/drawing/2014/main" id="{018F4510-924E-42BD-9E36-4BFEB2D8C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05575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DF4FB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280038897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0B14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Damage: Player keeps its state valid">
            <a:extLst xmlns:a="http://schemas.openxmlformats.org/drawingml/2006/main">
              <a:ext uri="{FF2B5EF4-FFF2-40B4-BE49-F238E27FC236}">
                <a16:creationId xmlns:a16="http://schemas.microsoft.com/office/drawing/2014/main" id="{E481FFE7-4D05-4BE7-AE0C-01BDF06F5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2862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pPr>
            <a:r>
              <a:rPr sz="3300" b="1">
                <a:solidFill>
                  <a:srgbClr val="EDF4FB"/>
                </a:solidFill>
                <a:latin typeface="Aptos"/>
                <a:ea typeface="Aptos"/>
                <a:cs typeface="Aptos"/>
              </a:rPr>
              <a:t>Damage: Player keeps its state valid</a:t>
            </a:r>
          </a:p>
        </p:txBody>
      </p:sp>
      <p:sp>
        <p:nvSpPr>
          <p:cNvPr id="2" name="Lose 1 HP per accepted hit, then gain 0.8 seconds of invulnerability">
            <a:extLst xmlns:a="http://schemas.openxmlformats.org/drawingml/2006/main">
              <a:ext uri="{FF2B5EF4-FFF2-40B4-BE49-F238E27FC236}">
                <a16:creationId xmlns:a16="http://schemas.microsoft.com/office/drawing/2014/main" id="{08DBF42B-96F3-4748-991E-A85957FB0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181100"/>
            <a:ext cx="11001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68EDBE"/>
                </a:solidFill>
                <a:latin typeface="Aptos"/>
                <a:ea typeface="Aptos"/>
                <a:cs typeface="Aptos"/>
              </a:rPr>
              <a:t>Lose 1 HP per accepted hit, then gain 0.8 seconds of invulnerability</a:t>
            </a:r>
          </a:p>
        </p:txBody>
      </p:sp>
      <p:sp>
        <p:nvSpPr>
          <p:cNvPr id="3" name="def take_damage(self):">
            <a:extLst xmlns:a="http://schemas.openxmlformats.org/drawingml/2006/main">
              <a:ext uri="{FF2B5EF4-FFF2-40B4-BE49-F238E27FC236}">
                <a16:creationId xmlns:a16="http://schemas.microsoft.com/office/drawing/2014/main" id="{CB2D8C28-F9C6-4AC9-9855-835755B44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9145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def take_damage(self):</a:t>
            </a:r>
          </a:p>
        </p:txBody>
      </p:sp>
      <p:sp>
        <p:nvSpPr>
          <p:cNvPr id="4" name="    if self.invulnerable &gt; 0 or self.hp == 0:">
            <a:extLst xmlns:a="http://schemas.openxmlformats.org/drawingml/2006/main">
              <a:ext uri="{FF2B5EF4-FFF2-40B4-BE49-F238E27FC236}">
                <a16:creationId xmlns:a16="http://schemas.microsoft.com/office/drawing/2014/main" id="{5B9CE568-3471-429F-8CCF-6D2AF2718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3837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if self.invulnerable &gt; 0 or self.hp == 0:</a:t>
            </a:r>
          </a:p>
        </p:txBody>
      </p:sp>
      <p:sp>
        <p:nvSpPr>
          <p:cNvPr id="5" name="        return False">
            <a:extLst xmlns:a="http://schemas.openxmlformats.org/drawingml/2006/main">
              <a:ext uri="{FF2B5EF4-FFF2-40B4-BE49-F238E27FC236}">
                <a16:creationId xmlns:a16="http://schemas.microsoft.com/office/drawing/2014/main" id="{18016E8F-BCEF-4031-9366-15A2E1775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5622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return False</a:t>
            </a:r>
          </a:p>
        </p:txBody>
      </p:sp>
      <p:sp>
        <p:nvSpPr>
          <p:cNvPr id="6" name="    self.hp -= 1">
            <a:extLst xmlns:a="http://schemas.openxmlformats.org/drawingml/2006/main">
              <a:ext uri="{FF2B5EF4-FFF2-40B4-BE49-F238E27FC236}">
                <a16:creationId xmlns:a16="http://schemas.microsoft.com/office/drawing/2014/main" id="{D31712C6-17A9-44CA-A8FE-2C3E622C4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8607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self.hp -= 1</a:t>
            </a:r>
          </a:p>
        </p:txBody>
      </p:sp>
      <p:sp>
        <p:nvSpPr>
          <p:cNvPr id="7" name="    self.invulnerable = 0.8">
            <a:extLst xmlns:a="http://schemas.openxmlformats.org/drawingml/2006/main">
              <a:ext uri="{FF2B5EF4-FFF2-40B4-BE49-F238E27FC236}">
                <a16:creationId xmlns:a16="http://schemas.microsoft.com/office/drawing/2014/main" id="{34B14202-4931-4B80-9AB3-1657C8ACB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2099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self.invulnerable = 0.8</a:t>
            </a:r>
          </a:p>
        </p:txBody>
      </p:sp>
      <p:sp>
        <p:nvSpPr>
          <p:cNvPr id="8" name="    return True">
            <a:extLst xmlns:a="http://schemas.openxmlformats.org/drawingml/2006/main">
              <a:ext uri="{FF2B5EF4-FFF2-40B4-BE49-F238E27FC236}">
                <a16:creationId xmlns:a16="http://schemas.microsoft.com/office/drawing/2014/main" id="{EAE13D1E-E49C-4DCD-8CE0-BAD8F3637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53377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return True</a:t>
            </a:r>
          </a:p>
        </p:txBody>
      </p:sp>
      <p:sp>
        <p:nvSpPr>
          <p:cNvPr id="9" name="Reject damage during invulnerability or when HP is already zero.">
            <a:extLst xmlns:a="http://schemas.openxmlformats.org/drawingml/2006/main">
              <a:ext uri="{FF2B5EF4-FFF2-40B4-BE49-F238E27FC236}">
                <a16:creationId xmlns:a16="http://schemas.microsoft.com/office/drawing/2014/main" id="{E3B5A34B-99D3-401C-AFDD-D510A9BBC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67325"/>
            <a:ext cx="5191125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68EDBE"/>
                </a:solidFill>
                <a:latin typeface="Aptos"/>
                <a:ea typeface="Aptos"/>
                <a:cs typeface="Aptos"/>
              </a:rPr>
              <a:t>Reject damage during invulnerability or when HP is already zero.</a:t>
            </a:r>
          </a:p>
        </p:txBody>
      </p:sp>
      <p:sp>
        <p:nvSpPr>
          <p:cNvPr id="10" name="Game calls take_damage() instead of changing player.hp directly.">
            <a:extLst xmlns:a="http://schemas.openxmlformats.org/drawingml/2006/main">
              <a:ext uri="{FF2B5EF4-FFF2-40B4-BE49-F238E27FC236}">
                <a16:creationId xmlns:a16="http://schemas.microsoft.com/office/drawing/2014/main" id="{9AB5542B-8F21-40DF-9BA1-7822E6A6F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267325"/>
            <a:ext cx="5191125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68EDBE"/>
                </a:solidFill>
                <a:latin typeface="Aptos"/>
                <a:ea typeface="Aptos"/>
                <a:cs typeface="Aptos"/>
              </a:rPr>
              <a:t>Game calls take_damage() instead of changing player.hp directly.</a:t>
            </a:r>
          </a:p>
        </p:txBody>
      </p:sp>
      <p:sp>
        <p:nvSpPr>
          <p:cNvPr id="11" name="actors.py · Player.take_damage()">
            <a:extLst xmlns:a="http://schemas.openxmlformats.org/drawingml/2006/main">
              <a:ext uri="{FF2B5EF4-FFF2-40B4-BE49-F238E27FC236}">
                <a16:creationId xmlns:a16="http://schemas.microsoft.com/office/drawing/2014/main" id="{0AE12A58-A867-42F2-B011-B815C47C7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67475"/>
            <a:ext cx="1047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actors.py · Player.take_damage()</a:t>
            </a:r>
          </a:p>
        </p:txBody>
      </p:sp>
      <p:sp>
        <p:nvSpPr>
          <p:cNvPr id="12" name="22">
            <a:extLst xmlns:a="http://schemas.openxmlformats.org/drawingml/2006/main">
              <a:ext uri="{FF2B5EF4-FFF2-40B4-BE49-F238E27FC236}">
                <a16:creationId xmlns:a16="http://schemas.microsoft.com/office/drawing/2014/main" id="{6DBE989D-A9F7-4917-B95D-2ECE19A4A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05575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DF4FB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2131173912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0B14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kill(): leave the scene, still an object">
            <a:extLst xmlns:a="http://schemas.openxmlformats.org/drawingml/2006/main">
              <a:ext uri="{FF2B5EF4-FFF2-40B4-BE49-F238E27FC236}">
                <a16:creationId xmlns:a16="http://schemas.microsoft.com/office/drawing/2014/main" id="{7BB4D8A0-9C96-47A5-8508-BB63FD10F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2862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pPr>
            <a:r>
              <a:rPr sz="3300" b="1">
                <a:solidFill>
                  <a:srgbClr val="EDF4FB"/>
                </a:solidFill>
                <a:latin typeface="Aptos"/>
                <a:ea typeface="Aptos"/>
                <a:cs typeface="Aptos"/>
              </a:rPr>
              <a:t>kill(): leave the scene, still an object</a:t>
            </a:r>
          </a:p>
        </p:txBody>
      </p:sp>
      <p:sp>
        <p:nvSpPr>
          <p:cNvPr id="2" name="Group membership and Python object lifetime are different">
            <a:extLst xmlns:a="http://schemas.openxmlformats.org/drawingml/2006/main">
              <a:ext uri="{FF2B5EF4-FFF2-40B4-BE49-F238E27FC236}">
                <a16:creationId xmlns:a16="http://schemas.microsoft.com/office/drawing/2014/main" id="{A7528DB0-E5B6-44DB-9552-2ECF058FB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181100"/>
            <a:ext cx="11001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68EDBE"/>
                </a:solidFill>
                <a:latin typeface="Aptos"/>
                <a:ea typeface="Aptos"/>
                <a:cs typeface="Aptos"/>
              </a:rPr>
              <a:t>Group membership and Python object lifetime are different</a:t>
            </a:r>
          </a:p>
        </p:txBody>
      </p:sp>
      <p:sp>
        <p:nvSpPr>
          <p:cNvPr id="3" name="b = game.player.shoot(&quot;B99&quot;)">
            <a:extLst xmlns:a="http://schemas.openxmlformats.org/drawingml/2006/main">
              <a:ext uri="{FF2B5EF4-FFF2-40B4-BE49-F238E27FC236}">
                <a16:creationId xmlns:a16="http://schemas.microsoft.com/office/drawing/2014/main" id="{66580EA3-0AAA-43C3-BB6D-14C0A3300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9145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b = game.player.shoot("B99")</a:t>
            </a:r>
          </a:p>
        </p:txBody>
      </p:sp>
      <p:sp>
        <p:nvSpPr>
          <p:cNvPr id="4" name="if b is not None:">
            <a:extLst xmlns:a="http://schemas.openxmlformats.org/drawingml/2006/main">
              <a:ext uri="{FF2B5EF4-FFF2-40B4-BE49-F238E27FC236}">
                <a16:creationId xmlns:a16="http://schemas.microsoft.com/office/drawing/2014/main" id="{55F4262D-DEF4-4274-BBD1-DD2C4320D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3837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if b is not None:</a:t>
            </a:r>
          </a:p>
        </p:txBody>
      </p:sp>
      <p:sp>
        <p:nvSpPr>
          <p:cNvPr id="5" name="    game.bullets.add(b)">
            <a:extLst xmlns:a="http://schemas.openxmlformats.org/drawingml/2006/main">
              <a:ext uri="{FF2B5EF4-FFF2-40B4-BE49-F238E27FC236}">
                <a16:creationId xmlns:a16="http://schemas.microsoft.com/office/drawing/2014/main" id="{FE8BF851-D77F-4F27-9A2F-516DBF6E8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5622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game.bullets.add(b)</a:t>
            </a:r>
          </a:p>
        </p:txBody>
      </p:sp>
      <p:sp>
        <p:nvSpPr>
          <p:cNvPr id="6" name="    game.all_sprites.add(b)">
            <a:extLst xmlns:a="http://schemas.openxmlformats.org/drawingml/2006/main">
              <a:ext uri="{FF2B5EF4-FFF2-40B4-BE49-F238E27FC236}">
                <a16:creationId xmlns:a16="http://schemas.microsoft.com/office/drawing/2014/main" id="{1D13D00B-3623-47D8-8A9B-4544FE06B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8607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game.all_sprites.add(b)</a:t>
            </a:r>
          </a:p>
        </p:txBody>
      </p:sp>
      <p:sp>
        <p:nvSpPr>
          <p:cNvPr id="7" name="    b.kill()">
            <a:extLst xmlns:a="http://schemas.openxmlformats.org/drawingml/2006/main">
              <a:ext uri="{FF2B5EF4-FFF2-40B4-BE49-F238E27FC236}">
                <a16:creationId xmlns:a16="http://schemas.microsoft.com/office/drawing/2014/main" id="{9546A41B-BE91-4234-A1C1-2F4F26079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2099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b.kill()</a:t>
            </a:r>
          </a:p>
        </p:txBody>
      </p:sp>
      <p:sp>
        <p:nvSpPr>
          <p:cNvPr id="8" name="    print(b.alive())                 # False">
            <a:extLst xmlns:a="http://schemas.openxmlformats.org/drawingml/2006/main">
              <a:ext uri="{FF2B5EF4-FFF2-40B4-BE49-F238E27FC236}">
                <a16:creationId xmlns:a16="http://schemas.microsoft.com/office/drawing/2014/main" id="{CAA6F8CD-4AD3-45A3-A85D-FB3E4AB0F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53377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print(b.alive())                 # False</a:t>
            </a:r>
          </a:p>
        </p:txBody>
      </p:sp>
      <p:sp>
        <p:nvSpPr>
          <p:cNvPr id="9" name="    print(b.owner is game.player)    # True">
            <a:extLst xmlns:a="http://schemas.openxmlformats.org/drawingml/2006/main">
              <a:ext uri="{FF2B5EF4-FFF2-40B4-BE49-F238E27FC236}">
                <a16:creationId xmlns:a16="http://schemas.microsoft.com/office/drawing/2014/main" id="{51DA0462-A29C-4AAB-A43E-A0D3098C4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8576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print(b.owner is game.player)    # True</a:t>
            </a:r>
          </a:p>
        </p:txBody>
      </p:sp>
      <p:sp>
        <p:nvSpPr>
          <p:cNvPr id="10" name="kill() removes every Group membership; b still holds a reference.">
            <a:extLst xmlns:a="http://schemas.openxmlformats.org/drawingml/2006/main">
              <a:ext uri="{FF2B5EF4-FFF2-40B4-BE49-F238E27FC236}">
                <a16:creationId xmlns:a16="http://schemas.microsoft.com/office/drawing/2014/main" id="{AF203014-96E8-476F-888F-07F5FFDD3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67325"/>
            <a:ext cx="5191125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68EDBE"/>
                </a:solidFill>
                <a:latin typeface="Aptos"/>
                <a:ea typeface="Aptos"/>
                <a:cs typeface="Aptos"/>
              </a:rPr>
              <a:t>kill() removes every Group membership; b still holds a reference.</a:t>
            </a:r>
          </a:p>
        </p:txBody>
      </p:sp>
      <p:sp>
        <p:nvSpPr>
          <p:cNvPr id="11" name="alive() checks group membership, not HP.">
            <a:extLst xmlns:a="http://schemas.openxmlformats.org/drawingml/2006/main">
              <a:ext uri="{FF2B5EF4-FFF2-40B4-BE49-F238E27FC236}">
                <a16:creationId xmlns:a16="http://schemas.microsoft.com/office/drawing/2014/main" id="{26E5AC82-B7E9-458C-884A-0F5608D79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267325"/>
            <a:ext cx="5191125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68EDBE"/>
                </a:solidFill>
                <a:latin typeface="Aptos"/>
                <a:ea typeface="Aptos"/>
                <a:cs typeface="Aptos"/>
              </a:rPr>
              <a:t>alive() checks group membership, not HP.</a:t>
            </a:r>
          </a:p>
        </p:txBody>
      </p:sp>
      <p:sp>
        <p:nvSpPr>
          <p:cNvPr id="12" name="interactive example · fresh Game">
            <a:extLst xmlns:a="http://schemas.openxmlformats.org/drawingml/2006/main">
              <a:ext uri="{FF2B5EF4-FFF2-40B4-BE49-F238E27FC236}">
                <a16:creationId xmlns:a16="http://schemas.microsoft.com/office/drawing/2014/main" id="{42B3C284-617C-4D2C-9A2F-D3BAC722A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67475"/>
            <a:ext cx="1047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interactive example · fresh Game</a:t>
            </a:r>
          </a:p>
        </p:txBody>
      </p:sp>
      <p:sp>
        <p:nvSpPr>
          <p:cNvPr id="13" name="23">
            <a:extLst xmlns:a="http://schemas.openxmlformats.org/drawingml/2006/main">
              <a:ext uri="{FF2B5EF4-FFF2-40B4-BE49-F238E27FC236}">
                <a16:creationId xmlns:a16="http://schemas.microsoft.com/office/drawing/2014/main" id="{0C212FB4-3B12-4A88-BAF8-055244D6C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05575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DF4FB"/>
                </a:solidFill>
                <a:latin typeface="Aptos"/>
                <a:ea typeface="Aptos"/>
                <a:cs typeface="Aptos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603389336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0B14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he loop: input, update, draw">
            <a:extLst xmlns:a="http://schemas.openxmlformats.org/drawingml/2006/main">
              <a:ext uri="{FF2B5EF4-FFF2-40B4-BE49-F238E27FC236}">
                <a16:creationId xmlns:a16="http://schemas.microsoft.com/office/drawing/2014/main" id="{4BD0D51C-648B-4DE0-9BCC-EB5022BB1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2862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pPr>
            <a:r>
              <a:rPr sz="3300" b="1">
                <a:solidFill>
                  <a:srgbClr val="EDF4FB"/>
                </a:solidFill>
                <a:latin typeface="Aptos"/>
                <a:ea typeface="Aptos"/>
                <a:cs typeface="Aptos"/>
              </a:rPr>
              <a:t>The loop: input, update, draw</a:t>
            </a:r>
          </a:p>
        </p:txBody>
      </p:sp>
      <p:sp>
        <p:nvSpPr>
          <p:cNvPr id="2" name="Order inside run(); key-reading details are omitted">
            <a:extLst xmlns:a="http://schemas.openxmlformats.org/drawingml/2006/main">
              <a:ext uri="{FF2B5EF4-FFF2-40B4-BE49-F238E27FC236}">
                <a16:creationId xmlns:a16="http://schemas.microsoft.com/office/drawing/2014/main" id="{D6FA17BB-78EA-4B6E-AD0A-3FAEB792A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181100"/>
            <a:ext cx="11001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68EDBE"/>
                </a:solidFill>
                <a:latin typeface="Aptos"/>
                <a:ea typeface="Aptos"/>
                <a:cs typeface="Aptos"/>
              </a:rPr>
              <a:t>Order inside run(); key-reading details are omitted</a:t>
            </a:r>
          </a:p>
        </p:txBody>
      </p:sp>
      <p:sp>
        <p:nvSpPr>
          <p:cNvPr id="3" name="dt = min(self.clock.tick(FPS) / 1000, 1 / 30)">
            <a:extLst xmlns:a="http://schemas.openxmlformats.org/drawingml/2006/main">
              <a:ext uri="{FF2B5EF4-FFF2-40B4-BE49-F238E27FC236}">
                <a16:creationId xmlns:a16="http://schemas.microsoft.com/office/drawing/2014/main" id="{0CAA274F-EEA3-45FB-A6E7-63BD9DEDF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9145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dt = min(self.clock.tick(FPS) / 1000, 1 / 30)</a:t>
            </a:r>
          </a:p>
        </p:txBody>
      </p:sp>
      <p:sp>
        <p:nvSpPr>
          <p:cNvPr id="4" name="self.handle_events(pygame.event.get())">
            <a:extLst xmlns:a="http://schemas.openxmlformats.org/drawingml/2006/main">
              <a:ext uri="{FF2B5EF4-FFF2-40B4-BE49-F238E27FC236}">
                <a16:creationId xmlns:a16="http://schemas.microsoft.com/office/drawing/2014/main" id="{64027DB1-85ED-4305-949B-7698F62CF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3837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self.handle_events(pygame.event.get())</a:t>
            </a:r>
          </a:p>
        </p:txBody>
      </p:sp>
      <p:sp>
        <p:nvSpPr>
          <p:cNvPr id="5" name="# direction and shooting come from keyboard input">
            <a:extLst xmlns:a="http://schemas.openxmlformats.org/drawingml/2006/main">
              <a:ext uri="{FF2B5EF4-FFF2-40B4-BE49-F238E27FC236}">
                <a16:creationId xmlns:a16="http://schemas.microsoft.com/office/drawing/2014/main" id="{DDCA24BD-E1A0-4882-8BA7-6516F5E85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5622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# direction and shooting come from keyboard input</a:t>
            </a:r>
          </a:p>
        </p:txBody>
      </p:sp>
      <p:sp>
        <p:nvSpPr>
          <p:cNvPr id="6" name="self.tick(dt, direction, shooting)">
            <a:extLst xmlns:a="http://schemas.openxmlformats.org/drawingml/2006/main">
              <a:ext uri="{FF2B5EF4-FFF2-40B4-BE49-F238E27FC236}">
                <a16:creationId xmlns:a16="http://schemas.microsoft.com/office/drawing/2014/main" id="{6B349E63-5450-4396-8EB0-D96B6AF63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8607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self.tick(dt, direction, shooting)</a:t>
            </a:r>
          </a:p>
        </p:txBody>
      </p:sp>
      <p:sp>
        <p:nvSpPr>
          <p:cNvPr id="7" name="view.draw(self)">
            <a:extLst xmlns:a="http://schemas.openxmlformats.org/drawingml/2006/main">
              <a:ext uri="{FF2B5EF4-FFF2-40B4-BE49-F238E27FC236}">
                <a16:creationId xmlns:a16="http://schemas.microsoft.com/office/drawing/2014/main" id="{228FEDC4-13A6-4D54-B94A-112788248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2099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view.draw(self)</a:t>
            </a:r>
          </a:p>
        </p:txBody>
      </p:sp>
      <p:sp>
        <p:nvSpPr>
          <p:cNvPr id="8" name="pygame.display.flip()">
            <a:extLst xmlns:a="http://schemas.openxmlformats.org/drawingml/2006/main">
              <a:ext uri="{FF2B5EF4-FFF2-40B4-BE49-F238E27FC236}">
                <a16:creationId xmlns:a16="http://schemas.microsoft.com/office/drawing/2014/main" id="{2BE9AA84-2861-4414-A672-A5D288AE4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53377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pygame.display.flip()</a:t>
            </a:r>
          </a:p>
        </p:txBody>
      </p:sp>
      <p:sp>
        <p:nvSpPr>
          <p:cNvPr id="9" name="tick() updates only while playing; view.draw() also renders paused and end state">
            <a:extLst xmlns:a="http://schemas.openxmlformats.org/drawingml/2006/main">
              <a:ext uri="{FF2B5EF4-FFF2-40B4-BE49-F238E27FC236}">
                <a16:creationId xmlns:a16="http://schemas.microsoft.com/office/drawing/2014/main" id="{E005DA35-EAF4-4237-8593-F2B105913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67325"/>
            <a:ext cx="5191125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68EDBE"/>
                </a:solidFill>
                <a:latin typeface="Aptos"/>
                <a:ea typeface="Aptos"/>
                <a:cs typeface="Aptos"/>
              </a:rPr>
              <a:t>tick() updates only while playing; view.draw() also renders paused and end states.</a:t>
            </a:r>
          </a:p>
        </p:txBody>
      </p:sp>
      <p:sp>
        <p:nvSpPr>
          <p:cNvPr id="10" name="Clock returns milliseconds; divide by 1000 for seconds. This game caps dt at 1/3">
            <a:extLst xmlns:a="http://schemas.openxmlformats.org/drawingml/2006/main">
              <a:ext uri="{FF2B5EF4-FFF2-40B4-BE49-F238E27FC236}">
                <a16:creationId xmlns:a16="http://schemas.microsoft.com/office/drawing/2014/main" id="{90FDFB61-329A-4991-9873-5BB663EEA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267325"/>
            <a:ext cx="5191125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68EDBE"/>
                </a:solidFill>
                <a:latin typeface="Aptos"/>
                <a:ea typeface="Aptos"/>
                <a:cs typeface="Aptos"/>
              </a:rPr>
              <a:t>Clock returns milliseconds; divide by 1000 for seconds. This game caps dt at 1/30.</a:t>
            </a:r>
          </a:p>
        </p:txBody>
      </p:sp>
      <p:sp>
        <p:nvSpPr>
          <p:cNvPr id="11" name="game.py · Game.run() · excerpt">
            <a:extLst xmlns:a="http://schemas.openxmlformats.org/drawingml/2006/main">
              <a:ext uri="{FF2B5EF4-FFF2-40B4-BE49-F238E27FC236}">
                <a16:creationId xmlns:a16="http://schemas.microsoft.com/office/drawing/2014/main" id="{57AEC215-B356-4EBA-874E-E102A06EC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67475"/>
            <a:ext cx="1047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game.py · Game.run() · excerpt</a:t>
            </a:r>
          </a:p>
        </p:txBody>
      </p:sp>
      <p:sp>
        <p:nvSpPr>
          <p:cNvPr id="12" name="24">
            <a:extLst xmlns:a="http://schemas.openxmlformats.org/drawingml/2006/main">
              <a:ext uri="{FF2B5EF4-FFF2-40B4-BE49-F238E27FC236}">
                <a16:creationId xmlns:a16="http://schemas.microsoft.com/office/drawing/2014/main" id="{8C000DF1-BC59-4BBF-A62B-13D8136F1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05575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DF4FB"/>
                </a:solidFill>
                <a:latin typeface="Aptos"/>
                <a:ea typeface="Aptos"/>
                <a:cs typeface="Aptos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83796656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State: paused really means paused">
            <a:extLst xmlns:a="http://schemas.openxmlformats.org/drawingml/2006/main">
              <a:ext uri="{FF2B5EF4-FFF2-40B4-BE49-F238E27FC236}">
                <a16:creationId xmlns:a16="http://schemas.microsoft.com/office/drawing/2014/main" id="{5522C6DF-FE44-4118-ADBA-F50EBE978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2862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pPr>
            <a:r>
              <a:rPr sz="3300" b="1">
                <a:solidFill>
                  <a:srgbClr val="172C40"/>
                </a:solidFill>
                <a:latin typeface="Aptos"/>
                <a:ea typeface="Aptos"/>
                <a:cs typeface="Aptos"/>
              </a:rPr>
              <a:t>State: paused really means paused</a:t>
            </a:r>
          </a:p>
        </p:txBody>
      </p:sp>
      <p:sp>
        <p:nvSpPr>
          <p:cNvPr id="2" name="ready → playing ⇄ paused; playing → won / lost">
            <a:extLst xmlns:a="http://schemas.openxmlformats.org/drawingml/2006/main">
              <a:ext uri="{FF2B5EF4-FFF2-40B4-BE49-F238E27FC236}">
                <a16:creationId xmlns:a16="http://schemas.microsoft.com/office/drawing/2014/main" id="{70666967-D07C-45E9-95AF-317B82850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181100"/>
            <a:ext cx="11001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5B7082"/>
                </a:solidFill>
                <a:latin typeface="Aptos"/>
                <a:ea typeface="Aptos"/>
                <a:cs typeface="Aptos"/>
              </a:rPr>
              <a:t>ready → playing ⇄ paused; playing → won / lost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B6BEBBA-C169-4557-97A9-A9019BDA0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81250"/>
            <a:ext cx="2000250" cy="619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72C40"/>
            </a:solidFill>
          </a:ln>
        </p:spPr>
      </p:sp>
      <p:sp>
        <p:nvSpPr>
          <p:cNvPr id="4" name="ready">
            <a:extLst xmlns:a="http://schemas.openxmlformats.org/drawingml/2006/main">
              <a:ext uri="{FF2B5EF4-FFF2-40B4-BE49-F238E27FC236}">
                <a16:creationId xmlns:a16="http://schemas.microsoft.com/office/drawing/2014/main" id="{725324A6-BAF9-4868-A687-4937435AB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66975"/>
            <a:ext cx="16954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75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75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75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75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75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75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75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75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75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875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72C40"/>
                </a:solidFill>
                <a:latin typeface="Aptos"/>
                <a:ea typeface="Aptos"/>
                <a:cs typeface="Aptos"/>
              </a:rPr>
              <a:t>ready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79A09C-09F9-40CD-9A8E-A09D1B5AE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381250"/>
            <a:ext cx="2428875" cy="619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87C62"/>
            </a:solidFill>
          </a:ln>
        </p:spPr>
      </p:sp>
      <p:sp>
        <p:nvSpPr>
          <p:cNvPr id="6" name="playing">
            <a:extLst xmlns:a="http://schemas.openxmlformats.org/drawingml/2006/main">
              <a:ext uri="{FF2B5EF4-FFF2-40B4-BE49-F238E27FC236}">
                <a16:creationId xmlns:a16="http://schemas.microsoft.com/office/drawing/2014/main" id="{1453599F-7BD9-43E1-BD20-8F30B33D7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2466975"/>
            <a:ext cx="21240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7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7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7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7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7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7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7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7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7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87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087C62"/>
                </a:solidFill>
                <a:latin typeface="Aptos"/>
                <a:ea typeface="Aptos"/>
                <a:cs typeface="Aptos"/>
              </a:rPr>
              <a:t>playing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1CDB5FE-FD0B-44FB-A8BF-B870630A6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429125"/>
            <a:ext cx="2428875" cy="619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A66D08"/>
            </a:solidFill>
          </a:ln>
        </p:spPr>
      </p:sp>
      <p:sp>
        <p:nvSpPr>
          <p:cNvPr id="8" name="paused">
            <a:extLst xmlns:a="http://schemas.openxmlformats.org/drawingml/2006/main">
              <a:ext uri="{FF2B5EF4-FFF2-40B4-BE49-F238E27FC236}">
                <a16:creationId xmlns:a16="http://schemas.microsoft.com/office/drawing/2014/main" id="{869350DE-0960-4169-BA6C-752103593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4514850"/>
            <a:ext cx="21240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A66D0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75" b="1">
                <a:solidFill>
                  <a:srgbClr val="A66D0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75" b="1">
                <a:solidFill>
                  <a:srgbClr val="A66D0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75" b="1">
                <a:solidFill>
                  <a:srgbClr val="A66D0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75" b="1">
                <a:solidFill>
                  <a:srgbClr val="A66D0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75" b="1">
                <a:solidFill>
                  <a:srgbClr val="A66D0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75" b="1">
                <a:solidFill>
                  <a:srgbClr val="A66D0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75" b="1">
                <a:solidFill>
                  <a:srgbClr val="A66D0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75" b="1">
                <a:solidFill>
                  <a:srgbClr val="A66D0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75" b="1">
                <a:solidFill>
                  <a:srgbClr val="A66D08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875" b="1">
                <a:solidFill>
                  <a:srgbClr val="A66D08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A66D08"/>
                </a:solidFill>
                <a:latin typeface="Aptos"/>
                <a:ea typeface="Aptos"/>
                <a:cs typeface="Aptos"/>
              </a:rPr>
              <a:t>paused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B451D12-A5F5-4A59-B8A8-414DE1528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1666875"/>
            <a:ext cx="2047875" cy="619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87C62"/>
            </a:solidFill>
          </a:ln>
        </p:spPr>
      </p:sp>
      <p:sp>
        <p:nvSpPr>
          <p:cNvPr id="10" name="won">
            <a:extLst xmlns:a="http://schemas.openxmlformats.org/drawingml/2006/main">
              <a:ext uri="{FF2B5EF4-FFF2-40B4-BE49-F238E27FC236}">
                <a16:creationId xmlns:a16="http://schemas.microsoft.com/office/drawing/2014/main" id="{73B34601-D028-443E-A4CE-F925777B5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1752600"/>
            <a:ext cx="17430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7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7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7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7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7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7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7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7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7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87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087C62"/>
                </a:solidFill>
                <a:latin typeface="Aptos"/>
                <a:ea typeface="Aptos"/>
                <a:cs typeface="Aptos"/>
              </a:rPr>
              <a:t>won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70BDD80-94AE-4FD6-A54A-E68B79B5C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524250"/>
            <a:ext cx="2047875" cy="619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BF4A44"/>
            </a:solidFill>
          </a:ln>
        </p:spPr>
      </p:sp>
      <p:sp>
        <p:nvSpPr>
          <p:cNvPr id="12" name="lost">
            <a:extLst xmlns:a="http://schemas.openxmlformats.org/drawingml/2006/main">
              <a:ext uri="{FF2B5EF4-FFF2-40B4-BE49-F238E27FC236}">
                <a16:creationId xmlns:a16="http://schemas.microsoft.com/office/drawing/2014/main" id="{8770C0D3-DD8E-40AB-A846-64E8DB19B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3609975"/>
            <a:ext cx="17430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BF4A44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75" b="1">
                <a:solidFill>
                  <a:srgbClr val="BF4A44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75" b="1">
                <a:solidFill>
                  <a:srgbClr val="BF4A44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75" b="1">
                <a:solidFill>
                  <a:srgbClr val="BF4A44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75" b="1">
                <a:solidFill>
                  <a:srgbClr val="BF4A44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75" b="1">
                <a:solidFill>
                  <a:srgbClr val="BF4A44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75" b="1">
                <a:solidFill>
                  <a:srgbClr val="BF4A44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75" b="1">
                <a:solidFill>
                  <a:srgbClr val="BF4A44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75" b="1">
                <a:solidFill>
                  <a:srgbClr val="BF4A44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75" b="1">
                <a:solidFill>
                  <a:srgbClr val="BF4A44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875" b="1">
                <a:solidFill>
                  <a:srgbClr val="BF4A44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BF4A44"/>
                </a:solidFill>
                <a:latin typeface="Aptos"/>
                <a:ea typeface="Aptos"/>
                <a:cs typeface="Aptos"/>
              </a:rPr>
              <a:t>lost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BC556F8-6CBE-4281-AA19-41D036EDF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571750" y="2686050"/>
            <a:ext cx="2190750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172C40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F0A0D7-A899-4FBB-AA77-112C468BE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4670551" y="2686050"/>
            <a:ext cx="91949" cy="50232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172C40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88E440C-08F0-4A91-B2E4-AEE8B64CD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4670551" y="2635818"/>
            <a:ext cx="91949" cy="50232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172C40"/>
            </a:solidFill>
          </a:ln>
        </p:spPr>
      </p:sp>
      <p:sp>
        <p:nvSpPr>
          <p:cNvPr id="16" name="Enter">
            <a:extLst xmlns:a="http://schemas.openxmlformats.org/drawingml/2006/main">
              <a:ext uri="{FF2B5EF4-FFF2-40B4-BE49-F238E27FC236}">
                <a16:creationId xmlns:a16="http://schemas.microsoft.com/office/drawing/2014/main" id="{52412094-5B77-4558-9133-4D103E13F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257425"/>
            <a:ext cx="1238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7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7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7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7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7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7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7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7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7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72C40"/>
                </a:solidFill>
                <a:latin typeface="Aptos"/>
                <a:ea typeface="Aptos"/>
                <a:cs typeface="Aptos"/>
              </a:rPr>
              <a:t>Enter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E2BC1C6-5C45-47C5-9C19-3BF2E5BAF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524500" y="3000375"/>
            <a:ext cx="0" cy="142875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172C40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E49239D-4FD5-4820-A964-BE33FFD12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5474268" y="4337176"/>
            <a:ext cx="50232" cy="91949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172C40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45F021D-1AEA-4CC8-B922-B3E982D32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5524500" y="4337176"/>
            <a:ext cx="50232" cy="91949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172C40"/>
            </a:solidFill>
          </a:ln>
        </p:spPr>
      </p:sp>
      <p:sp>
        <p:nvSpPr>
          <p:cNvPr id="20" name="P">
            <a:extLst xmlns:a="http://schemas.openxmlformats.org/drawingml/2006/main">
              <a:ext uri="{FF2B5EF4-FFF2-40B4-BE49-F238E27FC236}">
                <a16:creationId xmlns:a16="http://schemas.microsoft.com/office/drawing/2014/main" id="{76A23B39-F9E6-4F40-A46D-D411CF9C7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552825"/>
            <a:ext cx="381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7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7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7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7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7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7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7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7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7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72C40"/>
                </a:solidFill>
                <a:latin typeface="Aptos"/>
                <a:ea typeface="Aptos"/>
                <a:cs typeface="Aptos"/>
              </a:rPr>
              <a:t>P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F89754F-3363-4E78-B181-359C219C8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6429375" y="3000375"/>
            <a:ext cx="0" cy="142875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172C40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1A78546-C2B0-4029-82C5-DBE811F01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429375" y="3000375"/>
            <a:ext cx="50232" cy="91949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172C40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DCD2646-154B-4D30-BDF0-A07E7C830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6379143" y="3000375"/>
            <a:ext cx="50232" cy="91949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172C40"/>
            </a:solidFill>
          </a:ln>
        </p:spPr>
      </p:sp>
      <p:sp>
        <p:nvSpPr>
          <p:cNvPr id="24" name="P">
            <a:extLst xmlns:a="http://schemas.openxmlformats.org/drawingml/2006/main">
              <a:ext uri="{FF2B5EF4-FFF2-40B4-BE49-F238E27FC236}">
                <a16:creationId xmlns:a16="http://schemas.microsoft.com/office/drawing/2014/main" id="{2BE7D0E3-23EA-46C1-B273-4A1555B04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552825"/>
            <a:ext cx="381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7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7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7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7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7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7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7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7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7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72C40"/>
                </a:solidFill>
                <a:latin typeface="Aptos"/>
                <a:ea typeface="Aptos"/>
                <a:cs typeface="Aptos"/>
              </a:rPr>
              <a:t>P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E939CE9-104D-46BD-B401-4FD643A1E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191375" y="2686050"/>
            <a:ext cx="1143000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A6B5C4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D2B846C-79C5-410D-9BB5-006A318E7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8334375" y="1971675"/>
            <a:ext cx="0" cy="714375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A6B5C4"/>
            </a:solidFill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F9E1D52-BB78-4165-9C7A-33744A293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8334375" y="1971675"/>
            <a:ext cx="1190625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172C40"/>
            </a:solidFill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4CC5DF7-3CEF-4E44-80BA-471F60C59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9433051" y="1971675"/>
            <a:ext cx="91949" cy="50232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172C40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48E7DE5-0CC6-4B15-81EC-4C6B973AB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9433051" y="1921443"/>
            <a:ext cx="91949" cy="50232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172C40"/>
            </a:solidFill>
          </a:ln>
        </p:spPr>
      </p:sp>
      <p:sp>
        <p:nvSpPr>
          <p:cNvPr id="30" name="score ≥ 200">
            <a:extLst xmlns:a="http://schemas.openxmlformats.org/drawingml/2006/main">
              <a:ext uri="{FF2B5EF4-FFF2-40B4-BE49-F238E27FC236}">
                <a16:creationId xmlns:a16="http://schemas.microsoft.com/office/drawing/2014/main" id="{60779CAC-067E-4557-9BDA-B9E71AD70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647825"/>
            <a:ext cx="1762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087C6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75" b="0">
                <a:solidFill>
                  <a:srgbClr val="087C6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75" b="0">
                <a:solidFill>
                  <a:srgbClr val="087C6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75" b="0">
                <a:solidFill>
                  <a:srgbClr val="087C6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75" b="0">
                <a:solidFill>
                  <a:srgbClr val="087C6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75" b="0">
                <a:solidFill>
                  <a:srgbClr val="087C6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75" b="0">
                <a:solidFill>
                  <a:srgbClr val="087C6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75" b="0">
                <a:solidFill>
                  <a:srgbClr val="087C6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75" b="0">
                <a:solidFill>
                  <a:srgbClr val="087C6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75" b="0">
                <a:solidFill>
                  <a:srgbClr val="087C6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087C62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087C62"/>
                </a:solidFill>
                <a:latin typeface="Aptos"/>
                <a:ea typeface="Aptos"/>
                <a:cs typeface="Aptos"/>
              </a:rPr>
              <a:t>score ≥ 200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9A27B66-DD1F-47CF-BE83-40158414C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8334375" y="2686050"/>
            <a:ext cx="0" cy="1152525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A6B5C4"/>
            </a:solidFill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A113013-1E6D-4796-BDFB-2AE85EFE0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8334375" y="3838575"/>
            <a:ext cx="1190625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172C40"/>
            </a:solidFill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AD523AB-F285-4CD6-B280-B18300606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9433051" y="3838575"/>
            <a:ext cx="91949" cy="50232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172C40"/>
            </a:solidFill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E8EDC33-B465-43DF-BD0D-55A25AF66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9433051" y="3788343"/>
            <a:ext cx="91949" cy="50232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172C40"/>
            </a:solidFill>
          </a:ln>
        </p:spPr>
      </p:sp>
      <p:sp>
        <p:nvSpPr>
          <p:cNvPr id="35" name="hp = 0">
            <a:extLst xmlns:a="http://schemas.openxmlformats.org/drawingml/2006/main">
              <a:ext uri="{FF2B5EF4-FFF2-40B4-BE49-F238E27FC236}">
                <a16:creationId xmlns:a16="http://schemas.microsoft.com/office/drawing/2014/main" id="{07FC627F-7EB5-4510-A708-42AE00C44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3419475"/>
            <a:ext cx="114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BF4A44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75" b="0">
                <a:solidFill>
                  <a:srgbClr val="BF4A44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75" b="0">
                <a:solidFill>
                  <a:srgbClr val="BF4A44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75" b="0">
                <a:solidFill>
                  <a:srgbClr val="BF4A44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75" b="0">
                <a:solidFill>
                  <a:srgbClr val="BF4A44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75" b="0">
                <a:solidFill>
                  <a:srgbClr val="BF4A44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75" b="0">
                <a:solidFill>
                  <a:srgbClr val="BF4A44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75" b="0">
                <a:solidFill>
                  <a:srgbClr val="BF4A44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75" b="0">
                <a:solidFill>
                  <a:srgbClr val="BF4A44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75" b="0">
                <a:solidFill>
                  <a:srgbClr val="BF4A44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BF4A4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BF4A44"/>
                </a:solidFill>
                <a:latin typeface="Aptos"/>
                <a:ea typeface="Aptos"/>
                <a:cs typeface="Aptos"/>
              </a:rPr>
              <a:t>hp = 0</a:t>
            </a:r>
          </a:p>
        </p:txBody>
      </p:sp>
      <p:sp>
        <p:nvSpPr>
          <p:cNvPr id="36" name="R: any state → ready">
            <a:extLst xmlns:a="http://schemas.openxmlformats.org/drawingml/2006/main">
              <a:ext uri="{FF2B5EF4-FFF2-40B4-BE49-F238E27FC236}">
                <a16:creationId xmlns:a16="http://schemas.microsoft.com/office/drawing/2014/main" id="{7A27D924-1BEE-4412-BC05-5B6995AC6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91125"/>
            <a:ext cx="11001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025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025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025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025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025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025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025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025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025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2025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172C40"/>
                </a:solidFill>
                <a:latin typeface="Aptos"/>
                <a:ea typeface="Aptos"/>
                <a:cs typeface="Aptos"/>
              </a:rPr>
              <a:t>R: any state → ready</a:t>
            </a:r>
          </a:p>
        </p:txBody>
      </p:sp>
      <p:sp>
        <p:nvSpPr>
          <p:cNvPr id="37" name="N calls update(1 / FPS) only while paused: one frame, without automatic firing.">
            <a:extLst xmlns:a="http://schemas.openxmlformats.org/drawingml/2006/main">
              <a:ext uri="{FF2B5EF4-FFF2-40B4-BE49-F238E27FC236}">
                <a16:creationId xmlns:a16="http://schemas.microsoft.com/office/drawing/2014/main" id="{6C755FAA-54C6-4946-9071-B02252B84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905500"/>
            <a:ext cx="5238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B7082"/>
                </a:solidFill>
                <a:latin typeface="Aptos"/>
                <a:ea typeface="Aptos"/>
                <a:cs typeface="Aptos"/>
              </a:rPr>
              <a:t>N calls update(1 / FPS) only while paused: one frame, without automatic firing.</a:t>
            </a:r>
          </a:p>
        </p:txBody>
      </p:sp>
      <p:sp>
        <p:nvSpPr>
          <p:cNvPr id="38" name="R resets to ready; Enter starts again. Zero HP takes priority over reaching 200 ">
            <a:extLst xmlns:a="http://schemas.openxmlformats.org/drawingml/2006/main">
              <a:ext uri="{FF2B5EF4-FFF2-40B4-BE49-F238E27FC236}">
                <a16:creationId xmlns:a16="http://schemas.microsoft.com/office/drawing/2014/main" id="{30BA7037-AB60-45A6-B37F-7A8D79F41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905500"/>
            <a:ext cx="5238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B7082"/>
                </a:solidFill>
                <a:latin typeface="Aptos"/>
                <a:ea typeface="Aptos"/>
                <a:cs typeface="Aptos"/>
              </a:rPr>
              <a:t>R resets to ready; Enter starts again. Zero HP takes priority over reaching 200 points.</a:t>
            </a:r>
          </a:p>
        </p:txBody>
      </p:sp>
      <p:sp>
        <p:nvSpPr>
          <p:cNvPr id="39" name="25">
            <a:extLst xmlns:a="http://schemas.openxmlformats.org/drawingml/2006/main">
              <a:ext uri="{FF2B5EF4-FFF2-40B4-BE49-F238E27FC236}">
                <a16:creationId xmlns:a16="http://schemas.microsoft.com/office/drawing/2014/main" id="{C28750B1-EA4F-4822-A401-C4AA34F18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05575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B7082"/>
                </a:solidFill>
                <a:latin typeface="Aptos"/>
                <a:ea typeface="Aptos"/>
                <a:cs typeface="Aptos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82756463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0B14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Reset: create a new round of objects">
            <a:extLst xmlns:a="http://schemas.openxmlformats.org/drawingml/2006/main">
              <a:ext uri="{FF2B5EF4-FFF2-40B4-BE49-F238E27FC236}">
                <a16:creationId xmlns:a16="http://schemas.microsoft.com/office/drawing/2014/main" id="{A790215E-7EEF-435A-AB02-7C16729CC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2862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pPr>
            <a:r>
              <a:rPr sz="3300" b="1">
                <a:solidFill>
                  <a:srgbClr val="EDF4FB"/>
                </a:solidFill>
                <a:latin typeface="Aptos"/>
                <a:ea typeface="Aptos"/>
                <a:cs typeface="Aptos"/>
              </a:rPr>
              <a:t>Reset: create a new round of objects</a:t>
            </a:r>
          </a:p>
        </p:txBody>
      </p:sp>
      <p:sp>
        <p:nvSpPr>
          <p:cNvPr id="2" name="reset() rebuilds the player and groups, then resets score and state">
            <a:extLst xmlns:a="http://schemas.openxmlformats.org/drawingml/2006/main">
              <a:ext uri="{FF2B5EF4-FFF2-40B4-BE49-F238E27FC236}">
                <a16:creationId xmlns:a16="http://schemas.microsoft.com/office/drawing/2014/main" id="{B9591B87-14F3-44B3-BCD9-E44F966DA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181100"/>
            <a:ext cx="11001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68EDBE"/>
                </a:solidFill>
                <a:latin typeface="Aptos"/>
                <a:ea typeface="Aptos"/>
                <a:cs typeface="Aptos"/>
              </a:rPr>
              <a:t>reset() rebuilds the player and groups, then resets score and state</a:t>
            </a:r>
          </a:p>
        </p:txBody>
      </p:sp>
      <p:sp>
        <p:nvSpPr>
          <p:cNvPr id="3" name="if hasattr(self, &quot;all_sprites&quot;):">
            <a:extLst xmlns:a="http://schemas.openxmlformats.org/drawingml/2006/main">
              <a:ext uri="{FF2B5EF4-FFF2-40B4-BE49-F238E27FC236}">
                <a16:creationId xmlns:a16="http://schemas.microsoft.com/office/drawing/2014/main" id="{7AB727B6-D66D-41B0-AD5A-899E52F1B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9145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if hasattr(self, "all_sprites"):</a:t>
            </a:r>
          </a:p>
        </p:txBody>
      </p:sp>
      <p:sp>
        <p:nvSpPr>
          <p:cNvPr id="4" name="    for actor in self.all_sprites.sprites():">
            <a:extLst xmlns:a="http://schemas.openxmlformats.org/drawingml/2006/main">
              <a:ext uri="{FF2B5EF4-FFF2-40B4-BE49-F238E27FC236}">
                <a16:creationId xmlns:a16="http://schemas.microsoft.com/office/drawing/2014/main" id="{FCA0EFC4-08C3-4C4D-9516-C1FF6DE9D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3837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for actor in self.all_sprites.sprites():</a:t>
            </a:r>
          </a:p>
        </p:txBody>
      </p:sp>
      <p:sp>
        <p:nvSpPr>
          <p:cNvPr id="5" name="        actor.kill()">
            <a:extLst xmlns:a="http://schemas.openxmlformats.org/drawingml/2006/main">
              <a:ext uri="{FF2B5EF4-FFF2-40B4-BE49-F238E27FC236}">
                <a16:creationId xmlns:a16="http://schemas.microsoft.com/office/drawing/2014/main" id="{064A3397-8D81-41BC-9A7F-CBAD96C31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5622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actor.kill()</a:t>
            </a:r>
          </a:p>
        </p:txBody>
      </p:sp>
      <p:sp>
        <p:nvSpPr>
          <p:cNvPr id="6" name="self.player = Player((PLAY_AREA.centerx, PLAY_AREA.bottom - 60))">
            <a:extLst xmlns:a="http://schemas.openxmlformats.org/drawingml/2006/main">
              <a:ext uri="{FF2B5EF4-FFF2-40B4-BE49-F238E27FC236}">
                <a16:creationId xmlns:a16="http://schemas.microsoft.com/office/drawing/2014/main" id="{4AAE7B00-A3E8-49D4-9E45-C9D1672D5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8607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self.player = Player((PLAY_AREA.centerx, PLAY_AREA.bottom - 60))</a:t>
            </a:r>
          </a:p>
        </p:txBody>
      </p:sp>
      <p:sp>
        <p:nvSpPr>
          <p:cNvPr id="7" name="self.all_sprites = pygame.sprite.Group(self.player)">
            <a:extLst xmlns:a="http://schemas.openxmlformats.org/drawingml/2006/main">
              <a:ext uri="{FF2B5EF4-FFF2-40B4-BE49-F238E27FC236}">
                <a16:creationId xmlns:a16="http://schemas.microsoft.com/office/drawing/2014/main" id="{EE7376D0-D518-4AE0-A671-B6F6C5172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2099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self.all_sprites = pygame.sprite.Group(self.player)</a:t>
            </a:r>
          </a:p>
        </p:txBody>
      </p:sp>
      <p:sp>
        <p:nvSpPr>
          <p:cNvPr id="8" name="self.enemies = pygame.sprite.Group()">
            <a:extLst xmlns:a="http://schemas.openxmlformats.org/drawingml/2006/main">
              <a:ext uri="{FF2B5EF4-FFF2-40B4-BE49-F238E27FC236}">
                <a16:creationId xmlns:a16="http://schemas.microsoft.com/office/drawing/2014/main" id="{DEA135B3-9C7E-4C78-9B2C-DD85B80CD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53377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self.enemies = pygame.sprite.Group()</a:t>
            </a:r>
          </a:p>
        </p:txBody>
      </p:sp>
      <p:sp>
        <p:nvSpPr>
          <p:cNvPr id="9" name="self.bullets = pygame.sprite.Group()">
            <a:extLst xmlns:a="http://schemas.openxmlformats.org/drawingml/2006/main">
              <a:ext uri="{FF2B5EF4-FFF2-40B4-BE49-F238E27FC236}">
                <a16:creationId xmlns:a16="http://schemas.microsoft.com/office/drawing/2014/main" id="{08BA6B2F-AD0B-45FD-A5AD-352BBE0F2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8576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self.bullets = pygame.sprite.Group()</a:t>
            </a:r>
          </a:p>
        </p:txBody>
      </p:sp>
      <p:sp>
        <p:nvSpPr>
          <p:cNvPr id="10" name="self.score = 0">
            <a:extLst xmlns:a="http://schemas.openxmlformats.org/drawingml/2006/main">
              <a:ext uri="{FF2B5EF4-FFF2-40B4-BE49-F238E27FC236}">
                <a16:creationId xmlns:a16="http://schemas.microsoft.com/office/drawing/2014/main" id="{87528E4B-40E7-4A0A-8BC4-FB7849B3B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18147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self.score = 0</a:t>
            </a:r>
          </a:p>
        </p:txBody>
      </p:sp>
      <p:sp>
        <p:nvSpPr>
          <p:cNvPr id="11" name="self.state = &quot;ready&quot;">
            <a:extLst xmlns:a="http://schemas.openxmlformats.org/drawingml/2006/main">
              <a:ext uri="{FF2B5EF4-FFF2-40B4-BE49-F238E27FC236}">
                <a16:creationId xmlns:a16="http://schemas.microsoft.com/office/drawing/2014/main" id="{3D9C0400-431A-47EC-BF7B-15076CFDD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5053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self.state = "ready"</a:t>
            </a:r>
          </a:p>
        </p:txBody>
      </p:sp>
      <p:sp>
        <p:nvSpPr>
          <p:cNvPr id="12" name="Old objects leave their groups; other references can still keep them accessible.">
            <a:extLst xmlns:a="http://schemas.openxmlformats.org/drawingml/2006/main">
              <a:ext uri="{FF2B5EF4-FFF2-40B4-BE49-F238E27FC236}">
                <a16:creationId xmlns:a16="http://schemas.microsoft.com/office/drawing/2014/main" id="{EF368500-2D7D-4A97-A388-0E2EADC6B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67325"/>
            <a:ext cx="5191125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68EDBE"/>
                </a:solidFill>
                <a:latin typeface="Aptos"/>
                <a:ea typeface="Aptos"/>
                <a:cs typeface="Aptos"/>
              </a:rPr>
              <a:t>Old objects leave their groups; other references can still keep them accessible.</a:t>
            </a:r>
          </a:p>
        </p:txBody>
      </p:sp>
      <p:sp>
        <p:nvSpPr>
          <p:cNvPr id="13" name="The game then spawns three initial enemies; the new player is a new object.">
            <a:extLst xmlns:a="http://schemas.openxmlformats.org/drawingml/2006/main">
              <a:ext uri="{FF2B5EF4-FFF2-40B4-BE49-F238E27FC236}">
                <a16:creationId xmlns:a16="http://schemas.microsoft.com/office/drawing/2014/main" id="{4062A65C-32E6-461B-8F86-C5C245617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267325"/>
            <a:ext cx="5191125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68EDBE"/>
                </a:solidFill>
                <a:latin typeface="Aptos"/>
                <a:ea typeface="Aptos"/>
                <a:cs typeface="Aptos"/>
              </a:rPr>
              <a:t>The game then spawns three initial enemies; the new player is a new object.</a:t>
            </a:r>
          </a:p>
        </p:txBody>
      </p:sp>
      <p:sp>
        <p:nvSpPr>
          <p:cNvPr id="14" name="game.py · Game.reset() · excerpt after first initialization">
            <a:extLst xmlns:a="http://schemas.openxmlformats.org/drawingml/2006/main">
              <a:ext uri="{FF2B5EF4-FFF2-40B4-BE49-F238E27FC236}">
                <a16:creationId xmlns:a16="http://schemas.microsoft.com/office/drawing/2014/main" id="{7D8F1663-4581-43D2-9DC2-F8A35275D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67475"/>
            <a:ext cx="1047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game.py · Game.reset() · excerpt after first initialization</a:t>
            </a:r>
          </a:p>
        </p:txBody>
      </p:sp>
      <p:sp>
        <p:nvSpPr>
          <p:cNvPr id="15" name="26">
            <a:extLst xmlns:a="http://schemas.openxmlformats.org/drawingml/2006/main">
              <a:ext uri="{FF2B5EF4-FFF2-40B4-BE49-F238E27FC236}">
                <a16:creationId xmlns:a16="http://schemas.microsoft.com/office/drawing/2014/main" id="{EC9EE365-9259-46D6-A767-5BC151DA5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05575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DF4FB"/>
                </a:solidFill>
                <a:latin typeface="Aptos"/>
                <a:ea typeface="Aptos"/>
                <a:cs typeface="Aptos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1417737600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Find the file that owns the change">
            <a:extLst xmlns:a="http://schemas.openxmlformats.org/drawingml/2006/main">
              <a:ext uri="{FF2B5EF4-FFF2-40B4-BE49-F238E27FC236}">
                <a16:creationId xmlns:a16="http://schemas.microsoft.com/office/drawing/2014/main" id="{63D83BB5-4585-4D8A-971F-E05B72468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2862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pPr>
            <a:r>
              <a:rPr sz="3300" b="1">
                <a:solidFill>
                  <a:srgbClr val="172C40"/>
                </a:solidFill>
                <a:latin typeface="Aptos"/>
                <a:ea typeface="Aptos"/>
                <a:cs typeface="Aptos"/>
              </a:rPr>
              <a:t>Find the file that owns the change</a:t>
            </a:r>
          </a:p>
        </p:txBody>
      </p:sp>
      <p:sp>
        <p:nvSpPr>
          <p:cNvPr id="2" name="Five core classes; display and language use separate functions">
            <a:extLst xmlns:a="http://schemas.openxmlformats.org/drawingml/2006/main">
              <a:ext uri="{FF2B5EF4-FFF2-40B4-BE49-F238E27FC236}">
                <a16:creationId xmlns:a16="http://schemas.microsoft.com/office/drawing/2014/main" id="{AC486EDA-17F2-4AF9-963A-9CACB8AC4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181100"/>
            <a:ext cx="11001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5B7082"/>
                </a:solidFill>
                <a:latin typeface="Aptos"/>
                <a:ea typeface="Aptos"/>
                <a:cs typeface="Aptos"/>
              </a:rPr>
              <a:t>Five core classes; display and language use separate functions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1BF25B-72C9-40F4-B37B-CCCBAF8D0483}"/>
              </a:ext>
            </a:extLst>
          </p:cNvPr>
          <p:cNvGraphicFramePr/>
          <p:nvPr/>
        </p:nvGraphicFramePr>
        <p:xfrm>
          <a:off xmlns:a="http://schemas.openxmlformats.org/drawingml/2006/main" x="571500" y="1762125"/>
          <a:ext xmlns:a="http://schemas.openxmlformats.org/drawingml/2006/main" cx="11049000" cy="409575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3238500"/>
                <a:gridCol w="7810500"/>
              </a:tblGrid>
              <a:tr h="682625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EDF4FB"/>
                          </a:solidFill>
                          <a:latin typeface="Aptos"/>
                          <a:ea typeface="Aptos"/>
                          <a:cs typeface="Aptos"/>
                        </a:rPr>
                        <a:t>File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T w="9525">
                      <a:solidFill>
                        <a:srgbClr val="CCD6DF"/>
                      </a:solidFill>
                      <a:prstDash val="solid"/>
                    </a:lnT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172C40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EDF4FB"/>
                          </a:solidFill>
                          <a:latin typeface="Aptos"/>
                          <a:ea typeface="Aptos"/>
                          <a:cs typeface="Aptos"/>
                        </a:rPr>
                        <a:t>Contents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T w="9525">
                      <a:solidFill>
                        <a:srgbClr val="CCD6DF"/>
                      </a:solidFill>
                      <a:prstDash val="solid"/>
                    </a:lnT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172C40"/>
                    </a:solidFill>
                  </a:tcPr>
                </a:tc>
              </a:tr>
              <a:tr h="682625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172C40"/>
                          </a:solidFill>
                          <a:latin typeface="Aptos"/>
                          <a:ea typeface="Aptos"/>
                          <a:cs typeface="Aptos"/>
                        </a:rPr>
                        <a:t>actors.py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Aptos"/>
                          <a:ea typeface="Aptos"/>
                          <a:cs typeface="Aptos"/>
                        </a:rPr>
                        <a:t>Actor, Player, Enemy, Bullet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2625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172C40"/>
                          </a:solidFill>
                          <a:latin typeface="Aptos"/>
                          <a:ea typeface="Aptos"/>
                          <a:cs typeface="Aptos"/>
                        </a:rPr>
                        <a:t>game.py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Aptos"/>
                          <a:ea typeface="Aptos"/>
                          <a:cs typeface="Aptos"/>
                        </a:rPr>
                        <a:t>Game: events, spawning, collision, state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5F7FA"/>
                    </a:solidFill>
                  </a:tcPr>
                </a:tc>
              </a:tr>
              <a:tr h="682625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172C40"/>
                          </a:solidFill>
                          <a:latin typeface="Aptos"/>
                          <a:ea typeface="Aptos"/>
                          <a:cs typeface="Aptos"/>
                        </a:rPr>
                        <a:t>view.py / i18n.py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Aptos"/>
                          <a:ea typeface="Aptos"/>
                          <a:cs typeface="Aptos"/>
                        </a:rPr>
                        <a:t>Display and UI text; no game rules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2625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172C40"/>
                          </a:solidFill>
                          <a:latin typeface="Aptos"/>
                          <a:ea typeface="Aptos"/>
                          <a:cs typeface="Aptos"/>
                        </a:rPr>
                        <a:t>settings.py / main.py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Aptos"/>
                          <a:ea typeface="Aptos"/>
                          <a:cs typeface="Aptos"/>
                        </a:rPr>
                        <a:t>Parameters / command-line entry point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5F7FA"/>
                    </a:solidFill>
                  </a:tcPr>
                </a:tc>
              </a:tr>
              <a:tr h="682625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172C40"/>
                          </a:solidFill>
                          <a:latin typeface="Aptos"/>
                          <a:ea typeface="Aptos"/>
                          <a:cs typeface="Aptos"/>
                        </a:rPr>
                        <a:t>tests/test_game.py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Aptos"/>
                          <a:ea typeface="Aptos"/>
                          <a:cs typeface="Aptos"/>
                        </a:rPr>
                        <a:t>Behavior, collisions, state, rendering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27">
            <a:extLst xmlns:a="http://schemas.openxmlformats.org/drawingml/2006/main">
              <a:ext uri="{FF2B5EF4-FFF2-40B4-BE49-F238E27FC236}">
                <a16:creationId xmlns:a16="http://schemas.microsoft.com/office/drawing/2014/main" id="{219F4D8E-1E68-4E0C-8548-F087B34A3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05575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B7082"/>
                </a:solidFill>
                <a:latin typeface="Aptos"/>
                <a:ea typeface="Aptos"/>
                <a:cs typeface="Aptos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1860839508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0B14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est how the objects cooperate">
            <a:extLst xmlns:a="http://schemas.openxmlformats.org/drawingml/2006/main">
              <a:ext uri="{FF2B5EF4-FFF2-40B4-BE49-F238E27FC236}">
                <a16:creationId xmlns:a16="http://schemas.microsoft.com/office/drawing/2014/main" id="{615B4CB7-148F-4D12-B2DB-4ED0B8902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2862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pPr>
            <a:r>
              <a:rPr sz="3300" b="1">
                <a:solidFill>
                  <a:srgbClr val="EDF4FB"/>
                </a:solidFill>
                <a:latin typeface="Aptos"/>
                <a:ea typeface="Aptos"/>
                <a:cs typeface="Aptos"/>
              </a:rPr>
              <a:t>Test how the objects cooperate</a:t>
            </a:r>
          </a:p>
        </p:txBody>
      </p:sp>
      <p:sp>
        <p:nvSpPr>
          <p:cNvPr id="2" name="Check observable outcomes, not just the code's appearance">
            <a:extLst xmlns:a="http://schemas.openxmlformats.org/drawingml/2006/main">
              <a:ext uri="{FF2B5EF4-FFF2-40B4-BE49-F238E27FC236}">
                <a16:creationId xmlns:a16="http://schemas.microsoft.com/office/drawing/2014/main" id="{1DE43029-32F7-400D-AC0E-DE9FD03E7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181100"/>
            <a:ext cx="11001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68EDBE"/>
                </a:solidFill>
                <a:latin typeface="Aptos"/>
                <a:ea typeface="Aptos"/>
                <a:cs typeface="Aptos"/>
              </a:rPr>
              <a:t>Check observable outcomes, not just the code's appearance</a:t>
            </a:r>
          </a:p>
        </p:txBody>
      </p:sp>
      <p:sp>
        <p:nvSpPr>
          <p:cNvPr id="3" name="# Windows PowerShell">
            <a:extLst xmlns:a="http://schemas.openxmlformats.org/drawingml/2006/main">
              <a:ext uri="{FF2B5EF4-FFF2-40B4-BE49-F238E27FC236}">
                <a16:creationId xmlns:a16="http://schemas.microsoft.com/office/drawing/2014/main" id="{337EEBC3-4EA9-49C5-B93E-642F69F7C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9145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# Windows PowerShell</a:t>
            </a:r>
          </a:p>
        </p:txBody>
      </p:sp>
      <p:sp>
        <p:nvSpPr>
          <p:cNvPr id="4" name=".\.venv\Scripts\python.exe -m unittest discover -s tests -v">
            <a:extLst xmlns:a="http://schemas.openxmlformats.org/drawingml/2006/main">
              <a:ext uri="{FF2B5EF4-FFF2-40B4-BE49-F238E27FC236}">
                <a16:creationId xmlns:a16="http://schemas.microsoft.com/office/drawing/2014/main" id="{0DC67045-02F0-420D-AC73-C21F04454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3837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.\.venv\Scripts\python.exe -m unittest discover -s tests -v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9DE1BA-104B-4F2A-A3EA-A81EA85CC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5622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r>
              <a:t/>
            </a:r>
          </a:p>
        </p:txBody>
      </p:sp>
      <p:sp>
        <p:nvSpPr>
          <p:cNvPr id="6" name="# macOS / Linux">
            <a:extLst xmlns:a="http://schemas.openxmlformats.org/drawingml/2006/main">
              <a:ext uri="{FF2B5EF4-FFF2-40B4-BE49-F238E27FC236}">
                <a16:creationId xmlns:a16="http://schemas.microsoft.com/office/drawing/2014/main" id="{13227C3B-C4B8-455D-899C-19FF88EA6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8607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# macOS / Linux</a:t>
            </a:r>
          </a:p>
        </p:txBody>
      </p:sp>
      <p:sp>
        <p:nvSpPr>
          <p:cNvPr id="7" name=".venv/bin/python -m unittest discover -s tests -v">
            <a:extLst xmlns:a="http://schemas.openxmlformats.org/drawingml/2006/main">
              <a:ext uri="{FF2B5EF4-FFF2-40B4-BE49-F238E27FC236}">
                <a16:creationId xmlns:a16="http://schemas.microsoft.com/office/drawing/2014/main" id="{FE96EE95-80D2-4052-AC0E-8BA69A428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2099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.venv/bin/python -m unittest discover -s tests -v</a:t>
            </a:r>
          </a:p>
        </p:txBody>
      </p:sp>
      <p:sp>
        <p:nvSpPr>
          <p:cNvPr id="8" name="Check identity, cooldown, single hits, invulnerability, and stopped end states.">
            <a:extLst xmlns:a="http://schemas.openxmlformats.org/drawingml/2006/main">
              <a:ext uri="{FF2B5EF4-FFF2-40B4-BE49-F238E27FC236}">
                <a16:creationId xmlns:a16="http://schemas.microsoft.com/office/drawing/2014/main" id="{4F533B24-5159-4B93-A33E-C510F900E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67325"/>
            <a:ext cx="5191125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68EDBE"/>
                </a:solidFill>
                <a:latin typeface="Aptos"/>
                <a:ea typeface="Aptos"/>
                <a:cs typeface="Aptos"/>
              </a:rPr>
              <a:t>Check identity, cooldown, single hits, invulnerability, and stopped end states.</a:t>
            </a:r>
          </a:p>
        </p:txBody>
      </p:sp>
      <p:sp>
        <p:nvSpPr>
          <p:cNvPr id="9" name="Tests use SDL's dummy driver, so they do not need a game window.">
            <a:extLst xmlns:a="http://schemas.openxmlformats.org/drawingml/2006/main">
              <a:ext uri="{FF2B5EF4-FFF2-40B4-BE49-F238E27FC236}">
                <a16:creationId xmlns:a16="http://schemas.microsoft.com/office/drawing/2014/main" id="{7F8AC74D-C841-49D4-A2DE-B7B843FDC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267325"/>
            <a:ext cx="5191125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68EDBE"/>
                </a:solidFill>
                <a:latin typeface="Aptos"/>
                <a:ea typeface="Aptos"/>
                <a:cs typeface="Aptos"/>
              </a:rPr>
              <a:t>Tests use SDL's dummy driver, so they do not need a game window.</a:t>
            </a:r>
          </a:p>
        </p:txBody>
      </p:sp>
      <p:sp>
        <p:nvSpPr>
          <p:cNvPr id="10" name="project folder">
            <a:extLst xmlns:a="http://schemas.openxmlformats.org/drawingml/2006/main">
              <a:ext uri="{FF2B5EF4-FFF2-40B4-BE49-F238E27FC236}">
                <a16:creationId xmlns:a16="http://schemas.microsoft.com/office/drawing/2014/main" id="{151A8346-5280-4EB5-B16D-796657148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67475"/>
            <a:ext cx="1047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project folder</a:t>
            </a:r>
          </a:p>
        </p:txBody>
      </p:sp>
      <p:sp>
        <p:nvSpPr>
          <p:cNvPr id="11" name="28">
            <a:extLst xmlns:a="http://schemas.openxmlformats.org/drawingml/2006/main">
              <a:ext uri="{FF2B5EF4-FFF2-40B4-BE49-F238E27FC236}">
                <a16:creationId xmlns:a16="http://schemas.microsoft.com/office/drawing/2014/main" id="{ADEAF12B-178B-48A4-9A27-2434EE0F6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05575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DF4FB"/>
                </a:solidFill>
                <a:latin typeface="Aptos"/>
                <a:ea typeface="Aptos"/>
                <a:cs typeface="Aptos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2040068486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Small exercises: change the responsible class">
            <a:extLst xmlns:a="http://schemas.openxmlformats.org/drawingml/2006/main">
              <a:ext uri="{FF2B5EF4-FFF2-40B4-BE49-F238E27FC236}">
                <a16:creationId xmlns:a16="http://schemas.microsoft.com/office/drawing/2014/main" id="{F46BF7A6-6143-4F5C-AE39-258B7762F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2862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pPr>
            <a:r>
              <a:rPr sz="3300" b="1">
                <a:solidFill>
                  <a:srgbClr val="172C40"/>
                </a:solidFill>
                <a:latin typeface="Aptos"/>
                <a:ea typeface="Aptos"/>
                <a:cs typeface="Aptos"/>
              </a:rPr>
              <a:t>Small exercises: change the responsible class</a:t>
            </a:r>
          </a:p>
        </p:txBody>
      </p:sp>
      <p:sp>
        <p:nvSpPr>
          <p:cNvPr id="2" name="Describe completion through observable, testable behavior">
            <a:extLst xmlns:a="http://schemas.openxmlformats.org/drawingml/2006/main">
              <a:ext uri="{FF2B5EF4-FFF2-40B4-BE49-F238E27FC236}">
                <a16:creationId xmlns:a16="http://schemas.microsoft.com/office/drawing/2014/main" id="{EBF8B0B4-D5AB-4A16-9ADD-79EE927D6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181100"/>
            <a:ext cx="11001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5B7082"/>
                </a:solidFill>
                <a:latin typeface="Aptos"/>
                <a:ea typeface="Aptos"/>
                <a:cs typeface="Aptos"/>
              </a:rPr>
              <a:t>Describe completion through observable, testable behavior</a:t>
            </a:r>
          </a:p>
        </p:txBody>
      </p:sp>
      <p:sp>
        <p:nvSpPr>
          <p:cNvPr id="3" name="01">
            <a:extLst xmlns:a="http://schemas.openxmlformats.org/drawingml/2006/main">
              <a:ext uri="{FF2B5EF4-FFF2-40B4-BE49-F238E27FC236}">
                <a16:creationId xmlns:a16="http://schemas.microsoft.com/office/drawing/2014/main" id="{5718DC4B-99E0-4905-AFFC-C7BF37387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971675"/>
            <a:ext cx="685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62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62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62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62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62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62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62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62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62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262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pPr>
            <a:r>
              <a:rPr sz="2625" b="1">
                <a:solidFill>
                  <a:srgbClr val="087C62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4" name="Give an Enemy 3 HP: three hits to defeat it, with one 10-point award.">
            <a:extLst xmlns:a="http://schemas.openxmlformats.org/drawingml/2006/main">
              <a:ext uri="{FF2B5EF4-FFF2-40B4-BE49-F238E27FC236}">
                <a16:creationId xmlns:a16="http://schemas.microsoft.com/office/drawing/2014/main" id="{93D07DED-2FA0-4DAB-890F-50398280F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1990725"/>
            <a:ext cx="9858375" cy="1171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3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3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3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3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3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3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3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3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3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23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pPr>
            <a:r>
              <a:rPr sz="2325" b="0">
                <a:solidFill>
                  <a:srgbClr val="172C40"/>
                </a:solidFill>
                <a:latin typeface="Aptos"/>
                <a:ea typeface="Aptos"/>
                <a:cs typeface="Aptos"/>
              </a:rPr>
              <a:t>Give an Enemy 3 HP: three hits to defeat it, with one 10-point award.</a:t>
            </a:r>
          </a:p>
        </p:txBody>
      </p:sp>
      <p:sp>
        <p:nvSpPr>
          <p:cNvPr id="5" name="02">
            <a:extLst xmlns:a="http://schemas.openxmlformats.org/drawingml/2006/main">
              <a:ext uri="{FF2B5EF4-FFF2-40B4-BE49-F238E27FC236}">
                <a16:creationId xmlns:a16="http://schemas.microsoft.com/office/drawing/2014/main" id="{6F788F02-FF58-44EA-BB42-AE0266FE3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400425"/>
            <a:ext cx="685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62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62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62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62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62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62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62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62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62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262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pPr>
            <a:r>
              <a:rPr sz="2625" b="1">
                <a:solidFill>
                  <a:srgbClr val="087C62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6" name="Set Bullet.damage to 2: defeat a 2-HP enemy with one shot.">
            <a:extLst xmlns:a="http://schemas.openxmlformats.org/drawingml/2006/main">
              <a:ext uri="{FF2B5EF4-FFF2-40B4-BE49-F238E27FC236}">
                <a16:creationId xmlns:a16="http://schemas.microsoft.com/office/drawing/2014/main" id="{2330EB33-C07B-4F94-93A1-915482174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3419475"/>
            <a:ext cx="9858375" cy="1171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3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3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3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3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3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3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3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3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3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23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pPr>
            <a:r>
              <a:rPr sz="2325" b="0">
                <a:solidFill>
                  <a:srgbClr val="172C40"/>
                </a:solidFill>
                <a:latin typeface="Aptos"/>
                <a:ea typeface="Aptos"/>
                <a:cs typeface="Aptos"/>
              </a:rPr>
              <a:t>Set Bullet.damage to 2: defeat a 2-HP enemy with one shot.</a:t>
            </a:r>
          </a:p>
        </p:txBody>
      </p:sp>
      <p:sp>
        <p:nvSpPr>
          <p:cNvPr id="7" name="03">
            <a:extLst xmlns:a="http://schemas.openxmlformats.org/drawingml/2006/main">
              <a:ext uri="{FF2B5EF4-FFF2-40B4-BE49-F238E27FC236}">
                <a16:creationId xmlns:a16="http://schemas.microsoft.com/office/drawing/2014/main" id="{323C74D0-7099-4FDF-85A1-08CB1CFA4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829175"/>
            <a:ext cx="685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62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62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62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62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62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62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62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62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62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262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pPr>
            <a:r>
              <a:rPr sz="2625" b="1">
                <a:solidFill>
                  <a:srgbClr val="087C62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8" name="Shorten SHOT_INTERVAL: verify no new Bullet is created during cooldown.">
            <a:extLst xmlns:a="http://schemas.openxmlformats.org/drawingml/2006/main">
              <a:ext uri="{FF2B5EF4-FFF2-40B4-BE49-F238E27FC236}">
                <a16:creationId xmlns:a16="http://schemas.microsoft.com/office/drawing/2014/main" id="{10EECA82-0682-455E-9512-9DD5AB179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4848225"/>
            <a:ext cx="9858375" cy="1171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3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3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3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3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3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3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3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3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3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23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pPr>
            <a:r>
              <a:rPr sz="2325" b="0">
                <a:solidFill>
                  <a:srgbClr val="172C40"/>
                </a:solidFill>
                <a:latin typeface="Aptos"/>
                <a:ea typeface="Aptos"/>
                <a:cs typeface="Aptos"/>
              </a:rPr>
              <a:t>Shorten SHOT_INTERVAL: verify no new Bullet is created during cooldown.</a:t>
            </a:r>
          </a:p>
        </p:txBody>
      </p:sp>
      <p:sp>
        <p:nvSpPr>
          <p:cNvPr id="9" name="29">
            <a:extLst xmlns:a="http://schemas.openxmlformats.org/drawingml/2006/main">
              <a:ext uri="{FF2B5EF4-FFF2-40B4-BE49-F238E27FC236}">
                <a16:creationId xmlns:a16="http://schemas.microsoft.com/office/drawing/2014/main" id="{0C682B88-266D-4B02-A3A4-10E1D3008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05575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B7082"/>
                </a:solidFill>
                <a:latin typeface="Aptos"/>
                <a:ea typeface="Aptos"/>
                <a:cs typeface="Aptos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071075799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Five classes explain one system">
            <a:extLst xmlns:a="http://schemas.openxmlformats.org/drawingml/2006/main">
              <a:ext uri="{FF2B5EF4-FFF2-40B4-BE49-F238E27FC236}">
                <a16:creationId xmlns:a16="http://schemas.microsoft.com/office/drawing/2014/main" id="{59DA587C-5ABA-4906-A068-71AF3BBE8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2862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pPr>
            <a:r>
              <a:rPr sz="3300" b="1">
                <a:solidFill>
                  <a:srgbClr val="172C40"/>
                </a:solidFill>
                <a:latin typeface="Aptos"/>
                <a:ea typeface="Aptos"/>
                <a:cs typeface="Aptos"/>
              </a:rPr>
              <a:t>Five classes explain one system</a:t>
            </a:r>
          </a:p>
        </p:txBody>
      </p:sp>
      <p:sp>
        <p:nvSpPr>
          <p:cNvPr id="2" name="Keep state in objects; let methods coordinate behavior">
            <a:extLst xmlns:a="http://schemas.openxmlformats.org/drawingml/2006/main">
              <a:ext uri="{FF2B5EF4-FFF2-40B4-BE49-F238E27FC236}">
                <a16:creationId xmlns:a16="http://schemas.microsoft.com/office/drawing/2014/main" id="{CCE2BDF9-BEC2-4A68-B6BE-FDE3795DF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181100"/>
            <a:ext cx="11001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5B7082"/>
                </a:solidFill>
                <a:latin typeface="Aptos"/>
                <a:ea typeface="Aptos"/>
                <a:cs typeface="Aptos"/>
              </a:rPr>
              <a:t>Keep state in objects; let methods coordinate behavior</a:t>
            </a:r>
          </a:p>
        </p:txBody>
      </p:sp>
      <p:sp>
        <p:nvSpPr>
          <p:cNvPr id="3" name="Inheritance shares behavior; associations hold references; polymorphism unifies ">
            <a:extLst xmlns:a="http://schemas.openxmlformats.org/drawingml/2006/main">
              <a:ext uri="{FF2B5EF4-FFF2-40B4-BE49-F238E27FC236}">
                <a16:creationId xmlns:a16="http://schemas.microsoft.com/office/drawing/2014/main" id="{9F53F344-4300-4E75-9489-7B695106F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66900"/>
            <a:ext cx="1095375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1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1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1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1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1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1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1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1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1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pPr>
            <a:r>
              <a:rPr sz="2175" b="0">
                <a:solidFill>
                  <a:srgbClr val="172C40"/>
                </a:solidFill>
                <a:latin typeface="Aptos"/>
                <a:ea typeface="Aptos"/>
                <a:cs typeface="Aptos"/>
              </a:rPr>
              <a:t>Inheritance shares behavior; associations hold references; polymorphism unifies calls.</a:t>
            </a:r>
          </a:p>
          <a:p xmlns:a="http://schemas.openxmlformats.org/drawingml/2006/main">
            <a:pPr algn="l">
              <a:buNone/>
              <a:defRPr sz="21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pPr>
            <a:r>
              <a:rPr sz="2175" b="0">
                <a:solidFill>
                  <a:srgbClr val="172C40"/>
                </a:solidFill>
                <a:latin typeface="Aptos"/>
                <a:ea typeface="Aptos"/>
                <a:cs typeface="Aptos"/>
              </a:rPr>
              <a:t>The course website includes the complete example, three decks, and searchable chapters.</a:t>
            </a:r>
          </a:p>
        </p:txBody>
      </p:sp>
      <p:sp>
        <p:nvSpPr>
          <p:cNvPr id="4" name="Pygame · Sprite / Group">
            <a:extLst xmlns:a="http://schemas.openxmlformats.org/drawingml/2006/main">
              <a:ext uri="{FF2B5EF4-FFF2-40B4-BE49-F238E27FC236}">
                <a16:creationId xmlns:a16="http://schemas.microsoft.com/office/drawing/2014/main" id="{657BA173-867B-4313-A2B9-AB6A4AF34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476625"/>
            <a:ext cx="323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72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72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72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72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72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72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72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72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72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87C62"/>
                </a:solidFill>
                <a:latin typeface="Aptos"/>
                <a:ea typeface="Aptos"/>
                <a:cs typeface="Aptos"/>
              </a:rPr>
              <a:t>Pygame · Sprite / Group</a:t>
            </a:r>
          </a:p>
        </p:txBody>
      </p:sp>
      <p:sp>
        <p:nvSpPr>
          <p:cNvPr id="5" name="https://www.pygame.org/docs/ref/sprite.html">
            <a:extLst xmlns:a="http://schemas.openxmlformats.org/drawingml/2006/main">
              <a:ext uri="{FF2B5EF4-FFF2-40B4-BE49-F238E27FC236}">
                <a16:creationId xmlns:a16="http://schemas.microsoft.com/office/drawing/2014/main" id="{C41C4193-5337-414F-882F-1AEA97CA5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3476625"/>
            <a:ext cx="7620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72C40"/>
                </a:solidFill>
                <a:latin typeface="Aptos"/>
                <a:ea typeface="Aptos"/>
                <a:cs typeface="Aptos"/>
                <a:hlinkClick xmlns:r="http://schemas.openxmlformats.org/officeDocument/2006/relationships" r:id="R57e7aa6a30bc4c78"/>
              </a:rPr>
              <a:t>https://www.pygame.org/docs/ref/sprite.html</a:t>
            </a:r>
          </a:p>
        </p:txBody>
      </p:sp>
      <p:sp>
        <p:nvSpPr>
          <p:cNvPr id="6" name="Pygame · Clock">
            <a:extLst xmlns:a="http://schemas.openxmlformats.org/drawingml/2006/main">
              <a:ext uri="{FF2B5EF4-FFF2-40B4-BE49-F238E27FC236}">
                <a16:creationId xmlns:a16="http://schemas.microsoft.com/office/drawing/2014/main" id="{BEC89279-4072-48CC-8FB0-58B4A8DAC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000500"/>
            <a:ext cx="323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72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72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72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72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72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72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72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72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72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87C62"/>
                </a:solidFill>
                <a:latin typeface="Aptos"/>
                <a:ea typeface="Aptos"/>
                <a:cs typeface="Aptos"/>
              </a:rPr>
              <a:t>Pygame · Clock</a:t>
            </a:r>
          </a:p>
        </p:txBody>
      </p:sp>
      <p:sp>
        <p:nvSpPr>
          <p:cNvPr id="7" name="https://www.pygame.org/docs/ref/time.html">
            <a:extLst xmlns:a="http://schemas.openxmlformats.org/drawingml/2006/main">
              <a:ext uri="{FF2B5EF4-FFF2-40B4-BE49-F238E27FC236}">
                <a16:creationId xmlns:a16="http://schemas.microsoft.com/office/drawing/2014/main" id="{D99DEB22-3797-439A-B1C8-71D2AF269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4000500"/>
            <a:ext cx="7620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72C40"/>
                </a:solidFill>
                <a:latin typeface="Aptos"/>
                <a:ea typeface="Aptos"/>
                <a:cs typeface="Aptos"/>
                <a:hlinkClick xmlns:r="http://schemas.openxmlformats.org/officeDocument/2006/relationships" r:id="R10f5de044c9d43db"/>
              </a:rPr>
              <a:t>https://www.pygame.org/docs/ref/time.html</a:t>
            </a:r>
          </a:p>
        </p:txBody>
      </p:sp>
      <p:sp>
        <p:nvSpPr>
          <p:cNvPr id="8" name="Python 3.12 · Data model">
            <a:extLst xmlns:a="http://schemas.openxmlformats.org/drawingml/2006/main">
              <a:ext uri="{FF2B5EF4-FFF2-40B4-BE49-F238E27FC236}">
                <a16:creationId xmlns:a16="http://schemas.microsoft.com/office/drawing/2014/main" id="{F319DBAF-671C-4BBC-A1EA-96601C71E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524375"/>
            <a:ext cx="323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72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72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72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72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72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72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72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72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72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87C62"/>
                </a:solidFill>
                <a:latin typeface="Aptos"/>
                <a:ea typeface="Aptos"/>
                <a:cs typeface="Aptos"/>
              </a:rPr>
              <a:t>Python 3.12 · Data model</a:t>
            </a:r>
          </a:p>
        </p:txBody>
      </p:sp>
      <p:sp>
        <p:nvSpPr>
          <p:cNvPr id="9" name="https://docs.python.org/3.12/reference/datamodel.html">
            <a:extLst xmlns:a="http://schemas.openxmlformats.org/drawingml/2006/main">
              <a:ext uri="{FF2B5EF4-FFF2-40B4-BE49-F238E27FC236}">
                <a16:creationId xmlns:a16="http://schemas.microsoft.com/office/drawing/2014/main" id="{2189EBAA-653A-4E9E-B259-0FF0712BF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4524375"/>
            <a:ext cx="7620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72C40"/>
                </a:solidFill>
                <a:latin typeface="Aptos"/>
                <a:ea typeface="Aptos"/>
                <a:cs typeface="Aptos"/>
                <a:hlinkClick xmlns:r="http://schemas.openxmlformats.org/officeDocument/2006/relationships" r:id="R5d7db861c6874a5e"/>
              </a:rPr>
              <a:t>https://docs.python.org/3.12/reference/datamodel.html</a:t>
            </a:r>
          </a:p>
        </p:txBody>
      </p:sp>
      <p:sp>
        <p:nvSpPr>
          <p:cNvPr id="10" name="OMG · UML 2.5.1">
            <a:extLst xmlns:a="http://schemas.openxmlformats.org/drawingml/2006/main">
              <a:ext uri="{FF2B5EF4-FFF2-40B4-BE49-F238E27FC236}">
                <a16:creationId xmlns:a16="http://schemas.microsoft.com/office/drawing/2014/main" id="{D3066AD3-40A7-450F-A32F-59D243D07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048250"/>
            <a:ext cx="323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72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72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72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72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72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72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72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72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72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87C62"/>
                </a:solidFill>
                <a:latin typeface="Aptos"/>
                <a:ea typeface="Aptos"/>
                <a:cs typeface="Aptos"/>
              </a:rPr>
              <a:t>OMG · UML 2.5.1</a:t>
            </a:r>
          </a:p>
        </p:txBody>
      </p:sp>
      <p:sp>
        <p:nvSpPr>
          <p:cNvPr id="11" name="https://www.omg.org/spec/UML/2.5.1">
            <a:extLst xmlns:a="http://schemas.openxmlformats.org/drawingml/2006/main">
              <a:ext uri="{FF2B5EF4-FFF2-40B4-BE49-F238E27FC236}">
                <a16:creationId xmlns:a16="http://schemas.microsoft.com/office/drawing/2014/main" id="{821E9233-4112-4C5B-B14E-C25D9E2DD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5048250"/>
            <a:ext cx="7620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72C40"/>
                </a:solidFill>
                <a:latin typeface="Aptos"/>
                <a:ea typeface="Aptos"/>
                <a:cs typeface="Aptos"/>
                <a:hlinkClick xmlns:r="http://schemas.openxmlformats.org/officeDocument/2006/relationships" r:id="R12d9453d1a784c4f"/>
              </a:rPr>
              <a:t>https://www.omg.org/spec/UML/2.5.1</a:t>
            </a:r>
          </a:p>
        </p:txBody>
      </p:sp>
      <p:sp>
        <p:nvSpPr>
          <p:cNvPr id="12" name="Course · Pygame">
            <a:extLst xmlns:a="http://schemas.openxmlformats.org/drawingml/2006/main">
              <a:ext uri="{FF2B5EF4-FFF2-40B4-BE49-F238E27FC236}">
                <a16:creationId xmlns:a16="http://schemas.microsoft.com/office/drawing/2014/main" id="{85571CFA-C847-4670-9DCF-A829FD10B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572125"/>
            <a:ext cx="323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72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72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72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72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72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72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72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72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72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87C62"/>
                </a:solidFill>
                <a:latin typeface="Aptos"/>
                <a:ea typeface="Aptos"/>
                <a:cs typeface="Aptos"/>
              </a:rPr>
              <a:t>Course · Pygame</a:t>
            </a:r>
          </a:p>
        </p:txBody>
      </p:sp>
      <p:sp>
        <p:nvSpPr>
          <p:cNvPr id="13" name="https://minhuangyuntech.github.io/oo2026/en/pygame/">
            <a:extLst xmlns:a="http://schemas.openxmlformats.org/drawingml/2006/main">
              <a:ext uri="{FF2B5EF4-FFF2-40B4-BE49-F238E27FC236}">
                <a16:creationId xmlns:a16="http://schemas.microsoft.com/office/drawing/2014/main" id="{32C89D49-DF53-4BD9-9F56-2781B3FC6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5572125"/>
            <a:ext cx="7620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72C40"/>
                </a:solidFill>
                <a:latin typeface="Aptos"/>
                <a:ea typeface="Aptos"/>
                <a:cs typeface="Aptos"/>
                <a:hlinkClick xmlns:r="http://schemas.openxmlformats.org/officeDocument/2006/relationships" r:id="R1083ce9b1e4b4331"/>
              </a:rPr>
              <a:t>https://minhuangyuntech.github.io/oo2026/en/pygame/</a:t>
            </a:r>
          </a:p>
        </p:txBody>
      </p:sp>
      <p:sp>
        <p:nvSpPr>
          <p:cNvPr id="14" name="30">
            <a:extLst xmlns:a="http://schemas.openxmlformats.org/drawingml/2006/main">
              <a:ext uri="{FF2B5EF4-FFF2-40B4-BE49-F238E27FC236}">
                <a16:creationId xmlns:a16="http://schemas.microsoft.com/office/drawing/2014/main" id="{9D51E94E-D520-41FC-A214-D0E7CB7BC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05575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B7082"/>
                </a:solidFill>
                <a:latin typeface="Aptos"/>
                <a:ea typeface="Aptos"/>
                <a:cs typeface="Aptos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1142936973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Play in your browser">
            <a:extLst xmlns:a="http://schemas.openxmlformats.org/drawingml/2006/main">
              <a:ext uri="{FF2B5EF4-FFF2-40B4-BE49-F238E27FC236}">
                <a16:creationId xmlns:a16="http://schemas.microsoft.com/office/drawing/2014/main" id="{EFC43A47-4767-403B-AFCB-B9898C3C8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2862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defPPr>
            <a:lvl1pPr algn="l"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1pPr>
            <a:lvl2pPr algn="l"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2pPr>
            <a:lvl3pPr algn="l"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3pPr>
            <a:lvl4pPr algn="l"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4pPr>
            <a:lvl5pPr algn="l"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5pPr>
            <a:lvl6pPr algn="l"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6pPr>
            <a:lvl7pPr algn="l"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7pPr>
            <a:lvl8pPr algn="l"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8pPr>
            <a:lvl9pPr algn="l"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pPr>
            <a:r>
              <a:rPr sz="3300" b="1">
                <a:solidFill>
                  <a:srgbClr val="172C40"/>
                </a:solidFill>
                <a:latin typeface="Aptos"/>
                <a:ea typeface="Aptos"/>
                <a:cs typeface="Aptos"/>
              </a:rPr>
              <a:t>Play in your browser</a:t>
            </a:r>
          </a:p>
        </p:txBody>
      </p:sp>
      <p:sp>
        <p:nvSpPr>
          <p:cNvPr id="2" name="No installation. Bring the five classes to life.">
            <a:extLst xmlns:a="http://schemas.openxmlformats.org/drawingml/2006/main">
              <a:ext uri="{FF2B5EF4-FFF2-40B4-BE49-F238E27FC236}">
                <a16:creationId xmlns:a16="http://schemas.microsoft.com/office/drawing/2014/main" id="{9797D0E5-AE93-4019-A920-A1F019EC2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181100"/>
            <a:ext cx="11001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defPPr>
            <a:lvl1pPr algn="l"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1pPr>
            <a:lvl2pPr algn="l"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2pPr>
            <a:lvl3pPr algn="l"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3pPr>
            <a:lvl4pPr algn="l"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4pPr>
            <a:lvl5pPr algn="l"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5pPr>
            <a:lvl6pPr algn="l"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6pPr>
            <a:lvl7pPr algn="l"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7pPr>
            <a:lvl8pPr algn="l"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8pPr>
            <a:lvl9pPr algn="l"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5B7082"/>
                </a:solidFill>
                <a:latin typeface="Aptos"/>
                <a:ea typeface="Aptos"/>
                <a:cs typeface="Aptos"/>
              </a:rPr>
              <a:t>No installation. Bring the five classes to life.</a:t>
            </a:r>
          </a:p>
        </p:txBody>
      </p:sp>
      <p:sp>
        <p:nvSpPr>
          <p:cNvPr id="3" name="Open the game">
            <a:extLst xmlns:a="http://schemas.openxmlformats.org/drawingml/2006/main">
              <a:ext uri="{FF2B5EF4-FFF2-40B4-BE49-F238E27FC236}">
                <a16:creationId xmlns:a16="http://schemas.microsoft.com/office/drawing/2014/main" id="{CBCCD725-1202-41C1-BE03-2212D4CAE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000250"/>
            <a:ext cx="10953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defPPr>
            <a:lvl1pPr algn="l">
              <a:defRPr sz="217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1pPr>
            <a:lvl2pPr algn="l">
              <a:defRPr sz="217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2pPr>
            <a:lvl3pPr algn="l">
              <a:defRPr sz="217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3pPr>
            <a:lvl4pPr algn="l">
              <a:defRPr sz="217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4pPr>
            <a:lvl5pPr algn="l">
              <a:defRPr sz="217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5pPr>
            <a:lvl6pPr algn="l">
              <a:defRPr sz="217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6pPr>
            <a:lvl7pPr algn="l">
              <a:defRPr sz="217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7pPr>
            <a:lvl8pPr algn="l">
              <a:defRPr sz="217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8pPr>
            <a:lvl9pPr algn="l">
              <a:defRPr sz="217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pPr>
            <a:r>
              <a:rPr sz="2175" b="1">
                <a:solidFill>
                  <a:srgbClr val="087C62"/>
                </a:solidFill>
                <a:latin typeface="Aptos"/>
                <a:ea typeface="Aptos"/>
                <a:cs typeface="Aptos"/>
                <a:hlinkClick xmlns:r="http://schemas.openxmlformats.org/officeDocument/2006/relationships" r:id="R8b9dc4e3beba48ad"/>
              </a:rPr>
              <a:t>Open the game</a:t>
            </a:r>
          </a:p>
        </p:txBody>
      </p:sp>
      <p:sp>
        <p:nvSpPr>
          <p:cNvPr id="4" name="https://minhuangyuntech.github.io/oo2026/en/pygame/play/">
            <a:extLst xmlns:a="http://schemas.openxmlformats.org/drawingml/2006/main">
              <a:ext uri="{FF2B5EF4-FFF2-40B4-BE49-F238E27FC236}">
                <a16:creationId xmlns:a16="http://schemas.microsoft.com/office/drawing/2014/main" id="{62C7313F-E790-4847-AE24-62E2F251D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571750"/>
            <a:ext cx="1095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087C62"/>
                </a:solidFill>
                <a:latin typeface="Aptos"/>
                <a:ea typeface="Aptos"/>
                <a:cs typeface="Aptos"/>
              </a:defRPr>
            </a:defPPr>
            <a:lvl1pPr algn="l">
              <a:defRPr sz="2025" b="0">
                <a:solidFill>
                  <a:srgbClr val="087C62"/>
                </a:solidFill>
                <a:latin typeface="Aptos"/>
                <a:ea typeface="Aptos"/>
                <a:cs typeface="Aptos"/>
              </a:defRPr>
            </a:lvl1pPr>
            <a:lvl2pPr algn="l">
              <a:defRPr sz="2025" b="0">
                <a:solidFill>
                  <a:srgbClr val="087C62"/>
                </a:solidFill>
                <a:latin typeface="Aptos"/>
                <a:ea typeface="Aptos"/>
                <a:cs typeface="Aptos"/>
              </a:defRPr>
            </a:lvl2pPr>
            <a:lvl3pPr algn="l">
              <a:defRPr sz="2025" b="0">
                <a:solidFill>
                  <a:srgbClr val="087C62"/>
                </a:solidFill>
                <a:latin typeface="Aptos"/>
                <a:ea typeface="Aptos"/>
                <a:cs typeface="Aptos"/>
              </a:defRPr>
            </a:lvl3pPr>
            <a:lvl4pPr algn="l">
              <a:defRPr sz="2025" b="0">
                <a:solidFill>
                  <a:srgbClr val="087C62"/>
                </a:solidFill>
                <a:latin typeface="Aptos"/>
                <a:ea typeface="Aptos"/>
                <a:cs typeface="Aptos"/>
              </a:defRPr>
            </a:lvl4pPr>
            <a:lvl5pPr algn="l">
              <a:defRPr sz="2025" b="0">
                <a:solidFill>
                  <a:srgbClr val="087C62"/>
                </a:solidFill>
                <a:latin typeface="Aptos"/>
                <a:ea typeface="Aptos"/>
                <a:cs typeface="Aptos"/>
              </a:defRPr>
            </a:lvl5pPr>
            <a:lvl6pPr algn="l">
              <a:defRPr sz="2025" b="0">
                <a:solidFill>
                  <a:srgbClr val="087C62"/>
                </a:solidFill>
                <a:latin typeface="Aptos"/>
                <a:ea typeface="Aptos"/>
                <a:cs typeface="Aptos"/>
              </a:defRPr>
            </a:lvl6pPr>
            <a:lvl7pPr algn="l">
              <a:defRPr sz="2025" b="0">
                <a:solidFill>
                  <a:srgbClr val="087C62"/>
                </a:solidFill>
                <a:latin typeface="Aptos"/>
                <a:ea typeface="Aptos"/>
                <a:cs typeface="Aptos"/>
              </a:defRPr>
            </a:lvl7pPr>
            <a:lvl8pPr algn="l">
              <a:defRPr sz="2025" b="0">
                <a:solidFill>
                  <a:srgbClr val="087C62"/>
                </a:solidFill>
                <a:latin typeface="Aptos"/>
                <a:ea typeface="Aptos"/>
                <a:cs typeface="Aptos"/>
              </a:defRPr>
            </a:lvl8pPr>
            <a:lvl9pPr algn="l">
              <a:defRPr sz="2025" b="0">
                <a:solidFill>
                  <a:srgbClr val="087C6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087C62"/>
                </a:solidFill>
                <a:latin typeface="Aptos"/>
                <a:ea typeface="Aptos"/>
                <a:cs typeface="Aptos"/>
              </a:defRPr>
            </a:pPr>
            <a:r>
              <a:rPr sz="2025" b="0">
                <a:solidFill>
                  <a:srgbClr val="087C62"/>
                </a:solidFill>
                <a:latin typeface="Aptos"/>
                <a:ea typeface="Aptos"/>
                <a:cs typeface="Aptos"/>
                <a:hlinkClick xmlns:r="http://schemas.openxmlformats.org/officeDocument/2006/relationships" r:id="Ra8bcb1fdfaf34f86"/>
              </a:rPr>
              <a:t>https://minhuangyuntech.github.io/oo2026/en/pygame/play/</a:t>
            </a:r>
          </a:p>
        </p:txBody>
      </p:sp>
      <p:sp>
        <p:nvSpPr>
          <p:cNvPr id="5" name="Open the link and choose “Start game”. Each player, enemy, and bullet is an obje">
            <a:extLst xmlns:a="http://schemas.openxmlformats.org/drawingml/2006/main">
              <a:ext uri="{FF2B5EF4-FFF2-40B4-BE49-F238E27FC236}">
                <a16:creationId xmlns:a16="http://schemas.microsoft.com/office/drawing/2014/main" id="{AF43F2E6-5997-4893-A03D-D70E07D82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486150"/>
            <a:ext cx="10953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defPPr>
            <a:lvl1pPr algn="l">
              <a:defRPr sz="20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1pPr>
            <a:lvl2pPr algn="l">
              <a:defRPr sz="20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2pPr>
            <a:lvl3pPr algn="l">
              <a:defRPr sz="20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3pPr>
            <a:lvl4pPr algn="l">
              <a:defRPr sz="20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4pPr>
            <a:lvl5pPr algn="l">
              <a:defRPr sz="20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5pPr>
            <a:lvl6pPr algn="l">
              <a:defRPr sz="20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6pPr>
            <a:lvl7pPr algn="l">
              <a:defRPr sz="20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7pPr>
            <a:lvl8pPr algn="l">
              <a:defRPr sz="20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8pPr>
            <a:lvl9pPr algn="l">
              <a:defRPr sz="20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pPr>
            <a:r>
              <a:rPr sz="2025" b="0">
                <a:solidFill>
                  <a:srgbClr val="172C40"/>
                </a:solidFill>
                <a:latin typeface="Aptos"/>
                <a:ea typeface="Aptos"/>
                <a:cs typeface="Aptos"/>
              </a:rPr>
              <a:t>Open the link and choose “Start game”. Each player, enemy, and bullet is an object.</a:t>
            </a:r>
          </a:p>
        </p:txBody>
      </p:sp>
      <p:sp>
        <p:nvSpPr>
          <p:cNvPr id="6" name="Switch between 中文, English, and 日本語 at the top. The scene and score are preserve">
            <a:extLst xmlns:a="http://schemas.openxmlformats.org/drawingml/2006/main">
              <a:ext uri="{FF2B5EF4-FFF2-40B4-BE49-F238E27FC236}">
                <a16:creationId xmlns:a16="http://schemas.microsoft.com/office/drawing/2014/main" id="{5C887E9A-A330-4209-82B1-B95C2C843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38650"/>
            <a:ext cx="10953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defPPr>
            <a:lvl1pPr algn="l">
              <a:defRPr sz="20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1pPr>
            <a:lvl2pPr algn="l">
              <a:defRPr sz="20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2pPr>
            <a:lvl3pPr algn="l">
              <a:defRPr sz="20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3pPr>
            <a:lvl4pPr algn="l">
              <a:defRPr sz="20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4pPr>
            <a:lvl5pPr algn="l">
              <a:defRPr sz="20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5pPr>
            <a:lvl6pPr algn="l">
              <a:defRPr sz="20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6pPr>
            <a:lvl7pPr algn="l">
              <a:defRPr sz="20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7pPr>
            <a:lvl8pPr algn="l">
              <a:defRPr sz="20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8pPr>
            <a:lvl9pPr algn="l">
              <a:defRPr sz="20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pPr>
            <a:r>
              <a:rPr sz="2025" b="0">
                <a:solidFill>
                  <a:srgbClr val="172C40"/>
                </a:solidFill>
                <a:latin typeface="Aptos"/>
                <a:ea typeface="Aptos"/>
                <a:cs typeface="Aptos"/>
              </a:rPr>
              <a:t>Switch between 中文, English, and 日本語 at the top. The scene and score are preserved.</a:t>
            </a:r>
          </a:p>
        </p:txBody>
      </p:sp>
      <p:sp>
        <p:nvSpPr>
          <p:cNvPr id="7" name="The browser edition uses TypeScript / Canvas, with the same class responsibiliti">
            <a:extLst xmlns:a="http://schemas.openxmlformats.org/drawingml/2006/main">
              <a:ext uri="{FF2B5EF4-FFF2-40B4-BE49-F238E27FC236}">
                <a16:creationId xmlns:a16="http://schemas.microsoft.com/office/drawing/2014/main" id="{09FB5B5A-B62D-4B1E-AF95-9AC46820E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391150"/>
            <a:ext cx="10953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defPPr>
            <a:lvl1pPr algn="l">
              <a:defRPr sz="20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1pPr>
            <a:lvl2pPr algn="l">
              <a:defRPr sz="20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2pPr>
            <a:lvl3pPr algn="l">
              <a:defRPr sz="20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3pPr>
            <a:lvl4pPr algn="l">
              <a:defRPr sz="20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4pPr>
            <a:lvl5pPr algn="l">
              <a:defRPr sz="20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5pPr>
            <a:lvl6pPr algn="l">
              <a:defRPr sz="20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6pPr>
            <a:lvl7pPr algn="l">
              <a:defRPr sz="20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7pPr>
            <a:lvl8pPr algn="l">
              <a:defRPr sz="20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8pPr>
            <a:lvl9pPr algn="l">
              <a:defRPr sz="20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pPr>
            <a:r>
              <a:rPr sz="2025" b="0">
                <a:solidFill>
                  <a:srgbClr val="172C40"/>
                </a:solidFill>
                <a:latin typeface="Aptos"/>
                <a:ea typeface="Aptos"/>
                <a:cs typeface="Aptos"/>
              </a:rPr>
              <a:t>The browser edition uses TypeScript / Canvas, with the same class responsibilities and rules as the Pygame example.</a:t>
            </a:r>
          </a:p>
        </p:txBody>
      </p:sp>
      <p:sp>
        <p:nvSpPr>
          <p:cNvPr id="8" name="31">
            <a:extLst xmlns:a="http://schemas.openxmlformats.org/drawingml/2006/main">
              <a:ext uri="{FF2B5EF4-FFF2-40B4-BE49-F238E27FC236}">
                <a16:creationId xmlns:a16="http://schemas.microsoft.com/office/drawing/2014/main" id="{314548DE-B9FA-45AE-B339-E678DD3E3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05575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defPPr>
            <a:lvl1pPr algn="l"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1pPr>
            <a:lvl2pPr algn="l"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2pPr>
            <a:lvl3pPr algn="l"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3pPr>
            <a:lvl4pPr algn="l"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4pPr>
            <a:lvl5pPr algn="l"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5pPr>
            <a:lvl6pPr algn="l"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6pPr>
            <a:lvl7pPr algn="l"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7pPr>
            <a:lvl8pPr algn="l"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8pPr>
            <a:lvl9pPr algn="l"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B7082"/>
                </a:solidFill>
                <a:latin typeface="Aptos"/>
                <a:ea typeface="Aptos"/>
                <a:cs typeface="Aptos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782882788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Browser controls: keyboard &amp; touch">
            <a:extLst xmlns:a="http://schemas.openxmlformats.org/drawingml/2006/main">
              <a:ext uri="{FF2B5EF4-FFF2-40B4-BE49-F238E27FC236}">
                <a16:creationId xmlns:a16="http://schemas.microsoft.com/office/drawing/2014/main" id="{6CE54D03-5255-44DD-AE31-1C75C60E2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2862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defPPr>
            <a:lvl1pPr algn="l"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1pPr>
            <a:lvl2pPr algn="l"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2pPr>
            <a:lvl3pPr algn="l"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3pPr>
            <a:lvl4pPr algn="l"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4pPr>
            <a:lvl5pPr algn="l"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5pPr>
            <a:lvl6pPr algn="l"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6pPr>
            <a:lvl7pPr algn="l"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7pPr>
            <a:lvl8pPr algn="l"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8pPr>
            <a:lvl9pPr algn="l"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pPr>
            <a:r>
              <a:rPr sz="3300" b="1">
                <a:solidFill>
                  <a:srgbClr val="172C40"/>
                </a:solidFill>
                <a:latin typeface="Aptos"/>
                <a:ea typeface="Aptos"/>
                <a:cs typeface="Aptos"/>
              </a:rPr>
              <a:t>Browser controls: keyboard &amp; touch</a:t>
            </a:r>
          </a:p>
        </p:txBody>
      </p:sp>
      <p:sp>
        <p:nvSpPr>
          <p:cNvPr id="2" name="Click the playfield before using keys, or use the on-screen buttons.">
            <a:extLst xmlns:a="http://schemas.openxmlformats.org/drawingml/2006/main">
              <a:ext uri="{FF2B5EF4-FFF2-40B4-BE49-F238E27FC236}">
                <a16:creationId xmlns:a16="http://schemas.microsoft.com/office/drawing/2014/main" id="{0F3887B4-EF67-41CE-9304-605875EDE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181100"/>
            <a:ext cx="11001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defPPr>
            <a:lvl1pPr algn="l"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1pPr>
            <a:lvl2pPr algn="l"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2pPr>
            <a:lvl3pPr algn="l"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3pPr>
            <a:lvl4pPr algn="l"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4pPr>
            <a:lvl5pPr algn="l"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5pPr>
            <a:lvl6pPr algn="l"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6pPr>
            <a:lvl7pPr algn="l"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7pPr>
            <a:lvl8pPr algn="l"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8pPr>
            <a:lvl9pPr algn="l"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5B7082"/>
                </a:solidFill>
                <a:latin typeface="Aptos"/>
                <a:ea typeface="Aptos"/>
                <a:cs typeface="Aptos"/>
              </a:rPr>
              <a:t>Click the playfield before using keys, or use the on-screen buttons.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00838FA-23B7-4942-AD79-869BAA4CF083}"/>
              </a:ext>
            </a:extLst>
          </p:cNvPr>
          <p:cNvGraphicFramePr/>
          <p:nvPr/>
        </p:nvGraphicFramePr>
        <p:xfrm>
          <a:off xmlns:a="http://schemas.openxmlformats.org/drawingml/2006/main" x="571500" y="1762125"/>
          <a:ext xmlns:a="http://schemas.openxmlformats.org/drawingml/2006/main" cx="11049000" cy="371475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3238500"/>
                <a:gridCol w="7810500"/>
              </a:tblGrid>
              <a:tr h="464344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EDF4FB"/>
                          </a:solidFill>
                          <a:latin typeface="Aptos"/>
                          <a:ea typeface="Aptos"/>
                          <a:cs typeface="Aptos"/>
                        </a:rPr>
                        <a:t>Key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T w="9525">
                      <a:solidFill>
                        <a:srgbClr val="CCD6DF"/>
                      </a:solidFill>
                      <a:prstDash val="solid"/>
                    </a:lnT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172C40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EDF4FB"/>
                          </a:solidFill>
                          <a:latin typeface="Aptos"/>
                          <a:ea typeface="Aptos"/>
                          <a:cs typeface="Aptos"/>
                        </a:rPr>
                        <a:t>Action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T w="9525">
                      <a:solidFill>
                        <a:srgbClr val="CCD6DF"/>
                      </a:solidFill>
                      <a:prstDash val="solid"/>
                    </a:lnT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172C40"/>
                    </a:solidFill>
                  </a:tcPr>
                </a:tc>
              </a:tr>
              <a:tr h="464344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172C40"/>
                          </a:solidFill>
                          <a:latin typeface="Aptos"/>
                          <a:ea typeface="Aptos"/>
                          <a:cs typeface="Aptos"/>
                        </a:rPr>
                        <a:t>Enter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Aptos"/>
                          <a:ea typeface="Aptos"/>
                          <a:cs typeface="Aptos"/>
                        </a:rPr>
                        <a:t>Start / resume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64344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172C40"/>
                          </a:solidFill>
                          <a:latin typeface="Aptos"/>
                          <a:ea typeface="Aptos"/>
                          <a:cs typeface="Aptos"/>
                        </a:rPr>
                        <a:t>Arrows / WASD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Aptos"/>
                          <a:ea typeface="Aptos"/>
                          <a:cs typeface="Aptos"/>
                        </a:rPr>
                        <a:t>Move the player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5F7FA"/>
                    </a:solidFill>
                  </a:tcPr>
                </a:tc>
              </a:tr>
              <a:tr h="464344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172C40"/>
                          </a:solidFill>
                          <a:latin typeface="Aptos"/>
                          <a:ea typeface="Aptos"/>
                          <a:cs typeface="Aptos"/>
                        </a:rPr>
                        <a:t>Hold Space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Aptos"/>
                          <a:ea typeface="Aptos"/>
                          <a:cs typeface="Aptos"/>
                        </a:rPr>
                        <a:t>Fire continuously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64344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172C40"/>
                          </a:solidFill>
                          <a:latin typeface="Aptos"/>
                          <a:ea typeface="Aptos"/>
                          <a:cs typeface="Aptos"/>
                        </a:rPr>
                        <a:t>P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Aptos"/>
                          <a:ea typeface="Aptos"/>
                          <a:cs typeface="Aptos"/>
                        </a:rPr>
                        <a:t>Pause / resume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5F7FA"/>
                    </a:solidFill>
                  </a:tcPr>
                </a:tc>
              </a:tr>
              <a:tr h="464344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172C40"/>
                          </a:solidFill>
                          <a:latin typeface="Aptos"/>
                          <a:ea typeface="Aptos"/>
                          <a:cs typeface="Aptos"/>
                        </a:rPr>
                        <a:t>N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Aptos"/>
                          <a:ea typeface="Aptos"/>
                          <a:cs typeface="Aptos"/>
                        </a:rPr>
                        <a:t>Advance 1/60 s while paused; no automatic shot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64344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172C40"/>
                          </a:solidFill>
                          <a:latin typeface="Aptos"/>
                          <a:ea typeface="Aptos"/>
                          <a:cs typeface="Aptos"/>
                        </a:rPr>
                        <a:t>L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Aptos"/>
                          <a:ea typeface="Aptos"/>
                          <a:cs typeface="Aptos"/>
                        </a:rPr>
                        <a:t>Show / hide object labels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5F7FA"/>
                    </a:solidFill>
                  </a:tcPr>
                </a:tc>
              </a:tr>
              <a:tr h="464344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172C40"/>
                          </a:solidFill>
                          <a:latin typeface="Aptos"/>
                          <a:ea typeface="Aptos"/>
                          <a:cs typeface="Aptos"/>
                        </a:rPr>
                        <a:t>R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Aptos"/>
                          <a:ea typeface="Aptos"/>
                          <a:cs typeface="Aptos"/>
                        </a:rPr>
                        <a:t>Restart at the ready screen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ouch: hold the direction and Fire buttons; use “Pause &amp; inspect” and “Step +1/6">
            <a:extLst xmlns:a="http://schemas.openxmlformats.org/drawingml/2006/main">
              <a:ext uri="{FF2B5EF4-FFF2-40B4-BE49-F238E27FC236}">
                <a16:creationId xmlns:a16="http://schemas.microsoft.com/office/drawing/2014/main" id="{5E181C09-9E69-4B44-B065-A4E890208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648325"/>
            <a:ext cx="10953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defPPr>
            <a:lvl1pPr algn="l">
              <a:defRPr sz="157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1pPr>
            <a:lvl2pPr algn="l">
              <a:defRPr sz="157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2pPr>
            <a:lvl3pPr algn="l">
              <a:defRPr sz="157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3pPr>
            <a:lvl4pPr algn="l">
              <a:defRPr sz="157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4pPr>
            <a:lvl5pPr algn="l">
              <a:defRPr sz="157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5pPr>
            <a:lvl6pPr algn="l">
              <a:defRPr sz="157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6pPr>
            <a:lvl7pPr algn="l">
              <a:defRPr sz="157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7pPr>
            <a:lvl8pPr algn="l">
              <a:defRPr sz="157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8pPr>
            <a:lvl9pPr algn="l">
              <a:defRPr sz="157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5B7082"/>
                </a:solidFill>
                <a:latin typeface="Aptos"/>
                <a:ea typeface="Aptos"/>
                <a:cs typeface="Aptos"/>
              </a:rPr>
              <a:t>Touch: hold the direction and Fire buttons; use “Pause &amp; inspect” and “Step +1/60 s”.</a:t>
            </a:r>
          </a:p>
        </p:txBody>
      </p:sp>
      <p:sp>
        <p:nvSpPr>
          <p:cNvPr id="5" name="Labels: L in the browser; Tab in Pygame. Browser Tab moves keyboard focus.">
            <a:extLst xmlns:a="http://schemas.openxmlformats.org/drawingml/2006/main">
              <a:ext uri="{FF2B5EF4-FFF2-40B4-BE49-F238E27FC236}">
                <a16:creationId xmlns:a16="http://schemas.microsoft.com/office/drawing/2014/main" id="{9F5BBE3B-7ADD-44F0-9AD7-B48ADBCB4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086475"/>
            <a:ext cx="10953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defPPr>
            <a:lvl1pPr algn="l">
              <a:defRPr sz="157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1pPr>
            <a:lvl2pPr algn="l">
              <a:defRPr sz="157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2pPr>
            <a:lvl3pPr algn="l">
              <a:defRPr sz="157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3pPr>
            <a:lvl4pPr algn="l">
              <a:defRPr sz="157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4pPr>
            <a:lvl5pPr algn="l">
              <a:defRPr sz="157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5pPr>
            <a:lvl6pPr algn="l">
              <a:defRPr sz="157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6pPr>
            <a:lvl7pPr algn="l">
              <a:defRPr sz="157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7pPr>
            <a:lvl8pPr algn="l">
              <a:defRPr sz="157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8pPr>
            <a:lvl9pPr algn="l">
              <a:defRPr sz="157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5B7082"/>
                </a:solidFill>
                <a:latin typeface="Aptos"/>
                <a:ea typeface="Aptos"/>
                <a:cs typeface="Aptos"/>
              </a:rPr>
              <a:t>Labels: L in the browser; Tab in Pygame. Browser Tab moves keyboard focus.</a:t>
            </a:r>
          </a:p>
        </p:txBody>
      </p:sp>
      <p:sp>
        <p:nvSpPr>
          <p:cNvPr id="6" name="32">
            <a:extLst xmlns:a="http://schemas.openxmlformats.org/drawingml/2006/main">
              <a:ext uri="{FF2B5EF4-FFF2-40B4-BE49-F238E27FC236}">
                <a16:creationId xmlns:a16="http://schemas.microsoft.com/office/drawing/2014/main" id="{B8E4C944-95DE-40A7-8E5F-42DE221E7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05575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defPPr>
            <a:lvl1pPr algn="l"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1pPr>
            <a:lvl2pPr algn="l"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2pPr>
            <a:lvl3pPr algn="l"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3pPr>
            <a:lvl4pPr algn="l"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4pPr>
            <a:lvl5pPr algn="l"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5pPr>
            <a:lvl6pPr algn="l"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6pPr>
            <a:lvl7pPr algn="l"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7pPr>
            <a:lvl8pPr algn="l"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8pPr>
            <a:lvl9pPr algn="l"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B7082"/>
                </a:solidFill>
                <a:latin typeface="Aptos"/>
                <a:ea typeface="Aptos"/>
                <a:cs typeface="Aptos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67899443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Pause: two bullets, one player">
            <a:extLst xmlns:a="http://schemas.openxmlformats.org/drawingml/2006/main">
              <a:ext uri="{FF2B5EF4-FFF2-40B4-BE49-F238E27FC236}">
                <a16:creationId xmlns:a16="http://schemas.microsoft.com/office/drawing/2014/main" id="{0A215AF7-9912-4F29-A9B2-384E810D8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2862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defPPr>
            <a:lvl1pPr algn="l"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1pPr>
            <a:lvl2pPr algn="l"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2pPr>
            <a:lvl3pPr algn="l"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3pPr>
            <a:lvl4pPr algn="l"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4pPr>
            <a:lvl5pPr algn="l"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5pPr>
            <a:lvl6pPr algn="l"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6pPr>
            <a:lvl7pPr algn="l"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7pPr>
            <a:lvl8pPr algn="l"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8pPr>
            <a:lvl9pPr algn="l"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pPr>
            <a:r>
              <a:rPr sz="3300" b="1">
                <a:solidFill>
                  <a:srgbClr val="172C40"/>
                </a:solidFill>
                <a:latin typeface="Aptos"/>
                <a:ea typeface="Aptos"/>
                <a:cs typeface="Aptos"/>
              </a:rPr>
              <a:t>Pause: two bullets, one player</a:t>
            </a:r>
          </a:p>
        </p:txBody>
      </p:sp>
      <p:sp>
        <p:nvSpPr>
          <p:cNvPr id="2" name="Freeze time. Follow object references and position changes.">
            <a:extLst xmlns:a="http://schemas.openxmlformats.org/drawingml/2006/main">
              <a:ext uri="{FF2B5EF4-FFF2-40B4-BE49-F238E27FC236}">
                <a16:creationId xmlns:a16="http://schemas.microsoft.com/office/drawing/2014/main" id="{2BE633B2-E8F8-4905-AA7B-F9C004273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181100"/>
            <a:ext cx="11001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defPPr>
            <a:lvl1pPr algn="l"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1pPr>
            <a:lvl2pPr algn="l"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2pPr>
            <a:lvl3pPr algn="l"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3pPr>
            <a:lvl4pPr algn="l"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4pPr>
            <a:lvl5pPr algn="l"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5pPr>
            <a:lvl6pPr algn="l"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6pPr>
            <a:lvl7pPr algn="l"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7pPr>
            <a:lvl8pPr algn="l"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8pPr>
            <a:lvl9pPr algn="l"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5B7082"/>
                </a:solidFill>
                <a:latin typeface="Aptos"/>
                <a:ea typeface="Aptos"/>
                <a:cs typeface="Aptos"/>
              </a:rPr>
              <a:t>Freeze time. Follow object references and position changes.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7A9ADE-288F-41E5-AAE3-4AC8DA690B3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aeadc209a3c436c"/>
          <a:stretch xmlns:a="http://schemas.openxmlformats.org/drawingml/2006/main"/>
        </p:blipFill>
        <p:spPr>
          <a:xfrm xmlns:a="http://schemas.openxmlformats.org/drawingml/2006/main">
            <a:off x="571500" y="1747534"/>
            <a:ext cx="5619750" cy="4639283"/>
          </a:xfrm>
          <a:prstGeom xmlns:a="http://schemas.openxmlformats.org/drawingml/2006/main" prst="rect">
            <a:avLst/>
          </a:prstGeom>
        </p:spPr>
      </p:pic>
      <p:sp>
        <p:nvSpPr>
          <p:cNvPr id="4" name="1  Choose “Load example scene”. This resets to a paused scene: 1 Player, 3 Enemi">
            <a:extLst xmlns:a="http://schemas.openxmlformats.org/drawingml/2006/main">
              <a:ext uri="{FF2B5EF4-FFF2-40B4-BE49-F238E27FC236}">
                <a16:creationId xmlns:a16="http://schemas.microsoft.com/office/drawing/2014/main" id="{13D99219-D071-4B85-93C4-3F59B9D9E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876425"/>
            <a:ext cx="5000625" cy="1362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defPPr>
            <a:lvl1pPr algn="l">
              <a:defRPr sz="18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1pPr>
            <a:lvl2pPr algn="l">
              <a:defRPr sz="18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2pPr>
            <a:lvl3pPr algn="l">
              <a:defRPr sz="18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3pPr>
            <a:lvl4pPr algn="l">
              <a:defRPr sz="18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4pPr>
            <a:lvl5pPr algn="l">
              <a:defRPr sz="18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5pPr>
            <a:lvl6pPr algn="l">
              <a:defRPr sz="18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6pPr>
            <a:lvl7pPr algn="l">
              <a:defRPr sz="18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7pPr>
            <a:lvl8pPr algn="l">
              <a:defRPr sz="18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8pPr>
            <a:lvl9pPr algn="l">
              <a:defRPr sz="18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172C40"/>
                </a:solidFill>
                <a:latin typeface="Aptos"/>
                <a:ea typeface="Aptos"/>
                <a:cs typeface="Aptos"/>
              </a:rPr>
              <a:t>1  Choose “Load example scene”. This resets to a paused scene: 1 Player, 3 Enemies, and 2 Bullets.</a:t>
            </a:r>
          </a:p>
        </p:txBody>
      </p:sp>
      <p:sp>
        <p:nvSpPr>
          <p:cNvPr id="5" name="2  Select B01, then B02. Both owner references point to the same player. The pla">
            <a:extLst xmlns:a="http://schemas.openxmlformats.org/drawingml/2006/main">
              <a:ext uri="{FF2B5EF4-FFF2-40B4-BE49-F238E27FC236}">
                <a16:creationId xmlns:a16="http://schemas.microsoft.com/office/drawing/2014/main" id="{A5D831E8-4F11-4ED9-951D-D7E63F060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371850"/>
            <a:ext cx="5000625" cy="1362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defPPr>
            <a:lvl1pPr algn="l">
              <a:defRPr sz="18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1pPr>
            <a:lvl2pPr algn="l">
              <a:defRPr sz="18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2pPr>
            <a:lvl3pPr algn="l">
              <a:defRPr sz="18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3pPr>
            <a:lvl4pPr algn="l">
              <a:defRPr sz="18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4pPr>
            <a:lvl5pPr algn="l">
              <a:defRPr sz="18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5pPr>
            <a:lvl6pPr algn="l">
              <a:defRPr sz="18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6pPr>
            <a:lvl7pPr algn="l">
              <a:defRPr sz="18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7pPr>
            <a:lvl8pPr algn="l">
              <a:defRPr sz="18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8pPr>
            <a:lvl9pPr algn="l">
              <a:defRPr sz="18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172C40"/>
                </a:solidFill>
                <a:latin typeface="Aptos"/>
                <a:ea typeface="Aptos"/>
                <a:cs typeface="Aptos"/>
              </a:rPr>
              <a:t>2  Select B01, then B02. Both owner references point to the same player. The player is not copied.</a:t>
            </a:r>
          </a:p>
        </p:txBody>
      </p:sp>
      <p:sp>
        <p:nvSpPr>
          <p:cNvPr id="6" name="3  Press N once: B01.y changes from 490.0 to 479.7. Time advances 1/60 s; no aut">
            <a:extLst xmlns:a="http://schemas.openxmlformats.org/drawingml/2006/main">
              <a:ext uri="{FF2B5EF4-FFF2-40B4-BE49-F238E27FC236}">
                <a16:creationId xmlns:a16="http://schemas.microsoft.com/office/drawing/2014/main" id="{23B94BA8-E643-4EBF-A733-1C90514B8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867275"/>
            <a:ext cx="5000625" cy="1362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defPPr>
            <a:lvl1pPr algn="l">
              <a:defRPr sz="18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1pPr>
            <a:lvl2pPr algn="l">
              <a:defRPr sz="18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2pPr>
            <a:lvl3pPr algn="l">
              <a:defRPr sz="18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3pPr>
            <a:lvl4pPr algn="l">
              <a:defRPr sz="18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4pPr>
            <a:lvl5pPr algn="l">
              <a:defRPr sz="18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5pPr>
            <a:lvl6pPr algn="l">
              <a:defRPr sz="18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6pPr>
            <a:lvl7pPr algn="l">
              <a:defRPr sz="18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7pPr>
            <a:lvl8pPr algn="l">
              <a:defRPr sz="18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8pPr>
            <a:lvl9pPr algn="l">
              <a:defRPr sz="18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172C40"/>
                </a:solidFill>
                <a:latin typeface="Aptos"/>
                <a:ea typeface="Aptos"/>
                <a:cs typeface="Aptos"/>
              </a:rPr>
              <a:t>3  Press N once: B01.y changes from 490.0 to 479.7. Time advances 1/60 s; no automatic shot.</a:t>
            </a:r>
          </a:p>
        </p:txBody>
      </p:sp>
      <p:sp>
        <p:nvSpPr>
          <p:cNvPr id="7" name="33">
            <a:extLst xmlns:a="http://schemas.openxmlformats.org/drawingml/2006/main">
              <a:ext uri="{FF2B5EF4-FFF2-40B4-BE49-F238E27FC236}">
                <a16:creationId xmlns:a16="http://schemas.microsoft.com/office/drawing/2014/main" id="{2A6AD4E7-4A68-444D-9A57-B5BAD7635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05575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defPPr>
            <a:lvl1pPr algn="l"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1pPr>
            <a:lvl2pPr algn="l"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2pPr>
            <a:lvl3pPr algn="l"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3pPr>
            <a:lvl4pPr algn="l"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4pPr>
            <a:lvl5pPr algn="l"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5pPr>
            <a:lvl6pPr algn="l"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6pPr>
            <a:lvl7pPr algn="l"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7pPr>
            <a:lvl8pPr algn="l"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8pPr>
            <a:lvl9pPr algn="l"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B7082"/>
                </a:solidFill>
                <a:latin typeface="Aptos"/>
                <a:ea typeface="Aptos"/>
                <a:cs typeface="Aptos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179881203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2026-10-21T01:25:55.5650000Z</dcterms:created>
  <dcterms:modified xsi:type="dcterms:W3CDTF">2026-10-21T01:25:55.5650000Z</dcterms:modified>
</coreProperties>
</file>