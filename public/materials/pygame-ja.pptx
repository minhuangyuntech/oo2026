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4154ac0f0664d49" /><Relationship Type="http://schemas.openxmlformats.org/officeDocument/2006/relationships/extended-properties" Target="/docProps/app.xml" Id="R731c68bd39084bce" /><Relationship Type="http://schemas.openxmlformats.org/officeDocument/2006/relationships/officeDocument" Target="/ppt/presentation.xml" Id="R4d6269708298470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09aed30da224750"/>
  </p:sldMasterIdLst>
  <p:notesMasterIdLst>
    <p:notesMasterId xmlns:r="http://schemas.openxmlformats.org/officeDocument/2006/relationships" r:id="Rfbe7601bd52d4bfe"/>
  </p:notesMasterIdLst>
  <p:sldIdLst>
    <p:sldId xmlns:r="http://schemas.openxmlformats.org/officeDocument/2006/relationships" id="256" r:id="R498b892274f340d9"/>
    <p:sldId xmlns:r="http://schemas.openxmlformats.org/officeDocument/2006/relationships" id="257" r:id="R74a9d951867941fd"/>
    <p:sldId xmlns:r="http://schemas.openxmlformats.org/officeDocument/2006/relationships" id="258" r:id="Ra345c7739f0f4d40"/>
    <p:sldId xmlns:r="http://schemas.openxmlformats.org/officeDocument/2006/relationships" id="259" r:id="Rf4337bc8c9a9405c"/>
    <p:sldId xmlns:r="http://schemas.openxmlformats.org/officeDocument/2006/relationships" id="260" r:id="Rb6b8aed4413b4bd1"/>
    <p:sldId xmlns:r="http://schemas.openxmlformats.org/officeDocument/2006/relationships" id="261" r:id="Rf7baef24dbcb45cc"/>
    <p:sldId xmlns:r="http://schemas.openxmlformats.org/officeDocument/2006/relationships" id="262" r:id="Rf566f9e7131a4e5c"/>
    <p:sldId xmlns:r="http://schemas.openxmlformats.org/officeDocument/2006/relationships" id="263" r:id="Re3356cf92e684e27"/>
    <p:sldId xmlns:r="http://schemas.openxmlformats.org/officeDocument/2006/relationships" id="264" r:id="R52270a97c8e94032"/>
    <p:sldId xmlns:r="http://schemas.openxmlformats.org/officeDocument/2006/relationships" id="265" r:id="Rc78de75f25ff46b2"/>
    <p:sldId xmlns:r="http://schemas.openxmlformats.org/officeDocument/2006/relationships" id="266" r:id="R130f549316474a0c"/>
    <p:sldId xmlns:r="http://schemas.openxmlformats.org/officeDocument/2006/relationships" id="267" r:id="Rcb7845b5581341e3"/>
    <p:sldId xmlns:r="http://schemas.openxmlformats.org/officeDocument/2006/relationships" id="268" r:id="R3e6bf738c44c4329"/>
    <p:sldId xmlns:r="http://schemas.openxmlformats.org/officeDocument/2006/relationships" id="269" r:id="Redc0b216b0ab4af6"/>
    <p:sldId xmlns:r="http://schemas.openxmlformats.org/officeDocument/2006/relationships" id="270" r:id="R3818e41e34774ff4"/>
    <p:sldId xmlns:r="http://schemas.openxmlformats.org/officeDocument/2006/relationships" id="271" r:id="R41071a2654024caf"/>
    <p:sldId xmlns:r="http://schemas.openxmlformats.org/officeDocument/2006/relationships" id="272" r:id="R65133ad59d63495c"/>
    <p:sldId xmlns:r="http://schemas.openxmlformats.org/officeDocument/2006/relationships" id="273" r:id="R651ed06141ca4851"/>
    <p:sldId xmlns:r="http://schemas.openxmlformats.org/officeDocument/2006/relationships" id="274" r:id="R0ffb16624291442d"/>
    <p:sldId xmlns:r="http://schemas.openxmlformats.org/officeDocument/2006/relationships" id="275" r:id="R4396c544e0b9477b"/>
    <p:sldId xmlns:r="http://schemas.openxmlformats.org/officeDocument/2006/relationships" id="276" r:id="R84ec5fe480a64823"/>
    <p:sldId xmlns:r="http://schemas.openxmlformats.org/officeDocument/2006/relationships" id="277" r:id="R93b8bd6b73534b3f"/>
    <p:sldId xmlns:r="http://schemas.openxmlformats.org/officeDocument/2006/relationships" id="278" r:id="R8720ebad5e954750"/>
    <p:sldId xmlns:r="http://schemas.openxmlformats.org/officeDocument/2006/relationships" id="279" r:id="R5529eea8feb0413d"/>
    <p:sldId xmlns:r="http://schemas.openxmlformats.org/officeDocument/2006/relationships" id="280" r:id="Re3af993ddd254fac"/>
    <p:sldId xmlns:r="http://schemas.openxmlformats.org/officeDocument/2006/relationships" id="281" r:id="Rfb6a1eb271544a95"/>
    <p:sldId xmlns:r="http://schemas.openxmlformats.org/officeDocument/2006/relationships" id="282" r:id="Rebeafc0e00f24b83"/>
    <p:sldId xmlns:r="http://schemas.openxmlformats.org/officeDocument/2006/relationships" id="283" r:id="R1e2fa8d83ef24bf0"/>
    <p:sldId xmlns:r="http://schemas.openxmlformats.org/officeDocument/2006/relationships" id="284" r:id="Rffcf390d78114726"/>
    <p:sldId xmlns:r="http://schemas.openxmlformats.org/officeDocument/2006/relationships" id="285" r:id="R4849bc46d60147e0"/>
    <p:sldId xmlns:r="http://schemas.openxmlformats.org/officeDocument/2006/relationships" id="286" r:id="Re7a6f2e10a3b457c"/>
    <p:sldId xmlns:r="http://schemas.openxmlformats.org/officeDocument/2006/relationships" id="287" r:id="Rc3f42a4f73154d39"/>
    <p:sldId xmlns:r="http://schemas.openxmlformats.org/officeDocument/2006/relationships" id="288" r:id="R8978b5186102462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c4a5719afb64c02" /><Relationship Type="http://schemas.openxmlformats.org/officeDocument/2006/relationships/slideMaster" Target="/ppt/slideMasters/slideMaster1.xml" Id="Rf09aed30da224750" /><Relationship Type="http://schemas.openxmlformats.org/officeDocument/2006/relationships/notesMaster" Target="/ppt/notesMasters/notesMaster1.xml" Id="Rfbe7601bd52d4bfe" /><Relationship Type="http://schemas.openxmlformats.org/officeDocument/2006/relationships/presProps" Target="/ppt/presProps.xml" Id="Raa79c68bca974879" /><Relationship Type="http://schemas.openxmlformats.org/officeDocument/2006/relationships/tableStyles" Target="/ppt/tableStyles.xml" Id="R0d250ffedbf84fe3" /><Relationship Type="http://schemas.openxmlformats.org/officeDocument/2006/relationships/slide" Target="/ppt/slides/slide1.xml" Id="R498b892274f340d9" /><Relationship Type="http://schemas.openxmlformats.org/officeDocument/2006/relationships/slide" Target="/ppt/slides/slide2.xml" Id="R74a9d951867941fd" /><Relationship Type="http://schemas.openxmlformats.org/officeDocument/2006/relationships/slide" Target="/ppt/slides/slide3.xml" Id="Ra345c7739f0f4d40" /><Relationship Type="http://schemas.openxmlformats.org/officeDocument/2006/relationships/slide" Target="/ppt/slides/slide4.xml" Id="Rf4337bc8c9a9405c" /><Relationship Type="http://schemas.openxmlformats.org/officeDocument/2006/relationships/slide" Target="/ppt/slides/slide5.xml" Id="Rb6b8aed4413b4bd1" /><Relationship Type="http://schemas.openxmlformats.org/officeDocument/2006/relationships/slide" Target="/ppt/slides/slide6.xml" Id="Rf7baef24dbcb45cc" /><Relationship Type="http://schemas.openxmlformats.org/officeDocument/2006/relationships/slide" Target="/ppt/slides/slide7.xml" Id="Rf566f9e7131a4e5c" /><Relationship Type="http://schemas.openxmlformats.org/officeDocument/2006/relationships/slide" Target="/ppt/slides/slide8.xml" Id="Re3356cf92e684e27" /><Relationship Type="http://schemas.openxmlformats.org/officeDocument/2006/relationships/slide" Target="/ppt/slides/slide9.xml" Id="R52270a97c8e94032" /><Relationship Type="http://schemas.openxmlformats.org/officeDocument/2006/relationships/slide" Target="/ppt/slides/slide10.xml" Id="Rc78de75f25ff46b2" /><Relationship Type="http://schemas.openxmlformats.org/officeDocument/2006/relationships/slide" Target="/ppt/slides/slide11.xml" Id="R130f549316474a0c" /><Relationship Type="http://schemas.openxmlformats.org/officeDocument/2006/relationships/slide" Target="/ppt/slides/slide12.xml" Id="Rcb7845b5581341e3" /><Relationship Type="http://schemas.openxmlformats.org/officeDocument/2006/relationships/slide" Target="/ppt/slides/slide13.xml" Id="R3e6bf738c44c4329" /><Relationship Type="http://schemas.openxmlformats.org/officeDocument/2006/relationships/slide" Target="/ppt/slides/slide14.xml" Id="Redc0b216b0ab4af6" /><Relationship Type="http://schemas.openxmlformats.org/officeDocument/2006/relationships/slide" Target="/ppt/slides/slide15.xml" Id="R3818e41e34774ff4" /><Relationship Type="http://schemas.openxmlformats.org/officeDocument/2006/relationships/slide" Target="/ppt/slides/slide16.xml" Id="R41071a2654024caf" /><Relationship Type="http://schemas.openxmlformats.org/officeDocument/2006/relationships/slide" Target="/ppt/slides/slide17.xml" Id="R65133ad59d63495c" /><Relationship Type="http://schemas.openxmlformats.org/officeDocument/2006/relationships/slide" Target="/ppt/slides/slide18.xml" Id="R651ed06141ca4851" /><Relationship Type="http://schemas.openxmlformats.org/officeDocument/2006/relationships/slide" Target="/ppt/slides/slide19.xml" Id="R0ffb16624291442d" /><Relationship Type="http://schemas.openxmlformats.org/officeDocument/2006/relationships/slide" Target="/ppt/slides/slide20.xml" Id="R4396c544e0b9477b" /><Relationship Type="http://schemas.openxmlformats.org/officeDocument/2006/relationships/slide" Target="/ppt/slides/slide21.xml" Id="R84ec5fe480a64823" /><Relationship Type="http://schemas.openxmlformats.org/officeDocument/2006/relationships/slide" Target="/ppt/slides/slide22.xml" Id="R93b8bd6b73534b3f" /><Relationship Type="http://schemas.openxmlformats.org/officeDocument/2006/relationships/slide" Target="/ppt/slides/slide23.xml" Id="R8720ebad5e954750" /><Relationship Type="http://schemas.openxmlformats.org/officeDocument/2006/relationships/slide" Target="/ppt/slides/slide24.xml" Id="R5529eea8feb0413d" /><Relationship Type="http://schemas.openxmlformats.org/officeDocument/2006/relationships/slide" Target="/ppt/slides/slide25.xml" Id="Re3af993ddd254fac" /><Relationship Type="http://schemas.openxmlformats.org/officeDocument/2006/relationships/slide" Target="/ppt/slides/slide26.xml" Id="Rfb6a1eb271544a95" /><Relationship Type="http://schemas.openxmlformats.org/officeDocument/2006/relationships/slide" Target="/ppt/slides/slide27.xml" Id="Rebeafc0e00f24b83" /><Relationship Type="http://schemas.openxmlformats.org/officeDocument/2006/relationships/slide" Target="/ppt/slides/slide28.xml" Id="R1e2fa8d83ef24bf0" /><Relationship Type="http://schemas.openxmlformats.org/officeDocument/2006/relationships/slide" Target="/ppt/slides/slide29.xml" Id="Rffcf390d78114726" /><Relationship Type="http://schemas.openxmlformats.org/officeDocument/2006/relationships/slide" Target="/ppt/slides/slide30.xml" Id="R4849bc46d60147e0" /><Relationship Type="http://schemas.openxmlformats.org/officeDocument/2006/relationships/slide" Target="/ppt/slides/slide31.xml" Id="Re7a6f2e10a3b457c" /><Relationship Type="http://schemas.openxmlformats.org/officeDocument/2006/relationships/slide" Target="/ppt/slides/slide32.xml" Id="Rc3f42a4f73154d39" /><Relationship Type="http://schemas.openxmlformats.org/officeDocument/2006/relationships/slide" Target="/ppt/slides/slide33.xml" Id="R8978b5186102462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75e7f35fc014f5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f1476ee08724504" /><Relationship Type="http://schemas.openxmlformats.org/officeDocument/2006/relationships/notesMaster" Target="/ppt/notesMasters/notesMaster1.xml" Id="R08a4d062551e4a4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e876d81f9fd4ddc" /><Relationship Type="http://schemas.openxmlformats.org/officeDocument/2006/relationships/notesMaster" Target="/ppt/notesMasters/notesMaster1.xml" Id="Rcb8dc3f1466a441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18cfd1c3a1d479d" /><Relationship Type="http://schemas.openxmlformats.org/officeDocument/2006/relationships/notesMaster" Target="/ppt/notesMasters/notesMaster1.xml" Id="R79e3bc172d7742d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00d6475c6a3403d" /><Relationship Type="http://schemas.openxmlformats.org/officeDocument/2006/relationships/notesMaster" Target="/ppt/notesMasters/notesMaster1.xml" Id="R2e3a692595a8467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9361931a44e429b" /><Relationship Type="http://schemas.openxmlformats.org/officeDocument/2006/relationships/notesMaster" Target="/ppt/notesMasters/notesMaster1.xml" Id="Rafe2241032d94b8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e5234f89be64f49" /><Relationship Type="http://schemas.openxmlformats.org/officeDocument/2006/relationships/notesMaster" Target="/ppt/notesMasters/notesMaster1.xml" Id="Rcf9f1f1845f941e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786e401ca854145" /><Relationship Type="http://schemas.openxmlformats.org/officeDocument/2006/relationships/notesMaster" Target="/ppt/notesMasters/notesMaster1.xml" Id="R6f22a972ccf94c3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1fc35c3f29849a1" /><Relationship Type="http://schemas.openxmlformats.org/officeDocument/2006/relationships/notesMaster" Target="/ppt/notesMasters/notesMaster1.xml" Id="Rb1910dd5a12d414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b1e8fa461a84fe5" /><Relationship Type="http://schemas.openxmlformats.org/officeDocument/2006/relationships/notesMaster" Target="/ppt/notesMasters/notesMaster1.xml" Id="R8517c20a281745d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904e4cd89c54502" /><Relationship Type="http://schemas.openxmlformats.org/officeDocument/2006/relationships/notesMaster" Target="/ppt/notesMasters/notesMaster1.xml" Id="R9c1b49b6586b449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eda4bd1b8324ae3" /><Relationship Type="http://schemas.openxmlformats.org/officeDocument/2006/relationships/notesMaster" Target="/ppt/notesMasters/notesMaster1.xml" Id="R3d333cd3485b436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260c732d23844308" /><Relationship Type="http://schemas.openxmlformats.org/officeDocument/2006/relationships/notesMaster" Target="/ppt/notesMasters/notesMaster1.xml" Id="Rb65c286c011a4ad9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d5c422adb13c41ff" /><Relationship Type="http://schemas.openxmlformats.org/officeDocument/2006/relationships/notesMaster" Target="/ppt/notesMasters/notesMaster1.xml" Id="Rb56a3066f1874e4b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3e8a1725c80e4c29" /><Relationship Type="http://schemas.openxmlformats.org/officeDocument/2006/relationships/notesMaster" Target="/ppt/notesMasters/notesMaster1.xml" Id="R3303e74371e24fad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1f6902ea13014095" /><Relationship Type="http://schemas.openxmlformats.org/officeDocument/2006/relationships/notesMaster" Target="/ppt/notesMasters/notesMaster1.xml" Id="R8b378f32cd214a5e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724e43c4fbbc4e1f" /><Relationship Type="http://schemas.openxmlformats.org/officeDocument/2006/relationships/notesMaster" Target="/ppt/notesMasters/notesMaster1.xml" Id="R89a38bd314754a97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530dbda65e654e03" /><Relationship Type="http://schemas.openxmlformats.org/officeDocument/2006/relationships/notesMaster" Target="/ppt/notesMasters/notesMaster1.xml" Id="R804864f9b93144a4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7e3063b2330f4340" /><Relationship Type="http://schemas.openxmlformats.org/officeDocument/2006/relationships/notesMaster" Target="/ppt/notesMasters/notesMaster1.xml" Id="R70ca3252cfd2445a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c74dc7fc44684327" /><Relationship Type="http://schemas.openxmlformats.org/officeDocument/2006/relationships/notesMaster" Target="/ppt/notesMasters/notesMaster1.xml" Id="R1d08e3a01d3948e0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63ff4d8c84124a1f" /><Relationship Type="http://schemas.openxmlformats.org/officeDocument/2006/relationships/notesMaster" Target="/ppt/notesMasters/notesMaster1.xml" Id="R7f6a926a51d7442e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b447b21b16aa4b66" /><Relationship Type="http://schemas.openxmlformats.org/officeDocument/2006/relationships/notesMaster" Target="/ppt/notesMasters/notesMaster1.xml" Id="R006c404791c34140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c285831c26554024" /><Relationship Type="http://schemas.openxmlformats.org/officeDocument/2006/relationships/notesMaster" Target="/ppt/notesMasters/notesMaster1.xml" Id="R01dfd2a4c3344a6d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130a35b31aba4f2e" /><Relationship Type="http://schemas.openxmlformats.org/officeDocument/2006/relationships/notesMaster" Target="/ppt/notesMasters/notesMaster1.xml" Id="R6cb2f2f1a6804993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b1be71d20e984443" /><Relationship Type="http://schemas.openxmlformats.org/officeDocument/2006/relationships/notesMaster" Target="/ppt/notesMasters/notesMaster1.xml" Id="R6be9c4068de34f14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1a4ee439a59648d5" /><Relationship Type="http://schemas.openxmlformats.org/officeDocument/2006/relationships/notesMaster" Target="/ppt/notesMasters/notesMaster1.xml" Id="Rb4487b12d8ab463b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06664abfbccb45d6" /><Relationship Type="http://schemas.openxmlformats.org/officeDocument/2006/relationships/notesMaster" Target="/ppt/notesMasters/notesMaster1.xml" Id="Rfba6cd973fc64fe9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c0a89a1507e04636" /><Relationship Type="http://schemas.openxmlformats.org/officeDocument/2006/relationships/notesMaster" Target="/ppt/notesMasters/notesMaster1.xml" Id="R1960693f82eb440c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9579a188fdfb4aec" /><Relationship Type="http://schemas.openxmlformats.org/officeDocument/2006/relationships/notesMaster" Target="/ppt/notesMasters/notesMaster1.xml" Id="R165477c0ea384f71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e46806a30b42407a" /><Relationship Type="http://schemas.openxmlformats.org/officeDocument/2006/relationships/notesMaster" Target="/ppt/notesMasters/notesMaster1.xml" Id="R19ea3f919a0d47ab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8322f034374a4e09" /><Relationship Type="http://schemas.openxmlformats.org/officeDocument/2006/relationships/notesMaster" Target="/ppt/notesMasters/notesMaster1.xml" Id="Rf0025582266847ad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908b7cbf9e674e26" /><Relationship Type="http://schemas.openxmlformats.org/officeDocument/2006/relationships/notesMaster" Target="/ppt/notesMasters/notesMaster1.xml" Id="Rc933d74199ae4f14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74ffe5363612458f" /><Relationship Type="http://schemas.openxmlformats.org/officeDocument/2006/relationships/notesMaster" Target="/ppt/notesMasters/notesMaster1.xml" Id="R1a1ad332907848d6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4c61b2c0db0748f2" /><Relationship Type="http://schemas.openxmlformats.org/officeDocument/2006/relationships/notesMaster" Target="/ppt/notesMasters/notesMaster1.xml" Id="Re9d60a9302ae407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References</a:t>
            </a:r>
          </a:p>
          <a:p xmlns:a="http://schemas.openxmlformats.org/drawingml/2006/main">
            <a:r>
              <a:t>https://www.pygame.org/docs/ref/sprite.html</a:t>
            </a:r>
          </a:p>
          <a:p xmlns:a="http://schemas.openxmlformats.org/drawingml/2006/main">
            <a:r>
              <a:t>https://www.pygame.org/docs/ref/time.html</a:t>
            </a:r>
          </a:p>
          <a:p xmlns:a="http://schemas.openxmlformats.org/drawingml/2006/main">
            <a:r>
              <a:t>https://docs.python.org/3.12/reference/datamodel.html</a:t>
            </a:r>
          </a:p>
          <a:p xmlns:a="http://schemas.openxmlformats.org/drawingml/2006/main">
            <a:r>
              <a:t>https://www.omg.org/spec/UML/2.5.1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References</a:t>
            </a:r>
          </a:p>
          <a:p xmlns:a="http://schemas.openxmlformats.org/drawingml/2006/main">
            <a:r>
              <a:t>https://www.pygame.org/docs/ref/sprite.html</a:t>
            </a:r>
          </a:p>
          <a:p xmlns:a="http://schemas.openxmlformats.org/drawingml/2006/main">
            <a:r>
              <a:t>https://www.pygame.org/docs/ref/time.html</a:t>
            </a:r>
          </a:p>
          <a:p xmlns:a="http://schemas.openxmlformats.org/drawingml/2006/main">
            <a:r>
              <a:t>https://docs.python.org/3.12/reference/datamodel.html</a:t>
            </a:r>
          </a:p>
          <a:p xmlns:a="http://schemas.openxmlformats.org/drawingml/2006/main">
            <a:r>
              <a:t>https://www.omg.org/spec/UML/2.5.1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References</a:t>
            </a:r>
          </a:p>
          <a:p xmlns:a="http://schemas.openxmlformats.org/drawingml/2006/main">
            <a:r>
              <a:t>https://www.pygame.org/docs/ref/sprite.html</a:t>
            </a:r>
          </a:p>
          <a:p xmlns:a="http://schemas.openxmlformats.org/drawingml/2006/main">
            <a:r>
              <a:t>https://www.pygame.org/docs/ref/time.html</a:t>
            </a:r>
          </a:p>
          <a:p xmlns:a="http://schemas.openxmlformats.org/drawingml/2006/main">
            <a:r>
              <a:t>https://docs.python.org/3.12/reference/datamodel.html</a:t>
            </a:r>
          </a:p>
          <a:p xmlns:a="http://schemas.openxmlformats.org/drawingml/2006/main">
            <a:r>
              <a:t>https://www.omg.org/spec/UML/2.5.1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References</a:t>
            </a:r>
          </a:p>
          <a:p xmlns:a="http://schemas.openxmlformats.org/drawingml/2006/main">
            <a:r>
              <a:t>https://www.pygame.org/docs/ref/sprite.html</a:t>
            </a:r>
          </a:p>
          <a:p xmlns:a="http://schemas.openxmlformats.org/drawingml/2006/main">
            <a:r>
              <a:t>https://www.pygame.org/docs/ref/time.html</a:t>
            </a:r>
          </a:p>
          <a:p xmlns:a="http://schemas.openxmlformats.org/drawingml/2006/main">
            <a:r>
              <a:t>https://docs.python.org/3.12/reference/datamodel.html</a:t>
            </a:r>
          </a:p>
          <a:p xmlns:a="http://schemas.openxmlformats.org/drawingml/2006/main">
            <a:r>
              <a:t>https://www.omg.org/spec/UML/2.5.1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References</a:t>
            </a:r>
          </a:p>
          <a:p xmlns:a="http://schemas.openxmlformats.org/drawingml/2006/main">
            <a:r>
              <a:t>https://www.pygame.org/docs/ref/sprite.html</a:t>
            </a:r>
          </a:p>
          <a:p xmlns:a="http://schemas.openxmlformats.org/drawingml/2006/main">
            <a:r>
              <a:t>https://www.pygame.org/docs/ref/time.html</a:t>
            </a:r>
          </a:p>
          <a:p xmlns:a="http://schemas.openxmlformats.org/drawingml/2006/main">
            <a:r>
              <a:t>https://docs.python.org/3.12/reference/datamodel.html</a:t>
            </a:r>
          </a:p>
          <a:p xmlns:a="http://schemas.openxmlformats.org/drawingml/2006/main">
            <a:r>
              <a:t>https://www.omg.org/spec/UML/2.5.1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References</a:t>
            </a:r>
          </a:p>
          <a:p xmlns:a="http://schemas.openxmlformats.org/drawingml/2006/main">
            <a:r>
              <a:t>https://www.pygame.org/docs/ref/sprite.html</a:t>
            </a:r>
          </a:p>
          <a:p xmlns:a="http://schemas.openxmlformats.org/drawingml/2006/main">
            <a:r>
              <a:t>https://www.pygame.org/docs/ref/time.html</a:t>
            </a:r>
          </a:p>
          <a:p xmlns:a="http://schemas.openxmlformats.org/drawingml/2006/main">
            <a:r>
              <a:t>https://docs.python.org/3.12/reference/datamodel.html</a:t>
            </a:r>
          </a:p>
          <a:p xmlns:a="http://schemas.openxmlformats.org/drawingml/2006/main">
            <a:r>
              <a:t>https://www.omg.org/spec/UML/2.5.1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References</a:t>
            </a:r>
          </a:p>
          <a:p xmlns:a="http://schemas.openxmlformats.org/drawingml/2006/main">
            <a:r>
              <a:t>https://www.pygame.org/docs/ref/sprite.html</a:t>
            </a:r>
          </a:p>
          <a:p xmlns:a="http://schemas.openxmlformats.org/drawingml/2006/main">
            <a:r>
              <a:t>https://www.pygame.org/docs/ref/time.html</a:t>
            </a:r>
          </a:p>
          <a:p xmlns:a="http://schemas.openxmlformats.org/drawingml/2006/main">
            <a:r>
              <a:t>https://docs.python.org/3.12/reference/datamodel.html</a:t>
            </a:r>
          </a:p>
          <a:p xmlns:a="http://schemas.openxmlformats.org/drawingml/2006/main">
            <a:r>
              <a:t>https://www.omg.org/spec/UML/2.5.1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References</a:t>
            </a:r>
          </a:p>
          <a:p xmlns:a="http://schemas.openxmlformats.org/drawingml/2006/main">
            <a:r>
              <a:t>https://www.pygame.org/docs/ref/sprite.html</a:t>
            </a:r>
          </a:p>
          <a:p xmlns:a="http://schemas.openxmlformats.org/drawingml/2006/main">
            <a:r>
              <a:t>https://www.pygame.org/docs/ref/time.html</a:t>
            </a:r>
          </a:p>
          <a:p xmlns:a="http://schemas.openxmlformats.org/drawingml/2006/main">
            <a:r>
              <a:t>https://docs.python.org/3.12/reference/datamodel.html</a:t>
            </a:r>
          </a:p>
          <a:p xmlns:a="http://schemas.openxmlformats.org/drawingml/2006/main">
            <a:r>
              <a:t>https://www.omg.org/spec/UML/2.5.1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References</a:t>
            </a:r>
          </a:p>
          <a:p xmlns:a="http://schemas.openxmlformats.org/drawingml/2006/main">
            <a:r>
              <a:t>https://www.pygame.org/docs/ref/sprite.html</a:t>
            </a:r>
          </a:p>
          <a:p xmlns:a="http://schemas.openxmlformats.org/drawingml/2006/main">
            <a:r>
              <a:t>https://www.pygame.org/docs/ref/time.html</a:t>
            </a:r>
          </a:p>
          <a:p xmlns:a="http://schemas.openxmlformats.org/drawingml/2006/main">
            <a:r>
              <a:t>https://docs.python.org/3.12/reference/datamodel.html</a:t>
            </a:r>
          </a:p>
          <a:p xmlns:a="http://schemas.openxmlformats.org/drawingml/2006/main">
            <a:r>
              <a:t>https://www.omg.org/spec/UML/2.5.1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References</a:t>
            </a:r>
          </a:p>
          <a:p xmlns:a="http://schemas.openxmlformats.org/drawingml/2006/main">
            <a:r>
              <a:t>https://minhuangyuntech.github.io/oo2026/ja/pygame/play/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References</a:t>
            </a:r>
          </a:p>
          <a:p xmlns:a="http://schemas.openxmlformats.org/drawingml/2006/main">
            <a:r>
              <a:t>https://minhuangyuntech.github.io/oo2026/ja/pygame/play/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References</a:t>
            </a:r>
          </a:p>
          <a:p xmlns:a="http://schemas.openxmlformats.org/drawingml/2006/main">
            <a:r>
              <a:t>https://minhuangyuntech.github.io/oo2026/ja/pygame/play/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4d7cb5d9009495f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7bfcab4894a4124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cbf282af32540d0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37d62d2d9974338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a8c251dd3494f71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cf6029457954ea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37480DB-6DBB-44B3-9FCB-B947946CB17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31C9D255-BD7C-4F41-9310-1370D8F26885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C4702FD0-4436-4435-A08A-ACAF0CC75E1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9FAD68C-D309-4CAB-9F21-94D6EDA8A2C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910FE0D0-3412-4A5D-810C-E8D2B3F6705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2617185D-14F2-4885-BD70-2416E6EA407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0CF915DF-E998-41DE-A975-F074FF12854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C18937A8-1417-4B7A-986E-8CEDEFB3F91F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076CE65-35CF-48D9-9DDE-02F01225418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173CC223-8EF3-44C1-8668-3B01CF68B06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874e0da7d574f50" /><Relationship Type="http://schemas.openxmlformats.org/officeDocument/2006/relationships/slideLayout" Target="/ppt/slideLayouts/slideLayout1.xml" Id="R3236a8aea6c94c19" /><Relationship Type="http://schemas.openxmlformats.org/officeDocument/2006/relationships/slideLayout" Target="/ppt/slideLayouts/slideLayout2.xml" Id="R87eaa198650947ba" /><Relationship Type="http://schemas.openxmlformats.org/officeDocument/2006/relationships/slideLayout" Target="/ppt/slideLayouts/slideLayout3.xml" Id="R62513d5981b84c2d" /><Relationship Type="http://schemas.openxmlformats.org/officeDocument/2006/relationships/slideLayout" Target="/ppt/slideLayouts/slideLayout4.xml" Id="R8d7d1b9987664806" /><Relationship Type="http://schemas.openxmlformats.org/officeDocument/2006/relationships/slideLayout" Target="/ppt/slideLayouts/slideLayout5.xml" Id="R5ef3bff0c6cd4b53" /><Relationship Type="http://schemas.openxmlformats.org/officeDocument/2006/relationships/slideLayout" Target="/ppt/slideLayouts/slideLayout6.xml" Id="R296e35bd803c4b5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236a8aea6c94c19"/>
    <p:sldLayoutId xmlns:r="http://schemas.openxmlformats.org/officeDocument/2006/relationships" id="2147483650" r:id="R87eaa198650947ba"/>
    <p:sldLayoutId xmlns:r="http://schemas.openxmlformats.org/officeDocument/2006/relationships" id="2147483651" r:id="R62513d5981b84c2d"/>
    <p:sldLayoutId xmlns:r="http://schemas.openxmlformats.org/officeDocument/2006/relationships" id="2147483652" r:id="R8d7d1b9987664806"/>
    <p:sldLayoutId xmlns:r="http://schemas.openxmlformats.org/officeDocument/2006/relationships" id="2147483653" r:id="R5ef3bff0c6cd4b53"/>
    <p:sldLayoutId xmlns:r="http://schemas.openxmlformats.org/officeDocument/2006/relationships" id="2147483654" r:id="R296e35bd803c4b5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c3cc3f74747474d" /><Relationship Type="http://schemas.openxmlformats.org/officeDocument/2006/relationships/notesSlide" Target="/ppt/notesSlides/notesSlide1.xml" Id="R76f30d2477a6417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4c56dd659594713" /><Relationship Type="http://schemas.openxmlformats.org/officeDocument/2006/relationships/image" Target="/ppt/media/image.png" Id="Re66193e7cafe4d77" /><Relationship Type="http://schemas.openxmlformats.org/officeDocument/2006/relationships/notesSlide" Target="/ppt/notesSlides/notesSlide2.xml" Id="Rf7c64bd48281474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6ec5175f24b4509" /><Relationship Type="http://schemas.openxmlformats.org/officeDocument/2006/relationships/notesSlide" Target="/ppt/notesSlides/notesSlide3.xml" Id="Rb0575c98a8814fb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b153b371d0f4198" /><Relationship Type="http://schemas.openxmlformats.org/officeDocument/2006/relationships/notesSlide" Target="/ppt/notesSlides/notesSlide4.xml" Id="R411a36c3b520440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d8c979e626a4bea" /><Relationship Type="http://schemas.openxmlformats.org/officeDocument/2006/relationships/notesSlide" Target="/ppt/notesSlides/notesSlide5.xml" Id="R8431fcf0c5e7457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95ad5877b7d4353" /><Relationship Type="http://schemas.openxmlformats.org/officeDocument/2006/relationships/notesSlide" Target="/ppt/notesSlides/notesSlide6.xml" Id="Re587ee77e651417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e11d9f931dc46d3" /><Relationship Type="http://schemas.openxmlformats.org/officeDocument/2006/relationships/notesSlide" Target="/ppt/notesSlides/notesSlide7.xml" Id="R779aaa96e5d4465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7505074936e4eac" /><Relationship Type="http://schemas.openxmlformats.org/officeDocument/2006/relationships/notesSlide" Target="/ppt/notesSlides/notesSlide8.xml" Id="R6f6c09c5b374438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fa469713d93454d" /><Relationship Type="http://schemas.openxmlformats.org/officeDocument/2006/relationships/notesSlide" Target="/ppt/notesSlides/notesSlide9.xml" Id="Rca8d9f207dd344a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e3cda095e154666" /><Relationship Type="http://schemas.openxmlformats.org/officeDocument/2006/relationships/notesSlide" Target="/ppt/notesSlides/notesSlide10.xml" Id="Rf0efba171dd7419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6205a647c694d0d" /><Relationship Type="http://schemas.openxmlformats.org/officeDocument/2006/relationships/notesSlide" Target="/ppt/notesSlides/notesSlide11.xml" Id="Rcd4a684826bf445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693ab9c29b54727" /><Relationship Type="http://schemas.openxmlformats.org/officeDocument/2006/relationships/notesSlide" Target="/ppt/notesSlides/notesSlide12.xml" Id="Rdac26415e9bb4176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a3b602763544bec" /><Relationship Type="http://schemas.openxmlformats.org/officeDocument/2006/relationships/notesSlide" Target="/ppt/notesSlides/notesSlide13.xml" Id="R7a688e2b9a694949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35c898b73a145c1" /><Relationship Type="http://schemas.openxmlformats.org/officeDocument/2006/relationships/notesSlide" Target="/ppt/notesSlides/notesSlide14.xml" Id="R260527ca70be4880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bd2944338124298" /><Relationship Type="http://schemas.openxmlformats.org/officeDocument/2006/relationships/notesSlide" Target="/ppt/notesSlides/notesSlide15.xml" Id="Raaba24f78f544b87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ffd9650a236495e" /><Relationship Type="http://schemas.openxmlformats.org/officeDocument/2006/relationships/notesSlide" Target="/ppt/notesSlides/notesSlide16.xml" Id="Rf6485f73d1654375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bddaacb87a8448e" /><Relationship Type="http://schemas.openxmlformats.org/officeDocument/2006/relationships/notesSlide" Target="/ppt/notesSlides/notesSlide17.xml" Id="R0b4e2e59bf174974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cb3ba2a5cdd4aac" /><Relationship Type="http://schemas.openxmlformats.org/officeDocument/2006/relationships/notesSlide" Target="/ppt/notesSlides/notesSlide18.xml" Id="R86b4254e1f1345b6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43d65d8276f43fb" /><Relationship Type="http://schemas.openxmlformats.org/officeDocument/2006/relationships/notesSlide" Target="/ppt/notesSlides/notesSlide19.xml" Id="R762928d156654f12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b2822f9f5fe4704" /><Relationship Type="http://schemas.openxmlformats.org/officeDocument/2006/relationships/notesSlide" Target="/ppt/notesSlides/notesSlide20.xml" Id="R323e60efa5df4a57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4d54f3238da42b2" /><Relationship Type="http://schemas.openxmlformats.org/officeDocument/2006/relationships/notesSlide" Target="/ppt/notesSlides/notesSlide21.xml" Id="Rea40c0f3d92d4e67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7288cdf821a459e" /><Relationship Type="http://schemas.openxmlformats.org/officeDocument/2006/relationships/notesSlide" Target="/ppt/notesSlides/notesSlide22.xml" Id="R29f84b22614b4def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c7314ab9b0c49a4" /><Relationship Type="http://schemas.openxmlformats.org/officeDocument/2006/relationships/notesSlide" Target="/ppt/notesSlides/notesSlide23.xml" Id="R6d857f5ac1d74a38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289c555b27948de" /><Relationship Type="http://schemas.openxmlformats.org/officeDocument/2006/relationships/notesSlide" Target="/ppt/notesSlides/notesSlide24.xml" Id="R03dd2e1d8792408c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ac4b1b87ad84a7c" /><Relationship Type="http://schemas.openxmlformats.org/officeDocument/2006/relationships/notesSlide" Target="/ppt/notesSlides/notesSlide25.xml" Id="R6439740200e349c7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c010ae203f04114" /><Relationship Type="http://schemas.openxmlformats.org/officeDocument/2006/relationships/notesSlide" Target="/ppt/notesSlides/notesSlide26.xml" Id="Rf55f1469649d4c18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08195bac6bc46e0" /><Relationship Type="http://schemas.openxmlformats.org/officeDocument/2006/relationships/notesSlide" Target="/ppt/notesSlides/notesSlide27.xml" Id="Rd877214915a74e76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c375117233f4369" /><Relationship Type="http://schemas.openxmlformats.org/officeDocument/2006/relationships/notesSlide" Target="/ppt/notesSlides/notesSlide28.xml" Id="R9083c9807381417f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a60baedcdce47f8" /><Relationship Type="http://schemas.openxmlformats.org/officeDocument/2006/relationships/notesSlide" Target="/ppt/notesSlides/notesSlide29.xml" Id="Rd6b64f1da1bb4f33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4d7312baf1842cf" /><Relationship Type="http://schemas.openxmlformats.org/officeDocument/2006/relationships/hyperlink" Target="https://www.pygame.org/docs/ref/sprite.html" TargetMode="External" Id="R0c1433d989c84d16" /><Relationship Type="http://schemas.openxmlformats.org/officeDocument/2006/relationships/hyperlink" Target="https://www.pygame.org/docs/ref/time.html" TargetMode="External" Id="R848290893f6842f3" /><Relationship Type="http://schemas.openxmlformats.org/officeDocument/2006/relationships/hyperlink" Target="https://docs.python.org/3.12/reference/datamodel.html" TargetMode="External" Id="R908f459caad84401" /><Relationship Type="http://schemas.openxmlformats.org/officeDocument/2006/relationships/hyperlink" Target="https://www.omg.org/spec/UML/2.5.1" TargetMode="External" Id="R7692ae4b37f543c9" /><Relationship Type="http://schemas.openxmlformats.org/officeDocument/2006/relationships/hyperlink" Target="https://minhuangyuntech.github.io/oo2026/ja/pygame/" TargetMode="External" Id="R3c22322acc204376" /><Relationship Type="http://schemas.openxmlformats.org/officeDocument/2006/relationships/notesSlide" Target="/ppt/notesSlides/notesSlide30.xml" Id="Rb807c7cb89844f85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859da33e0c84bb8" /><Relationship Type="http://schemas.openxmlformats.org/officeDocument/2006/relationships/hyperlink" Target="https://minhuangyuntech.github.io/oo2026/ja/pygame/play/" TargetMode="External" Id="Rbf406d65474c45a9" /><Relationship Type="http://schemas.openxmlformats.org/officeDocument/2006/relationships/hyperlink" Target="https://minhuangyuntech.github.io/oo2026/ja/pygame/play/" TargetMode="External" Id="Rdf304ddb04e54e87" /><Relationship Type="http://schemas.openxmlformats.org/officeDocument/2006/relationships/notesSlide" Target="/ppt/notesSlides/notesSlide31.xml" Id="Rbf5ede4d374c411f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9f6a32cac434ff0" /><Relationship Type="http://schemas.openxmlformats.org/officeDocument/2006/relationships/notesSlide" Target="/ppt/notesSlides/notesSlide32.xml" Id="Rfad55871d773400d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145e15c375d4284" /><Relationship Type="http://schemas.openxmlformats.org/officeDocument/2006/relationships/image" Target="/ppt/media/image.jpeg" Id="R6e5d6ba796114824" /><Relationship Type="http://schemas.openxmlformats.org/officeDocument/2006/relationships/notesSlide" Target="/ppt/notesSlides/notesSlide33.xml" Id="R222ef56838d8481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14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PYTHON OOP  /  PYGAME">
            <a:extLst xmlns:a="http://schemas.openxmlformats.org/drawingml/2006/main">
              <a:ext uri="{FF2B5EF4-FFF2-40B4-BE49-F238E27FC236}">
                <a16:creationId xmlns:a16="http://schemas.microsoft.com/office/drawing/2014/main" id="{32B60377-2CBC-498D-AC37-504695D4C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0550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1875" b="1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1875" b="1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1875" b="1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1875" b="1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1875" b="1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1875" b="1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1875" b="1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1875" b="1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1875" b="1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1875" b="1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pPr>
            <a:r>
              <a:rPr sz="1875" b="1">
                <a:solidFill>
                  <a:srgbClr val="68EDBE"/>
                </a:solidFill>
                <a:latin typeface="Yu Gothic"/>
                <a:ea typeface="Yu Gothic"/>
                <a:cs typeface="Yu Gothic"/>
              </a:rPr>
              <a:t>PYTHON OOP  /  PYGAME</a:t>
            </a:r>
          </a:p>
        </p:txBody>
      </p:sp>
      <p:sp>
        <p:nvSpPr>
          <p:cNvPr id="2" name="シューティングで学ぶオブジェクト">
            <a:extLst xmlns:a="http://schemas.openxmlformats.org/drawingml/2006/main">
              <a:ext uri="{FF2B5EF4-FFF2-40B4-BE49-F238E27FC236}">
                <a16:creationId xmlns:a16="http://schemas.microsoft.com/office/drawing/2014/main" id="{67282FF2-5E77-4EBB-9A9C-DEC1343ED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1809750"/>
            <a:ext cx="11001375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500" b="1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4500" b="1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4500" b="1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4500" b="1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4500" b="1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4500" b="1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4500" b="1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4500" b="1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4500" b="1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4500" b="1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4500" b="1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pPr>
            <a:r>
              <a:rPr sz="4500" b="1">
                <a:solidFill>
                  <a:srgbClr val="EDF4FB"/>
                </a:solidFill>
                <a:latin typeface="Yu Gothic"/>
                <a:ea typeface="Yu Gothic"/>
                <a:cs typeface="Yu Gothic"/>
              </a:rPr>
              <a:t>シューティングで学ぶオブジェクト</a:t>
            </a:r>
          </a:p>
        </p:txBody>
      </p:sp>
      <p:sp>
        <p:nvSpPr>
          <p:cNvPr id="3" name="Pygame · クラス・参照・相互作用">
            <a:extLst xmlns:a="http://schemas.openxmlformats.org/drawingml/2006/main">
              <a:ext uri="{FF2B5EF4-FFF2-40B4-BE49-F238E27FC236}">
                <a16:creationId xmlns:a16="http://schemas.microsoft.com/office/drawing/2014/main" id="{A84F31C4-045E-4E32-AA90-E1A8F8B3E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57625"/>
            <a:ext cx="10858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255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255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255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255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255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255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255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255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255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255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pPr>
            <a:r>
              <a:rPr sz="2550" b="0">
                <a:solidFill>
                  <a:srgbClr val="68EDBE"/>
                </a:solidFill>
                <a:latin typeface="Yu Gothic"/>
                <a:ea typeface="Yu Gothic"/>
                <a:cs typeface="Yu Gothic"/>
              </a:rPr>
              <a:t>Pygame · クラス・参照・相互作用</a:t>
            </a:r>
          </a:p>
        </p:txBody>
      </p:sp>
      <p:sp>
        <p:nvSpPr>
          <p:cNvPr id="4" name="一つのゲーム、三つの言語、五つの主要クラス。 画面を出発点に、オブジェクトの連携を理解する。">
            <a:extLst xmlns:a="http://schemas.openxmlformats.org/drawingml/2006/main">
              <a:ext uri="{FF2B5EF4-FFF2-40B4-BE49-F238E27FC236}">
                <a16:creationId xmlns:a16="http://schemas.microsoft.com/office/drawing/2014/main" id="{45476959-E9B8-438D-8B2D-1BDCA9524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0"/>
            <a:ext cx="10572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2025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2025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2025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2025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2025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2025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2025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2025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2025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pPr>
            <a:r>
              <a:rPr sz="2025" b="0">
                <a:solidFill>
                  <a:srgbClr val="EDF4FB"/>
                </a:solidFill>
                <a:latin typeface="Yu Gothic"/>
                <a:ea typeface="Yu Gothic"/>
                <a:cs typeface="Yu Gothic"/>
              </a:rPr>
              <a:t>一つのゲーム、三つの言語、五つの主要クラス。</a:t>
            </a:r>
          </a:p>
          <a:p xmlns:a="http://schemas.openxmlformats.org/drawingml/2006/main">
            <a:pPr algn="l">
              <a:buNone/>
              <a:defRPr sz="2025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pPr>
            <a:r>
              <a:rPr sz="2025" b="0">
                <a:solidFill>
                  <a:srgbClr val="EDF4FB"/>
                </a:solidFill>
                <a:latin typeface="Yu Gothic"/>
                <a:ea typeface="Yu Gothic"/>
                <a:cs typeface="Yu Gothic"/>
              </a:rPr>
              <a:t>画面を出発点に、オブジェクトの連携を理解する。</a:t>
            </a:r>
          </a:p>
        </p:txBody>
      </p:sp>
      <p:sp>
        <p:nvSpPr>
          <p:cNvPr id="5" name="01">
            <a:extLst xmlns:a="http://schemas.openxmlformats.org/drawingml/2006/main">
              <a:ext uri="{FF2B5EF4-FFF2-40B4-BE49-F238E27FC236}">
                <a16:creationId xmlns:a16="http://schemas.microsoft.com/office/drawing/2014/main" id="{1ADFD40D-7A26-4E44-83E8-8C1161A27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505575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pPr>
            <a:r>
              <a: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41315298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画面のキャラクターはオブジェクト">
            <a:extLst xmlns:a="http://schemas.openxmlformats.org/drawingml/2006/main">
              <a:ext uri="{FF2B5EF4-FFF2-40B4-BE49-F238E27FC236}">
                <a16:creationId xmlns:a16="http://schemas.microsoft.com/office/drawing/2014/main" id="{AD7ABB45-CD1B-4443-B278-5B0C6669D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428625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3300" b="1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3300" b="1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3300" b="1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3300" b="1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3300" b="1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3300" b="1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3300" b="1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3300" b="1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3300" b="1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3300" b="1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pPr>
            <a:r>
              <a:rPr sz="3300" b="1">
                <a:solidFill>
                  <a:srgbClr val="172C40"/>
                </a:solidFill>
                <a:latin typeface="Yu Gothic"/>
                <a:ea typeface="Yu Gothic"/>
                <a:cs typeface="Yu Gothic"/>
              </a:rPr>
              <a:t>画面のキャラクターはオブジェクト</a:t>
            </a:r>
          </a:p>
        </p:txBody>
      </p:sp>
      <p:sp>
        <p:nvSpPr>
          <p:cNvPr id="2" name="ラベル・状態・右側の参照を観察する">
            <a:extLst xmlns:a="http://schemas.openxmlformats.org/drawingml/2006/main">
              <a:ext uri="{FF2B5EF4-FFF2-40B4-BE49-F238E27FC236}">
                <a16:creationId xmlns:a16="http://schemas.microsoft.com/office/drawing/2014/main" id="{7E7FBFB0-0C84-44BD-B01C-83949F336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1181100"/>
            <a:ext cx="110013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1725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1725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1725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1725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1725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1725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1725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1725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1725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1725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5B7082"/>
                </a:solidFill>
                <a:latin typeface="Yu Gothic"/>
                <a:ea typeface="Yu Gothic"/>
                <a:cs typeface="Yu Gothic"/>
              </a:rPr>
              <a:t>ラベル・状態・右側の参照を観察する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E2C74B-E4A1-47E9-B9B1-9E6B9E3733D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66193e7cafe4d77"/>
          <a:stretch xmlns:a="http://schemas.openxmlformats.org/drawingml/2006/main"/>
        </p:blipFill>
        <p:spPr>
          <a:xfrm xmlns:a="http://schemas.openxmlformats.org/drawingml/2006/main">
            <a:off x="571500" y="1743075"/>
            <a:ext cx="6858000" cy="4572000"/>
          </a:xfrm>
          <a:prstGeom xmlns:a="http://schemas.openxmlformats.org/drawingml/2006/main" prst="rect">
            <a:avLst/>
          </a:prstGeom>
        </p:spPr>
      </p:pic>
      <p:sp>
        <p:nvSpPr>
          <p:cNvPr id="4" name="緑の Player が自機。赤と紫の Enemy は別々のインスタンス。">
            <a:extLst xmlns:a="http://schemas.openxmlformats.org/drawingml/2006/main">
              <a:ext uri="{FF2B5EF4-FFF2-40B4-BE49-F238E27FC236}">
                <a16:creationId xmlns:a16="http://schemas.microsoft.com/office/drawing/2014/main" id="{B31EFD7A-3A63-4935-ABC7-D15FB3B9A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200275"/>
            <a:ext cx="3667125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202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202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202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202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202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202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202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202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202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pPr>
            <a:r>
              <a:rPr sz="2025" b="0">
                <a:solidFill>
                  <a:srgbClr val="172C40"/>
                </a:solidFill>
                <a:latin typeface="Yu Gothic"/>
                <a:ea typeface="Yu Gothic"/>
                <a:cs typeface="Yu Gothic"/>
              </a:rPr>
              <a:t>緑の Player が自機。赤と紫の Enemy は別々のインスタンス。</a:t>
            </a:r>
          </a:p>
        </p:txBody>
      </p:sp>
      <p:sp>
        <p:nvSpPr>
          <p:cNvPr id="5" name="黄色の Bullet は owner を参照し、右側に現在の個数が表示される。">
            <a:extLst xmlns:a="http://schemas.openxmlformats.org/drawingml/2006/main">
              <a:ext uri="{FF2B5EF4-FFF2-40B4-BE49-F238E27FC236}">
                <a16:creationId xmlns:a16="http://schemas.microsoft.com/office/drawing/2014/main" id="{5BDD005C-DC27-46FD-A768-01C985B29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4143375"/>
            <a:ext cx="3667125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202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202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202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202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202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202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202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202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202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pPr>
            <a:r>
              <a:rPr sz="2025" b="0">
                <a:solidFill>
                  <a:srgbClr val="172C40"/>
                </a:solidFill>
                <a:latin typeface="Yu Gothic"/>
                <a:ea typeface="Yu Gothic"/>
                <a:cs typeface="Yu Gothic"/>
              </a:rPr>
              <a:t>黄色の Bullet は owner を参照し、右側に現在の個数が表示される。</a:t>
            </a:r>
          </a:p>
        </p:txBody>
      </p:sp>
      <p:sp>
        <p:nvSpPr>
          <p:cNvPr id="6" name="02">
            <a:extLst xmlns:a="http://schemas.openxmlformats.org/drawingml/2006/main">
              <a:ext uri="{FF2B5EF4-FFF2-40B4-BE49-F238E27FC236}">
                <a16:creationId xmlns:a16="http://schemas.microsoft.com/office/drawing/2014/main" id="{C1DF53DD-2EF5-4187-B239-C079C34D8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505575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1200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1200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1200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1200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1200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1200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1200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1200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1200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1200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pPr>
            <a:r>
              <a:rPr sz="1200" b="0">
                <a:solidFill>
                  <a:srgbClr val="5B7082"/>
                </a:solidFill>
                <a:latin typeface="Yu Gothic"/>
                <a:ea typeface="Yu Gothic"/>
                <a:cs typeface="Yu Gothic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203293025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B14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インストールと起動：Windows">
            <a:extLst xmlns:a="http://schemas.openxmlformats.org/drawingml/2006/main">
              <a:ext uri="{FF2B5EF4-FFF2-40B4-BE49-F238E27FC236}">
                <a16:creationId xmlns:a16="http://schemas.microsoft.com/office/drawing/2014/main" id="{0C2D7BC6-D82C-4FEB-9C0F-630A0A135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428625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3300" b="1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3300" b="1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3300" b="1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3300" b="1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3300" b="1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3300" b="1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3300" b="1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3300" b="1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3300" b="1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3300" b="1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pPr>
            <a:r>
              <a:rPr sz="3300" b="1">
                <a:solidFill>
                  <a:srgbClr val="EDF4FB"/>
                </a:solidFill>
                <a:latin typeface="Yu Gothic"/>
                <a:ea typeface="Yu Gothic"/>
                <a:cs typeface="Yu Gothic"/>
              </a:rPr>
              <a:t>インストールと起動：Windows</a:t>
            </a:r>
          </a:p>
        </p:txBody>
      </p:sp>
      <p:sp>
        <p:nvSpPr>
          <p:cNvPr id="2" name="ZIP を展開し、プロジェクト内で PowerShell を開く">
            <a:extLst xmlns:a="http://schemas.openxmlformats.org/drawingml/2006/main">
              <a:ext uri="{FF2B5EF4-FFF2-40B4-BE49-F238E27FC236}">
                <a16:creationId xmlns:a16="http://schemas.microsoft.com/office/drawing/2014/main" id="{1D4CB3EA-49EE-4885-B01E-7C2091A18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1181100"/>
            <a:ext cx="110013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rPr>
              <a:t>ZIP を展開し、プロジェクト内で PowerShell を開く</a:t>
            </a:r>
          </a:p>
        </p:txBody>
      </p:sp>
      <p:sp>
        <p:nvSpPr>
          <p:cNvPr id="3" name="py -3.12 -m venv .venv">
            <a:extLst xmlns:a="http://schemas.openxmlformats.org/drawingml/2006/main">
              <a:ext uri="{FF2B5EF4-FFF2-40B4-BE49-F238E27FC236}">
                <a16:creationId xmlns:a16="http://schemas.microsoft.com/office/drawing/2014/main" id="{A68BA4E7-C81F-4C53-978D-BF344D11C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914525"/>
            <a:ext cx="11001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py -3.12 -m venv .venv</a:t>
            </a:r>
          </a:p>
        </p:txBody>
      </p:sp>
      <p:sp>
        <p:nvSpPr>
          <p:cNvPr id="4" name=".\.venv\Scripts\python.exe -m pip install -r requirements.txt">
            <a:extLst xmlns:a="http://schemas.openxmlformats.org/drawingml/2006/main">
              <a:ext uri="{FF2B5EF4-FFF2-40B4-BE49-F238E27FC236}">
                <a16:creationId xmlns:a16="http://schemas.microsoft.com/office/drawing/2014/main" id="{59425416-965B-41D6-8F9F-BD02D797F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38375"/>
            <a:ext cx="11001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.\.venv\Scripts\python.exe -m pip install -r requirements.txt</a:t>
            </a:r>
          </a:p>
        </p:txBody>
      </p:sp>
      <p:sp>
        <p:nvSpPr>
          <p:cNvPr id="5" name=".\.venv\Scripts\python.exe main.py --lang ja">
            <a:extLst xmlns:a="http://schemas.openxmlformats.org/drawingml/2006/main">
              <a:ext uri="{FF2B5EF4-FFF2-40B4-BE49-F238E27FC236}">
                <a16:creationId xmlns:a16="http://schemas.microsoft.com/office/drawing/2014/main" id="{9928E0D5-696D-40E4-8667-DFF211051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562225"/>
            <a:ext cx="11001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.\.venv\Scripts\python.exe main.py --lang ja</a:t>
            </a:r>
          </a:p>
        </p:txBody>
      </p:sp>
      <p:sp>
        <p:nvSpPr>
          <p:cNvPr id="6" name="Python 3.12 を使用。requirements.txt は pygame==2.6.1 を指定。">
            <a:extLst xmlns:a="http://schemas.openxmlformats.org/drawingml/2006/main">
              <a:ext uri="{FF2B5EF4-FFF2-40B4-BE49-F238E27FC236}">
                <a16:creationId xmlns:a16="http://schemas.microsoft.com/office/drawing/2014/main" id="{7120A05F-4511-428E-A1D9-90F503010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267325"/>
            <a:ext cx="5191125" cy="1019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pPr>
            <a:r>
              <a: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rPr>
              <a:t>Python 3.12 を使用。requirements.txt は pygame==2.6.1 を指定。</a:t>
            </a:r>
          </a:p>
        </p:txBody>
      </p:sp>
      <p:sp>
        <p:nvSpPr>
          <p:cNvPr id="7" name="環境内の Python を直接呼び出すため、activate は不要。">
            <a:extLst xmlns:a="http://schemas.openxmlformats.org/drawingml/2006/main">
              <a:ext uri="{FF2B5EF4-FFF2-40B4-BE49-F238E27FC236}">
                <a16:creationId xmlns:a16="http://schemas.microsoft.com/office/drawing/2014/main" id="{A1471148-A601-47BE-8206-2C5185D1E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5267325"/>
            <a:ext cx="5191125" cy="1019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pPr>
            <a:r>
              <a: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rPr>
              <a:t>環境内の Python を直接呼び出すため、activate は不要。</a:t>
            </a:r>
          </a:p>
        </p:txBody>
      </p:sp>
      <p:sp>
        <p:nvSpPr>
          <p:cNvPr id="8" name="PowerShell">
            <a:extLst xmlns:a="http://schemas.openxmlformats.org/drawingml/2006/main">
              <a:ext uri="{FF2B5EF4-FFF2-40B4-BE49-F238E27FC236}">
                <a16:creationId xmlns:a16="http://schemas.microsoft.com/office/drawing/2014/main" id="{9B512F08-BD09-441C-A280-F23086114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67475"/>
            <a:ext cx="1047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buNone/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buNone/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buNone/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buNone/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buNone/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buNone/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buNone/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buNone/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buNone/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buNone/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PowerShell</a:t>
            </a:r>
          </a:p>
        </p:txBody>
      </p:sp>
      <p:sp>
        <p:nvSpPr>
          <p:cNvPr id="9" name="03">
            <a:extLst xmlns:a="http://schemas.openxmlformats.org/drawingml/2006/main">
              <a:ext uri="{FF2B5EF4-FFF2-40B4-BE49-F238E27FC236}">
                <a16:creationId xmlns:a16="http://schemas.microsoft.com/office/drawing/2014/main" id="{D1D8C6E5-E49B-4436-898B-FB0ED3B5C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505575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pPr>
            <a:r>
              <a: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11764271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B14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インストールと起動：macOS / Linux">
            <a:extLst xmlns:a="http://schemas.openxmlformats.org/drawingml/2006/main">
              <a:ext uri="{FF2B5EF4-FFF2-40B4-BE49-F238E27FC236}">
                <a16:creationId xmlns:a16="http://schemas.microsoft.com/office/drawing/2014/main" id="{49428DC5-5BA1-4732-BB83-492CA2AB0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428625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3300" b="1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3300" b="1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3300" b="1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3300" b="1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3300" b="1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3300" b="1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3300" b="1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3300" b="1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3300" b="1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3300" b="1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pPr>
            <a:r>
              <a:rPr sz="3300" b="1">
                <a:solidFill>
                  <a:srgbClr val="EDF4FB"/>
                </a:solidFill>
                <a:latin typeface="Yu Gothic"/>
                <a:ea typeface="Yu Gothic"/>
                <a:cs typeface="Yu Gothic"/>
              </a:rPr>
              <a:t>インストールと起動：macOS / Linux</a:t>
            </a:r>
          </a:p>
        </p:txBody>
      </p:sp>
      <p:sp>
        <p:nvSpPr>
          <p:cNvPr id="2" name="プロジェクト内のターミナルから、GUI のある環境で実行する">
            <a:extLst xmlns:a="http://schemas.openxmlformats.org/drawingml/2006/main">
              <a:ext uri="{FF2B5EF4-FFF2-40B4-BE49-F238E27FC236}">
                <a16:creationId xmlns:a16="http://schemas.microsoft.com/office/drawing/2014/main" id="{A3AB00DA-6F7B-452A-80BD-AEABE76EA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1181100"/>
            <a:ext cx="110013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rPr>
              <a:t>プロジェクト内のターミナルから、GUI のある環境で実行する</a:t>
            </a:r>
          </a:p>
        </p:txBody>
      </p:sp>
      <p:sp>
        <p:nvSpPr>
          <p:cNvPr id="3" name="python3 -m venv .venv">
            <a:extLst xmlns:a="http://schemas.openxmlformats.org/drawingml/2006/main">
              <a:ext uri="{FF2B5EF4-FFF2-40B4-BE49-F238E27FC236}">
                <a16:creationId xmlns:a16="http://schemas.microsoft.com/office/drawing/2014/main" id="{FD6A47FA-C31B-4417-BD24-D3A9CAD86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914525"/>
            <a:ext cx="11001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python3 -m venv .venv</a:t>
            </a:r>
          </a:p>
        </p:txBody>
      </p:sp>
      <p:sp>
        <p:nvSpPr>
          <p:cNvPr id="4" name=".venv/bin/python -m pip install -r requirements.txt">
            <a:extLst xmlns:a="http://schemas.openxmlformats.org/drawingml/2006/main">
              <a:ext uri="{FF2B5EF4-FFF2-40B4-BE49-F238E27FC236}">
                <a16:creationId xmlns:a16="http://schemas.microsoft.com/office/drawing/2014/main" id="{AD1CEC30-A8E1-44C5-B3CE-3146BD859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38375"/>
            <a:ext cx="11001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.venv/bin/python -m pip install -r requirements.txt</a:t>
            </a:r>
          </a:p>
        </p:txBody>
      </p:sp>
      <p:sp>
        <p:nvSpPr>
          <p:cNvPr id="5" name=".venv/bin/python main.py --lang ja">
            <a:extLst xmlns:a="http://schemas.openxmlformats.org/drawingml/2006/main">
              <a:ext uri="{FF2B5EF4-FFF2-40B4-BE49-F238E27FC236}">
                <a16:creationId xmlns:a16="http://schemas.microsoft.com/office/drawing/2014/main" id="{28ED9F67-D550-45C6-A67B-8AD437057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562225"/>
            <a:ext cx="11001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.venv/bin/python main.py --lang ja</a:t>
            </a:r>
          </a:p>
        </p:txBody>
      </p:sp>
      <p:sp>
        <p:nvSpPr>
          <p:cNvPr id="6" name="--lang は zh・en・ja。ゲームのルールは共通。">
            <a:extLst xmlns:a="http://schemas.openxmlformats.org/drawingml/2006/main">
              <a:ext uri="{FF2B5EF4-FFF2-40B4-BE49-F238E27FC236}">
                <a16:creationId xmlns:a16="http://schemas.microsoft.com/office/drawing/2014/main" id="{051C9B99-77B3-44F5-87B2-F53EA5367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267325"/>
            <a:ext cx="5191125" cy="1019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pPr>
            <a:r>
              <a: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rPr>
              <a:t>--lang は zh・en・ja。ゲームのルールは共通。</a:t>
            </a:r>
          </a:p>
        </p:txBody>
      </p:sp>
      <p:sp>
        <p:nvSpPr>
          <p:cNvPr id="7" name="文字が表示されない場合は Noto Sans CJK をインストールする。">
            <a:extLst xmlns:a="http://schemas.openxmlformats.org/drawingml/2006/main">
              <a:ext uri="{FF2B5EF4-FFF2-40B4-BE49-F238E27FC236}">
                <a16:creationId xmlns:a16="http://schemas.microsoft.com/office/drawing/2014/main" id="{09E98C83-8F74-4EF0-B10A-EF578FCD0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5267325"/>
            <a:ext cx="5191125" cy="1019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pPr>
            <a:r>
              <a: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rPr>
              <a:t>文字が表示されない場合は Noto Sans CJK をインストールする。</a:t>
            </a:r>
          </a:p>
        </p:txBody>
      </p:sp>
      <p:sp>
        <p:nvSpPr>
          <p:cNvPr id="8" name="Terminal">
            <a:extLst xmlns:a="http://schemas.openxmlformats.org/drawingml/2006/main">
              <a:ext uri="{FF2B5EF4-FFF2-40B4-BE49-F238E27FC236}">
                <a16:creationId xmlns:a16="http://schemas.microsoft.com/office/drawing/2014/main" id="{8AC2C591-8136-438A-9796-AFADC8C4C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67475"/>
            <a:ext cx="1047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buNone/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buNone/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buNone/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buNone/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buNone/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buNone/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buNone/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buNone/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buNone/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buNone/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Terminal</a:t>
            </a:r>
          </a:p>
        </p:txBody>
      </p:sp>
      <p:sp>
        <p:nvSpPr>
          <p:cNvPr id="9" name="04">
            <a:extLst xmlns:a="http://schemas.openxmlformats.org/drawingml/2006/main">
              <a:ext uri="{FF2B5EF4-FFF2-40B4-BE49-F238E27FC236}">
                <a16:creationId xmlns:a16="http://schemas.microsoft.com/office/drawing/2014/main" id="{0B90B670-4CFD-41D5-99F7-E9B75EFFE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505575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pPr>
            <a:r>
              <a: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81783390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一度プレイして、オブジェクトを見る">
            <a:extLst xmlns:a="http://schemas.openxmlformats.org/drawingml/2006/main">
              <a:ext uri="{FF2B5EF4-FFF2-40B4-BE49-F238E27FC236}">
                <a16:creationId xmlns:a16="http://schemas.microsoft.com/office/drawing/2014/main" id="{4DBA6776-EB68-4353-86AA-DFA79890D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428625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3300" b="1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3300" b="1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3300" b="1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3300" b="1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3300" b="1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3300" b="1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3300" b="1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3300" b="1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3300" b="1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3300" b="1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pPr>
            <a:r>
              <a:rPr sz="3300" b="1">
                <a:solidFill>
                  <a:srgbClr val="172C40"/>
                </a:solidFill>
                <a:latin typeface="Yu Gothic"/>
                <a:ea typeface="Yu Gothic"/>
                <a:cs typeface="Yu Gothic"/>
              </a:rPr>
              <a:t>一度プレイして、オブジェクトを見る</a:t>
            </a:r>
          </a:p>
        </p:txBody>
      </p:sp>
      <p:sp>
        <p:nvSpPr>
          <p:cNvPr id="2" name="敵を倒すと +10 点。200 点でクリア。HP は 3 から開始。">
            <a:extLst xmlns:a="http://schemas.openxmlformats.org/drawingml/2006/main">
              <a:ext uri="{FF2B5EF4-FFF2-40B4-BE49-F238E27FC236}">
                <a16:creationId xmlns:a16="http://schemas.microsoft.com/office/drawing/2014/main" id="{D1312C9B-1E26-4B76-9848-4C408BB07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1181100"/>
            <a:ext cx="110013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1725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1725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1725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1725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1725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1725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1725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1725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1725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1725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5B7082"/>
                </a:solidFill>
                <a:latin typeface="Yu Gothic"/>
                <a:ea typeface="Yu Gothic"/>
                <a:cs typeface="Yu Gothic"/>
              </a:rPr>
              <a:t>敵を倒すと +10 点。200 点でクリア。HP は 3 から開始。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3FCBE7-ABFE-47BD-BC35-EA10D6432BAA}"/>
              </a:ext>
            </a:extLst>
          </p:cNvPr>
          <p:cNvGraphicFramePr/>
          <p:nvPr/>
        </p:nvGraphicFramePr>
        <p:xfrm>
          <a:off xmlns:a="http://schemas.openxmlformats.org/drawingml/2006/main" x="571500" y="1762125"/>
          <a:ext xmlns:a="http://schemas.openxmlformats.org/drawingml/2006/main" cx="11049000" cy="40957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3238500"/>
                <a:gridCol w="7810500"/>
              </a:tblGrid>
              <a:tr h="682625">
                <a:tc>
                  <a:txBody>
                    <a:bodyPr lIns="123825" tIns="66675" rIns="104775" bIns="66675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EDF4FB"/>
                          </a:solidFill>
                          <a:latin typeface="Yu Gothic"/>
                          <a:ea typeface="Yu Gothic"/>
                          <a:cs typeface="Yu Gothic"/>
                        </a:rPr>
                        <a:t>キー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6DF"/>
                      </a:solidFill>
                      <a:prstDash val="solid"/>
                    </a:lnL>
                    <a:lnR w="9525">
                      <a:solidFill>
                        <a:srgbClr val="CCD6DF"/>
                      </a:solidFill>
                      <a:prstDash val="solid"/>
                    </a:lnR>
                    <a:lnT w="9525">
                      <a:solidFill>
                        <a:srgbClr val="CCD6DF"/>
                      </a:solidFill>
                      <a:prstDash val="solid"/>
                    </a:lnT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172C40"/>
                    </a:solidFill>
                  </a:tcPr>
                </a:tc>
                <a:tc>
                  <a:txBody>
                    <a:bodyPr lIns="123825" tIns="66675" rIns="104775" bIns="66675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EDF4FB"/>
                          </a:solidFill>
                          <a:latin typeface="Yu Gothic"/>
                          <a:ea typeface="Yu Gothic"/>
                          <a:cs typeface="Yu Gothic"/>
                        </a:rPr>
                        <a:t>操作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T w="9525">
                      <a:solidFill>
                        <a:srgbClr val="CCD6DF"/>
                      </a:solidFill>
                      <a:prstDash val="solid"/>
                    </a:lnT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172C40"/>
                    </a:solidFill>
                  </a:tcPr>
                </a:tc>
              </a:tr>
              <a:tr h="682625">
                <a:tc>
                  <a:txBody>
                    <a:bodyPr lIns="123825" tIns="66675" rIns="104775" bIns="66675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172C40"/>
                          </a:solidFill>
                          <a:latin typeface="Yu Gothic"/>
                          <a:ea typeface="Yu Gothic"/>
                          <a:cs typeface="Yu Gothic"/>
                        </a:rPr>
                        <a:t>Enter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6DF"/>
                      </a:solidFill>
                      <a:prstDash val="solid"/>
                    </a:lnL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23825" tIns="66675" rIns="104775" bIns="6667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72C40"/>
                          </a:solidFill>
                          <a:latin typeface="Yu Gothic"/>
                          <a:ea typeface="Yu Gothic"/>
                          <a:cs typeface="Yu Gothic"/>
                        </a:rPr>
                        <a:t>開始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82625">
                <a:tc>
                  <a:txBody>
                    <a:bodyPr lIns="123825" tIns="66675" rIns="104775" bIns="66675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172C40"/>
                          </a:solidFill>
                          <a:latin typeface="Yu Gothic"/>
                          <a:ea typeface="Yu Gothic"/>
                          <a:cs typeface="Yu Gothic"/>
                        </a:rPr>
                        <a:t>矢印 / WASD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6DF"/>
                      </a:solidFill>
                      <a:prstDash val="solid"/>
                    </a:lnL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lIns="123825" tIns="66675" rIns="104775" bIns="6667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72C40"/>
                          </a:solidFill>
                          <a:latin typeface="Yu Gothic"/>
                          <a:ea typeface="Yu Gothic"/>
                          <a:cs typeface="Yu Gothic"/>
                        </a:rPr>
                        <a:t>移動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</a:tr>
              <a:tr h="682625">
                <a:tc>
                  <a:txBody>
                    <a:bodyPr lIns="123825" tIns="66675" rIns="104775" bIns="66675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172C40"/>
                          </a:solidFill>
                          <a:latin typeface="Yu Gothic"/>
                          <a:ea typeface="Yu Gothic"/>
                          <a:cs typeface="Yu Gothic"/>
                        </a:rPr>
                        <a:t>Space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6DF"/>
                      </a:solidFill>
                      <a:prstDash val="solid"/>
                    </a:lnL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23825" tIns="66675" rIns="104775" bIns="6667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72C40"/>
                          </a:solidFill>
                          <a:latin typeface="Yu Gothic"/>
                          <a:ea typeface="Yu Gothic"/>
                          <a:cs typeface="Yu Gothic"/>
                        </a:rPr>
                        <a:t>発射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82625">
                <a:tc>
                  <a:txBody>
                    <a:bodyPr lIns="123825" tIns="66675" rIns="104775" bIns="66675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172C40"/>
                          </a:solidFill>
                          <a:latin typeface="Yu Gothic"/>
                          <a:ea typeface="Yu Gothic"/>
                          <a:cs typeface="Yu Gothic"/>
                        </a:rPr>
                        <a:t>P / N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6DF"/>
                      </a:solidFill>
                      <a:prstDash val="solid"/>
                    </a:lnL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lIns="123825" tIns="66675" rIns="104775" bIns="6667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72C40"/>
                          </a:solidFill>
                          <a:latin typeface="Yu Gothic"/>
                          <a:ea typeface="Yu Gothic"/>
                          <a:cs typeface="Yu Gothic"/>
                        </a:rPr>
                        <a:t>一時停止／停止中に 1 フレーム進む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</a:tr>
              <a:tr h="682625">
                <a:tc>
                  <a:txBody>
                    <a:bodyPr lIns="123825" tIns="66675" rIns="104775" bIns="66675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172C40"/>
                          </a:solidFill>
                          <a:latin typeface="Yu Gothic"/>
                          <a:ea typeface="Yu Gothic"/>
                          <a:cs typeface="Yu Gothic"/>
                        </a:rPr>
                        <a:t>Tab / R / Esc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6DF"/>
                      </a:solidFill>
                      <a:prstDash val="solid"/>
                    </a:lnL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23825" tIns="66675" rIns="104775" bIns="6667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72C40"/>
                          </a:solidFill>
                          <a:latin typeface="Yu Gothic"/>
                          <a:ea typeface="Yu Gothic"/>
                          <a:cs typeface="Yu Gothic"/>
                        </a:rPr>
                        <a:t>ラベル／待機状態へリセット／終了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接触または敵の通過で被弾。無敵時間中は HP が重ねて減らない。">
            <a:extLst xmlns:a="http://schemas.openxmlformats.org/drawingml/2006/main">
              <a:ext uri="{FF2B5EF4-FFF2-40B4-BE49-F238E27FC236}">
                <a16:creationId xmlns:a16="http://schemas.microsoft.com/office/drawing/2014/main" id="{C5406071-6295-4269-83B9-99CA46393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019800"/>
            <a:ext cx="1095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1575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1575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1575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1575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1575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1575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1575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1575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1575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1575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pPr>
            <a:r>
              <a:rPr sz="1575" b="0">
                <a:solidFill>
                  <a:srgbClr val="5B7082"/>
                </a:solidFill>
                <a:latin typeface="Yu Gothic"/>
                <a:ea typeface="Yu Gothic"/>
                <a:cs typeface="Yu Gothic"/>
              </a:rPr>
              <a:t>接触または敵の通過で被弾。無敵時間中は HP が重ねて減らない。</a:t>
            </a:r>
          </a:p>
        </p:txBody>
      </p:sp>
      <p:sp>
        <p:nvSpPr>
          <p:cNvPr id="5" name="05">
            <a:extLst xmlns:a="http://schemas.openxmlformats.org/drawingml/2006/main">
              <a:ext uri="{FF2B5EF4-FFF2-40B4-BE49-F238E27FC236}">
                <a16:creationId xmlns:a16="http://schemas.microsoft.com/office/drawing/2014/main" id="{BD847927-68A3-4AFD-9AD2-2B873F2AD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505575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1200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1200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1200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1200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1200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1200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1200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1200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1200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1200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pPr>
            <a:r>
              <a:rPr sz="1200" b="0">
                <a:solidFill>
                  <a:srgbClr val="5B7082"/>
                </a:solidFill>
                <a:latin typeface="Yu Gothic"/>
                <a:ea typeface="Yu Gothic"/>
                <a:cs typeface="Yu Gothic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45737559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五つのクラスと責任分担">
            <a:extLst xmlns:a="http://schemas.openxmlformats.org/drawingml/2006/main">
              <a:ext uri="{FF2B5EF4-FFF2-40B4-BE49-F238E27FC236}">
                <a16:creationId xmlns:a16="http://schemas.microsoft.com/office/drawing/2014/main" id="{CE64AA7D-64EE-4AAF-A26E-A50534AAE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428625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3300" b="1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3300" b="1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3300" b="1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3300" b="1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3300" b="1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3300" b="1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3300" b="1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3300" b="1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3300" b="1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3300" b="1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pPr>
            <a:r>
              <a:rPr sz="3300" b="1">
                <a:solidFill>
                  <a:srgbClr val="172C40"/>
                </a:solidFill>
                <a:latin typeface="Yu Gothic"/>
                <a:ea typeface="Yu Gothic"/>
                <a:cs typeface="Yu Gothic"/>
              </a:rPr>
              <a:t>五つのクラスと責任分担</a:t>
            </a:r>
          </a:p>
        </p:txBody>
      </p:sp>
      <p:sp>
        <p:nvSpPr>
          <p:cNvPr id="2" name="各キャラクターは自分の処理を行い、Game が連携を調整する">
            <a:extLst xmlns:a="http://schemas.openxmlformats.org/drawingml/2006/main">
              <a:ext uri="{FF2B5EF4-FFF2-40B4-BE49-F238E27FC236}">
                <a16:creationId xmlns:a16="http://schemas.microsoft.com/office/drawing/2014/main" id="{222EBD50-CD0B-4352-83B2-0DA645601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1181100"/>
            <a:ext cx="110013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1725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1725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1725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1725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1725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1725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1725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1725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1725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1725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5B7082"/>
                </a:solidFill>
                <a:latin typeface="Yu Gothic"/>
                <a:ea typeface="Yu Gothic"/>
                <a:cs typeface="Yu Gothic"/>
              </a:rPr>
              <a:t>各キャラクターは自分の処理を行い、Game が連携を調整する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7A51BE-BE46-49B9-8475-80DE6C7EF0BE}"/>
              </a:ext>
            </a:extLst>
          </p:cNvPr>
          <p:cNvGraphicFramePr/>
          <p:nvPr/>
        </p:nvGraphicFramePr>
        <p:xfrm>
          <a:off xmlns:a="http://schemas.openxmlformats.org/drawingml/2006/main" x="571500" y="1762125"/>
          <a:ext xmlns:a="http://schemas.openxmlformats.org/drawingml/2006/main" cx="11049000" cy="40957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1809750"/>
                <a:gridCol w="3905250"/>
                <a:gridCol w="5334000"/>
              </a:tblGrid>
              <a:tr h="682625">
                <a:tc>
                  <a:txBody>
                    <a:bodyPr lIns="123825" tIns="66675" rIns="104775" bIns="66675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EDF4FB"/>
                          </a:solidFill>
                          <a:latin typeface="Yu Gothic"/>
                          <a:ea typeface="Yu Gothic"/>
                          <a:cs typeface="Yu Gothic"/>
                        </a:rPr>
                        <a:t>クラス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6DF"/>
                      </a:solidFill>
                      <a:prstDash val="solid"/>
                    </a:lnL>
                    <a:lnR w="9525">
                      <a:solidFill>
                        <a:srgbClr val="CCD6DF"/>
                      </a:solidFill>
                      <a:prstDash val="solid"/>
                    </a:lnR>
                    <a:lnT w="9525">
                      <a:solidFill>
                        <a:srgbClr val="CCD6DF"/>
                      </a:solidFill>
                      <a:prstDash val="solid"/>
                    </a:lnT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172C40"/>
                    </a:solidFill>
                  </a:tcPr>
                </a:tc>
                <a:tc>
                  <a:txBody>
                    <a:bodyPr lIns="123825" tIns="66675" rIns="104775" bIns="66675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EDF4FB"/>
                          </a:solidFill>
                          <a:latin typeface="Yu Gothic"/>
                          <a:ea typeface="Yu Gothic"/>
                          <a:cs typeface="Yu Gothic"/>
                        </a:rPr>
                        <a:t>状態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T w="9525">
                      <a:solidFill>
                        <a:srgbClr val="CCD6DF"/>
                      </a:solidFill>
                      <a:prstDash val="solid"/>
                    </a:lnT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172C40"/>
                    </a:solidFill>
                  </a:tcPr>
                </a:tc>
                <a:tc>
                  <a:txBody>
                    <a:bodyPr lIns="123825" tIns="66675" rIns="104775" bIns="66675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EDF4FB"/>
                          </a:solidFill>
                          <a:latin typeface="Yu Gothic"/>
                          <a:ea typeface="Yu Gothic"/>
                          <a:cs typeface="Yu Gothic"/>
                        </a:rPr>
                        <a:t>主な責任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T w="9525">
                      <a:solidFill>
                        <a:srgbClr val="CCD6DF"/>
                      </a:solidFill>
                      <a:prstDash val="solid"/>
                    </a:lnT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172C40"/>
                    </a:solidFill>
                  </a:tcPr>
                </a:tc>
              </a:tr>
              <a:tr h="682625">
                <a:tc>
                  <a:txBody>
                    <a:bodyPr lIns="123825" tIns="66675" rIns="104775" bIns="66675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172C40"/>
                          </a:solidFill>
                          <a:latin typeface="Yu Gothic"/>
                          <a:ea typeface="Yu Gothic"/>
                          <a:cs typeface="Yu Gothic"/>
                        </a:rPr>
                        <a:t>Actor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6DF"/>
                      </a:solidFill>
                      <a:prstDash val="solid"/>
                    </a:lnL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23825" tIns="66675" rIns="104775" bIns="6667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72C40"/>
                          </a:solidFill>
                          <a:latin typeface="Yu Gothic"/>
                          <a:ea typeface="Yu Gothic"/>
                          <a:cs typeface="Yu Gothic"/>
                        </a:rPr>
                        <a:t>pos, velocity, image, rect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23825" tIns="66675" rIns="104775" bIns="6667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72C40"/>
                          </a:solidFill>
                          <a:latin typeface="Yu Gothic"/>
                          <a:ea typeface="Yu Gothic"/>
                          <a:cs typeface="Yu Gothic"/>
                        </a:rPr>
                        <a:t>共通の位置と描画データ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82625">
                <a:tc>
                  <a:txBody>
                    <a:bodyPr lIns="123825" tIns="66675" rIns="104775" bIns="66675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172C40"/>
                          </a:solidFill>
                          <a:latin typeface="Yu Gothic"/>
                          <a:ea typeface="Yu Gothic"/>
                          <a:cs typeface="Yu Gothic"/>
                        </a:rPr>
                        <a:t>Player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6DF"/>
                      </a:solidFill>
                      <a:prstDash val="solid"/>
                    </a:lnL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lIns="123825" tIns="66675" rIns="104775" bIns="6667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72C40"/>
                          </a:solidFill>
                          <a:latin typeface="Yu Gothic"/>
                          <a:ea typeface="Yu Gothic"/>
                          <a:cs typeface="Yu Gothic"/>
                        </a:rPr>
                        <a:t>hp, cooldown, invulnerable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lIns="123825" tIns="66675" rIns="104775" bIns="6667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72C40"/>
                          </a:solidFill>
                          <a:latin typeface="Yu Gothic"/>
                          <a:ea typeface="Yu Gothic"/>
                          <a:cs typeface="Yu Gothic"/>
                        </a:rPr>
                        <a:t>移動方向・発射・被弾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</a:tr>
              <a:tr h="682625">
                <a:tc>
                  <a:txBody>
                    <a:bodyPr lIns="123825" tIns="66675" rIns="104775" bIns="66675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172C40"/>
                          </a:solidFill>
                          <a:latin typeface="Yu Gothic"/>
                          <a:ea typeface="Yu Gothic"/>
                          <a:cs typeface="Yu Gothic"/>
                        </a:rPr>
                        <a:t>Enemy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6DF"/>
                      </a:solidFill>
                      <a:prstDash val="solid"/>
                    </a:lnL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23825" tIns="66675" rIns="104775" bIns="6667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72C40"/>
                          </a:solidFill>
                          <a:latin typeface="Yu Gothic"/>
                          <a:ea typeface="Yu Gothic"/>
                          <a:cs typeface="Yu Gothic"/>
                        </a:rPr>
                        <a:t>hp, max_hp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23825" tIns="66675" rIns="104775" bIns="6667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72C40"/>
                          </a:solidFill>
                          <a:latin typeface="Yu Gothic"/>
                          <a:ea typeface="Yu Gothic"/>
                          <a:cs typeface="Yu Gothic"/>
                        </a:rPr>
                        <a:t>下降・被弾・撃破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82625">
                <a:tc>
                  <a:txBody>
                    <a:bodyPr lIns="123825" tIns="66675" rIns="104775" bIns="66675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172C40"/>
                          </a:solidFill>
                          <a:latin typeface="Yu Gothic"/>
                          <a:ea typeface="Yu Gothic"/>
                          <a:cs typeface="Yu Gothic"/>
                        </a:rPr>
                        <a:t>Bullet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6DF"/>
                      </a:solidFill>
                      <a:prstDash val="solid"/>
                    </a:lnL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lIns="123825" tIns="66675" rIns="104775" bIns="6667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72C40"/>
                          </a:solidFill>
                          <a:latin typeface="Yu Gothic"/>
                          <a:ea typeface="Yu Gothic"/>
                          <a:cs typeface="Yu Gothic"/>
                        </a:rPr>
                        <a:t>owner, damage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lIns="123825" tIns="66675" rIns="104775" bIns="6667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72C40"/>
                          </a:solidFill>
                          <a:latin typeface="Yu Gothic"/>
                          <a:ea typeface="Yu Gothic"/>
                          <a:cs typeface="Yu Gothic"/>
                        </a:rPr>
                        <a:t>移動と画面外での除去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</a:tr>
              <a:tr h="682625">
                <a:tc>
                  <a:txBody>
                    <a:bodyPr lIns="123825" tIns="66675" rIns="104775" bIns="66675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172C40"/>
                          </a:solidFill>
                          <a:latin typeface="Yu Gothic"/>
                          <a:ea typeface="Yu Gothic"/>
                          <a:cs typeface="Yu Gothic"/>
                        </a:rPr>
                        <a:t>Game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6DF"/>
                      </a:solidFill>
                      <a:prstDash val="solid"/>
                    </a:lnL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23825" tIns="66675" rIns="104775" bIns="6667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72C40"/>
                          </a:solidFill>
                          <a:latin typeface="Yu Gothic"/>
                          <a:ea typeface="Yu Gothic"/>
                          <a:cs typeface="Yu Gothic"/>
                        </a:rPr>
                        <a:t>score, state, groups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23825" tIns="66675" rIns="104775" bIns="6667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72C40"/>
                          </a:solidFill>
                          <a:latin typeface="Yu Gothic"/>
                          <a:ea typeface="Yu Gothic"/>
                          <a:cs typeface="Yu Gothic"/>
                        </a:rPr>
                        <a:t>生成・衝突・勝敗・ループ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06">
            <a:extLst xmlns:a="http://schemas.openxmlformats.org/drawingml/2006/main">
              <a:ext uri="{FF2B5EF4-FFF2-40B4-BE49-F238E27FC236}">
                <a16:creationId xmlns:a16="http://schemas.microsoft.com/office/drawing/2014/main" id="{2CB4A07F-97C6-4661-8EBC-BDB7A9A89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505575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1200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1200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1200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1200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1200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1200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1200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1200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1200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1200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pPr>
            <a:r>
              <a:rPr sz="1200" b="0">
                <a:solidFill>
                  <a:srgbClr val="5B7082"/>
                </a:solidFill>
                <a:latin typeface="Yu Gothic"/>
                <a:ea typeface="Yu Gothic"/>
                <a:cs typeface="Yu Gothic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35411335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B14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一つのクラスから複数のオブジェクト">
            <a:extLst xmlns:a="http://schemas.openxmlformats.org/drawingml/2006/main">
              <a:ext uri="{FF2B5EF4-FFF2-40B4-BE49-F238E27FC236}">
                <a16:creationId xmlns:a16="http://schemas.microsoft.com/office/drawing/2014/main" id="{F06B0982-F377-4E9A-859D-AFC3D207D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428625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3300" b="1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3300" b="1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3300" b="1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3300" b="1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3300" b="1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3300" b="1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3300" b="1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3300" b="1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3300" b="1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3300" b="1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pPr>
            <a:r>
              <a:rPr sz="3300" b="1">
                <a:solidFill>
                  <a:srgbClr val="EDF4FB"/>
                </a:solidFill>
                <a:latin typeface="Yu Gothic"/>
                <a:ea typeface="Yu Gothic"/>
                <a:cs typeface="Yu Gothic"/>
              </a:rPr>
              <a:t>一つのクラスから複数のオブジェクト</a:t>
            </a:r>
          </a:p>
        </p:txBody>
      </p:sp>
      <p:sp>
        <p:nvSpPr>
          <p:cNvPr id="2" name="クラスは共通の規則、インスタンスは個別の状態を持つ">
            <a:extLst xmlns:a="http://schemas.openxmlformats.org/drawingml/2006/main">
              <a:ext uri="{FF2B5EF4-FFF2-40B4-BE49-F238E27FC236}">
                <a16:creationId xmlns:a16="http://schemas.microsoft.com/office/drawing/2014/main" id="{30EC9B48-C8E2-4D9E-ACF6-F8FB9B637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1181100"/>
            <a:ext cx="110013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rPr>
              <a:t>クラスは共通の規則、インスタンスは個別の状態を持つ</a:t>
            </a:r>
          </a:p>
        </p:txBody>
      </p:sp>
      <p:sp>
        <p:nvSpPr>
          <p:cNvPr id="3" name="e1 = Enemy(&quot;E01&quot;, (180, 180), hp=1)">
            <a:extLst xmlns:a="http://schemas.openxmlformats.org/drawingml/2006/main">
              <a:ext uri="{FF2B5EF4-FFF2-40B4-BE49-F238E27FC236}">
                <a16:creationId xmlns:a16="http://schemas.microsoft.com/office/drawing/2014/main" id="{5D7B3CA4-2391-4479-9FFD-C0A204DA3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914525"/>
            <a:ext cx="11001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e1 = Enemy("E01", (180, 180), hp=1)</a:t>
            </a:r>
          </a:p>
        </p:txBody>
      </p:sp>
      <p:sp>
        <p:nvSpPr>
          <p:cNvPr id="4" name="e2 = Enemy(&quot;E02&quot;, (395, 235), hp=2)">
            <a:extLst xmlns:a="http://schemas.openxmlformats.org/drawingml/2006/main">
              <a:ext uri="{FF2B5EF4-FFF2-40B4-BE49-F238E27FC236}">
                <a16:creationId xmlns:a16="http://schemas.microsoft.com/office/drawing/2014/main" id="{764230B6-1873-4D86-9D97-2DFC1DD64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38375"/>
            <a:ext cx="11001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e2 = Enemy("E02", (395, 235), hp=2)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A5B0F5-E2EE-42EE-87A8-C61534CF9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562225"/>
            <a:ext cx="11001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6" name="print(e1 is e2)                 # False">
            <a:extLst xmlns:a="http://schemas.openxmlformats.org/drawingml/2006/main">
              <a:ext uri="{FF2B5EF4-FFF2-40B4-BE49-F238E27FC236}">
                <a16:creationId xmlns:a16="http://schemas.microsoft.com/office/drawing/2014/main" id="{DE80EBB7-6EBC-47C4-8360-F62DEF49B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86075"/>
            <a:ext cx="11001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print(e1 is e2)                 # False</a:t>
            </a:r>
          </a:p>
        </p:txBody>
      </p:sp>
      <p:sp>
        <p:nvSpPr>
          <p:cNvPr id="7" name="print(isinstance(e2, Enemy))    # True">
            <a:extLst xmlns:a="http://schemas.openxmlformats.org/drawingml/2006/main">
              <a:ext uri="{FF2B5EF4-FFF2-40B4-BE49-F238E27FC236}">
                <a16:creationId xmlns:a16="http://schemas.microsoft.com/office/drawing/2014/main" id="{52FD9B99-045D-4EC8-887B-623E83625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09925"/>
            <a:ext cx="11001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print(isinstance(e2, Enemy))    # True</a:t>
            </a:r>
          </a:p>
        </p:txBody>
      </p:sp>
      <p:sp>
        <p:nvSpPr>
          <p:cNvPr id="8" name="e1.take_hit(1)">
            <a:extLst xmlns:a="http://schemas.openxmlformats.org/drawingml/2006/main">
              <a:ext uri="{FF2B5EF4-FFF2-40B4-BE49-F238E27FC236}">
                <a16:creationId xmlns:a16="http://schemas.microsoft.com/office/drawing/2014/main" id="{3E6624BC-7033-4189-84E5-CA600E006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533775"/>
            <a:ext cx="11001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e1.take_hit(1)</a:t>
            </a:r>
          </a:p>
        </p:txBody>
      </p:sp>
      <p:sp>
        <p:nvSpPr>
          <p:cNvPr id="9" name="print(e1.hp, e2.hp)             # 0 2">
            <a:extLst xmlns:a="http://schemas.openxmlformats.org/drawingml/2006/main">
              <a:ext uri="{FF2B5EF4-FFF2-40B4-BE49-F238E27FC236}">
                <a16:creationId xmlns:a16="http://schemas.microsoft.com/office/drawing/2014/main" id="{7EA7695A-9F35-46C3-B29E-8C229E60F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57625"/>
            <a:ext cx="11001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print(e1.hp, e2.hp)             # 0 2</a:t>
            </a:r>
          </a:p>
        </p:txBody>
      </p:sp>
      <p:sp>
        <p:nvSpPr>
          <p:cNvPr id="10" name="e1 と e2 はどちらも Enemy だが、同一性と HP は別。">
            <a:extLst xmlns:a="http://schemas.openxmlformats.org/drawingml/2006/main">
              <a:ext uri="{FF2B5EF4-FFF2-40B4-BE49-F238E27FC236}">
                <a16:creationId xmlns:a16="http://schemas.microsoft.com/office/drawing/2014/main" id="{157681E4-7594-49BB-841C-4345F099B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267325"/>
            <a:ext cx="5191125" cy="1019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pPr>
            <a:r>
              <a: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rPr>
              <a:t>e1 と e2 はどちらも Enemy だが、同一性と HP は別。</a:t>
            </a:r>
          </a:p>
        </p:txBody>
      </p:sp>
      <p:sp>
        <p:nvSpPr>
          <p:cNvPr id="11" name="e1.take_hit(1) は e2.hp を減らさない。">
            <a:extLst xmlns:a="http://schemas.openxmlformats.org/drawingml/2006/main">
              <a:ext uri="{FF2B5EF4-FFF2-40B4-BE49-F238E27FC236}">
                <a16:creationId xmlns:a16="http://schemas.microsoft.com/office/drawing/2014/main" id="{21B79421-E01C-4B4E-BB9D-1B1CBCE7A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5267325"/>
            <a:ext cx="5191125" cy="1019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pPr>
            <a:r>
              <a: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rPr>
              <a:t>e1.take_hit(1) は e2.hp を減らさない。</a:t>
            </a:r>
          </a:p>
        </p:txBody>
      </p:sp>
      <p:sp>
        <p:nvSpPr>
          <p:cNvPr id="12" name="actors.py · Enemy">
            <a:extLst xmlns:a="http://schemas.openxmlformats.org/drawingml/2006/main">
              <a:ext uri="{FF2B5EF4-FFF2-40B4-BE49-F238E27FC236}">
                <a16:creationId xmlns:a16="http://schemas.microsoft.com/office/drawing/2014/main" id="{424468FD-B94C-4E69-9B24-5C21D3645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67475"/>
            <a:ext cx="1047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buNone/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buNone/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buNone/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buNone/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buNone/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buNone/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buNone/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buNone/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buNone/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buNone/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actors.py · Enemy</a:t>
            </a:r>
          </a:p>
        </p:txBody>
      </p:sp>
      <p:sp>
        <p:nvSpPr>
          <p:cNvPr id="13" name="07">
            <a:extLst xmlns:a="http://schemas.openxmlformats.org/drawingml/2006/main">
              <a:ext uri="{FF2B5EF4-FFF2-40B4-BE49-F238E27FC236}">
                <a16:creationId xmlns:a16="http://schemas.microsoft.com/office/drawing/2014/main" id="{6DEB48DE-2B8A-4533-944A-3C9523DA1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505575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pPr>
            <a:r>
              <a: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27482239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UML の三つの表記を読む">
            <a:extLst xmlns:a="http://schemas.openxmlformats.org/drawingml/2006/main">
              <a:ext uri="{FF2B5EF4-FFF2-40B4-BE49-F238E27FC236}">
                <a16:creationId xmlns:a16="http://schemas.microsoft.com/office/drawing/2014/main" id="{4833E00C-084B-42C0-B938-98B4EA012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428625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3300" b="1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3300" b="1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3300" b="1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3300" b="1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3300" b="1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3300" b="1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3300" b="1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3300" b="1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3300" b="1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3300" b="1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pPr>
            <a:r>
              <a:rPr sz="3300" b="1">
                <a:solidFill>
                  <a:srgbClr val="172C40"/>
                </a:solidFill>
                <a:latin typeface="Yu Gothic"/>
                <a:ea typeface="Yu Gothic"/>
                <a:cs typeface="Yu Gothic"/>
              </a:rPr>
              <a:t>UML の三つの表記を読む</a:t>
            </a:r>
          </a:p>
        </p:txBody>
      </p:sp>
      <p:sp>
        <p:nvSpPr>
          <p:cNvPr id="2" name="クラス図は構造、オブジェクト図はある時点の実体を表す">
            <a:extLst xmlns:a="http://schemas.openxmlformats.org/drawingml/2006/main">
              <a:ext uri="{FF2B5EF4-FFF2-40B4-BE49-F238E27FC236}">
                <a16:creationId xmlns:a16="http://schemas.microsoft.com/office/drawing/2014/main" id="{C9F1B34B-E272-439E-A3F4-249959C73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1181100"/>
            <a:ext cx="110013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1725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1725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1725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1725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1725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1725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1725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1725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1725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1725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5B7082"/>
                </a:solidFill>
                <a:latin typeface="Yu Gothic"/>
                <a:ea typeface="Yu Gothic"/>
                <a:cs typeface="Yu Gothic"/>
              </a:rPr>
              <a:t>クラス図は構造、オブジェクト図はある時点の実体を表す</a:t>
            </a:r>
          </a:p>
        </p:txBody>
      </p:sp>
      <p:sp>
        <p:nvSpPr>
          <p:cNvPr id="3" name="01">
            <a:extLst xmlns:a="http://schemas.openxmlformats.org/drawingml/2006/main">
              <a:ext uri="{FF2B5EF4-FFF2-40B4-BE49-F238E27FC236}">
                <a16:creationId xmlns:a16="http://schemas.microsoft.com/office/drawing/2014/main" id="{6DED9BDA-7EC6-4A80-A48A-71FEC21A4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971675"/>
            <a:ext cx="685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625" b="1">
                <a:solidFill>
                  <a:srgbClr val="087C62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2625" b="1">
                <a:solidFill>
                  <a:srgbClr val="087C62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2625" b="1">
                <a:solidFill>
                  <a:srgbClr val="087C62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2625" b="1">
                <a:solidFill>
                  <a:srgbClr val="087C62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2625" b="1">
                <a:solidFill>
                  <a:srgbClr val="087C62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2625" b="1">
                <a:solidFill>
                  <a:srgbClr val="087C62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2625" b="1">
                <a:solidFill>
                  <a:srgbClr val="087C62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2625" b="1">
                <a:solidFill>
                  <a:srgbClr val="087C62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2625" b="1">
                <a:solidFill>
                  <a:srgbClr val="087C62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2625" b="1">
                <a:solidFill>
                  <a:srgbClr val="087C62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2625" b="1">
                <a:solidFill>
                  <a:srgbClr val="087C62"/>
                </a:solidFill>
                <a:latin typeface="Yu Gothic"/>
                <a:ea typeface="Yu Gothic"/>
                <a:cs typeface="Yu Gothic"/>
              </a:defRPr>
            </a:pPr>
            <a:r>
              <a:rPr sz="2625" b="1">
                <a:solidFill>
                  <a:srgbClr val="087C62"/>
                </a:solidFill>
                <a:latin typeface="Yu Gothic"/>
                <a:ea typeface="Yu Gothic"/>
                <a:cs typeface="Yu Gothic"/>
              </a:rPr>
              <a:t>01</a:t>
            </a:r>
          </a:p>
        </p:txBody>
      </p:sp>
      <p:sp>
        <p:nvSpPr>
          <p:cNvPr id="4" name="クラスの枠：上段は名前、中段は属性、下段はメソッド。">
            <a:extLst xmlns:a="http://schemas.openxmlformats.org/drawingml/2006/main">
              <a:ext uri="{FF2B5EF4-FFF2-40B4-BE49-F238E27FC236}">
                <a16:creationId xmlns:a16="http://schemas.microsoft.com/office/drawing/2014/main" id="{D84B2A3D-E327-4D8B-A7E2-0AFDF122B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1990725"/>
            <a:ext cx="9858375" cy="1171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232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232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232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232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232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232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232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232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232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232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pPr>
            <a:r>
              <a:rPr sz="2325" b="0">
                <a:solidFill>
                  <a:srgbClr val="172C40"/>
                </a:solidFill>
                <a:latin typeface="Yu Gothic"/>
                <a:ea typeface="Yu Gothic"/>
                <a:cs typeface="Yu Gothic"/>
              </a:rPr>
              <a:t>クラスの枠：上段は名前、中段は属性、下段はメソッド。</a:t>
            </a:r>
          </a:p>
        </p:txBody>
      </p:sp>
      <p:sp>
        <p:nvSpPr>
          <p:cNvPr id="5" name="02">
            <a:extLst xmlns:a="http://schemas.openxmlformats.org/drawingml/2006/main">
              <a:ext uri="{FF2B5EF4-FFF2-40B4-BE49-F238E27FC236}">
                <a16:creationId xmlns:a16="http://schemas.microsoft.com/office/drawing/2014/main" id="{34F50ACB-9FE3-4C33-A737-023602169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400425"/>
            <a:ext cx="685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625" b="1">
                <a:solidFill>
                  <a:srgbClr val="087C62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2625" b="1">
                <a:solidFill>
                  <a:srgbClr val="087C62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2625" b="1">
                <a:solidFill>
                  <a:srgbClr val="087C62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2625" b="1">
                <a:solidFill>
                  <a:srgbClr val="087C62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2625" b="1">
                <a:solidFill>
                  <a:srgbClr val="087C62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2625" b="1">
                <a:solidFill>
                  <a:srgbClr val="087C62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2625" b="1">
                <a:solidFill>
                  <a:srgbClr val="087C62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2625" b="1">
                <a:solidFill>
                  <a:srgbClr val="087C62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2625" b="1">
                <a:solidFill>
                  <a:srgbClr val="087C62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2625" b="1">
                <a:solidFill>
                  <a:srgbClr val="087C62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2625" b="1">
                <a:solidFill>
                  <a:srgbClr val="087C62"/>
                </a:solidFill>
                <a:latin typeface="Yu Gothic"/>
                <a:ea typeface="Yu Gothic"/>
                <a:cs typeface="Yu Gothic"/>
              </a:defRPr>
            </a:pPr>
            <a:r>
              <a:rPr sz="2625" b="1">
                <a:solidFill>
                  <a:srgbClr val="087C62"/>
                </a:solidFill>
                <a:latin typeface="Yu Gothic"/>
                <a:ea typeface="Yu Gothic"/>
                <a:cs typeface="Yu Gothic"/>
              </a:rPr>
              <a:t>02</a:t>
            </a:r>
          </a:p>
        </p:txBody>
      </p:sp>
      <p:sp>
        <p:nvSpPr>
          <p:cNvPr id="6" name="白抜き三角は親クラスへ向く。開いた矢印は参照方向を表す。">
            <a:extLst xmlns:a="http://schemas.openxmlformats.org/drawingml/2006/main">
              <a:ext uri="{FF2B5EF4-FFF2-40B4-BE49-F238E27FC236}">
                <a16:creationId xmlns:a16="http://schemas.microsoft.com/office/drawing/2014/main" id="{82189949-E21B-4DFC-B02E-2B4C37980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419475"/>
            <a:ext cx="9858375" cy="1171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232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232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232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232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232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232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232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232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232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232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pPr>
            <a:r>
              <a:rPr sz="2325" b="0">
                <a:solidFill>
                  <a:srgbClr val="172C40"/>
                </a:solidFill>
                <a:latin typeface="Yu Gothic"/>
                <a:ea typeface="Yu Gothic"/>
                <a:cs typeface="Yu Gothic"/>
              </a:rPr>
              <a:t>白抜き三角は親クラスへ向く。開いた矢印は参照方向を表す。</a:t>
            </a:r>
          </a:p>
        </p:txBody>
      </p:sp>
      <p:sp>
        <p:nvSpPr>
          <p:cNvPr id="7" name="03">
            <a:extLst xmlns:a="http://schemas.openxmlformats.org/drawingml/2006/main">
              <a:ext uri="{FF2B5EF4-FFF2-40B4-BE49-F238E27FC236}">
                <a16:creationId xmlns:a16="http://schemas.microsoft.com/office/drawing/2014/main" id="{CA66E0F8-971F-4CCB-BCB7-22A3F81EE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829175"/>
            <a:ext cx="685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625" b="1">
                <a:solidFill>
                  <a:srgbClr val="087C62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2625" b="1">
                <a:solidFill>
                  <a:srgbClr val="087C62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2625" b="1">
                <a:solidFill>
                  <a:srgbClr val="087C62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2625" b="1">
                <a:solidFill>
                  <a:srgbClr val="087C62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2625" b="1">
                <a:solidFill>
                  <a:srgbClr val="087C62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2625" b="1">
                <a:solidFill>
                  <a:srgbClr val="087C62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2625" b="1">
                <a:solidFill>
                  <a:srgbClr val="087C62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2625" b="1">
                <a:solidFill>
                  <a:srgbClr val="087C62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2625" b="1">
                <a:solidFill>
                  <a:srgbClr val="087C62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2625" b="1">
                <a:solidFill>
                  <a:srgbClr val="087C62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2625" b="1">
                <a:solidFill>
                  <a:srgbClr val="087C62"/>
                </a:solidFill>
                <a:latin typeface="Yu Gothic"/>
                <a:ea typeface="Yu Gothic"/>
                <a:cs typeface="Yu Gothic"/>
              </a:defRPr>
            </a:pPr>
            <a:r>
              <a:rPr sz="2625" b="1">
                <a:solidFill>
                  <a:srgbClr val="087C62"/>
                </a:solidFill>
                <a:latin typeface="Yu Gothic"/>
                <a:ea typeface="Yu Gothic"/>
                <a:cs typeface="Yu Gothic"/>
              </a:rPr>
              <a:t>03</a:t>
            </a:r>
          </a:p>
        </p:txBody>
      </p:sp>
      <p:sp>
        <p:nvSpPr>
          <p:cNvPr id="8" name="1 は一つ、0..* はゼロ個以上。実体は name : Class と書き、下線を引く。">
            <a:extLst xmlns:a="http://schemas.openxmlformats.org/drawingml/2006/main">
              <a:ext uri="{FF2B5EF4-FFF2-40B4-BE49-F238E27FC236}">
                <a16:creationId xmlns:a16="http://schemas.microsoft.com/office/drawing/2014/main" id="{BC32FC75-87D7-4953-8C8B-374CAF94A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848225"/>
            <a:ext cx="9858375" cy="1171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232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232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232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232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232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232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232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232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232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232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pPr>
            <a:r>
              <a:rPr sz="2325" b="0">
                <a:solidFill>
                  <a:srgbClr val="172C40"/>
                </a:solidFill>
                <a:latin typeface="Yu Gothic"/>
                <a:ea typeface="Yu Gothic"/>
                <a:cs typeface="Yu Gothic"/>
              </a:rPr>
              <a:t>1 は一つ、0..* はゼロ個以上。実体は name : Class と書き、下線を引く。</a:t>
            </a:r>
          </a:p>
        </p:txBody>
      </p:sp>
      <p:sp>
        <p:nvSpPr>
          <p:cNvPr id="9" name="08">
            <a:extLst xmlns:a="http://schemas.openxmlformats.org/drawingml/2006/main">
              <a:ext uri="{FF2B5EF4-FFF2-40B4-BE49-F238E27FC236}">
                <a16:creationId xmlns:a16="http://schemas.microsoft.com/office/drawing/2014/main" id="{46A35A53-E3CB-485C-AD0D-82872937B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505575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1200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1200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1200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1200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1200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1200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1200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1200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1200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1200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pPr>
            <a:r>
              <a:rPr sz="1200" b="0">
                <a:solidFill>
                  <a:srgbClr val="5B7082"/>
                </a:solidFill>
                <a:latin typeface="Yu Gothic"/>
                <a:ea typeface="Yu Gothic"/>
                <a:cs typeface="Yu Gothic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70827647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クラス図：三種類の Actor">
            <a:extLst xmlns:a="http://schemas.openxmlformats.org/drawingml/2006/main">
              <a:ext uri="{FF2B5EF4-FFF2-40B4-BE49-F238E27FC236}">
                <a16:creationId xmlns:a16="http://schemas.microsoft.com/office/drawing/2014/main" id="{A02F956C-E240-4616-879F-B41F51D1E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428625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3300" b="1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3300" b="1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3300" b="1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3300" b="1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3300" b="1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3300" b="1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3300" b="1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3300" b="1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3300" b="1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3300" b="1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pPr>
            <a:r>
              <a:rPr sz="3300" b="1">
                <a:solidFill>
                  <a:srgbClr val="172C40"/>
                </a:solidFill>
                <a:latin typeface="Yu Gothic"/>
                <a:ea typeface="Yu Gothic"/>
                <a:cs typeface="Yu Gothic"/>
              </a:rPr>
              <a:t>クラス図：三種類の Actor</a:t>
            </a:r>
          </a:p>
        </p:txBody>
      </p:sp>
      <p:sp>
        <p:nvSpPr>
          <p:cNvPr id="2" name="移動を共有し、それぞれの振る舞いを追加する">
            <a:extLst xmlns:a="http://schemas.openxmlformats.org/drawingml/2006/main">
              <a:ext uri="{FF2B5EF4-FFF2-40B4-BE49-F238E27FC236}">
                <a16:creationId xmlns:a16="http://schemas.microsoft.com/office/drawing/2014/main" id="{A90C6CBF-F2B6-4C33-BEEE-C5D1DDDDC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1181100"/>
            <a:ext cx="110013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1725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1725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1725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1725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1725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1725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1725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1725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1725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1725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5B7082"/>
                </a:solidFill>
                <a:latin typeface="Yu Gothic"/>
                <a:ea typeface="Yu Gothic"/>
                <a:cs typeface="Yu Gothic"/>
              </a:rPr>
              <a:t>移動を共有し、それぞれの振る舞いを追加する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6A42A2-1AA8-41BF-A55F-84A8B0AF5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1666875"/>
            <a:ext cx="2952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5B7082"/>
            </a:solidFill>
          </a:ln>
        </p:spPr>
      </p:sp>
      <p:sp>
        <p:nvSpPr>
          <p:cNvPr id="4" name="pygame.sprite.Sprite">
            <a:extLst xmlns:a="http://schemas.openxmlformats.org/drawingml/2006/main">
              <a:ext uri="{FF2B5EF4-FFF2-40B4-BE49-F238E27FC236}">
                <a16:creationId xmlns:a16="http://schemas.microsoft.com/office/drawing/2014/main" id="{94219CCE-B45D-40F2-BDFD-3A73B38C7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1752600"/>
            <a:ext cx="26479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1875" b="1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1875" b="1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1875" b="1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1875" b="1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1875" b="1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1875" b="1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1875" b="1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1875" b="1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1875" b="1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1875" b="1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pPr>
            <a:r>
              <a:rPr sz="1875" b="1">
                <a:solidFill>
                  <a:srgbClr val="5B7082"/>
                </a:solidFill>
                <a:latin typeface="Yu Gothic"/>
                <a:ea typeface="Yu Gothic"/>
                <a:cs typeface="Yu Gothic"/>
              </a:rPr>
              <a:t>pygame.sprite.Sprite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D67429-76FF-4D4E-AE10-A3770118E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2581275"/>
            <a:ext cx="428625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72C40"/>
            </a:solidFill>
          </a:ln>
        </p:spPr>
      </p:sp>
      <p:sp>
        <p:nvSpPr>
          <p:cNvPr id="6" name="Actor">
            <a:extLst xmlns:a="http://schemas.openxmlformats.org/drawingml/2006/main">
              <a:ext uri="{FF2B5EF4-FFF2-40B4-BE49-F238E27FC236}">
                <a16:creationId xmlns:a16="http://schemas.microsoft.com/office/drawing/2014/main" id="{B51810FD-6425-40A9-ADE7-6F38C0933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5275" y="2667000"/>
            <a:ext cx="39814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1875" b="1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1875" b="1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1875" b="1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1875" b="1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1875" b="1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1875" b="1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1875" b="1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1875" b="1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1875" b="1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1875" b="1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pPr>
            <a:r>
              <a:rPr sz="1875" b="1">
                <a:solidFill>
                  <a:srgbClr val="172C40"/>
                </a:solidFill>
                <a:latin typeface="Yu Gothic"/>
                <a:ea typeface="Yu Gothic"/>
                <a:cs typeface="Yu Gothic"/>
              </a:rPr>
              <a:t>Actor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25A31E-344D-48B7-AC45-63C602DE6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952875" y="3038475"/>
            <a:ext cx="4286250" cy="0"/>
          </a:xfrm>
          <a:prstGeom xmlns:a="http://schemas.openxmlformats.org/drawingml/2006/main" prst="line">
            <a:avLst/>
          </a:prstGeom>
          <a:ln xmlns:a="http://schemas.openxmlformats.org/drawingml/2006/main" w="15240">
            <a:solidFill>
              <a:srgbClr val="172C40"/>
            </a:solidFill>
          </a:ln>
        </p:spPr>
      </p:sp>
      <p:sp>
        <p:nvSpPr>
          <p:cNvPr id="8" name="name, pos, velocity, image, rect">
            <a:extLst xmlns:a="http://schemas.openxmlformats.org/drawingml/2006/main">
              <a:ext uri="{FF2B5EF4-FFF2-40B4-BE49-F238E27FC236}">
                <a16:creationId xmlns:a16="http://schemas.microsoft.com/office/drawing/2014/main" id="{C4747123-33CD-447D-9F73-CE9DF849E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5275" y="3133725"/>
            <a:ext cx="4000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157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157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157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157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157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157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157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157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157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157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pPr>
            <a:r>
              <a:rPr sz="1575" b="0">
                <a:solidFill>
                  <a:srgbClr val="172C40"/>
                </a:solidFill>
                <a:latin typeface="Yu Gothic"/>
                <a:ea typeface="Yu Gothic"/>
                <a:cs typeface="Yu Gothic"/>
              </a:rPr>
              <a:t>name, pos, velocity, image, rect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9115AD5-EDC0-4186-81E4-BD2E5F895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952875" y="3409950"/>
            <a:ext cx="4286250" cy="0"/>
          </a:xfrm>
          <a:prstGeom xmlns:a="http://schemas.openxmlformats.org/drawingml/2006/main" prst="line">
            <a:avLst/>
          </a:prstGeom>
          <a:ln xmlns:a="http://schemas.openxmlformats.org/drawingml/2006/main" w="15240">
            <a:solidFill>
              <a:srgbClr val="172C40"/>
            </a:solidFill>
          </a:ln>
        </p:spPr>
      </p:sp>
      <p:sp>
        <p:nvSpPr>
          <p:cNvPr id="10" name="update(dt)">
            <a:extLst xmlns:a="http://schemas.openxmlformats.org/drawingml/2006/main">
              <a:ext uri="{FF2B5EF4-FFF2-40B4-BE49-F238E27FC236}">
                <a16:creationId xmlns:a16="http://schemas.microsoft.com/office/drawing/2014/main" id="{1877EC08-6054-4540-9D1A-6504F4A56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5275" y="3495675"/>
            <a:ext cx="4000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157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157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157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157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157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157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157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157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157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157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pPr>
            <a:r>
              <a:rPr sz="1575" b="0">
                <a:solidFill>
                  <a:srgbClr val="172C40"/>
                </a:solidFill>
                <a:latin typeface="Yu Gothic"/>
                <a:ea typeface="Yu Gothic"/>
                <a:cs typeface="Yu Gothic"/>
              </a:rPr>
              <a:t>update(dt)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11E22C9-7316-4A48-98F4-6DAC0FB42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524375"/>
            <a:ext cx="3381375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87C62"/>
            </a:solidFill>
          </a:ln>
        </p:spPr>
      </p:sp>
      <p:sp>
        <p:nvSpPr>
          <p:cNvPr id="12" name="Player">
            <a:extLst xmlns:a="http://schemas.openxmlformats.org/drawingml/2006/main">
              <a:ext uri="{FF2B5EF4-FFF2-40B4-BE49-F238E27FC236}">
                <a16:creationId xmlns:a16="http://schemas.microsoft.com/office/drawing/2014/main" id="{5C299CA7-0C7D-4C0C-BAE7-B20D76C84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10100"/>
            <a:ext cx="30765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087C62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1875" b="1">
                <a:solidFill>
                  <a:srgbClr val="087C62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1875" b="1">
                <a:solidFill>
                  <a:srgbClr val="087C62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1875" b="1">
                <a:solidFill>
                  <a:srgbClr val="087C62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1875" b="1">
                <a:solidFill>
                  <a:srgbClr val="087C62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1875" b="1">
                <a:solidFill>
                  <a:srgbClr val="087C62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1875" b="1">
                <a:solidFill>
                  <a:srgbClr val="087C62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1875" b="1">
                <a:solidFill>
                  <a:srgbClr val="087C62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1875" b="1">
                <a:solidFill>
                  <a:srgbClr val="087C62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1875" b="1">
                <a:solidFill>
                  <a:srgbClr val="087C62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1875" b="1">
                <a:solidFill>
                  <a:srgbClr val="087C62"/>
                </a:solidFill>
                <a:latin typeface="Yu Gothic"/>
                <a:ea typeface="Yu Gothic"/>
                <a:cs typeface="Yu Gothic"/>
              </a:defRPr>
            </a:pPr>
            <a:r>
              <a:rPr sz="1875" b="1">
                <a:solidFill>
                  <a:srgbClr val="087C62"/>
                </a:solidFill>
                <a:latin typeface="Yu Gothic"/>
                <a:ea typeface="Yu Gothic"/>
                <a:cs typeface="Yu Gothic"/>
              </a:rPr>
              <a:t>Player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DBE5EB5-4985-4954-8812-ECEAB964E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71500" y="4981575"/>
            <a:ext cx="3381375" cy="0"/>
          </a:xfrm>
          <a:prstGeom xmlns:a="http://schemas.openxmlformats.org/drawingml/2006/main" prst="line">
            <a:avLst/>
          </a:prstGeom>
          <a:ln xmlns:a="http://schemas.openxmlformats.org/drawingml/2006/main" w="15240">
            <a:solidFill>
              <a:srgbClr val="087C62"/>
            </a:solidFill>
          </a:ln>
        </p:spPr>
      </p:sp>
      <p:sp>
        <p:nvSpPr>
          <p:cNvPr id="14" name="hp, cooldown, invulnerable">
            <a:extLst xmlns:a="http://schemas.openxmlformats.org/drawingml/2006/main">
              <a:ext uri="{FF2B5EF4-FFF2-40B4-BE49-F238E27FC236}">
                <a16:creationId xmlns:a16="http://schemas.microsoft.com/office/drawing/2014/main" id="{A1F55039-5CB9-41FB-A83A-F305EEC68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076825"/>
            <a:ext cx="30956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157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157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157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157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157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157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157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157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157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157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pPr>
            <a:r>
              <a:rPr sz="1575" b="0">
                <a:solidFill>
                  <a:srgbClr val="172C40"/>
                </a:solidFill>
                <a:latin typeface="Yu Gothic"/>
                <a:ea typeface="Yu Gothic"/>
                <a:cs typeface="Yu Gothic"/>
              </a:rPr>
              <a:t>hp, cooldown, invulnerable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CC0C518-4651-435C-B2FB-3EF213883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71500" y="5353050"/>
            <a:ext cx="3381375" cy="0"/>
          </a:xfrm>
          <a:prstGeom xmlns:a="http://schemas.openxmlformats.org/drawingml/2006/main" prst="line">
            <a:avLst/>
          </a:prstGeom>
          <a:ln xmlns:a="http://schemas.openxmlformats.org/drawingml/2006/main" w="15240">
            <a:solidFill>
              <a:srgbClr val="087C62"/>
            </a:solidFill>
          </a:ln>
        </p:spPr>
      </p:sp>
      <p:sp>
        <p:nvSpPr>
          <p:cNvPr id="16" name="shoot(name), take_damage() set_direction(x, y), update(dt)">
            <a:extLst xmlns:a="http://schemas.openxmlformats.org/drawingml/2006/main">
              <a:ext uri="{FF2B5EF4-FFF2-40B4-BE49-F238E27FC236}">
                <a16:creationId xmlns:a16="http://schemas.microsoft.com/office/drawing/2014/main" id="{8394716E-6C7F-4FC3-9CC9-3387C8755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38775"/>
            <a:ext cx="3095625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157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157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157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157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157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157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157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157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157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157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pPr>
            <a:r>
              <a:rPr sz="1575" b="0">
                <a:solidFill>
                  <a:srgbClr val="172C40"/>
                </a:solidFill>
                <a:latin typeface="Yu Gothic"/>
                <a:ea typeface="Yu Gothic"/>
                <a:cs typeface="Yu Gothic"/>
              </a:rPr>
              <a:t>shoot(name), take_damage()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pPr>
            <a:r>
              <a:rPr sz="1575" b="0">
                <a:solidFill>
                  <a:srgbClr val="172C40"/>
                </a:solidFill>
                <a:latin typeface="Yu Gothic"/>
                <a:ea typeface="Yu Gothic"/>
                <a:cs typeface="Yu Gothic"/>
              </a:rPr>
              <a:t>set_direction(x, y), update(dt)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E46EE7C-84BB-4D41-B329-051EAF72A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524375"/>
            <a:ext cx="3381375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F4A44"/>
            </a:solidFill>
          </a:ln>
        </p:spPr>
      </p:sp>
      <p:sp>
        <p:nvSpPr>
          <p:cNvPr id="18" name="Enemy">
            <a:extLst xmlns:a="http://schemas.openxmlformats.org/drawingml/2006/main">
              <a:ext uri="{FF2B5EF4-FFF2-40B4-BE49-F238E27FC236}">
                <a16:creationId xmlns:a16="http://schemas.microsoft.com/office/drawing/2014/main" id="{6AA7539A-B6F9-4AF7-B719-986C575F1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610100"/>
            <a:ext cx="30765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BF4A44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1875" b="1">
                <a:solidFill>
                  <a:srgbClr val="BF4A44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1875" b="1">
                <a:solidFill>
                  <a:srgbClr val="BF4A44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1875" b="1">
                <a:solidFill>
                  <a:srgbClr val="BF4A44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1875" b="1">
                <a:solidFill>
                  <a:srgbClr val="BF4A44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1875" b="1">
                <a:solidFill>
                  <a:srgbClr val="BF4A44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1875" b="1">
                <a:solidFill>
                  <a:srgbClr val="BF4A44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1875" b="1">
                <a:solidFill>
                  <a:srgbClr val="BF4A44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1875" b="1">
                <a:solidFill>
                  <a:srgbClr val="BF4A44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1875" b="1">
                <a:solidFill>
                  <a:srgbClr val="BF4A44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1875" b="1">
                <a:solidFill>
                  <a:srgbClr val="BF4A44"/>
                </a:solidFill>
                <a:latin typeface="Yu Gothic"/>
                <a:ea typeface="Yu Gothic"/>
                <a:cs typeface="Yu Gothic"/>
              </a:defRPr>
            </a:pPr>
            <a:r>
              <a:rPr sz="1875" b="1">
                <a:solidFill>
                  <a:srgbClr val="BF4A44"/>
                </a:solidFill>
                <a:latin typeface="Yu Gothic"/>
                <a:ea typeface="Yu Gothic"/>
                <a:cs typeface="Yu Gothic"/>
              </a:rPr>
              <a:t>Enemy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64DAF89-843C-4798-B294-BC2D80242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400550" y="4981575"/>
            <a:ext cx="3381375" cy="0"/>
          </a:xfrm>
          <a:prstGeom xmlns:a="http://schemas.openxmlformats.org/drawingml/2006/main" prst="line">
            <a:avLst/>
          </a:prstGeom>
          <a:ln xmlns:a="http://schemas.openxmlformats.org/drawingml/2006/main" w="15240">
            <a:solidFill>
              <a:srgbClr val="BF4A44"/>
            </a:solidFill>
          </a:ln>
        </p:spPr>
      </p:sp>
      <p:sp>
        <p:nvSpPr>
          <p:cNvPr id="20" name="hp, max_hp">
            <a:extLst xmlns:a="http://schemas.openxmlformats.org/drawingml/2006/main">
              <a:ext uri="{FF2B5EF4-FFF2-40B4-BE49-F238E27FC236}">
                <a16:creationId xmlns:a16="http://schemas.microsoft.com/office/drawing/2014/main" id="{64D435D1-A3F7-4F39-8F05-72CF71614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5076825"/>
            <a:ext cx="30956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157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157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157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157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157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157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157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157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157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157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pPr>
            <a:r>
              <a:rPr sz="1575" b="0">
                <a:solidFill>
                  <a:srgbClr val="172C40"/>
                </a:solidFill>
                <a:latin typeface="Yu Gothic"/>
                <a:ea typeface="Yu Gothic"/>
                <a:cs typeface="Yu Gothic"/>
              </a:rPr>
              <a:t>hp, max_hp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233ABB6-15B6-4E49-97B3-A1B18D1C3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400550" y="5353050"/>
            <a:ext cx="3381375" cy="0"/>
          </a:xfrm>
          <a:prstGeom xmlns:a="http://schemas.openxmlformats.org/drawingml/2006/main" prst="line">
            <a:avLst/>
          </a:prstGeom>
          <a:ln xmlns:a="http://schemas.openxmlformats.org/drawingml/2006/main" w="15240">
            <a:solidFill>
              <a:srgbClr val="BF4A44"/>
            </a:solidFill>
          </a:ln>
        </p:spPr>
      </p:sp>
      <p:sp>
        <p:nvSpPr>
          <p:cNvPr id="22" name="take_hit(damage)">
            <a:extLst xmlns:a="http://schemas.openxmlformats.org/drawingml/2006/main">
              <a:ext uri="{FF2B5EF4-FFF2-40B4-BE49-F238E27FC236}">
                <a16:creationId xmlns:a16="http://schemas.microsoft.com/office/drawing/2014/main" id="{A98E3D32-D616-4DCF-A2CB-16905C72B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5438775"/>
            <a:ext cx="3095625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157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157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157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157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157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157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157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157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157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157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pPr>
            <a:r>
              <a:rPr sz="1575" b="0">
                <a:solidFill>
                  <a:srgbClr val="172C40"/>
                </a:solidFill>
                <a:latin typeface="Yu Gothic"/>
                <a:ea typeface="Yu Gothic"/>
                <a:cs typeface="Yu Gothic"/>
              </a:rPr>
              <a:t>take_hit(damage)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925EF03-286A-4F3D-B1BD-57896449C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524375"/>
            <a:ext cx="3381375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A66D08"/>
            </a:solidFill>
          </a:ln>
        </p:spPr>
      </p:sp>
      <p:sp>
        <p:nvSpPr>
          <p:cNvPr id="24" name="Bullet">
            <a:extLst xmlns:a="http://schemas.openxmlformats.org/drawingml/2006/main">
              <a:ext uri="{FF2B5EF4-FFF2-40B4-BE49-F238E27FC236}">
                <a16:creationId xmlns:a16="http://schemas.microsoft.com/office/drawing/2014/main" id="{74DF5972-36E9-446B-80F3-172BE4215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610100"/>
            <a:ext cx="30765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A66D08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1875" b="1">
                <a:solidFill>
                  <a:srgbClr val="A66D08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1875" b="1">
                <a:solidFill>
                  <a:srgbClr val="A66D08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1875" b="1">
                <a:solidFill>
                  <a:srgbClr val="A66D08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1875" b="1">
                <a:solidFill>
                  <a:srgbClr val="A66D08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1875" b="1">
                <a:solidFill>
                  <a:srgbClr val="A66D08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1875" b="1">
                <a:solidFill>
                  <a:srgbClr val="A66D08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1875" b="1">
                <a:solidFill>
                  <a:srgbClr val="A66D08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1875" b="1">
                <a:solidFill>
                  <a:srgbClr val="A66D08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1875" b="1">
                <a:solidFill>
                  <a:srgbClr val="A66D08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1875" b="1">
                <a:solidFill>
                  <a:srgbClr val="A66D08"/>
                </a:solidFill>
                <a:latin typeface="Yu Gothic"/>
                <a:ea typeface="Yu Gothic"/>
                <a:cs typeface="Yu Gothic"/>
              </a:defRPr>
            </a:pPr>
            <a:r>
              <a:rPr sz="1875" b="1">
                <a:solidFill>
                  <a:srgbClr val="A66D08"/>
                </a:solidFill>
                <a:latin typeface="Yu Gothic"/>
                <a:ea typeface="Yu Gothic"/>
                <a:cs typeface="Yu Gothic"/>
              </a:rPr>
              <a:t>Bullet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405F0A2-5E8A-4705-9513-647264F8E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229600" y="4981575"/>
            <a:ext cx="3381375" cy="0"/>
          </a:xfrm>
          <a:prstGeom xmlns:a="http://schemas.openxmlformats.org/drawingml/2006/main" prst="line">
            <a:avLst/>
          </a:prstGeom>
          <a:ln xmlns:a="http://schemas.openxmlformats.org/drawingml/2006/main" w="15240">
            <a:solidFill>
              <a:srgbClr val="A66D08"/>
            </a:solidFill>
          </a:ln>
        </p:spPr>
      </p:sp>
      <p:sp>
        <p:nvSpPr>
          <p:cNvPr id="26" name="owner, damage">
            <a:extLst xmlns:a="http://schemas.openxmlformats.org/drawingml/2006/main">
              <a:ext uri="{FF2B5EF4-FFF2-40B4-BE49-F238E27FC236}">
                <a16:creationId xmlns:a16="http://schemas.microsoft.com/office/drawing/2014/main" id="{EFFA0B8A-800E-4072-A149-79FD426DE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5076825"/>
            <a:ext cx="30956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157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157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157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157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157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157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157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157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157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157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pPr>
            <a:r>
              <a:rPr sz="1575" b="0">
                <a:solidFill>
                  <a:srgbClr val="172C40"/>
                </a:solidFill>
                <a:latin typeface="Yu Gothic"/>
                <a:ea typeface="Yu Gothic"/>
                <a:cs typeface="Yu Gothic"/>
              </a:rPr>
              <a:t>owner, damage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2F5157B-6087-4538-8C1F-E04F0B0DA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229600" y="5353050"/>
            <a:ext cx="3381375" cy="0"/>
          </a:xfrm>
          <a:prstGeom xmlns:a="http://schemas.openxmlformats.org/drawingml/2006/main" prst="line">
            <a:avLst/>
          </a:prstGeom>
          <a:ln xmlns:a="http://schemas.openxmlformats.org/drawingml/2006/main" w="15240">
            <a:solidFill>
              <a:srgbClr val="A66D08"/>
            </a:solidFill>
          </a:ln>
        </p:spPr>
      </p:sp>
      <p:sp>
        <p:nvSpPr>
          <p:cNvPr id="28" name="update(dt)">
            <a:extLst xmlns:a="http://schemas.openxmlformats.org/drawingml/2006/main">
              <a:ext uri="{FF2B5EF4-FFF2-40B4-BE49-F238E27FC236}">
                <a16:creationId xmlns:a16="http://schemas.microsoft.com/office/drawing/2014/main" id="{BCA58BCC-AD37-4308-8CA6-5FBD5C783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5438775"/>
            <a:ext cx="3095625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157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157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157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157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157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157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157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157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157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157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pPr>
            <a:r>
              <a:rPr sz="1575" b="0">
                <a:solidFill>
                  <a:srgbClr val="172C40"/>
                </a:solidFill>
                <a:latin typeface="Yu Gothic"/>
                <a:ea typeface="Yu Gothic"/>
                <a:cs typeface="Yu Gothic"/>
              </a:rPr>
              <a:t>update(dt)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CDED6EC-0B03-4E93-B14D-B54E15383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171700"/>
            <a:ext cx="15240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F5F7FA"/>
          </a:solidFill>
          <a:ln xmlns:a="http://schemas.openxmlformats.org/drawingml/2006/main" w="15240">
            <a:solidFill>
              <a:srgbClr val="172C40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2C2D31D-7E6C-4043-ACB2-F6436C2DA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096000" y="2305050"/>
            <a:ext cx="0" cy="276225"/>
          </a:xfrm>
          <a:prstGeom xmlns:a="http://schemas.openxmlformats.org/drawingml/2006/main" prst="line">
            <a:avLst/>
          </a:prstGeom>
          <a:ln xmlns:a="http://schemas.openxmlformats.org/drawingml/2006/main" w="15240">
            <a:solidFill>
              <a:srgbClr val="172C40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CC6C45B-3422-4B0B-832F-0DA62164E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924300"/>
            <a:ext cx="15240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F5F7FA"/>
          </a:solidFill>
          <a:ln xmlns:a="http://schemas.openxmlformats.org/drawingml/2006/main" w="15240">
            <a:solidFill>
              <a:srgbClr val="172C40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3ECA977-53C0-4132-8DAD-5D7E46B4A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096000" y="4057650"/>
            <a:ext cx="0" cy="219075"/>
          </a:xfrm>
          <a:prstGeom xmlns:a="http://schemas.openxmlformats.org/drawingml/2006/main" prst="line">
            <a:avLst/>
          </a:prstGeom>
          <a:ln xmlns:a="http://schemas.openxmlformats.org/drawingml/2006/main" w="15240">
            <a:solidFill>
              <a:srgbClr val="172C40"/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F7D853F-49DC-4CE9-9D95-271C33F85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262188" y="4276725"/>
            <a:ext cx="7658100" cy="0"/>
          </a:xfrm>
          <a:prstGeom xmlns:a="http://schemas.openxmlformats.org/drawingml/2006/main" prst="line">
            <a:avLst/>
          </a:prstGeom>
          <a:ln xmlns:a="http://schemas.openxmlformats.org/drawingml/2006/main" w="15240">
            <a:solidFill>
              <a:srgbClr val="172C40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60EC95A-ED4C-43EC-B373-61B4A1238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262188" y="4276725"/>
            <a:ext cx="0" cy="247650"/>
          </a:xfrm>
          <a:prstGeom xmlns:a="http://schemas.openxmlformats.org/drawingml/2006/main" prst="line">
            <a:avLst/>
          </a:prstGeom>
          <a:ln xmlns:a="http://schemas.openxmlformats.org/drawingml/2006/main" w="15240">
            <a:solidFill>
              <a:srgbClr val="172C40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5B96098-1CF1-48C7-9047-B103D7674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091238" y="4276725"/>
            <a:ext cx="0" cy="247650"/>
          </a:xfrm>
          <a:prstGeom xmlns:a="http://schemas.openxmlformats.org/drawingml/2006/main" prst="line">
            <a:avLst/>
          </a:prstGeom>
          <a:ln xmlns:a="http://schemas.openxmlformats.org/drawingml/2006/main" w="15240">
            <a:solidFill>
              <a:srgbClr val="172C40"/>
            </a:solidFill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964D1A8-BB97-4028-BB12-08C12F67B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920288" y="4276725"/>
            <a:ext cx="0" cy="247650"/>
          </a:xfrm>
          <a:prstGeom xmlns:a="http://schemas.openxmlformats.org/drawingml/2006/main" prst="line">
            <a:avLst/>
          </a:prstGeom>
          <a:ln xmlns:a="http://schemas.openxmlformats.org/drawingml/2006/main" w="15240">
            <a:solidFill>
              <a:srgbClr val="172C40"/>
            </a:solidFill>
          </a:ln>
        </p:spPr>
      </p:sp>
      <p:sp>
        <p:nvSpPr>
          <p:cNvPr id="37" name="白抜き三角は親クラスへ向く。描画の一部は省略。">
            <a:extLst xmlns:a="http://schemas.openxmlformats.org/drawingml/2006/main">
              <a:ext uri="{FF2B5EF4-FFF2-40B4-BE49-F238E27FC236}">
                <a16:creationId xmlns:a16="http://schemas.microsoft.com/office/drawing/2014/main" id="{6AFE3E7F-2531-4F41-900B-0274E645C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191250"/>
            <a:ext cx="1100137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1500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1500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1500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1500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1500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1500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1500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1500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1500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1500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pPr>
            <a:r>
              <a:rPr sz="1500" b="0">
                <a:solidFill>
                  <a:srgbClr val="5B7082"/>
                </a:solidFill>
                <a:latin typeface="Yu Gothic"/>
                <a:ea typeface="Yu Gothic"/>
                <a:cs typeface="Yu Gothic"/>
              </a:rPr>
              <a:t>白抜き三角は親クラスへ向く。描画の一部は省略。</a:t>
            </a:r>
          </a:p>
        </p:txBody>
      </p:sp>
      <p:sp>
        <p:nvSpPr>
          <p:cNvPr id="38" name="09">
            <a:extLst xmlns:a="http://schemas.openxmlformats.org/drawingml/2006/main">
              <a:ext uri="{FF2B5EF4-FFF2-40B4-BE49-F238E27FC236}">
                <a16:creationId xmlns:a16="http://schemas.microsoft.com/office/drawing/2014/main" id="{ECE67663-2BA5-4763-A188-85772622E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505575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1200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1200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1200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1200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1200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1200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1200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1200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1200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1200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pPr>
            <a:r>
              <a:rPr sz="1200" b="0">
                <a:solidFill>
                  <a:srgbClr val="5B7082"/>
                </a:solidFill>
                <a:latin typeface="Yu Gothic"/>
                <a:ea typeface="Yu Gothic"/>
                <a:cs typeface="Yu Gothic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94793592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2" name="クラス間の関係：管理・参照・生成">
            <a:extLst xmlns:a="http://schemas.openxmlformats.org/drawingml/2006/main">
              <a:ext uri="{FF2B5EF4-FFF2-40B4-BE49-F238E27FC236}">
                <a16:creationId xmlns:a16="http://schemas.microsoft.com/office/drawing/2014/main" id="{446524D2-EF85-48E1-8BC1-07B2C4FCE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428625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3300" b="1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3300" b="1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3300" b="1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3300" b="1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3300" b="1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3300" b="1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3300" b="1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3300" b="1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3300" b="1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3300" b="1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pPr>
            <a:r>
              <a:rPr sz="3300" b="1">
                <a:solidFill>
                  <a:srgbClr val="172C40"/>
                </a:solidFill>
                <a:latin typeface="Yu Gothic"/>
                <a:ea typeface="Yu Gothic"/>
                <a:cs typeface="Yu Gothic"/>
              </a:rPr>
              <a:t>クラス間の関係：管理・参照・生成</a:t>
            </a:r>
          </a:p>
        </p:txBody>
      </p:sp>
      <p:sp>
        <p:nvSpPr>
          <p:cNvPr id="2" name="Bullet.owner は参照。Game はグループを通して役者を管理する">
            <a:extLst xmlns:a="http://schemas.openxmlformats.org/drawingml/2006/main">
              <a:ext uri="{FF2B5EF4-FFF2-40B4-BE49-F238E27FC236}">
                <a16:creationId xmlns:a16="http://schemas.microsoft.com/office/drawing/2014/main" id="{3C363ACE-A5FA-4367-9BB6-8E60EDA27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1181100"/>
            <a:ext cx="110013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1725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1725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1725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1725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1725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1725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1725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1725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1725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1725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5B7082"/>
                </a:solidFill>
                <a:latin typeface="Yu Gothic"/>
                <a:ea typeface="Yu Gothic"/>
                <a:cs typeface="Yu Gothic"/>
              </a:rPr>
              <a:t>Bullet.owner は参照。Game はグループを通して役者を管理する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354413-B525-44EA-AA8D-45DA740AB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000375"/>
            <a:ext cx="2524125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72C40"/>
            </a:solidFill>
          </a:ln>
        </p:spPr>
      </p:sp>
      <p:sp>
        <p:nvSpPr>
          <p:cNvPr id="4" name="Game">
            <a:extLst xmlns:a="http://schemas.openxmlformats.org/drawingml/2006/main">
              <a:ext uri="{FF2B5EF4-FFF2-40B4-BE49-F238E27FC236}">
                <a16:creationId xmlns:a16="http://schemas.microsoft.com/office/drawing/2014/main" id="{3F006E9F-52D5-4BED-A63F-6E6381F53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86100"/>
            <a:ext cx="22193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1875" b="1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1875" b="1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1875" b="1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1875" b="1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1875" b="1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1875" b="1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1875" b="1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1875" b="1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1875" b="1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1875" b="1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pPr>
            <a:r>
              <a:rPr sz="1875" b="1">
                <a:solidFill>
                  <a:srgbClr val="172C40"/>
                </a:solidFill>
                <a:latin typeface="Yu Gothic"/>
                <a:ea typeface="Yu Gothic"/>
                <a:cs typeface="Yu Gothic"/>
              </a:rPr>
              <a:t>Game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A363BE-7ECF-49F8-8D15-5C3C65B94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71500" y="3457575"/>
            <a:ext cx="2524125" cy="0"/>
          </a:xfrm>
          <a:prstGeom xmlns:a="http://schemas.openxmlformats.org/drawingml/2006/main" prst="line">
            <a:avLst/>
          </a:prstGeom>
          <a:ln xmlns:a="http://schemas.openxmlformats.org/drawingml/2006/main" w="15240">
            <a:solidFill>
              <a:srgbClr val="172C40"/>
            </a:solidFill>
          </a:ln>
        </p:spPr>
      </p:sp>
      <p:sp>
        <p:nvSpPr>
          <p:cNvPr id="6" name="player, score, state all_sprites enemies, bullets">
            <a:extLst xmlns:a="http://schemas.openxmlformats.org/drawingml/2006/main">
              <a:ext uri="{FF2B5EF4-FFF2-40B4-BE49-F238E27FC236}">
                <a16:creationId xmlns:a16="http://schemas.microsoft.com/office/drawing/2014/main" id="{C96EB2DE-2CDF-45D4-8044-1EBF84CEB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52825"/>
            <a:ext cx="2238375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157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157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157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157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157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157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157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157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157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157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pPr>
            <a:r>
              <a:rPr sz="1575" b="0">
                <a:solidFill>
                  <a:srgbClr val="172C40"/>
                </a:solidFill>
                <a:latin typeface="Yu Gothic"/>
                <a:ea typeface="Yu Gothic"/>
                <a:cs typeface="Yu Gothic"/>
              </a:rPr>
              <a:t>player, score, state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pPr>
            <a:r>
              <a:rPr sz="1575" b="0">
                <a:solidFill>
                  <a:srgbClr val="172C40"/>
                </a:solidFill>
                <a:latin typeface="Yu Gothic"/>
                <a:ea typeface="Yu Gothic"/>
                <a:cs typeface="Yu Gothic"/>
              </a:rPr>
              <a:t>all_sprites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pPr>
            <a:r>
              <a:rPr sz="1575" b="0">
                <a:solidFill>
                  <a:srgbClr val="172C40"/>
                </a:solidFill>
                <a:latin typeface="Yu Gothic"/>
                <a:ea typeface="Yu Gothic"/>
                <a:cs typeface="Yu Gothic"/>
              </a:rPr>
              <a:t>enemies, bullets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E8FBD9-5196-4972-ABF4-ACC2D53BF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71500" y="4362450"/>
            <a:ext cx="2524125" cy="0"/>
          </a:xfrm>
          <a:prstGeom xmlns:a="http://schemas.openxmlformats.org/drawingml/2006/main" prst="line">
            <a:avLst/>
          </a:prstGeom>
          <a:ln xmlns:a="http://schemas.openxmlformats.org/drawingml/2006/main" w="15240">
            <a:solidFill>
              <a:srgbClr val="172C40"/>
            </a:solidFill>
          </a:ln>
        </p:spPr>
      </p:sp>
      <p:sp>
        <p:nvSpPr>
          <p:cNvPr id="8" name="update(dt)">
            <a:extLst xmlns:a="http://schemas.openxmlformats.org/drawingml/2006/main">
              <a:ext uri="{FF2B5EF4-FFF2-40B4-BE49-F238E27FC236}">
                <a16:creationId xmlns:a16="http://schemas.microsoft.com/office/drawing/2014/main" id="{E5327908-F94F-4D70-AD33-48E93A2A2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48175"/>
            <a:ext cx="223837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157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157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157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157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157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157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157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157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157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157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pPr>
            <a:r>
              <a:rPr sz="1575" b="0">
                <a:solidFill>
                  <a:srgbClr val="172C40"/>
                </a:solidFill>
                <a:latin typeface="Yu Gothic"/>
                <a:ea typeface="Yu Gothic"/>
                <a:cs typeface="Yu Gothic"/>
              </a:rPr>
              <a:t>update(dt)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B68CB93-D06D-4691-A2E5-0098C6443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1666875"/>
            <a:ext cx="261937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87C62"/>
            </a:solidFill>
          </a:ln>
        </p:spPr>
      </p:sp>
      <p:sp>
        <p:nvSpPr>
          <p:cNvPr id="10" name="Player">
            <a:extLst xmlns:a="http://schemas.openxmlformats.org/drawingml/2006/main">
              <a:ext uri="{FF2B5EF4-FFF2-40B4-BE49-F238E27FC236}">
                <a16:creationId xmlns:a16="http://schemas.microsoft.com/office/drawing/2014/main" id="{BC5E8084-3448-4C92-93AC-BA5C40C5A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7275" y="1752600"/>
            <a:ext cx="23145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087C62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1875" b="1">
                <a:solidFill>
                  <a:srgbClr val="087C62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1875" b="1">
                <a:solidFill>
                  <a:srgbClr val="087C62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1875" b="1">
                <a:solidFill>
                  <a:srgbClr val="087C62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1875" b="1">
                <a:solidFill>
                  <a:srgbClr val="087C62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1875" b="1">
                <a:solidFill>
                  <a:srgbClr val="087C62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1875" b="1">
                <a:solidFill>
                  <a:srgbClr val="087C62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1875" b="1">
                <a:solidFill>
                  <a:srgbClr val="087C62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1875" b="1">
                <a:solidFill>
                  <a:srgbClr val="087C62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1875" b="1">
                <a:solidFill>
                  <a:srgbClr val="087C62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1875" b="1">
                <a:solidFill>
                  <a:srgbClr val="087C62"/>
                </a:solidFill>
                <a:latin typeface="Yu Gothic"/>
                <a:ea typeface="Yu Gothic"/>
                <a:cs typeface="Yu Gothic"/>
              </a:defRPr>
            </a:pPr>
            <a:r>
              <a:rPr sz="1875" b="1">
                <a:solidFill>
                  <a:srgbClr val="087C62"/>
                </a:solidFill>
                <a:latin typeface="Yu Gothic"/>
                <a:ea typeface="Yu Gothic"/>
                <a:cs typeface="Yu Gothic"/>
              </a:rPr>
              <a:t>Player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C28C4B0-55DF-4E61-9C23-FB7408159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714875" y="2124075"/>
            <a:ext cx="2619375" cy="0"/>
          </a:xfrm>
          <a:prstGeom xmlns:a="http://schemas.openxmlformats.org/drawingml/2006/main" prst="line">
            <a:avLst/>
          </a:prstGeom>
          <a:ln xmlns:a="http://schemas.openxmlformats.org/drawingml/2006/main" w="15240">
            <a:solidFill>
              <a:srgbClr val="087C62"/>
            </a:solidFill>
          </a:ln>
        </p:spPr>
      </p:sp>
      <p:sp>
        <p:nvSpPr>
          <p:cNvPr id="12" name="hp, cooldown">
            <a:extLst xmlns:a="http://schemas.openxmlformats.org/drawingml/2006/main">
              <a:ext uri="{FF2B5EF4-FFF2-40B4-BE49-F238E27FC236}">
                <a16:creationId xmlns:a16="http://schemas.microsoft.com/office/drawing/2014/main" id="{7768E221-FD6A-4EC4-BC20-DCDD91868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7275" y="2219325"/>
            <a:ext cx="23336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157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157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157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157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157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157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157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157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157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157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pPr>
            <a:r>
              <a:rPr sz="1575" b="0">
                <a:solidFill>
                  <a:srgbClr val="172C40"/>
                </a:solidFill>
                <a:latin typeface="Yu Gothic"/>
                <a:ea typeface="Yu Gothic"/>
                <a:cs typeface="Yu Gothic"/>
              </a:rPr>
              <a:t>hp, cooldown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75B210E-58A0-4A7A-B4C5-F7CD72269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714875" y="2495550"/>
            <a:ext cx="2619375" cy="0"/>
          </a:xfrm>
          <a:prstGeom xmlns:a="http://schemas.openxmlformats.org/drawingml/2006/main" prst="line">
            <a:avLst/>
          </a:prstGeom>
          <a:ln xmlns:a="http://schemas.openxmlformats.org/drawingml/2006/main" w="15240">
            <a:solidFill>
              <a:srgbClr val="087C62"/>
            </a:solidFill>
          </a:ln>
        </p:spPr>
      </p:sp>
      <p:sp>
        <p:nvSpPr>
          <p:cNvPr id="14" name="shoot(name)">
            <a:extLst xmlns:a="http://schemas.openxmlformats.org/drawingml/2006/main">
              <a:ext uri="{FF2B5EF4-FFF2-40B4-BE49-F238E27FC236}">
                <a16:creationId xmlns:a16="http://schemas.microsoft.com/office/drawing/2014/main" id="{67EBA89E-A8D8-4BD7-8E65-0355F8577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7275" y="2581275"/>
            <a:ext cx="23336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157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157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157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157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157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157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157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157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157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157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pPr>
            <a:r>
              <a:rPr sz="1575" b="0">
                <a:solidFill>
                  <a:srgbClr val="172C40"/>
                </a:solidFill>
                <a:latin typeface="Yu Gothic"/>
                <a:ea typeface="Yu Gothic"/>
                <a:cs typeface="Yu Gothic"/>
              </a:rPr>
              <a:t>shoot(name)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7C01E84-B517-4B7C-8AC9-D1DEE6A25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3524250"/>
            <a:ext cx="261937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5B7082"/>
            </a:solidFill>
          </a:ln>
        </p:spPr>
      </p:sp>
      <p:sp>
        <p:nvSpPr>
          <p:cNvPr id="16" name="Group">
            <a:extLst xmlns:a="http://schemas.openxmlformats.org/drawingml/2006/main">
              <a:ext uri="{FF2B5EF4-FFF2-40B4-BE49-F238E27FC236}">
                <a16:creationId xmlns:a16="http://schemas.microsoft.com/office/drawing/2014/main" id="{79A691E8-47C6-4458-BAF1-0F6D583A1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7275" y="3609975"/>
            <a:ext cx="23145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1875" b="1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1875" b="1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1875" b="1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1875" b="1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1875" b="1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1875" b="1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1875" b="1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1875" b="1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1875" b="1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1875" b="1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pPr>
            <a:r>
              <a:rPr sz="1875" b="1">
                <a:solidFill>
                  <a:srgbClr val="5B7082"/>
                </a:solidFill>
                <a:latin typeface="Yu Gothic"/>
                <a:ea typeface="Yu Gothic"/>
                <a:cs typeface="Yu Gothic"/>
              </a:rPr>
              <a:t>Group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72B5E1B-7214-4B02-B3B2-CF4068D24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714875" y="3981450"/>
            <a:ext cx="2619375" cy="0"/>
          </a:xfrm>
          <a:prstGeom xmlns:a="http://schemas.openxmlformats.org/drawingml/2006/main" prst="line">
            <a:avLst/>
          </a:prstGeom>
          <a:ln xmlns:a="http://schemas.openxmlformats.org/drawingml/2006/main" w="15240">
            <a:solidFill>
              <a:srgbClr val="5B7082"/>
            </a:solidFill>
          </a:ln>
        </p:spPr>
      </p:sp>
      <p:sp>
        <p:nvSpPr>
          <p:cNvPr id="18" name="Sprite references">
            <a:extLst xmlns:a="http://schemas.openxmlformats.org/drawingml/2006/main">
              <a:ext uri="{FF2B5EF4-FFF2-40B4-BE49-F238E27FC236}">
                <a16:creationId xmlns:a16="http://schemas.microsoft.com/office/drawing/2014/main" id="{F8C19D30-C33A-4101-8732-929A496E0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7275" y="4076700"/>
            <a:ext cx="23336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157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157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157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157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157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157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157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157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157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157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pPr>
            <a:r>
              <a:rPr sz="1575" b="0">
                <a:solidFill>
                  <a:srgbClr val="172C40"/>
                </a:solidFill>
                <a:latin typeface="Yu Gothic"/>
                <a:ea typeface="Yu Gothic"/>
                <a:cs typeface="Yu Gothic"/>
              </a:rPr>
              <a:t>Sprite references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27DC880-813C-48C0-8D8B-306B7E108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714875" y="4352925"/>
            <a:ext cx="2619375" cy="0"/>
          </a:xfrm>
          <a:prstGeom xmlns:a="http://schemas.openxmlformats.org/drawingml/2006/main" prst="line">
            <a:avLst/>
          </a:prstGeom>
          <a:ln xmlns:a="http://schemas.openxmlformats.org/drawingml/2006/main" w="15240">
            <a:solidFill>
              <a:srgbClr val="5B7082"/>
            </a:solidFill>
          </a:ln>
        </p:spPr>
      </p:sp>
      <p:sp>
        <p:nvSpPr>
          <p:cNvPr id="20" name="add(), update(), draw()">
            <a:extLst xmlns:a="http://schemas.openxmlformats.org/drawingml/2006/main">
              <a:ext uri="{FF2B5EF4-FFF2-40B4-BE49-F238E27FC236}">
                <a16:creationId xmlns:a16="http://schemas.microsoft.com/office/drawing/2014/main" id="{06408351-AF4B-4242-94CC-E85BF46D1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7275" y="4438650"/>
            <a:ext cx="23336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157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157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157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157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157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157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157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157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157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157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pPr>
            <a:r>
              <a:rPr sz="1575" b="0">
                <a:solidFill>
                  <a:srgbClr val="172C40"/>
                </a:solidFill>
                <a:latin typeface="Yu Gothic"/>
                <a:ea typeface="Yu Gothic"/>
                <a:cs typeface="Yu Gothic"/>
              </a:rPr>
              <a:t>add(), update(), draw()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A27EADD-96BF-40FD-8480-BC7CF0560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3524250"/>
            <a:ext cx="261937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72C40"/>
            </a:solidFill>
          </a:ln>
        </p:spPr>
      </p:sp>
      <p:sp>
        <p:nvSpPr>
          <p:cNvPr id="22" name="Actor">
            <a:extLst xmlns:a="http://schemas.openxmlformats.org/drawingml/2006/main">
              <a:ext uri="{FF2B5EF4-FFF2-40B4-BE49-F238E27FC236}">
                <a16:creationId xmlns:a16="http://schemas.microsoft.com/office/drawing/2014/main" id="{251215D1-0348-4C03-A3F2-1049C70CE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3609975"/>
            <a:ext cx="23145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1875" b="1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1875" b="1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1875" b="1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1875" b="1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1875" b="1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1875" b="1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1875" b="1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1875" b="1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1875" b="1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1875" b="1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pPr>
            <a:r>
              <a:rPr sz="1875" b="1">
                <a:solidFill>
                  <a:srgbClr val="172C40"/>
                </a:solidFill>
                <a:latin typeface="Yu Gothic"/>
                <a:ea typeface="Yu Gothic"/>
                <a:cs typeface="Yu Gothic"/>
              </a:rPr>
              <a:t>Actor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3A2E87F-CCD7-4C86-9918-A99049D9E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001125" y="3981450"/>
            <a:ext cx="2619375" cy="0"/>
          </a:xfrm>
          <a:prstGeom xmlns:a="http://schemas.openxmlformats.org/drawingml/2006/main" prst="line">
            <a:avLst/>
          </a:prstGeom>
          <a:ln xmlns:a="http://schemas.openxmlformats.org/drawingml/2006/main" w="15240">
            <a:solidFill>
              <a:srgbClr val="172C40"/>
            </a:solidFill>
          </a:ln>
        </p:spPr>
      </p:sp>
      <p:sp>
        <p:nvSpPr>
          <p:cNvPr id="24" name="pos, velocity">
            <a:extLst xmlns:a="http://schemas.openxmlformats.org/drawingml/2006/main">
              <a:ext uri="{FF2B5EF4-FFF2-40B4-BE49-F238E27FC236}">
                <a16:creationId xmlns:a16="http://schemas.microsoft.com/office/drawing/2014/main" id="{A6EDB7DA-573D-4A0E-AE07-08D34E68F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4076700"/>
            <a:ext cx="23336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157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157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157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157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157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157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157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157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157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157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pPr>
            <a:r>
              <a:rPr sz="1575" b="0">
                <a:solidFill>
                  <a:srgbClr val="172C40"/>
                </a:solidFill>
                <a:latin typeface="Yu Gothic"/>
                <a:ea typeface="Yu Gothic"/>
                <a:cs typeface="Yu Gothic"/>
              </a:rPr>
              <a:t>pos, velocity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AD6070E-FA82-4250-B5C9-75084B2F7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001125" y="4352925"/>
            <a:ext cx="2619375" cy="0"/>
          </a:xfrm>
          <a:prstGeom xmlns:a="http://schemas.openxmlformats.org/drawingml/2006/main" prst="line">
            <a:avLst/>
          </a:prstGeom>
          <a:ln xmlns:a="http://schemas.openxmlformats.org/drawingml/2006/main" w="15240">
            <a:solidFill>
              <a:srgbClr val="172C40"/>
            </a:solidFill>
          </a:ln>
        </p:spPr>
      </p:sp>
      <p:sp>
        <p:nvSpPr>
          <p:cNvPr id="26" name="update(dt)">
            <a:extLst xmlns:a="http://schemas.openxmlformats.org/drawingml/2006/main">
              <a:ext uri="{FF2B5EF4-FFF2-40B4-BE49-F238E27FC236}">
                <a16:creationId xmlns:a16="http://schemas.microsoft.com/office/drawing/2014/main" id="{1210882D-EEF0-4786-B5ED-E9558D007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4438650"/>
            <a:ext cx="23336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157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157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157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157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157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157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157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157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157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157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pPr>
            <a:r>
              <a:rPr sz="1575" b="0">
                <a:solidFill>
                  <a:srgbClr val="172C40"/>
                </a:solidFill>
                <a:latin typeface="Yu Gothic"/>
                <a:ea typeface="Yu Gothic"/>
                <a:cs typeface="Yu Gothic"/>
              </a:rPr>
              <a:t>update(dt)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8BE2D81-6935-4B9A-AAB1-0EB9EFA24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1666875"/>
            <a:ext cx="261937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A66D08"/>
            </a:solidFill>
          </a:ln>
        </p:spPr>
      </p:sp>
      <p:sp>
        <p:nvSpPr>
          <p:cNvPr id="28" name="Bullet">
            <a:extLst xmlns:a="http://schemas.openxmlformats.org/drawingml/2006/main">
              <a:ext uri="{FF2B5EF4-FFF2-40B4-BE49-F238E27FC236}">
                <a16:creationId xmlns:a16="http://schemas.microsoft.com/office/drawing/2014/main" id="{63054B8F-37FF-4C19-8219-AA027965C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1752600"/>
            <a:ext cx="23145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A66D08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1875" b="1">
                <a:solidFill>
                  <a:srgbClr val="A66D08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1875" b="1">
                <a:solidFill>
                  <a:srgbClr val="A66D08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1875" b="1">
                <a:solidFill>
                  <a:srgbClr val="A66D08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1875" b="1">
                <a:solidFill>
                  <a:srgbClr val="A66D08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1875" b="1">
                <a:solidFill>
                  <a:srgbClr val="A66D08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1875" b="1">
                <a:solidFill>
                  <a:srgbClr val="A66D08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1875" b="1">
                <a:solidFill>
                  <a:srgbClr val="A66D08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1875" b="1">
                <a:solidFill>
                  <a:srgbClr val="A66D08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1875" b="1">
                <a:solidFill>
                  <a:srgbClr val="A66D08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1875" b="1">
                <a:solidFill>
                  <a:srgbClr val="A66D08"/>
                </a:solidFill>
                <a:latin typeface="Yu Gothic"/>
                <a:ea typeface="Yu Gothic"/>
                <a:cs typeface="Yu Gothic"/>
              </a:defRPr>
            </a:pPr>
            <a:r>
              <a:rPr sz="1875" b="1">
                <a:solidFill>
                  <a:srgbClr val="A66D08"/>
                </a:solidFill>
                <a:latin typeface="Yu Gothic"/>
                <a:ea typeface="Yu Gothic"/>
                <a:cs typeface="Yu Gothic"/>
              </a:rPr>
              <a:t>Bullet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BA54374-0A21-40EC-8075-F6D45FFD2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001125" y="2124075"/>
            <a:ext cx="2619375" cy="0"/>
          </a:xfrm>
          <a:prstGeom xmlns:a="http://schemas.openxmlformats.org/drawingml/2006/main" prst="line">
            <a:avLst/>
          </a:prstGeom>
          <a:ln xmlns:a="http://schemas.openxmlformats.org/drawingml/2006/main" w="15240">
            <a:solidFill>
              <a:srgbClr val="A66D08"/>
            </a:solidFill>
          </a:ln>
        </p:spPr>
      </p:sp>
      <p:sp>
        <p:nvSpPr>
          <p:cNvPr id="30" name="owner, damage">
            <a:extLst xmlns:a="http://schemas.openxmlformats.org/drawingml/2006/main">
              <a:ext uri="{FF2B5EF4-FFF2-40B4-BE49-F238E27FC236}">
                <a16:creationId xmlns:a16="http://schemas.microsoft.com/office/drawing/2014/main" id="{2195107C-FE75-4670-A001-95231FEB6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2219325"/>
            <a:ext cx="23336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157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157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157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157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157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157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157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157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157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157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pPr>
            <a:r>
              <a:rPr sz="1575" b="0">
                <a:solidFill>
                  <a:srgbClr val="172C40"/>
                </a:solidFill>
                <a:latin typeface="Yu Gothic"/>
                <a:ea typeface="Yu Gothic"/>
                <a:cs typeface="Yu Gothic"/>
              </a:rPr>
              <a:t>owner, damage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226D965-6591-4D80-B1F5-F619A5A01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001125" y="2495550"/>
            <a:ext cx="2619375" cy="0"/>
          </a:xfrm>
          <a:prstGeom xmlns:a="http://schemas.openxmlformats.org/drawingml/2006/main" prst="line">
            <a:avLst/>
          </a:prstGeom>
          <a:ln xmlns:a="http://schemas.openxmlformats.org/drawingml/2006/main" w="15240">
            <a:solidFill>
              <a:srgbClr val="A66D08"/>
            </a:solidFill>
          </a:ln>
        </p:spPr>
      </p:sp>
      <p:sp>
        <p:nvSpPr>
          <p:cNvPr id="32" name="update(dt)">
            <a:extLst xmlns:a="http://schemas.openxmlformats.org/drawingml/2006/main">
              <a:ext uri="{FF2B5EF4-FFF2-40B4-BE49-F238E27FC236}">
                <a16:creationId xmlns:a16="http://schemas.microsoft.com/office/drawing/2014/main" id="{4979A53E-7801-4E38-8304-7A149BE2C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2581275"/>
            <a:ext cx="23336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157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157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157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157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157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157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157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157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157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157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pPr>
            <a:r>
              <a:rPr sz="1575" b="0">
                <a:solidFill>
                  <a:srgbClr val="172C40"/>
                </a:solidFill>
                <a:latin typeface="Yu Gothic"/>
                <a:ea typeface="Yu Gothic"/>
                <a:cs typeface="Yu Gothic"/>
              </a:rPr>
              <a:t>update(dt)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C180CE2-FF48-4472-BA7C-1622BF50F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1809750" y="2200275"/>
            <a:ext cx="0" cy="800100"/>
          </a:xfrm>
          <a:prstGeom xmlns:a="http://schemas.openxmlformats.org/drawingml/2006/main" prst="line">
            <a:avLst/>
          </a:prstGeom>
          <a:ln xmlns:a="http://schemas.openxmlformats.org/drawingml/2006/main" w="15240">
            <a:solidFill>
              <a:srgbClr val="172C40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F440B8E-A360-458C-97BF-7EF9A62CF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809750" y="2200275"/>
            <a:ext cx="2905125" cy="0"/>
          </a:xfrm>
          <a:prstGeom xmlns:a="http://schemas.openxmlformats.org/drawingml/2006/main" prst="line">
            <a:avLst/>
          </a:prstGeom>
          <a:ln xmlns:a="http://schemas.openxmlformats.org/drawingml/2006/main" w="15240">
            <a:solidFill>
              <a:srgbClr val="172C40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81A9AB4-3D7A-46FD-BD0C-B97EE6B94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4622926" y="2200275"/>
            <a:ext cx="91949" cy="50232"/>
          </a:xfrm>
          <a:prstGeom xmlns:a="http://schemas.openxmlformats.org/drawingml/2006/main" prst="line">
            <a:avLst/>
          </a:prstGeom>
          <a:ln xmlns:a="http://schemas.openxmlformats.org/drawingml/2006/main" w="15240">
            <a:solidFill>
              <a:srgbClr val="172C40"/>
            </a:solidFill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9793E66-F871-4AA6-8388-3357DBBB8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4622926" y="2150043"/>
            <a:ext cx="91949" cy="50232"/>
          </a:xfrm>
          <a:prstGeom xmlns:a="http://schemas.openxmlformats.org/drawingml/2006/main" prst="line">
            <a:avLst/>
          </a:prstGeom>
          <a:ln xmlns:a="http://schemas.openxmlformats.org/drawingml/2006/main" w="15240">
            <a:solidFill>
              <a:srgbClr val="172C40"/>
            </a:solidFill>
          </a:ln>
        </p:spPr>
      </p:sp>
      <p:sp>
        <p:nvSpPr>
          <p:cNvPr id="37" name="player">
            <a:extLst xmlns:a="http://schemas.openxmlformats.org/drawingml/2006/main">
              <a:ext uri="{FF2B5EF4-FFF2-40B4-BE49-F238E27FC236}">
                <a16:creationId xmlns:a16="http://schemas.microsoft.com/office/drawing/2014/main" id="{05F8F652-D462-4264-A95B-DA77D8465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1838325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157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157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157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157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157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157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157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157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157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157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pPr>
            <a:r>
              <a:rPr sz="1575" b="0">
                <a:solidFill>
                  <a:srgbClr val="172C40"/>
                </a:solidFill>
                <a:latin typeface="Yu Gothic"/>
                <a:ea typeface="Yu Gothic"/>
                <a:cs typeface="Yu Gothic"/>
              </a:rPr>
              <a:t>player</a:t>
            </a:r>
          </a:p>
        </p:txBody>
      </p:sp>
      <p:sp>
        <p:nvSpPr>
          <p:cNvPr id="38" name="1">
            <a:extLst xmlns:a="http://schemas.openxmlformats.org/drawingml/2006/main">
              <a:ext uri="{FF2B5EF4-FFF2-40B4-BE49-F238E27FC236}">
                <a16:creationId xmlns:a16="http://schemas.microsoft.com/office/drawing/2014/main" id="{212120BF-5A1D-415C-ADA9-0D9C8272A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2286000"/>
            <a:ext cx="28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1500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1500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1500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1500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1500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1500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1500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1500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1500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1500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pPr>
            <a:r>
              <a:rPr sz="1500" b="0">
                <a:solidFill>
                  <a:srgbClr val="172C40"/>
                </a:solidFill>
                <a:latin typeface="Yu Gothic"/>
                <a:ea typeface="Yu Gothic"/>
                <a:cs typeface="Yu Gothic"/>
              </a:rPr>
              <a:t>1</a:t>
            </a:r>
          </a:p>
        </p:txBody>
      </p:sp>
      <p:sp>
        <p:nvSpPr>
          <p:cNvPr id="39" name="1">
            <a:extLst xmlns:a="http://schemas.openxmlformats.org/drawingml/2006/main">
              <a:ext uri="{FF2B5EF4-FFF2-40B4-BE49-F238E27FC236}">
                <a16:creationId xmlns:a16="http://schemas.microsoft.com/office/drawing/2014/main" id="{34C05715-E77A-4F96-8D64-A40F530DE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2695575"/>
            <a:ext cx="28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1500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1500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1500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1500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1500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1500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1500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1500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1500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1500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pPr>
            <a:r>
              <a:rPr sz="1500" b="0">
                <a:solidFill>
                  <a:srgbClr val="172C40"/>
                </a:solidFill>
                <a:latin typeface="Yu Gothic"/>
                <a:ea typeface="Yu Gothic"/>
                <a:cs typeface="Yu Gothic"/>
              </a:rPr>
              <a:t>1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553B174-D950-4DBC-91F2-28A2F2E84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095625" y="4048125"/>
            <a:ext cx="1619250" cy="0"/>
          </a:xfrm>
          <a:prstGeom xmlns:a="http://schemas.openxmlformats.org/drawingml/2006/main" prst="line">
            <a:avLst/>
          </a:prstGeom>
          <a:ln xmlns:a="http://schemas.openxmlformats.org/drawingml/2006/main" w="15240">
            <a:solidFill>
              <a:srgbClr val="172C40"/>
            </a:solidFill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679F9F3-7D7F-42B1-B9BA-868DC53B5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4622926" y="4048125"/>
            <a:ext cx="91949" cy="50232"/>
          </a:xfrm>
          <a:prstGeom xmlns:a="http://schemas.openxmlformats.org/drawingml/2006/main" prst="line">
            <a:avLst/>
          </a:prstGeom>
          <a:ln xmlns:a="http://schemas.openxmlformats.org/drawingml/2006/main" w="15240">
            <a:solidFill>
              <a:srgbClr val="172C40"/>
            </a:solidFill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D3C8431-8A10-4C2A-BA0D-D2889740C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4622926" y="3997893"/>
            <a:ext cx="91949" cy="50232"/>
          </a:xfrm>
          <a:prstGeom xmlns:a="http://schemas.openxmlformats.org/drawingml/2006/main" prst="line">
            <a:avLst/>
          </a:prstGeom>
          <a:ln xmlns:a="http://schemas.openxmlformats.org/drawingml/2006/main" w="15240">
            <a:solidFill>
              <a:srgbClr val="172C40"/>
            </a:solidFill>
          </a:ln>
        </p:spPr>
      </p:sp>
      <p:sp>
        <p:nvSpPr>
          <p:cNvPr id="43" name="groups">
            <a:extLst xmlns:a="http://schemas.openxmlformats.org/drawingml/2006/main">
              <a:ext uri="{FF2B5EF4-FFF2-40B4-BE49-F238E27FC236}">
                <a16:creationId xmlns:a16="http://schemas.microsoft.com/office/drawing/2014/main" id="{C4D28BF5-9983-401F-8B7E-E29A63949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3705225"/>
            <a:ext cx="1285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157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157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157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157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157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157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157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157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157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157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pPr>
            <a:r>
              <a:rPr sz="1575" b="0">
                <a:solidFill>
                  <a:srgbClr val="172C40"/>
                </a:solidFill>
                <a:latin typeface="Yu Gothic"/>
                <a:ea typeface="Yu Gothic"/>
                <a:cs typeface="Yu Gothic"/>
              </a:rPr>
              <a:t>groups</a:t>
            </a:r>
          </a:p>
        </p:txBody>
      </p:sp>
      <p:sp>
        <p:nvSpPr>
          <p:cNvPr id="44" name="1">
            <a:extLst xmlns:a="http://schemas.openxmlformats.org/drawingml/2006/main">
              <a:ext uri="{FF2B5EF4-FFF2-40B4-BE49-F238E27FC236}">
                <a16:creationId xmlns:a16="http://schemas.microsoft.com/office/drawing/2014/main" id="{38C32064-D464-4CFB-8A9D-A355B8D97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4171950"/>
            <a:ext cx="28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1500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1500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1500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1500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1500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1500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1500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1500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1500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1500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pPr>
            <a:r>
              <a:rPr sz="1500" b="0">
                <a:solidFill>
                  <a:srgbClr val="172C40"/>
                </a:solidFill>
                <a:latin typeface="Yu Gothic"/>
                <a:ea typeface="Yu Gothic"/>
                <a:cs typeface="Yu Gothic"/>
              </a:rPr>
              <a:t>1</a:t>
            </a:r>
          </a:p>
        </p:txBody>
      </p:sp>
      <p:sp>
        <p:nvSpPr>
          <p:cNvPr id="45" name="3">
            <a:extLst xmlns:a="http://schemas.openxmlformats.org/drawingml/2006/main">
              <a:ext uri="{FF2B5EF4-FFF2-40B4-BE49-F238E27FC236}">
                <a16:creationId xmlns:a16="http://schemas.microsoft.com/office/drawing/2014/main" id="{2CD16AB9-F5E4-4D96-96D0-ADA89F479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171950"/>
            <a:ext cx="28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1500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1500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1500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1500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1500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1500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1500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1500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1500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1500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pPr>
            <a:r>
              <a:rPr sz="1500" b="0">
                <a:solidFill>
                  <a:srgbClr val="172C40"/>
                </a:solidFill>
                <a:latin typeface="Yu Gothic"/>
                <a:ea typeface="Yu Gothic"/>
                <a:cs typeface="Yu Gothic"/>
              </a:rPr>
              <a:t>3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DE573CDA-EC86-4231-9760-8F690E784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334250" y="4048125"/>
            <a:ext cx="1666875" cy="0"/>
          </a:xfrm>
          <a:prstGeom xmlns:a="http://schemas.openxmlformats.org/drawingml/2006/main" prst="line">
            <a:avLst/>
          </a:prstGeom>
          <a:ln xmlns:a="http://schemas.openxmlformats.org/drawingml/2006/main" w="15240">
            <a:solidFill>
              <a:srgbClr val="172C40"/>
            </a:solidFill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C907E613-0AFB-4C50-9837-32E6E8207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8909176" y="4048125"/>
            <a:ext cx="91949" cy="50232"/>
          </a:xfrm>
          <a:prstGeom xmlns:a="http://schemas.openxmlformats.org/drawingml/2006/main" prst="line">
            <a:avLst/>
          </a:prstGeom>
          <a:ln xmlns:a="http://schemas.openxmlformats.org/drawingml/2006/main" w="15240">
            <a:solidFill>
              <a:srgbClr val="172C40"/>
            </a:solidFill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753B77E-1CCE-4EE4-980B-3E439317F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8909176" y="3997893"/>
            <a:ext cx="91949" cy="50232"/>
          </a:xfrm>
          <a:prstGeom xmlns:a="http://schemas.openxmlformats.org/drawingml/2006/main" prst="line">
            <a:avLst/>
          </a:prstGeom>
          <a:ln xmlns:a="http://schemas.openxmlformats.org/drawingml/2006/main" w="15240">
            <a:solidFill>
              <a:srgbClr val="172C40"/>
            </a:solidFill>
          </a:ln>
        </p:spPr>
      </p:sp>
      <p:sp>
        <p:nvSpPr>
          <p:cNvPr id="49" name="members">
            <a:extLst xmlns:a="http://schemas.openxmlformats.org/drawingml/2006/main">
              <a:ext uri="{FF2B5EF4-FFF2-40B4-BE49-F238E27FC236}">
                <a16:creationId xmlns:a16="http://schemas.microsoft.com/office/drawing/2014/main" id="{26D0A8BF-7019-4D42-91BD-C5E7AF4E9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3695700"/>
            <a:ext cx="133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157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157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157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157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157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157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157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157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157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157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pPr>
            <a:r>
              <a:rPr sz="1575" b="0">
                <a:solidFill>
                  <a:srgbClr val="172C40"/>
                </a:solidFill>
                <a:latin typeface="Yu Gothic"/>
                <a:ea typeface="Yu Gothic"/>
                <a:cs typeface="Yu Gothic"/>
              </a:rPr>
              <a:t>members</a:t>
            </a:r>
          </a:p>
        </p:txBody>
      </p:sp>
      <p:sp>
        <p:nvSpPr>
          <p:cNvPr id="50" name="0..*">
            <a:extLst xmlns:a="http://schemas.openxmlformats.org/drawingml/2006/main">
              <a:ext uri="{FF2B5EF4-FFF2-40B4-BE49-F238E27FC236}">
                <a16:creationId xmlns:a16="http://schemas.microsoft.com/office/drawing/2014/main" id="{21E69B7B-7C5C-4EC4-B134-4070CD676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4171950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1500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1500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1500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1500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1500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1500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1500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1500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1500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1500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pPr>
            <a:r>
              <a:rPr sz="1500" b="0">
                <a:solidFill>
                  <a:srgbClr val="172C40"/>
                </a:solidFill>
                <a:latin typeface="Yu Gothic"/>
                <a:ea typeface="Yu Gothic"/>
                <a:cs typeface="Yu Gothic"/>
              </a:rPr>
              <a:t>0..*</a:t>
            </a:r>
          </a:p>
        </p:txBody>
      </p:sp>
      <p:sp>
        <p:nvSpPr>
          <p:cNvPr id="51" name="0..*">
            <a:extLst xmlns:a="http://schemas.openxmlformats.org/drawingml/2006/main">
              <a:ext uri="{FF2B5EF4-FFF2-40B4-BE49-F238E27FC236}">
                <a16:creationId xmlns:a16="http://schemas.microsoft.com/office/drawing/2014/main" id="{2659850D-AAD8-416E-8B94-4E8524730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171950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1500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1500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1500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1500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1500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1500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1500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1500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1500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1500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pPr>
            <a:r>
              <a:rPr sz="1500" b="0">
                <a:solidFill>
                  <a:srgbClr val="172C40"/>
                </a:solidFill>
                <a:latin typeface="Yu Gothic"/>
                <a:ea typeface="Yu Gothic"/>
                <a:cs typeface="Yu Gothic"/>
              </a:rPr>
              <a:t>0..*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C3CDDE6C-DE33-4C1F-BF97-08AE5B03F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7334250" y="2238375"/>
            <a:ext cx="1666875" cy="0"/>
          </a:xfrm>
          <a:prstGeom xmlns:a="http://schemas.openxmlformats.org/drawingml/2006/main" prst="line">
            <a:avLst/>
          </a:prstGeom>
          <a:ln xmlns:a="http://schemas.openxmlformats.org/drawingml/2006/main" w="15240">
            <a:solidFill>
              <a:srgbClr val="A66D08"/>
            </a:solidFill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964465C7-2F88-4EB9-BCB6-F6F1A7E45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7334250" y="2188143"/>
            <a:ext cx="91949" cy="50232"/>
          </a:xfrm>
          <a:prstGeom xmlns:a="http://schemas.openxmlformats.org/drawingml/2006/main" prst="line">
            <a:avLst/>
          </a:prstGeom>
          <a:ln xmlns:a="http://schemas.openxmlformats.org/drawingml/2006/main" w="15240">
            <a:solidFill>
              <a:srgbClr val="A66D08"/>
            </a:solidFill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477FC3F2-48BE-459A-B899-B828D4EC6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334250" y="2238375"/>
            <a:ext cx="91949" cy="50232"/>
          </a:xfrm>
          <a:prstGeom xmlns:a="http://schemas.openxmlformats.org/drawingml/2006/main" prst="line">
            <a:avLst/>
          </a:prstGeom>
          <a:ln xmlns:a="http://schemas.openxmlformats.org/drawingml/2006/main" w="15240">
            <a:solidFill>
              <a:srgbClr val="A66D08"/>
            </a:solidFill>
          </a:ln>
        </p:spPr>
      </p:sp>
      <p:sp>
        <p:nvSpPr>
          <p:cNvPr id="55" name="owner">
            <a:extLst xmlns:a="http://schemas.openxmlformats.org/drawingml/2006/main">
              <a:ext uri="{FF2B5EF4-FFF2-40B4-BE49-F238E27FC236}">
                <a16:creationId xmlns:a16="http://schemas.microsoft.com/office/drawing/2014/main" id="{8FA91F02-1485-4AD9-A057-3A6CF2E05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1857375"/>
            <a:ext cx="95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A66D08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1575" b="0">
                <a:solidFill>
                  <a:srgbClr val="A66D08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1575" b="0">
                <a:solidFill>
                  <a:srgbClr val="A66D08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1575" b="0">
                <a:solidFill>
                  <a:srgbClr val="A66D08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1575" b="0">
                <a:solidFill>
                  <a:srgbClr val="A66D08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1575" b="0">
                <a:solidFill>
                  <a:srgbClr val="A66D08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1575" b="0">
                <a:solidFill>
                  <a:srgbClr val="A66D08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1575" b="0">
                <a:solidFill>
                  <a:srgbClr val="A66D08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1575" b="0">
                <a:solidFill>
                  <a:srgbClr val="A66D08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1575" b="0">
                <a:solidFill>
                  <a:srgbClr val="A66D08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1575" b="0">
                <a:solidFill>
                  <a:srgbClr val="A66D08"/>
                </a:solidFill>
                <a:latin typeface="Yu Gothic"/>
                <a:ea typeface="Yu Gothic"/>
                <a:cs typeface="Yu Gothic"/>
              </a:defRPr>
            </a:pPr>
            <a:r>
              <a:rPr sz="1575" b="0">
                <a:solidFill>
                  <a:srgbClr val="A66D08"/>
                </a:solidFill>
                <a:latin typeface="Yu Gothic"/>
                <a:ea typeface="Yu Gothic"/>
                <a:cs typeface="Yu Gothic"/>
              </a:rPr>
              <a:t>owner</a:t>
            </a:r>
          </a:p>
        </p:txBody>
      </p:sp>
      <p:sp>
        <p:nvSpPr>
          <p:cNvPr id="56" name="1">
            <a:extLst xmlns:a="http://schemas.openxmlformats.org/drawingml/2006/main">
              <a:ext uri="{FF2B5EF4-FFF2-40B4-BE49-F238E27FC236}">
                <a16:creationId xmlns:a16="http://schemas.microsoft.com/office/drawing/2014/main" id="{31C136E1-2506-4D1C-ADD5-4E1CB146F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333625"/>
            <a:ext cx="28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1500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1500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1500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1500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1500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1500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1500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1500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1500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1500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pPr>
            <a:r>
              <a:rPr sz="1500" b="0">
                <a:solidFill>
                  <a:srgbClr val="172C40"/>
                </a:solidFill>
                <a:latin typeface="Yu Gothic"/>
                <a:ea typeface="Yu Gothic"/>
                <a:cs typeface="Yu Gothic"/>
              </a:rPr>
              <a:t>1</a:t>
            </a:r>
          </a:p>
        </p:txBody>
      </p:sp>
      <p:sp>
        <p:nvSpPr>
          <p:cNvPr id="57" name="0..*">
            <a:extLst xmlns:a="http://schemas.openxmlformats.org/drawingml/2006/main">
              <a:ext uri="{FF2B5EF4-FFF2-40B4-BE49-F238E27FC236}">
                <a16:creationId xmlns:a16="http://schemas.microsoft.com/office/drawing/2014/main" id="{0CC4B835-0439-478A-9A29-3EB71E15B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333625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1500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1500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1500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1500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1500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1500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1500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1500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1500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1500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pPr>
            <a:r>
              <a:rPr sz="1500" b="0">
                <a:solidFill>
                  <a:srgbClr val="172C40"/>
                </a:solidFill>
                <a:latin typeface="Yu Gothic"/>
                <a:ea typeface="Yu Gothic"/>
                <a:cs typeface="Yu Gothic"/>
              </a:rPr>
              <a:t>0..*</a:t>
            </a:r>
          </a:p>
        </p:txBody>
      </p:sp>
      <p:sp>
        <p:nvSpPr>
          <p:cNvPr id="58" name="groups = all_sprites, enemies, bullets">
            <a:extLst xmlns:a="http://schemas.openxmlformats.org/drawingml/2006/main">
              <a:ext uri="{FF2B5EF4-FFF2-40B4-BE49-F238E27FC236}">
                <a16:creationId xmlns:a16="http://schemas.microsoft.com/office/drawing/2014/main" id="{EA6E828C-6B34-4ECF-977D-4C17037D1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238750"/>
            <a:ext cx="11001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1875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1875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1875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1875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1875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1875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1875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1875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1875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1875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pPr>
            <a:r>
              <a:rPr sz="1875" b="0">
                <a:solidFill>
                  <a:srgbClr val="5B7082"/>
                </a:solidFill>
                <a:latin typeface="Yu Gothic"/>
                <a:ea typeface="Yu Gothic"/>
                <a:cs typeface="Yu Gothic"/>
              </a:rPr>
              <a:t>groups = all_sprites, enemies, bullets</a:t>
            </a:r>
          </a:p>
        </p:txBody>
      </p:sp>
      <p:sp>
        <p:nvSpPr>
          <p:cNvPr id="59" name="一つの Bullet は一つの Player を参照し、同じ Player を複数の Bullet が参照できる。">
            <a:extLst xmlns:a="http://schemas.openxmlformats.org/drawingml/2006/main">
              <a:ext uri="{FF2B5EF4-FFF2-40B4-BE49-F238E27FC236}">
                <a16:creationId xmlns:a16="http://schemas.microsoft.com/office/drawing/2014/main" id="{DE6EB935-302E-4646-9DF3-49255FB2A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05500"/>
            <a:ext cx="5238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1500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1500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1500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1500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1500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1500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1500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1500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1500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1500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pPr>
            <a:r>
              <a:rPr sz="1500" b="0">
                <a:solidFill>
                  <a:srgbClr val="5B7082"/>
                </a:solidFill>
                <a:latin typeface="Yu Gothic"/>
                <a:ea typeface="Yu Gothic"/>
                <a:cs typeface="Yu Gothic"/>
              </a:rPr>
              <a:t>一つの Bullet は一つの Player を参照し、同じ Player を複数の Bullet が参照できる。</a:t>
            </a:r>
          </a:p>
        </p:txBody>
      </p:sp>
      <p:sp>
        <p:nvSpPr>
          <p:cNvPr id="60" name="グループ所属は排他的な所有ではないため、合成の黒いひし形は使わない。">
            <a:extLst xmlns:a="http://schemas.openxmlformats.org/drawingml/2006/main">
              <a:ext uri="{FF2B5EF4-FFF2-40B4-BE49-F238E27FC236}">
                <a16:creationId xmlns:a16="http://schemas.microsoft.com/office/drawing/2014/main" id="{9B66041F-AEF9-4F07-BF2A-EC8266CB0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5905500"/>
            <a:ext cx="5238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1500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1500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1500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1500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1500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1500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1500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1500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1500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1500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pPr>
            <a:r>
              <a:rPr sz="1500" b="0">
                <a:solidFill>
                  <a:srgbClr val="5B7082"/>
                </a:solidFill>
                <a:latin typeface="Yu Gothic"/>
                <a:ea typeface="Yu Gothic"/>
                <a:cs typeface="Yu Gothic"/>
              </a:rPr>
              <a:t>グループ所属は排他的な所有ではないため、合成の黒いひし形は使わない。</a:t>
            </a:r>
          </a:p>
        </p:txBody>
      </p:sp>
      <p:sp>
        <p:nvSpPr>
          <p:cNvPr id="61" name="10">
            <a:extLst xmlns:a="http://schemas.openxmlformats.org/drawingml/2006/main">
              <a:ext uri="{FF2B5EF4-FFF2-40B4-BE49-F238E27FC236}">
                <a16:creationId xmlns:a16="http://schemas.microsoft.com/office/drawing/2014/main" id="{36D62915-0302-4856-847B-FA969A91B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505575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1200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1200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1200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1200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1200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1200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1200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1200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1200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1200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pPr>
            <a:r>
              <a:rPr sz="1200" b="0">
                <a:solidFill>
                  <a:srgbClr val="5B7082"/>
                </a:solidFill>
                <a:latin typeface="Yu Gothic"/>
                <a:ea typeface="Yu Gothic"/>
                <a:cs typeface="Yu Gothic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96129057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5" name="オブジェクト図：一つの自機、二つの参照">
            <a:extLst xmlns:a="http://schemas.openxmlformats.org/drawingml/2006/main">
              <a:ext uri="{FF2B5EF4-FFF2-40B4-BE49-F238E27FC236}">
                <a16:creationId xmlns:a16="http://schemas.microsoft.com/office/drawing/2014/main" id="{242B0FC9-08D0-4442-A937-54C4F49D1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428625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3300" b="1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3300" b="1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3300" b="1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3300" b="1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3300" b="1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3300" b="1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3300" b="1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3300" b="1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3300" b="1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3300" b="1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pPr>
            <a:r>
              <a:rPr sz="3300" b="1">
                <a:solidFill>
                  <a:srgbClr val="172C40"/>
                </a:solidFill>
                <a:latin typeface="Yu Gothic"/>
                <a:ea typeface="Yu Gothic"/>
                <a:cs typeface="Yu Gothic"/>
              </a:rPr>
              <a:t>オブジェクト図：一つの自機、二つの参照</a:t>
            </a:r>
          </a:p>
        </p:txBody>
      </p:sp>
      <p:sp>
        <p:nvSpPr>
          <p:cNvPr id="2" name="停止中のスナップショット：Player 1、Enemy 3、Bullet 2">
            <a:extLst xmlns:a="http://schemas.openxmlformats.org/drawingml/2006/main">
              <a:ext uri="{FF2B5EF4-FFF2-40B4-BE49-F238E27FC236}">
                <a16:creationId xmlns:a16="http://schemas.microsoft.com/office/drawing/2014/main" id="{4ACFA568-6CA2-4801-A411-A63B7495C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1181100"/>
            <a:ext cx="110013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1725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1725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1725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1725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1725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1725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1725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1725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1725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1725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5B7082"/>
                </a:solidFill>
                <a:latin typeface="Yu Gothic"/>
                <a:ea typeface="Yu Gothic"/>
                <a:cs typeface="Yu Gothic"/>
              </a:rPr>
              <a:t>停止中のスナップショット：Player 1、Enemy 3、Bullet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CD4917-B498-4791-B93C-90CD9B81B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66875"/>
            <a:ext cx="30956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A66D08"/>
            </a:solidFill>
          </a:ln>
        </p:spPr>
      </p:sp>
      <p:sp>
        <p:nvSpPr>
          <p:cNvPr id="4" name="B01 : Bullet">
            <a:extLst xmlns:a="http://schemas.openxmlformats.org/drawingml/2006/main">
              <a:ext uri="{FF2B5EF4-FFF2-40B4-BE49-F238E27FC236}">
                <a16:creationId xmlns:a16="http://schemas.microsoft.com/office/drawing/2014/main" id="{A1B265D4-03A5-4519-8B35-B7BAE599A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52600"/>
            <a:ext cx="27908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A66D08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1875" b="1">
                <a:solidFill>
                  <a:srgbClr val="A66D08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1875" b="1">
                <a:solidFill>
                  <a:srgbClr val="A66D08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1875" b="1">
                <a:solidFill>
                  <a:srgbClr val="A66D08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1875" b="1">
                <a:solidFill>
                  <a:srgbClr val="A66D08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1875" b="1">
                <a:solidFill>
                  <a:srgbClr val="A66D08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1875" b="1">
                <a:solidFill>
                  <a:srgbClr val="A66D08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1875" b="1">
                <a:solidFill>
                  <a:srgbClr val="A66D08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1875" b="1">
                <a:solidFill>
                  <a:srgbClr val="A66D08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1875" b="1">
                <a:solidFill>
                  <a:srgbClr val="A66D08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1875" b="1">
                <a:solidFill>
                  <a:srgbClr val="A66D08"/>
                </a:solidFill>
                <a:latin typeface="Yu Gothic"/>
                <a:ea typeface="Yu Gothic"/>
                <a:cs typeface="Yu Gothic"/>
              </a:defRPr>
            </a:pPr>
            <a:r>
              <a:rPr sz="1875" b="1">
                <a:solidFill>
                  <a:srgbClr val="A66D08"/>
                </a:solidFill>
                <a:latin typeface="Yu Gothic"/>
                <a:ea typeface="Yu Gothic"/>
                <a:cs typeface="Yu Gothic"/>
              </a:rPr>
              <a:t>B01 : Bullet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D49417-CD31-402F-BE5E-CDB614BA8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23900" y="2019300"/>
            <a:ext cx="1600200" cy="0"/>
          </a:xfrm>
          <a:prstGeom xmlns:a="http://schemas.openxmlformats.org/drawingml/2006/main" prst="line">
            <a:avLst/>
          </a:prstGeom>
          <a:ln xmlns:a="http://schemas.openxmlformats.org/drawingml/2006/main" w="15240">
            <a:solidFill>
              <a:srgbClr val="A66D08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0DDCC9-3295-43E2-B0E5-38F9C6390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71500" y="2124075"/>
            <a:ext cx="3095625" cy="0"/>
          </a:xfrm>
          <a:prstGeom xmlns:a="http://schemas.openxmlformats.org/drawingml/2006/main" prst="line">
            <a:avLst/>
          </a:prstGeom>
          <a:ln xmlns:a="http://schemas.openxmlformats.org/drawingml/2006/main" w="15240">
            <a:solidFill>
              <a:srgbClr val="A66D08"/>
            </a:solidFill>
          </a:ln>
        </p:spPr>
      </p:sp>
      <p:sp>
        <p:nvSpPr>
          <p:cNvPr id="7" name="damage = 1 owner → player">
            <a:extLst xmlns:a="http://schemas.openxmlformats.org/drawingml/2006/main">
              <a:ext uri="{FF2B5EF4-FFF2-40B4-BE49-F238E27FC236}">
                <a16:creationId xmlns:a16="http://schemas.microsoft.com/office/drawing/2014/main" id="{CCB5438A-BD46-4E4D-84BE-E88061F3B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19325"/>
            <a:ext cx="28098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157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157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157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157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157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157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157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157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157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157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pPr>
            <a:r>
              <a:rPr sz="1575" b="0">
                <a:solidFill>
                  <a:srgbClr val="172C40"/>
                </a:solidFill>
                <a:latin typeface="Yu Gothic"/>
                <a:ea typeface="Yu Gothic"/>
                <a:cs typeface="Yu Gothic"/>
              </a:rPr>
              <a:t>damage = 1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pPr>
            <a:r>
              <a:rPr sz="1575" b="0">
                <a:solidFill>
                  <a:srgbClr val="172C40"/>
                </a:solidFill>
                <a:latin typeface="Yu Gothic"/>
                <a:ea typeface="Yu Gothic"/>
                <a:cs typeface="Yu Gothic"/>
              </a:rPr>
              <a:t>owner → player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76480D-870E-410D-81BD-6D0370630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0"/>
            <a:ext cx="30956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A66D08"/>
            </a:solidFill>
          </a:ln>
        </p:spPr>
      </p:sp>
      <p:sp>
        <p:nvSpPr>
          <p:cNvPr id="9" name="B02 : Bullet">
            <a:extLst xmlns:a="http://schemas.openxmlformats.org/drawingml/2006/main">
              <a:ext uri="{FF2B5EF4-FFF2-40B4-BE49-F238E27FC236}">
                <a16:creationId xmlns:a16="http://schemas.microsoft.com/office/drawing/2014/main" id="{FC7A7B32-96BF-4A07-9F71-BA891D661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86225"/>
            <a:ext cx="27908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A66D08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1875" b="1">
                <a:solidFill>
                  <a:srgbClr val="A66D08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1875" b="1">
                <a:solidFill>
                  <a:srgbClr val="A66D08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1875" b="1">
                <a:solidFill>
                  <a:srgbClr val="A66D08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1875" b="1">
                <a:solidFill>
                  <a:srgbClr val="A66D08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1875" b="1">
                <a:solidFill>
                  <a:srgbClr val="A66D08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1875" b="1">
                <a:solidFill>
                  <a:srgbClr val="A66D08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1875" b="1">
                <a:solidFill>
                  <a:srgbClr val="A66D08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1875" b="1">
                <a:solidFill>
                  <a:srgbClr val="A66D08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1875" b="1">
                <a:solidFill>
                  <a:srgbClr val="A66D08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1875" b="1">
                <a:solidFill>
                  <a:srgbClr val="A66D08"/>
                </a:solidFill>
                <a:latin typeface="Yu Gothic"/>
                <a:ea typeface="Yu Gothic"/>
                <a:cs typeface="Yu Gothic"/>
              </a:defRPr>
            </a:pPr>
            <a:r>
              <a:rPr sz="1875" b="1">
                <a:solidFill>
                  <a:srgbClr val="A66D08"/>
                </a:solidFill>
                <a:latin typeface="Yu Gothic"/>
                <a:ea typeface="Yu Gothic"/>
                <a:cs typeface="Yu Gothic"/>
              </a:rPr>
              <a:t>B02 : Bullet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087F86-8B0B-473D-9A7F-BDA951866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23900" y="4352925"/>
            <a:ext cx="1600200" cy="0"/>
          </a:xfrm>
          <a:prstGeom xmlns:a="http://schemas.openxmlformats.org/drawingml/2006/main" prst="line">
            <a:avLst/>
          </a:prstGeom>
          <a:ln xmlns:a="http://schemas.openxmlformats.org/drawingml/2006/main" w="15240">
            <a:solidFill>
              <a:srgbClr val="A66D08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58FD9D6-BF24-47EA-A6B7-63E5084C7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71500" y="4457700"/>
            <a:ext cx="3095625" cy="0"/>
          </a:xfrm>
          <a:prstGeom xmlns:a="http://schemas.openxmlformats.org/drawingml/2006/main" prst="line">
            <a:avLst/>
          </a:prstGeom>
          <a:ln xmlns:a="http://schemas.openxmlformats.org/drawingml/2006/main" w="15240">
            <a:solidFill>
              <a:srgbClr val="A66D08"/>
            </a:solidFill>
          </a:ln>
        </p:spPr>
      </p:sp>
      <p:sp>
        <p:nvSpPr>
          <p:cNvPr id="12" name="damage = 1 owner → player">
            <a:extLst xmlns:a="http://schemas.openxmlformats.org/drawingml/2006/main">
              <a:ext uri="{FF2B5EF4-FFF2-40B4-BE49-F238E27FC236}">
                <a16:creationId xmlns:a16="http://schemas.microsoft.com/office/drawing/2014/main" id="{33CF2F78-A274-415E-B693-EFD3650CE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52950"/>
            <a:ext cx="28098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157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157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157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157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157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157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157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157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157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157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pPr>
            <a:r>
              <a:rPr sz="1575" b="0">
                <a:solidFill>
                  <a:srgbClr val="172C40"/>
                </a:solidFill>
                <a:latin typeface="Yu Gothic"/>
                <a:ea typeface="Yu Gothic"/>
                <a:cs typeface="Yu Gothic"/>
              </a:rPr>
              <a:t>damage = 1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pPr>
            <a:r>
              <a:rPr sz="1575" b="0">
                <a:solidFill>
                  <a:srgbClr val="172C40"/>
                </a:solidFill>
                <a:latin typeface="Yu Gothic"/>
                <a:ea typeface="Yu Gothic"/>
                <a:cs typeface="Yu Gothic"/>
              </a:rPr>
              <a:t>owner → player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60FEF92-CF29-4EB9-8F7D-40D131EBD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2857500"/>
            <a:ext cx="2952750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87C62"/>
            </a:solidFill>
          </a:ln>
        </p:spPr>
      </p:sp>
      <p:sp>
        <p:nvSpPr>
          <p:cNvPr id="14" name="player : Player">
            <a:extLst xmlns:a="http://schemas.openxmlformats.org/drawingml/2006/main">
              <a:ext uri="{FF2B5EF4-FFF2-40B4-BE49-F238E27FC236}">
                <a16:creationId xmlns:a16="http://schemas.microsoft.com/office/drawing/2014/main" id="{F7EE58BF-1C3F-4E82-95C2-07C6424E8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943225"/>
            <a:ext cx="26479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087C62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1875" b="1">
                <a:solidFill>
                  <a:srgbClr val="087C62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1875" b="1">
                <a:solidFill>
                  <a:srgbClr val="087C62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1875" b="1">
                <a:solidFill>
                  <a:srgbClr val="087C62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1875" b="1">
                <a:solidFill>
                  <a:srgbClr val="087C62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1875" b="1">
                <a:solidFill>
                  <a:srgbClr val="087C62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1875" b="1">
                <a:solidFill>
                  <a:srgbClr val="087C62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1875" b="1">
                <a:solidFill>
                  <a:srgbClr val="087C62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1875" b="1">
                <a:solidFill>
                  <a:srgbClr val="087C62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1875" b="1">
                <a:solidFill>
                  <a:srgbClr val="087C62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1875" b="1">
                <a:solidFill>
                  <a:srgbClr val="087C62"/>
                </a:solidFill>
                <a:latin typeface="Yu Gothic"/>
                <a:ea typeface="Yu Gothic"/>
                <a:cs typeface="Yu Gothic"/>
              </a:defRPr>
            </a:pPr>
            <a:r>
              <a:rPr sz="1875" b="1">
                <a:solidFill>
                  <a:srgbClr val="087C62"/>
                </a:solidFill>
                <a:latin typeface="Yu Gothic"/>
                <a:ea typeface="Yu Gothic"/>
                <a:cs typeface="Yu Gothic"/>
              </a:rPr>
              <a:t>player : Player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E69C65A-B214-464A-9E8A-C0D4881C2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086350" y="3209925"/>
            <a:ext cx="2000250" cy="0"/>
          </a:xfrm>
          <a:prstGeom xmlns:a="http://schemas.openxmlformats.org/drawingml/2006/main" prst="line">
            <a:avLst/>
          </a:prstGeom>
          <a:ln xmlns:a="http://schemas.openxmlformats.org/drawingml/2006/main" w="15240">
            <a:solidFill>
              <a:srgbClr val="087C62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A9C586B-7888-4B04-98D2-CC8ED2E63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933950" y="3314700"/>
            <a:ext cx="2952750" cy="0"/>
          </a:xfrm>
          <a:prstGeom xmlns:a="http://schemas.openxmlformats.org/drawingml/2006/main" prst="line">
            <a:avLst/>
          </a:prstGeom>
          <a:ln xmlns:a="http://schemas.openxmlformats.org/drawingml/2006/main" w="15240">
            <a:solidFill>
              <a:srgbClr val="087C62"/>
            </a:solidFill>
          </a:ln>
        </p:spPr>
      </p:sp>
      <p:sp>
        <p:nvSpPr>
          <p:cNvPr id="17" name="hp = 3 pos = (394, 664)">
            <a:extLst xmlns:a="http://schemas.openxmlformats.org/drawingml/2006/main">
              <a:ext uri="{FF2B5EF4-FFF2-40B4-BE49-F238E27FC236}">
                <a16:creationId xmlns:a16="http://schemas.microsoft.com/office/drawing/2014/main" id="{FAAB1028-D8F6-4561-8902-A29968F32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3409950"/>
            <a:ext cx="2667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157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157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157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157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157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157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157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157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157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157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pPr>
            <a:r>
              <a:rPr sz="1575" b="0">
                <a:solidFill>
                  <a:srgbClr val="172C40"/>
                </a:solidFill>
                <a:latin typeface="Yu Gothic"/>
                <a:ea typeface="Yu Gothic"/>
                <a:cs typeface="Yu Gothic"/>
              </a:rPr>
              <a:t>hp = 3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pPr>
            <a:r>
              <a:rPr sz="1575" b="0">
                <a:solidFill>
                  <a:srgbClr val="172C40"/>
                </a:solidFill>
                <a:latin typeface="Yu Gothic"/>
                <a:ea typeface="Yu Gothic"/>
                <a:cs typeface="Yu Gothic"/>
              </a:rPr>
              <a:t>pos = (394, 664)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3E4CB5D-4DAE-4851-B8A8-80836D7BB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667125" y="2305050"/>
            <a:ext cx="1266825" cy="790575"/>
          </a:xfrm>
          <a:prstGeom xmlns:a="http://schemas.openxmlformats.org/drawingml/2006/main" prst="line">
            <a:avLst/>
          </a:prstGeom>
          <a:ln xmlns:a="http://schemas.openxmlformats.org/drawingml/2006/main" w="15240">
            <a:solidFill>
              <a:srgbClr val="A66D08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BB85F03-2E6C-4286-9019-9ECBA2F5B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4829351" y="3089559"/>
            <a:ext cx="104599" cy="6066"/>
          </a:xfrm>
          <a:prstGeom xmlns:a="http://schemas.openxmlformats.org/drawingml/2006/main" prst="line">
            <a:avLst/>
          </a:prstGeom>
          <a:ln xmlns:a="http://schemas.openxmlformats.org/drawingml/2006/main" w="15240">
            <a:solidFill>
              <a:srgbClr val="A66D08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3FAFC42-DAAB-46C6-A1A8-A78995CDB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4882539" y="3004331"/>
            <a:ext cx="51411" cy="91294"/>
          </a:xfrm>
          <a:prstGeom xmlns:a="http://schemas.openxmlformats.org/drawingml/2006/main" prst="line">
            <a:avLst/>
          </a:prstGeom>
          <a:ln xmlns:a="http://schemas.openxmlformats.org/drawingml/2006/main" w="15240">
            <a:solidFill>
              <a:srgbClr val="A66D08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B689B32-7F19-4C48-94DC-01D1BE20E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3667125" y="3857625"/>
            <a:ext cx="1266825" cy="714375"/>
          </a:xfrm>
          <a:prstGeom xmlns:a="http://schemas.openxmlformats.org/drawingml/2006/main" prst="line">
            <a:avLst/>
          </a:prstGeom>
          <a:ln xmlns:a="http://schemas.openxmlformats.org/drawingml/2006/main" w="15240">
            <a:solidFill>
              <a:srgbClr val="A66D08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F014021-F728-4D3D-AAA4-BB895F53E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4878532" y="3857625"/>
            <a:ext cx="55418" cy="88919"/>
          </a:xfrm>
          <a:prstGeom xmlns:a="http://schemas.openxmlformats.org/drawingml/2006/main" prst="line">
            <a:avLst/>
          </a:prstGeom>
          <a:ln xmlns:a="http://schemas.openxmlformats.org/drawingml/2006/main" w="15240">
            <a:solidFill>
              <a:srgbClr val="A66D08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38EAED2-1CAF-473A-8ACF-C09A412C6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4829184" y="3857625"/>
            <a:ext cx="104766" cy="1410"/>
          </a:xfrm>
          <a:prstGeom xmlns:a="http://schemas.openxmlformats.org/drawingml/2006/main" prst="line">
            <a:avLst/>
          </a:prstGeom>
          <a:ln xmlns:a="http://schemas.openxmlformats.org/drawingml/2006/main" w="15240">
            <a:solidFill>
              <a:srgbClr val="A66D08"/>
            </a:solidFill>
          </a:ln>
        </p:spPr>
      </p:sp>
      <p:sp>
        <p:nvSpPr>
          <p:cNvPr id="24" name="owner">
            <a:extLst xmlns:a="http://schemas.openxmlformats.org/drawingml/2006/main">
              <a:ext uri="{FF2B5EF4-FFF2-40B4-BE49-F238E27FC236}">
                <a16:creationId xmlns:a16="http://schemas.microsoft.com/office/drawing/2014/main" id="{30FBFE0A-937F-4796-8B71-DE2C65D56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2362200"/>
            <a:ext cx="95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A66D08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1575" b="0">
                <a:solidFill>
                  <a:srgbClr val="A66D08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1575" b="0">
                <a:solidFill>
                  <a:srgbClr val="A66D08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1575" b="0">
                <a:solidFill>
                  <a:srgbClr val="A66D08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1575" b="0">
                <a:solidFill>
                  <a:srgbClr val="A66D08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1575" b="0">
                <a:solidFill>
                  <a:srgbClr val="A66D08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1575" b="0">
                <a:solidFill>
                  <a:srgbClr val="A66D08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1575" b="0">
                <a:solidFill>
                  <a:srgbClr val="A66D08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1575" b="0">
                <a:solidFill>
                  <a:srgbClr val="A66D08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1575" b="0">
                <a:solidFill>
                  <a:srgbClr val="A66D08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1575" b="0">
                <a:solidFill>
                  <a:srgbClr val="A66D08"/>
                </a:solidFill>
                <a:latin typeface="Yu Gothic"/>
                <a:ea typeface="Yu Gothic"/>
                <a:cs typeface="Yu Gothic"/>
              </a:defRPr>
            </a:pPr>
            <a:r>
              <a:rPr sz="1575" b="0">
                <a:solidFill>
                  <a:srgbClr val="A66D08"/>
                </a:solidFill>
                <a:latin typeface="Yu Gothic"/>
                <a:ea typeface="Yu Gothic"/>
                <a:cs typeface="Yu Gothic"/>
              </a:rPr>
              <a:t>owner</a:t>
            </a:r>
          </a:p>
        </p:txBody>
      </p:sp>
      <p:sp>
        <p:nvSpPr>
          <p:cNvPr id="25" name="owner">
            <a:extLst xmlns:a="http://schemas.openxmlformats.org/drawingml/2006/main">
              <a:ext uri="{FF2B5EF4-FFF2-40B4-BE49-F238E27FC236}">
                <a16:creationId xmlns:a16="http://schemas.microsoft.com/office/drawing/2014/main" id="{DFE29096-3D6D-4BF1-B8AF-636F1B64B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4333875"/>
            <a:ext cx="95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A66D08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1575" b="0">
                <a:solidFill>
                  <a:srgbClr val="A66D08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1575" b="0">
                <a:solidFill>
                  <a:srgbClr val="A66D08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1575" b="0">
                <a:solidFill>
                  <a:srgbClr val="A66D08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1575" b="0">
                <a:solidFill>
                  <a:srgbClr val="A66D08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1575" b="0">
                <a:solidFill>
                  <a:srgbClr val="A66D08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1575" b="0">
                <a:solidFill>
                  <a:srgbClr val="A66D08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1575" b="0">
                <a:solidFill>
                  <a:srgbClr val="A66D08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1575" b="0">
                <a:solidFill>
                  <a:srgbClr val="A66D08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1575" b="0">
                <a:solidFill>
                  <a:srgbClr val="A66D08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1575" b="0">
                <a:solidFill>
                  <a:srgbClr val="A66D08"/>
                </a:solidFill>
                <a:latin typeface="Yu Gothic"/>
                <a:ea typeface="Yu Gothic"/>
                <a:cs typeface="Yu Gothic"/>
              </a:defRPr>
            </a:pPr>
            <a:r>
              <a:rPr sz="1575" b="0">
                <a:solidFill>
                  <a:srgbClr val="A66D08"/>
                </a:solidFill>
                <a:latin typeface="Yu Gothic"/>
                <a:ea typeface="Yu Gothic"/>
                <a:cs typeface="Yu Gothic"/>
              </a:rPr>
              <a:t>owner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21EE28E-6083-4056-BFA2-236A42A95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666875"/>
            <a:ext cx="2667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F4A44"/>
            </a:solidFill>
          </a:ln>
        </p:spPr>
      </p:sp>
      <p:sp>
        <p:nvSpPr>
          <p:cNvPr id="27" name="E01 : Enemy">
            <a:extLst xmlns:a="http://schemas.openxmlformats.org/drawingml/2006/main">
              <a:ext uri="{FF2B5EF4-FFF2-40B4-BE49-F238E27FC236}">
                <a16:creationId xmlns:a16="http://schemas.microsoft.com/office/drawing/2014/main" id="{552FC465-A798-49BC-805E-33EDCA7A6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1752600"/>
            <a:ext cx="23622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BF4A44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1875" b="1">
                <a:solidFill>
                  <a:srgbClr val="BF4A44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1875" b="1">
                <a:solidFill>
                  <a:srgbClr val="BF4A44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1875" b="1">
                <a:solidFill>
                  <a:srgbClr val="BF4A44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1875" b="1">
                <a:solidFill>
                  <a:srgbClr val="BF4A44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1875" b="1">
                <a:solidFill>
                  <a:srgbClr val="BF4A44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1875" b="1">
                <a:solidFill>
                  <a:srgbClr val="BF4A44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1875" b="1">
                <a:solidFill>
                  <a:srgbClr val="BF4A44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1875" b="1">
                <a:solidFill>
                  <a:srgbClr val="BF4A44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1875" b="1">
                <a:solidFill>
                  <a:srgbClr val="BF4A44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1875" b="1">
                <a:solidFill>
                  <a:srgbClr val="BF4A44"/>
                </a:solidFill>
                <a:latin typeface="Yu Gothic"/>
                <a:ea typeface="Yu Gothic"/>
                <a:cs typeface="Yu Gothic"/>
              </a:defRPr>
            </a:pPr>
            <a:r>
              <a:rPr sz="1875" b="1">
                <a:solidFill>
                  <a:srgbClr val="BF4A44"/>
                </a:solidFill>
                <a:latin typeface="Yu Gothic"/>
                <a:ea typeface="Yu Gothic"/>
                <a:cs typeface="Yu Gothic"/>
              </a:rPr>
              <a:t>E01 : Enemy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607F640-410E-47A0-A364-208DE91D2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105900" y="2019300"/>
            <a:ext cx="1466850" cy="0"/>
          </a:xfrm>
          <a:prstGeom xmlns:a="http://schemas.openxmlformats.org/drawingml/2006/main" prst="line">
            <a:avLst/>
          </a:prstGeom>
          <a:ln xmlns:a="http://schemas.openxmlformats.org/drawingml/2006/main" w="15240">
            <a:solidFill>
              <a:srgbClr val="BF4A44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8D48B32-144E-4169-87DC-2EF7C7D1D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953500" y="2124075"/>
            <a:ext cx="2667000" cy="0"/>
          </a:xfrm>
          <a:prstGeom xmlns:a="http://schemas.openxmlformats.org/drawingml/2006/main" prst="line">
            <a:avLst/>
          </a:prstGeom>
          <a:ln xmlns:a="http://schemas.openxmlformats.org/drawingml/2006/main" w="15240">
            <a:solidFill>
              <a:srgbClr val="BF4A44"/>
            </a:solidFill>
          </a:ln>
        </p:spPr>
      </p:sp>
      <p:sp>
        <p:nvSpPr>
          <p:cNvPr id="30" name="hp = 1 velocity.y = 65">
            <a:extLst xmlns:a="http://schemas.openxmlformats.org/drawingml/2006/main">
              <a:ext uri="{FF2B5EF4-FFF2-40B4-BE49-F238E27FC236}">
                <a16:creationId xmlns:a16="http://schemas.microsoft.com/office/drawing/2014/main" id="{5AB8378D-830C-4B88-A1AF-16294A2F4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219325"/>
            <a:ext cx="238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157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157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157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157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157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157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157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157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157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157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pPr>
            <a:r>
              <a:rPr sz="1575" b="0">
                <a:solidFill>
                  <a:srgbClr val="172C40"/>
                </a:solidFill>
                <a:latin typeface="Yu Gothic"/>
                <a:ea typeface="Yu Gothic"/>
                <a:cs typeface="Yu Gothic"/>
              </a:rPr>
              <a:t>hp = 1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pPr>
            <a:r>
              <a:rPr sz="1575" b="0">
                <a:solidFill>
                  <a:srgbClr val="172C40"/>
                </a:solidFill>
                <a:latin typeface="Yu Gothic"/>
                <a:ea typeface="Yu Gothic"/>
                <a:cs typeface="Yu Gothic"/>
              </a:rPr>
              <a:t>velocity.y = 65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B9020F7-2F11-4705-A498-538FF7D4D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190875"/>
            <a:ext cx="2667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7654B2"/>
            </a:solidFill>
          </a:ln>
        </p:spPr>
      </p:sp>
      <p:sp>
        <p:nvSpPr>
          <p:cNvPr id="32" name="E02 : Enemy">
            <a:extLst xmlns:a="http://schemas.openxmlformats.org/drawingml/2006/main">
              <a:ext uri="{FF2B5EF4-FFF2-40B4-BE49-F238E27FC236}">
                <a16:creationId xmlns:a16="http://schemas.microsoft.com/office/drawing/2014/main" id="{89A7F389-477C-45DA-B1DD-67C4B04BC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276600"/>
            <a:ext cx="23622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7654B2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1875" b="1">
                <a:solidFill>
                  <a:srgbClr val="7654B2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1875" b="1">
                <a:solidFill>
                  <a:srgbClr val="7654B2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1875" b="1">
                <a:solidFill>
                  <a:srgbClr val="7654B2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1875" b="1">
                <a:solidFill>
                  <a:srgbClr val="7654B2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1875" b="1">
                <a:solidFill>
                  <a:srgbClr val="7654B2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1875" b="1">
                <a:solidFill>
                  <a:srgbClr val="7654B2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1875" b="1">
                <a:solidFill>
                  <a:srgbClr val="7654B2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1875" b="1">
                <a:solidFill>
                  <a:srgbClr val="7654B2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1875" b="1">
                <a:solidFill>
                  <a:srgbClr val="7654B2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1875" b="1">
                <a:solidFill>
                  <a:srgbClr val="7654B2"/>
                </a:solidFill>
                <a:latin typeface="Yu Gothic"/>
                <a:ea typeface="Yu Gothic"/>
                <a:cs typeface="Yu Gothic"/>
              </a:defRPr>
            </a:pPr>
            <a:r>
              <a:rPr sz="1875" b="1">
                <a:solidFill>
                  <a:srgbClr val="7654B2"/>
                </a:solidFill>
                <a:latin typeface="Yu Gothic"/>
                <a:ea typeface="Yu Gothic"/>
                <a:cs typeface="Yu Gothic"/>
              </a:rPr>
              <a:t>E02 : Enemy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C531B74-75C3-4F20-B4C7-E7B05A1F7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105900" y="3543300"/>
            <a:ext cx="1466850" cy="0"/>
          </a:xfrm>
          <a:prstGeom xmlns:a="http://schemas.openxmlformats.org/drawingml/2006/main" prst="line">
            <a:avLst/>
          </a:prstGeom>
          <a:ln xmlns:a="http://schemas.openxmlformats.org/drawingml/2006/main" w="15240">
            <a:solidFill>
              <a:srgbClr val="7654B2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AF38D82-4AA4-4668-8579-AC36365F3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953500" y="3648075"/>
            <a:ext cx="2667000" cy="0"/>
          </a:xfrm>
          <a:prstGeom xmlns:a="http://schemas.openxmlformats.org/drawingml/2006/main" prst="line">
            <a:avLst/>
          </a:prstGeom>
          <a:ln xmlns:a="http://schemas.openxmlformats.org/drawingml/2006/main" w="15240">
            <a:solidFill>
              <a:srgbClr val="7654B2"/>
            </a:solidFill>
          </a:ln>
        </p:spPr>
      </p:sp>
      <p:sp>
        <p:nvSpPr>
          <p:cNvPr id="35" name="hp = 2 velocity.y = 85">
            <a:extLst xmlns:a="http://schemas.openxmlformats.org/drawingml/2006/main">
              <a:ext uri="{FF2B5EF4-FFF2-40B4-BE49-F238E27FC236}">
                <a16:creationId xmlns:a16="http://schemas.microsoft.com/office/drawing/2014/main" id="{30FA8EA8-F9BE-4B9F-B378-856E23AE4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743325"/>
            <a:ext cx="238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157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157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157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157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157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157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157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157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157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157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pPr>
            <a:r>
              <a:rPr sz="1575" b="0">
                <a:solidFill>
                  <a:srgbClr val="172C40"/>
                </a:solidFill>
                <a:latin typeface="Yu Gothic"/>
                <a:ea typeface="Yu Gothic"/>
                <a:cs typeface="Yu Gothic"/>
              </a:rPr>
              <a:t>hp = 2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pPr>
            <a:r>
              <a:rPr sz="1575" b="0">
                <a:solidFill>
                  <a:srgbClr val="172C40"/>
                </a:solidFill>
                <a:latin typeface="Yu Gothic"/>
                <a:ea typeface="Yu Gothic"/>
                <a:cs typeface="Yu Gothic"/>
              </a:rPr>
              <a:t>velocity.y = 85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97016FC-CAD5-4BFD-AFF0-5C8B894A0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524375"/>
            <a:ext cx="2667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F4A44"/>
            </a:solidFill>
          </a:ln>
        </p:spPr>
      </p:sp>
      <p:sp>
        <p:nvSpPr>
          <p:cNvPr id="37" name="E03 : Enemy">
            <a:extLst xmlns:a="http://schemas.openxmlformats.org/drawingml/2006/main">
              <a:ext uri="{FF2B5EF4-FFF2-40B4-BE49-F238E27FC236}">
                <a16:creationId xmlns:a16="http://schemas.microsoft.com/office/drawing/2014/main" id="{509241E1-76DA-40B8-A759-AC2995820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4610100"/>
            <a:ext cx="23622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BF4A44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1875" b="1">
                <a:solidFill>
                  <a:srgbClr val="BF4A44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1875" b="1">
                <a:solidFill>
                  <a:srgbClr val="BF4A44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1875" b="1">
                <a:solidFill>
                  <a:srgbClr val="BF4A44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1875" b="1">
                <a:solidFill>
                  <a:srgbClr val="BF4A44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1875" b="1">
                <a:solidFill>
                  <a:srgbClr val="BF4A44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1875" b="1">
                <a:solidFill>
                  <a:srgbClr val="BF4A44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1875" b="1">
                <a:solidFill>
                  <a:srgbClr val="BF4A44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1875" b="1">
                <a:solidFill>
                  <a:srgbClr val="BF4A44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1875" b="1">
                <a:solidFill>
                  <a:srgbClr val="BF4A44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1875" b="1">
                <a:solidFill>
                  <a:srgbClr val="BF4A44"/>
                </a:solidFill>
                <a:latin typeface="Yu Gothic"/>
                <a:ea typeface="Yu Gothic"/>
                <a:cs typeface="Yu Gothic"/>
              </a:defRPr>
            </a:pPr>
            <a:r>
              <a:rPr sz="1875" b="1">
                <a:solidFill>
                  <a:srgbClr val="BF4A44"/>
                </a:solidFill>
                <a:latin typeface="Yu Gothic"/>
                <a:ea typeface="Yu Gothic"/>
                <a:cs typeface="Yu Gothic"/>
              </a:rPr>
              <a:t>E03 : Enemy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EAC969E-2D5E-4355-A0F4-23273C209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105900" y="4876800"/>
            <a:ext cx="1466850" cy="0"/>
          </a:xfrm>
          <a:prstGeom xmlns:a="http://schemas.openxmlformats.org/drawingml/2006/main" prst="line">
            <a:avLst/>
          </a:prstGeom>
          <a:ln xmlns:a="http://schemas.openxmlformats.org/drawingml/2006/main" w="15240">
            <a:solidFill>
              <a:srgbClr val="BF4A44"/>
            </a:solidFill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5E95D31-80CD-4AF9-AB69-9DFC7510A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953500" y="4981575"/>
            <a:ext cx="2667000" cy="0"/>
          </a:xfrm>
          <a:prstGeom xmlns:a="http://schemas.openxmlformats.org/drawingml/2006/main" prst="line">
            <a:avLst/>
          </a:prstGeom>
          <a:ln xmlns:a="http://schemas.openxmlformats.org/drawingml/2006/main" w="15240">
            <a:solidFill>
              <a:srgbClr val="BF4A44"/>
            </a:solidFill>
          </a:ln>
        </p:spPr>
      </p:sp>
      <p:sp>
        <p:nvSpPr>
          <p:cNvPr id="40" name="hp = 1 velocity.y = 100">
            <a:extLst xmlns:a="http://schemas.openxmlformats.org/drawingml/2006/main">
              <a:ext uri="{FF2B5EF4-FFF2-40B4-BE49-F238E27FC236}">
                <a16:creationId xmlns:a16="http://schemas.microsoft.com/office/drawing/2014/main" id="{6FD635AC-3D2F-477D-8BEF-BF065F48C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5076825"/>
            <a:ext cx="238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157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157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157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157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157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157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157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157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157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157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pPr>
            <a:r>
              <a:rPr sz="1575" b="0">
                <a:solidFill>
                  <a:srgbClr val="172C40"/>
                </a:solidFill>
                <a:latin typeface="Yu Gothic"/>
                <a:ea typeface="Yu Gothic"/>
                <a:cs typeface="Yu Gothic"/>
              </a:rPr>
              <a:t>hp = 1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pPr>
            <a:r>
              <a:rPr sz="1575" b="0">
                <a:solidFill>
                  <a:srgbClr val="172C40"/>
                </a:solidFill>
                <a:latin typeface="Yu Gothic"/>
                <a:ea typeface="Yu Gothic"/>
                <a:cs typeface="Yu Gothic"/>
              </a:rPr>
              <a:t>velocity.y = 100</a:t>
            </a:r>
          </a:p>
        </p:txBody>
      </p:sp>
      <p:sp>
        <p:nvSpPr>
          <p:cNvPr id="41" name="B01.owner is B02.owner  →  True">
            <a:extLst xmlns:a="http://schemas.openxmlformats.org/drawingml/2006/main">
              <a:ext uri="{FF2B5EF4-FFF2-40B4-BE49-F238E27FC236}">
                <a16:creationId xmlns:a16="http://schemas.microsoft.com/office/drawing/2014/main" id="{88E12B0D-7F58-4BA2-AEF3-577EA195F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429250"/>
            <a:ext cx="781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087C62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1875" b="0">
                <a:solidFill>
                  <a:srgbClr val="087C62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1875" b="0">
                <a:solidFill>
                  <a:srgbClr val="087C62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1875" b="0">
                <a:solidFill>
                  <a:srgbClr val="087C62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1875" b="0">
                <a:solidFill>
                  <a:srgbClr val="087C62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1875" b="0">
                <a:solidFill>
                  <a:srgbClr val="087C62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1875" b="0">
                <a:solidFill>
                  <a:srgbClr val="087C62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1875" b="0">
                <a:solidFill>
                  <a:srgbClr val="087C62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1875" b="0">
                <a:solidFill>
                  <a:srgbClr val="087C62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1875" b="0">
                <a:solidFill>
                  <a:srgbClr val="087C62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1875" b="0">
                <a:solidFill>
                  <a:srgbClr val="087C62"/>
                </a:solidFill>
                <a:latin typeface="Yu Gothic"/>
                <a:ea typeface="Yu Gothic"/>
                <a:cs typeface="Yu Gothic"/>
              </a:defRPr>
            </a:pPr>
            <a:r>
              <a:rPr sz="1875" b="0">
                <a:solidFill>
                  <a:srgbClr val="087C62"/>
                </a:solidFill>
                <a:latin typeface="Yu Gothic"/>
                <a:ea typeface="Yu Gothic"/>
                <a:cs typeface="Yu Gothic"/>
              </a:rPr>
              <a:t>B01.owner is B02.owner  →  True</a:t>
            </a:r>
          </a:p>
        </p:txBody>
      </p:sp>
      <p:sp>
        <p:nvSpPr>
          <p:cNvPr id="42" name="B01.owner と B02.owner は同じ player を指し、自機のコピーは作らない。">
            <a:extLst xmlns:a="http://schemas.openxmlformats.org/drawingml/2006/main">
              <a:ext uri="{FF2B5EF4-FFF2-40B4-BE49-F238E27FC236}">
                <a16:creationId xmlns:a16="http://schemas.microsoft.com/office/drawing/2014/main" id="{38070306-B4DB-439F-9824-4997EB758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05500"/>
            <a:ext cx="5238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1500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1500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1500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1500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1500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1500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1500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1500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1500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1500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pPr>
            <a:r>
              <a:rPr sz="1500" b="0">
                <a:solidFill>
                  <a:srgbClr val="5B7082"/>
                </a:solidFill>
                <a:latin typeface="Yu Gothic"/>
                <a:ea typeface="Yu Gothic"/>
                <a:cs typeface="Yu Gothic"/>
              </a:rPr>
              <a:t>B01.owner と B02.owner は同じ player を指し、自機のコピーは作らない。</a:t>
            </a:r>
          </a:p>
        </p:txBody>
      </p:sp>
      <p:sp>
        <p:nvSpPr>
          <p:cNvPr id="43" name="各敵の HP・位置・速度はそれぞれ独立している。">
            <a:extLst xmlns:a="http://schemas.openxmlformats.org/drawingml/2006/main">
              <a:ext uri="{FF2B5EF4-FFF2-40B4-BE49-F238E27FC236}">
                <a16:creationId xmlns:a16="http://schemas.microsoft.com/office/drawing/2014/main" id="{39C785BC-8D82-4B22-9BF1-72F491941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5905500"/>
            <a:ext cx="5238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1500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1500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1500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1500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1500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1500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1500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1500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1500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1500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pPr>
            <a:r>
              <a:rPr sz="1500" b="0">
                <a:solidFill>
                  <a:srgbClr val="5B7082"/>
                </a:solidFill>
                <a:latin typeface="Yu Gothic"/>
                <a:ea typeface="Yu Gothic"/>
                <a:cs typeface="Yu Gothic"/>
              </a:rPr>
              <a:t>各敵の HP・位置・速度はそれぞれ独立している。</a:t>
            </a:r>
          </a:p>
        </p:txBody>
      </p:sp>
      <p:sp>
        <p:nvSpPr>
          <p:cNvPr id="44" name="11">
            <a:extLst xmlns:a="http://schemas.openxmlformats.org/drawingml/2006/main">
              <a:ext uri="{FF2B5EF4-FFF2-40B4-BE49-F238E27FC236}">
                <a16:creationId xmlns:a16="http://schemas.microsoft.com/office/drawing/2014/main" id="{F7BF4C6A-9168-446C-8273-6AE5BD5DB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505575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1200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1200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1200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1200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1200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1200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1200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1200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1200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1200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pPr>
            <a:r>
              <a:rPr sz="1200" b="0">
                <a:solidFill>
                  <a:srgbClr val="5B7082"/>
                </a:solidFill>
                <a:latin typeface="Yu Gothic"/>
                <a:ea typeface="Yu Gothic"/>
                <a:cs typeface="Yu Gothic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06053398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B14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Group は分類し、コピーはしない">
            <a:extLst xmlns:a="http://schemas.openxmlformats.org/drawingml/2006/main">
              <a:ext uri="{FF2B5EF4-FFF2-40B4-BE49-F238E27FC236}">
                <a16:creationId xmlns:a16="http://schemas.microsoft.com/office/drawing/2014/main" id="{9A30BECD-D6A5-4994-8A41-B810D7B8C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428625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3300" b="1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3300" b="1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3300" b="1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3300" b="1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3300" b="1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3300" b="1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3300" b="1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3300" b="1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3300" b="1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3300" b="1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pPr>
            <a:r>
              <a:rPr sz="3300" b="1">
                <a:solidFill>
                  <a:srgbClr val="EDF4FB"/>
                </a:solidFill>
                <a:latin typeface="Yu Gothic"/>
                <a:ea typeface="Yu Gothic"/>
                <a:cs typeface="Yu Gothic"/>
              </a:rPr>
              <a:t>Group は分類し、コピーはしない</a:t>
            </a:r>
          </a:p>
        </p:txBody>
      </p:sp>
      <p:sp>
        <p:nvSpPr>
          <p:cNvPr id="2" name="同じ Enemy が同時に二つのグループに所属できる">
            <a:extLst xmlns:a="http://schemas.openxmlformats.org/drawingml/2006/main">
              <a:ext uri="{FF2B5EF4-FFF2-40B4-BE49-F238E27FC236}">
                <a16:creationId xmlns:a16="http://schemas.microsoft.com/office/drawing/2014/main" id="{4C33619E-E977-4C32-9A55-F510C776A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1181100"/>
            <a:ext cx="110013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rPr>
              <a:t>同じ Enemy が同時に二つのグループに所属できる</a:t>
            </a:r>
          </a:p>
        </p:txBody>
      </p:sp>
      <p:sp>
        <p:nvSpPr>
          <p:cNvPr id="3" name="e = Enemy(&quot;E01&quot;, (180, 180))">
            <a:extLst xmlns:a="http://schemas.openxmlformats.org/drawingml/2006/main">
              <a:ext uri="{FF2B5EF4-FFF2-40B4-BE49-F238E27FC236}">
                <a16:creationId xmlns:a16="http://schemas.microsoft.com/office/drawing/2014/main" id="{E705D89C-B8FC-4176-B991-2C7655ABE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914525"/>
            <a:ext cx="11001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e = Enemy("E01", (180, 180))</a:t>
            </a:r>
          </a:p>
        </p:txBody>
      </p:sp>
      <p:sp>
        <p:nvSpPr>
          <p:cNvPr id="4" name="all_sprites = pygame.sprite.Group(e)">
            <a:extLst xmlns:a="http://schemas.openxmlformats.org/drawingml/2006/main">
              <a:ext uri="{FF2B5EF4-FFF2-40B4-BE49-F238E27FC236}">
                <a16:creationId xmlns:a16="http://schemas.microsoft.com/office/drawing/2014/main" id="{2A435AD6-8BE4-404E-8CE8-FFB69724A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38375"/>
            <a:ext cx="11001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all_sprites = pygame.sprite.Group(e)</a:t>
            </a:r>
          </a:p>
        </p:txBody>
      </p:sp>
      <p:sp>
        <p:nvSpPr>
          <p:cNvPr id="5" name="enemies = pygame.sprite.Group(e)">
            <a:extLst xmlns:a="http://schemas.openxmlformats.org/drawingml/2006/main">
              <a:ext uri="{FF2B5EF4-FFF2-40B4-BE49-F238E27FC236}">
                <a16:creationId xmlns:a16="http://schemas.microsoft.com/office/drawing/2014/main" id="{BCAD3644-8A83-4272-A083-B6C1262B7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562225"/>
            <a:ext cx="11001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enemies = pygame.sprite.Group(e)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6403F3-5064-4039-95C3-CE734981C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86075"/>
            <a:ext cx="11001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7" name="print(all_sprites.sprites()[0] is e)  # True">
            <a:extLst xmlns:a="http://schemas.openxmlformats.org/drawingml/2006/main">
              <a:ext uri="{FF2B5EF4-FFF2-40B4-BE49-F238E27FC236}">
                <a16:creationId xmlns:a16="http://schemas.microsoft.com/office/drawing/2014/main" id="{3D840237-113D-40CB-ADB9-3447EE359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09925"/>
            <a:ext cx="11001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print(all_sprites.sprites()[0] is e)  # True</a:t>
            </a:r>
          </a:p>
        </p:txBody>
      </p:sp>
      <p:sp>
        <p:nvSpPr>
          <p:cNvPr id="8" name="print(enemies.sprites()[0] is e)      # True">
            <a:extLst xmlns:a="http://schemas.openxmlformats.org/drawingml/2006/main">
              <a:ext uri="{FF2B5EF4-FFF2-40B4-BE49-F238E27FC236}">
                <a16:creationId xmlns:a16="http://schemas.microsoft.com/office/drawing/2014/main" id="{768B44FE-4378-45D3-A531-352B1F1AF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533775"/>
            <a:ext cx="11001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print(enemies.sprites()[0] is e)      # True</a:t>
            </a:r>
          </a:p>
        </p:txBody>
      </p:sp>
      <p:sp>
        <p:nvSpPr>
          <p:cNvPr id="9" name="all_sprites は更新と描画、enemies は敵との衝突判定に使う。">
            <a:extLst xmlns:a="http://schemas.openxmlformats.org/drawingml/2006/main">
              <a:ext uri="{FF2B5EF4-FFF2-40B4-BE49-F238E27FC236}">
                <a16:creationId xmlns:a16="http://schemas.microsoft.com/office/drawing/2014/main" id="{1453B16B-F631-4AC5-AD2B-F55105326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267325"/>
            <a:ext cx="5191125" cy="1019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pPr>
            <a:r>
              <a: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rPr>
              <a:t>all_sprites は更新と描画、enemies は敵との衝突判定に使う。</a:t>
            </a:r>
          </a:p>
        </p:txBody>
      </p:sp>
      <p:sp>
        <p:nvSpPr>
          <p:cNvPr id="10" name="e.hp を変更すると、どちらの参照から見ても同じ変更が現れる。">
            <a:extLst xmlns:a="http://schemas.openxmlformats.org/drawingml/2006/main">
              <a:ext uri="{FF2B5EF4-FFF2-40B4-BE49-F238E27FC236}">
                <a16:creationId xmlns:a16="http://schemas.microsoft.com/office/drawing/2014/main" id="{830B2A12-8FA5-4789-883F-F61932AF0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5267325"/>
            <a:ext cx="5191125" cy="1019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pPr>
            <a:r>
              <a: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rPr>
              <a:t>e.hp を変更すると、どちらの参照から見ても同じ変更が現れる。</a:t>
            </a:r>
          </a:p>
        </p:txBody>
      </p:sp>
      <p:sp>
        <p:nvSpPr>
          <p:cNvPr id="11" name="game.py · spawn_enemy()">
            <a:extLst xmlns:a="http://schemas.openxmlformats.org/drawingml/2006/main">
              <a:ext uri="{FF2B5EF4-FFF2-40B4-BE49-F238E27FC236}">
                <a16:creationId xmlns:a16="http://schemas.microsoft.com/office/drawing/2014/main" id="{FF43ABC0-4BC8-4ABC-AC33-67EE2693D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67475"/>
            <a:ext cx="1047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buNone/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buNone/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buNone/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buNone/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buNone/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buNone/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buNone/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buNone/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buNone/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buNone/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game.py · spawn_enemy()</a:t>
            </a:r>
          </a:p>
        </p:txBody>
      </p:sp>
      <p:sp>
        <p:nvSpPr>
          <p:cNvPr id="12" name="12">
            <a:extLst xmlns:a="http://schemas.openxmlformats.org/drawingml/2006/main">
              <a:ext uri="{FF2B5EF4-FFF2-40B4-BE49-F238E27FC236}">
                <a16:creationId xmlns:a16="http://schemas.microsoft.com/office/drawing/2014/main" id="{6D438BBA-BA4E-46B2-BF6C-032ED3167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505575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pPr>
            <a:r>
              <a: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82218594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B14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Actor：共通のデータをまとめる">
            <a:extLst xmlns:a="http://schemas.openxmlformats.org/drawingml/2006/main">
              <a:ext uri="{FF2B5EF4-FFF2-40B4-BE49-F238E27FC236}">
                <a16:creationId xmlns:a16="http://schemas.microsoft.com/office/drawing/2014/main" id="{8E089D48-2173-45B3-9909-3663C5303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428625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3300" b="1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3300" b="1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3300" b="1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3300" b="1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3300" b="1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3300" b="1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3300" b="1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3300" b="1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3300" b="1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3300" b="1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pPr>
            <a:r>
              <a:rPr sz="3300" b="1">
                <a:solidFill>
                  <a:srgbClr val="EDF4FB"/>
                </a:solidFill>
                <a:latin typeface="Yu Gothic"/>
                <a:ea typeface="Yu Gothic"/>
                <a:cs typeface="Yu Gothic"/>
              </a:rPr>
              <a:t>Actor：共通のデータをまとめる</a:t>
            </a:r>
          </a:p>
        </p:txBody>
      </p:sp>
      <p:sp>
        <p:nvSpPr>
          <p:cNvPr id="2" name="image は外観、rect は配置と衝突範囲">
            <a:extLst xmlns:a="http://schemas.openxmlformats.org/drawingml/2006/main">
              <a:ext uri="{FF2B5EF4-FFF2-40B4-BE49-F238E27FC236}">
                <a16:creationId xmlns:a16="http://schemas.microsoft.com/office/drawing/2014/main" id="{97C812B6-D0B6-4CE3-97FF-DC3294564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1181100"/>
            <a:ext cx="110013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rPr>
              <a:t>image は外観、rect は配置と衝突範囲</a:t>
            </a:r>
          </a:p>
        </p:txBody>
      </p:sp>
      <p:sp>
        <p:nvSpPr>
          <p:cNvPr id="3" name="class Actor(pygame.sprite.Sprite):">
            <a:extLst xmlns:a="http://schemas.openxmlformats.org/drawingml/2006/main">
              <a:ext uri="{FF2B5EF4-FFF2-40B4-BE49-F238E27FC236}">
                <a16:creationId xmlns:a16="http://schemas.microsoft.com/office/drawing/2014/main" id="{4ACE0393-BB9E-42F1-821C-33175F9CE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914525"/>
            <a:ext cx="11001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class Actor(pygame.sprite.Sprite):</a:t>
            </a:r>
          </a:p>
        </p:txBody>
      </p:sp>
      <p:sp>
        <p:nvSpPr>
          <p:cNvPr id="4" name="    def __init__(self, name, position, size):">
            <a:extLst xmlns:a="http://schemas.openxmlformats.org/drawingml/2006/main">
              <a:ext uri="{FF2B5EF4-FFF2-40B4-BE49-F238E27FC236}">
                <a16:creationId xmlns:a16="http://schemas.microsoft.com/office/drawing/2014/main" id="{6EC4F655-9DA3-41C0-9C7F-B1518C9BB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38375"/>
            <a:ext cx="11001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    def __init__(self, name, position, size):</a:t>
            </a:r>
          </a:p>
        </p:txBody>
      </p:sp>
      <p:sp>
        <p:nvSpPr>
          <p:cNvPr id="5" name="        super().__init__()">
            <a:extLst xmlns:a="http://schemas.openxmlformats.org/drawingml/2006/main">
              <a:ext uri="{FF2B5EF4-FFF2-40B4-BE49-F238E27FC236}">
                <a16:creationId xmlns:a16="http://schemas.microsoft.com/office/drawing/2014/main" id="{9A7BAEA8-8AF8-4514-A1DA-0485A6CA7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562225"/>
            <a:ext cx="11001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        super().__init__()</a:t>
            </a:r>
          </a:p>
        </p:txBody>
      </p:sp>
      <p:sp>
        <p:nvSpPr>
          <p:cNvPr id="6" name="        self.name = name">
            <a:extLst xmlns:a="http://schemas.openxmlformats.org/drawingml/2006/main">
              <a:ext uri="{FF2B5EF4-FFF2-40B4-BE49-F238E27FC236}">
                <a16:creationId xmlns:a16="http://schemas.microsoft.com/office/drawing/2014/main" id="{0FE3AE03-9047-4EEE-97DB-D67E6722E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86075"/>
            <a:ext cx="11001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        self.name = name</a:t>
            </a:r>
          </a:p>
        </p:txBody>
      </p:sp>
      <p:sp>
        <p:nvSpPr>
          <p:cNvPr id="7" name="        self.image = pygame.Surface(size, pygame.SRCALPHA)">
            <a:extLst xmlns:a="http://schemas.openxmlformats.org/drawingml/2006/main">
              <a:ext uri="{FF2B5EF4-FFF2-40B4-BE49-F238E27FC236}">
                <a16:creationId xmlns:a16="http://schemas.microsoft.com/office/drawing/2014/main" id="{1844A131-8034-4F5C-81EB-EAB897174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09925"/>
            <a:ext cx="11001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        self.image = pygame.Surface(size, pygame.SRCALPHA)</a:t>
            </a:r>
          </a:p>
        </p:txBody>
      </p:sp>
      <p:sp>
        <p:nvSpPr>
          <p:cNvPr id="8" name="        self.pos = pygame.Vector2(position)">
            <a:extLst xmlns:a="http://schemas.openxmlformats.org/drawingml/2006/main">
              <a:ext uri="{FF2B5EF4-FFF2-40B4-BE49-F238E27FC236}">
                <a16:creationId xmlns:a16="http://schemas.microsoft.com/office/drawing/2014/main" id="{FE0D971B-F85B-4462-B027-7155606C4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533775"/>
            <a:ext cx="11001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        self.pos = pygame.Vector2(position)</a:t>
            </a:r>
          </a:p>
        </p:txBody>
      </p:sp>
      <p:sp>
        <p:nvSpPr>
          <p:cNvPr id="9" name="        self.rect = self.image.get_rect(center=position)">
            <a:extLst xmlns:a="http://schemas.openxmlformats.org/drawingml/2006/main">
              <a:ext uri="{FF2B5EF4-FFF2-40B4-BE49-F238E27FC236}">
                <a16:creationId xmlns:a16="http://schemas.microsoft.com/office/drawing/2014/main" id="{D32D36CB-5537-414D-828A-AC4BF1CC2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57625"/>
            <a:ext cx="11001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        self.rect = self.image.get_rect(center=position)</a:t>
            </a:r>
          </a:p>
        </p:txBody>
      </p:sp>
      <p:sp>
        <p:nvSpPr>
          <p:cNvPr id="10" name="        self.velocity = pygame.Vector2()">
            <a:extLst xmlns:a="http://schemas.openxmlformats.org/drawingml/2006/main">
              <a:ext uri="{FF2B5EF4-FFF2-40B4-BE49-F238E27FC236}">
                <a16:creationId xmlns:a16="http://schemas.microsoft.com/office/drawing/2014/main" id="{98931A0F-5BFE-4589-A1A1-E651E40DF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181475"/>
            <a:ext cx="11001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        self.velocity = pygame.Vector2()</a:t>
            </a:r>
          </a:p>
        </p:txBody>
      </p:sp>
      <p:sp>
        <p:nvSpPr>
          <p:cNvPr id="11" name="super().__init__() で Sprite のグループ管理機能を初期化する。">
            <a:extLst xmlns:a="http://schemas.openxmlformats.org/drawingml/2006/main">
              <a:ext uri="{FF2B5EF4-FFF2-40B4-BE49-F238E27FC236}">
                <a16:creationId xmlns:a16="http://schemas.microsoft.com/office/drawing/2014/main" id="{F1376251-9FB3-4D3B-B94F-9B0A7EED1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267325"/>
            <a:ext cx="5191125" cy="1019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pPr>
            <a:r>
              <a: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rPr>
              <a:t>super().__init__() で Sprite のグループ管理機能を初期化する。</a:t>
            </a:r>
          </a:p>
        </p:txBody>
      </p:sp>
      <p:sp>
        <p:nvSpPr>
          <p:cNvPr id="12" name="pos は浮動小数点の座標、rect は整数ピクセルの座標を持つ。">
            <a:extLst xmlns:a="http://schemas.openxmlformats.org/drawingml/2006/main">
              <a:ext uri="{FF2B5EF4-FFF2-40B4-BE49-F238E27FC236}">
                <a16:creationId xmlns:a16="http://schemas.microsoft.com/office/drawing/2014/main" id="{32231FE1-97EF-4D84-BC5A-45577A577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5267325"/>
            <a:ext cx="5191125" cy="1019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pPr>
            <a:r>
              <a: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rPr>
              <a:t>pos は浮動小数点の座標、rect は整数ピクセルの座標を持つ。</a:t>
            </a:r>
          </a:p>
        </p:txBody>
      </p:sp>
      <p:sp>
        <p:nvSpPr>
          <p:cNvPr id="13" name="actors.py · Actor.__init__()">
            <a:extLst xmlns:a="http://schemas.openxmlformats.org/drawingml/2006/main">
              <a:ext uri="{FF2B5EF4-FFF2-40B4-BE49-F238E27FC236}">
                <a16:creationId xmlns:a16="http://schemas.microsoft.com/office/drawing/2014/main" id="{4B8BC0FF-7510-4D20-A6DD-464A07C07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67475"/>
            <a:ext cx="1047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buNone/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buNone/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buNone/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buNone/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buNone/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buNone/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buNone/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buNone/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buNone/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buNone/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actors.py · Actor.__init__()</a:t>
            </a:r>
          </a:p>
        </p:txBody>
      </p:sp>
      <p:sp>
        <p:nvSpPr>
          <p:cNvPr id="14" name="13">
            <a:extLst xmlns:a="http://schemas.openxmlformats.org/drawingml/2006/main">
              <a:ext uri="{FF2B5EF4-FFF2-40B4-BE49-F238E27FC236}">
                <a16:creationId xmlns:a16="http://schemas.microsoft.com/office/drawing/2014/main" id="{AE36EFD8-4BCA-4631-BE66-08B757A73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505575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pPr>
            <a:r>
              <a: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79647000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B14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移動量 = 速度 × 経過時間">
            <a:extLst xmlns:a="http://schemas.openxmlformats.org/drawingml/2006/main">
              <a:ext uri="{FF2B5EF4-FFF2-40B4-BE49-F238E27FC236}">
                <a16:creationId xmlns:a16="http://schemas.microsoft.com/office/drawing/2014/main" id="{EE2FE21F-D234-4A11-8924-013E4D41E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428625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3300" b="1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3300" b="1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3300" b="1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3300" b="1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3300" b="1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3300" b="1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3300" b="1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3300" b="1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3300" b="1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3300" b="1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pPr>
            <a:r>
              <a:rPr sz="3300" b="1">
                <a:solidFill>
                  <a:srgbClr val="EDF4FB"/>
                </a:solidFill>
                <a:latin typeface="Yu Gothic"/>
                <a:ea typeface="Yu Gothic"/>
                <a:cs typeface="Yu Gothic"/>
              </a:rPr>
              <a:t>移動量 = 速度 × 経過時間</a:t>
            </a:r>
          </a:p>
        </p:txBody>
      </p:sp>
      <p:sp>
        <p:nvSpPr>
          <p:cNvPr id="2" name="dt の単位は秒、速度の単位はピクセル／秒">
            <a:extLst xmlns:a="http://schemas.openxmlformats.org/drawingml/2006/main">
              <a:ext uri="{FF2B5EF4-FFF2-40B4-BE49-F238E27FC236}">
                <a16:creationId xmlns:a16="http://schemas.microsoft.com/office/drawing/2014/main" id="{7D29A62B-E03A-48EF-84C0-5424C8332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1181100"/>
            <a:ext cx="110013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rPr>
              <a:t>dt の単位は秒、速度の単位はピクセル／秒</a:t>
            </a:r>
          </a:p>
        </p:txBody>
      </p:sp>
      <p:sp>
        <p:nvSpPr>
          <p:cNvPr id="3" name="def update(self, dt):">
            <a:extLst xmlns:a="http://schemas.openxmlformats.org/drawingml/2006/main">
              <a:ext uri="{FF2B5EF4-FFF2-40B4-BE49-F238E27FC236}">
                <a16:creationId xmlns:a16="http://schemas.microsoft.com/office/drawing/2014/main" id="{02950C95-9700-4C48-A1D2-A2F9817A8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914525"/>
            <a:ext cx="11001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def update(self, dt):</a:t>
            </a:r>
          </a:p>
        </p:txBody>
      </p:sp>
      <p:sp>
        <p:nvSpPr>
          <p:cNvPr id="4" name="    self.pos += self.velocity * dt">
            <a:extLst xmlns:a="http://schemas.openxmlformats.org/drawingml/2006/main">
              <a:ext uri="{FF2B5EF4-FFF2-40B4-BE49-F238E27FC236}">
                <a16:creationId xmlns:a16="http://schemas.microsoft.com/office/drawing/2014/main" id="{0EE968FB-0AC0-43AD-B096-E00E31463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38375"/>
            <a:ext cx="11001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    self.pos += self.velocity * dt</a:t>
            </a:r>
          </a:p>
        </p:txBody>
      </p:sp>
      <p:sp>
        <p:nvSpPr>
          <p:cNvPr id="5" name="    self.rect.center = (round(self.pos.x), round(self.pos.y))">
            <a:extLst xmlns:a="http://schemas.openxmlformats.org/drawingml/2006/main">
              <a:ext uri="{FF2B5EF4-FFF2-40B4-BE49-F238E27FC236}">
                <a16:creationId xmlns:a16="http://schemas.microsoft.com/office/drawing/2014/main" id="{4EECC1A5-CE3C-4748-AE54-706FE3E89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562225"/>
            <a:ext cx="11001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    self.rect.center = (round(self.pos.x), round(self.pos.y))</a:t>
            </a:r>
          </a:p>
        </p:txBody>
      </p:sp>
      <p:sp>
        <p:nvSpPr>
          <p:cNvPr id="6" name="毎秒 80 ピクセルなら、0.5 秒で 40 ピクセル移動する。">
            <a:extLst xmlns:a="http://schemas.openxmlformats.org/drawingml/2006/main">
              <a:ext uri="{FF2B5EF4-FFF2-40B4-BE49-F238E27FC236}">
                <a16:creationId xmlns:a16="http://schemas.microsoft.com/office/drawing/2014/main" id="{F5B81AFA-A4D5-4335-9E94-0F08D8A3A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267325"/>
            <a:ext cx="5191125" cy="1019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pPr>
            <a:r>
              <a: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rPr>
              <a:t>毎秒 80 ピクセルなら、0.5 秒で 40 ピクセル移動する。</a:t>
            </a:r>
          </a:p>
        </p:txBody>
      </p:sp>
      <p:sp>
        <p:nvSpPr>
          <p:cNvPr id="7" name="pos を更新して rect に反映し、小数の移動量を保持する。">
            <a:extLst xmlns:a="http://schemas.openxmlformats.org/drawingml/2006/main">
              <a:ext uri="{FF2B5EF4-FFF2-40B4-BE49-F238E27FC236}">
                <a16:creationId xmlns:a16="http://schemas.microsoft.com/office/drawing/2014/main" id="{529A1264-8289-48B8-9A0C-531D186C3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5267325"/>
            <a:ext cx="5191125" cy="1019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pPr>
            <a:r>
              <a: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rPr>
              <a:t>pos を更新して rect に反映し、小数の移動量を保持する。</a:t>
            </a:r>
          </a:p>
        </p:txBody>
      </p:sp>
      <p:sp>
        <p:nvSpPr>
          <p:cNvPr id="8" name="actors.py · Actor.update()">
            <a:extLst xmlns:a="http://schemas.openxmlformats.org/drawingml/2006/main">
              <a:ext uri="{FF2B5EF4-FFF2-40B4-BE49-F238E27FC236}">
                <a16:creationId xmlns:a16="http://schemas.microsoft.com/office/drawing/2014/main" id="{4BB0F67D-C85D-410F-B8E0-3A6ED2042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67475"/>
            <a:ext cx="1047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buNone/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buNone/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buNone/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buNone/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buNone/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buNone/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buNone/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buNone/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buNone/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buNone/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actors.py · Actor.update()</a:t>
            </a:r>
          </a:p>
        </p:txBody>
      </p:sp>
      <p:sp>
        <p:nvSpPr>
          <p:cNvPr id="9" name="14">
            <a:extLst xmlns:a="http://schemas.openxmlformats.org/drawingml/2006/main">
              <a:ext uri="{FF2B5EF4-FFF2-40B4-BE49-F238E27FC236}">
                <a16:creationId xmlns:a16="http://schemas.microsoft.com/office/drawing/2014/main" id="{891C854B-5105-4B59-AA32-836176781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505575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pPr>
            <a:r>
              <a: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258605976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B14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Player：入力を移動方向に変える">
            <a:extLst xmlns:a="http://schemas.openxmlformats.org/drawingml/2006/main">
              <a:ext uri="{FF2B5EF4-FFF2-40B4-BE49-F238E27FC236}">
                <a16:creationId xmlns:a16="http://schemas.microsoft.com/office/drawing/2014/main" id="{DF38EA54-3CFB-4483-ACBF-DD9B0D4C4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428625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3300" b="1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3300" b="1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3300" b="1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3300" b="1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3300" b="1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3300" b="1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3300" b="1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3300" b="1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3300" b="1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3300" b="1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pPr>
            <a:r>
              <a:rPr sz="3300" b="1">
                <a:solidFill>
                  <a:srgbClr val="EDF4FB"/>
                </a:solidFill>
                <a:latin typeface="Yu Gothic"/>
                <a:ea typeface="Yu Gothic"/>
                <a:cs typeface="Yu Gothic"/>
              </a:rPr>
              <a:t>Player：入力を移動方向に変える</a:t>
            </a:r>
          </a:p>
        </p:txBody>
      </p:sp>
      <p:sp>
        <p:nvSpPr>
          <p:cNvPr id="2" name="Game がキーを読み、Player が自分の速度を決める">
            <a:extLst xmlns:a="http://schemas.openxmlformats.org/drawingml/2006/main">
              <a:ext uri="{FF2B5EF4-FFF2-40B4-BE49-F238E27FC236}">
                <a16:creationId xmlns:a16="http://schemas.microsoft.com/office/drawing/2014/main" id="{1DECB0F4-6598-43B8-9939-0B2EB0EB6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1181100"/>
            <a:ext cx="110013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rPr>
              <a:t>Game がキーを読み、Player が自分の速度を決める</a:t>
            </a:r>
          </a:p>
        </p:txBody>
      </p:sp>
      <p:sp>
        <p:nvSpPr>
          <p:cNvPr id="3" name="def set_direction(self, x, y):">
            <a:extLst xmlns:a="http://schemas.openxmlformats.org/drawingml/2006/main">
              <a:ext uri="{FF2B5EF4-FFF2-40B4-BE49-F238E27FC236}">
                <a16:creationId xmlns:a16="http://schemas.microsoft.com/office/drawing/2014/main" id="{ED576DF6-C2B1-4890-9A95-676B6F819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914525"/>
            <a:ext cx="11001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def set_direction(self, x, y):</a:t>
            </a:r>
          </a:p>
        </p:txBody>
      </p:sp>
      <p:sp>
        <p:nvSpPr>
          <p:cNvPr id="4" name="    direction = pygame.Vector2(x, y)">
            <a:extLst xmlns:a="http://schemas.openxmlformats.org/drawingml/2006/main">
              <a:ext uri="{FF2B5EF4-FFF2-40B4-BE49-F238E27FC236}">
                <a16:creationId xmlns:a16="http://schemas.microsoft.com/office/drawing/2014/main" id="{09428833-A27A-4C2D-938D-C3A1AAD7B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38375"/>
            <a:ext cx="11001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    direction = pygame.Vector2(x, y)</a:t>
            </a:r>
          </a:p>
        </p:txBody>
      </p:sp>
      <p:sp>
        <p:nvSpPr>
          <p:cNvPr id="5" name="    if direction.length_squared() &gt; 1:">
            <a:extLst xmlns:a="http://schemas.openxmlformats.org/drawingml/2006/main">
              <a:ext uri="{FF2B5EF4-FFF2-40B4-BE49-F238E27FC236}">
                <a16:creationId xmlns:a16="http://schemas.microsoft.com/office/drawing/2014/main" id="{B0E8D0B0-8C0E-411C-A5AE-978D61C76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562225"/>
            <a:ext cx="11001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    if direction.length_squared() &gt; 1:</a:t>
            </a:r>
          </a:p>
        </p:txBody>
      </p:sp>
      <p:sp>
        <p:nvSpPr>
          <p:cNvPr id="6" name="        direction = direction.normalize()">
            <a:extLst xmlns:a="http://schemas.openxmlformats.org/drawingml/2006/main">
              <a:ext uri="{FF2B5EF4-FFF2-40B4-BE49-F238E27FC236}">
                <a16:creationId xmlns:a16="http://schemas.microsoft.com/office/drawing/2014/main" id="{D29D454C-4B86-40B5-B943-768C4CA17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86075"/>
            <a:ext cx="11001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        direction = direction.normalize()</a:t>
            </a:r>
          </a:p>
        </p:txBody>
      </p:sp>
      <p:sp>
        <p:nvSpPr>
          <p:cNvPr id="7" name="    self.velocity = direction * PLAYER_SPEED">
            <a:extLst xmlns:a="http://schemas.openxmlformats.org/drawingml/2006/main">
              <a:ext uri="{FF2B5EF4-FFF2-40B4-BE49-F238E27FC236}">
                <a16:creationId xmlns:a16="http://schemas.microsoft.com/office/drawing/2014/main" id="{23A34F01-DBDD-453D-AFAD-DF5587082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09925"/>
            <a:ext cx="11001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    self.velocity = direction * PLAYER_SPEED</a:t>
            </a:r>
          </a:p>
        </p:txBody>
      </p:sp>
      <p:sp>
        <p:nvSpPr>
          <p:cNvPr id="8" name="(1, 0) は右、(0, -1) は上、(0, 0) は停止。">
            <a:extLst xmlns:a="http://schemas.openxmlformats.org/drawingml/2006/main">
              <a:ext uri="{FF2B5EF4-FFF2-40B4-BE49-F238E27FC236}">
                <a16:creationId xmlns:a16="http://schemas.microsoft.com/office/drawing/2014/main" id="{FB11357E-6698-49D1-9520-E637435DA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267325"/>
            <a:ext cx="5191125" cy="1019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pPr>
            <a:r>
              <a: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rPr>
              <a:t>(1, 0) は右、(0, -1) は上、(0, 0) は停止。</a:t>
            </a:r>
          </a:p>
        </p:txBody>
      </p:sp>
      <p:sp>
        <p:nvSpPr>
          <p:cNvPr id="9" name="normalize() により斜め移動でも速さが同じになる。">
            <a:extLst xmlns:a="http://schemas.openxmlformats.org/drawingml/2006/main">
              <a:ext uri="{FF2B5EF4-FFF2-40B4-BE49-F238E27FC236}">
                <a16:creationId xmlns:a16="http://schemas.microsoft.com/office/drawing/2014/main" id="{08D1F4C6-6B88-4F29-8A4B-F35FB333B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5267325"/>
            <a:ext cx="5191125" cy="1019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pPr>
            <a:r>
              <a: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rPr>
              <a:t>normalize() により斜め移動でも速さが同じになる。</a:t>
            </a:r>
          </a:p>
        </p:txBody>
      </p:sp>
      <p:sp>
        <p:nvSpPr>
          <p:cNvPr id="10" name="actors.py · Player.set_direction()">
            <a:extLst xmlns:a="http://schemas.openxmlformats.org/drawingml/2006/main">
              <a:ext uri="{FF2B5EF4-FFF2-40B4-BE49-F238E27FC236}">
                <a16:creationId xmlns:a16="http://schemas.microsoft.com/office/drawing/2014/main" id="{546BEC8D-885E-437F-B9F2-9EA937F39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67475"/>
            <a:ext cx="1047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buNone/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buNone/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buNone/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buNone/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buNone/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buNone/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buNone/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buNone/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buNone/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buNone/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actors.py · Player.set_direction()</a:t>
            </a:r>
          </a:p>
        </p:txBody>
      </p:sp>
      <p:sp>
        <p:nvSpPr>
          <p:cNvPr id="11" name="15">
            <a:extLst xmlns:a="http://schemas.openxmlformats.org/drawingml/2006/main">
              <a:ext uri="{FF2B5EF4-FFF2-40B4-BE49-F238E27FC236}">
                <a16:creationId xmlns:a16="http://schemas.microsoft.com/office/drawing/2014/main" id="{3F23F6C9-6510-49CC-98BE-F2384B0AC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505575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pPr>
            <a:r>
              <a: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449393900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0B14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Player.shoot()：発射できるかを決める">
            <a:extLst xmlns:a="http://schemas.openxmlformats.org/drawingml/2006/main">
              <a:ext uri="{FF2B5EF4-FFF2-40B4-BE49-F238E27FC236}">
                <a16:creationId xmlns:a16="http://schemas.microsoft.com/office/drawing/2014/main" id="{1941CA96-4E40-4BBA-8D81-137A22542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428625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3300" b="1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3300" b="1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3300" b="1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3300" b="1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3300" b="1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3300" b="1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3300" b="1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3300" b="1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3300" b="1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3300" b="1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pPr>
            <a:r>
              <a:rPr sz="3300" b="1">
                <a:solidFill>
                  <a:srgbClr val="EDF4FB"/>
                </a:solidFill>
                <a:latin typeface="Yu Gothic"/>
                <a:ea typeface="Yu Gothic"/>
                <a:cs typeface="Yu Gothic"/>
              </a:rPr>
              <a:t>Player.shoot()：発射できるかを決める</a:t>
            </a:r>
          </a:p>
        </p:txBody>
      </p:sp>
      <p:sp>
        <p:nvSpPr>
          <p:cNvPr id="2" name="制約と状態変更を一つのメソッドにまとめる">
            <a:extLst xmlns:a="http://schemas.openxmlformats.org/drawingml/2006/main">
              <a:ext uri="{FF2B5EF4-FFF2-40B4-BE49-F238E27FC236}">
                <a16:creationId xmlns:a16="http://schemas.microsoft.com/office/drawing/2014/main" id="{D038A013-3FBC-4A6A-A248-E928AB1BA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1181100"/>
            <a:ext cx="110013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rPr>
              <a:t>制約と状態変更を一つのメソッドにまとめる</a:t>
            </a:r>
          </a:p>
        </p:txBody>
      </p:sp>
      <p:sp>
        <p:nvSpPr>
          <p:cNvPr id="3" name="def shoot(self, name):">
            <a:extLst xmlns:a="http://schemas.openxmlformats.org/drawingml/2006/main">
              <a:ext uri="{FF2B5EF4-FFF2-40B4-BE49-F238E27FC236}">
                <a16:creationId xmlns:a16="http://schemas.microsoft.com/office/drawing/2014/main" id="{94F33385-B39B-4A9E-8BEB-911FECC71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914525"/>
            <a:ext cx="11001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def shoot(self, name):</a:t>
            </a:r>
          </a:p>
        </p:txBody>
      </p:sp>
      <p:sp>
        <p:nvSpPr>
          <p:cNvPr id="4" name="    if self.cooldown &gt; 0 or self.hp == 0:">
            <a:extLst xmlns:a="http://schemas.openxmlformats.org/drawingml/2006/main">
              <a:ext uri="{FF2B5EF4-FFF2-40B4-BE49-F238E27FC236}">
                <a16:creationId xmlns:a16="http://schemas.microsoft.com/office/drawing/2014/main" id="{6B14F92D-0FCA-4A6D-A13A-8213EE9D3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38375"/>
            <a:ext cx="11001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    if self.cooldown &gt; 0 or self.hp == 0:</a:t>
            </a:r>
          </a:p>
        </p:txBody>
      </p:sp>
      <p:sp>
        <p:nvSpPr>
          <p:cNvPr id="5" name="        return None">
            <a:extLst xmlns:a="http://schemas.openxmlformats.org/drawingml/2006/main">
              <a:ext uri="{FF2B5EF4-FFF2-40B4-BE49-F238E27FC236}">
                <a16:creationId xmlns:a16="http://schemas.microsoft.com/office/drawing/2014/main" id="{7F4C92C6-49CA-46AA-99BA-05FE83B1E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562225"/>
            <a:ext cx="11001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        return None</a:t>
            </a:r>
          </a:p>
        </p:txBody>
      </p:sp>
      <p:sp>
        <p:nvSpPr>
          <p:cNvPr id="6" name="    self.cooldown = SHOT_INTERVAL">
            <a:extLst xmlns:a="http://schemas.openxmlformats.org/drawingml/2006/main">
              <a:ext uri="{FF2B5EF4-FFF2-40B4-BE49-F238E27FC236}">
                <a16:creationId xmlns:a16="http://schemas.microsoft.com/office/drawing/2014/main" id="{7A5CEAA8-EF7E-43AC-A49E-9E816C39F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86075"/>
            <a:ext cx="11001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    self.cooldown = SHOT_INTERVAL</a:t>
            </a:r>
          </a:p>
        </p:txBody>
      </p:sp>
      <p:sp>
        <p:nvSpPr>
          <p:cNvPr id="7" name="    return Bullet(name, self)">
            <a:extLst xmlns:a="http://schemas.openxmlformats.org/drawingml/2006/main">
              <a:ext uri="{FF2B5EF4-FFF2-40B4-BE49-F238E27FC236}">
                <a16:creationId xmlns:a16="http://schemas.microsoft.com/office/drawing/2014/main" id="{77280845-4F40-47F1-AE60-30EBD9FC6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09925"/>
            <a:ext cx="11001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    return Bullet(name, self)</a:t>
            </a:r>
          </a:p>
        </p:txBody>
      </p:sp>
      <p:sp>
        <p:nvSpPr>
          <p:cNvPr id="8" name="クールダウン中、または HP が 0 なら None を返す。">
            <a:extLst xmlns:a="http://schemas.openxmlformats.org/drawingml/2006/main">
              <a:ext uri="{FF2B5EF4-FFF2-40B4-BE49-F238E27FC236}">
                <a16:creationId xmlns:a16="http://schemas.microsoft.com/office/drawing/2014/main" id="{8158F887-A843-4323-AC2D-FA35D97E0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267325"/>
            <a:ext cx="5191125" cy="1019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pPr>
            <a:r>
              <a: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rPr>
              <a:t>クールダウン中、または HP が 0 なら None を返す。</a:t>
            </a:r>
          </a:p>
        </p:txBody>
      </p:sp>
      <p:sp>
        <p:nvSpPr>
          <p:cNvPr id="9" name="成功時に新しい Bullet を作る。self は発射した Player。">
            <a:extLst xmlns:a="http://schemas.openxmlformats.org/drawingml/2006/main">
              <a:ext uri="{FF2B5EF4-FFF2-40B4-BE49-F238E27FC236}">
                <a16:creationId xmlns:a16="http://schemas.microsoft.com/office/drawing/2014/main" id="{278A81C8-FEEB-45B8-96D2-E8DE01736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5267325"/>
            <a:ext cx="5191125" cy="1019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pPr>
            <a:r>
              <a: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rPr>
              <a:t>成功時に新しい Bullet を作る。self は発射した Player。</a:t>
            </a:r>
          </a:p>
        </p:txBody>
      </p:sp>
      <p:sp>
        <p:nvSpPr>
          <p:cNvPr id="10" name="actors.py · Player.shoot()">
            <a:extLst xmlns:a="http://schemas.openxmlformats.org/drawingml/2006/main">
              <a:ext uri="{FF2B5EF4-FFF2-40B4-BE49-F238E27FC236}">
                <a16:creationId xmlns:a16="http://schemas.microsoft.com/office/drawing/2014/main" id="{89FB0E78-FDD5-4F08-A625-92D35E423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67475"/>
            <a:ext cx="1047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buNone/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buNone/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buNone/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buNone/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buNone/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buNone/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buNone/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buNone/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buNone/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buNone/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actors.py · Player.shoot()</a:t>
            </a:r>
          </a:p>
        </p:txBody>
      </p:sp>
      <p:sp>
        <p:nvSpPr>
          <p:cNvPr id="11" name="16">
            <a:extLst xmlns:a="http://schemas.openxmlformats.org/drawingml/2006/main">
              <a:ext uri="{FF2B5EF4-FFF2-40B4-BE49-F238E27FC236}">
                <a16:creationId xmlns:a16="http://schemas.microsoft.com/office/drawing/2014/main" id="{205B1C70-F3C5-49FF-A56D-7FBE50EF7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505575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pPr>
            <a:r>
              <a: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829030864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0B14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Bullet：誰が発射したかを覚える">
            <a:extLst xmlns:a="http://schemas.openxmlformats.org/drawingml/2006/main">
              <a:ext uri="{FF2B5EF4-FFF2-40B4-BE49-F238E27FC236}">
                <a16:creationId xmlns:a16="http://schemas.microsoft.com/office/drawing/2014/main" id="{821EC245-ED66-411C-9253-B02635E63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428625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3300" b="1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3300" b="1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3300" b="1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3300" b="1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3300" b="1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3300" b="1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3300" b="1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3300" b="1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3300" b="1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3300" b="1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pPr>
            <a:r>
              <a:rPr sz="3300" b="1">
                <a:solidFill>
                  <a:srgbClr val="EDF4FB"/>
                </a:solidFill>
                <a:latin typeface="Yu Gothic"/>
                <a:ea typeface="Yu Gothic"/>
                <a:cs typeface="Yu Gothic"/>
              </a:rPr>
              <a:t>Bullet：誰が発射したかを覚える</a:t>
            </a:r>
          </a:p>
        </p:txBody>
      </p:sp>
      <p:sp>
        <p:nvSpPr>
          <p:cNvPr id="2" name="owner はオブジェクト参照。y の負の速度は上向き。">
            <a:extLst xmlns:a="http://schemas.openxmlformats.org/drawingml/2006/main">
              <a:ext uri="{FF2B5EF4-FFF2-40B4-BE49-F238E27FC236}">
                <a16:creationId xmlns:a16="http://schemas.microsoft.com/office/drawing/2014/main" id="{EBD8DD6D-238E-4E25-9FD0-8C386A58E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1181100"/>
            <a:ext cx="110013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rPr>
              <a:t>owner はオブジェクト参照。y の負の速度は上向き。</a:t>
            </a:r>
          </a:p>
        </p:txBody>
      </p:sp>
      <p:sp>
        <p:nvSpPr>
          <p:cNvPr id="3" name="def __init__(self, name, owner):">
            <a:extLst xmlns:a="http://schemas.openxmlformats.org/drawingml/2006/main">
              <a:ext uri="{FF2B5EF4-FFF2-40B4-BE49-F238E27FC236}">
                <a16:creationId xmlns:a16="http://schemas.microsoft.com/office/drawing/2014/main" id="{006971EF-EEED-4E26-A7C0-4427CB6D3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914525"/>
            <a:ext cx="11001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def __init__(self, name, owner):</a:t>
            </a:r>
          </a:p>
        </p:txBody>
      </p:sp>
      <p:sp>
        <p:nvSpPr>
          <p:cNvPr id="4" name="    position = (owner.rect.centerx, owner.rect.top - 9)">
            <a:extLst xmlns:a="http://schemas.openxmlformats.org/drawingml/2006/main">
              <a:ext uri="{FF2B5EF4-FFF2-40B4-BE49-F238E27FC236}">
                <a16:creationId xmlns:a16="http://schemas.microsoft.com/office/drawing/2014/main" id="{8655DED8-605A-40ED-BE3E-1F20EB396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38375"/>
            <a:ext cx="11001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    position = (owner.rect.centerx, owner.rect.top - 9)</a:t>
            </a:r>
          </a:p>
        </p:txBody>
      </p:sp>
      <p:sp>
        <p:nvSpPr>
          <p:cNvPr id="5" name="    super().__init__(name, position, (8, 20))">
            <a:extLst xmlns:a="http://schemas.openxmlformats.org/drawingml/2006/main">
              <a:ext uri="{FF2B5EF4-FFF2-40B4-BE49-F238E27FC236}">
                <a16:creationId xmlns:a16="http://schemas.microsoft.com/office/drawing/2014/main" id="{B69F631A-5585-4E6B-A6BD-4B4010581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562225"/>
            <a:ext cx="11001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    super().__init__(name, position, (8, 20))</a:t>
            </a:r>
          </a:p>
        </p:txBody>
      </p:sp>
      <p:sp>
        <p:nvSpPr>
          <p:cNvPr id="6" name="    self.owner = owner">
            <a:extLst xmlns:a="http://schemas.openxmlformats.org/drawingml/2006/main">
              <a:ext uri="{FF2B5EF4-FFF2-40B4-BE49-F238E27FC236}">
                <a16:creationId xmlns:a16="http://schemas.microsoft.com/office/drawing/2014/main" id="{0A0ECB50-6AF8-4308-898D-40E8D635B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86075"/>
            <a:ext cx="11001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    self.owner = owner</a:t>
            </a:r>
          </a:p>
        </p:txBody>
      </p:sp>
      <p:sp>
        <p:nvSpPr>
          <p:cNvPr id="7" name="    self.damage = 1">
            <a:extLst xmlns:a="http://schemas.openxmlformats.org/drawingml/2006/main">
              <a:ext uri="{FF2B5EF4-FFF2-40B4-BE49-F238E27FC236}">
                <a16:creationId xmlns:a16="http://schemas.microsoft.com/office/drawing/2014/main" id="{EBFDD983-183D-4BCC-8C84-F129EBF9C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09925"/>
            <a:ext cx="11001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    self.damage = 1</a:t>
            </a:r>
          </a:p>
        </p:txBody>
      </p:sp>
      <p:sp>
        <p:nvSpPr>
          <p:cNvPr id="8" name="    self.velocity.y = -BULLET_SPEED">
            <a:extLst xmlns:a="http://schemas.openxmlformats.org/drawingml/2006/main">
              <a:ext uri="{FF2B5EF4-FFF2-40B4-BE49-F238E27FC236}">
                <a16:creationId xmlns:a16="http://schemas.microsoft.com/office/drawing/2014/main" id="{FD4A293D-0E61-4A6D-AF3A-90956A37F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533775"/>
            <a:ext cx="11001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    self.velocity.y = -BULLET_SPEED</a:t>
            </a:r>
          </a:p>
        </p:txBody>
      </p:sp>
      <p:sp>
        <p:nvSpPr>
          <p:cNvPr id="9" name="owner は文字列やコピーではなく、Player オブジェクト。">
            <a:extLst xmlns:a="http://schemas.openxmlformats.org/drawingml/2006/main">
              <a:ext uri="{FF2B5EF4-FFF2-40B4-BE49-F238E27FC236}">
                <a16:creationId xmlns:a16="http://schemas.microsoft.com/office/drawing/2014/main" id="{95E52592-8D1E-4B59-830D-CC45626C0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267325"/>
            <a:ext cx="5191125" cy="1019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pPr>
            <a:r>
              <a: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rPr>
              <a:t>owner は文字列やコピーではなく、Player オブジェクト。</a:t>
            </a:r>
          </a:p>
        </p:txBody>
      </p:sp>
      <p:sp>
        <p:nvSpPr>
          <p:cNvPr id="10" name="ここでは外観の描画を省略。damage は 1。">
            <a:extLst xmlns:a="http://schemas.openxmlformats.org/drawingml/2006/main">
              <a:ext uri="{FF2B5EF4-FFF2-40B4-BE49-F238E27FC236}">
                <a16:creationId xmlns:a16="http://schemas.microsoft.com/office/drawing/2014/main" id="{2DF00597-5A44-41C7-94F2-C8C794B18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5267325"/>
            <a:ext cx="5191125" cy="1019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pPr>
            <a:r>
              <a: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rPr>
              <a:t>ここでは外観の描画を省略。damage は 1。</a:t>
            </a:r>
          </a:p>
        </p:txBody>
      </p:sp>
      <p:sp>
        <p:nvSpPr>
          <p:cNvPr id="11" name="actors.py · Bullet.__init__() · excerpt">
            <a:extLst xmlns:a="http://schemas.openxmlformats.org/drawingml/2006/main">
              <a:ext uri="{FF2B5EF4-FFF2-40B4-BE49-F238E27FC236}">
                <a16:creationId xmlns:a16="http://schemas.microsoft.com/office/drawing/2014/main" id="{01004A0B-4D86-403A-8E47-0D9A8C149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67475"/>
            <a:ext cx="1047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buNone/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buNone/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buNone/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buNone/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buNone/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buNone/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buNone/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buNone/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buNone/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buNone/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actors.py · Bullet.__init__() · excerpt</a:t>
            </a:r>
          </a:p>
        </p:txBody>
      </p:sp>
      <p:sp>
        <p:nvSpPr>
          <p:cNvPr id="12" name="17">
            <a:extLst xmlns:a="http://schemas.openxmlformats.org/drawingml/2006/main">
              <a:ext uri="{FF2B5EF4-FFF2-40B4-BE49-F238E27FC236}">
                <a16:creationId xmlns:a16="http://schemas.microsoft.com/office/drawing/2014/main" id="{020512BA-4457-48EC-93E5-62559E8D1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505575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pPr>
            <a:r>
              <a: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1782421017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0B14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Game：新しい弾を画面に登録する">
            <a:extLst xmlns:a="http://schemas.openxmlformats.org/drawingml/2006/main">
              <a:ext uri="{FF2B5EF4-FFF2-40B4-BE49-F238E27FC236}">
                <a16:creationId xmlns:a16="http://schemas.microsoft.com/office/drawing/2014/main" id="{77B6E68E-44E7-426D-BF59-EA17EB06D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428625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3300" b="1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3300" b="1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3300" b="1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3300" b="1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3300" b="1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3300" b="1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3300" b="1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3300" b="1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3300" b="1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3300" b="1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pPr>
            <a:r>
              <a:rPr sz="3300" b="1">
                <a:solidFill>
                  <a:srgbClr val="EDF4FB"/>
                </a:solidFill>
                <a:latin typeface="Yu Gothic"/>
                <a:ea typeface="Yu Gothic"/>
                <a:cs typeface="Yu Gothic"/>
              </a:rPr>
              <a:t>Game：新しい弾を画面に登録する</a:t>
            </a:r>
          </a:p>
        </p:txBody>
      </p:sp>
      <p:sp>
        <p:nvSpPr>
          <p:cNvPr id="2" name="オブジェクトの生成とグループへの追加は別の手順">
            <a:extLst xmlns:a="http://schemas.openxmlformats.org/drawingml/2006/main">
              <a:ext uri="{FF2B5EF4-FFF2-40B4-BE49-F238E27FC236}">
                <a16:creationId xmlns:a16="http://schemas.microsoft.com/office/drawing/2014/main" id="{E094D508-5970-4115-AB7B-1F7A6DC62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1181100"/>
            <a:ext cx="110013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rPr>
              <a:t>オブジェクトの生成とグループへの追加は別の手順</a:t>
            </a:r>
          </a:p>
        </p:txBody>
      </p:sp>
      <p:sp>
        <p:nvSpPr>
          <p:cNvPr id="3" name="bullet = self.player.shoot(f&quot;B{self.next_bullet:02}&quot;)">
            <a:extLst xmlns:a="http://schemas.openxmlformats.org/drawingml/2006/main">
              <a:ext uri="{FF2B5EF4-FFF2-40B4-BE49-F238E27FC236}">
                <a16:creationId xmlns:a16="http://schemas.microsoft.com/office/drawing/2014/main" id="{174E5CD9-624E-46AD-8A49-51C0466D7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914525"/>
            <a:ext cx="11001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bullet = self.player.shoot(f"B{self.next_bullet:02}")</a:t>
            </a:r>
          </a:p>
        </p:txBody>
      </p:sp>
      <p:sp>
        <p:nvSpPr>
          <p:cNvPr id="4" name="if bullet is not None:">
            <a:extLst xmlns:a="http://schemas.openxmlformats.org/drawingml/2006/main">
              <a:ext uri="{FF2B5EF4-FFF2-40B4-BE49-F238E27FC236}">
                <a16:creationId xmlns:a16="http://schemas.microsoft.com/office/drawing/2014/main" id="{D2F157DF-8AA6-48B7-92FC-8FDC4409C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38375"/>
            <a:ext cx="11001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if bullet is not None:</a:t>
            </a:r>
          </a:p>
        </p:txBody>
      </p:sp>
      <p:sp>
        <p:nvSpPr>
          <p:cNvPr id="5" name="    self.next_bullet += 1">
            <a:extLst xmlns:a="http://schemas.openxmlformats.org/drawingml/2006/main">
              <a:ext uri="{FF2B5EF4-FFF2-40B4-BE49-F238E27FC236}">
                <a16:creationId xmlns:a16="http://schemas.microsoft.com/office/drawing/2014/main" id="{264AA745-659C-4FDF-B749-CF1ACE903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562225"/>
            <a:ext cx="11001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    self.next_bullet += 1</a:t>
            </a:r>
          </a:p>
        </p:txBody>
      </p:sp>
      <p:sp>
        <p:nvSpPr>
          <p:cNvPr id="6" name="    self.bullets.add(bullet)">
            <a:extLst xmlns:a="http://schemas.openxmlformats.org/drawingml/2006/main">
              <a:ext uri="{FF2B5EF4-FFF2-40B4-BE49-F238E27FC236}">
                <a16:creationId xmlns:a16="http://schemas.microsoft.com/office/drawing/2014/main" id="{38E33377-9960-43D3-B31B-C38D3348A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86075"/>
            <a:ext cx="11001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    self.bullets.add(bullet)</a:t>
            </a:r>
          </a:p>
        </p:txBody>
      </p:sp>
      <p:sp>
        <p:nvSpPr>
          <p:cNvPr id="7" name="    self.all_sprites.add(bullet)">
            <a:extLst xmlns:a="http://schemas.openxmlformats.org/drawingml/2006/main">
              <a:ext uri="{FF2B5EF4-FFF2-40B4-BE49-F238E27FC236}">
                <a16:creationId xmlns:a16="http://schemas.microsoft.com/office/drawing/2014/main" id="{5995F69A-09F5-454C-AB1A-8A11534A1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09925"/>
            <a:ext cx="11001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    self.all_sprites.add(bullet)</a:t>
            </a:r>
          </a:p>
        </p:txBody>
      </p:sp>
      <p:sp>
        <p:nvSpPr>
          <p:cNvPr id="8" name="Player が Bullet を作り、Game が所属グループを決める。">
            <a:extLst xmlns:a="http://schemas.openxmlformats.org/drawingml/2006/main">
              <a:ext uri="{FF2B5EF4-FFF2-40B4-BE49-F238E27FC236}">
                <a16:creationId xmlns:a16="http://schemas.microsoft.com/office/drawing/2014/main" id="{07062C5B-B36D-494F-8A2B-DE8DE465A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267325"/>
            <a:ext cx="5191125" cy="1019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pPr>
            <a:r>
              <a: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rPr>
              <a:t>Player が Bullet を作り、Game が所属グループを決める。</a:t>
            </a:r>
          </a:p>
        </p:txBody>
      </p:sp>
      <p:sp>
        <p:nvSpPr>
          <p:cNvPr id="9" name="bullets で衝突判定、all_sprites で更新と描画の対象になる。">
            <a:extLst xmlns:a="http://schemas.openxmlformats.org/drawingml/2006/main">
              <a:ext uri="{FF2B5EF4-FFF2-40B4-BE49-F238E27FC236}">
                <a16:creationId xmlns:a16="http://schemas.microsoft.com/office/drawing/2014/main" id="{49382A15-9EC6-485D-B84A-19BC5004C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5267325"/>
            <a:ext cx="5191125" cy="1019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pPr>
            <a:r>
              <a: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rPr>
              <a:t>bullets で衝突判定、all_sprites で更新と描画の対象になる。</a:t>
            </a:r>
          </a:p>
        </p:txBody>
      </p:sp>
      <p:sp>
        <p:nvSpPr>
          <p:cNvPr id="10" name="game.py · Game.try_shoot() · excerpt">
            <a:extLst xmlns:a="http://schemas.openxmlformats.org/drawingml/2006/main">
              <a:ext uri="{FF2B5EF4-FFF2-40B4-BE49-F238E27FC236}">
                <a16:creationId xmlns:a16="http://schemas.microsoft.com/office/drawing/2014/main" id="{8DF011BA-C59D-4854-A42C-DE34CDA1A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67475"/>
            <a:ext cx="1047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buNone/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buNone/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buNone/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buNone/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buNone/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buNone/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buNone/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buNone/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buNone/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buNone/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game.py · Game.try_shoot() · excerpt</a:t>
            </a:r>
          </a:p>
        </p:txBody>
      </p:sp>
      <p:sp>
        <p:nvSpPr>
          <p:cNvPr id="11" name="18">
            <a:extLst xmlns:a="http://schemas.openxmlformats.org/drawingml/2006/main">
              <a:ext uri="{FF2B5EF4-FFF2-40B4-BE49-F238E27FC236}">
                <a16:creationId xmlns:a16="http://schemas.microsoft.com/office/drawing/2014/main" id="{50220FF2-F12D-4A8A-9D42-E70F03CE1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505575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pPr>
            <a:r>
              <a: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905665756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多態性：同じ呼び出し、異なる動作">
            <a:extLst xmlns:a="http://schemas.openxmlformats.org/drawingml/2006/main">
              <a:ext uri="{FF2B5EF4-FFF2-40B4-BE49-F238E27FC236}">
                <a16:creationId xmlns:a16="http://schemas.microsoft.com/office/drawing/2014/main" id="{7AB67238-E3DA-405E-92D3-0F8E9474F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428625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3300" b="1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3300" b="1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3300" b="1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3300" b="1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3300" b="1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3300" b="1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3300" b="1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3300" b="1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3300" b="1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3300" b="1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pPr>
            <a:r>
              <a:rPr sz="3300" b="1">
                <a:solidFill>
                  <a:srgbClr val="172C40"/>
                </a:solidFill>
                <a:latin typeface="Yu Gothic"/>
                <a:ea typeface="Yu Gothic"/>
                <a:cs typeface="Yu Gothic"/>
              </a:rPr>
              <a:t>多態性：同じ呼び出し、異なる動作</a:t>
            </a:r>
          </a:p>
        </p:txBody>
      </p:sp>
      <p:sp>
        <p:nvSpPr>
          <p:cNvPr id="2" name="game.all_sprites.update(dt)">
            <a:extLst xmlns:a="http://schemas.openxmlformats.org/drawingml/2006/main">
              <a:ext uri="{FF2B5EF4-FFF2-40B4-BE49-F238E27FC236}">
                <a16:creationId xmlns:a16="http://schemas.microsoft.com/office/drawing/2014/main" id="{22BE6E39-9E76-4659-B0E2-0CD7FA2EB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1181100"/>
            <a:ext cx="110013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1725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1725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1725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1725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1725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1725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1725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1725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1725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1725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5B7082"/>
                </a:solidFill>
                <a:latin typeface="Yu Gothic"/>
                <a:ea typeface="Yu Gothic"/>
                <a:cs typeface="Yu Gothic"/>
              </a:rPr>
              <a:t>game.all_sprites.update(dt)</a:t>
            </a:r>
          </a:p>
        </p:txBody>
      </p:sp>
      <p:sp>
        <p:nvSpPr>
          <p:cNvPr id="3" name="01">
            <a:extLst xmlns:a="http://schemas.openxmlformats.org/drawingml/2006/main">
              <a:ext uri="{FF2B5EF4-FFF2-40B4-BE49-F238E27FC236}">
                <a16:creationId xmlns:a16="http://schemas.microsoft.com/office/drawing/2014/main" id="{F1C29094-F932-49D0-91FE-AB3BFED07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971675"/>
            <a:ext cx="685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625" b="1">
                <a:solidFill>
                  <a:srgbClr val="087C62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2625" b="1">
                <a:solidFill>
                  <a:srgbClr val="087C62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2625" b="1">
                <a:solidFill>
                  <a:srgbClr val="087C62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2625" b="1">
                <a:solidFill>
                  <a:srgbClr val="087C62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2625" b="1">
                <a:solidFill>
                  <a:srgbClr val="087C62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2625" b="1">
                <a:solidFill>
                  <a:srgbClr val="087C62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2625" b="1">
                <a:solidFill>
                  <a:srgbClr val="087C62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2625" b="1">
                <a:solidFill>
                  <a:srgbClr val="087C62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2625" b="1">
                <a:solidFill>
                  <a:srgbClr val="087C62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2625" b="1">
                <a:solidFill>
                  <a:srgbClr val="087C62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2625" b="1">
                <a:solidFill>
                  <a:srgbClr val="087C62"/>
                </a:solidFill>
                <a:latin typeface="Yu Gothic"/>
                <a:ea typeface="Yu Gothic"/>
                <a:cs typeface="Yu Gothic"/>
              </a:defRPr>
            </a:pPr>
            <a:r>
              <a:rPr sz="2625" b="1">
                <a:solidFill>
                  <a:srgbClr val="087C62"/>
                </a:solidFill>
                <a:latin typeface="Yu Gothic"/>
                <a:ea typeface="Yu Gothic"/>
                <a:cs typeface="Yu Gothic"/>
              </a:rPr>
              <a:t>01</a:t>
            </a:r>
          </a:p>
        </p:txBody>
      </p:sp>
      <p:sp>
        <p:nvSpPr>
          <p:cNvPr id="4" name="Player.update：移動、範囲制限、クールダウンと無敵時間の更新。">
            <a:extLst xmlns:a="http://schemas.openxmlformats.org/drawingml/2006/main">
              <a:ext uri="{FF2B5EF4-FFF2-40B4-BE49-F238E27FC236}">
                <a16:creationId xmlns:a16="http://schemas.microsoft.com/office/drawing/2014/main" id="{0F13B5EF-6DBF-4A0E-A807-455FD2D58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1990725"/>
            <a:ext cx="9858375" cy="1171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232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232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232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232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232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232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232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232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232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232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pPr>
            <a:r>
              <a:rPr sz="2325" b="0">
                <a:solidFill>
                  <a:srgbClr val="172C40"/>
                </a:solidFill>
                <a:latin typeface="Yu Gothic"/>
                <a:ea typeface="Yu Gothic"/>
                <a:cs typeface="Yu Gothic"/>
              </a:rPr>
              <a:t>Player.update：移動、範囲制限、クールダウンと無敵時間の更新。</a:t>
            </a:r>
          </a:p>
        </p:txBody>
      </p:sp>
      <p:sp>
        <p:nvSpPr>
          <p:cNvPr id="5" name="02">
            <a:extLst xmlns:a="http://schemas.openxmlformats.org/drawingml/2006/main">
              <a:ext uri="{FF2B5EF4-FFF2-40B4-BE49-F238E27FC236}">
                <a16:creationId xmlns:a16="http://schemas.microsoft.com/office/drawing/2014/main" id="{385F9E49-89B6-44DA-8FC4-A49E76B7E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400425"/>
            <a:ext cx="685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625" b="1">
                <a:solidFill>
                  <a:srgbClr val="087C62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2625" b="1">
                <a:solidFill>
                  <a:srgbClr val="087C62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2625" b="1">
                <a:solidFill>
                  <a:srgbClr val="087C62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2625" b="1">
                <a:solidFill>
                  <a:srgbClr val="087C62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2625" b="1">
                <a:solidFill>
                  <a:srgbClr val="087C62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2625" b="1">
                <a:solidFill>
                  <a:srgbClr val="087C62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2625" b="1">
                <a:solidFill>
                  <a:srgbClr val="087C62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2625" b="1">
                <a:solidFill>
                  <a:srgbClr val="087C62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2625" b="1">
                <a:solidFill>
                  <a:srgbClr val="087C62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2625" b="1">
                <a:solidFill>
                  <a:srgbClr val="087C62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2625" b="1">
                <a:solidFill>
                  <a:srgbClr val="087C62"/>
                </a:solidFill>
                <a:latin typeface="Yu Gothic"/>
                <a:ea typeface="Yu Gothic"/>
                <a:cs typeface="Yu Gothic"/>
              </a:defRPr>
            </a:pPr>
            <a:r>
              <a:rPr sz="2625" b="1">
                <a:solidFill>
                  <a:srgbClr val="087C62"/>
                </a:solidFill>
                <a:latin typeface="Yu Gothic"/>
                <a:ea typeface="Yu Gothic"/>
                <a:cs typeface="Yu Gothic"/>
              </a:rPr>
              <a:t>02</a:t>
            </a:r>
          </a:p>
        </p:txBody>
      </p:sp>
      <p:sp>
        <p:nvSpPr>
          <p:cNvPr id="6" name="Enemy：Actor.update を継承し、自分の velocity で下へ移動。">
            <a:extLst xmlns:a="http://schemas.openxmlformats.org/drawingml/2006/main">
              <a:ext uri="{FF2B5EF4-FFF2-40B4-BE49-F238E27FC236}">
                <a16:creationId xmlns:a16="http://schemas.microsoft.com/office/drawing/2014/main" id="{510C89AC-BC01-4EB1-9802-AA3948AE9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419475"/>
            <a:ext cx="9858375" cy="1171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232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232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232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232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232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232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232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232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232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232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pPr>
            <a:r>
              <a:rPr sz="2325" b="0">
                <a:solidFill>
                  <a:srgbClr val="172C40"/>
                </a:solidFill>
                <a:latin typeface="Yu Gothic"/>
                <a:ea typeface="Yu Gothic"/>
                <a:cs typeface="Yu Gothic"/>
              </a:rPr>
              <a:t>Enemy：Actor.update を継承し、自分の velocity で下へ移動。</a:t>
            </a:r>
          </a:p>
        </p:txBody>
      </p:sp>
      <p:sp>
        <p:nvSpPr>
          <p:cNvPr id="7" name="03">
            <a:extLst xmlns:a="http://schemas.openxmlformats.org/drawingml/2006/main">
              <a:ext uri="{FF2B5EF4-FFF2-40B4-BE49-F238E27FC236}">
                <a16:creationId xmlns:a16="http://schemas.microsoft.com/office/drawing/2014/main" id="{F437EBF2-49C9-459F-861B-AF1E22E68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829175"/>
            <a:ext cx="685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625" b="1">
                <a:solidFill>
                  <a:srgbClr val="087C62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2625" b="1">
                <a:solidFill>
                  <a:srgbClr val="087C62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2625" b="1">
                <a:solidFill>
                  <a:srgbClr val="087C62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2625" b="1">
                <a:solidFill>
                  <a:srgbClr val="087C62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2625" b="1">
                <a:solidFill>
                  <a:srgbClr val="087C62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2625" b="1">
                <a:solidFill>
                  <a:srgbClr val="087C62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2625" b="1">
                <a:solidFill>
                  <a:srgbClr val="087C62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2625" b="1">
                <a:solidFill>
                  <a:srgbClr val="087C62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2625" b="1">
                <a:solidFill>
                  <a:srgbClr val="087C62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2625" b="1">
                <a:solidFill>
                  <a:srgbClr val="087C62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2625" b="1">
                <a:solidFill>
                  <a:srgbClr val="087C62"/>
                </a:solidFill>
                <a:latin typeface="Yu Gothic"/>
                <a:ea typeface="Yu Gothic"/>
                <a:cs typeface="Yu Gothic"/>
              </a:defRPr>
            </a:pPr>
            <a:r>
              <a:rPr sz="2625" b="1">
                <a:solidFill>
                  <a:srgbClr val="087C62"/>
                </a:solidFill>
                <a:latin typeface="Yu Gothic"/>
                <a:ea typeface="Yu Gothic"/>
                <a:cs typeface="Yu Gothic"/>
              </a:rPr>
              <a:t>03</a:t>
            </a:r>
          </a:p>
        </p:txBody>
      </p:sp>
      <p:sp>
        <p:nvSpPr>
          <p:cNvPr id="8" name="Bullet.update：移動し、上端を出たら kill() する。">
            <a:extLst xmlns:a="http://schemas.openxmlformats.org/drawingml/2006/main">
              <a:ext uri="{FF2B5EF4-FFF2-40B4-BE49-F238E27FC236}">
                <a16:creationId xmlns:a16="http://schemas.microsoft.com/office/drawing/2014/main" id="{064DFE13-B673-49F4-B241-1BE7E3EFE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848225"/>
            <a:ext cx="9858375" cy="1171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232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232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232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232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232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232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232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232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232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232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pPr>
            <a:r>
              <a:rPr sz="2325" b="0">
                <a:solidFill>
                  <a:srgbClr val="172C40"/>
                </a:solidFill>
                <a:latin typeface="Yu Gothic"/>
                <a:ea typeface="Yu Gothic"/>
                <a:cs typeface="Yu Gothic"/>
              </a:rPr>
              <a:t>Bullet.update：移動し、上端を出たら kill() する。</a:t>
            </a:r>
          </a:p>
        </p:txBody>
      </p:sp>
      <p:sp>
        <p:nvSpPr>
          <p:cNvPr id="9" name="19">
            <a:extLst xmlns:a="http://schemas.openxmlformats.org/drawingml/2006/main">
              <a:ext uri="{FF2B5EF4-FFF2-40B4-BE49-F238E27FC236}">
                <a16:creationId xmlns:a16="http://schemas.microsoft.com/office/drawing/2014/main" id="{170ED20D-5A95-4FD4-8EBB-1FD6B68ED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505575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1200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1200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1200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1200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1200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1200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1200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1200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1200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1200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pPr>
            <a:r>
              <a:rPr sz="1200" b="0">
                <a:solidFill>
                  <a:srgbClr val="5B7082"/>
                </a:solidFill>
                <a:latin typeface="Yu Gothic"/>
                <a:ea typeface="Yu Gothic"/>
                <a:cs typeface="Yu Gothic"/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620886261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0B14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Enemy：被弾した状態を自分で管理する">
            <a:extLst xmlns:a="http://schemas.openxmlformats.org/drawingml/2006/main">
              <a:ext uri="{FF2B5EF4-FFF2-40B4-BE49-F238E27FC236}">
                <a16:creationId xmlns:a16="http://schemas.microsoft.com/office/drawing/2014/main" id="{983308A8-0B7F-4CA0-BC18-7B81CDBB6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428625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3300" b="1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3300" b="1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3300" b="1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3300" b="1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3300" b="1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3300" b="1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3300" b="1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3300" b="1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3300" b="1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3300" b="1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pPr>
            <a:r>
              <a:rPr sz="3300" b="1">
                <a:solidFill>
                  <a:srgbClr val="EDF4FB"/>
                </a:solidFill>
                <a:latin typeface="Yu Gothic"/>
                <a:ea typeface="Yu Gothic"/>
                <a:cs typeface="Yu Gothic"/>
              </a:rPr>
              <a:t>Enemy：被弾した状態を自分で管理する</a:t>
            </a:r>
          </a:p>
        </p:txBody>
      </p:sp>
      <p:sp>
        <p:nvSpPr>
          <p:cNvPr id="2" name="Game は撃破の結果を受け取り、Enemy が HP を管理する">
            <a:extLst xmlns:a="http://schemas.openxmlformats.org/drawingml/2006/main">
              <a:ext uri="{FF2B5EF4-FFF2-40B4-BE49-F238E27FC236}">
                <a16:creationId xmlns:a16="http://schemas.microsoft.com/office/drawing/2014/main" id="{34F2D284-94C7-4FE7-84A1-17ED43F0A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1181100"/>
            <a:ext cx="110013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rPr>
              <a:t>Game は撃破の結果を受け取り、Enemy が HP を管理する</a:t>
            </a:r>
          </a:p>
        </p:txBody>
      </p:sp>
      <p:sp>
        <p:nvSpPr>
          <p:cNvPr id="3" name="def take_hit(self, damage):">
            <a:extLst xmlns:a="http://schemas.openxmlformats.org/drawingml/2006/main">
              <a:ext uri="{FF2B5EF4-FFF2-40B4-BE49-F238E27FC236}">
                <a16:creationId xmlns:a16="http://schemas.microsoft.com/office/drawing/2014/main" id="{EB1EE3A7-98A1-410C-A79F-2CB5CD94E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914525"/>
            <a:ext cx="11001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def take_hit(self, damage):</a:t>
            </a:r>
          </a:p>
        </p:txBody>
      </p:sp>
      <p:sp>
        <p:nvSpPr>
          <p:cNvPr id="4" name="    self.hp = max(0, self.hp - damage)">
            <a:extLst xmlns:a="http://schemas.openxmlformats.org/drawingml/2006/main">
              <a:ext uri="{FF2B5EF4-FFF2-40B4-BE49-F238E27FC236}">
                <a16:creationId xmlns:a16="http://schemas.microsoft.com/office/drawing/2014/main" id="{2D264289-5233-4553-BF7B-38BD4C1BA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38375"/>
            <a:ext cx="11001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    self.hp = max(0, self.hp - damage)</a:t>
            </a:r>
          </a:p>
        </p:txBody>
      </p:sp>
      <p:sp>
        <p:nvSpPr>
          <p:cNvPr id="5" name="    if self.hp == 0:">
            <a:extLst xmlns:a="http://schemas.openxmlformats.org/drawingml/2006/main">
              <a:ext uri="{FF2B5EF4-FFF2-40B4-BE49-F238E27FC236}">
                <a16:creationId xmlns:a16="http://schemas.microsoft.com/office/drawing/2014/main" id="{08EBC6A4-D443-4F8C-90D0-404C0345F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562225"/>
            <a:ext cx="11001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    if self.hp == 0:</a:t>
            </a:r>
          </a:p>
        </p:txBody>
      </p:sp>
      <p:sp>
        <p:nvSpPr>
          <p:cNvPr id="6" name="        self.kill()">
            <a:extLst xmlns:a="http://schemas.openxmlformats.org/drawingml/2006/main">
              <a:ext uri="{FF2B5EF4-FFF2-40B4-BE49-F238E27FC236}">
                <a16:creationId xmlns:a16="http://schemas.microsoft.com/office/drawing/2014/main" id="{6AE91F91-8595-4F45-A5D9-55731B7BD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86075"/>
            <a:ext cx="11001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        self.kill()</a:t>
            </a:r>
          </a:p>
        </p:txBody>
      </p:sp>
      <p:sp>
        <p:nvSpPr>
          <p:cNvPr id="7" name="        return True">
            <a:extLst xmlns:a="http://schemas.openxmlformats.org/drawingml/2006/main">
              <a:ext uri="{FF2B5EF4-FFF2-40B4-BE49-F238E27FC236}">
                <a16:creationId xmlns:a16="http://schemas.microsoft.com/office/drawing/2014/main" id="{4629DDF1-AE92-4CCC-B280-5FD46D339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09925"/>
            <a:ext cx="11001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        return True</a:t>
            </a:r>
          </a:p>
        </p:txBody>
      </p:sp>
      <p:sp>
        <p:nvSpPr>
          <p:cNvPr id="8" name="    return False">
            <a:extLst xmlns:a="http://schemas.openxmlformats.org/drawingml/2006/main">
              <a:ext uri="{FF2B5EF4-FFF2-40B4-BE49-F238E27FC236}">
                <a16:creationId xmlns:a16="http://schemas.microsoft.com/office/drawing/2014/main" id="{4384E1FD-3291-48C0-B91F-189079AB1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533775"/>
            <a:ext cx="11001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    return False</a:t>
            </a:r>
          </a:p>
        </p:txBody>
      </p:sp>
      <p:sp>
        <p:nvSpPr>
          <p:cNvPr id="9" name="max(0, ...) により HP は負にならない。">
            <a:extLst xmlns:a="http://schemas.openxmlformats.org/drawingml/2006/main">
              <a:ext uri="{FF2B5EF4-FFF2-40B4-BE49-F238E27FC236}">
                <a16:creationId xmlns:a16="http://schemas.microsoft.com/office/drawing/2014/main" id="{B9587A6C-7C0B-4419-B627-A3B18FB2A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267325"/>
            <a:ext cx="5191125" cy="1019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pPr>
            <a:r>
              <a: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rPr>
              <a:t>max(0, ...) により HP は負にならない。</a:t>
            </a:r>
          </a:p>
        </p:txBody>
      </p:sp>
      <p:sp>
        <p:nvSpPr>
          <p:cNvPr id="10" name="True が撃破を表し、Game が得点を加える。">
            <a:extLst xmlns:a="http://schemas.openxmlformats.org/drawingml/2006/main">
              <a:ext uri="{FF2B5EF4-FFF2-40B4-BE49-F238E27FC236}">
                <a16:creationId xmlns:a16="http://schemas.microsoft.com/office/drawing/2014/main" id="{9CD12690-003F-49F7-80F1-D40E6DC9A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5267325"/>
            <a:ext cx="5191125" cy="1019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pPr>
            <a:r>
              <a: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rPr>
              <a:t>True が撃破を表し、Game が得点を加える。</a:t>
            </a:r>
          </a:p>
        </p:txBody>
      </p:sp>
      <p:sp>
        <p:nvSpPr>
          <p:cNvPr id="11" name="actors.py · Enemy.take_hit()">
            <a:extLst xmlns:a="http://schemas.openxmlformats.org/drawingml/2006/main">
              <a:ext uri="{FF2B5EF4-FFF2-40B4-BE49-F238E27FC236}">
                <a16:creationId xmlns:a16="http://schemas.microsoft.com/office/drawing/2014/main" id="{ECA4B296-E959-4D79-B68E-F011D1C72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67475"/>
            <a:ext cx="1047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buNone/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buNone/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buNone/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buNone/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buNone/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buNone/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buNone/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buNone/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buNone/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buNone/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actors.py · Enemy.take_hit()</a:t>
            </a:r>
          </a:p>
        </p:txBody>
      </p:sp>
      <p:sp>
        <p:nvSpPr>
          <p:cNvPr id="12" name="20">
            <a:extLst xmlns:a="http://schemas.openxmlformats.org/drawingml/2006/main">
              <a:ext uri="{FF2B5EF4-FFF2-40B4-BE49-F238E27FC236}">
                <a16:creationId xmlns:a16="http://schemas.microsoft.com/office/drawing/2014/main" id="{724C7051-DEA3-437D-907C-7E54ABC86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505575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pPr>
            <a:r>
              <a: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946995833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0B14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衝突：一つの弾は一度だけ当たる">
            <a:extLst xmlns:a="http://schemas.openxmlformats.org/drawingml/2006/main">
              <a:ext uri="{FF2B5EF4-FFF2-40B4-BE49-F238E27FC236}">
                <a16:creationId xmlns:a16="http://schemas.microsoft.com/office/drawing/2014/main" id="{C60DA8E1-50B1-46C0-A0AD-1260C7FFC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428625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3300" b="1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3300" b="1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3300" b="1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3300" b="1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3300" b="1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3300" b="1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3300" b="1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3300" b="1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3300" b="1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3300" b="1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pPr>
            <a:r>
              <a:rPr sz="3300" b="1">
                <a:solidFill>
                  <a:srgbClr val="EDF4FB"/>
                </a:solidFill>
                <a:latin typeface="Yu Gothic"/>
                <a:ea typeface="Yu Gothic"/>
                <a:cs typeface="Yu Gothic"/>
              </a:rPr>
              <a:t>衝突：一つの弾は一度だけ当たる</a:t>
            </a:r>
          </a:p>
        </p:txBody>
      </p:sp>
      <p:sp>
        <p:nvSpPr>
          <p:cNvPr id="2" name="rect の重なりを判定。この例はピクセルマスクを使わない。">
            <a:extLst xmlns:a="http://schemas.openxmlformats.org/drawingml/2006/main">
              <a:ext uri="{FF2B5EF4-FFF2-40B4-BE49-F238E27FC236}">
                <a16:creationId xmlns:a16="http://schemas.microsoft.com/office/drawing/2014/main" id="{11D2D1CC-D7CC-464C-858E-72DBB54CB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1181100"/>
            <a:ext cx="110013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rPr>
              <a:t>rect の重なりを判定。この例はピクセルマスクを使わない。</a:t>
            </a:r>
          </a:p>
        </p:txBody>
      </p:sp>
      <p:sp>
        <p:nvSpPr>
          <p:cNvPr id="3" name="for bullet in self.bullets.sprites():">
            <a:extLst xmlns:a="http://schemas.openxmlformats.org/drawingml/2006/main">
              <a:ext uri="{FF2B5EF4-FFF2-40B4-BE49-F238E27FC236}">
                <a16:creationId xmlns:a16="http://schemas.microsoft.com/office/drawing/2014/main" id="{5013AFB3-D93E-4821-82E5-5A5B1BF2F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914525"/>
            <a:ext cx="11001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for bullet in self.bullets.sprites():</a:t>
            </a:r>
          </a:p>
        </p:txBody>
      </p:sp>
      <p:sp>
        <p:nvSpPr>
          <p:cNvPr id="4" name="    hits = pygame.sprite.spritecollide(">
            <a:extLst xmlns:a="http://schemas.openxmlformats.org/drawingml/2006/main">
              <a:ext uri="{FF2B5EF4-FFF2-40B4-BE49-F238E27FC236}">
                <a16:creationId xmlns:a16="http://schemas.microsoft.com/office/drawing/2014/main" id="{A0CBD7BB-52BE-40BE-A3A1-0744987BC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38375"/>
            <a:ext cx="11001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    hits = pygame.sprite.spritecollide(</a:t>
            </a:r>
          </a:p>
        </p:txBody>
      </p:sp>
      <p:sp>
        <p:nvSpPr>
          <p:cNvPr id="5" name="        bullet, self.enemies, False)">
            <a:extLst xmlns:a="http://schemas.openxmlformats.org/drawingml/2006/main">
              <a:ext uri="{FF2B5EF4-FFF2-40B4-BE49-F238E27FC236}">
                <a16:creationId xmlns:a16="http://schemas.microsoft.com/office/drawing/2014/main" id="{AB6EE9C0-2A3A-4AD7-B5B3-0527B5B58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562225"/>
            <a:ext cx="11001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        bullet, self.enemies, False)</a:t>
            </a:r>
          </a:p>
        </p:txBody>
      </p:sp>
      <p:sp>
        <p:nvSpPr>
          <p:cNvPr id="6" name="    if hits:">
            <a:extLst xmlns:a="http://schemas.openxmlformats.org/drawingml/2006/main">
              <a:ext uri="{FF2B5EF4-FFF2-40B4-BE49-F238E27FC236}">
                <a16:creationId xmlns:a16="http://schemas.microsoft.com/office/drawing/2014/main" id="{E7836E43-2073-495C-BDEF-BD90A629D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86075"/>
            <a:ext cx="11001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    if hits:</a:t>
            </a:r>
          </a:p>
        </p:txBody>
      </p:sp>
      <p:sp>
        <p:nvSpPr>
          <p:cNvPr id="7" name="        enemy = hits[0]">
            <a:extLst xmlns:a="http://schemas.openxmlformats.org/drawingml/2006/main">
              <a:ext uri="{FF2B5EF4-FFF2-40B4-BE49-F238E27FC236}">
                <a16:creationId xmlns:a16="http://schemas.microsoft.com/office/drawing/2014/main" id="{0B3531E1-6610-4AA6-B6C8-5FB06857D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09925"/>
            <a:ext cx="11001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        enemy = hits[0]</a:t>
            </a:r>
          </a:p>
        </p:txBody>
      </p:sp>
      <p:sp>
        <p:nvSpPr>
          <p:cNvPr id="8" name="        destroyed = enemy.take_hit(bullet.damage)">
            <a:extLst xmlns:a="http://schemas.openxmlformats.org/drawingml/2006/main">
              <a:ext uri="{FF2B5EF4-FFF2-40B4-BE49-F238E27FC236}">
                <a16:creationId xmlns:a16="http://schemas.microsoft.com/office/drawing/2014/main" id="{B328125C-2174-4BD0-965C-FE7BD5E6F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533775"/>
            <a:ext cx="11001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        destroyed = enemy.take_hit(bullet.damage)</a:t>
            </a:r>
          </a:p>
        </p:txBody>
      </p:sp>
      <p:sp>
        <p:nvSpPr>
          <p:cNvPr id="9" name="        bullet.kill()">
            <a:extLst xmlns:a="http://schemas.openxmlformats.org/drawingml/2006/main">
              <a:ext uri="{FF2B5EF4-FFF2-40B4-BE49-F238E27FC236}">
                <a16:creationId xmlns:a16="http://schemas.microsoft.com/office/drawing/2014/main" id="{9FA395BE-0CA5-43A3-B919-6667EF4F0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57625"/>
            <a:ext cx="11001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        bullet.kill()</a:t>
            </a:r>
          </a:p>
        </p:txBody>
      </p:sp>
      <p:sp>
        <p:nvSpPr>
          <p:cNvPr id="10" name="        if destroyed:">
            <a:extLst xmlns:a="http://schemas.openxmlformats.org/drawingml/2006/main">
              <a:ext uri="{FF2B5EF4-FFF2-40B4-BE49-F238E27FC236}">
                <a16:creationId xmlns:a16="http://schemas.microsoft.com/office/drawing/2014/main" id="{45E02000-650E-41BA-9F1C-4EF225027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181475"/>
            <a:ext cx="11001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        if destroyed:</a:t>
            </a:r>
          </a:p>
        </p:txBody>
      </p:sp>
      <p:sp>
        <p:nvSpPr>
          <p:cNvPr id="11" name="            self.score += 10">
            <a:extLst xmlns:a="http://schemas.openxmlformats.org/drawingml/2006/main">
              <a:ext uri="{FF2B5EF4-FFF2-40B4-BE49-F238E27FC236}">
                <a16:creationId xmlns:a16="http://schemas.microsoft.com/office/drawing/2014/main" id="{55AED4B1-D7C8-4BF8-8F79-B2DC5992A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505325"/>
            <a:ext cx="11001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            self.score += 10</a:t>
            </a:r>
          </a:p>
        </p:txBody>
      </p:sp>
      <p:sp>
        <p:nvSpPr>
          <p:cNvPr id="12" name="hits[0] で一体だけを選び、重なった敵にも一発で多重命中しない。">
            <a:extLst xmlns:a="http://schemas.openxmlformats.org/drawingml/2006/main">
              <a:ext uri="{FF2B5EF4-FFF2-40B4-BE49-F238E27FC236}">
                <a16:creationId xmlns:a16="http://schemas.microsoft.com/office/drawing/2014/main" id="{E389FF9E-9695-47A1-8C83-158FC72B1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267325"/>
            <a:ext cx="5191125" cy="1019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pPr>
            <a:r>
              <a: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rPr>
              <a:t>hits[0] で一体だけを選び、重なった敵にも一発で多重命中しない。</a:t>
            </a:r>
          </a:p>
        </p:txBody>
      </p:sp>
      <p:sp>
        <p:nvSpPr>
          <p:cNvPr id="13" name="ダメージを与え、弾を除去し、撃破時だけ +10 点。">
            <a:extLst xmlns:a="http://schemas.openxmlformats.org/drawingml/2006/main">
              <a:ext uri="{FF2B5EF4-FFF2-40B4-BE49-F238E27FC236}">
                <a16:creationId xmlns:a16="http://schemas.microsoft.com/office/drawing/2014/main" id="{3FE6E779-23F4-4CC2-8586-A1A1226E8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5267325"/>
            <a:ext cx="5191125" cy="1019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pPr>
            <a:r>
              <a: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rPr>
              <a:t>ダメージを与え、弾を除去し、撃破時だけ +10 点。</a:t>
            </a:r>
          </a:p>
        </p:txBody>
      </p:sp>
      <p:sp>
        <p:nvSpPr>
          <p:cNvPr id="14" name="game.py · Game.resolve_collisions() · excerpt">
            <a:extLst xmlns:a="http://schemas.openxmlformats.org/drawingml/2006/main">
              <a:ext uri="{FF2B5EF4-FFF2-40B4-BE49-F238E27FC236}">
                <a16:creationId xmlns:a16="http://schemas.microsoft.com/office/drawing/2014/main" id="{AB56ECED-3F42-4650-A8A3-8477CE6F4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67475"/>
            <a:ext cx="1047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buNone/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buNone/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buNone/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buNone/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buNone/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buNone/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buNone/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buNone/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buNone/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buNone/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game.py · Game.resolve_collisions() · excerpt</a:t>
            </a:r>
          </a:p>
        </p:txBody>
      </p:sp>
      <p:sp>
        <p:nvSpPr>
          <p:cNvPr id="15" name="21">
            <a:extLst xmlns:a="http://schemas.openxmlformats.org/drawingml/2006/main">
              <a:ext uri="{FF2B5EF4-FFF2-40B4-BE49-F238E27FC236}">
                <a16:creationId xmlns:a16="http://schemas.microsoft.com/office/drawing/2014/main" id="{07F9F05A-0D48-4958-9607-EAB6B403F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505575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pPr>
            <a:r>
              <a: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rPr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1337329987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0B14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被弾：Player が正しい状態を守る">
            <a:extLst xmlns:a="http://schemas.openxmlformats.org/drawingml/2006/main">
              <a:ext uri="{FF2B5EF4-FFF2-40B4-BE49-F238E27FC236}">
                <a16:creationId xmlns:a16="http://schemas.microsoft.com/office/drawing/2014/main" id="{00571CAB-C0BB-4EFE-B9A5-5375FD00E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428625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3300" b="1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3300" b="1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3300" b="1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3300" b="1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3300" b="1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3300" b="1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3300" b="1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3300" b="1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3300" b="1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3300" b="1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pPr>
            <a:r>
              <a:rPr sz="3300" b="1">
                <a:solidFill>
                  <a:srgbClr val="EDF4FB"/>
                </a:solidFill>
                <a:latin typeface="Yu Gothic"/>
                <a:ea typeface="Yu Gothic"/>
                <a:cs typeface="Yu Gothic"/>
              </a:rPr>
              <a:t>被弾：Player が正しい状態を守る</a:t>
            </a:r>
          </a:p>
        </p:txBody>
      </p:sp>
      <p:sp>
        <p:nvSpPr>
          <p:cNvPr id="2" name="有効な被弾ごとに HP を 1 減らし、その後 0.8 秒間は無敵">
            <a:extLst xmlns:a="http://schemas.openxmlformats.org/drawingml/2006/main">
              <a:ext uri="{FF2B5EF4-FFF2-40B4-BE49-F238E27FC236}">
                <a16:creationId xmlns:a16="http://schemas.microsoft.com/office/drawing/2014/main" id="{2F9444A2-DBFA-419A-8484-E2BD5B76B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1181100"/>
            <a:ext cx="110013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rPr>
              <a:t>有効な被弾ごとに HP を 1 減らし、その後 0.8 秒間は無敵</a:t>
            </a:r>
          </a:p>
        </p:txBody>
      </p:sp>
      <p:sp>
        <p:nvSpPr>
          <p:cNvPr id="3" name="def take_damage(self):">
            <a:extLst xmlns:a="http://schemas.openxmlformats.org/drawingml/2006/main">
              <a:ext uri="{FF2B5EF4-FFF2-40B4-BE49-F238E27FC236}">
                <a16:creationId xmlns:a16="http://schemas.microsoft.com/office/drawing/2014/main" id="{2C71F0A3-8604-402A-B6AA-69025B7C7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914525"/>
            <a:ext cx="11001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def take_damage(self):</a:t>
            </a:r>
          </a:p>
        </p:txBody>
      </p:sp>
      <p:sp>
        <p:nvSpPr>
          <p:cNvPr id="4" name="    if self.invulnerable &gt; 0 or self.hp == 0:">
            <a:extLst xmlns:a="http://schemas.openxmlformats.org/drawingml/2006/main">
              <a:ext uri="{FF2B5EF4-FFF2-40B4-BE49-F238E27FC236}">
                <a16:creationId xmlns:a16="http://schemas.microsoft.com/office/drawing/2014/main" id="{DED427C3-FF95-4285-80E8-DEEB7642F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38375"/>
            <a:ext cx="11001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    if self.invulnerable &gt; 0 or self.hp == 0:</a:t>
            </a:r>
          </a:p>
        </p:txBody>
      </p:sp>
      <p:sp>
        <p:nvSpPr>
          <p:cNvPr id="5" name="        return False">
            <a:extLst xmlns:a="http://schemas.openxmlformats.org/drawingml/2006/main">
              <a:ext uri="{FF2B5EF4-FFF2-40B4-BE49-F238E27FC236}">
                <a16:creationId xmlns:a16="http://schemas.microsoft.com/office/drawing/2014/main" id="{FCA9FFC3-6FF3-4E8C-9C71-7554E2EC7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562225"/>
            <a:ext cx="11001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        return False</a:t>
            </a:r>
          </a:p>
        </p:txBody>
      </p:sp>
      <p:sp>
        <p:nvSpPr>
          <p:cNvPr id="6" name="    self.hp -= 1">
            <a:extLst xmlns:a="http://schemas.openxmlformats.org/drawingml/2006/main">
              <a:ext uri="{FF2B5EF4-FFF2-40B4-BE49-F238E27FC236}">
                <a16:creationId xmlns:a16="http://schemas.microsoft.com/office/drawing/2014/main" id="{F917A67F-FF0F-4CBC-B69D-076F94FE1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86075"/>
            <a:ext cx="11001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    self.hp -= 1</a:t>
            </a:r>
          </a:p>
        </p:txBody>
      </p:sp>
      <p:sp>
        <p:nvSpPr>
          <p:cNvPr id="7" name="    self.invulnerable = 0.8">
            <a:extLst xmlns:a="http://schemas.openxmlformats.org/drawingml/2006/main">
              <a:ext uri="{FF2B5EF4-FFF2-40B4-BE49-F238E27FC236}">
                <a16:creationId xmlns:a16="http://schemas.microsoft.com/office/drawing/2014/main" id="{1E096403-93E4-4F5F-ABAD-8F23A5934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09925"/>
            <a:ext cx="11001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    self.invulnerable = 0.8</a:t>
            </a:r>
          </a:p>
        </p:txBody>
      </p:sp>
      <p:sp>
        <p:nvSpPr>
          <p:cNvPr id="8" name="    return True">
            <a:extLst xmlns:a="http://schemas.openxmlformats.org/drawingml/2006/main">
              <a:ext uri="{FF2B5EF4-FFF2-40B4-BE49-F238E27FC236}">
                <a16:creationId xmlns:a16="http://schemas.microsoft.com/office/drawing/2014/main" id="{FD9F84AF-0E99-45D4-92F5-0DC64F35B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533775"/>
            <a:ext cx="11001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    return True</a:t>
            </a:r>
          </a:p>
        </p:txBody>
      </p:sp>
      <p:sp>
        <p:nvSpPr>
          <p:cNvPr id="9" name="無敵時間中、または HP がすでに 0 ならダメージを受け付けない。">
            <a:extLst xmlns:a="http://schemas.openxmlformats.org/drawingml/2006/main">
              <a:ext uri="{FF2B5EF4-FFF2-40B4-BE49-F238E27FC236}">
                <a16:creationId xmlns:a16="http://schemas.microsoft.com/office/drawing/2014/main" id="{8CC58E5F-A0AA-4A60-B8DE-6B97C6889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267325"/>
            <a:ext cx="5191125" cy="1019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pPr>
            <a:r>
              <a: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rPr>
              <a:t>無敵時間中、または HP がすでに 0 ならダメージを受け付けない。</a:t>
            </a:r>
          </a:p>
        </p:txBody>
      </p:sp>
      <p:sp>
        <p:nvSpPr>
          <p:cNvPr id="10" name="Game は player.hp を直接変えず、take_damage() を呼ぶ。">
            <a:extLst xmlns:a="http://schemas.openxmlformats.org/drawingml/2006/main">
              <a:ext uri="{FF2B5EF4-FFF2-40B4-BE49-F238E27FC236}">
                <a16:creationId xmlns:a16="http://schemas.microsoft.com/office/drawing/2014/main" id="{F256B929-7502-4197-B1D5-2D14A10A0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5267325"/>
            <a:ext cx="5191125" cy="1019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pPr>
            <a:r>
              <a: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rPr>
              <a:t>Game は player.hp を直接変えず、take_damage() を呼ぶ。</a:t>
            </a:r>
          </a:p>
        </p:txBody>
      </p:sp>
      <p:sp>
        <p:nvSpPr>
          <p:cNvPr id="11" name="actors.py · Player.take_damage()">
            <a:extLst xmlns:a="http://schemas.openxmlformats.org/drawingml/2006/main">
              <a:ext uri="{FF2B5EF4-FFF2-40B4-BE49-F238E27FC236}">
                <a16:creationId xmlns:a16="http://schemas.microsoft.com/office/drawing/2014/main" id="{72CC40F7-DE55-4A08-ABF5-786F5BCFE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67475"/>
            <a:ext cx="1047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buNone/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buNone/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buNone/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buNone/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buNone/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buNone/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buNone/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buNone/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buNone/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buNone/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actors.py · Player.take_damage()</a:t>
            </a:r>
          </a:p>
        </p:txBody>
      </p:sp>
      <p:sp>
        <p:nvSpPr>
          <p:cNvPr id="12" name="22">
            <a:extLst xmlns:a="http://schemas.openxmlformats.org/drawingml/2006/main">
              <a:ext uri="{FF2B5EF4-FFF2-40B4-BE49-F238E27FC236}">
                <a16:creationId xmlns:a16="http://schemas.microsoft.com/office/drawing/2014/main" id="{E0C1B648-8731-49E6-AAD8-F45A84054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505575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pPr>
            <a:r>
              <a: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rPr>
              <a:t>22</a:t>
            </a:r>
          </a:p>
        </p:txBody>
      </p:sp>
    </p:spTree>
    <p:extLst>
      <p:ext uri="{BB962C8B-B14F-4D97-AF65-F5344CB8AC3E}">
        <p14:creationId xmlns:p14="http://schemas.microsoft.com/office/powerpoint/2010/main" val="516285137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0B14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kill()：画面を離れても実体は残る">
            <a:extLst xmlns:a="http://schemas.openxmlformats.org/drawingml/2006/main">
              <a:ext uri="{FF2B5EF4-FFF2-40B4-BE49-F238E27FC236}">
                <a16:creationId xmlns:a16="http://schemas.microsoft.com/office/drawing/2014/main" id="{5E36DE13-5711-478B-A3FD-942CF6BE0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428625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3300" b="1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3300" b="1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3300" b="1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3300" b="1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3300" b="1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3300" b="1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3300" b="1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3300" b="1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3300" b="1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3300" b="1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pPr>
            <a:r>
              <a:rPr sz="3300" b="1">
                <a:solidFill>
                  <a:srgbClr val="EDF4FB"/>
                </a:solidFill>
                <a:latin typeface="Yu Gothic"/>
                <a:ea typeface="Yu Gothic"/>
                <a:cs typeface="Yu Gothic"/>
              </a:rPr>
              <a:t>kill()：画面を離れても実体は残る</a:t>
            </a:r>
          </a:p>
        </p:txBody>
      </p:sp>
      <p:sp>
        <p:nvSpPr>
          <p:cNvPr id="2" name="グループへの所属と Python オブジェクトの寿命は異なる">
            <a:extLst xmlns:a="http://schemas.openxmlformats.org/drawingml/2006/main">
              <a:ext uri="{FF2B5EF4-FFF2-40B4-BE49-F238E27FC236}">
                <a16:creationId xmlns:a16="http://schemas.microsoft.com/office/drawing/2014/main" id="{6F5A84EB-0DC2-48EC-AB6A-888F4455E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1181100"/>
            <a:ext cx="110013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rPr>
              <a:t>グループへの所属と Python オブジェクトの寿命は異なる</a:t>
            </a:r>
          </a:p>
        </p:txBody>
      </p:sp>
      <p:sp>
        <p:nvSpPr>
          <p:cNvPr id="3" name="b = game.player.shoot(&quot;B99&quot;)">
            <a:extLst xmlns:a="http://schemas.openxmlformats.org/drawingml/2006/main">
              <a:ext uri="{FF2B5EF4-FFF2-40B4-BE49-F238E27FC236}">
                <a16:creationId xmlns:a16="http://schemas.microsoft.com/office/drawing/2014/main" id="{CABFAC02-629F-4DBE-A0E0-A0B81DEB5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914525"/>
            <a:ext cx="11001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b = game.player.shoot("B99")</a:t>
            </a:r>
          </a:p>
        </p:txBody>
      </p:sp>
      <p:sp>
        <p:nvSpPr>
          <p:cNvPr id="4" name="if b is not None:">
            <a:extLst xmlns:a="http://schemas.openxmlformats.org/drawingml/2006/main">
              <a:ext uri="{FF2B5EF4-FFF2-40B4-BE49-F238E27FC236}">
                <a16:creationId xmlns:a16="http://schemas.microsoft.com/office/drawing/2014/main" id="{CC3DC86A-CF15-41F8-9B19-C67B0D1D1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38375"/>
            <a:ext cx="11001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if b is not None:</a:t>
            </a:r>
          </a:p>
        </p:txBody>
      </p:sp>
      <p:sp>
        <p:nvSpPr>
          <p:cNvPr id="5" name="    game.bullets.add(b)">
            <a:extLst xmlns:a="http://schemas.openxmlformats.org/drawingml/2006/main">
              <a:ext uri="{FF2B5EF4-FFF2-40B4-BE49-F238E27FC236}">
                <a16:creationId xmlns:a16="http://schemas.microsoft.com/office/drawing/2014/main" id="{FEE4ECCC-3009-4964-BAD1-DAE2B944F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562225"/>
            <a:ext cx="11001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    game.bullets.add(b)</a:t>
            </a:r>
          </a:p>
        </p:txBody>
      </p:sp>
      <p:sp>
        <p:nvSpPr>
          <p:cNvPr id="6" name="    game.all_sprites.add(b)">
            <a:extLst xmlns:a="http://schemas.openxmlformats.org/drawingml/2006/main">
              <a:ext uri="{FF2B5EF4-FFF2-40B4-BE49-F238E27FC236}">
                <a16:creationId xmlns:a16="http://schemas.microsoft.com/office/drawing/2014/main" id="{C82C9A20-9A6B-4A82-97E6-52953409C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86075"/>
            <a:ext cx="11001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    game.all_sprites.add(b)</a:t>
            </a:r>
          </a:p>
        </p:txBody>
      </p:sp>
      <p:sp>
        <p:nvSpPr>
          <p:cNvPr id="7" name="    b.kill()">
            <a:extLst xmlns:a="http://schemas.openxmlformats.org/drawingml/2006/main">
              <a:ext uri="{FF2B5EF4-FFF2-40B4-BE49-F238E27FC236}">
                <a16:creationId xmlns:a16="http://schemas.microsoft.com/office/drawing/2014/main" id="{2E53C102-A41D-4CC5-AF57-4BA490D2F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09925"/>
            <a:ext cx="11001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    b.kill()</a:t>
            </a:r>
          </a:p>
        </p:txBody>
      </p:sp>
      <p:sp>
        <p:nvSpPr>
          <p:cNvPr id="8" name="    print(b.alive())                 # False">
            <a:extLst xmlns:a="http://schemas.openxmlformats.org/drawingml/2006/main">
              <a:ext uri="{FF2B5EF4-FFF2-40B4-BE49-F238E27FC236}">
                <a16:creationId xmlns:a16="http://schemas.microsoft.com/office/drawing/2014/main" id="{61DE7A52-880A-4266-9C5B-6286AA2B2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533775"/>
            <a:ext cx="11001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    print(b.alive())                 # False</a:t>
            </a:r>
          </a:p>
        </p:txBody>
      </p:sp>
      <p:sp>
        <p:nvSpPr>
          <p:cNvPr id="9" name="    print(b.owner is game.player)    # True">
            <a:extLst xmlns:a="http://schemas.openxmlformats.org/drawingml/2006/main">
              <a:ext uri="{FF2B5EF4-FFF2-40B4-BE49-F238E27FC236}">
                <a16:creationId xmlns:a16="http://schemas.microsoft.com/office/drawing/2014/main" id="{7B4912EA-9ABD-47AF-A783-2C90601D9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57625"/>
            <a:ext cx="11001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    print(b.owner is game.player)    # True</a:t>
            </a:r>
          </a:p>
        </p:txBody>
      </p:sp>
      <p:sp>
        <p:nvSpPr>
          <p:cNvPr id="10" name="kill() は全 Group から除去するが、b が参照を保持している。">
            <a:extLst xmlns:a="http://schemas.openxmlformats.org/drawingml/2006/main">
              <a:ext uri="{FF2B5EF4-FFF2-40B4-BE49-F238E27FC236}">
                <a16:creationId xmlns:a16="http://schemas.microsoft.com/office/drawing/2014/main" id="{CF427D50-AF58-434A-A1E8-BE8A72197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267325"/>
            <a:ext cx="5191125" cy="1019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pPr>
            <a:r>
              <a: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rPr>
              <a:t>kill() は全 Group から除去するが、b が参照を保持している。</a:t>
            </a:r>
          </a:p>
        </p:txBody>
      </p:sp>
      <p:sp>
        <p:nvSpPr>
          <p:cNvPr id="11" name="alive() はグループへの所属を調べるもので、HP の検査ではない。">
            <a:extLst xmlns:a="http://schemas.openxmlformats.org/drawingml/2006/main">
              <a:ext uri="{FF2B5EF4-FFF2-40B4-BE49-F238E27FC236}">
                <a16:creationId xmlns:a16="http://schemas.microsoft.com/office/drawing/2014/main" id="{4FDF4F54-049E-496F-AD21-44350276C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5267325"/>
            <a:ext cx="5191125" cy="1019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pPr>
            <a:r>
              <a: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rPr>
              <a:t>alive() はグループへの所属を調べるもので、HP の検査ではない。</a:t>
            </a:r>
          </a:p>
        </p:txBody>
      </p:sp>
      <p:sp>
        <p:nvSpPr>
          <p:cNvPr id="12" name="interactive example · fresh Game">
            <a:extLst xmlns:a="http://schemas.openxmlformats.org/drawingml/2006/main">
              <a:ext uri="{FF2B5EF4-FFF2-40B4-BE49-F238E27FC236}">
                <a16:creationId xmlns:a16="http://schemas.microsoft.com/office/drawing/2014/main" id="{C5496863-7C79-49D7-94DA-5BFC3BDD0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67475"/>
            <a:ext cx="1047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buNone/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buNone/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buNone/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buNone/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buNone/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buNone/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buNone/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buNone/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buNone/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buNone/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interactive example · fresh Game</a:t>
            </a:r>
          </a:p>
        </p:txBody>
      </p:sp>
      <p:sp>
        <p:nvSpPr>
          <p:cNvPr id="13" name="23">
            <a:extLst xmlns:a="http://schemas.openxmlformats.org/drawingml/2006/main">
              <a:ext uri="{FF2B5EF4-FFF2-40B4-BE49-F238E27FC236}">
                <a16:creationId xmlns:a16="http://schemas.microsoft.com/office/drawing/2014/main" id="{25441A19-7550-428F-9D34-3BE257FD2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505575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pPr>
            <a:r>
              <a: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rPr>
              <a:t>23</a:t>
            </a:r>
          </a:p>
        </p:txBody>
      </p:sp>
    </p:spTree>
    <p:extLst>
      <p:ext uri="{BB962C8B-B14F-4D97-AF65-F5344CB8AC3E}">
        <p14:creationId xmlns:p14="http://schemas.microsoft.com/office/powerpoint/2010/main" val="1908095552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0B14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メインループ：入力・更新・描画">
            <a:extLst xmlns:a="http://schemas.openxmlformats.org/drawingml/2006/main">
              <a:ext uri="{FF2B5EF4-FFF2-40B4-BE49-F238E27FC236}">
                <a16:creationId xmlns:a16="http://schemas.microsoft.com/office/drawing/2014/main" id="{F8AC7EDE-D8A5-4CE5-BAE5-A83822124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428625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3300" b="1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3300" b="1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3300" b="1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3300" b="1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3300" b="1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3300" b="1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3300" b="1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3300" b="1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3300" b="1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3300" b="1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pPr>
            <a:r>
              <a:rPr sz="3300" b="1">
                <a:solidFill>
                  <a:srgbClr val="EDF4FB"/>
                </a:solidFill>
                <a:latin typeface="Yu Gothic"/>
                <a:ea typeface="Yu Gothic"/>
                <a:cs typeface="Yu Gothic"/>
              </a:rPr>
              <a:t>メインループ：入力・更新・描画</a:t>
            </a:r>
          </a:p>
        </p:txBody>
      </p:sp>
      <p:sp>
        <p:nvSpPr>
          <p:cNvPr id="2" name="run() の順序。キー入力の取得部分は省略。">
            <a:extLst xmlns:a="http://schemas.openxmlformats.org/drawingml/2006/main">
              <a:ext uri="{FF2B5EF4-FFF2-40B4-BE49-F238E27FC236}">
                <a16:creationId xmlns:a16="http://schemas.microsoft.com/office/drawing/2014/main" id="{61E96378-10D4-4513-A002-FB6DA8F08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1181100"/>
            <a:ext cx="110013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rPr>
              <a:t>run() の順序。キー入力の取得部分は省略。</a:t>
            </a:r>
          </a:p>
        </p:txBody>
      </p:sp>
      <p:sp>
        <p:nvSpPr>
          <p:cNvPr id="3" name="dt = min(self.clock.tick(FPS) / 1000, 1 / 30)">
            <a:extLst xmlns:a="http://schemas.openxmlformats.org/drawingml/2006/main">
              <a:ext uri="{FF2B5EF4-FFF2-40B4-BE49-F238E27FC236}">
                <a16:creationId xmlns:a16="http://schemas.microsoft.com/office/drawing/2014/main" id="{8658DC99-5F63-4E50-94C3-647460721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914525"/>
            <a:ext cx="11001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dt = min(self.clock.tick(FPS) / 1000, 1 / 30)</a:t>
            </a:r>
          </a:p>
        </p:txBody>
      </p:sp>
      <p:sp>
        <p:nvSpPr>
          <p:cNvPr id="4" name="self.handle_events(pygame.event.get())">
            <a:extLst xmlns:a="http://schemas.openxmlformats.org/drawingml/2006/main">
              <a:ext uri="{FF2B5EF4-FFF2-40B4-BE49-F238E27FC236}">
                <a16:creationId xmlns:a16="http://schemas.microsoft.com/office/drawing/2014/main" id="{D7654489-7756-4BBB-9BD7-1A9733AAC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38375"/>
            <a:ext cx="11001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self.handle_events(pygame.event.get())</a:t>
            </a:r>
          </a:p>
        </p:txBody>
      </p:sp>
      <p:sp>
        <p:nvSpPr>
          <p:cNvPr id="5" name="# direction and shooting come from keyboard input">
            <a:extLst xmlns:a="http://schemas.openxmlformats.org/drawingml/2006/main">
              <a:ext uri="{FF2B5EF4-FFF2-40B4-BE49-F238E27FC236}">
                <a16:creationId xmlns:a16="http://schemas.microsoft.com/office/drawing/2014/main" id="{FDC28B79-81E0-457C-BE9D-910E4CB34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562225"/>
            <a:ext cx="11001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# direction and shooting come from keyboard input</a:t>
            </a:r>
          </a:p>
        </p:txBody>
      </p:sp>
      <p:sp>
        <p:nvSpPr>
          <p:cNvPr id="6" name="self.tick(dt, direction, shooting)">
            <a:extLst xmlns:a="http://schemas.openxmlformats.org/drawingml/2006/main">
              <a:ext uri="{FF2B5EF4-FFF2-40B4-BE49-F238E27FC236}">
                <a16:creationId xmlns:a16="http://schemas.microsoft.com/office/drawing/2014/main" id="{901D3541-0682-4EFA-BAE5-793474FB4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86075"/>
            <a:ext cx="11001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self.tick(dt, direction, shooting)</a:t>
            </a:r>
          </a:p>
        </p:txBody>
      </p:sp>
      <p:sp>
        <p:nvSpPr>
          <p:cNvPr id="7" name="view.draw(self)">
            <a:extLst xmlns:a="http://schemas.openxmlformats.org/drawingml/2006/main">
              <a:ext uri="{FF2B5EF4-FFF2-40B4-BE49-F238E27FC236}">
                <a16:creationId xmlns:a16="http://schemas.microsoft.com/office/drawing/2014/main" id="{C90E4156-3B56-4698-8643-7FE782CB4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09925"/>
            <a:ext cx="11001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view.draw(self)</a:t>
            </a:r>
          </a:p>
        </p:txBody>
      </p:sp>
      <p:sp>
        <p:nvSpPr>
          <p:cNvPr id="8" name="pygame.display.flip()">
            <a:extLst xmlns:a="http://schemas.openxmlformats.org/drawingml/2006/main">
              <a:ext uri="{FF2B5EF4-FFF2-40B4-BE49-F238E27FC236}">
                <a16:creationId xmlns:a16="http://schemas.microsoft.com/office/drawing/2014/main" id="{CEAC603C-DB02-412F-9757-388A8BD57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533775"/>
            <a:ext cx="11001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pygame.display.flip()</a:t>
            </a:r>
          </a:p>
        </p:txBody>
      </p:sp>
      <p:sp>
        <p:nvSpPr>
          <p:cNvPr id="9" name="tick() は playing のときだけ更新。view.draw() は停止・終了状態も描く。">
            <a:extLst xmlns:a="http://schemas.openxmlformats.org/drawingml/2006/main">
              <a:ext uri="{FF2B5EF4-FFF2-40B4-BE49-F238E27FC236}">
                <a16:creationId xmlns:a16="http://schemas.microsoft.com/office/drawing/2014/main" id="{F8EF67A9-5208-4AEA-A54E-E362F9613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267325"/>
            <a:ext cx="5191125" cy="1019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pPr>
            <a:r>
              <a: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rPr>
              <a:t>tick() は playing のときだけ更新。view.draw() は停止・終了状態も描く。</a:t>
            </a:r>
          </a:p>
        </p:txBody>
      </p:sp>
      <p:sp>
        <p:nvSpPr>
          <p:cNvPr id="10" name="Clock はミリ秒を返すので 1000 で割る。この例では dt を最大 1/30 秒に制限。">
            <a:extLst xmlns:a="http://schemas.openxmlformats.org/drawingml/2006/main">
              <a:ext uri="{FF2B5EF4-FFF2-40B4-BE49-F238E27FC236}">
                <a16:creationId xmlns:a16="http://schemas.microsoft.com/office/drawing/2014/main" id="{454D7765-55D6-4C17-A63F-329F4D3D7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5267325"/>
            <a:ext cx="5191125" cy="1019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pPr>
            <a:r>
              <a: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rPr>
              <a:t>Clock はミリ秒を返すので 1000 で割る。この例では dt を最大 1/30 秒に制限。</a:t>
            </a:r>
          </a:p>
        </p:txBody>
      </p:sp>
      <p:sp>
        <p:nvSpPr>
          <p:cNvPr id="11" name="game.py · Game.run() · excerpt">
            <a:extLst xmlns:a="http://schemas.openxmlformats.org/drawingml/2006/main">
              <a:ext uri="{FF2B5EF4-FFF2-40B4-BE49-F238E27FC236}">
                <a16:creationId xmlns:a16="http://schemas.microsoft.com/office/drawing/2014/main" id="{418AC21A-91C7-43B3-9DA4-4FD9ECBAF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67475"/>
            <a:ext cx="1047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buNone/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buNone/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buNone/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buNone/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buNone/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buNone/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buNone/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buNone/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buNone/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buNone/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game.py · Game.run() · excerpt</a:t>
            </a:r>
          </a:p>
        </p:txBody>
      </p:sp>
      <p:sp>
        <p:nvSpPr>
          <p:cNvPr id="12" name="24">
            <a:extLst xmlns:a="http://schemas.openxmlformats.org/drawingml/2006/main">
              <a:ext uri="{FF2B5EF4-FFF2-40B4-BE49-F238E27FC236}">
                <a16:creationId xmlns:a16="http://schemas.microsoft.com/office/drawing/2014/main" id="{B6944510-C969-4D95-9D74-949CA8852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505575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pPr>
            <a:r>
              <a: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rPr>
              <a:t>24</a:t>
            </a:r>
          </a:p>
        </p:txBody>
      </p:sp>
    </p:spTree>
    <p:extLst>
      <p:ext uri="{BB962C8B-B14F-4D97-AF65-F5344CB8AC3E}">
        <p14:creationId xmlns:p14="http://schemas.microsoft.com/office/powerpoint/2010/main" val="2040074028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状態：停止中は勝手に動かない">
            <a:extLst xmlns:a="http://schemas.openxmlformats.org/drawingml/2006/main">
              <a:ext uri="{FF2B5EF4-FFF2-40B4-BE49-F238E27FC236}">
                <a16:creationId xmlns:a16="http://schemas.microsoft.com/office/drawing/2014/main" id="{9EE05C36-CD33-4787-9AC9-A7C59316E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428625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3300" b="1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3300" b="1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3300" b="1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3300" b="1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3300" b="1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3300" b="1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3300" b="1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3300" b="1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3300" b="1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3300" b="1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pPr>
            <a:r>
              <a:rPr sz="3300" b="1">
                <a:solidFill>
                  <a:srgbClr val="172C40"/>
                </a:solidFill>
                <a:latin typeface="Yu Gothic"/>
                <a:ea typeface="Yu Gothic"/>
                <a:cs typeface="Yu Gothic"/>
              </a:rPr>
              <a:t>状態：停止中は勝手に動かない</a:t>
            </a:r>
          </a:p>
        </p:txBody>
      </p:sp>
      <p:sp>
        <p:nvSpPr>
          <p:cNvPr id="2" name="ready → playing ⇄ paused、playing → won / lost">
            <a:extLst xmlns:a="http://schemas.openxmlformats.org/drawingml/2006/main">
              <a:ext uri="{FF2B5EF4-FFF2-40B4-BE49-F238E27FC236}">
                <a16:creationId xmlns:a16="http://schemas.microsoft.com/office/drawing/2014/main" id="{E4B028DF-92D4-4A37-B2B0-B337D1BA6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1181100"/>
            <a:ext cx="110013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1725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1725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1725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1725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1725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1725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1725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1725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1725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1725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5B7082"/>
                </a:solidFill>
                <a:latin typeface="Yu Gothic"/>
                <a:ea typeface="Yu Gothic"/>
                <a:cs typeface="Yu Gothic"/>
              </a:rPr>
              <a:t>ready → playing ⇄ paused、playing → won / lost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20FE9A-DE6A-4ED1-BD94-ADE7D76B4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81250"/>
            <a:ext cx="200025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72C40"/>
            </a:solidFill>
          </a:ln>
        </p:spPr>
      </p:sp>
      <p:sp>
        <p:nvSpPr>
          <p:cNvPr id="4" name="ready">
            <a:extLst xmlns:a="http://schemas.openxmlformats.org/drawingml/2006/main">
              <a:ext uri="{FF2B5EF4-FFF2-40B4-BE49-F238E27FC236}">
                <a16:creationId xmlns:a16="http://schemas.microsoft.com/office/drawing/2014/main" id="{533FF49C-7ECD-4D98-98E0-9C77C65A1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66975"/>
            <a:ext cx="16954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1875" b="1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1875" b="1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1875" b="1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1875" b="1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1875" b="1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1875" b="1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1875" b="1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1875" b="1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1875" b="1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1875" b="1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pPr>
            <a:r>
              <a:rPr sz="1875" b="1">
                <a:solidFill>
                  <a:srgbClr val="172C40"/>
                </a:solidFill>
                <a:latin typeface="Yu Gothic"/>
                <a:ea typeface="Yu Gothic"/>
                <a:cs typeface="Yu Gothic"/>
              </a:rPr>
              <a:t>ready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5D52F2-CA0C-4321-9502-1DB654904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381250"/>
            <a:ext cx="2428875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87C62"/>
            </a:solidFill>
          </a:ln>
        </p:spPr>
      </p:sp>
      <p:sp>
        <p:nvSpPr>
          <p:cNvPr id="6" name="playing">
            <a:extLst xmlns:a="http://schemas.openxmlformats.org/drawingml/2006/main">
              <a:ext uri="{FF2B5EF4-FFF2-40B4-BE49-F238E27FC236}">
                <a16:creationId xmlns:a16="http://schemas.microsoft.com/office/drawing/2014/main" id="{72489945-0EA2-4697-9656-B32C07FDA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466975"/>
            <a:ext cx="21240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087C62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1875" b="1">
                <a:solidFill>
                  <a:srgbClr val="087C62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1875" b="1">
                <a:solidFill>
                  <a:srgbClr val="087C62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1875" b="1">
                <a:solidFill>
                  <a:srgbClr val="087C62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1875" b="1">
                <a:solidFill>
                  <a:srgbClr val="087C62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1875" b="1">
                <a:solidFill>
                  <a:srgbClr val="087C62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1875" b="1">
                <a:solidFill>
                  <a:srgbClr val="087C62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1875" b="1">
                <a:solidFill>
                  <a:srgbClr val="087C62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1875" b="1">
                <a:solidFill>
                  <a:srgbClr val="087C62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1875" b="1">
                <a:solidFill>
                  <a:srgbClr val="087C62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1875" b="1">
                <a:solidFill>
                  <a:srgbClr val="087C62"/>
                </a:solidFill>
                <a:latin typeface="Yu Gothic"/>
                <a:ea typeface="Yu Gothic"/>
                <a:cs typeface="Yu Gothic"/>
              </a:defRPr>
            </a:pPr>
            <a:r>
              <a:rPr sz="1875" b="1">
                <a:solidFill>
                  <a:srgbClr val="087C62"/>
                </a:solidFill>
                <a:latin typeface="Yu Gothic"/>
                <a:ea typeface="Yu Gothic"/>
                <a:cs typeface="Yu Gothic"/>
              </a:rPr>
              <a:t>playing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B5CFD5-A512-492F-9FE2-09D6E2858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429125"/>
            <a:ext cx="2428875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A66D08"/>
            </a:solidFill>
          </a:ln>
        </p:spPr>
      </p:sp>
      <p:sp>
        <p:nvSpPr>
          <p:cNvPr id="8" name="paused">
            <a:extLst xmlns:a="http://schemas.openxmlformats.org/drawingml/2006/main">
              <a:ext uri="{FF2B5EF4-FFF2-40B4-BE49-F238E27FC236}">
                <a16:creationId xmlns:a16="http://schemas.microsoft.com/office/drawing/2014/main" id="{311F8068-0A94-40CE-9F33-111BC52A2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4514850"/>
            <a:ext cx="21240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A66D08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1875" b="1">
                <a:solidFill>
                  <a:srgbClr val="A66D08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1875" b="1">
                <a:solidFill>
                  <a:srgbClr val="A66D08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1875" b="1">
                <a:solidFill>
                  <a:srgbClr val="A66D08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1875" b="1">
                <a:solidFill>
                  <a:srgbClr val="A66D08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1875" b="1">
                <a:solidFill>
                  <a:srgbClr val="A66D08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1875" b="1">
                <a:solidFill>
                  <a:srgbClr val="A66D08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1875" b="1">
                <a:solidFill>
                  <a:srgbClr val="A66D08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1875" b="1">
                <a:solidFill>
                  <a:srgbClr val="A66D08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1875" b="1">
                <a:solidFill>
                  <a:srgbClr val="A66D08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1875" b="1">
                <a:solidFill>
                  <a:srgbClr val="A66D08"/>
                </a:solidFill>
                <a:latin typeface="Yu Gothic"/>
                <a:ea typeface="Yu Gothic"/>
                <a:cs typeface="Yu Gothic"/>
              </a:defRPr>
            </a:pPr>
            <a:r>
              <a:rPr sz="1875" b="1">
                <a:solidFill>
                  <a:srgbClr val="A66D08"/>
                </a:solidFill>
                <a:latin typeface="Yu Gothic"/>
                <a:ea typeface="Yu Gothic"/>
                <a:cs typeface="Yu Gothic"/>
              </a:rPr>
              <a:t>paused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08E408-3D88-4B34-8FC8-FD08382E7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1666875"/>
            <a:ext cx="2047875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87C62"/>
            </a:solidFill>
          </a:ln>
        </p:spPr>
      </p:sp>
      <p:sp>
        <p:nvSpPr>
          <p:cNvPr id="10" name="won">
            <a:extLst xmlns:a="http://schemas.openxmlformats.org/drawingml/2006/main">
              <a:ext uri="{FF2B5EF4-FFF2-40B4-BE49-F238E27FC236}">
                <a16:creationId xmlns:a16="http://schemas.microsoft.com/office/drawing/2014/main" id="{C8833D59-6D98-4F2B-B84A-D5FC15168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1752600"/>
            <a:ext cx="17430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087C62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1875" b="1">
                <a:solidFill>
                  <a:srgbClr val="087C62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1875" b="1">
                <a:solidFill>
                  <a:srgbClr val="087C62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1875" b="1">
                <a:solidFill>
                  <a:srgbClr val="087C62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1875" b="1">
                <a:solidFill>
                  <a:srgbClr val="087C62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1875" b="1">
                <a:solidFill>
                  <a:srgbClr val="087C62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1875" b="1">
                <a:solidFill>
                  <a:srgbClr val="087C62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1875" b="1">
                <a:solidFill>
                  <a:srgbClr val="087C62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1875" b="1">
                <a:solidFill>
                  <a:srgbClr val="087C62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1875" b="1">
                <a:solidFill>
                  <a:srgbClr val="087C62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1875" b="1">
                <a:solidFill>
                  <a:srgbClr val="087C62"/>
                </a:solidFill>
                <a:latin typeface="Yu Gothic"/>
                <a:ea typeface="Yu Gothic"/>
                <a:cs typeface="Yu Gothic"/>
              </a:defRPr>
            </a:pPr>
            <a:r>
              <a:rPr sz="1875" b="1">
                <a:solidFill>
                  <a:srgbClr val="087C62"/>
                </a:solidFill>
                <a:latin typeface="Yu Gothic"/>
                <a:ea typeface="Yu Gothic"/>
                <a:cs typeface="Yu Gothic"/>
              </a:rPr>
              <a:t>won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9AB486B-596F-4BF6-A92D-BD8496F19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524250"/>
            <a:ext cx="2047875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F4A44"/>
            </a:solidFill>
          </a:ln>
        </p:spPr>
      </p:sp>
      <p:sp>
        <p:nvSpPr>
          <p:cNvPr id="12" name="lost">
            <a:extLst xmlns:a="http://schemas.openxmlformats.org/drawingml/2006/main">
              <a:ext uri="{FF2B5EF4-FFF2-40B4-BE49-F238E27FC236}">
                <a16:creationId xmlns:a16="http://schemas.microsoft.com/office/drawing/2014/main" id="{9E817E3A-B60F-4664-9B19-E9C8B8B75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3609975"/>
            <a:ext cx="17430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BF4A44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1875" b="1">
                <a:solidFill>
                  <a:srgbClr val="BF4A44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1875" b="1">
                <a:solidFill>
                  <a:srgbClr val="BF4A44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1875" b="1">
                <a:solidFill>
                  <a:srgbClr val="BF4A44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1875" b="1">
                <a:solidFill>
                  <a:srgbClr val="BF4A44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1875" b="1">
                <a:solidFill>
                  <a:srgbClr val="BF4A44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1875" b="1">
                <a:solidFill>
                  <a:srgbClr val="BF4A44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1875" b="1">
                <a:solidFill>
                  <a:srgbClr val="BF4A44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1875" b="1">
                <a:solidFill>
                  <a:srgbClr val="BF4A44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1875" b="1">
                <a:solidFill>
                  <a:srgbClr val="BF4A44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1875" b="1">
                <a:solidFill>
                  <a:srgbClr val="BF4A44"/>
                </a:solidFill>
                <a:latin typeface="Yu Gothic"/>
                <a:ea typeface="Yu Gothic"/>
                <a:cs typeface="Yu Gothic"/>
              </a:defRPr>
            </a:pPr>
            <a:r>
              <a:rPr sz="1875" b="1">
                <a:solidFill>
                  <a:srgbClr val="BF4A44"/>
                </a:solidFill>
                <a:latin typeface="Yu Gothic"/>
                <a:ea typeface="Yu Gothic"/>
                <a:cs typeface="Yu Gothic"/>
              </a:rPr>
              <a:t>lost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DC8CD88-90D0-47BC-95C0-91D0D4DA5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571750" y="2686050"/>
            <a:ext cx="2190750" cy="0"/>
          </a:xfrm>
          <a:prstGeom xmlns:a="http://schemas.openxmlformats.org/drawingml/2006/main" prst="line">
            <a:avLst/>
          </a:prstGeom>
          <a:ln xmlns:a="http://schemas.openxmlformats.org/drawingml/2006/main" w="15240">
            <a:solidFill>
              <a:srgbClr val="172C40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FAF381A-C356-483C-9F2A-B8D0DF569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4670551" y="2686050"/>
            <a:ext cx="91949" cy="50232"/>
          </a:xfrm>
          <a:prstGeom xmlns:a="http://schemas.openxmlformats.org/drawingml/2006/main" prst="line">
            <a:avLst/>
          </a:prstGeom>
          <a:ln xmlns:a="http://schemas.openxmlformats.org/drawingml/2006/main" w="15240">
            <a:solidFill>
              <a:srgbClr val="172C40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38A220A-B4AF-4578-8DAF-05FFED000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4670551" y="2635818"/>
            <a:ext cx="91949" cy="50232"/>
          </a:xfrm>
          <a:prstGeom xmlns:a="http://schemas.openxmlformats.org/drawingml/2006/main" prst="line">
            <a:avLst/>
          </a:prstGeom>
          <a:ln xmlns:a="http://schemas.openxmlformats.org/drawingml/2006/main" w="15240">
            <a:solidFill>
              <a:srgbClr val="172C40"/>
            </a:solidFill>
          </a:ln>
        </p:spPr>
      </p:sp>
      <p:sp>
        <p:nvSpPr>
          <p:cNvPr id="16" name="Enter">
            <a:extLst xmlns:a="http://schemas.openxmlformats.org/drawingml/2006/main">
              <a:ext uri="{FF2B5EF4-FFF2-40B4-BE49-F238E27FC236}">
                <a16:creationId xmlns:a16="http://schemas.microsoft.com/office/drawing/2014/main" id="{CB53044C-4DC0-4454-87D5-A43ABE175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257425"/>
            <a:ext cx="1238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172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172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172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172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172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172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172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172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172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172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172C40"/>
                </a:solidFill>
                <a:latin typeface="Yu Gothic"/>
                <a:ea typeface="Yu Gothic"/>
                <a:cs typeface="Yu Gothic"/>
              </a:rPr>
              <a:t>Enter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FEF9CBD-BFF1-4DA4-A7FD-EE201CAF0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524500" y="3000375"/>
            <a:ext cx="0" cy="1428750"/>
          </a:xfrm>
          <a:prstGeom xmlns:a="http://schemas.openxmlformats.org/drawingml/2006/main" prst="line">
            <a:avLst/>
          </a:prstGeom>
          <a:ln xmlns:a="http://schemas.openxmlformats.org/drawingml/2006/main" w="15240">
            <a:solidFill>
              <a:srgbClr val="172C40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8BAC2C8-CFB1-4C85-AB9B-509C0BEF9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5474268" y="4337176"/>
            <a:ext cx="50232" cy="91949"/>
          </a:xfrm>
          <a:prstGeom xmlns:a="http://schemas.openxmlformats.org/drawingml/2006/main" prst="line">
            <a:avLst/>
          </a:prstGeom>
          <a:ln xmlns:a="http://schemas.openxmlformats.org/drawingml/2006/main" w="15240">
            <a:solidFill>
              <a:srgbClr val="172C40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B17FE1C-8D36-4D09-8BBC-998818AB3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5524500" y="4337176"/>
            <a:ext cx="50232" cy="91949"/>
          </a:xfrm>
          <a:prstGeom xmlns:a="http://schemas.openxmlformats.org/drawingml/2006/main" prst="line">
            <a:avLst/>
          </a:prstGeom>
          <a:ln xmlns:a="http://schemas.openxmlformats.org/drawingml/2006/main" w="15240">
            <a:solidFill>
              <a:srgbClr val="172C40"/>
            </a:solidFill>
          </a:ln>
        </p:spPr>
      </p:sp>
      <p:sp>
        <p:nvSpPr>
          <p:cNvPr id="20" name="P">
            <a:extLst xmlns:a="http://schemas.openxmlformats.org/drawingml/2006/main">
              <a:ext uri="{FF2B5EF4-FFF2-40B4-BE49-F238E27FC236}">
                <a16:creationId xmlns:a16="http://schemas.microsoft.com/office/drawing/2014/main" id="{295CAF8F-5B07-4B6E-BDD3-26602EBB1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552825"/>
            <a:ext cx="381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172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172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172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172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172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172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172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172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172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172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172C40"/>
                </a:solidFill>
                <a:latin typeface="Yu Gothic"/>
                <a:ea typeface="Yu Gothic"/>
                <a:cs typeface="Yu Gothic"/>
              </a:rPr>
              <a:t>P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33AE90A-5E23-4CFC-A701-5FFDA45DC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6429375" y="3000375"/>
            <a:ext cx="0" cy="1428750"/>
          </a:xfrm>
          <a:prstGeom xmlns:a="http://schemas.openxmlformats.org/drawingml/2006/main" prst="line">
            <a:avLst/>
          </a:prstGeom>
          <a:ln xmlns:a="http://schemas.openxmlformats.org/drawingml/2006/main" w="15240">
            <a:solidFill>
              <a:srgbClr val="172C40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2BA7AD4-8413-44C4-BF91-3FA4FA4B8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429375" y="3000375"/>
            <a:ext cx="50232" cy="91949"/>
          </a:xfrm>
          <a:prstGeom xmlns:a="http://schemas.openxmlformats.org/drawingml/2006/main" prst="line">
            <a:avLst/>
          </a:prstGeom>
          <a:ln xmlns:a="http://schemas.openxmlformats.org/drawingml/2006/main" w="15240">
            <a:solidFill>
              <a:srgbClr val="172C40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64D7434-D646-4B7B-9177-7BA6FF09E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6379143" y="3000375"/>
            <a:ext cx="50232" cy="91949"/>
          </a:xfrm>
          <a:prstGeom xmlns:a="http://schemas.openxmlformats.org/drawingml/2006/main" prst="line">
            <a:avLst/>
          </a:prstGeom>
          <a:ln xmlns:a="http://schemas.openxmlformats.org/drawingml/2006/main" w="15240">
            <a:solidFill>
              <a:srgbClr val="172C40"/>
            </a:solidFill>
          </a:ln>
        </p:spPr>
      </p:sp>
      <p:sp>
        <p:nvSpPr>
          <p:cNvPr id="24" name="P">
            <a:extLst xmlns:a="http://schemas.openxmlformats.org/drawingml/2006/main">
              <a:ext uri="{FF2B5EF4-FFF2-40B4-BE49-F238E27FC236}">
                <a16:creationId xmlns:a16="http://schemas.microsoft.com/office/drawing/2014/main" id="{BFBAE4CC-5CE9-40E0-A0DD-67A38EE15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552825"/>
            <a:ext cx="381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172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172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172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172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172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172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172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172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172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172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172C40"/>
                </a:solidFill>
                <a:latin typeface="Yu Gothic"/>
                <a:ea typeface="Yu Gothic"/>
                <a:cs typeface="Yu Gothic"/>
              </a:rPr>
              <a:t>P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35F704F-CBED-436E-9BCC-97ADAF9C5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191375" y="2686050"/>
            <a:ext cx="1143000" cy="0"/>
          </a:xfrm>
          <a:prstGeom xmlns:a="http://schemas.openxmlformats.org/drawingml/2006/main" prst="line">
            <a:avLst/>
          </a:prstGeom>
          <a:ln xmlns:a="http://schemas.openxmlformats.org/drawingml/2006/main" w="15240">
            <a:solidFill>
              <a:srgbClr val="A6B5C4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E72FC35-3A22-4752-972A-B1699FE2D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8334375" y="1971675"/>
            <a:ext cx="0" cy="714375"/>
          </a:xfrm>
          <a:prstGeom xmlns:a="http://schemas.openxmlformats.org/drawingml/2006/main" prst="line">
            <a:avLst/>
          </a:prstGeom>
          <a:ln xmlns:a="http://schemas.openxmlformats.org/drawingml/2006/main" w="15240">
            <a:solidFill>
              <a:srgbClr val="A6B5C4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E68793A-FE6E-47D5-9E56-A30F173CB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334375" y="1971675"/>
            <a:ext cx="1190625" cy="0"/>
          </a:xfrm>
          <a:prstGeom xmlns:a="http://schemas.openxmlformats.org/drawingml/2006/main" prst="line">
            <a:avLst/>
          </a:prstGeom>
          <a:ln xmlns:a="http://schemas.openxmlformats.org/drawingml/2006/main" w="15240">
            <a:solidFill>
              <a:srgbClr val="172C40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F6B5261-7745-485B-AE7F-329C1C21F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9433051" y="1971675"/>
            <a:ext cx="91949" cy="50232"/>
          </a:xfrm>
          <a:prstGeom xmlns:a="http://schemas.openxmlformats.org/drawingml/2006/main" prst="line">
            <a:avLst/>
          </a:prstGeom>
          <a:ln xmlns:a="http://schemas.openxmlformats.org/drawingml/2006/main" w="15240">
            <a:solidFill>
              <a:srgbClr val="172C40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DDB702E-21F4-4732-BBD6-B7E19A29A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9433051" y="1921443"/>
            <a:ext cx="91949" cy="50232"/>
          </a:xfrm>
          <a:prstGeom xmlns:a="http://schemas.openxmlformats.org/drawingml/2006/main" prst="line">
            <a:avLst/>
          </a:prstGeom>
          <a:ln xmlns:a="http://schemas.openxmlformats.org/drawingml/2006/main" w="15240">
            <a:solidFill>
              <a:srgbClr val="172C40"/>
            </a:solidFill>
          </a:ln>
        </p:spPr>
      </p:sp>
      <p:sp>
        <p:nvSpPr>
          <p:cNvPr id="30" name="score ≥ 200">
            <a:extLst xmlns:a="http://schemas.openxmlformats.org/drawingml/2006/main">
              <a:ext uri="{FF2B5EF4-FFF2-40B4-BE49-F238E27FC236}">
                <a16:creationId xmlns:a16="http://schemas.microsoft.com/office/drawing/2014/main" id="{EBA48B67-F70F-49E1-9525-272DC073C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1647825"/>
            <a:ext cx="1762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087C62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1575" b="0">
                <a:solidFill>
                  <a:srgbClr val="087C62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1575" b="0">
                <a:solidFill>
                  <a:srgbClr val="087C62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1575" b="0">
                <a:solidFill>
                  <a:srgbClr val="087C62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1575" b="0">
                <a:solidFill>
                  <a:srgbClr val="087C62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1575" b="0">
                <a:solidFill>
                  <a:srgbClr val="087C62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1575" b="0">
                <a:solidFill>
                  <a:srgbClr val="087C62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1575" b="0">
                <a:solidFill>
                  <a:srgbClr val="087C62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1575" b="0">
                <a:solidFill>
                  <a:srgbClr val="087C62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1575" b="0">
                <a:solidFill>
                  <a:srgbClr val="087C62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1575" b="0">
                <a:solidFill>
                  <a:srgbClr val="087C62"/>
                </a:solidFill>
                <a:latin typeface="Yu Gothic"/>
                <a:ea typeface="Yu Gothic"/>
                <a:cs typeface="Yu Gothic"/>
              </a:defRPr>
            </a:pPr>
            <a:r>
              <a:rPr sz="1575" b="0">
                <a:solidFill>
                  <a:srgbClr val="087C62"/>
                </a:solidFill>
                <a:latin typeface="Yu Gothic"/>
                <a:ea typeface="Yu Gothic"/>
                <a:cs typeface="Yu Gothic"/>
              </a:rPr>
              <a:t>score ≥ 200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50683C4-F666-4798-AB7E-F8662C2A3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334375" y="2686050"/>
            <a:ext cx="0" cy="1152525"/>
          </a:xfrm>
          <a:prstGeom xmlns:a="http://schemas.openxmlformats.org/drawingml/2006/main" prst="line">
            <a:avLst/>
          </a:prstGeom>
          <a:ln xmlns:a="http://schemas.openxmlformats.org/drawingml/2006/main" w="15240">
            <a:solidFill>
              <a:srgbClr val="A6B5C4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0388217-16BE-495D-BDC0-B4989DCBB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334375" y="3838575"/>
            <a:ext cx="1190625" cy="0"/>
          </a:xfrm>
          <a:prstGeom xmlns:a="http://schemas.openxmlformats.org/drawingml/2006/main" prst="line">
            <a:avLst/>
          </a:prstGeom>
          <a:ln xmlns:a="http://schemas.openxmlformats.org/drawingml/2006/main" w="15240">
            <a:solidFill>
              <a:srgbClr val="172C40"/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2245F7C-B862-429D-AD33-C8CAB638B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9433051" y="3838575"/>
            <a:ext cx="91949" cy="50232"/>
          </a:xfrm>
          <a:prstGeom xmlns:a="http://schemas.openxmlformats.org/drawingml/2006/main" prst="line">
            <a:avLst/>
          </a:prstGeom>
          <a:ln xmlns:a="http://schemas.openxmlformats.org/drawingml/2006/main" w="15240">
            <a:solidFill>
              <a:srgbClr val="172C40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7ED1D6C-5C2B-4540-B827-9DB4C7F56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9433051" y="3788343"/>
            <a:ext cx="91949" cy="50232"/>
          </a:xfrm>
          <a:prstGeom xmlns:a="http://schemas.openxmlformats.org/drawingml/2006/main" prst="line">
            <a:avLst/>
          </a:prstGeom>
          <a:ln xmlns:a="http://schemas.openxmlformats.org/drawingml/2006/main" w="15240">
            <a:solidFill>
              <a:srgbClr val="172C40"/>
            </a:solidFill>
          </a:ln>
        </p:spPr>
      </p:sp>
      <p:sp>
        <p:nvSpPr>
          <p:cNvPr id="35" name="hp = 0">
            <a:extLst xmlns:a="http://schemas.openxmlformats.org/drawingml/2006/main">
              <a:ext uri="{FF2B5EF4-FFF2-40B4-BE49-F238E27FC236}">
                <a16:creationId xmlns:a16="http://schemas.microsoft.com/office/drawing/2014/main" id="{91B8E6F9-CBB7-4D5D-A72E-DA10CC402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419475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BF4A44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1575" b="0">
                <a:solidFill>
                  <a:srgbClr val="BF4A44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1575" b="0">
                <a:solidFill>
                  <a:srgbClr val="BF4A44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1575" b="0">
                <a:solidFill>
                  <a:srgbClr val="BF4A44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1575" b="0">
                <a:solidFill>
                  <a:srgbClr val="BF4A44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1575" b="0">
                <a:solidFill>
                  <a:srgbClr val="BF4A44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1575" b="0">
                <a:solidFill>
                  <a:srgbClr val="BF4A44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1575" b="0">
                <a:solidFill>
                  <a:srgbClr val="BF4A44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1575" b="0">
                <a:solidFill>
                  <a:srgbClr val="BF4A44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1575" b="0">
                <a:solidFill>
                  <a:srgbClr val="BF4A44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1575" b="0">
                <a:solidFill>
                  <a:srgbClr val="BF4A44"/>
                </a:solidFill>
                <a:latin typeface="Yu Gothic"/>
                <a:ea typeface="Yu Gothic"/>
                <a:cs typeface="Yu Gothic"/>
              </a:defRPr>
            </a:pPr>
            <a:r>
              <a:rPr sz="1575" b="0">
                <a:solidFill>
                  <a:srgbClr val="BF4A44"/>
                </a:solidFill>
                <a:latin typeface="Yu Gothic"/>
                <a:ea typeface="Yu Gothic"/>
                <a:cs typeface="Yu Gothic"/>
              </a:rPr>
              <a:t>hp = 0</a:t>
            </a:r>
          </a:p>
        </p:txBody>
      </p:sp>
      <p:sp>
        <p:nvSpPr>
          <p:cNvPr id="36" name="R：すべての状態 → ready">
            <a:extLst xmlns:a="http://schemas.openxmlformats.org/drawingml/2006/main">
              <a:ext uri="{FF2B5EF4-FFF2-40B4-BE49-F238E27FC236}">
                <a16:creationId xmlns:a16="http://schemas.microsoft.com/office/drawing/2014/main" id="{39967CF3-64E4-42BE-B2BB-7A1B0B7A4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191125"/>
            <a:ext cx="11001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2025" b="1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2025" b="1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2025" b="1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2025" b="1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2025" b="1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2025" b="1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2025" b="1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2025" b="1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2025" b="1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2025" b="1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pPr>
            <a:r>
              <a:rPr sz="2025" b="1">
                <a:solidFill>
                  <a:srgbClr val="172C40"/>
                </a:solidFill>
                <a:latin typeface="Yu Gothic"/>
                <a:ea typeface="Yu Gothic"/>
                <a:cs typeface="Yu Gothic"/>
              </a:rPr>
              <a:t>R：すべての状態 → ready</a:t>
            </a:r>
          </a:p>
        </p:txBody>
      </p:sp>
      <p:sp>
        <p:nvSpPr>
          <p:cNvPr id="37" name="N は paused のときだけ update(1 / FPS) を呼び、発射せず 1 フレーム進める。">
            <a:extLst xmlns:a="http://schemas.openxmlformats.org/drawingml/2006/main">
              <a:ext uri="{FF2B5EF4-FFF2-40B4-BE49-F238E27FC236}">
                <a16:creationId xmlns:a16="http://schemas.microsoft.com/office/drawing/2014/main" id="{72026A0F-399E-493B-958F-677579C4E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05500"/>
            <a:ext cx="5238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1500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1500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1500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1500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1500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1500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1500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1500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1500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1500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pPr>
            <a:r>
              <a:rPr sz="1500" b="0">
                <a:solidFill>
                  <a:srgbClr val="5B7082"/>
                </a:solidFill>
                <a:latin typeface="Yu Gothic"/>
                <a:ea typeface="Yu Gothic"/>
                <a:cs typeface="Yu Gothic"/>
              </a:rPr>
              <a:t>N は paused のときだけ update(1 / FPS) を呼び、発射せず 1 フレーム進める。</a:t>
            </a:r>
          </a:p>
        </p:txBody>
      </p:sp>
      <p:sp>
        <p:nvSpPr>
          <p:cNvPr id="38" name="R で ready、Enter で再開。HP が 0 の判定は 200 点到達より優先。">
            <a:extLst xmlns:a="http://schemas.openxmlformats.org/drawingml/2006/main">
              <a:ext uri="{FF2B5EF4-FFF2-40B4-BE49-F238E27FC236}">
                <a16:creationId xmlns:a16="http://schemas.microsoft.com/office/drawing/2014/main" id="{9968D771-6E63-497C-8802-8E1C6BDF4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5905500"/>
            <a:ext cx="5238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1500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1500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1500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1500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1500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1500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1500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1500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1500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1500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pPr>
            <a:r>
              <a:rPr sz="1500" b="0">
                <a:solidFill>
                  <a:srgbClr val="5B7082"/>
                </a:solidFill>
                <a:latin typeface="Yu Gothic"/>
                <a:ea typeface="Yu Gothic"/>
                <a:cs typeface="Yu Gothic"/>
              </a:rPr>
              <a:t>R で ready、Enter で再開。HP が 0 の判定は 200 点到達より優先。</a:t>
            </a:r>
          </a:p>
        </p:txBody>
      </p:sp>
      <p:sp>
        <p:nvSpPr>
          <p:cNvPr id="39" name="25">
            <a:extLst xmlns:a="http://schemas.openxmlformats.org/drawingml/2006/main">
              <a:ext uri="{FF2B5EF4-FFF2-40B4-BE49-F238E27FC236}">
                <a16:creationId xmlns:a16="http://schemas.microsoft.com/office/drawing/2014/main" id="{6055A588-0383-4D5B-9A3A-5D23EEADE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505575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1200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1200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1200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1200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1200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1200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1200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1200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1200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1200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pPr>
            <a:r>
              <a:rPr sz="1200" b="0">
                <a:solidFill>
                  <a:srgbClr val="5B7082"/>
                </a:solidFill>
                <a:latin typeface="Yu Gothic"/>
                <a:ea typeface="Yu Gothic"/>
                <a:cs typeface="Yu Gothic"/>
              </a:rPr>
              <a:t>25</a:t>
            </a:r>
          </a:p>
        </p:txBody>
      </p:sp>
    </p:spTree>
    <p:extLst>
      <p:ext uri="{BB962C8B-B14F-4D97-AF65-F5344CB8AC3E}">
        <p14:creationId xmlns:p14="http://schemas.microsoft.com/office/powerpoint/2010/main" val="384110909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0B14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リセット：新しいラウンドの実体を作る">
            <a:extLst xmlns:a="http://schemas.openxmlformats.org/drawingml/2006/main">
              <a:ext uri="{FF2B5EF4-FFF2-40B4-BE49-F238E27FC236}">
                <a16:creationId xmlns:a16="http://schemas.microsoft.com/office/drawing/2014/main" id="{820CFB18-6035-4915-85C6-57EDCD0E4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428625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3300" b="1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3300" b="1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3300" b="1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3300" b="1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3300" b="1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3300" b="1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3300" b="1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3300" b="1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3300" b="1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3300" b="1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pPr>
            <a:r>
              <a:rPr sz="3300" b="1">
                <a:solidFill>
                  <a:srgbClr val="EDF4FB"/>
                </a:solidFill>
                <a:latin typeface="Yu Gothic"/>
                <a:ea typeface="Yu Gothic"/>
                <a:cs typeface="Yu Gothic"/>
              </a:rPr>
              <a:t>リセット：新しいラウンドの実体を作る</a:t>
            </a:r>
          </a:p>
        </p:txBody>
      </p:sp>
      <p:sp>
        <p:nvSpPr>
          <p:cNvPr id="2" name="reset() は自機とグループを再生成し、得点と状態を戻す">
            <a:extLst xmlns:a="http://schemas.openxmlformats.org/drawingml/2006/main">
              <a:ext uri="{FF2B5EF4-FFF2-40B4-BE49-F238E27FC236}">
                <a16:creationId xmlns:a16="http://schemas.microsoft.com/office/drawing/2014/main" id="{18D1C19E-9473-46BE-A276-7AEE437AB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1181100"/>
            <a:ext cx="110013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rPr>
              <a:t>reset() は自機とグループを再生成し、得点と状態を戻す</a:t>
            </a:r>
          </a:p>
        </p:txBody>
      </p:sp>
      <p:sp>
        <p:nvSpPr>
          <p:cNvPr id="3" name="if hasattr(self, &quot;all_sprites&quot;):">
            <a:extLst xmlns:a="http://schemas.openxmlformats.org/drawingml/2006/main">
              <a:ext uri="{FF2B5EF4-FFF2-40B4-BE49-F238E27FC236}">
                <a16:creationId xmlns:a16="http://schemas.microsoft.com/office/drawing/2014/main" id="{F8AEC0BC-C815-42AA-8038-CE5625B0F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914525"/>
            <a:ext cx="11001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if hasattr(self, "all_sprites"):</a:t>
            </a:r>
          </a:p>
        </p:txBody>
      </p:sp>
      <p:sp>
        <p:nvSpPr>
          <p:cNvPr id="4" name="    for actor in self.all_sprites.sprites():">
            <a:extLst xmlns:a="http://schemas.openxmlformats.org/drawingml/2006/main">
              <a:ext uri="{FF2B5EF4-FFF2-40B4-BE49-F238E27FC236}">
                <a16:creationId xmlns:a16="http://schemas.microsoft.com/office/drawing/2014/main" id="{DD916097-A03A-4AA4-8CC1-6D95A77CF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38375"/>
            <a:ext cx="11001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    for actor in self.all_sprites.sprites():</a:t>
            </a:r>
          </a:p>
        </p:txBody>
      </p:sp>
      <p:sp>
        <p:nvSpPr>
          <p:cNvPr id="5" name="        actor.kill()">
            <a:extLst xmlns:a="http://schemas.openxmlformats.org/drawingml/2006/main">
              <a:ext uri="{FF2B5EF4-FFF2-40B4-BE49-F238E27FC236}">
                <a16:creationId xmlns:a16="http://schemas.microsoft.com/office/drawing/2014/main" id="{DACBD662-5325-400B-BA57-C9BFF6365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562225"/>
            <a:ext cx="11001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        actor.kill()</a:t>
            </a:r>
          </a:p>
        </p:txBody>
      </p:sp>
      <p:sp>
        <p:nvSpPr>
          <p:cNvPr id="6" name="self.player = Player((PLAY_AREA.centerx, PLAY_AREA.bottom - 60))">
            <a:extLst xmlns:a="http://schemas.openxmlformats.org/drawingml/2006/main">
              <a:ext uri="{FF2B5EF4-FFF2-40B4-BE49-F238E27FC236}">
                <a16:creationId xmlns:a16="http://schemas.microsoft.com/office/drawing/2014/main" id="{AE519A95-3286-47AC-BA81-590C99664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86075"/>
            <a:ext cx="11001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self.player = Player((PLAY_AREA.centerx, PLAY_AREA.bottom - 60))</a:t>
            </a:r>
          </a:p>
        </p:txBody>
      </p:sp>
      <p:sp>
        <p:nvSpPr>
          <p:cNvPr id="7" name="self.all_sprites = pygame.sprite.Group(self.player)">
            <a:extLst xmlns:a="http://schemas.openxmlformats.org/drawingml/2006/main">
              <a:ext uri="{FF2B5EF4-FFF2-40B4-BE49-F238E27FC236}">
                <a16:creationId xmlns:a16="http://schemas.microsoft.com/office/drawing/2014/main" id="{CF499305-1D5B-4A73-94A4-164782378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09925"/>
            <a:ext cx="11001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self.all_sprites = pygame.sprite.Group(self.player)</a:t>
            </a:r>
          </a:p>
        </p:txBody>
      </p:sp>
      <p:sp>
        <p:nvSpPr>
          <p:cNvPr id="8" name="self.enemies = pygame.sprite.Group()">
            <a:extLst xmlns:a="http://schemas.openxmlformats.org/drawingml/2006/main">
              <a:ext uri="{FF2B5EF4-FFF2-40B4-BE49-F238E27FC236}">
                <a16:creationId xmlns:a16="http://schemas.microsoft.com/office/drawing/2014/main" id="{91446847-41C0-470A-B2B2-808D4C54A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533775"/>
            <a:ext cx="11001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self.enemies = pygame.sprite.Group()</a:t>
            </a:r>
          </a:p>
        </p:txBody>
      </p:sp>
      <p:sp>
        <p:nvSpPr>
          <p:cNvPr id="9" name="self.bullets = pygame.sprite.Group()">
            <a:extLst xmlns:a="http://schemas.openxmlformats.org/drawingml/2006/main">
              <a:ext uri="{FF2B5EF4-FFF2-40B4-BE49-F238E27FC236}">
                <a16:creationId xmlns:a16="http://schemas.microsoft.com/office/drawing/2014/main" id="{F7A65E24-E028-471E-902C-8DA18997E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57625"/>
            <a:ext cx="11001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self.bullets = pygame.sprite.Group()</a:t>
            </a:r>
          </a:p>
        </p:txBody>
      </p:sp>
      <p:sp>
        <p:nvSpPr>
          <p:cNvPr id="10" name="self.score = 0">
            <a:extLst xmlns:a="http://schemas.openxmlformats.org/drawingml/2006/main">
              <a:ext uri="{FF2B5EF4-FFF2-40B4-BE49-F238E27FC236}">
                <a16:creationId xmlns:a16="http://schemas.microsoft.com/office/drawing/2014/main" id="{91C2CE05-4B1D-4BE8-95A4-3EFDB460B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181475"/>
            <a:ext cx="11001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self.score = 0</a:t>
            </a:r>
          </a:p>
        </p:txBody>
      </p:sp>
      <p:sp>
        <p:nvSpPr>
          <p:cNvPr id="11" name="self.state = &quot;ready&quot;">
            <a:extLst xmlns:a="http://schemas.openxmlformats.org/drawingml/2006/main">
              <a:ext uri="{FF2B5EF4-FFF2-40B4-BE49-F238E27FC236}">
                <a16:creationId xmlns:a16="http://schemas.microsoft.com/office/drawing/2014/main" id="{47E76497-43D0-4358-92BA-E1EA19068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505325"/>
            <a:ext cx="11001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self.state = "ready"</a:t>
            </a:r>
          </a:p>
        </p:txBody>
      </p:sp>
      <p:sp>
        <p:nvSpPr>
          <p:cNvPr id="12" name="古い実体をグループから除去しても、別の参照があればアクセスできる。">
            <a:extLst xmlns:a="http://schemas.openxmlformats.org/drawingml/2006/main">
              <a:ext uri="{FF2B5EF4-FFF2-40B4-BE49-F238E27FC236}">
                <a16:creationId xmlns:a16="http://schemas.microsoft.com/office/drawing/2014/main" id="{17B23D84-1D2B-4935-A2B3-65005014A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267325"/>
            <a:ext cx="5191125" cy="1019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pPr>
            <a:r>
              <a: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rPr>
              <a:t>古い実体をグループから除去しても、別の参照があればアクセスできる。</a:t>
            </a:r>
          </a:p>
        </p:txBody>
      </p:sp>
      <p:sp>
        <p:nvSpPr>
          <p:cNvPr id="13" name="続いて初期の敵三体を作る。新しい player は別のオブジェクト。">
            <a:extLst xmlns:a="http://schemas.openxmlformats.org/drawingml/2006/main">
              <a:ext uri="{FF2B5EF4-FFF2-40B4-BE49-F238E27FC236}">
                <a16:creationId xmlns:a16="http://schemas.microsoft.com/office/drawing/2014/main" id="{BA192EEC-62CC-454F-ADE0-91F3C85C9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5267325"/>
            <a:ext cx="5191125" cy="1019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pPr>
            <a:r>
              <a: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rPr>
              <a:t>続いて初期の敵三体を作る。新しい player は別のオブジェクト。</a:t>
            </a:r>
          </a:p>
        </p:txBody>
      </p:sp>
      <p:sp>
        <p:nvSpPr>
          <p:cNvPr id="14" name="game.py · Game.reset() · excerpt after first initialization">
            <a:extLst xmlns:a="http://schemas.openxmlformats.org/drawingml/2006/main">
              <a:ext uri="{FF2B5EF4-FFF2-40B4-BE49-F238E27FC236}">
                <a16:creationId xmlns:a16="http://schemas.microsoft.com/office/drawing/2014/main" id="{91974847-662A-4E54-9BAF-ED58F4542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67475"/>
            <a:ext cx="1047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buNone/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buNone/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buNone/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buNone/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buNone/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buNone/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buNone/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buNone/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buNone/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buNone/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game.py · Game.reset() · excerpt after first initialization</a:t>
            </a:r>
          </a:p>
        </p:txBody>
      </p:sp>
      <p:sp>
        <p:nvSpPr>
          <p:cNvPr id="15" name="26">
            <a:extLst xmlns:a="http://schemas.openxmlformats.org/drawingml/2006/main">
              <a:ext uri="{FF2B5EF4-FFF2-40B4-BE49-F238E27FC236}">
                <a16:creationId xmlns:a16="http://schemas.microsoft.com/office/drawing/2014/main" id="{F22D351F-BBB8-4AD6-A479-32D0348FB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505575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pPr>
            <a:r>
              <a: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rPr>
              <a:t>26</a:t>
            </a:r>
          </a:p>
        </p:txBody>
      </p:sp>
    </p:spTree>
    <p:extLst>
      <p:ext uri="{BB962C8B-B14F-4D97-AF65-F5344CB8AC3E}">
        <p14:creationId xmlns:p14="http://schemas.microsoft.com/office/powerpoint/2010/main" val="1965408563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変更する責任からファイルを探す">
            <a:extLst xmlns:a="http://schemas.openxmlformats.org/drawingml/2006/main">
              <a:ext uri="{FF2B5EF4-FFF2-40B4-BE49-F238E27FC236}">
                <a16:creationId xmlns:a16="http://schemas.microsoft.com/office/drawing/2014/main" id="{79806D9B-1004-4C05-80FE-6A680328C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428625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3300" b="1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3300" b="1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3300" b="1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3300" b="1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3300" b="1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3300" b="1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3300" b="1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3300" b="1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3300" b="1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3300" b="1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pPr>
            <a:r>
              <a:rPr sz="3300" b="1">
                <a:solidFill>
                  <a:srgbClr val="172C40"/>
                </a:solidFill>
                <a:latin typeface="Yu Gothic"/>
                <a:ea typeface="Yu Gothic"/>
                <a:cs typeface="Yu Gothic"/>
              </a:rPr>
              <a:t>変更する責任からファイルを探す</a:t>
            </a:r>
          </a:p>
        </p:txBody>
      </p:sp>
      <p:sp>
        <p:nvSpPr>
          <p:cNvPr id="2" name="主要クラスは五つ。表示と言語は独立した関数に分ける">
            <a:extLst xmlns:a="http://schemas.openxmlformats.org/drawingml/2006/main">
              <a:ext uri="{FF2B5EF4-FFF2-40B4-BE49-F238E27FC236}">
                <a16:creationId xmlns:a16="http://schemas.microsoft.com/office/drawing/2014/main" id="{A76E1D79-C101-41E5-BFA2-72AC43885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1181100"/>
            <a:ext cx="110013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1725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1725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1725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1725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1725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1725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1725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1725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1725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1725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5B7082"/>
                </a:solidFill>
                <a:latin typeface="Yu Gothic"/>
                <a:ea typeface="Yu Gothic"/>
                <a:cs typeface="Yu Gothic"/>
              </a:rPr>
              <a:t>主要クラスは五つ。表示と言語は独立した関数に分ける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51396C-246C-4816-9B2E-DF04E6688047}"/>
              </a:ext>
            </a:extLst>
          </p:cNvPr>
          <p:cNvGraphicFramePr/>
          <p:nvPr/>
        </p:nvGraphicFramePr>
        <p:xfrm>
          <a:off xmlns:a="http://schemas.openxmlformats.org/drawingml/2006/main" x="571500" y="1762125"/>
          <a:ext xmlns:a="http://schemas.openxmlformats.org/drawingml/2006/main" cx="11049000" cy="40957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3238500"/>
                <a:gridCol w="7810500"/>
              </a:tblGrid>
              <a:tr h="682625">
                <a:tc>
                  <a:txBody>
                    <a:bodyPr lIns="123825" tIns="66675" rIns="104775" bIns="66675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EDF4FB"/>
                          </a:solidFill>
                          <a:latin typeface="Yu Gothic"/>
                          <a:ea typeface="Yu Gothic"/>
                          <a:cs typeface="Yu Gothic"/>
                        </a:rPr>
                        <a:t>ファイル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6DF"/>
                      </a:solidFill>
                      <a:prstDash val="solid"/>
                    </a:lnL>
                    <a:lnR w="9525">
                      <a:solidFill>
                        <a:srgbClr val="CCD6DF"/>
                      </a:solidFill>
                      <a:prstDash val="solid"/>
                    </a:lnR>
                    <a:lnT w="9525">
                      <a:solidFill>
                        <a:srgbClr val="CCD6DF"/>
                      </a:solidFill>
                      <a:prstDash val="solid"/>
                    </a:lnT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172C40"/>
                    </a:solidFill>
                  </a:tcPr>
                </a:tc>
                <a:tc>
                  <a:txBody>
                    <a:bodyPr lIns="123825" tIns="66675" rIns="104775" bIns="66675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EDF4FB"/>
                          </a:solidFill>
                          <a:latin typeface="Yu Gothic"/>
                          <a:ea typeface="Yu Gothic"/>
                          <a:cs typeface="Yu Gothic"/>
                        </a:rPr>
                        <a:t>内容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T w="9525">
                      <a:solidFill>
                        <a:srgbClr val="CCD6DF"/>
                      </a:solidFill>
                      <a:prstDash val="solid"/>
                    </a:lnT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172C40"/>
                    </a:solidFill>
                  </a:tcPr>
                </a:tc>
              </a:tr>
              <a:tr h="682625">
                <a:tc>
                  <a:txBody>
                    <a:bodyPr lIns="123825" tIns="66675" rIns="104775" bIns="66675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172C40"/>
                          </a:solidFill>
                          <a:latin typeface="Yu Gothic"/>
                          <a:ea typeface="Yu Gothic"/>
                          <a:cs typeface="Yu Gothic"/>
                        </a:rPr>
                        <a:t>actors.py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6DF"/>
                      </a:solidFill>
                      <a:prstDash val="solid"/>
                    </a:lnL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23825" tIns="66675" rIns="104775" bIns="6667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72C40"/>
                          </a:solidFill>
                          <a:latin typeface="Yu Gothic"/>
                          <a:ea typeface="Yu Gothic"/>
                          <a:cs typeface="Yu Gothic"/>
                        </a:rPr>
                        <a:t>Actor・Player・Enemy・Bullet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82625">
                <a:tc>
                  <a:txBody>
                    <a:bodyPr lIns="123825" tIns="66675" rIns="104775" bIns="66675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172C40"/>
                          </a:solidFill>
                          <a:latin typeface="Yu Gothic"/>
                          <a:ea typeface="Yu Gothic"/>
                          <a:cs typeface="Yu Gothic"/>
                        </a:rPr>
                        <a:t>game.py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6DF"/>
                      </a:solidFill>
                      <a:prstDash val="solid"/>
                    </a:lnL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lIns="123825" tIns="66675" rIns="104775" bIns="6667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72C40"/>
                          </a:solidFill>
                          <a:latin typeface="Yu Gothic"/>
                          <a:ea typeface="Yu Gothic"/>
                          <a:cs typeface="Yu Gothic"/>
                        </a:rPr>
                        <a:t>Game：イベント・生成・衝突・状態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</a:tr>
              <a:tr h="682625">
                <a:tc>
                  <a:txBody>
                    <a:bodyPr lIns="123825" tIns="66675" rIns="104775" bIns="66675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172C40"/>
                          </a:solidFill>
                          <a:latin typeface="Yu Gothic"/>
                          <a:ea typeface="Yu Gothic"/>
                          <a:cs typeface="Yu Gothic"/>
                        </a:rPr>
                        <a:t>view.py / i18n.py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6DF"/>
                      </a:solidFill>
                      <a:prstDash val="solid"/>
                    </a:lnL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23825" tIns="66675" rIns="104775" bIns="6667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72C40"/>
                          </a:solidFill>
                          <a:latin typeface="Yu Gothic"/>
                          <a:ea typeface="Yu Gothic"/>
                          <a:cs typeface="Yu Gothic"/>
                        </a:rPr>
                        <a:t>画面と言語。ゲームの規則は扱わない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82625">
                <a:tc>
                  <a:txBody>
                    <a:bodyPr lIns="123825" tIns="66675" rIns="104775" bIns="66675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172C40"/>
                          </a:solidFill>
                          <a:latin typeface="Yu Gothic"/>
                          <a:ea typeface="Yu Gothic"/>
                          <a:cs typeface="Yu Gothic"/>
                        </a:rPr>
                        <a:t>settings.py / main.py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6DF"/>
                      </a:solidFill>
                      <a:prstDash val="solid"/>
                    </a:lnL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lIns="123825" tIns="66675" rIns="104775" bIns="6667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72C40"/>
                          </a:solidFill>
                          <a:latin typeface="Yu Gothic"/>
                          <a:ea typeface="Yu Gothic"/>
                          <a:cs typeface="Yu Gothic"/>
                        </a:rPr>
                        <a:t>パラメータ／コマンドラインの入口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</a:tr>
              <a:tr h="682625">
                <a:tc>
                  <a:txBody>
                    <a:bodyPr lIns="123825" tIns="66675" rIns="104775" bIns="66675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172C40"/>
                          </a:solidFill>
                          <a:latin typeface="Yu Gothic"/>
                          <a:ea typeface="Yu Gothic"/>
                          <a:cs typeface="Yu Gothic"/>
                        </a:rPr>
                        <a:t>tests/test_game.py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6DF"/>
                      </a:solidFill>
                      <a:prstDash val="solid"/>
                    </a:lnL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23825" tIns="66675" rIns="104775" bIns="6667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72C40"/>
                          </a:solidFill>
                          <a:latin typeface="Yu Gothic"/>
                          <a:ea typeface="Yu Gothic"/>
                          <a:cs typeface="Yu Gothic"/>
                        </a:rPr>
                        <a:t>動作・衝突・状態・描画のテスト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27">
            <a:extLst xmlns:a="http://schemas.openxmlformats.org/drawingml/2006/main">
              <a:ext uri="{FF2B5EF4-FFF2-40B4-BE49-F238E27FC236}">
                <a16:creationId xmlns:a16="http://schemas.microsoft.com/office/drawing/2014/main" id="{2D7EBE62-364E-4B25-8091-76F6EB5B8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505575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1200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1200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1200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1200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1200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1200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1200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1200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1200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1200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pPr>
            <a:r>
              <a:rPr sz="1200" b="0">
                <a:solidFill>
                  <a:srgbClr val="5B7082"/>
                </a:solidFill>
                <a:latin typeface="Yu Gothic"/>
                <a:ea typeface="Yu Gothic"/>
                <a:cs typeface="Yu Gothic"/>
              </a:rPr>
              <a:t>27</a:t>
            </a:r>
          </a:p>
        </p:txBody>
      </p:sp>
    </p:spTree>
    <p:extLst>
      <p:ext uri="{BB962C8B-B14F-4D97-AF65-F5344CB8AC3E}">
        <p14:creationId xmlns:p14="http://schemas.microsoft.com/office/powerpoint/2010/main" val="1794247697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0B14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オブジェクトの連携をテストする">
            <a:extLst xmlns:a="http://schemas.openxmlformats.org/drawingml/2006/main">
              <a:ext uri="{FF2B5EF4-FFF2-40B4-BE49-F238E27FC236}">
                <a16:creationId xmlns:a16="http://schemas.microsoft.com/office/drawing/2014/main" id="{1F146B1A-B04B-4330-A3CF-7C04827AC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428625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3300" b="1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3300" b="1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3300" b="1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3300" b="1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3300" b="1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3300" b="1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3300" b="1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3300" b="1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3300" b="1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3300" b="1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pPr>
            <a:r>
              <a:rPr sz="3300" b="1">
                <a:solidFill>
                  <a:srgbClr val="EDF4FB"/>
                </a:solidFill>
                <a:latin typeface="Yu Gothic"/>
                <a:ea typeface="Yu Gothic"/>
                <a:cs typeface="Yu Gothic"/>
              </a:rPr>
              <a:t>オブジェクトの連携をテストする</a:t>
            </a:r>
          </a:p>
        </p:txBody>
      </p:sp>
      <p:sp>
        <p:nvSpPr>
          <p:cNvPr id="2" name="コードを読むだけでなく、観察できる結果を確かめる">
            <a:extLst xmlns:a="http://schemas.openxmlformats.org/drawingml/2006/main">
              <a:ext uri="{FF2B5EF4-FFF2-40B4-BE49-F238E27FC236}">
                <a16:creationId xmlns:a16="http://schemas.microsoft.com/office/drawing/2014/main" id="{D8932BA2-E289-4756-9236-29392A1CB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1181100"/>
            <a:ext cx="110013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rPr>
              <a:t>コードを読むだけでなく、観察できる結果を確かめる</a:t>
            </a:r>
          </a:p>
        </p:txBody>
      </p:sp>
      <p:sp>
        <p:nvSpPr>
          <p:cNvPr id="3" name="# Windows PowerShell">
            <a:extLst xmlns:a="http://schemas.openxmlformats.org/drawingml/2006/main">
              <a:ext uri="{FF2B5EF4-FFF2-40B4-BE49-F238E27FC236}">
                <a16:creationId xmlns:a16="http://schemas.microsoft.com/office/drawing/2014/main" id="{35F4E4CE-07D3-4EE5-8A23-D7ED13657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914525"/>
            <a:ext cx="11001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# Windows PowerShell</a:t>
            </a:r>
          </a:p>
        </p:txBody>
      </p:sp>
      <p:sp>
        <p:nvSpPr>
          <p:cNvPr id="4" name=".\.venv\Scripts\python.exe -m unittest discover -s tests -v">
            <a:extLst xmlns:a="http://schemas.openxmlformats.org/drawingml/2006/main">
              <a:ext uri="{FF2B5EF4-FFF2-40B4-BE49-F238E27FC236}">
                <a16:creationId xmlns:a16="http://schemas.microsoft.com/office/drawing/2014/main" id="{1BFA5914-A792-44C7-A53C-EA033DF45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38375"/>
            <a:ext cx="11001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.\.venv\Scripts\python.exe -m unittest discover -s tests -v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E8EB45-0144-4F35-86D1-59E21536D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562225"/>
            <a:ext cx="11001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6" name="# macOS / Linux">
            <a:extLst xmlns:a="http://schemas.openxmlformats.org/drawingml/2006/main">
              <a:ext uri="{FF2B5EF4-FFF2-40B4-BE49-F238E27FC236}">
                <a16:creationId xmlns:a16="http://schemas.microsoft.com/office/drawing/2014/main" id="{962A8534-C391-4352-A25B-9BC3CD80F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86075"/>
            <a:ext cx="11001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# macOS / Linux</a:t>
            </a:r>
          </a:p>
        </p:txBody>
      </p:sp>
      <p:sp>
        <p:nvSpPr>
          <p:cNvPr id="7" name=".venv/bin/python -m unittest discover -s tests -v">
            <a:extLst xmlns:a="http://schemas.openxmlformats.org/drawingml/2006/main">
              <a:ext uri="{FF2B5EF4-FFF2-40B4-BE49-F238E27FC236}">
                <a16:creationId xmlns:a16="http://schemas.microsoft.com/office/drawing/2014/main" id="{AD294F7D-4E36-4C0E-BCA7-325EA9B3A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09925"/>
            <a:ext cx="11001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.venv/bin/python -m unittest discover -s tests -v</a:t>
            </a:r>
          </a:p>
        </p:txBody>
      </p:sp>
      <p:sp>
        <p:nvSpPr>
          <p:cNvPr id="8" name="同一性・クールダウン・一度だけの命中・無敵時間・終了後の停止を確認する。">
            <a:extLst xmlns:a="http://schemas.openxmlformats.org/drawingml/2006/main">
              <a:ext uri="{FF2B5EF4-FFF2-40B4-BE49-F238E27FC236}">
                <a16:creationId xmlns:a16="http://schemas.microsoft.com/office/drawing/2014/main" id="{D3680257-4015-4865-8B89-8A6828DBE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267325"/>
            <a:ext cx="5191125" cy="1019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pPr>
            <a:r>
              <a: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rPr>
              <a:t>同一性・クールダウン・一度だけの命中・無敵時間・終了後の停止を確認する。</a:t>
            </a:r>
          </a:p>
        </p:txBody>
      </p:sp>
      <p:sp>
        <p:nvSpPr>
          <p:cNvPr id="9" name="テストは SDL の dummy ドライバーを使い、ゲーム画面を開かずに実行できる。">
            <a:extLst xmlns:a="http://schemas.openxmlformats.org/drawingml/2006/main">
              <a:ext uri="{FF2B5EF4-FFF2-40B4-BE49-F238E27FC236}">
                <a16:creationId xmlns:a16="http://schemas.microsoft.com/office/drawing/2014/main" id="{2D4BFC78-DE5F-41E3-A608-FF911C7E6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5267325"/>
            <a:ext cx="5191125" cy="1019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pPr>
            <a:r>
              <a: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rPr>
              <a:t>テストは SDL の dummy ドライバーを使い、ゲーム画面を開かずに実行できる。</a:t>
            </a:r>
          </a:p>
        </p:txBody>
      </p:sp>
      <p:sp>
        <p:nvSpPr>
          <p:cNvPr id="10" name="project folder">
            <a:extLst xmlns:a="http://schemas.openxmlformats.org/drawingml/2006/main">
              <a:ext uri="{FF2B5EF4-FFF2-40B4-BE49-F238E27FC236}">
                <a16:creationId xmlns:a16="http://schemas.microsoft.com/office/drawing/2014/main" id="{A1CF781F-93E0-4665-8BB2-1652D25AB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67475"/>
            <a:ext cx="1047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buNone/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buNone/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buNone/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buNone/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buNone/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buNone/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buNone/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buNone/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buNone/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buNone/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project folder</a:t>
            </a:r>
          </a:p>
        </p:txBody>
      </p:sp>
      <p:sp>
        <p:nvSpPr>
          <p:cNvPr id="11" name="28">
            <a:extLst xmlns:a="http://schemas.openxmlformats.org/drawingml/2006/main">
              <a:ext uri="{FF2B5EF4-FFF2-40B4-BE49-F238E27FC236}">
                <a16:creationId xmlns:a16="http://schemas.microsoft.com/office/drawing/2014/main" id="{08C810F6-BA03-4C1C-B657-125F288A6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505575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pPr>
            <a:r>
              <a: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rPr>
              <a:t>28</a:t>
            </a:r>
          </a:p>
        </p:txBody>
      </p:sp>
    </p:spTree>
    <p:extLst>
      <p:ext uri="{BB962C8B-B14F-4D97-AF65-F5344CB8AC3E}">
        <p14:creationId xmlns:p14="http://schemas.microsoft.com/office/powerpoint/2010/main" val="2027369421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演習：担当するクラスだけを変える">
            <a:extLst xmlns:a="http://schemas.openxmlformats.org/drawingml/2006/main">
              <a:ext uri="{FF2B5EF4-FFF2-40B4-BE49-F238E27FC236}">
                <a16:creationId xmlns:a16="http://schemas.microsoft.com/office/drawing/2014/main" id="{57BE4B5A-9758-4662-98CD-A0C929320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428625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3300" b="1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3300" b="1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3300" b="1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3300" b="1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3300" b="1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3300" b="1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3300" b="1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3300" b="1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3300" b="1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3300" b="1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pPr>
            <a:r>
              <a:rPr sz="3300" b="1">
                <a:solidFill>
                  <a:srgbClr val="172C40"/>
                </a:solidFill>
                <a:latin typeface="Yu Gothic"/>
                <a:ea typeface="Yu Gothic"/>
                <a:cs typeface="Yu Gothic"/>
              </a:rPr>
              <a:t>演習：担当するクラスだけを変える</a:t>
            </a:r>
          </a:p>
        </p:txBody>
      </p:sp>
      <p:sp>
        <p:nvSpPr>
          <p:cNvPr id="2" name="観察・テストできる振る舞いで完成条件を決める">
            <a:extLst xmlns:a="http://schemas.openxmlformats.org/drawingml/2006/main">
              <a:ext uri="{FF2B5EF4-FFF2-40B4-BE49-F238E27FC236}">
                <a16:creationId xmlns:a16="http://schemas.microsoft.com/office/drawing/2014/main" id="{67B18B79-5F53-4813-99D1-F35DE1A91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1181100"/>
            <a:ext cx="110013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1725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1725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1725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1725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1725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1725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1725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1725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1725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1725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5B7082"/>
                </a:solidFill>
                <a:latin typeface="Yu Gothic"/>
                <a:ea typeface="Yu Gothic"/>
                <a:cs typeface="Yu Gothic"/>
              </a:rPr>
              <a:t>観察・テストできる振る舞いで完成条件を決める</a:t>
            </a:r>
          </a:p>
        </p:txBody>
      </p:sp>
      <p:sp>
        <p:nvSpPr>
          <p:cNvPr id="3" name="01">
            <a:extLst xmlns:a="http://schemas.openxmlformats.org/drawingml/2006/main">
              <a:ext uri="{FF2B5EF4-FFF2-40B4-BE49-F238E27FC236}">
                <a16:creationId xmlns:a16="http://schemas.microsoft.com/office/drawing/2014/main" id="{5B834D97-4B5D-4198-AB61-FD9640274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971675"/>
            <a:ext cx="685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625" b="1">
                <a:solidFill>
                  <a:srgbClr val="087C62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2625" b="1">
                <a:solidFill>
                  <a:srgbClr val="087C62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2625" b="1">
                <a:solidFill>
                  <a:srgbClr val="087C62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2625" b="1">
                <a:solidFill>
                  <a:srgbClr val="087C62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2625" b="1">
                <a:solidFill>
                  <a:srgbClr val="087C62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2625" b="1">
                <a:solidFill>
                  <a:srgbClr val="087C62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2625" b="1">
                <a:solidFill>
                  <a:srgbClr val="087C62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2625" b="1">
                <a:solidFill>
                  <a:srgbClr val="087C62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2625" b="1">
                <a:solidFill>
                  <a:srgbClr val="087C62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2625" b="1">
                <a:solidFill>
                  <a:srgbClr val="087C62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2625" b="1">
                <a:solidFill>
                  <a:srgbClr val="087C62"/>
                </a:solidFill>
                <a:latin typeface="Yu Gothic"/>
                <a:ea typeface="Yu Gothic"/>
                <a:cs typeface="Yu Gothic"/>
              </a:defRPr>
            </a:pPr>
            <a:r>
              <a:rPr sz="2625" b="1">
                <a:solidFill>
                  <a:srgbClr val="087C62"/>
                </a:solidFill>
                <a:latin typeface="Yu Gothic"/>
                <a:ea typeface="Yu Gothic"/>
                <a:cs typeface="Yu Gothic"/>
              </a:rPr>
              <a:t>01</a:t>
            </a:r>
          </a:p>
        </p:txBody>
      </p:sp>
      <p:sp>
        <p:nvSpPr>
          <p:cNvPr id="4" name="Enemy の HP を 3 にし、三発で撃破、10 点の加算は一度だけにする。">
            <a:extLst xmlns:a="http://schemas.openxmlformats.org/drawingml/2006/main">
              <a:ext uri="{FF2B5EF4-FFF2-40B4-BE49-F238E27FC236}">
                <a16:creationId xmlns:a16="http://schemas.microsoft.com/office/drawing/2014/main" id="{1A1812E4-F4B6-4DB3-B291-F77D582BD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1990725"/>
            <a:ext cx="9858375" cy="1171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232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232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232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232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232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232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232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232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232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232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pPr>
            <a:r>
              <a:rPr sz="2325" b="0">
                <a:solidFill>
                  <a:srgbClr val="172C40"/>
                </a:solidFill>
                <a:latin typeface="Yu Gothic"/>
                <a:ea typeface="Yu Gothic"/>
                <a:cs typeface="Yu Gothic"/>
              </a:rPr>
              <a:t>Enemy の HP を 3 にし、三発で撃破、10 点の加算は一度だけにする。</a:t>
            </a:r>
          </a:p>
        </p:txBody>
      </p:sp>
      <p:sp>
        <p:nvSpPr>
          <p:cNvPr id="5" name="02">
            <a:extLst xmlns:a="http://schemas.openxmlformats.org/drawingml/2006/main">
              <a:ext uri="{FF2B5EF4-FFF2-40B4-BE49-F238E27FC236}">
                <a16:creationId xmlns:a16="http://schemas.microsoft.com/office/drawing/2014/main" id="{F2AEB924-14B1-40A2-AA9C-DAA58FFA5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400425"/>
            <a:ext cx="685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625" b="1">
                <a:solidFill>
                  <a:srgbClr val="087C62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2625" b="1">
                <a:solidFill>
                  <a:srgbClr val="087C62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2625" b="1">
                <a:solidFill>
                  <a:srgbClr val="087C62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2625" b="1">
                <a:solidFill>
                  <a:srgbClr val="087C62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2625" b="1">
                <a:solidFill>
                  <a:srgbClr val="087C62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2625" b="1">
                <a:solidFill>
                  <a:srgbClr val="087C62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2625" b="1">
                <a:solidFill>
                  <a:srgbClr val="087C62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2625" b="1">
                <a:solidFill>
                  <a:srgbClr val="087C62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2625" b="1">
                <a:solidFill>
                  <a:srgbClr val="087C62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2625" b="1">
                <a:solidFill>
                  <a:srgbClr val="087C62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2625" b="1">
                <a:solidFill>
                  <a:srgbClr val="087C62"/>
                </a:solidFill>
                <a:latin typeface="Yu Gothic"/>
                <a:ea typeface="Yu Gothic"/>
                <a:cs typeface="Yu Gothic"/>
              </a:defRPr>
            </a:pPr>
            <a:r>
              <a:rPr sz="2625" b="1">
                <a:solidFill>
                  <a:srgbClr val="087C62"/>
                </a:solidFill>
                <a:latin typeface="Yu Gothic"/>
                <a:ea typeface="Yu Gothic"/>
                <a:cs typeface="Yu Gothic"/>
              </a:rPr>
              <a:t>02</a:t>
            </a:r>
          </a:p>
        </p:txBody>
      </p:sp>
      <p:sp>
        <p:nvSpPr>
          <p:cNvPr id="6" name="Bullet.damage を 2 にし、HP 2 の敵を一発で倒す。">
            <a:extLst xmlns:a="http://schemas.openxmlformats.org/drawingml/2006/main">
              <a:ext uri="{FF2B5EF4-FFF2-40B4-BE49-F238E27FC236}">
                <a16:creationId xmlns:a16="http://schemas.microsoft.com/office/drawing/2014/main" id="{7DD3A3F0-53FF-4EB3-8AA1-128A53C72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419475"/>
            <a:ext cx="9858375" cy="1171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232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232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232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232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232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232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232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232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232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232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pPr>
            <a:r>
              <a:rPr sz="2325" b="0">
                <a:solidFill>
                  <a:srgbClr val="172C40"/>
                </a:solidFill>
                <a:latin typeface="Yu Gothic"/>
                <a:ea typeface="Yu Gothic"/>
                <a:cs typeface="Yu Gothic"/>
              </a:rPr>
              <a:t>Bullet.damage を 2 にし、HP 2 の敵を一発で倒す。</a:t>
            </a:r>
          </a:p>
        </p:txBody>
      </p:sp>
      <p:sp>
        <p:nvSpPr>
          <p:cNvPr id="7" name="03">
            <a:extLst xmlns:a="http://schemas.openxmlformats.org/drawingml/2006/main">
              <a:ext uri="{FF2B5EF4-FFF2-40B4-BE49-F238E27FC236}">
                <a16:creationId xmlns:a16="http://schemas.microsoft.com/office/drawing/2014/main" id="{DA53EE78-2A95-4B59-9372-16EA28B33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829175"/>
            <a:ext cx="685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625" b="1">
                <a:solidFill>
                  <a:srgbClr val="087C62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2625" b="1">
                <a:solidFill>
                  <a:srgbClr val="087C62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2625" b="1">
                <a:solidFill>
                  <a:srgbClr val="087C62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2625" b="1">
                <a:solidFill>
                  <a:srgbClr val="087C62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2625" b="1">
                <a:solidFill>
                  <a:srgbClr val="087C62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2625" b="1">
                <a:solidFill>
                  <a:srgbClr val="087C62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2625" b="1">
                <a:solidFill>
                  <a:srgbClr val="087C62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2625" b="1">
                <a:solidFill>
                  <a:srgbClr val="087C62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2625" b="1">
                <a:solidFill>
                  <a:srgbClr val="087C62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2625" b="1">
                <a:solidFill>
                  <a:srgbClr val="087C62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2625" b="1">
                <a:solidFill>
                  <a:srgbClr val="087C62"/>
                </a:solidFill>
                <a:latin typeface="Yu Gothic"/>
                <a:ea typeface="Yu Gothic"/>
                <a:cs typeface="Yu Gothic"/>
              </a:defRPr>
            </a:pPr>
            <a:r>
              <a:rPr sz="2625" b="1">
                <a:solidFill>
                  <a:srgbClr val="087C62"/>
                </a:solidFill>
                <a:latin typeface="Yu Gothic"/>
                <a:ea typeface="Yu Gothic"/>
                <a:cs typeface="Yu Gothic"/>
              </a:rPr>
              <a:t>03</a:t>
            </a:r>
          </a:p>
        </p:txBody>
      </p:sp>
      <p:sp>
        <p:nvSpPr>
          <p:cNvPr id="8" name="SHOT_INTERVAL を短くし、クールダウン中には新しい Bullet が作られないことを確かめる。">
            <a:extLst xmlns:a="http://schemas.openxmlformats.org/drawingml/2006/main">
              <a:ext uri="{FF2B5EF4-FFF2-40B4-BE49-F238E27FC236}">
                <a16:creationId xmlns:a16="http://schemas.microsoft.com/office/drawing/2014/main" id="{042623AD-956E-4C80-96F2-82F1D9D29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848225"/>
            <a:ext cx="9858375" cy="1171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232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232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232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232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232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232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232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232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232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232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pPr>
            <a:r>
              <a:rPr sz="2325" b="0">
                <a:solidFill>
                  <a:srgbClr val="172C40"/>
                </a:solidFill>
                <a:latin typeface="Yu Gothic"/>
                <a:ea typeface="Yu Gothic"/>
                <a:cs typeface="Yu Gothic"/>
              </a:rPr>
              <a:t>SHOT_INTERVAL を短くし、クールダウン中には新しい Bullet が作られないことを確かめる。</a:t>
            </a:r>
          </a:p>
        </p:txBody>
      </p:sp>
      <p:sp>
        <p:nvSpPr>
          <p:cNvPr id="9" name="29">
            <a:extLst xmlns:a="http://schemas.openxmlformats.org/drawingml/2006/main">
              <a:ext uri="{FF2B5EF4-FFF2-40B4-BE49-F238E27FC236}">
                <a16:creationId xmlns:a16="http://schemas.microsoft.com/office/drawing/2014/main" id="{25FBD874-4B42-442C-BFBC-4BB45413C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505575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1200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1200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1200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1200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1200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1200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1200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1200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1200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1200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pPr>
            <a:r>
              <a:rPr sz="1200" b="0">
                <a:solidFill>
                  <a:srgbClr val="5B7082"/>
                </a:solidFill>
                <a:latin typeface="Yu Gothic"/>
                <a:ea typeface="Yu Gothic"/>
                <a:cs typeface="Yu Gothic"/>
              </a:rPr>
              <a:t>29</a:t>
            </a:r>
          </a:p>
        </p:txBody>
      </p:sp>
    </p:spTree>
    <p:extLst>
      <p:ext uri="{BB962C8B-B14F-4D97-AF65-F5344CB8AC3E}">
        <p14:creationId xmlns:p14="http://schemas.microsoft.com/office/powerpoint/2010/main" val="537278564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五つのクラスからシステムを理解する">
            <a:extLst xmlns:a="http://schemas.openxmlformats.org/drawingml/2006/main">
              <a:ext uri="{FF2B5EF4-FFF2-40B4-BE49-F238E27FC236}">
                <a16:creationId xmlns:a16="http://schemas.microsoft.com/office/drawing/2014/main" id="{B6936B8F-832D-4810-9DF3-767BFEC75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428625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3300" b="1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3300" b="1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3300" b="1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3300" b="1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3300" b="1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3300" b="1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3300" b="1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3300" b="1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3300" b="1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3300" b="1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pPr>
            <a:r>
              <a:rPr sz="3300" b="1">
                <a:solidFill>
                  <a:srgbClr val="172C40"/>
                </a:solidFill>
                <a:latin typeface="Yu Gothic"/>
                <a:ea typeface="Yu Gothic"/>
                <a:cs typeface="Yu Gothic"/>
              </a:rPr>
              <a:t>五つのクラスからシステムを理解する</a:t>
            </a:r>
          </a:p>
        </p:txBody>
      </p:sp>
      <p:sp>
        <p:nvSpPr>
          <p:cNvPr id="2" name="状態を実体に持たせ、メソッドで協力させる">
            <a:extLst xmlns:a="http://schemas.openxmlformats.org/drawingml/2006/main">
              <a:ext uri="{FF2B5EF4-FFF2-40B4-BE49-F238E27FC236}">
                <a16:creationId xmlns:a16="http://schemas.microsoft.com/office/drawing/2014/main" id="{AB56510D-7967-4EE8-900F-46488AF9F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1181100"/>
            <a:ext cx="110013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1725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1725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1725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1725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1725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1725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1725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1725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1725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1725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5B7082"/>
                </a:solidFill>
                <a:latin typeface="Yu Gothic"/>
                <a:ea typeface="Yu Gothic"/>
                <a:cs typeface="Yu Gothic"/>
              </a:rPr>
              <a:t>状態を実体に持たせ、メソッドで協力させる</a:t>
            </a:r>
          </a:p>
        </p:txBody>
      </p:sp>
      <p:sp>
        <p:nvSpPr>
          <p:cNvPr id="3" name="継承で動作を共有し、関連で参照を持ち、多態性で呼び出しを統一する。 コースサイトに完成版の例・三言語のスライド・検索できる章を掲載。">
            <a:extLst xmlns:a="http://schemas.openxmlformats.org/drawingml/2006/main">
              <a:ext uri="{FF2B5EF4-FFF2-40B4-BE49-F238E27FC236}">
                <a16:creationId xmlns:a16="http://schemas.microsoft.com/office/drawing/2014/main" id="{21CEE099-B0C9-4FD9-A6D3-A268388CC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66900"/>
            <a:ext cx="109537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217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217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217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217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217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217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217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217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217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217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172C40"/>
                </a:solidFill>
                <a:latin typeface="Yu Gothic"/>
                <a:ea typeface="Yu Gothic"/>
                <a:cs typeface="Yu Gothic"/>
              </a:rPr>
              <a:t>継承で動作を共有し、関連で参照を持ち、多態性で呼び出しを統一する。</a:t>
            </a:r>
          </a:p>
          <a:p xmlns:a="http://schemas.openxmlformats.org/drawingml/2006/main">
            <a:pPr algn="l">
              <a:buNone/>
              <a:defRPr sz="217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172C40"/>
                </a:solidFill>
                <a:latin typeface="Yu Gothic"/>
                <a:ea typeface="Yu Gothic"/>
                <a:cs typeface="Yu Gothic"/>
              </a:rPr>
              <a:t>コースサイトに完成版の例・三言語のスライド・検索できる章を掲載。</a:t>
            </a:r>
          </a:p>
        </p:txBody>
      </p:sp>
      <p:sp>
        <p:nvSpPr>
          <p:cNvPr id="4" name="Pygame · Sprite / Group">
            <a:extLst xmlns:a="http://schemas.openxmlformats.org/drawingml/2006/main">
              <a:ext uri="{FF2B5EF4-FFF2-40B4-BE49-F238E27FC236}">
                <a16:creationId xmlns:a16="http://schemas.microsoft.com/office/drawing/2014/main" id="{99FEB1F1-6485-4489-903A-03F701FBD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476625"/>
            <a:ext cx="323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087C62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1725" b="1">
                <a:solidFill>
                  <a:srgbClr val="087C62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1725" b="1">
                <a:solidFill>
                  <a:srgbClr val="087C62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1725" b="1">
                <a:solidFill>
                  <a:srgbClr val="087C62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1725" b="1">
                <a:solidFill>
                  <a:srgbClr val="087C62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1725" b="1">
                <a:solidFill>
                  <a:srgbClr val="087C62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1725" b="1">
                <a:solidFill>
                  <a:srgbClr val="087C62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1725" b="1">
                <a:solidFill>
                  <a:srgbClr val="087C62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1725" b="1">
                <a:solidFill>
                  <a:srgbClr val="087C62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1725" b="1">
                <a:solidFill>
                  <a:srgbClr val="087C62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1725" b="1">
                <a:solidFill>
                  <a:srgbClr val="087C62"/>
                </a:solidFill>
                <a:latin typeface="Yu Gothic"/>
                <a:ea typeface="Yu Gothic"/>
                <a:cs typeface="Yu Gothic"/>
              </a:defRPr>
            </a:pPr>
            <a:r>
              <a:rPr sz="1725" b="1">
                <a:solidFill>
                  <a:srgbClr val="087C62"/>
                </a:solidFill>
                <a:latin typeface="Yu Gothic"/>
                <a:ea typeface="Yu Gothic"/>
                <a:cs typeface="Yu Gothic"/>
              </a:rPr>
              <a:t>Pygame · Sprite / Group</a:t>
            </a:r>
          </a:p>
        </p:txBody>
      </p:sp>
      <p:sp>
        <p:nvSpPr>
          <p:cNvPr id="5" name="https://www.pygame.org/docs/ref/sprite.html">
            <a:extLst xmlns:a="http://schemas.openxmlformats.org/drawingml/2006/main">
              <a:ext uri="{FF2B5EF4-FFF2-40B4-BE49-F238E27FC236}">
                <a16:creationId xmlns:a16="http://schemas.microsoft.com/office/drawing/2014/main" id="{F03589DF-1CD1-4FD2-A892-16547EA5A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3476625"/>
            <a:ext cx="7620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1500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1500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1500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1500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1500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1500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1500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1500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1500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1500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pPr>
            <a:r>
              <a:rPr sz="1500" b="0">
                <a:solidFill>
                  <a:srgbClr val="172C40"/>
                </a:solidFill>
                <a:latin typeface="Yu Gothic"/>
                <a:ea typeface="Yu Gothic"/>
                <a:cs typeface="Yu Gothic"/>
                <a:hlinkClick xmlns:r="http://schemas.openxmlformats.org/officeDocument/2006/relationships" r:id="R0c1433d989c84d16"/>
              </a:rPr>
              <a:t>https://www.pygame.org/docs/ref/sprite.html</a:t>
            </a:r>
          </a:p>
        </p:txBody>
      </p:sp>
      <p:sp>
        <p:nvSpPr>
          <p:cNvPr id="6" name="Pygame · Clock">
            <a:extLst xmlns:a="http://schemas.openxmlformats.org/drawingml/2006/main">
              <a:ext uri="{FF2B5EF4-FFF2-40B4-BE49-F238E27FC236}">
                <a16:creationId xmlns:a16="http://schemas.microsoft.com/office/drawing/2014/main" id="{641056AC-B2D5-4ADC-A01C-A3B0FE0C7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00500"/>
            <a:ext cx="323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087C62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1725" b="1">
                <a:solidFill>
                  <a:srgbClr val="087C62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1725" b="1">
                <a:solidFill>
                  <a:srgbClr val="087C62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1725" b="1">
                <a:solidFill>
                  <a:srgbClr val="087C62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1725" b="1">
                <a:solidFill>
                  <a:srgbClr val="087C62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1725" b="1">
                <a:solidFill>
                  <a:srgbClr val="087C62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1725" b="1">
                <a:solidFill>
                  <a:srgbClr val="087C62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1725" b="1">
                <a:solidFill>
                  <a:srgbClr val="087C62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1725" b="1">
                <a:solidFill>
                  <a:srgbClr val="087C62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1725" b="1">
                <a:solidFill>
                  <a:srgbClr val="087C62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1725" b="1">
                <a:solidFill>
                  <a:srgbClr val="087C62"/>
                </a:solidFill>
                <a:latin typeface="Yu Gothic"/>
                <a:ea typeface="Yu Gothic"/>
                <a:cs typeface="Yu Gothic"/>
              </a:defRPr>
            </a:pPr>
            <a:r>
              <a:rPr sz="1725" b="1">
                <a:solidFill>
                  <a:srgbClr val="087C62"/>
                </a:solidFill>
                <a:latin typeface="Yu Gothic"/>
                <a:ea typeface="Yu Gothic"/>
                <a:cs typeface="Yu Gothic"/>
              </a:rPr>
              <a:t>Pygame · Clock</a:t>
            </a:r>
          </a:p>
        </p:txBody>
      </p:sp>
      <p:sp>
        <p:nvSpPr>
          <p:cNvPr id="7" name="https://www.pygame.org/docs/ref/time.html">
            <a:extLst xmlns:a="http://schemas.openxmlformats.org/drawingml/2006/main">
              <a:ext uri="{FF2B5EF4-FFF2-40B4-BE49-F238E27FC236}">
                <a16:creationId xmlns:a16="http://schemas.microsoft.com/office/drawing/2014/main" id="{55711E3D-B1B1-44BD-B347-89B61F0BB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4000500"/>
            <a:ext cx="7620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1500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1500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1500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1500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1500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1500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1500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1500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1500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1500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pPr>
            <a:r>
              <a:rPr sz="1500" b="0">
                <a:solidFill>
                  <a:srgbClr val="172C40"/>
                </a:solidFill>
                <a:latin typeface="Yu Gothic"/>
                <a:ea typeface="Yu Gothic"/>
                <a:cs typeface="Yu Gothic"/>
                <a:hlinkClick xmlns:r="http://schemas.openxmlformats.org/officeDocument/2006/relationships" r:id="R848290893f6842f3"/>
              </a:rPr>
              <a:t>https://www.pygame.org/docs/ref/time.html</a:t>
            </a:r>
          </a:p>
        </p:txBody>
      </p:sp>
      <p:sp>
        <p:nvSpPr>
          <p:cNvPr id="8" name="Python 3.12 · Data model">
            <a:extLst xmlns:a="http://schemas.openxmlformats.org/drawingml/2006/main">
              <a:ext uri="{FF2B5EF4-FFF2-40B4-BE49-F238E27FC236}">
                <a16:creationId xmlns:a16="http://schemas.microsoft.com/office/drawing/2014/main" id="{11776257-AB55-47E3-945F-F22ADE3D8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524375"/>
            <a:ext cx="323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087C62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1725" b="1">
                <a:solidFill>
                  <a:srgbClr val="087C62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1725" b="1">
                <a:solidFill>
                  <a:srgbClr val="087C62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1725" b="1">
                <a:solidFill>
                  <a:srgbClr val="087C62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1725" b="1">
                <a:solidFill>
                  <a:srgbClr val="087C62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1725" b="1">
                <a:solidFill>
                  <a:srgbClr val="087C62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1725" b="1">
                <a:solidFill>
                  <a:srgbClr val="087C62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1725" b="1">
                <a:solidFill>
                  <a:srgbClr val="087C62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1725" b="1">
                <a:solidFill>
                  <a:srgbClr val="087C62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1725" b="1">
                <a:solidFill>
                  <a:srgbClr val="087C62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1725" b="1">
                <a:solidFill>
                  <a:srgbClr val="087C62"/>
                </a:solidFill>
                <a:latin typeface="Yu Gothic"/>
                <a:ea typeface="Yu Gothic"/>
                <a:cs typeface="Yu Gothic"/>
              </a:defRPr>
            </a:pPr>
            <a:r>
              <a:rPr sz="1725" b="1">
                <a:solidFill>
                  <a:srgbClr val="087C62"/>
                </a:solidFill>
                <a:latin typeface="Yu Gothic"/>
                <a:ea typeface="Yu Gothic"/>
                <a:cs typeface="Yu Gothic"/>
              </a:rPr>
              <a:t>Python 3.12 · Data model</a:t>
            </a:r>
          </a:p>
        </p:txBody>
      </p:sp>
      <p:sp>
        <p:nvSpPr>
          <p:cNvPr id="9" name="https://docs.python.org/3.12/reference/datamodel.html">
            <a:extLst xmlns:a="http://schemas.openxmlformats.org/drawingml/2006/main">
              <a:ext uri="{FF2B5EF4-FFF2-40B4-BE49-F238E27FC236}">
                <a16:creationId xmlns:a16="http://schemas.microsoft.com/office/drawing/2014/main" id="{8B05B379-EA3A-49DD-88AF-C5BA75134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4524375"/>
            <a:ext cx="7620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1500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1500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1500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1500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1500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1500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1500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1500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1500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1500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pPr>
            <a:r>
              <a:rPr sz="1500" b="0">
                <a:solidFill>
                  <a:srgbClr val="172C40"/>
                </a:solidFill>
                <a:latin typeface="Yu Gothic"/>
                <a:ea typeface="Yu Gothic"/>
                <a:cs typeface="Yu Gothic"/>
                <a:hlinkClick xmlns:r="http://schemas.openxmlformats.org/officeDocument/2006/relationships" r:id="R908f459caad84401"/>
              </a:rPr>
              <a:t>https://docs.python.org/3.12/reference/datamodel.html</a:t>
            </a:r>
          </a:p>
        </p:txBody>
      </p:sp>
      <p:sp>
        <p:nvSpPr>
          <p:cNvPr id="10" name="OMG · UML 2.5.1">
            <a:extLst xmlns:a="http://schemas.openxmlformats.org/drawingml/2006/main">
              <a:ext uri="{FF2B5EF4-FFF2-40B4-BE49-F238E27FC236}">
                <a16:creationId xmlns:a16="http://schemas.microsoft.com/office/drawing/2014/main" id="{9CCAEC26-620C-46ED-B601-B4CAC3D12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048250"/>
            <a:ext cx="323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087C62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1725" b="1">
                <a:solidFill>
                  <a:srgbClr val="087C62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1725" b="1">
                <a:solidFill>
                  <a:srgbClr val="087C62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1725" b="1">
                <a:solidFill>
                  <a:srgbClr val="087C62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1725" b="1">
                <a:solidFill>
                  <a:srgbClr val="087C62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1725" b="1">
                <a:solidFill>
                  <a:srgbClr val="087C62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1725" b="1">
                <a:solidFill>
                  <a:srgbClr val="087C62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1725" b="1">
                <a:solidFill>
                  <a:srgbClr val="087C62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1725" b="1">
                <a:solidFill>
                  <a:srgbClr val="087C62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1725" b="1">
                <a:solidFill>
                  <a:srgbClr val="087C62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1725" b="1">
                <a:solidFill>
                  <a:srgbClr val="087C62"/>
                </a:solidFill>
                <a:latin typeface="Yu Gothic"/>
                <a:ea typeface="Yu Gothic"/>
                <a:cs typeface="Yu Gothic"/>
              </a:defRPr>
            </a:pPr>
            <a:r>
              <a:rPr sz="1725" b="1">
                <a:solidFill>
                  <a:srgbClr val="087C62"/>
                </a:solidFill>
                <a:latin typeface="Yu Gothic"/>
                <a:ea typeface="Yu Gothic"/>
                <a:cs typeface="Yu Gothic"/>
              </a:rPr>
              <a:t>OMG · UML 2.5.1</a:t>
            </a:r>
          </a:p>
        </p:txBody>
      </p:sp>
      <p:sp>
        <p:nvSpPr>
          <p:cNvPr id="11" name="https://www.omg.org/spec/UML/2.5.1">
            <a:extLst xmlns:a="http://schemas.openxmlformats.org/drawingml/2006/main">
              <a:ext uri="{FF2B5EF4-FFF2-40B4-BE49-F238E27FC236}">
                <a16:creationId xmlns:a16="http://schemas.microsoft.com/office/drawing/2014/main" id="{C5239D55-C404-4061-B6E6-E1F37CE55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5048250"/>
            <a:ext cx="7620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1500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1500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1500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1500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1500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1500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1500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1500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1500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1500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pPr>
            <a:r>
              <a:rPr sz="1500" b="0">
                <a:solidFill>
                  <a:srgbClr val="172C40"/>
                </a:solidFill>
                <a:latin typeface="Yu Gothic"/>
                <a:ea typeface="Yu Gothic"/>
                <a:cs typeface="Yu Gothic"/>
                <a:hlinkClick xmlns:r="http://schemas.openxmlformats.org/officeDocument/2006/relationships" r:id="R7692ae4b37f543c9"/>
              </a:rPr>
              <a:t>https://www.omg.org/spec/UML/2.5.1</a:t>
            </a:r>
          </a:p>
        </p:txBody>
      </p:sp>
      <p:sp>
        <p:nvSpPr>
          <p:cNvPr id="12" name="Course · Pygame">
            <a:extLst xmlns:a="http://schemas.openxmlformats.org/drawingml/2006/main">
              <a:ext uri="{FF2B5EF4-FFF2-40B4-BE49-F238E27FC236}">
                <a16:creationId xmlns:a16="http://schemas.microsoft.com/office/drawing/2014/main" id="{1B27E207-D8C0-43CD-9C13-DDBD85E05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572125"/>
            <a:ext cx="323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087C62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1725" b="1">
                <a:solidFill>
                  <a:srgbClr val="087C62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1725" b="1">
                <a:solidFill>
                  <a:srgbClr val="087C62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1725" b="1">
                <a:solidFill>
                  <a:srgbClr val="087C62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1725" b="1">
                <a:solidFill>
                  <a:srgbClr val="087C62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1725" b="1">
                <a:solidFill>
                  <a:srgbClr val="087C62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1725" b="1">
                <a:solidFill>
                  <a:srgbClr val="087C62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1725" b="1">
                <a:solidFill>
                  <a:srgbClr val="087C62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1725" b="1">
                <a:solidFill>
                  <a:srgbClr val="087C62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1725" b="1">
                <a:solidFill>
                  <a:srgbClr val="087C62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1725" b="1">
                <a:solidFill>
                  <a:srgbClr val="087C62"/>
                </a:solidFill>
                <a:latin typeface="Yu Gothic"/>
                <a:ea typeface="Yu Gothic"/>
                <a:cs typeface="Yu Gothic"/>
              </a:defRPr>
            </a:pPr>
            <a:r>
              <a:rPr sz="1725" b="1">
                <a:solidFill>
                  <a:srgbClr val="087C62"/>
                </a:solidFill>
                <a:latin typeface="Yu Gothic"/>
                <a:ea typeface="Yu Gothic"/>
                <a:cs typeface="Yu Gothic"/>
              </a:rPr>
              <a:t>Course · Pygame</a:t>
            </a:r>
          </a:p>
        </p:txBody>
      </p:sp>
      <p:sp>
        <p:nvSpPr>
          <p:cNvPr id="13" name="https://minhuangyuntech.github.io/oo2026/ja/pygame/">
            <a:extLst xmlns:a="http://schemas.openxmlformats.org/drawingml/2006/main">
              <a:ext uri="{FF2B5EF4-FFF2-40B4-BE49-F238E27FC236}">
                <a16:creationId xmlns:a16="http://schemas.microsoft.com/office/drawing/2014/main" id="{03AD2B3F-2C09-4467-B0AF-2FC32B8AD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5572125"/>
            <a:ext cx="7620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1500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1500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1500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1500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1500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1500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1500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1500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1500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1500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pPr>
            <a:r>
              <a:rPr sz="1500" b="0">
                <a:solidFill>
                  <a:srgbClr val="172C40"/>
                </a:solidFill>
                <a:latin typeface="Yu Gothic"/>
                <a:ea typeface="Yu Gothic"/>
                <a:cs typeface="Yu Gothic"/>
                <a:hlinkClick xmlns:r="http://schemas.openxmlformats.org/officeDocument/2006/relationships" r:id="R3c22322acc204376"/>
              </a:rPr>
              <a:t>https://minhuangyuntech.github.io/oo2026/ja/pygame/</a:t>
            </a:r>
          </a:p>
        </p:txBody>
      </p:sp>
      <p:sp>
        <p:nvSpPr>
          <p:cNvPr id="14" name="30">
            <a:extLst xmlns:a="http://schemas.openxmlformats.org/drawingml/2006/main">
              <a:ext uri="{FF2B5EF4-FFF2-40B4-BE49-F238E27FC236}">
                <a16:creationId xmlns:a16="http://schemas.microsoft.com/office/drawing/2014/main" id="{67F23476-EBF4-4E2D-AA7F-77F96F32B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505575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1200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1200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1200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1200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1200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1200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1200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1200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1200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1200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pPr>
            <a:r>
              <a:rPr sz="1200" b="0">
                <a:solidFill>
                  <a:srgbClr val="5B7082"/>
                </a:solidFill>
                <a:latin typeface="Yu Gothic"/>
                <a:ea typeface="Yu Gothic"/>
                <a:cs typeface="Yu Gothic"/>
              </a:rPr>
              <a:t>30</a:t>
            </a:r>
          </a:p>
        </p:txBody>
      </p:sp>
    </p:spTree>
    <p:extLst>
      <p:ext uri="{BB962C8B-B14F-4D97-AF65-F5344CB8AC3E}">
        <p14:creationId xmlns:p14="http://schemas.microsoft.com/office/powerpoint/2010/main" val="936267229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ブラウザーで遊ぶ">
            <a:extLst xmlns:a="http://schemas.openxmlformats.org/drawingml/2006/main">
              <a:ext uri="{FF2B5EF4-FFF2-40B4-BE49-F238E27FC236}">
                <a16:creationId xmlns:a16="http://schemas.microsoft.com/office/drawing/2014/main" id="{2BA9D82B-81FC-44FE-92A9-3FD2D77F2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428625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3300" b="1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3300" b="1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3300" b="1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3300" b="1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3300" b="1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3300" b="1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3300" b="1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3300" b="1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3300" b="1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pPr>
            <a:r>
              <a:rPr sz="3300" b="1">
                <a:solidFill>
                  <a:srgbClr val="172C40"/>
                </a:solidFill>
                <a:latin typeface="Yu Gothic"/>
                <a:ea typeface="Yu Gothic"/>
                <a:cs typeface="Yu Gothic"/>
              </a:rPr>
              <a:t>ブラウザーで遊ぶ</a:t>
            </a:r>
          </a:p>
        </p:txBody>
      </p:sp>
      <p:sp>
        <p:nvSpPr>
          <p:cNvPr id="2" name="インストール不要。五つのクラスを動かそう。">
            <a:extLst xmlns:a="http://schemas.openxmlformats.org/drawingml/2006/main">
              <a:ext uri="{FF2B5EF4-FFF2-40B4-BE49-F238E27FC236}">
                <a16:creationId xmlns:a16="http://schemas.microsoft.com/office/drawing/2014/main" id="{A5D6DC90-006A-496B-A721-0F3228B25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1181100"/>
            <a:ext cx="110013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725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725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725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725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725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725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725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725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725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5B7082"/>
                </a:solidFill>
                <a:latin typeface="Yu Gothic"/>
                <a:ea typeface="Yu Gothic"/>
                <a:cs typeface="Yu Gothic"/>
              </a:rPr>
              <a:t>インストール不要。五つのクラスを動かそう。</a:t>
            </a:r>
          </a:p>
        </p:txBody>
      </p:sp>
      <p:sp>
        <p:nvSpPr>
          <p:cNvPr id="3" name="ゲームを開く">
            <a:extLst xmlns:a="http://schemas.openxmlformats.org/drawingml/2006/main">
              <a:ext uri="{FF2B5EF4-FFF2-40B4-BE49-F238E27FC236}">
                <a16:creationId xmlns:a16="http://schemas.microsoft.com/office/drawing/2014/main" id="{08547CCA-2395-489E-9C22-0A5FCD5E9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000250"/>
            <a:ext cx="1095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087C62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1">
                <a:solidFill>
                  <a:srgbClr val="087C62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1">
                <a:solidFill>
                  <a:srgbClr val="087C62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1">
                <a:solidFill>
                  <a:srgbClr val="087C62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1">
                <a:solidFill>
                  <a:srgbClr val="087C62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1">
                <a:solidFill>
                  <a:srgbClr val="087C62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1">
                <a:solidFill>
                  <a:srgbClr val="087C62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1">
                <a:solidFill>
                  <a:srgbClr val="087C62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1">
                <a:solidFill>
                  <a:srgbClr val="087C62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1">
                <a:solidFill>
                  <a:srgbClr val="087C62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087C62"/>
                </a:solidFill>
                <a:latin typeface="Yu Gothic"/>
                <a:ea typeface="Yu Gothic"/>
                <a:cs typeface="Yu Gothic"/>
              </a:defRPr>
            </a:pPr>
            <a:r>
              <a:rPr sz="2175" b="1">
                <a:solidFill>
                  <a:srgbClr val="087C62"/>
                </a:solidFill>
                <a:latin typeface="Yu Gothic"/>
                <a:ea typeface="Yu Gothic"/>
                <a:cs typeface="Yu Gothic"/>
                <a:hlinkClick xmlns:r="http://schemas.openxmlformats.org/officeDocument/2006/relationships" r:id="Rbf406d65474c45a9"/>
              </a:rPr>
              <a:t>ゲームを開く</a:t>
            </a:r>
          </a:p>
        </p:txBody>
      </p:sp>
      <p:sp>
        <p:nvSpPr>
          <p:cNvPr id="4" name="https://minhuangyuntech.github.io/oo2026/ja/pygame/play/">
            <a:extLst xmlns:a="http://schemas.openxmlformats.org/drawingml/2006/main">
              <a:ext uri="{FF2B5EF4-FFF2-40B4-BE49-F238E27FC236}">
                <a16:creationId xmlns:a16="http://schemas.microsoft.com/office/drawing/2014/main" id="{6AAEB525-57F8-4271-9546-D92012EA6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571750"/>
            <a:ext cx="1095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087C62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025" b="0">
                <a:solidFill>
                  <a:srgbClr val="087C62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025" b="0">
                <a:solidFill>
                  <a:srgbClr val="087C62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025" b="0">
                <a:solidFill>
                  <a:srgbClr val="087C62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025" b="0">
                <a:solidFill>
                  <a:srgbClr val="087C62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025" b="0">
                <a:solidFill>
                  <a:srgbClr val="087C62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025" b="0">
                <a:solidFill>
                  <a:srgbClr val="087C62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025" b="0">
                <a:solidFill>
                  <a:srgbClr val="087C62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025" b="0">
                <a:solidFill>
                  <a:srgbClr val="087C62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025" b="0">
                <a:solidFill>
                  <a:srgbClr val="087C62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087C62"/>
                </a:solidFill>
                <a:latin typeface="Yu Gothic"/>
                <a:ea typeface="Yu Gothic"/>
                <a:cs typeface="Yu Gothic"/>
              </a:defRPr>
            </a:pPr>
            <a:r>
              <a:rPr sz="2025" b="0">
                <a:solidFill>
                  <a:srgbClr val="087C62"/>
                </a:solidFill>
                <a:latin typeface="Yu Gothic"/>
                <a:ea typeface="Yu Gothic"/>
                <a:cs typeface="Yu Gothic"/>
                <a:hlinkClick xmlns:r="http://schemas.openxmlformats.org/officeDocument/2006/relationships" r:id="Rdf304ddb04e54e87"/>
              </a:rPr>
              <a:t>https://minhuangyuntech.github.io/oo2026/ja/pygame/play/</a:t>
            </a:r>
          </a:p>
        </p:txBody>
      </p:sp>
      <p:sp>
        <p:nvSpPr>
          <p:cNvPr id="5" name="リンクを開いて「ゲーム開始」を押します。自機・敵・弾はそれぞれオブジェクトです。">
            <a:extLst xmlns:a="http://schemas.openxmlformats.org/drawingml/2006/main">
              <a:ext uri="{FF2B5EF4-FFF2-40B4-BE49-F238E27FC236}">
                <a16:creationId xmlns:a16="http://schemas.microsoft.com/office/drawing/2014/main" id="{39A7A317-B69E-44F1-8491-E36B11E5D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486150"/>
            <a:ext cx="10953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02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02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02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02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02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02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02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02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02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pPr>
            <a:r>
              <a:rPr sz="2025" b="0">
                <a:solidFill>
                  <a:srgbClr val="172C40"/>
                </a:solidFill>
                <a:latin typeface="Yu Gothic"/>
                <a:ea typeface="Yu Gothic"/>
                <a:cs typeface="Yu Gothic"/>
              </a:rPr>
              <a:t>リンクを開いて「ゲーム開始」を押します。自機・敵・弾はそれぞれオブジェクトです。</a:t>
            </a:r>
          </a:p>
        </p:txBody>
      </p:sp>
      <p:sp>
        <p:nvSpPr>
          <p:cNvPr id="6" name="上部で中文・English・日本語を切り替えられます。場面とスコアは維持されます。">
            <a:extLst xmlns:a="http://schemas.openxmlformats.org/drawingml/2006/main">
              <a:ext uri="{FF2B5EF4-FFF2-40B4-BE49-F238E27FC236}">
                <a16:creationId xmlns:a16="http://schemas.microsoft.com/office/drawing/2014/main" id="{7177FBDA-4B03-46DD-8726-D7FA76CBF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438650"/>
            <a:ext cx="10953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02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02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02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02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02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02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02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02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02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pPr>
            <a:r>
              <a:rPr sz="2025" b="0">
                <a:solidFill>
                  <a:srgbClr val="172C40"/>
                </a:solidFill>
                <a:latin typeface="Yu Gothic"/>
                <a:ea typeface="Yu Gothic"/>
                <a:cs typeface="Yu Gothic"/>
              </a:rPr>
              <a:t>上部で中文・English・日本語を切り替えられます。場面とスコアは維持されます。</a:t>
            </a:r>
          </a:p>
        </p:txBody>
      </p:sp>
      <p:sp>
        <p:nvSpPr>
          <p:cNvPr id="7" name="ブラウザー版は TypeScript / Canvas で実装。クラスの責任とルールは Pygame 版と共通です。">
            <a:extLst xmlns:a="http://schemas.openxmlformats.org/drawingml/2006/main">
              <a:ext uri="{FF2B5EF4-FFF2-40B4-BE49-F238E27FC236}">
                <a16:creationId xmlns:a16="http://schemas.microsoft.com/office/drawing/2014/main" id="{E50C142A-B505-4A46-B282-0F927FA3D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391150"/>
            <a:ext cx="10953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02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02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02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02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02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02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02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02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02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pPr>
            <a:r>
              <a:rPr sz="2025" b="0">
                <a:solidFill>
                  <a:srgbClr val="172C40"/>
                </a:solidFill>
                <a:latin typeface="Yu Gothic"/>
                <a:ea typeface="Yu Gothic"/>
                <a:cs typeface="Yu Gothic"/>
              </a:rPr>
              <a:t>ブラウザー版は TypeScript / Canvas で実装。クラスの責任とルールは Pygame 版と共通です。</a:t>
            </a:r>
          </a:p>
        </p:txBody>
      </p:sp>
      <p:sp>
        <p:nvSpPr>
          <p:cNvPr id="8" name="31">
            <a:extLst xmlns:a="http://schemas.openxmlformats.org/drawingml/2006/main">
              <a:ext uri="{FF2B5EF4-FFF2-40B4-BE49-F238E27FC236}">
                <a16:creationId xmlns:a16="http://schemas.microsoft.com/office/drawing/2014/main" id="{9E79795B-957D-4FC7-B3B0-5549F267D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505575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200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200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200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200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200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200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200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200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200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pPr>
            <a:r>
              <a:rPr sz="1200" b="0">
                <a:solidFill>
                  <a:srgbClr val="5B7082"/>
                </a:solidFill>
                <a:latin typeface="Yu Gothic"/>
                <a:ea typeface="Yu Gothic"/>
                <a:cs typeface="Yu Gothic"/>
              </a:rPr>
              <a:t>31</a:t>
            </a:r>
          </a:p>
        </p:txBody>
      </p:sp>
    </p:spTree>
    <p:extLst>
      <p:ext uri="{BB962C8B-B14F-4D97-AF65-F5344CB8AC3E}">
        <p14:creationId xmlns:p14="http://schemas.microsoft.com/office/powerpoint/2010/main" val="109085329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ブラウザー版：キーとタッチ操作">
            <a:extLst xmlns:a="http://schemas.openxmlformats.org/drawingml/2006/main">
              <a:ext uri="{FF2B5EF4-FFF2-40B4-BE49-F238E27FC236}">
                <a16:creationId xmlns:a16="http://schemas.microsoft.com/office/drawing/2014/main" id="{F82AB3CC-99C0-4A91-B04C-6C1C311C3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428625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3300" b="1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3300" b="1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3300" b="1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3300" b="1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3300" b="1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3300" b="1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3300" b="1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3300" b="1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3300" b="1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pPr>
            <a:r>
              <a:rPr sz="3300" b="1">
                <a:solidFill>
                  <a:srgbClr val="172C40"/>
                </a:solidFill>
                <a:latin typeface="Yu Gothic"/>
                <a:ea typeface="Yu Gothic"/>
                <a:cs typeface="Yu Gothic"/>
              </a:rPr>
              <a:t>ブラウザー版：キーとタッチ操作</a:t>
            </a:r>
          </a:p>
        </p:txBody>
      </p:sp>
      <p:sp>
        <p:nvSpPr>
          <p:cNvPr id="2" name="画面をクリックしてからキーを使います。画面上のボタンでも操作できます。">
            <a:extLst xmlns:a="http://schemas.openxmlformats.org/drawingml/2006/main">
              <a:ext uri="{FF2B5EF4-FFF2-40B4-BE49-F238E27FC236}">
                <a16:creationId xmlns:a16="http://schemas.microsoft.com/office/drawing/2014/main" id="{9CFEF3E0-3502-4BEE-B5AA-33A266950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1181100"/>
            <a:ext cx="110013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725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725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725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725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725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725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725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725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725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5B7082"/>
                </a:solidFill>
                <a:latin typeface="Yu Gothic"/>
                <a:ea typeface="Yu Gothic"/>
                <a:cs typeface="Yu Gothic"/>
              </a:rPr>
              <a:t>画面をクリックしてからキーを使います。画面上のボタンでも操作できます。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E7C0C2-301B-414A-A3D5-25C62DB34A8E}"/>
              </a:ext>
            </a:extLst>
          </p:cNvPr>
          <p:cNvGraphicFramePr/>
          <p:nvPr/>
        </p:nvGraphicFramePr>
        <p:xfrm>
          <a:off xmlns:a="http://schemas.openxmlformats.org/drawingml/2006/main" x="571500" y="1762125"/>
          <a:ext xmlns:a="http://schemas.openxmlformats.org/drawingml/2006/main" cx="11049000" cy="37147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3238500"/>
                <a:gridCol w="7810500"/>
              </a:tblGrid>
              <a:tr h="464344">
                <a:tc>
                  <a:txBody>
                    <a:bodyPr lIns="123825" tIns="66675" rIns="104775" bIns="66675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EDF4FB"/>
                          </a:solidFill>
                          <a:latin typeface="Yu Gothic"/>
                          <a:ea typeface="Yu Gothic"/>
                          <a:cs typeface="Yu Gothic"/>
                        </a:rPr>
                        <a:t>キー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6DF"/>
                      </a:solidFill>
                      <a:prstDash val="solid"/>
                    </a:lnL>
                    <a:lnR w="9525">
                      <a:solidFill>
                        <a:srgbClr val="CCD6DF"/>
                      </a:solidFill>
                      <a:prstDash val="solid"/>
                    </a:lnR>
                    <a:lnT w="9525">
                      <a:solidFill>
                        <a:srgbClr val="CCD6DF"/>
                      </a:solidFill>
                      <a:prstDash val="solid"/>
                    </a:lnT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172C40"/>
                    </a:solidFill>
                  </a:tcPr>
                </a:tc>
                <a:tc>
                  <a:txBody>
                    <a:bodyPr lIns="123825" tIns="66675" rIns="104775" bIns="66675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EDF4FB"/>
                          </a:solidFill>
                          <a:latin typeface="Yu Gothic"/>
                          <a:ea typeface="Yu Gothic"/>
                          <a:cs typeface="Yu Gothic"/>
                        </a:rPr>
                        <a:t>動作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T w="9525">
                      <a:solidFill>
                        <a:srgbClr val="CCD6DF"/>
                      </a:solidFill>
                      <a:prstDash val="solid"/>
                    </a:lnT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172C40"/>
                    </a:solidFill>
                  </a:tcPr>
                </a:tc>
              </a:tr>
              <a:tr h="464344">
                <a:tc>
                  <a:txBody>
                    <a:bodyPr lIns="123825" tIns="66675" rIns="104775" bIns="66675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172C40"/>
                          </a:solidFill>
                          <a:latin typeface="Yu Gothic"/>
                          <a:ea typeface="Yu Gothic"/>
                          <a:cs typeface="Yu Gothic"/>
                        </a:rPr>
                        <a:t>Enter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6DF"/>
                      </a:solidFill>
                      <a:prstDash val="solid"/>
                    </a:lnL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23825" tIns="66675" rIns="104775" bIns="6667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72C40"/>
                          </a:solidFill>
                          <a:latin typeface="Yu Gothic"/>
                          <a:ea typeface="Yu Gothic"/>
                          <a:cs typeface="Yu Gothic"/>
                        </a:rPr>
                        <a:t>開始／再開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64344">
                <a:tc>
                  <a:txBody>
                    <a:bodyPr lIns="123825" tIns="66675" rIns="104775" bIns="66675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172C40"/>
                          </a:solidFill>
                          <a:latin typeface="Yu Gothic"/>
                          <a:ea typeface="Yu Gothic"/>
                          <a:cs typeface="Yu Gothic"/>
                        </a:rPr>
                        <a:t>矢印 / WASD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6DF"/>
                      </a:solidFill>
                      <a:prstDash val="solid"/>
                    </a:lnL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lIns="123825" tIns="66675" rIns="104775" bIns="6667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72C40"/>
                          </a:solidFill>
                          <a:latin typeface="Yu Gothic"/>
                          <a:ea typeface="Yu Gothic"/>
                          <a:cs typeface="Yu Gothic"/>
                        </a:rPr>
                        <a:t>自機を移動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</a:tr>
              <a:tr h="464344">
                <a:tc>
                  <a:txBody>
                    <a:bodyPr lIns="123825" tIns="66675" rIns="104775" bIns="66675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172C40"/>
                          </a:solidFill>
                          <a:latin typeface="Yu Gothic"/>
                          <a:ea typeface="Yu Gothic"/>
                          <a:cs typeface="Yu Gothic"/>
                        </a:rPr>
                        <a:t>Space を長押し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6DF"/>
                      </a:solidFill>
                      <a:prstDash val="solid"/>
                    </a:lnL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23825" tIns="66675" rIns="104775" bIns="6667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72C40"/>
                          </a:solidFill>
                          <a:latin typeface="Yu Gothic"/>
                          <a:ea typeface="Yu Gothic"/>
                          <a:cs typeface="Yu Gothic"/>
                        </a:rPr>
                        <a:t>連続発射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64344">
                <a:tc>
                  <a:txBody>
                    <a:bodyPr lIns="123825" tIns="66675" rIns="104775" bIns="66675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172C40"/>
                          </a:solidFill>
                          <a:latin typeface="Yu Gothic"/>
                          <a:ea typeface="Yu Gothic"/>
                          <a:cs typeface="Yu Gothic"/>
                        </a:rPr>
                        <a:t>P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6DF"/>
                      </a:solidFill>
                      <a:prstDash val="solid"/>
                    </a:lnL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lIns="123825" tIns="66675" rIns="104775" bIns="6667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72C40"/>
                          </a:solidFill>
                          <a:latin typeface="Yu Gothic"/>
                          <a:ea typeface="Yu Gothic"/>
                          <a:cs typeface="Yu Gothic"/>
                        </a:rPr>
                        <a:t>一時停止／再開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</a:tr>
              <a:tr h="464344">
                <a:tc>
                  <a:txBody>
                    <a:bodyPr lIns="123825" tIns="66675" rIns="104775" bIns="66675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172C40"/>
                          </a:solidFill>
                          <a:latin typeface="Yu Gothic"/>
                          <a:ea typeface="Yu Gothic"/>
                          <a:cs typeface="Yu Gothic"/>
                        </a:rPr>
                        <a:t>N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6DF"/>
                      </a:solidFill>
                      <a:prstDash val="solid"/>
                    </a:lnL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23825" tIns="66675" rIns="104775" bIns="6667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72C40"/>
                          </a:solidFill>
                          <a:latin typeface="Yu Gothic"/>
                          <a:ea typeface="Yu Gothic"/>
                          <a:cs typeface="Yu Gothic"/>
                        </a:rPr>
                        <a:t>停止中に 1/60 秒進む（自動発射なし）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64344">
                <a:tc>
                  <a:txBody>
                    <a:bodyPr lIns="123825" tIns="66675" rIns="104775" bIns="66675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172C40"/>
                          </a:solidFill>
                          <a:latin typeface="Yu Gothic"/>
                          <a:ea typeface="Yu Gothic"/>
                          <a:cs typeface="Yu Gothic"/>
                        </a:rPr>
                        <a:t>L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6DF"/>
                      </a:solidFill>
                      <a:prstDash val="solid"/>
                    </a:lnL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lIns="123825" tIns="66675" rIns="104775" bIns="6667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72C40"/>
                          </a:solidFill>
                          <a:latin typeface="Yu Gothic"/>
                          <a:ea typeface="Yu Gothic"/>
                          <a:cs typeface="Yu Gothic"/>
                        </a:rPr>
                        <a:t>オブジェクト名の表示／非表示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</a:tr>
              <a:tr h="464344">
                <a:tc>
                  <a:txBody>
                    <a:bodyPr lIns="123825" tIns="66675" rIns="104775" bIns="66675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172C40"/>
                          </a:solidFill>
                          <a:latin typeface="Yu Gothic"/>
                          <a:ea typeface="Yu Gothic"/>
                          <a:cs typeface="Yu Gothic"/>
                        </a:rPr>
                        <a:t>R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6DF"/>
                      </a:solidFill>
                      <a:prstDash val="solid"/>
                    </a:lnL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23825" tIns="66675" rIns="104775" bIns="6667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72C40"/>
                          </a:solidFill>
                          <a:latin typeface="Yu Gothic"/>
                          <a:ea typeface="Yu Gothic"/>
                          <a:cs typeface="Yu Gothic"/>
                        </a:rPr>
                        <a:t>準備画面にリセット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タッチ：方向・発射ボタンを長押し。「止めて観察」「1 コマ進む +1/60 秒」で観察。">
            <a:extLst xmlns:a="http://schemas.openxmlformats.org/drawingml/2006/main">
              <a:ext uri="{FF2B5EF4-FFF2-40B4-BE49-F238E27FC236}">
                <a16:creationId xmlns:a16="http://schemas.microsoft.com/office/drawing/2014/main" id="{CFB60CA8-18E3-4E42-B838-81B6D7B11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648325"/>
            <a:ext cx="10953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575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575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575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575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575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575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575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575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575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pPr>
            <a:r>
              <a:rPr sz="1575" b="0">
                <a:solidFill>
                  <a:srgbClr val="5B7082"/>
                </a:solidFill>
                <a:latin typeface="Yu Gothic"/>
                <a:ea typeface="Yu Gothic"/>
                <a:cs typeface="Yu Gothic"/>
              </a:rPr>
              <a:t>タッチ：方向・発射ボタンを長押し。「止めて観察」「1 コマ進む +1/60 秒」で観察。</a:t>
            </a:r>
          </a:p>
        </p:txBody>
      </p:sp>
      <p:sp>
        <p:nvSpPr>
          <p:cNvPr id="5" name="名前の切替はブラウザー版が L、Pygame 版が Tab。ブラウザーの Tab はフォーカス移動。">
            <a:extLst xmlns:a="http://schemas.openxmlformats.org/drawingml/2006/main">
              <a:ext uri="{FF2B5EF4-FFF2-40B4-BE49-F238E27FC236}">
                <a16:creationId xmlns:a16="http://schemas.microsoft.com/office/drawing/2014/main" id="{092085BE-1040-47DF-9E5C-14F98C728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086475"/>
            <a:ext cx="10953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575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575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575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575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575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575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575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575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575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pPr>
            <a:r>
              <a:rPr sz="1575" b="0">
                <a:solidFill>
                  <a:srgbClr val="5B7082"/>
                </a:solidFill>
                <a:latin typeface="Yu Gothic"/>
                <a:ea typeface="Yu Gothic"/>
                <a:cs typeface="Yu Gothic"/>
              </a:rPr>
              <a:t>名前の切替はブラウザー版が L、Pygame 版が Tab。ブラウザーの Tab はフォーカス移動。</a:t>
            </a:r>
          </a:p>
        </p:txBody>
      </p:sp>
      <p:sp>
        <p:nvSpPr>
          <p:cNvPr id="6" name="32">
            <a:extLst xmlns:a="http://schemas.openxmlformats.org/drawingml/2006/main">
              <a:ext uri="{FF2B5EF4-FFF2-40B4-BE49-F238E27FC236}">
                <a16:creationId xmlns:a16="http://schemas.microsoft.com/office/drawing/2014/main" id="{A2DD3ED7-7F1C-41A9-8FF4-D0012B099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505575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200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200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200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200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200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200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200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200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200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pPr>
            <a:r>
              <a:rPr sz="1200" b="0">
                <a:solidFill>
                  <a:srgbClr val="5B7082"/>
                </a:solidFill>
                <a:latin typeface="Yu Gothic"/>
                <a:ea typeface="Yu Gothic"/>
                <a:cs typeface="Yu Gothic"/>
              </a:rPr>
              <a:t>32</a:t>
            </a:r>
          </a:p>
        </p:txBody>
      </p:sp>
    </p:spTree>
    <p:extLst>
      <p:ext uri="{BB962C8B-B14F-4D97-AF65-F5344CB8AC3E}">
        <p14:creationId xmlns:p14="http://schemas.microsoft.com/office/powerpoint/2010/main" val="355001313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止めて観察：二つの弾、一つの自機">
            <a:extLst xmlns:a="http://schemas.openxmlformats.org/drawingml/2006/main">
              <a:ext uri="{FF2B5EF4-FFF2-40B4-BE49-F238E27FC236}">
                <a16:creationId xmlns:a16="http://schemas.microsoft.com/office/drawing/2014/main" id="{C4B82757-F8EF-4598-B638-FB2FA99EF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428625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3300" b="1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3300" b="1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3300" b="1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3300" b="1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3300" b="1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3300" b="1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3300" b="1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3300" b="1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3300" b="1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pPr>
            <a:r>
              <a:rPr sz="3300" b="1">
                <a:solidFill>
                  <a:srgbClr val="172C40"/>
                </a:solidFill>
                <a:latin typeface="Yu Gothic"/>
                <a:ea typeface="Yu Gothic"/>
                <a:cs typeface="Yu Gothic"/>
              </a:rPr>
              <a:t>止めて観察：二つの弾、一つの自機</a:t>
            </a:r>
          </a:p>
        </p:txBody>
      </p:sp>
      <p:sp>
        <p:nvSpPr>
          <p:cNvPr id="2" name="時間を止め、参照と座標の変化を追ってみよう。">
            <a:extLst xmlns:a="http://schemas.openxmlformats.org/drawingml/2006/main">
              <a:ext uri="{FF2B5EF4-FFF2-40B4-BE49-F238E27FC236}">
                <a16:creationId xmlns:a16="http://schemas.microsoft.com/office/drawing/2014/main" id="{E2D902BA-FB83-46D2-BD99-66430B578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1181100"/>
            <a:ext cx="110013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725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725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725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725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725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725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725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725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725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5B7082"/>
                </a:solidFill>
                <a:latin typeface="Yu Gothic"/>
                <a:ea typeface="Yu Gothic"/>
                <a:cs typeface="Yu Gothic"/>
              </a:rPr>
              <a:t>時間を止め、参照と座標の変化を追ってみよう。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5832B7-8540-4DE8-A3AB-10D175D2666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e5d6ba796114824"/>
          <a:stretch xmlns:a="http://schemas.openxmlformats.org/drawingml/2006/main"/>
        </p:blipFill>
        <p:spPr>
          <a:xfrm xmlns:a="http://schemas.openxmlformats.org/drawingml/2006/main">
            <a:off x="571500" y="1747534"/>
            <a:ext cx="5619750" cy="4639283"/>
          </a:xfrm>
          <a:prstGeom xmlns:a="http://schemas.openxmlformats.org/drawingml/2006/main" prst="rect">
            <a:avLst/>
          </a:prstGeom>
        </p:spPr>
      </p:pic>
      <p:sp>
        <p:nvSpPr>
          <p:cNvPr id="4" name="1  「観察用シーンを読み込む」&#10;新しい停止場面を作成：&#10;Player × 1、Enemy × 3、Bullet × 2。">
            <a:extLst xmlns:a="http://schemas.openxmlformats.org/drawingml/2006/main">
              <a:ext uri="{FF2B5EF4-FFF2-40B4-BE49-F238E27FC236}">
                <a16:creationId xmlns:a16="http://schemas.microsoft.com/office/drawing/2014/main" id="{6698ED0E-D9A4-4C9C-9944-96D544C96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876425"/>
            <a:ext cx="5000625" cy="1362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87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87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87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87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87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87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87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87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87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pPr>
            <a:r>
              <a:rPr sz="1875" b="0">
                <a:solidFill>
                  <a:srgbClr val="172C40"/>
                </a:solidFill>
                <a:latin typeface="Yu Gothic"/>
                <a:ea typeface="Yu Gothic"/>
                <a:cs typeface="Yu Gothic"/>
              </a:rPr>
              <a:t>1  「観察用シーンを読み込む」</a:t>
            </a:r>
          </a:p>
          <a:p xmlns:a="http://schemas.openxmlformats.org/drawingml/2006/main">
            <a:pPr algn="l">
              <a:defRPr sz="187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pPr>
            <a:r>
              <a:rPr sz="1875" b="0">
                <a:solidFill>
                  <a:srgbClr val="172C40"/>
                </a:solidFill>
                <a:latin typeface="Yu Gothic"/>
                <a:ea typeface="Yu Gothic"/>
                <a:cs typeface="Yu Gothic"/>
              </a:rPr>
              <a:t>新しい停止場面を作成：</a:t>
            </a:r>
          </a:p>
          <a:p xmlns:a="http://schemas.openxmlformats.org/drawingml/2006/main">
            <a:pPr algn="l">
              <a:defRPr sz="187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pPr>
            <a:r>
              <a:rPr sz="1875" b="0">
                <a:solidFill>
                  <a:srgbClr val="172C40"/>
                </a:solidFill>
                <a:latin typeface="Yu Gothic"/>
                <a:ea typeface="Yu Gothic"/>
                <a:cs typeface="Yu Gothic"/>
              </a:rPr>
              <a:t>Player × 1、Enemy × 3、Bullet × 2。</a:t>
            </a:r>
          </a:p>
        </p:txBody>
      </p:sp>
      <p:sp>
        <p:nvSpPr>
          <p:cNvPr id="5" name="2  B01 と B02 を順に選び、&#10;owner を確認。どちらも同じ player を&#10;参照し、自機はコピーされません。">
            <a:extLst xmlns:a="http://schemas.openxmlformats.org/drawingml/2006/main">
              <a:ext uri="{FF2B5EF4-FFF2-40B4-BE49-F238E27FC236}">
                <a16:creationId xmlns:a16="http://schemas.microsoft.com/office/drawing/2014/main" id="{81B5FB6A-9B7C-4BB9-AEC6-8646EE4A9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371850"/>
            <a:ext cx="5000625" cy="1362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87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87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87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87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87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87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87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87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87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pPr>
            <a:r>
              <a:rPr sz="1875" b="0">
                <a:solidFill>
                  <a:srgbClr val="172C40"/>
                </a:solidFill>
                <a:latin typeface="Yu Gothic"/>
                <a:ea typeface="Yu Gothic"/>
                <a:cs typeface="Yu Gothic"/>
              </a:rPr>
              <a:t>2  B01 と B02 を順に選び、</a:t>
            </a:r>
          </a:p>
          <a:p xmlns:a="http://schemas.openxmlformats.org/drawingml/2006/main">
            <a:pPr algn="l">
              <a:defRPr sz="187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pPr>
            <a:r>
              <a:rPr sz="1875" b="0">
                <a:solidFill>
                  <a:srgbClr val="172C40"/>
                </a:solidFill>
                <a:latin typeface="Yu Gothic"/>
                <a:ea typeface="Yu Gothic"/>
                <a:cs typeface="Yu Gothic"/>
              </a:rPr>
              <a:t>owner を確認。どちらも同じ player を</a:t>
            </a:r>
          </a:p>
          <a:p xmlns:a="http://schemas.openxmlformats.org/drawingml/2006/main">
            <a:pPr algn="l">
              <a:defRPr sz="187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pPr>
            <a:r>
              <a:rPr sz="1875" b="0">
                <a:solidFill>
                  <a:srgbClr val="172C40"/>
                </a:solidFill>
                <a:latin typeface="Yu Gothic"/>
                <a:ea typeface="Yu Gothic"/>
                <a:cs typeface="Yu Gothic"/>
              </a:rPr>
              <a:t>参照し、自機はコピーされません。</a:t>
            </a:r>
          </a:p>
        </p:txBody>
      </p:sp>
      <p:sp>
        <p:nvSpPr>
          <p:cNvPr id="6" name="3  N を 1 回押して座標を確認：&#10;B01.y：490.0 → 479.7&#10;1/60 秒進み、自動発射はありません。">
            <a:extLst xmlns:a="http://schemas.openxmlformats.org/drawingml/2006/main">
              <a:ext uri="{FF2B5EF4-FFF2-40B4-BE49-F238E27FC236}">
                <a16:creationId xmlns:a16="http://schemas.microsoft.com/office/drawing/2014/main" id="{B3DC1B3A-DC06-4549-84C7-293B636DD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867275"/>
            <a:ext cx="5000625" cy="1362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87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87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87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87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87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87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87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87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87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pPr>
            <a:r>
              <a:rPr sz="1875" b="0">
                <a:solidFill>
                  <a:srgbClr val="172C40"/>
                </a:solidFill>
                <a:latin typeface="Yu Gothic"/>
                <a:ea typeface="Yu Gothic"/>
                <a:cs typeface="Yu Gothic"/>
              </a:rPr>
              <a:t>3  N を 1 回押して座標を確認：</a:t>
            </a:r>
          </a:p>
          <a:p xmlns:a="http://schemas.openxmlformats.org/drawingml/2006/main">
            <a:pPr algn="l">
              <a:defRPr sz="187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pPr>
            <a:r>
              <a:rPr sz="1875" b="0">
                <a:solidFill>
                  <a:srgbClr val="172C40"/>
                </a:solidFill>
                <a:latin typeface="Yu Gothic"/>
                <a:ea typeface="Yu Gothic"/>
                <a:cs typeface="Yu Gothic"/>
              </a:rPr>
              <a:t>B01.y：490.0 → 479.7</a:t>
            </a:r>
          </a:p>
          <a:p xmlns:a="http://schemas.openxmlformats.org/drawingml/2006/main">
            <a:pPr algn="l">
              <a:defRPr sz="187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pPr>
            <a:r>
              <a:rPr sz="1875" b="0">
                <a:solidFill>
                  <a:srgbClr val="172C40"/>
                </a:solidFill>
                <a:latin typeface="Yu Gothic"/>
                <a:ea typeface="Yu Gothic"/>
                <a:cs typeface="Yu Gothic"/>
              </a:rPr>
              <a:t>1/60 秒進み、自動発射はありません。</a:t>
            </a:r>
          </a:p>
        </p:txBody>
      </p:sp>
      <p:sp>
        <p:nvSpPr>
          <p:cNvPr id="7" name="33">
            <a:extLst xmlns:a="http://schemas.openxmlformats.org/drawingml/2006/main">
              <a:ext uri="{FF2B5EF4-FFF2-40B4-BE49-F238E27FC236}">
                <a16:creationId xmlns:a16="http://schemas.microsoft.com/office/drawing/2014/main" id="{7122E29F-A955-4124-90A2-70AAF2C2D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505575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200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200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200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200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200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200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200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200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200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pPr>
            <a:r>
              <a:rPr sz="1200" b="0">
                <a:solidFill>
                  <a:srgbClr val="5B7082"/>
                </a:solidFill>
                <a:latin typeface="Yu Gothic"/>
                <a:ea typeface="Yu Gothic"/>
                <a:cs typeface="Yu Gothic"/>
              </a:rPr>
              <a:t>33</a:t>
            </a:r>
          </a:p>
        </p:txBody>
      </p:sp>
    </p:spTree>
    <p:extLst>
      <p:ext uri="{BB962C8B-B14F-4D97-AF65-F5344CB8AC3E}">
        <p14:creationId xmlns:p14="http://schemas.microsoft.com/office/powerpoint/2010/main" val="153389480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2026-10-21T01:27:24.9680000Z</dcterms:created>
  <dcterms:modified xsi:type="dcterms:W3CDTF">2026-10-21T01:27:24.9680000Z</dcterms:modified>
</coreProperties>
</file>