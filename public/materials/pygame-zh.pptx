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d7b6fc8ee44915" /><Relationship Type="http://schemas.openxmlformats.org/officeDocument/2006/relationships/extended-properties" Target="/docProps/app.xml" Id="R8db30557f56f4e91" /><Relationship Type="http://schemas.openxmlformats.org/officeDocument/2006/relationships/officeDocument" Target="/ppt/presentation.xml" Id="R6d3ff4e329704e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6dbb43425a4747"/>
  </p:sldMasterIdLst>
  <p:notesMasterIdLst>
    <p:notesMasterId xmlns:r="http://schemas.openxmlformats.org/officeDocument/2006/relationships" r:id="R04404d99e8a4449e"/>
  </p:notesMasterIdLst>
  <p:sldIdLst>
    <p:sldId xmlns:r="http://schemas.openxmlformats.org/officeDocument/2006/relationships" id="256" r:id="Rfabe5842a7594b14"/>
    <p:sldId xmlns:r="http://schemas.openxmlformats.org/officeDocument/2006/relationships" id="257" r:id="R329c64c2522441f4"/>
    <p:sldId xmlns:r="http://schemas.openxmlformats.org/officeDocument/2006/relationships" id="258" r:id="R2588fc098b374511"/>
    <p:sldId xmlns:r="http://schemas.openxmlformats.org/officeDocument/2006/relationships" id="259" r:id="R37411029d28e4c8c"/>
    <p:sldId xmlns:r="http://schemas.openxmlformats.org/officeDocument/2006/relationships" id="260" r:id="R5e9d85e7fd3c4c28"/>
    <p:sldId xmlns:r="http://schemas.openxmlformats.org/officeDocument/2006/relationships" id="261" r:id="Rb616a6d5d6154f6f"/>
    <p:sldId xmlns:r="http://schemas.openxmlformats.org/officeDocument/2006/relationships" id="262" r:id="R720ec0213e8c46c2"/>
    <p:sldId xmlns:r="http://schemas.openxmlformats.org/officeDocument/2006/relationships" id="263" r:id="R36aa6af65d0348ec"/>
    <p:sldId xmlns:r="http://schemas.openxmlformats.org/officeDocument/2006/relationships" id="264" r:id="R4561683d3f1543d2"/>
    <p:sldId xmlns:r="http://schemas.openxmlformats.org/officeDocument/2006/relationships" id="265" r:id="Rc7f83b27aecf4cfa"/>
    <p:sldId xmlns:r="http://schemas.openxmlformats.org/officeDocument/2006/relationships" id="266" r:id="R3554b1f08e034499"/>
    <p:sldId xmlns:r="http://schemas.openxmlformats.org/officeDocument/2006/relationships" id="267" r:id="R134fdbea335f4829"/>
    <p:sldId xmlns:r="http://schemas.openxmlformats.org/officeDocument/2006/relationships" id="268" r:id="Rba755bd66942494f"/>
    <p:sldId xmlns:r="http://schemas.openxmlformats.org/officeDocument/2006/relationships" id="269" r:id="Rdd6886d6825347b1"/>
    <p:sldId xmlns:r="http://schemas.openxmlformats.org/officeDocument/2006/relationships" id="270" r:id="Rddf21d25ae944651"/>
    <p:sldId xmlns:r="http://schemas.openxmlformats.org/officeDocument/2006/relationships" id="271" r:id="Rfc216384326644f7"/>
    <p:sldId xmlns:r="http://schemas.openxmlformats.org/officeDocument/2006/relationships" id="272" r:id="R22d8afcad5384fd5"/>
    <p:sldId xmlns:r="http://schemas.openxmlformats.org/officeDocument/2006/relationships" id="273" r:id="Re4171265131c4843"/>
    <p:sldId xmlns:r="http://schemas.openxmlformats.org/officeDocument/2006/relationships" id="274" r:id="R7dc314825d4a4cd0"/>
    <p:sldId xmlns:r="http://schemas.openxmlformats.org/officeDocument/2006/relationships" id="275" r:id="R26d27f09e8264f0e"/>
    <p:sldId xmlns:r="http://schemas.openxmlformats.org/officeDocument/2006/relationships" id="276" r:id="R1f1d8b6b613d4930"/>
    <p:sldId xmlns:r="http://schemas.openxmlformats.org/officeDocument/2006/relationships" id="277" r:id="R2ccf99465f6a4a5a"/>
    <p:sldId xmlns:r="http://schemas.openxmlformats.org/officeDocument/2006/relationships" id="278" r:id="Ra379e4b39cc84278"/>
    <p:sldId xmlns:r="http://schemas.openxmlformats.org/officeDocument/2006/relationships" id="279" r:id="R86ea9c3486d7468c"/>
    <p:sldId xmlns:r="http://schemas.openxmlformats.org/officeDocument/2006/relationships" id="280" r:id="R8fbf62a853ba4191"/>
    <p:sldId xmlns:r="http://schemas.openxmlformats.org/officeDocument/2006/relationships" id="281" r:id="R0b244de3d3b740ca"/>
    <p:sldId xmlns:r="http://schemas.openxmlformats.org/officeDocument/2006/relationships" id="282" r:id="R7365aa165d0e4af9"/>
    <p:sldId xmlns:r="http://schemas.openxmlformats.org/officeDocument/2006/relationships" id="283" r:id="Rabcd6b549d31436d"/>
    <p:sldId xmlns:r="http://schemas.openxmlformats.org/officeDocument/2006/relationships" id="284" r:id="Rbc688bd0c380416c"/>
    <p:sldId xmlns:r="http://schemas.openxmlformats.org/officeDocument/2006/relationships" id="285" r:id="Rffdfc1aa440b4670"/>
    <p:sldId xmlns:r="http://schemas.openxmlformats.org/officeDocument/2006/relationships" id="286" r:id="Rdc8f06feb07a41cf"/>
    <p:sldId xmlns:r="http://schemas.openxmlformats.org/officeDocument/2006/relationships" id="287" r:id="R441f1c89ad0b48e7"/>
    <p:sldId xmlns:r="http://schemas.openxmlformats.org/officeDocument/2006/relationships" id="288" r:id="R497c8a73bda84d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1e8c5042504750" /><Relationship Type="http://schemas.openxmlformats.org/officeDocument/2006/relationships/slideMaster" Target="/ppt/slideMasters/slideMaster1.xml" Id="R276dbb43425a4747" /><Relationship Type="http://schemas.openxmlformats.org/officeDocument/2006/relationships/notesMaster" Target="/ppt/notesMasters/notesMaster1.xml" Id="R04404d99e8a4449e" /><Relationship Type="http://schemas.openxmlformats.org/officeDocument/2006/relationships/presProps" Target="/ppt/presProps.xml" Id="Refdd7dad71074008" /><Relationship Type="http://schemas.openxmlformats.org/officeDocument/2006/relationships/tableStyles" Target="/ppt/tableStyles.xml" Id="Rbdce03bdbb754c46" /><Relationship Type="http://schemas.openxmlformats.org/officeDocument/2006/relationships/slide" Target="/ppt/slides/slide1.xml" Id="Rfabe5842a7594b14" /><Relationship Type="http://schemas.openxmlformats.org/officeDocument/2006/relationships/slide" Target="/ppt/slides/slide2.xml" Id="R329c64c2522441f4" /><Relationship Type="http://schemas.openxmlformats.org/officeDocument/2006/relationships/slide" Target="/ppt/slides/slide3.xml" Id="R2588fc098b374511" /><Relationship Type="http://schemas.openxmlformats.org/officeDocument/2006/relationships/slide" Target="/ppt/slides/slide4.xml" Id="R37411029d28e4c8c" /><Relationship Type="http://schemas.openxmlformats.org/officeDocument/2006/relationships/slide" Target="/ppt/slides/slide5.xml" Id="R5e9d85e7fd3c4c28" /><Relationship Type="http://schemas.openxmlformats.org/officeDocument/2006/relationships/slide" Target="/ppt/slides/slide6.xml" Id="Rb616a6d5d6154f6f" /><Relationship Type="http://schemas.openxmlformats.org/officeDocument/2006/relationships/slide" Target="/ppt/slides/slide7.xml" Id="R720ec0213e8c46c2" /><Relationship Type="http://schemas.openxmlformats.org/officeDocument/2006/relationships/slide" Target="/ppt/slides/slide8.xml" Id="R36aa6af65d0348ec" /><Relationship Type="http://schemas.openxmlformats.org/officeDocument/2006/relationships/slide" Target="/ppt/slides/slide9.xml" Id="R4561683d3f1543d2" /><Relationship Type="http://schemas.openxmlformats.org/officeDocument/2006/relationships/slide" Target="/ppt/slides/slide10.xml" Id="Rc7f83b27aecf4cfa" /><Relationship Type="http://schemas.openxmlformats.org/officeDocument/2006/relationships/slide" Target="/ppt/slides/slide11.xml" Id="R3554b1f08e034499" /><Relationship Type="http://schemas.openxmlformats.org/officeDocument/2006/relationships/slide" Target="/ppt/slides/slide12.xml" Id="R134fdbea335f4829" /><Relationship Type="http://schemas.openxmlformats.org/officeDocument/2006/relationships/slide" Target="/ppt/slides/slide13.xml" Id="Rba755bd66942494f" /><Relationship Type="http://schemas.openxmlformats.org/officeDocument/2006/relationships/slide" Target="/ppt/slides/slide14.xml" Id="Rdd6886d6825347b1" /><Relationship Type="http://schemas.openxmlformats.org/officeDocument/2006/relationships/slide" Target="/ppt/slides/slide15.xml" Id="Rddf21d25ae944651" /><Relationship Type="http://schemas.openxmlformats.org/officeDocument/2006/relationships/slide" Target="/ppt/slides/slide16.xml" Id="Rfc216384326644f7" /><Relationship Type="http://schemas.openxmlformats.org/officeDocument/2006/relationships/slide" Target="/ppt/slides/slide17.xml" Id="R22d8afcad5384fd5" /><Relationship Type="http://schemas.openxmlformats.org/officeDocument/2006/relationships/slide" Target="/ppt/slides/slide18.xml" Id="Re4171265131c4843" /><Relationship Type="http://schemas.openxmlformats.org/officeDocument/2006/relationships/slide" Target="/ppt/slides/slide19.xml" Id="R7dc314825d4a4cd0" /><Relationship Type="http://schemas.openxmlformats.org/officeDocument/2006/relationships/slide" Target="/ppt/slides/slide20.xml" Id="R26d27f09e8264f0e" /><Relationship Type="http://schemas.openxmlformats.org/officeDocument/2006/relationships/slide" Target="/ppt/slides/slide21.xml" Id="R1f1d8b6b613d4930" /><Relationship Type="http://schemas.openxmlformats.org/officeDocument/2006/relationships/slide" Target="/ppt/slides/slide22.xml" Id="R2ccf99465f6a4a5a" /><Relationship Type="http://schemas.openxmlformats.org/officeDocument/2006/relationships/slide" Target="/ppt/slides/slide23.xml" Id="Ra379e4b39cc84278" /><Relationship Type="http://schemas.openxmlformats.org/officeDocument/2006/relationships/slide" Target="/ppt/slides/slide24.xml" Id="R86ea9c3486d7468c" /><Relationship Type="http://schemas.openxmlformats.org/officeDocument/2006/relationships/slide" Target="/ppt/slides/slide25.xml" Id="R8fbf62a853ba4191" /><Relationship Type="http://schemas.openxmlformats.org/officeDocument/2006/relationships/slide" Target="/ppt/slides/slide26.xml" Id="R0b244de3d3b740ca" /><Relationship Type="http://schemas.openxmlformats.org/officeDocument/2006/relationships/slide" Target="/ppt/slides/slide27.xml" Id="R7365aa165d0e4af9" /><Relationship Type="http://schemas.openxmlformats.org/officeDocument/2006/relationships/slide" Target="/ppt/slides/slide28.xml" Id="Rabcd6b549d31436d" /><Relationship Type="http://schemas.openxmlformats.org/officeDocument/2006/relationships/slide" Target="/ppt/slides/slide29.xml" Id="Rbc688bd0c380416c" /><Relationship Type="http://schemas.openxmlformats.org/officeDocument/2006/relationships/slide" Target="/ppt/slides/slide30.xml" Id="Rffdfc1aa440b4670" /><Relationship Type="http://schemas.openxmlformats.org/officeDocument/2006/relationships/slide" Target="/ppt/slides/slide31.xml" Id="Rdc8f06feb07a41cf" /><Relationship Type="http://schemas.openxmlformats.org/officeDocument/2006/relationships/slide" Target="/ppt/slides/slide32.xml" Id="R441f1c89ad0b48e7" /><Relationship Type="http://schemas.openxmlformats.org/officeDocument/2006/relationships/slide" Target="/ppt/slides/slide33.xml" Id="R497c8a73bda84d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189afb0601f49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422d65b2114541" /><Relationship Type="http://schemas.openxmlformats.org/officeDocument/2006/relationships/notesMaster" Target="/ppt/notesMasters/notesMaster1.xml" Id="R8d93fe20d2cd4d3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6a3df485ad4a65" /><Relationship Type="http://schemas.openxmlformats.org/officeDocument/2006/relationships/notesMaster" Target="/ppt/notesMasters/notesMaster1.xml" Id="R9063a8f478d7425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44adcb507134db0" /><Relationship Type="http://schemas.openxmlformats.org/officeDocument/2006/relationships/notesMaster" Target="/ppt/notesMasters/notesMaster1.xml" Id="R0d5a4f2dc2fe40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ee3b2aafab49b0" /><Relationship Type="http://schemas.openxmlformats.org/officeDocument/2006/relationships/notesMaster" Target="/ppt/notesMasters/notesMaster1.xml" Id="Rf042699a598148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77807606cdd4c74" /><Relationship Type="http://schemas.openxmlformats.org/officeDocument/2006/relationships/notesMaster" Target="/ppt/notesMasters/notesMaster1.xml" Id="R2736ee9ee3c942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a9e3bda9374db4" /><Relationship Type="http://schemas.openxmlformats.org/officeDocument/2006/relationships/notesMaster" Target="/ppt/notesMasters/notesMaster1.xml" Id="Rf6b9bc3072cf4f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10d55ced8874328" /><Relationship Type="http://schemas.openxmlformats.org/officeDocument/2006/relationships/notesMaster" Target="/ppt/notesMasters/notesMaster1.xml" Id="R7adfb93232f84ca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d0c6fad1824ca4" /><Relationship Type="http://schemas.openxmlformats.org/officeDocument/2006/relationships/notesMaster" Target="/ppt/notesMasters/notesMaster1.xml" Id="R9e8d6e8285e4480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d0e56a9c5574d02" /><Relationship Type="http://schemas.openxmlformats.org/officeDocument/2006/relationships/notesMaster" Target="/ppt/notesMasters/notesMaster1.xml" Id="Rd397cb08181540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87df9f31c1c4faf" /><Relationship Type="http://schemas.openxmlformats.org/officeDocument/2006/relationships/notesMaster" Target="/ppt/notesMasters/notesMaster1.xml" Id="R2092f04584a7450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9f30ad2cf16435c" /><Relationship Type="http://schemas.openxmlformats.org/officeDocument/2006/relationships/notesMaster" Target="/ppt/notesMasters/notesMaster1.xml" Id="R8c4baa9750e0490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cfbb8f8cdd4c27" /><Relationship Type="http://schemas.openxmlformats.org/officeDocument/2006/relationships/notesMaster" Target="/ppt/notesMasters/notesMaster1.xml" Id="R83c8d162cb5c478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2f35535658e4474" /><Relationship Type="http://schemas.openxmlformats.org/officeDocument/2006/relationships/notesMaster" Target="/ppt/notesMasters/notesMaster1.xml" Id="Rff5ba38771ad446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59175be6b4041b9" /><Relationship Type="http://schemas.openxmlformats.org/officeDocument/2006/relationships/notesMaster" Target="/ppt/notesMasters/notesMaster1.xml" Id="Rf28538a0f93243c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ec72d522dba4cdf" /><Relationship Type="http://schemas.openxmlformats.org/officeDocument/2006/relationships/notesMaster" Target="/ppt/notesMasters/notesMaster1.xml" Id="R3ae9a9958ed5420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34dbb7824d74a1c" /><Relationship Type="http://schemas.openxmlformats.org/officeDocument/2006/relationships/notesMaster" Target="/ppt/notesMasters/notesMaster1.xml" Id="R6e244422c495490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54d4809d5b94093" /><Relationship Type="http://schemas.openxmlformats.org/officeDocument/2006/relationships/notesMaster" Target="/ppt/notesMasters/notesMaster1.xml" Id="R461e197c96ba472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b1733b6a0b0484a" /><Relationship Type="http://schemas.openxmlformats.org/officeDocument/2006/relationships/notesMaster" Target="/ppt/notesMasters/notesMaster1.xml" Id="Rc8644d77700949b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308a727899443df" /><Relationship Type="http://schemas.openxmlformats.org/officeDocument/2006/relationships/notesMaster" Target="/ppt/notesMasters/notesMaster1.xml" Id="Ra417dea78504455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389ff0b74c745b0" /><Relationship Type="http://schemas.openxmlformats.org/officeDocument/2006/relationships/notesMaster" Target="/ppt/notesMasters/notesMaster1.xml" Id="R983cc8351f4e45f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d37f55bf8c74e98" /><Relationship Type="http://schemas.openxmlformats.org/officeDocument/2006/relationships/notesMaster" Target="/ppt/notesMasters/notesMaster1.xml" Id="Re56b79019a42449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17be9c659f747bb" /><Relationship Type="http://schemas.openxmlformats.org/officeDocument/2006/relationships/notesMaster" Target="/ppt/notesMasters/notesMaster1.xml" Id="R187d2e380a6e473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b0abfb9f0544842" /><Relationship Type="http://schemas.openxmlformats.org/officeDocument/2006/relationships/notesMaster" Target="/ppt/notesMasters/notesMaster1.xml" Id="Rf9982b3183eb422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d8162f1ec9b481f" /><Relationship Type="http://schemas.openxmlformats.org/officeDocument/2006/relationships/notesMaster" Target="/ppt/notesMasters/notesMaster1.xml" Id="R336610c989f24ff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5304ecca80844ea" /><Relationship Type="http://schemas.openxmlformats.org/officeDocument/2006/relationships/notesMaster" Target="/ppt/notesMasters/notesMaster1.xml" Id="R54b86dd4c1ec4eb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ff17ecb0cbe45f0" /><Relationship Type="http://schemas.openxmlformats.org/officeDocument/2006/relationships/notesMaster" Target="/ppt/notesMasters/notesMaster1.xml" Id="R3ac425b08e454e89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b0cfd79df884c5b" /><Relationship Type="http://schemas.openxmlformats.org/officeDocument/2006/relationships/notesMaster" Target="/ppt/notesMasters/notesMaster1.xml" Id="Rbed5daafeb974a7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1a48fff3d0a343ea" /><Relationship Type="http://schemas.openxmlformats.org/officeDocument/2006/relationships/notesMaster" Target="/ppt/notesMasters/notesMaster1.xml" Id="R8a683eb25b49484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57ad9b958164741" /><Relationship Type="http://schemas.openxmlformats.org/officeDocument/2006/relationships/notesMaster" Target="/ppt/notesMasters/notesMaster1.xml" Id="R9770fd598c264e4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e8dd1b5199443a6" /><Relationship Type="http://schemas.openxmlformats.org/officeDocument/2006/relationships/notesMaster" Target="/ppt/notesMasters/notesMaster1.xml" Id="Rb19eb33fd7574fad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50220877ce94c7a" /><Relationship Type="http://schemas.openxmlformats.org/officeDocument/2006/relationships/notesMaster" Target="/ppt/notesMasters/notesMaster1.xml" Id="Rb378545f08644eb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34aa00a96814e8c" /><Relationship Type="http://schemas.openxmlformats.org/officeDocument/2006/relationships/notesMaster" Target="/ppt/notesMasters/notesMaster1.xml" Id="Rebdd199b8b5f43f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9eaa2ff7a2a4810" /><Relationship Type="http://schemas.openxmlformats.org/officeDocument/2006/relationships/notesMaster" Target="/ppt/notesMasters/notesMaster1.xml" Id="R1faa0e08b551425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https://www.pygame.org/docs/ref/sprite.html</a:t>
            </a:r>
          </a:p>
          <a:p xmlns:a="http://schemas.openxmlformats.org/drawingml/2006/main">
            <a:r>
              <a:t>https://www.pygame.org/docs/ref/time.html</a:t>
            </a:r>
          </a:p>
          <a:p xmlns:a="http://schemas.openxmlformats.org/drawingml/2006/main">
            <a:r>
              <a:t>https://docs.python.org/3.12/reference/datamodel.html</a:t>
            </a:r>
          </a:p>
          <a:p xmlns:a="http://schemas.openxmlformats.org/drawingml/2006/main">
            <a:r>
              <a:t>https://www.omg.org/spec/UML/2.5.1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https://minhuangyuntech.github.io/oo2026/pygame/play/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https://minhuangyuntech.github.io/oo2026/pygame/play/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>https://minhuangyuntech.github.io/oo2026/pygame/play/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0e36fe36e14b4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3ad54e0e0c428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3c84a67d35483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ffa16772d345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3b9158b906466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bbdfa11edd498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44F0483-ED7C-4C58-A25C-664AD9A7A8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B7DC432-0FB4-40D2-859A-4E7CF3121AF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7C3338A-3096-4015-B87A-919919F7E62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50334DD-3746-46C4-AEF3-AF5627385D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1DBB564-FEA5-47BF-99FF-794981724E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EFF732B-AD66-4826-BE49-3D35A619BD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9BAA9E7-192C-43CC-ACCE-288E07C9E8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69814E90-973B-4A8D-92E3-E0266078AC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06DDB88-55FD-499D-80AD-24DDE6DF30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FC781B-B74B-49B6-BC08-E96365233D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22ec205e6bf433f" /><Relationship Type="http://schemas.openxmlformats.org/officeDocument/2006/relationships/slideLayout" Target="/ppt/slideLayouts/slideLayout1.xml" Id="Rae98a6068a734415" /><Relationship Type="http://schemas.openxmlformats.org/officeDocument/2006/relationships/slideLayout" Target="/ppt/slideLayouts/slideLayout2.xml" Id="R6e5e691a9423453e" /><Relationship Type="http://schemas.openxmlformats.org/officeDocument/2006/relationships/slideLayout" Target="/ppt/slideLayouts/slideLayout3.xml" Id="R0723076b5849444d" /><Relationship Type="http://schemas.openxmlformats.org/officeDocument/2006/relationships/slideLayout" Target="/ppt/slideLayouts/slideLayout4.xml" Id="Rdb73332fd2694df5" /><Relationship Type="http://schemas.openxmlformats.org/officeDocument/2006/relationships/slideLayout" Target="/ppt/slideLayouts/slideLayout5.xml" Id="R6b4d41827b4647da" /><Relationship Type="http://schemas.openxmlformats.org/officeDocument/2006/relationships/slideLayout" Target="/ppt/slideLayouts/slideLayout6.xml" Id="Ref98420ff82b424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e98a6068a734415"/>
    <p:sldLayoutId xmlns:r="http://schemas.openxmlformats.org/officeDocument/2006/relationships" id="2147483650" r:id="R6e5e691a9423453e"/>
    <p:sldLayoutId xmlns:r="http://schemas.openxmlformats.org/officeDocument/2006/relationships" id="2147483651" r:id="R0723076b5849444d"/>
    <p:sldLayoutId xmlns:r="http://schemas.openxmlformats.org/officeDocument/2006/relationships" id="2147483652" r:id="Rdb73332fd2694df5"/>
    <p:sldLayoutId xmlns:r="http://schemas.openxmlformats.org/officeDocument/2006/relationships" id="2147483653" r:id="R6b4d41827b4647da"/>
    <p:sldLayoutId xmlns:r="http://schemas.openxmlformats.org/officeDocument/2006/relationships" id="2147483654" r:id="Ref98420ff82b424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26436725244a42" /><Relationship Type="http://schemas.openxmlformats.org/officeDocument/2006/relationships/notesSlide" Target="/ppt/notesSlides/notesSlide1.xml" Id="Rd85ca15e76de4e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f702e53b5bc4309" /><Relationship Type="http://schemas.openxmlformats.org/officeDocument/2006/relationships/image" Target="/ppt/media/image.png" Id="R26e1a8ad9a404294" /><Relationship Type="http://schemas.openxmlformats.org/officeDocument/2006/relationships/notesSlide" Target="/ppt/notesSlides/notesSlide2.xml" Id="R3afdbc08a32743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c5bdc8411d4cf7" /><Relationship Type="http://schemas.openxmlformats.org/officeDocument/2006/relationships/notesSlide" Target="/ppt/notesSlides/notesSlide3.xml" Id="R58277cef84af48b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3dca6c84cfe4ce4" /><Relationship Type="http://schemas.openxmlformats.org/officeDocument/2006/relationships/notesSlide" Target="/ppt/notesSlides/notesSlide4.xml" Id="R2544333881a6455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139228c6d424251" /><Relationship Type="http://schemas.openxmlformats.org/officeDocument/2006/relationships/notesSlide" Target="/ppt/notesSlides/notesSlide5.xml" Id="R73cee69368b9481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f145ca12cc43fb" /><Relationship Type="http://schemas.openxmlformats.org/officeDocument/2006/relationships/notesSlide" Target="/ppt/notesSlides/notesSlide6.xml" Id="Rc658e82350054f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7a9191fe92490b" /><Relationship Type="http://schemas.openxmlformats.org/officeDocument/2006/relationships/notesSlide" Target="/ppt/notesSlides/notesSlide7.xml" Id="R0b5cbaf70675447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3fea59fb304ce4" /><Relationship Type="http://schemas.openxmlformats.org/officeDocument/2006/relationships/notesSlide" Target="/ppt/notesSlides/notesSlide8.xml" Id="Raed51bd5360d464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3ec264fce65411f" /><Relationship Type="http://schemas.openxmlformats.org/officeDocument/2006/relationships/notesSlide" Target="/ppt/notesSlides/notesSlide9.xml" Id="R0cd10c42c58a447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5f5d679ccb43a3" /><Relationship Type="http://schemas.openxmlformats.org/officeDocument/2006/relationships/notesSlide" Target="/ppt/notesSlides/notesSlide10.xml" Id="Ra024e744fef140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10cf87f0114657" /><Relationship Type="http://schemas.openxmlformats.org/officeDocument/2006/relationships/notesSlide" Target="/ppt/notesSlides/notesSlide11.xml" Id="R7fac43ce9fe7409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8df941ae0741fd" /><Relationship Type="http://schemas.openxmlformats.org/officeDocument/2006/relationships/notesSlide" Target="/ppt/notesSlides/notesSlide12.xml" Id="R0326867a5c87475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f5b8bea78942c5" /><Relationship Type="http://schemas.openxmlformats.org/officeDocument/2006/relationships/notesSlide" Target="/ppt/notesSlides/notesSlide13.xml" Id="R5ee973155be1428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4f4ae7afab4de2" /><Relationship Type="http://schemas.openxmlformats.org/officeDocument/2006/relationships/notesSlide" Target="/ppt/notesSlides/notesSlide14.xml" Id="R02801ede80414b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8cd6a88c8c4c5d" /><Relationship Type="http://schemas.openxmlformats.org/officeDocument/2006/relationships/notesSlide" Target="/ppt/notesSlides/notesSlide15.xml" Id="R7002196842cf400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218827f836444e" /><Relationship Type="http://schemas.openxmlformats.org/officeDocument/2006/relationships/notesSlide" Target="/ppt/notesSlides/notesSlide16.xml" Id="Re98e583cd82543d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a36fcf7e734470" /><Relationship Type="http://schemas.openxmlformats.org/officeDocument/2006/relationships/notesSlide" Target="/ppt/notesSlides/notesSlide17.xml" Id="R1a290f989d05452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f17e0525c64db4" /><Relationship Type="http://schemas.openxmlformats.org/officeDocument/2006/relationships/notesSlide" Target="/ppt/notesSlides/notesSlide18.xml" Id="R3acf5df3dc05488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ce9e50a18b4cde" /><Relationship Type="http://schemas.openxmlformats.org/officeDocument/2006/relationships/notesSlide" Target="/ppt/notesSlides/notesSlide19.xml" Id="R706e1e91451748a0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ad1163bb8b4d97" /><Relationship Type="http://schemas.openxmlformats.org/officeDocument/2006/relationships/notesSlide" Target="/ppt/notesSlides/notesSlide20.xml" Id="R51f0ad98caa74ae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87f9a097514158" /><Relationship Type="http://schemas.openxmlformats.org/officeDocument/2006/relationships/notesSlide" Target="/ppt/notesSlides/notesSlide21.xml" Id="Rdae4c2a7c1504aa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8c025c7e8c4d45" /><Relationship Type="http://schemas.openxmlformats.org/officeDocument/2006/relationships/notesSlide" Target="/ppt/notesSlides/notesSlide22.xml" Id="Rea6b6d4ad791462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ef1fccf4704074" /><Relationship Type="http://schemas.openxmlformats.org/officeDocument/2006/relationships/notesSlide" Target="/ppt/notesSlides/notesSlide23.xml" Id="Rf7b157c3155f4c7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7797a11650c40d1" /><Relationship Type="http://schemas.openxmlformats.org/officeDocument/2006/relationships/notesSlide" Target="/ppt/notesSlides/notesSlide24.xml" Id="R22916f60a1cf4e1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5de8c9b48d4f32" /><Relationship Type="http://schemas.openxmlformats.org/officeDocument/2006/relationships/notesSlide" Target="/ppt/notesSlides/notesSlide25.xml" Id="R5547268dc1354dc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836f62deb474a56" /><Relationship Type="http://schemas.openxmlformats.org/officeDocument/2006/relationships/notesSlide" Target="/ppt/notesSlides/notesSlide26.xml" Id="Rb6aa1a483675470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49bea41b684331" /><Relationship Type="http://schemas.openxmlformats.org/officeDocument/2006/relationships/notesSlide" Target="/ppt/notesSlides/notesSlide27.xml" Id="R234e01dae9e9489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9319028f15d4b64" /><Relationship Type="http://schemas.openxmlformats.org/officeDocument/2006/relationships/notesSlide" Target="/ppt/notesSlides/notesSlide28.xml" Id="Rb4aef694872c43e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8ae10315f0146d9" /><Relationship Type="http://schemas.openxmlformats.org/officeDocument/2006/relationships/notesSlide" Target="/ppt/notesSlides/notesSlide29.xml" Id="Rdac975c280004d8d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75ad2367114a04" /><Relationship Type="http://schemas.openxmlformats.org/officeDocument/2006/relationships/hyperlink" Target="https://www.pygame.org/docs/ref/sprite.html" TargetMode="External" Id="Re7eabacc39e14550" /><Relationship Type="http://schemas.openxmlformats.org/officeDocument/2006/relationships/hyperlink" Target="https://www.pygame.org/docs/ref/time.html" TargetMode="External" Id="R2e149f9ffd9043ef" /><Relationship Type="http://schemas.openxmlformats.org/officeDocument/2006/relationships/hyperlink" Target="https://docs.python.org/3.12/reference/datamodel.html" TargetMode="External" Id="R841b164e7694490c" /><Relationship Type="http://schemas.openxmlformats.org/officeDocument/2006/relationships/hyperlink" Target="https://www.omg.org/spec/UML/2.5.1" TargetMode="External" Id="R884bd6b9ce1d4808" /><Relationship Type="http://schemas.openxmlformats.org/officeDocument/2006/relationships/hyperlink" Target="https://minhuangyuntech.github.io/oo2026/pygame/" TargetMode="External" Id="Rf72334a349cc4959" /><Relationship Type="http://schemas.openxmlformats.org/officeDocument/2006/relationships/notesSlide" Target="/ppt/notesSlides/notesSlide30.xml" Id="R4914971ce1194872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efeda62d9248c3" /><Relationship Type="http://schemas.openxmlformats.org/officeDocument/2006/relationships/hyperlink" Target="https://minhuangyuntech.github.io/oo2026/pygame/play/" TargetMode="External" Id="Rd29c7707a7944707" /><Relationship Type="http://schemas.openxmlformats.org/officeDocument/2006/relationships/hyperlink" Target="https://minhuangyuntech.github.io/oo2026/pygame/play/" TargetMode="External" Id="R57b45e9c14bd4815" /><Relationship Type="http://schemas.openxmlformats.org/officeDocument/2006/relationships/notesSlide" Target="/ppt/notesSlides/notesSlide31.xml" Id="R8ba9c88aa2b540e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f2df0bd64ff4870" /><Relationship Type="http://schemas.openxmlformats.org/officeDocument/2006/relationships/notesSlide" Target="/ppt/notesSlides/notesSlide32.xml" Id="R108f4cab086743b1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53f1814b7340ea" /><Relationship Type="http://schemas.openxmlformats.org/officeDocument/2006/relationships/image" Target="/ppt/media/image.jpeg" Id="Raee9594acd194dbc" /><Relationship Type="http://schemas.openxmlformats.org/officeDocument/2006/relationships/notesSlide" Target="/ppt/notesSlides/notesSlide33.xml" Id="Re80dca631a4a45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YTHON OOP  /  PYGAME">
            <a:extLst xmlns:a="http://schemas.openxmlformats.org/drawingml/2006/main">
              <a:ext uri="{FF2B5EF4-FFF2-40B4-BE49-F238E27FC236}">
                <a16:creationId xmlns:a16="http://schemas.microsoft.com/office/drawing/2014/main" id="{6A61D5CB-4451-4E00-8BC4-473F58E3E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PYTHON OOP  /  PYGAME</a:t>
            </a:r>
          </a:p>
        </p:txBody>
      </p:sp>
      <p:sp>
        <p:nvSpPr>
          <p:cNvPr id="2" name="用射擊遊戲理解物件">
            <a:extLst xmlns:a="http://schemas.openxmlformats.org/drawingml/2006/main">
              <a:ext uri="{FF2B5EF4-FFF2-40B4-BE49-F238E27FC236}">
                <a16:creationId xmlns:a16="http://schemas.microsoft.com/office/drawing/2014/main" id="{99150FA9-FEA2-41D8-86C1-1B7E1A6C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1809750"/>
            <a:ext cx="11001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用射擊遊戲理解物件</a:t>
            </a:r>
          </a:p>
        </p:txBody>
      </p:sp>
      <p:sp>
        <p:nvSpPr>
          <p:cNvPr id="3" name="Pygame · 類別、參照與互動">
            <a:extLst xmlns:a="http://schemas.openxmlformats.org/drawingml/2006/main">
              <a:ext uri="{FF2B5EF4-FFF2-40B4-BE49-F238E27FC236}">
                <a16:creationId xmlns:a16="http://schemas.microsoft.com/office/drawing/2014/main" id="{50FA9E15-08DA-4875-A1D5-F8D0EB97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85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Pygame · 類別、參照與互動</a:t>
            </a:r>
          </a:p>
        </p:txBody>
      </p:sp>
      <p:sp>
        <p:nvSpPr>
          <p:cNvPr id="4" name="同一份遊戲，三種語言，五個核心類別。 從畫面出發，讀懂物件如何合作。">
            <a:extLst xmlns:a="http://schemas.openxmlformats.org/drawingml/2006/main">
              <a:ext uri="{FF2B5EF4-FFF2-40B4-BE49-F238E27FC236}">
                <a16:creationId xmlns:a16="http://schemas.microsoft.com/office/drawing/2014/main" id="{627F76AB-D8E4-4217-8748-AB0F77D8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572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同一份遊戲，三種語言，五個核心類別。</a:t>
            </a:r>
          </a:p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從畫面出發，讀懂物件如何合作。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78BEB4F1-4A6E-4BF8-9321-120E4A48B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769626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畫面上的每個角色，都是物件">
            <a:extLst xmlns:a="http://schemas.openxmlformats.org/drawingml/2006/main">
              <a:ext uri="{FF2B5EF4-FFF2-40B4-BE49-F238E27FC236}">
                <a16:creationId xmlns:a16="http://schemas.microsoft.com/office/drawing/2014/main" id="{35CAF383-843F-4C04-AA1B-7E62F5BE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畫面上的每個角色，都是物件</a:t>
            </a:r>
          </a:p>
        </p:txBody>
      </p:sp>
      <p:sp>
        <p:nvSpPr>
          <p:cNvPr id="2" name="觀察標籤、狀態與右側的參照關係">
            <a:extLst xmlns:a="http://schemas.openxmlformats.org/drawingml/2006/main">
              <a:ext uri="{FF2B5EF4-FFF2-40B4-BE49-F238E27FC236}">
                <a16:creationId xmlns:a16="http://schemas.microsoft.com/office/drawing/2014/main" id="{3296E406-EC1C-4394-AE0A-E3C71641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觀察標籤、狀態與右側的參照關係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9C89C-501A-4C42-9DB6-61644F420C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e1a8ad9a404294"/>
          <a:stretch xmlns:a="http://schemas.openxmlformats.org/drawingml/2006/main"/>
        </p:blipFill>
        <p:spPr>
          <a:xfrm xmlns:a="http://schemas.openxmlformats.org/drawingml/2006/main">
            <a:off x="571500" y="1743075"/>
            <a:ext cx="6858000" cy="4572000"/>
          </a:xfrm>
          <a:prstGeom xmlns:a="http://schemas.openxmlformats.org/drawingml/2006/main" prst="rect">
            <a:avLst/>
          </a:prstGeom>
        </p:spPr>
      </p:pic>
      <p:sp>
        <p:nvSpPr>
          <p:cNvPr id="4" name="綠色 Player 是玩家；紅色與紫色 Enemy 是不同實體。">
            <a:extLst xmlns:a="http://schemas.openxmlformats.org/drawingml/2006/main">
              <a:ext uri="{FF2B5EF4-FFF2-40B4-BE49-F238E27FC236}">
                <a16:creationId xmlns:a16="http://schemas.microsoft.com/office/drawing/2014/main" id="{2123DE17-B1A6-49B0-9801-FFE158D20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00275"/>
            <a:ext cx="3667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綠色 Player 是玩家；紅色與紫色 Enemy 是不同實體。</a:t>
            </a:r>
          </a:p>
        </p:txBody>
      </p:sp>
      <p:sp>
        <p:nvSpPr>
          <p:cNvPr id="5" name="黃色 Bullet 持有 owner；右側顯示即時物件數量。">
            <a:extLst xmlns:a="http://schemas.openxmlformats.org/drawingml/2006/main">
              <a:ext uri="{FF2B5EF4-FFF2-40B4-BE49-F238E27FC236}">
                <a16:creationId xmlns:a16="http://schemas.microsoft.com/office/drawing/2014/main" id="{66440A83-D10A-4ACD-9776-7FABD6CC0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143375"/>
            <a:ext cx="3667125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黃色 Bullet 持有 owner；右側顯示即時物件數量。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7BD47881-5410-432E-84AD-EEBE781D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4500540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安裝與啟動：Windows">
            <a:extLst xmlns:a="http://schemas.openxmlformats.org/drawingml/2006/main">
              <a:ext uri="{FF2B5EF4-FFF2-40B4-BE49-F238E27FC236}">
                <a16:creationId xmlns:a16="http://schemas.microsoft.com/office/drawing/2014/main" id="{4117C8B8-BF27-47DD-BB71-83A72B45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安裝與啟動：Windows</a:t>
            </a:r>
          </a:p>
        </p:txBody>
      </p:sp>
      <p:sp>
        <p:nvSpPr>
          <p:cNvPr id="2" name="解壓縮範例後，在專案資料夾開啟 PowerShell">
            <a:extLst xmlns:a="http://schemas.openxmlformats.org/drawingml/2006/main">
              <a:ext uri="{FF2B5EF4-FFF2-40B4-BE49-F238E27FC236}">
                <a16:creationId xmlns:a16="http://schemas.microsoft.com/office/drawing/2014/main" id="{A0EDF3FD-EB10-4EB0-9AB6-7EAB370EB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解壓縮範例後，在專案資料夾開啟 PowerShell</a:t>
            </a:r>
          </a:p>
        </p:txBody>
      </p:sp>
      <p:sp>
        <p:nvSpPr>
          <p:cNvPr id="3" name="py -3.12 -m venv .venv">
            <a:extLst xmlns:a="http://schemas.openxmlformats.org/drawingml/2006/main">
              <a:ext uri="{FF2B5EF4-FFF2-40B4-BE49-F238E27FC236}">
                <a16:creationId xmlns:a16="http://schemas.microsoft.com/office/drawing/2014/main" id="{3CB71915-C005-442D-A96E-F5E04A80C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 -3.12 -m venv .venv</a:t>
            </a:r>
          </a:p>
        </p:txBody>
      </p:sp>
      <p:sp>
        <p:nvSpPr>
          <p:cNvPr id="4" name=".\.venv\Scripts\python.exe -m pip install -r requirements.txt">
            <a:extLst xmlns:a="http://schemas.openxmlformats.org/drawingml/2006/main">
              <a:ext uri="{FF2B5EF4-FFF2-40B4-BE49-F238E27FC236}">
                <a16:creationId xmlns:a16="http://schemas.microsoft.com/office/drawing/2014/main" id="{07C780ED-6DA4-4DC2-B6EF-586CE8EF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-m pip install -r requirements.txt</a:t>
            </a:r>
          </a:p>
        </p:txBody>
      </p:sp>
      <p:sp>
        <p:nvSpPr>
          <p:cNvPr id="5" name=".\.venv\Scripts\python.exe main.py --lang zh">
            <a:extLst xmlns:a="http://schemas.openxmlformats.org/drawingml/2006/main">
              <a:ext uri="{FF2B5EF4-FFF2-40B4-BE49-F238E27FC236}">
                <a16:creationId xmlns:a16="http://schemas.microsoft.com/office/drawing/2014/main" id="{086EE7C5-9857-429A-A742-DC225CAC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main.py --lang zh</a:t>
            </a:r>
          </a:p>
        </p:txBody>
      </p:sp>
      <p:sp>
        <p:nvSpPr>
          <p:cNvPr id="6" name="建議使用 Python 3.12；requirements.txt 固定 pygame==2.6.1。">
            <a:extLst xmlns:a="http://schemas.openxmlformats.org/drawingml/2006/main">
              <a:ext uri="{FF2B5EF4-FFF2-40B4-BE49-F238E27FC236}">
                <a16:creationId xmlns:a16="http://schemas.microsoft.com/office/drawing/2014/main" id="{FD79A455-5C9D-43D0-A66C-02C69AECE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建議使用 Python 3.12；requirements.txt 固定 pygame==2.6.1。</a:t>
            </a:r>
          </a:p>
        </p:txBody>
      </p:sp>
      <p:sp>
        <p:nvSpPr>
          <p:cNvPr id="7" name="直接呼叫環境中的 Python，不需要啟用腳本。">
            <a:extLst xmlns:a="http://schemas.openxmlformats.org/drawingml/2006/main">
              <a:ext uri="{FF2B5EF4-FFF2-40B4-BE49-F238E27FC236}">
                <a16:creationId xmlns:a16="http://schemas.microsoft.com/office/drawing/2014/main" id="{AF2B56C7-609B-4317-B096-CFDBB4F56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直接呼叫環境中的 Python，不需要啟用腳本。</a:t>
            </a:r>
          </a:p>
        </p:txBody>
      </p:sp>
      <p:sp>
        <p:nvSpPr>
          <p:cNvPr id="8" name="PowerShell">
            <a:extLst xmlns:a="http://schemas.openxmlformats.org/drawingml/2006/main">
              <a:ext uri="{FF2B5EF4-FFF2-40B4-BE49-F238E27FC236}">
                <a16:creationId xmlns:a16="http://schemas.microsoft.com/office/drawing/2014/main" id="{95ABDB94-0BE2-4835-B6FA-20481F0D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PowerShell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FFB273CF-E21E-42AE-AEA0-4E19DC4E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721861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安裝與啟動：macOS / Linux">
            <a:extLst xmlns:a="http://schemas.openxmlformats.org/drawingml/2006/main">
              <a:ext uri="{FF2B5EF4-FFF2-40B4-BE49-F238E27FC236}">
                <a16:creationId xmlns:a16="http://schemas.microsoft.com/office/drawing/2014/main" id="{CCE49F82-EA27-49CA-BD06-FDE3A592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安裝與啟動：macOS / Linux</a:t>
            </a:r>
          </a:p>
        </p:txBody>
      </p:sp>
      <p:sp>
        <p:nvSpPr>
          <p:cNvPr id="2" name="在專案資料夾開啟終端機；使用本機圖形桌面">
            <a:extLst xmlns:a="http://schemas.openxmlformats.org/drawingml/2006/main">
              <a:ext uri="{FF2B5EF4-FFF2-40B4-BE49-F238E27FC236}">
                <a16:creationId xmlns:a16="http://schemas.microsoft.com/office/drawing/2014/main" id="{C9F69DF6-30C2-4E49-A241-61FE244F0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在專案資料夾開啟終端機；使用本機圖形桌面</a:t>
            </a:r>
          </a:p>
        </p:txBody>
      </p:sp>
      <p:sp>
        <p:nvSpPr>
          <p:cNvPr id="3" name="python3 -m venv .venv">
            <a:extLst xmlns:a="http://schemas.openxmlformats.org/drawingml/2006/main">
              <a:ext uri="{FF2B5EF4-FFF2-40B4-BE49-F238E27FC236}">
                <a16:creationId xmlns:a16="http://schemas.microsoft.com/office/drawing/2014/main" id="{A6166E05-C8E0-4095-87D4-EAD4F7AF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python3 -m venv .venv</a:t>
            </a:r>
          </a:p>
        </p:txBody>
      </p:sp>
      <p:sp>
        <p:nvSpPr>
          <p:cNvPr id="4" name=".venv/bin/python -m pip install -r requirements.txt">
            <a:extLst xmlns:a="http://schemas.openxmlformats.org/drawingml/2006/main">
              <a:ext uri="{FF2B5EF4-FFF2-40B4-BE49-F238E27FC236}">
                <a16:creationId xmlns:a16="http://schemas.microsoft.com/office/drawing/2014/main" id="{90EF20E3-E0C6-442C-B478-F8B11C7A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-m pip install -r requirements.txt</a:t>
            </a:r>
          </a:p>
        </p:txBody>
      </p:sp>
      <p:sp>
        <p:nvSpPr>
          <p:cNvPr id="5" name=".venv/bin/python main.py --lang zh">
            <a:extLst xmlns:a="http://schemas.openxmlformats.org/drawingml/2006/main">
              <a:ext uri="{FF2B5EF4-FFF2-40B4-BE49-F238E27FC236}">
                <a16:creationId xmlns:a16="http://schemas.microsoft.com/office/drawing/2014/main" id="{4CA740DA-86A4-4065-8526-EF1F3C0DA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main.py --lang zh</a:t>
            </a:r>
          </a:p>
        </p:txBody>
      </p:sp>
      <p:sp>
        <p:nvSpPr>
          <p:cNvPr id="6" name="--lang 可選 zh、en、ja；三種語言使用相同遊戲規則。">
            <a:extLst xmlns:a="http://schemas.openxmlformats.org/drawingml/2006/main">
              <a:ext uri="{FF2B5EF4-FFF2-40B4-BE49-F238E27FC236}">
                <a16:creationId xmlns:a16="http://schemas.microsoft.com/office/drawing/2014/main" id="{9AF1D4E8-4DC8-4E78-A76D-85CB53C6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--lang 可選 zh、en、ja；三種語言使用相同遊戲規則。</a:t>
            </a:r>
          </a:p>
        </p:txBody>
      </p:sp>
      <p:sp>
        <p:nvSpPr>
          <p:cNvPr id="7" name="缺少中文字型時，可安裝系統的 Noto Sans CJK 字型。">
            <a:extLst xmlns:a="http://schemas.openxmlformats.org/drawingml/2006/main">
              <a:ext uri="{FF2B5EF4-FFF2-40B4-BE49-F238E27FC236}">
                <a16:creationId xmlns:a16="http://schemas.microsoft.com/office/drawing/2014/main" id="{22D07CDB-F035-4EC6-9E9B-3C401052E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缺少中文字型時，可安裝系統的 Noto Sans CJK 字型。</a:t>
            </a:r>
          </a:p>
        </p:txBody>
      </p:sp>
      <p:sp>
        <p:nvSpPr>
          <p:cNvPr id="8" name="Terminal">
            <a:extLst xmlns:a="http://schemas.openxmlformats.org/drawingml/2006/main">
              <a:ext uri="{FF2B5EF4-FFF2-40B4-BE49-F238E27FC236}">
                <a16:creationId xmlns:a16="http://schemas.microsoft.com/office/drawing/2014/main" id="{0E254852-C89B-4A47-B181-E2FE0B47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Terminal</a:t>
            </a:r>
          </a:p>
        </p:txBody>
      </p:sp>
      <p:sp>
        <p:nvSpPr>
          <p:cNvPr id="9" name="04">
            <a:extLst xmlns:a="http://schemas.openxmlformats.org/drawingml/2006/main">
              <a:ext uri="{FF2B5EF4-FFF2-40B4-BE49-F238E27FC236}">
                <a16:creationId xmlns:a16="http://schemas.microsoft.com/office/drawing/2014/main" id="{F3D7FB42-C725-4E9E-B699-653C1B41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704351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先玩一局，再觀察物件">
            <a:extLst xmlns:a="http://schemas.openxmlformats.org/drawingml/2006/main">
              <a:ext uri="{FF2B5EF4-FFF2-40B4-BE49-F238E27FC236}">
                <a16:creationId xmlns:a16="http://schemas.microsoft.com/office/drawing/2014/main" id="{EB690A1C-07DD-427B-B34C-936A0BEB2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先玩一局，再觀察物件</a:t>
            </a:r>
          </a:p>
        </p:txBody>
      </p:sp>
      <p:sp>
        <p:nvSpPr>
          <p:cNvPr id="2" name="擊破敵人 +10 分；200 分勝利；生命從 3 開始">
            <a:extLst xmlns:a="http://schemas.openxmlformats.org/drawingml/2006/main">
              <a:ext uri="{FF2B5EF4-FFF2-40B4-BE49-F238E27FC236}">
                <a16:creationId xmlns:a16="http://schemas.microsoft.com/office/drawing/2014/main" id="{B191CEC0-6231-4506-8A90-0E2E40CDA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擊破敵人 +10 分；200 分勝利；生命從 3 開始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88FF56-8E4A-4F32-8690-6FBE06B9EE3A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功能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Enter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方向鍵 / WASD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Space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射擊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 / 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暫停／暫停時前進一影格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Tab / R / Esc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標籤／重設回待機／離開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敵人碰到玩家或越過底線會觸發受傷；無敵時間內不重複扣血。">
            <a:extLst xmlns:a="http://schemas.openxmlformats.org/drawingml/2006/main">
              <a:ext uri="{FF2B5EF4-FFF2-40B4-BE49-F238E27FC236}">
                <a16:creationId xmlns:a16="http://schemas.microsoft.com/office/drawing/2014/main" id="{12DAE803-1FF2-4310-BE74-890C4D78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198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敵人碰到玩家或越過底線會觸發受傷；無敵時間內不重複扣血。</a:t>
            </a:r>
          </a:p>
        </p:txBody>
      </p:sp>
      <p:sp>
        <p:nvSpPr>
          <p:cNvPr id="5" name="05">
            <a:extLst xmlns:a="http://schemas.openxmlformats.org/drawingml/2006/main">
              <a:ext uri="{FF2B5EF4-FFF2-40B4-BE49-F238E27FC236}">
                <a16:creationId xmlns:a16="http://schemas.microsoft.com/office/drawing/2014/main" id="{E8EB99B0-9AA9-434A-B51E-AC710C2E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972730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五個類別，各有一份責任">
            <a:extLst xmlns:a="http://schemas.openxmlformats.org/drawingml/2006/main">
              <a:ext uri="{FF2B5EF4-FFF2-40B4-BE49-F238E27FC236}">
                <a16:creationId xmlns:a16="http://schemas.microsoft.com/office/drawing/2014/main" id="{1F06C86B-CF68-4345-9C8C-05A6233F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五個類別，各有一份責任</a:t>
            </a:r>
          </a:p>
        </p:txBody>
      </p:sp>
      <p:sp>
        <p:nvSpPr>
          <p:cNvPr id="2" name="讓角色處理自己，讓 Game 協調彼此">
            <a:extLst xmlns:a="http://schemas.openxmlformats.org/drawingml/2006/main">
              <a:ext uri="{FF2B5EF4-FFF2-40B4-BE49-F238E27FC236}">
                <a16:creationId xmlns:a16="http://schemas.microsoft.com/office/drawing/2014/main" id="{775AA745-FC38-4DD3-89A3-14533C7D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讓角色處理自己，讓 Game 協調彼此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A2A506-BE4B-4A55-B671-206D3AEB478E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809750"/>
                <a:gridCol w="3905250"/>
                <a:gridCol w="53340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類別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狀態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主要責任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Actor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pos、velocity、image、rect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共同的移動與外觀資料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Player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hp、cooldown、invulnerable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輸入方向、射擊、受傷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Enemy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hp、max_hp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下降、受擊與死亡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Bullet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owner、damage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前進、離開畫面後移除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Game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score、state、群組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生成、碰撞、勝敗與主迴圈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72D9DDC7-D8C8-4631-9A9F-BAEE7A75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167092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一個類別，可以建立多個物件">
            <a:extLst xmlns:a="http://schemas.openxmlformats.org/drawingml/2006/main">
              <a:ext uri="{FF2B5EF4-FFF2-40B4-BE49-F238E27FC236}">
                <a16:creationId xmlns:a16="http://schemas.microsoft.com/office/drawing/2014/main" id="{486E5D5B-2054-43E0-8A89-3EC4BE6A5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一個類別，可以建立多個物件</a:t>
            </a:r>
          </a:p>
        </p:txBody>
      </p:sp>
      <p:sp>
        <p:nvSpPr>
          <p:cNvPr id="2" name="類別定義共同規則；實體保存各自狀態">
            <a:extLst xmlns:a="http://schemas.openxmlformats.org/drawingml/2006/main">
              <a:ext uri="{FF2B5EF4-FFF2-40B4-BE49-F238E27FC236}">
                <a16:creationId xmlns:a16="http://schemas.microsoft.com/office/drawing/2014/main" id="{CDCBA903-193E-4A10-86DD-02689AF8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類別定義共同規則；實體保存各自狀態</a:t>
            </a:r>
          </a:p>
        </p:txBody>
      </p:sp>
      <p:sp>
        <p:nvSpPr>
          <p:cNvPr id="3" name="e1 = Enemy(&quot;E01&quot;, (180, 180), hp=1)">
            <a:extLst xmlns:a="http://schemas.openxmlformats.org/drawingml/2006/main">
              <a:ext uri="{FF2B5EF4-FFF2-40B4-BE49-F238E27FC236}">
                <a16:creationId xmlns:a16="http://schemas.microsoft.com/office/drawing/2014/main" id="{532DC988-E2F4-4553-A41A-BE4CCB0D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e1 = Enemy("E01", (180, 180), hp=1)</a:t>
            </a:r>
          </a:p>
        </p:txBody>
      </p:sp>
      <p:sp>
        <p:nvSpPr>
          <p:cNvPr id="4" name="e2 = Enemy(&quot;E02&quot;, (395, 235), hp=2)">
            <a:extLst xmlns:a="http://schemas.openxmlformats.org/drawingml/2006/main">
              <a:ext uri="{FF2B5EF4-FFF2-40B4-BE49-F238E27FC236}">
                <a16:creationId xmlns:a16="http://schemas.microsoft.com/office/drawing/2014/main" id="{51CF808B-FAA8-49D8-9528-105182B8E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e2 = Enemy("E02", (395, 235), hp=2)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9765A2-1EE7-459D-9CB6-84723A70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print(e1 is e2)                 # False">
            <a:extLst xmlns:a="http://schemas.openxmlformats.org/drawingml/2006/main">
              <a:ext uri="{FF2B5EF4-FFF2-40B4-BE49-F238E27FC236}">
                <a16:creationId xmlns:a16="http://schemas.microsoft.com/office/drawing/2014/main" id="{68A275D5-7260-4040-894F-83E126F0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print(e1 is e2)                 # False</a:t>
            </a:r>
          </a:p>
        </p:txBody>
      </p:sp>
      <p:sp>
        <p:nvSpPr>
          <p:cNvPr id="7" name="print(isinstance(e2, Enemy))    # True">
            <a:extLst xmlns:a="http://schemas.openxmlformats.org/drawingml/2006/main">
              <a:ext uri="{FF2B5EF4-FFF2-40B4-BE49-F238E27FC236}">
                <a16:creationId xmlns:a16="http://schemas.microsoft.com/office/drawing/2014/main" id="{DE327997-0800-474B-AC47-D19F90EA1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print(isinstance(e2, Enemy))    # True</a:t>
            </a:r>
          </a:p>
        </p:txBody>
      </p:sp>
      <p:sp>
        <p:nvSpPr>
          <p:cNvPr id="8" name="e1.take_hit(1)">
            <a:extLst xmlns:a="http://schemas.openxmlformats.org/drawingml/2006/main">
              <a:ext uri="{FF2B5EF4-FFF2-40B4-BE49-F238E27FC236}">
                <a16:creationId xmlns:a16="http://schemas.microsoft.com/office/drawing/2014/main" id="{2515F24B-7522-4472-BCED-AB9AD6F54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e1.take_hit(1)</a:t>
            </a:r>
          </a:p>
        </p:txBody>
      </p:sp>
      <p:sp>
        <p:nvSpPr>
          <p:cNvPr id="9" name="print(e1.hp, e2.hp)             # 0 2">
            <a:extLst xmlns:a="http://schemas.openxmlformats.org/drawingml/2006/main">
              <a:ext uri="{FF2B5EF4-FFF2-40B4-BE49-F238E27FC236}">
                <a16:creationId xmlns:a16="http://schemas.microsoft.com/office/drawing/2014/main" id="{F9C464A1-A687-4BFA-B44C-F778813D1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print(e1.hp, e2.hp)             # 0 2</a:t>
            </a:r>
          </a:p>
        </p:txBody>
      </p:sp>
      <p:sp>
        <p:nvSpPr>
          <p:cNvPr id="10" name="e1 與 e2 都是 Enemy，但身分與 hp 不同。">
            <a:extLst xmlns:a="http://schemas.openxmlformats.org/drawingml/2006/main">
              <a:ext uri="{FF2B5EF4-FFF2-40B4-BE49-F238E27FC236}">
                <a16:creationId xmlns:a16="http://schemas.microsoft.com/office/drawing/2014/main" id="{86FE7923-E246-483B-9DA5-D8921CFC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e1 與 e2 都是 Enemy，但身分與 hp 不同。</a:t>
            </a:r>
          </a:p>
        </p:txBody>
      </p:sp>
      <p:sp>
        <p:nvSpPr>
          <p:cNvPr id="11" name="e1.take_hit(1) 不會扣掉 e2 的 hp。">
            <a:extLst xmlns:a="http://schemas.openxmlformats.org/drawingml/2006/main">
              <a:ext uri="{FF2B5EF4-FFF2-40B4-BE49-F238E27FC236}">
                <a16:creationId xmlns:a16="http://schemas.microsoft.com/office/drawing/2014/main" id="{4B5A1C0B-9C76-4742-8DDA-94DDCC074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e1.take_hit(1) 不會扣掉 e2 的 hp。</a:t>
            </a:r>
          </a:p>
        </p:txBody>
      </p:sp>
      <p:sp>
        <p:nvSpPr>
          <p:cNvPr id="12" name="actors.py · Enemy">
            <a:extLst xmlns:a="http://schemas.openxmlformats.org/drawingml/2006/main">
              <a:ext uri="{FF2B5EF4-FFF2-40B4-BE49-F238E27FC236}">
                <a16:creationId xmlns:a16="http://schemas.microsoft.com/office/drawing/2014/main" id="{F588EB41-F11B-4041-879C-A59DD691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Enemy</a:t>
            </a:r>
          </a:p>
        </p:txBody>
      </p:sp>
      <p:sp>
        <p:nvSpPr>
          <p:cNvPr id="13" name="07">
            <a:extLst xmlns:a="http://schemas.openxmlformats.org/drawingml/2006/main">
              <a:ext uri="{FF2B5EF4-FFF2-40B4-BE49-F238E27FC236}">
                <a16:creationId xmlns:a16="http://schemas.microsoft.com/office/drawing/2014/main" id="{FB500221-B0A2-4A29-8172-DC6CB317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40410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先讀懂 UML 的三種記號">
            <a:extLst xmlns:a="http://schemas.openxmlformats.org/drawingml/2006/main">
              <a:ext uri="{FF2B5EF4-FFF2-40B4-BE49-F238E27FC236}">
                <a16:creationId xmlns:a16="http://schemas.microsoft.com/office/drawing/2014/main" id="{0426A920-8BFC-4DC3-92C8-2A463C14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先讀懂 UML 的三種記號</a:t>
            </a:r>
          </a:p>
        </p:txBody>
      </p:sp>
      <p:sp>
        <p:nvSpPr>
          <p:cNvPr id="2" name="類別圖描述結構；物件圖描述某一刻的實體">
            <a:extLst xmlns:a="http://schemas.openxmlformats.org/drawingml/2006/main">
              <a:ext uri="{FF2B5EF4-FFF2-40B4-BE49-F238E27FC236}">
                <a16:creationId xmlns:a16="http://schemas.microsoft.com/office/drawing/2014/main" id="{328CEBEB-959E-4D9C-A9EE-C5AD388D8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類別圖描述結構；物件圖描述某一刻的實體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77457942-1D49-40CC-95B7-9D0F94171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類別方框：上層類別名稱，中層屬性，下層方法。">
            <a:extLst xmlns:a="http://schemas.openxmlformats.org/drawingml/2006/main">
              <a:ext uri="{FF2B5EF4-FFF2-40B4-BE49-F238E27FC236}">
                <a16:creationId xmlns:a16="http://schemas.microsoft.com/office/drawing/2014/main" id="{BC2EF00F-9CAA-4FF0-BB02-B14F2740A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類別方框：上層類別名稱，中層屬性，下層方法。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8A656EC5-8A7A-443A-8158-5E8EA1700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空心三角形指向父類別；實線箭頭表示可導覽的關聯。">
            <a:extLst xmlns:a="http://schemas.openxmlformats.org/drawingml/2006/main">
              <a:ext uri="{FF2B5EF4-FFF2-40B4-BE49-F238E27FC236}">
                <a16:creationId xmlns:a16="http://schemas.microsoft.com/office/drawing/2014/main" id="{87105C43-0851-41B8-A06D-2D8B950A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空心三角形指向父類別；實線箭頭表示可導覽的關聯。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376894C0-9B1D-495E-B235-A20D78513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1 是一個；0..* 是零到多個。物件名稱以 name : Class 表示並加底線。">
            <a:extLst xmlns:a="http://schemas.openxmlformats.org/drawingml/2006/main">
              <a:ext uri="{FF2B5EF4-FFF2-40B4-BE49-F238E27FC236}">
                <a16:creationId xmlns:a16="http://schemas.microsoft.com/office/drawing/2014/main" id="{E304F264-F77E-43E7-A898-88E7333A3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1 是一個；0..* 是零到多個。物件名稱以 name : Class 表示並加底線。</a:t>
            </a:r>
          </a:p>
        </p:txBody>
      </p:sp>
      <p:sp>
        <p:nvSpPr>
          <p:cNvPr id="9" name="08">
            <a:extLst xmlns:a="http://schemas.openxmlformats.org/drawingml/2006/main">
              <a:ext uri="{FF2B5EF4-FFF2-40B4-BE49-F238E27FC236}">
                <a16:creationId xmlns:a16="http://schemas.microsoft.com/office/drawing/2014/main" id="{FF88A0A3-3D98-478F-9590-5D9E8E18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540006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類別圖：三種角色都是 Actor">
            <a:extLst xmlns:a="http://schemas.openxmlformats.org/drawingml/2006/main">
              <a:ext uri="{FF2B5EF4-FFF2-40B4-BE49-F238E27FC236}">
                <a16:creationId xmlns:a16="http://schemas.microsoft.com/office/drawing/2014/main" id="{FAA01D76-5DF7-4695-8591-FE9CFA699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類別圖：三種角色都是 Actor</a:t>
            </a:r>
          </a:p>
        </p:txBody>
      </p:sp>
      <p:sp>
        <p:nvSpPr>
          <p:cNvPr id="2" name="共用移動機制，再加入各自的行為">
            <a:extLst xmlns:a="http://schemas.openxmlformats.org/drawingml/2006/main">
              <a:ext uri="{FF2B5EF4-FFF2-40B4-BE49-F238E27FC236}">
                <a16:creationId xmlns:a16="http://schemas.microsoft.com/office/drawing/2014/main" id="{5D5F1376-7EF8-46E1-8615-A99E26637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共用移動機制，再加入各自的行為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CA882B-96A5-4A72-9954-EEC650CD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666875"/>
            <a:ext cx="2952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4" name="pygame.sprite.Sprite">
            <a:extLst xmlns:a="http://schemas.openxmlformats.org/drawingml/2006/main">
              <a:ext uri="{FF2B5EF4-FFF2-40B4-BE49-F238E27FC236}">
                <a16:creationId xmlns:a16="http://schemas.microsoft.com/office/drawing/2014/main" id="{FE89DB3D-C836-4C23-A5D0-82C355F0E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1752600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pygame.sprite.Sprite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1BE6E-42D4-4639-826F-C49B4732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581275"/>
            <a:ext cx="428625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6" name="Actor">
            <a:extLst xmlns:a="http://schemas.openxmlformats.org/drawingml/2006/main">
              <a:ext uri="{FF2B5EF4-FFF2-40B4-BE49-F238E27FC236}">
                <a16:creationId xmlns:a16="http://schemas.microsoft.com/office/drawing/2014/main" id="{0B6358DF-3ADF-443A-BBF8-288653BA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2667000"/>
            <a:ext cx="3981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Actor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5E595F-DBC4-47B5-B583-57F3AB1B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52875" y="3038475"/>
            <a:ext cx="4286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name, pos, velocity, image, rect">
            <a:extLst xmlns:a="http://schemas.openxmlformats.org/drawingml/2006/main">
              <a:ext uri="{FF2B5EF4-FFF2-40B4-BE49-F238E27FC236}">
                <a16:creationId xmlns:a16="http://schemas.microsoft.com/office/drawing/2014/main" id="{1514253E-4E82-4BA9-8D2E-0E536049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133725"/>
            <a:ext cx="4000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name, pos, velocity, image, 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0C01F6-1554-4873-B65F-02295E500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952875" y="3409950"/>
            <a:ext cx="4286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0" name="update(dt)">
            <a:extLst xmlns:a="http://schemas.openxmlformats.org/drawingml/2006/main">
              <a:ext uri="{FF2B5EF4-FFF2-40B4-BE49-F238E27FC236}">
                <a16:creationId xmlns:a16="http://schemas.microsoft.com/office/drawing/2014/main" id="{D1BD8C13-80E9-4458-A873-00C24E8B4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3495675"/>
            <a:ext cx="4000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update(dt)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D65698-52EB-4891-9C21-EBDD7616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2" name="Player">
            <a:extLst xmlns:a="http://schemas.openxmlformats.org/drawingml/2006/main">
              <a:ext uri="{FF2B5EF4-FFF2-40B4-BE49-F238E27FC236}">
                <a16:creationId xmlns:a16="http://schemas.microsoft.com/office/drawing/2014/main" id="{14F7B9E1-4396-4750-9354-FA181F7AC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3E0B7B-7009-411F-A15E-B7ABFEF0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4" name="hp, cooldown, invulnerable">
            <a:extLst xmlns:a="http://schemas.openxmlformats.org/drawingml/2006/main">
              <a:ext uri="{FF2B5EF4-FFF2-40B4-BE49-F238E27FC236}">
                <a16:creationId xmlns:a16="http://schemas.microsoft.com/office/drawing/2014/main" id="{2C8E5272-CEC8-4201-AC60-D316B2F1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hp, cooldown, invulnerable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CE8D0E-98A1-4A94-AC15-8D74BA31B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6" name="shoot(name), take_damage() set_direction(x, y), update(dt)">
            <a:extLst xmlns:a="http://schemas.openxmlformats.org/drawingml/2006/main">
              <a:ext uri="{FF2B5EF4-FFF2-40B4-BE49-F238E27FC236}">
                <a16:creationId xmlns:a16="http://schemas.microsoft.com/office/drawing/2014/main" id="{A1926CFA-1193-4719-A13D-232863F03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shoot(name), take_damage()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set_direction(x, y), update(dt)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FCCEBE-277F-40C8-9A8A-967FEFE17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18" name="Enemy">
            <a:extLst xmlns:a="http://schemas.openxmlformats.org/drawingml/2006/main">
              <a:ext uri="{FF2B5EF4-FFF2-40B4-BE49-F238E27FC236}">
                <a16:creationId xmlns:a16="http://schemas.microsoft.com/office/drawing/2014/main" id="{A2E92924-87FC-451E-B4AE-28049E19D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rPr>
              <a:t>Enemy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8147D0-4992-41AC-A02F-790A1ADE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0055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0" name="hp, max_hp">
            <a:extLst xmlns:a="http://schemas.openxmlformats.org/drawingml/2006/main">
              <a:ext uri="{FF2B5EF4-FFF2-40B4-BE49-F238E27FC236}">
                <a16:creationId xmlns:a16="http://schemas.microsoft.com/office/drawing/2014/main" id="{F5D59B53-FC66-46E3-B862-3DE31D3A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hp, max_hp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DBEE62-7689-484E-A925-A42D400AE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0055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2" name="take_hit(damage)">
            <a:extLst xmlns:a="http://schemas.openxmlformats.org/drawingml/2006/main">
              <a:ext uri="{FF2B5EF4-FFF2-40B4-BE49-F238E27FC236}">
                <a16:creationId xmlns:a16="http://schemas.microsoft.com/office/drawing/2014/main" id="{A9EC1266-E72E-4D92-BFF9-7E31636B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take_hit(damage)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177748-5899-4B9A-A22D-981E90E7C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524375"/>
            <a:ext cx="33813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24" name="Bullet">
            <a:extLst xmlns:a="http://schemas.openxmlformats.org/drawingml/2006/main">
              <a:ext uri="{FF2B5EF4-FFF2-40B4-BE49-F238E27FC236}">
                <a16:creationId xmlns:a16="http://schemas.microsoft.com/office/drawing/2014/main" id="{1E98AE0E-64C8-4CAF-AA4A-2F5E6D504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10100"/>
            <a:ext cx="3076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rPr>
              <a:t>Bullet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73F83B-FA4A-4926-B21B-13868DB03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4981575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6" name="owner, damage">
            <a:extLst xmlns:a="http://schemas.openxmlformats.org/drawingml/2006/main">
              <a:ext uri="{FF2B5EF4-FFF2-40B4-BE49-F238E27FC236}">
                <a16:creationId xmlns:a16="http://schemas.microsoft.com/office/drawing/2014/main" id="{F774C794-600B-4E2B-97AA-6080B4DE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76825"/>
            <a:ext cx="3095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owner, damage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5F88F7-5F0D-4A43-AE05-171DFE5A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229600" y="5353050"/>
            <a:ext cx="3381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8" name="update(dt)">
            <a:extLst xmlns:a="http://schemas.openxmlformats.org/drawingml/2006/main">
              <a:ext uri="{FF2B5EF4-FFF2-40B4-BE49-F238E27FC236}">
                <a16:creationId xmlns:a16="http://schemas.microsoft.com/office/drawing/2014/main" id="{BF4E01E7-1748-42E7-B7D4-DD287A1BE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38775"/>
            <a:ext cx="309562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update(dt)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296C75-D150-4E69-BA54-3021EA8D8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171700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101717-BFCB-4576-AAEF-106CB0A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2305050"/>
            <a:ext cx="0" cy="2762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ABADA9-0FD2-4C80-B91C-8A810774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924300"/>
            <a:ext cx="15240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5F7FA"/>
          </a:solidFill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28E68C-7D45-4818-A85F-09CAE5D77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6000" y="4057650"/>
            <a:ext cx="0" cy="2190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C3379E-7F11-42A5-B616-D8D5A759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62188" y="4276725"/>
            <a:ext cx="76581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6E5AFB6-41E6-4643-93AE-56B11AB77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26218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C6F531-182D-420E-91C2-94001A36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9123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1AE5E8-331A-43D8-8BAA-D544A495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920288" y="4276725"/>
            <a:ext cx="0" cy="2476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7" name="空心三角形朝父類別。此圖省略部分繪圖細節。">
            <a:extLst xmlns:a="http://schemas.openxmlformats.org/drawingml/2006/main">
              <a:ext uri="{FF2B5EF4-FFF2-40B4-BE49-F238E27FC236}">
                <a16:creationId xmlns:a16="http://schemas.microsoft.com/office/drawing/2014/main" id="{F0588AA6-311E-4D46-89D6-2588CF26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191250"/>
            <a:ext cx="1100137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空心三角形朝父類別。此圖省略部分繪圖細節。</a:t>
            </a:r>
          </a:p>
        </p:txBody>
      </p:sp>
      <p:sp>
        <p:nvSpPr>
          <p:cNvPr id="38" name="09">
            <a:extLst xmlns:a="http://schemas.openxmlformats.org/drawingml/2006/main">
              <a:ext uri="{FF2B5EF4-FFF2-40B4-BE49-F238E27FC236}">
                <a16:creationId xmlns:a16="http://schemas.microsoft.com/office/drawing/2014/main" id="{40467B04-ADBD-47F5-A00C-579154C9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2874592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類別關係：管理、參照與建立">
            <a:extLst xmlns:a="http://schemas.openxmlformats.org/drawingml/2006/main">
              <a:ext uri="{FF2B5EF4-FFF2-40B4-BE49-F238E27FC236}">
                <a16:creationId xmlns:a16="http://schemas.microsoft.com/office/drawing/2014/main" id="{E36DAA1F-8149-4976-9551-3CEC6794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類別關係：管理、參照與建立</a:t>
            </a:r>
          </a:p>
        </p:txBody>
      </p:sp>
      <p:sp>
        <p:nvSpPr>
          <p:cNvPr id="2" name="Bullet.owner 是參照；Game 持有群組來管理角色">
            <a:extLst xmlns:a="http://schemas.openxmlformats.org/drawingml/2006/main">
              <a:ext uri="{FF2B5EF4-FFF2-40B4-BE49-F238E27FC236}">
                <a16:creationId xmlns:a16="http://schemas.microsoft.com/office/drawing/2014/main" id="{47F33380-2C5C-440E-A903-5C7C3B522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Bullet.owner 是參照；Game 持有群組來管理角色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0E1AF9-8E75-40CF-BAFE-6047FE62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0375"/>
            <a:ext cx="252412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Game">
            <a:extLst xmlns:a="http://schemas.openxmlformats.org/drawingml/2006/main">
              <a:ext uri="{FF2B5EF4-FFF2-40B4-BE49-F238E27FC236}">
                <a16:creationId xmlns:a16="http://schemas.microsoft.com/office/drawing/2014/main" id="{E57C3C59-6D9F-4620-B458-ADF4BD19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86100"/>
            <a:ext cx="22193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Game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691955-199A-4722-AF21-A66A8959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3457575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6" name="player, score, state all_sprites enemies, bullets">
            <a:extLst xmlns:a="http://schemas.openxmlformats.org/drawingml/2006/main">
              <a:ext uri="{FF2B5EF4-FFF2-40B4-BE49-F238E27FC236}">
                <a16:creationId xmlns:a16="http://schemas.microsoft.com/office/drawing/2014/main" id="{CDAD04E5-ECFC-406A-ABEE-A55DC7D5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52825"/>
            <a:ext cx="2238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player, score, state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all_sprites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enemies, bullets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2D4CD1-8290-4763-A567-52C0D602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362450"/>
            <a:ext cx="2524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8" name="update(dt)">
            <a:extLst xmlns:a="http://schemas.openxmlformats.org/drawingml/2006/main">
              <a:ext uri="{FF2B5EF4-FFF2-40B4-BE49-F238E27FC236}">
                <a16:creationId xmlns:a16="http://schemas.microsoft.com/office/drawing/2014/main" id="{BB3F1A42-F815-4557-82DA-CC85E5905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48175"/>
            <a:ext cx="22383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update(dt)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04BA6-A68D-4CC1-BA58-930142E3B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1666875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0" name="Player">
            <a:extLst xmlns:a="http://schemas.openxmlformats.org/drawingml/2006/main">
              <a:ext uri="{FF2B5EF4-FFF2-40B4-BE49-F238E27FC236}">
                <a16:creationId xmlns:a16="http://schemas.microsoft.com/office/drawing/2014/main" id="{551E02A9-9159-4EE6-8290-6414C567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1752600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E38687-8D60-4A5C-8E5B-C2B46C003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212407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2" name="hp, cooldown">
            <a:extLst xmlns:a="http://schemas.openxmlformats.org/drawingml/2006/main">
              <a:ext uri="{FF2B5EF4-FFF2-40B4-BE49-F238E27FC236}">
                <a16:creationId xmlns:a16="http://schemas.microsoft.com/office/drawing/2014/main" id="{E86BB162-DF2F-4DF3-B4F8-701434184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219325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hp, cooldown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4EECB-494A-4340-BC16-4E8C29F06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24955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4" name="shoot(name)">
            <a:extLst xmlns:a="http://schemas.openxmlformats.org/drawingml/2006/main">
              <a:ext uri="{FF2B5EF4-FFF2-40B4-BE49-F238E27FC236}">
                <a16:creationId xmlns:a16="http://schemas.microsoft.com/office/drawing/2014/main" id="{33CA0C0D-4289-4F96-ADE4-D18BF2095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2581275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shoot(name)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230BFC-E072-453D-AFA0-06414A3D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3524250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5B7082"/>
            </a:solidFill>
          </a:ln>
        </p:spPr>
      </p:sp>
      <p:sp>
        <p:nvSpPr>
          <p:cNvPr id="16" name="Group">
            <a:extLst xmlns:a="http://schemas.openxmlformats.org/drawingml/2006/main">
              <a:ext uri="{FF2B5EF4-FFF2-40B4-BE49-F238E27FC236}">
                <a16:creationId xmlns:a16="http://schemas.microsoft.com/office/drawing/2014/main" id="{E3D23257-829C-494F-9682-31C37ADD4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3609975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Group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FE18D5-CCA3-4C2E-80E8-5F32360EE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39814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18" name="Sprite references">
            <a:extLst xmlns:a="http://schemas.openxmlformats.org/drawingml/2006/main">
              <a:ext uri="{FF2B5EF4-FFF2-40B4-BE49-F238E27FC236}">
                <a16:creationId xmlns:a16="http://schemas.microsoft.com/office/drawing/2014/main" id="{616E8F24-1AA5-44AE-8EBE-CD05D38E9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07670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Sprite references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C0C0F-E419-40AF-95DE-1CFC9BE0C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714875" y="435292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5B7082"/>
            </a:solidFill>
          </a:ln>
        </p:spPr>
      </p:sp>
      <p:sp>
        <p:nvSpPr>
          <p:cNvPr id="20" name="add(), update(), draw()">
            <a:extLst xmlns:a="http://schemas.openxmlformats.org/drawingml/2006/main">
              <a:ext uri="{FF2B5EF4-FFF2-40B4-BE49-F238E27FC236}">
                <a16:creationId xmlns:a16="http://schemas.microsoft.com/office/drawing/2014/main" id="{C2D5C15D-3978-4CD9-91BB-4C734C0D7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4438650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add(), update(), draw()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F587FD-71C4-4806-93FF-729B2AC2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3524250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22" name="Actor">
            <a:extLst xmlns:a="http://schemas.openxmlformats.org/drawingml/2006/main">
              <a:ext uri="{FF2B5EF4-FFF2-40B4-BE49-F238E27FC236}">
                <a16:creationId xmlns:a16="http://schemas.microsoft.com/office/drawing/2014/main" id="{029B4DF2-6F76-40A6-B816-D4DF05C7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3609975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Actor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D76449-BDEE-45D3-8812-5D559D51B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39814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pos, velocity">
            <a:extLst xmlns:a="http://schemas.openxmlformats.org/drawingml/2006/main">
              <a:ext uri="{FF2B5EF4-FFF2-40B4-BE49-F238E27FC236}">
                <a16:creationId xmlns:a16="http://schemas.microsoft.com/office/drawing/2014/main" id="{00E19DEC-FC43-491B-94E3-4360D25B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076700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pos, velocity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E2D591-17B0-4E51-8F55-37F47F88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435292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6" name="update(dt)">
            <a:extLst xmlns:a="http://schemas.openxmlformats.org/drawingml/2006/main">
              <a:ext uri="{FF2B5EF4-FFF2-40B4-BE49-F238E27FC236}">
                <a16:creationId xmlns:a16="http://schemas.microsoft.com/office/drawing/2014/main" id="{CDE7FF5B-A449-4698-AC64-4D9BA6A5A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438650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update(dt)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9DF65A3-7BD7-4D88-93D9-2DBE3EC1B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666875"/>
            <a:ext cx="26193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28" name="Bullet">
            <a:extLst xmlns:a="http://schemas.openxmlformats.org/drawingml/2006/main">
              <a:ext uri="{FF2B5EF4-FFF2-40B4-BE49-F238E27FC236}">
                <a16:creationId xmlns:a16="http://schemas.microsoft.com/office/drawing/2014/main" id="{576990E0-38B4-4822-A062-CCD4D351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752600"/>
            <a:ext cx="23145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rPr>
              <a:t>Bullet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D8119B3-2147-4EFF-803F-FED62C73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2124075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30" name="owner, damage">
            <a:extLst xmlns:a="http://schemas.openxmlformats.org/drawingml/2006/main">
              <a:ext uri="{FF2B5EF4-FFF2-40B4-BE49-F238E27FC236}">
                <a16:creationId xmlns:a16="http://schemas.microsoft.com/office/drawing/2014/main" id="{F70E9433-DF2F-4B95-9257-61C53C45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219325"/>
            <a:ext cx="2333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owner, damage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B19C39-26E5-4859-BE74-D1989C97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001125" y="2495550"/>
            <a:ext cx="26193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32" name="update(dt)">
            <a:extLst xmlns:a="http://schemas.openxmlformats.org/drawingml/2006/main">
              <a:ext uri="{FF2B5EF4-FFF2-40B4-BE49-F238E27FC236}">
                <a16:creationId xmlns:a16="http://schemas.microsoft.com/office/drawing/2014/main" id="{93332AA7-6F70-4885-9245-2591B895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581275"/>
            <a:ext cx="23336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update(dt)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26DFAFD-01D7-44FE-8987-880A3BF50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1809750" y="2200275"/>
            <a:ext cx="0" cy="80010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125B25E-E72C-4CE0-80C4-22CEB797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809750" y="2200275"/>
            <a:ext cx="29051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7766B4-4218-4CAA-ADA2-63646BCF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22926" y="22002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9022CD8-F515-4C13-8113-7A7F7900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22926" y="21500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7" name="player">
            <a:extLst xmlns:a="http://schemas.openxmlformats.org/drawingml/2006/main">
              <a:ext uri="{FF2B5EF4-FFF2-40B4-BE49-F238E27FC236}">
                <a16:creationId xmlns:a16="http://schemas.microsoft.com/office/drawing/2014/main" id="{87A8CBFA-3B43-4171-BE10-D8E6D4381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83832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player</a:t>
            </a:r>
          </a:p>
        </p:txBody>
      </p:sp>
      <p:sp>
        <p:nvSpPr>
          <p:cNvPr id="38" name="1">
            <a:extLst xmlns:a="http://schemas.openxmlformats.org/drawingml/2006/main">
              <a:ext uri="{FF2B5EF4-FFF2-40B4-BE49-F238E27FC236}">
                <a16:creationId xmlns:a16="http://schemas.microsoft.com/office/drawing/2014/main" id="{76781864-DA61-4102-96F7-88FCC5C14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2286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39" name="1">
            <a:extLst xmlns:a="http://schemas.openxmlformats.org/drawingml/2006/main">
              <a:ext uri="{FF2B5EF4-FFF2-40B4-BE49-F238E27FC236}">
                <a16:creationId xmlns:a16="http://schemas.microsoft.com/office/drawing/2014/main" id="{D3A3E94F-ACD6-4DC8-924A-30A67C05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" y="26955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182E3F-78AE-4DB3-B27C-E4D690B7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95625" y="4048125"/>
            <a:ext cx="1619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9EA6504-331D-4F58-A4D4-D0493977E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22926" y="40481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1081197-4FF5-44E8-8872-7896DCDB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22926" y="39978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3" name="groups">
            <a:extLst xmlns:a="http://schemas.openxmlformats.org/drawingml/2006/main">
              <a:ext uri="{FF2B5EF4-FFF2-40B4-BE49-F238E27FC236}">
                <a16:creationId xmlns:a16="http://schemas.microsoft.com/office/drawing/2014/main" id="{F761AA25-DF87-4E92-A430-16E538FE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705225"/>
            <a:ext cx="1285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groups</a:t>
            </a:r>
          </a:p>
        </p:txBody>
      </p:sp>
      <p:sp>
        <p:nvSpPr>
          <p:cNvPr id="44" name="1">
            <a:extLst xmlns:a="http://schemas.openxmlformats.org/drawingml/2006/main">
              <a:ext uri="{FF2B5EF4-FFF2-40B4-BE49-F238E27FC236}">
                <a16:creationId xmlns:a16="http://schemas.microsoft.com/office/drawing/2014/main" id="{5C632C4E-AF7D-4EAB-B733-FB40938A3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41719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45" name="3">
            <a:extLst xmlns:a="http://schemas.openxmlformats.org/drawingml/2006/main">
              <a:ext uri="{FF2B5EF4-FFF2-40B4-BE49-F238E27FC236}">
                <a16:creationId xmlns:a16="http://schemas.microsoft.com/office/drawing/2014/main" id="{CD0FB3ED-BF26-41A6-9E9D-94CFBE45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7195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A3BADB-90E2-4D6A-958B-2364786DB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4048125"/>
            <a:ext cx="16668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F7AA9D-C09B-44C4-B328-E8EF23BFF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8909176" y="404812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A7C59F-6422-4F3E-8018-674DE972B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8909176" y="399789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49" name="members">
            <a:extLst xmlns:a="http://schemas.openxmlformats.org/drawingml/2006/main">
              <a:ext uri="{FF2B5EF4-FFF2-40B4-BE49-F238E27FC236}">
                <a16:creationId xmlns:a16="http://schemas.microsoft.com/office/drawing/2014/main" id="{33D82531-991B-4C40-BF10-E58ECCAF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6957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members</a:t>
            </a:r>
          </a:p>
        </p:txBody>
      </p:sp>
      <p:sp>
        <p:nvSpPr>
          <p:cNvPr id="50" name="0..*">
            <a:extLst xmlns:a="http://schemas.openxmlformats.org/drawingml/2006/main">
              <a:ext uri="{FF2B5EF4-FFF2-40B4-BE49-F238E27FC236}">
                <a16:creationId xmlns:a16="http://schemas.microsoft.com/office/drawing/2014/main" id="{60BBCE16-B16C-4E85-98E9-FC298A1CD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1719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0..*</a:t>
            </a:r>
          </a:p>
        </p:txBody>
      </p:sp>
      <p:sp>
        <p:nvSpPr>
          <p:cNvPr id="51" name="0..*">
            <a:extLst xmlns:a="http://schemas.openxmlformats.org/drawingml/2006/main">
              <a:ext uri="{FF2B5EF4-FFF2-40B4-BE49-F238E27FC236}">
                <a16:creationId xmlns:a16="http://schemas.microsoft.com/office/drawing/2014/main" id="{D8450804-EE92-44AC-AD58-4AC1128FF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71950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0..*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40641E5-F968-45A9-9C4A-604B03D4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7334250" y="2238375"/>
            <a:ext cx="166687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12FD7D-7743-4ED4-B565-90F8ED2B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334250" y="21881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A567BB1-915D-4059-9133-80C44D38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334250" y="22383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55" name="owner">
            <a:extLst xmlns:a="http://schemas.openxmlformats.org/drawingml/2006/main">
              <a:ext uri="{FF2B5EF4-FFF2-40B4-BE49-F238E27FC236}">
                <a16:creationId xmlns:a16="http://schemas.microsoft.com/office/drawing/2014/main" id="{2B2E4B95-43D7-49A3-97BA-EF65719A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573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rPr>
              <a:t>owner</a:t>
            </a:r>
          </a:p>
        </p:txBody>
      </p:sp>
      <p:sp>
        <p:nvSpPr>
          <p:cNvPr id="56" name="1">
            <a:extLst xmlns:a="http://schemas.openxmlformats.org/drawingml/2006/main">
              <a:ext uri="{FF2B5EF4-FFF2-40B4-BE49-F238E27FC236}">
                <a16:creationId xmlns:a16="http://schemas.microsoft.com/office/drawing/2014/main" id="{C93A72C4-4138-4726-BE93-3D17D427A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3362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57" name="0..*">
            <a:extLst xmlns:a="http://schemas.openxmlformats.org/drawingml/2006/main">
              <a:ext uri="{FF2B5EF4-FFF2-40B4-BE49-F238E27FC236}">
                <a16:creationId xmlns:a16="http://schemas.microsoft.com/office/drawing/2014/main" id="{F955CDD8-5598-4BB7-BF0A-F639582D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33625"/>
            <a:ext cx="619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0..*</a:t>
            </a:r>
          </a:p>
        </p:txBody>
      </p:sp>
      <p:sp>
        <p:nvSpPr>
          <p:cNvPr id="58" name="groups = all_sprites, enemies, bullets">
            <a:extLst xmlns:a="http://schemas.openxmlformats.org/drawingml/2006/main">
              <a:ext uri="{FF2B5EF4-FFF2-40B4-BE49-F238E27FC236}">
                <a16:creationId xmlns:a16="http://schemas.microsoft.com/office/drawing/2014/main" id="{7ABE58C4-1FB8-45D6-8D88-3085F98B2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38750"/>
            <a:ext cx="1100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groups = all_sprites, enemies, bullets</a:t>
            </a:r>
          </a:p>
        </p:txBody>
      </p:sp>
      <p:sp>
        <p:nvSpPr>
          <p:cNvPr id="59" name="一顆 Bullet 對應一個 Player；同一 Player 可被多顆 Bullet 參照。">
            <a:extLst xmlns:a="http://schemas.openxmlformats.org/drawingml/2006/main">
              <a:ext uri="{FF2B5EF4-FFF2-40B4-BE49-F238E27FC236}">
                <a16:creationId xmlns:a16="http://schemas.microsoft.com/office/drawing/2014/main" id="{C2EE2F36-876A-4933-82CF-609F95742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一顆 Bullet 對應一個 Player；同一 Player 可被多顆 Bullet 參照。</a:t>
            </a:r>
          </a:p>
        </p:txBody>
      </p:sp>
      <p:sp>
        <p:nvSpPr>
          <p:cNvPr id="60" name="群組不等於獨佔擁有，不使用組合關係的實心菱形。">
            <a:extLst xmlns:a="http://schemas.openxmlformats.org/drawingml/2006/main">
              <a:ext uri="{FF2B5EF4-FFF2-40B4-BE49-F238E27FC236}">
                <a16:creationId xmlns:a16="http://schemas.microsoft.com/office/drawing/2014/main" id="{3C249C0E-1BE4-4533-9105-34798F20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群組不等於獨佔擁有，不使用組合關係的實心菱形。</a:t>
            </a:r>
          </a:p>
        </p:txBody>
      </p:sp>
      <p:sp>
        <p:nvSpPr>
          <p:cNvPr id="61" name="10">
            <a:extLst xmlns:a="http://schemas.openxmlformats.org/drawingml/2006/main">
              <a:ext uri="{FF2B5EF4-FFF2-40B4-BE49-F238E27FC236}">
                <a16:creationId xmlns:a16="http://schemas.microsoft.com/office/drawing/2014/main" id="{8344EB46-CF84-4848-A2C8-36685213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076690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物件圖：同一個玩家，兩個參照">
            <a:extLst xmlns:a="http://schemas.openxmlformats.org/drawingml/2006/main">
              <a:ext uri="{FF2B5EF4-FFF2-40B4-BE49-F238E27FC236}">
                <a16:creationId xmlns:a16="http://schemas.microsoft.com/office/drawing/2014/main" id="{29BDC447-D1CD-43CF-B6C5-C09C6BE8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物件圖：同一個玩家，兩個參照</a:t>
            </a:r>
          </a:p>
        </p:txBody>
      </p:sp>
      <p:sp>
        <p:nvSpPr>
          <p:cNvPr id="2" name="暫停畫面中的快照：1 個 Player、3 個 Enemy、2 個 Bullet">
            <a:extLst xmlns:a="http://schemas.openxmlformats.org/drawingml/2006/main">
              <a:ext uri="{FF2B5EF4-FFF2-40B4-BE49-F238E27FC236}">
                <a16:creationId xmlns:a16="http://schemas.microsoft.com/office/drawing/2014/main" id="{2EE98345-3DC6-4393-8FD6-18BFC2204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暫停畫面中的快照：1 個 Player、3 個 Enemy、2 個 Bullet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E356C1-E671-4F95-95C4-FA32F66B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66875"/>
            <a:ext cx="3095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4" name="B01 : Bullet">
            <a:extLst xmlns:a="http://schemas.openxmlformats.org/drawingml/2006/main">
              <a:ext uri="{FF2B5EF4-FFF2-40B4-BE49-F238E27FC236}">
                <a16:creationId xmlns:a16="http://schemas.microsoft.com/office/drawing/2014/main" id="{27D48F9C-ED7B-4AEE-AA7E-7E653D65B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52600"/>
            <a:ext cx="2790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rPr>
              <a:t>B01 : Bullet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2FC7AA-26AE-4696-8C62-E0ED28A6B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2019300"/>
            <a:ext cx="16002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7FC00A-61A4-4884-94AE-B337B4C9B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2124075"/>
            <a:ext cx="3095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7" name="damage = 1 owner → player">
            <a:extLst xmlns:a="http://schemas.openxmlformats.org/drawingml/2006/main">
              <a:ext uri="{FF2B5EF4-FFF2-40B4-BE49-F238E27FC236}">
                <a16:creationId xmlns:a16="http://schemas.microsoft.com/office/drawing/2014/main" id="{DE1CEA9F-4EFC-4B6F-8250-35B03934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19325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damage = 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owner → player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E4ECF3-F5EE-40E4-A7B3-2E36B63EF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3095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9" name="B02 : Bullet">
            <a:extLst xmlns:a="http://schemas.openxmlformats.org/drawingml/2006/main">
              <a:ext uri="{FF2B5EF4-FFF2-40B4-BE49-F238E27FC236}">
                <a16:creationId xmlns:a16="http://schemas.microsoft.com/office/drawing/2014/main" id="{D3EC1DF4-119D-49DF-A885-ECA0CD9B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86225"/>
            <a:ext cx="27908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rPr>
              <a:t>B02 : Bullet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62A34A-7A3E-44B2-9442-979C8CFDB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3900" y="4352925"/>
            <a:ext cx="16002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445CAB-C1B1-4DFA-9DC3-822E431C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71500" y="4457700"/>
            <a:ext cx="3095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2" name="damage = 1 owner → player">
            <a:extLst xmlns:a="http://schemas.openxmlformats.org/drawingml/2006/main">
              <a:ext uri="{FF2B5EF4-FFF2-40B4-BE49-F238E27FC236}">
                <a16:creationId xmlns:a16="http://schemas.microsoft.com/office/drawing/2014/main" id="{F11F2962-5BE8-4E42-A249-FE8FAD79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52950"/>
            <a:ext cx="2809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damage = 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owner → player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EBCA29-39D1-4A17-8FAB-7A50E157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2952750" cy="1285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4" name="player : Player">
            <a:extLst xmlns:a="http://schemas.openxmlformats.org/drawingml/2006/main">
              <a:ext uri="{FF2B5EF4-FFF2-40B4-BE49-F238E27FC236}">
                <a16:creationId xmlns:a16="http://schemas.microsoft.com/office/drawing/2014/main" id="{C4EDA451-24AC-43E2-B18D-F5BE3200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43225"/>
            <a:ext cx="2647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player : Player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9507AC-2C32-4739-AEB6-A069A0EB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086350" y="3209925"/>
            <a:ext cx="20002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F2A252-3CE7-4381-A80F-9679C8D6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33950" y="3314700"/>
            <a:ext cx="2952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087C62"/>
            </a:solidFill>
          </a:ln>
        </p:spPr>
      </p:sp>
      <p:sp>
        <p:nvSpPr>
          <p:cNvPr id="17" name="hp = 3 pos = (394, 664)">
            <a:extLst xmlns:a="http://schemas.openxmlformats.org/drawingml/2006/main">
              <a:ext uri="{FF2B5EF4-FFF2-40B4-BE49-F238E27FC236}">
                <a16:creationId xmlns:a16="http://schemas.microsoft.com/office/drawing/2014/main" id="{B51978F6-644F-4BD1-B65A-25E0028D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409950"/>
            <a:ext cx="2667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hp = 3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pos = (394, 664)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DEE342-1480-4BFC-BD94-490E0E152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67125" y="2305050"/>
            <a:ext cx="1266825" cy="7905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D3A8AE-7946-4260-B1DD-531C0203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829351" y="3089559"/>
            <a:ext cx="104599" cy="6066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357259-0D07-459D-B304-7FBD6F44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882539" y="3004331"/>
            <a:ext cx="51411" cy="91294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8918D5-D9A2-4A06-B4CE-5BD234AF8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667125" y="3857625"/>
            <a:ext cx="1266825" cy="714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1D7714-2B5B-493D-8663-B11D6F4B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878532" y="3857625"/>
            <a:ext cx="55418" cy="8891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C30931-49F1-44C3-A98C-60214B90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829184" y="3857625"/>
            <a:ext cx="104766" cy="141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6D08"/>
            </a:solidFill>
          </a:ln>
        </p:spPr>
      </p:sp>
      <p:sp>
        <p:nvSpPr>
          <p:cNvPr id="24" name="owner">
            <a:extLst xmlns:a="http://schemas.openxmlformats.org/drawingml/2006/main">
              <a:ext uri="{FF2B5EF4-FFF2-40B4-BE49-F238E27FC236}">
                <a16:creationId xmlns:a16="http://schemas.microsoft.com/office/drawing/2014/main" id="{7213AD0B-5EC9-42CD-A37E-C2161860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3622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rPr>
              <a:t>owner</a:t>
            </a:r>
          </a:p>
        </p:txBody>
      </p:sp>
      <p:sp>
        <p:nvSpPr>
          <p:cNvPr id="25" name="owner">
            <a:extLst xmlns:a="http://schemas.openxmlformats.org/drawingml/2006/main">
              <a:ext uri="{FF2B5EF4-FFF2-40B4-BE49-F238E27FC236}">
                <a16:creationId xmlns:a16="http://schemas.microsoft.com/office/drawing/2014/main" id="{5EF1587E-12EC-4FCA-A087-C3CA519CD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33387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rPr>
              <a:t>owner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7C4268-7AD2-44BD-B0AC-EE1FB703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668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27" name="E01 : Enemy">
            <a:extLst xmlns:a="http://schemas.openxmlformats.org/drawingml/2006/main">
              <a:ext uri="{FF2B5EF4-FFF2-40B4-BE49-F238E27FC236}">
                <a16:creationId xmlns:a16="http://schemas.microsoft.com/office/drawing/2014/main" id="{CF33265A-DB68-44C5-A8A2-D140A257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526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rPr>
              <a:t>E01 : Enemy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2BEF51-BC26-47CF-B32D-397CA6E11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20193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FCF212-BF4F-4B0D-AC21-71B1FDAD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21240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30" name="hp = 1 velocity.y = 65">
            <a:extLst xmlns:a="http://schemas.openxmlformats.org/drawingml/2006/main">
              <a:ext uri="{FF2B5EF4-FFF2-40B4-BE49-F238E27FC236}">
                <a16:creationId xmlns:a16="http://schemas.microsoft.com/office/drawing/2014/main" id="{E66176C5-27F2-4D49-A899-CBB79F87D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193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hp = 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velocity.y = 65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823B6F-A413-450A-AFF1-3C9214E8D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1908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654B2"/>
            </a:solidFill>
          </a:ln>
        </p:spPr>
      </p:sp>
      <p:sp>
        <p:nvSpPr>
          <p:cNvPr id="32" name="E02 : Enemy">
            <a:extLst xmlns:a="http://schemas.openxmlformats.org/drawingml/2006/main">
              <a:ext uri="{FF2B5EF4-FFF2-40B4-BE49-F238E27FC236}">
                <a16:creationId xmlns:a16="http://schemas.microsoft.com/office/drawing/2014/main" id="{44798E1F-C98E-4AFF-B2A1-59279202B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2766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7654B2"/>
                </a:solidFill>
                <a:latin typeface="Microsoft JhengHei"/>
                <a:ea typeface="Microsoft JhengHei"/>
                <a:cs typeface="Microsoft JhengHei"/>
              </a:rPr>
              <a:t>E02 : Enemy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5F9A52E-EA23-43F7-B0A9-91A0B12E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35433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65A619-716A-4092-AE8A-09ECC60E3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36480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7654B2"/>
            </a:solidFill>
          </a:ln>
        </p:spPr>
      </p:sp>
      <p:sp>
        <p:nvSpPr>
          <p:cNvPr id="35" name="hp = 2 velocity.y = 85">
            <a:extLst xmlns:a="http://schemas.openxmlformats.org/drawingml/2006/main">
              <a:ext uri="{FF2B5EF4-FFF2-40B4-BE49-F238E27FC236}">
                <a16:creationId xmlns:a16="http://schemas.microsoft.com/office/drawing/2014/main" id="{8B90A8CD-54DB-42F2-AE40-EEAE1BABE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433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hp = 2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velocity.y = 85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22CFC5-699C-461E-ABD3-121D2168D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24375"/>
            <a:ext cx="2667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37" name="E03 : Enemy">
            <a:extLst xmlns:a="http://schemas.openxmlformats.org/drawingml/2006/main">
              <a:ext uri="{FF2B5EF4-FFF2-40B4-BE49-F238E27FC236}">
                <a16:creationId xmlns:a16="http://schemas.microsoft.com/office/drawing/2014/main" id="{517C6F5C-9E87-44EB-ADD3-3E5341670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4610100"/>
            <a:ext cx="23622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rPr>
              <a:t>E03 : Enemy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80253-4FEF-4C56-8DE4-76BA2CD3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9105900" y="4876800"/>
            <a:ext cx="14668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C561679-1148-4E7A-BB59-C2E09A3D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953500" y="4981575"/>
            <a:ext cx="2667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BF4A44"/>
            </a:solidFill>
          </a:ln>
        </p:spPr>
      </p:sp>
      <p:sp>
        <p:nvSpPr>
          <p:cNvPr id="40" name="hp = 1 velocity.y = 100">
            <a:extLst xmlns:a="http://schemas.openxmlformats.org/drawingml/2006/main">
              <a:ext uri="{FF2B5EF4-FFF2-40B4-BE49-F238E27FC236}">
                <a16:creationId xmlns:a16="http://schemas.microsoft.com/office/drawing/2014/main" id="{EAD0A215-3013-4935-B078-AA5F1984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5076825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hp = 1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velocity.y = 100</a:t>
            </a:r>
          </a:p>
        </p:txBody>
      </p:sp>
      <p:sp>
        <p:nvSpPr>
          <p:cNvPr id="41" name="B01.owner is B02.owner  →  True">
            <a:extLst xmlns:a="http://schemas.openxmlformats.org/drawingml/2006/main">
              <a:ext uri="{FF2B5EF4-FFF2-40B4-BE49-F238E27FC236}">
                <a16:creationId xmlns:a16="http://schemas.microsoft.com/office/drawing/2014/main" id="{4A9B3FD2-28A9-42D8-BC93-12B8C20BC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781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B01.owner is B02.owner  →  True</a:t>
            </a:r>
          </a:p>
        </p:txBody>
      </p:sp>
      <p:sp>
        <p:nvSpPr>
          <p:cNvPr id="42" name="B01.owner 與 B02.owner 指向同一個 player，不會複製玩家。">
            <a:extLst xmlns:a="http://schemas.openxmlformats.org/drawingml/2006/main">
              <a:ext uri="{FF2B5EF4-FFF2-40B4-BE49-F238E27FC236}">
                <a16:creationId xmlns:a16="http://schemas.microsoft.com/office/drawing/2014/main" id="{D845A37C-D90E-46B7-A071-AE71C7D4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B01.owner 與 B02.owner 指向同一個 player，不會複製玩家。</a:t>
            </a:r>
          </a:p>
        </p:txBody>
      </p:sp>
      <p:sp>
        <p:nvSpPr>
          <p:cNvPr id="43" name="每個敵人的 hp、位置與速度仍各自獨立。">
            <a:extLst xmlns:a="http://schemas.openxmlformats.org/drawingml/2006/main">
              <a:ext uri="{FF2B5EF4-FFF2-40B4-BE49-F238E27FC236}">
                <a16:creationId xmlns:a16="http://schemas.microsoft.com/office/drawing/2014/main" id="{A42A3789-1B2C-47FB-9EAC-AF6326D4C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每個敵人的 hp、位置與速度仍各自獨立。</a:t>
            </a:r>
          </a:p>
        </p:txBody>
      </p:sp>
      <p:sp>
        <p:nvSpPr>
          <p:cNvPr id="44" name="11">
            <a:extLst xmlns:a="http://schemas.openxmlformats.org/drawingml/2006/main">
              <a:ext uri="{FF2B5EF4-FFF2-40B4-BE49-F238E27FC236}">
                <a16:creationId xmlns:a16="http://schemas.microsoft.com/office/drawing/2014/main" id="{167FB77C-8F7E-4384-8333-4A1641C9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722595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Group 分組，不會複製物件">
            <a:extLst xmlns:a="http://schemas.openxmlformats.org/drawingml/2006/main">
              <a:ext uri="{FF2B5EF4-FFF2-40B4-BE49-F238E27FC236}">
                <a16:creationId xmlns:a16="http://schemas.microsoft.com/office/drawing/2014/main" id="{B7FEE8D4-DA43-4586-BE99-5CCF5304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Group 分組，不會複製物件</a:t>
            </a:r>
          </a:p>
        </p:txBody>
      </p:sp>
      <p:sp>
        <p:nvSpPr>
          <p:cNvPr id="2" name="同一個 Enemy 可以同時出現在兩個群組">
            <a:extLst xmlns:a="http://schemas.openxmlformats.org/drawingml/2006/main">
              <a:ext uri="{FF2B5EF4-FFF2-40B4-BE49-F238E27FC236}">
                <a16:creationId xmlns:a16="http://schemas.microsoft.com/office/drawing/2014/main" id="{E1B52D5F-71B8-489A-8601-5BFCA730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同一個 Enemy 可以同時出現在兩個群組</a:t>
            </a:r>
          </a:p>
        </p:txBody>
      </p:sp>
      <p:sp>
        <p:nvSpPr>
          <p:cNvPr id="3" name="e = Enemy(&quot;E01&quot;, (180, 180))">
            <a:extLst xmlns:a="http://schemas.openxmlformats.org/drawingml/2006/main">
              <a:ext uri="{FF2B5EF4-FFF2-40B4-BE49-F238E27FC236}">
                <a16:creationId xmlns:a16="http://schemas.microsoft.com/office/drawing/2014/main" id="{47265A22-5D3C-4102-9EC3-7B6477645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 = Enemy("E01", (180, 180))</a:t>
            </a:r>
          </a:p>
        </p:txBody>
      </p:sp>
      <p:sp>
        <p:nvSpPr>
          <p:cNvPr id="4" name="all_sprites = pygame.sprite.Group(e)">
            <a:extLst xmlns:a="http://schemas.openxmlformats.org/drawingml/2006/main">
              <a:ext uri="{FF2B5EF4-FFF2-40B4-BE49-F238E27FC236}">
                <a16:creationId xmlns:a16="http://schemas.microsoft.com/office/drawing/2014/main" id="{B80609F1-7761-4FC2-9BB1-C6FB2B8F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all_sprites = pygame.sprite.Group(e)</a:t>
            </a:r>
          </a:p>
        </p:txBody>
      </p:sp>
      <p:sp>
        <p:nvSpPr>
          <p:cNvPr id="5" name="enemies = pygame.sprite.Group(e)">
            <a:extLst xmlns:a="http://schemas.openxmlformats.org/drawingml/2006/main">
              <a:ext uri="{FF2B5EF4-FFF2-40B4-BE49-F238E27FC236}">
                <a16:creationId xmlns:a16="http://schemas.microsoft.com/office/drawing/2014/main" id="{EFC492FF-EDDD-4A6C-AC5C-1F449A13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enemies = pygame.sprite.Group(e)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ADC379-B60F-4134-9904-F9E834A1C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print(all_sprites.sprites()[0] is e)  # True">
            <a:extLst xmlns:a="http://schemas.openxmlformats.org/drawingml/2006/main">
              <a:ext uri="{FF2B5EF4-FFF2-40B4-BE49-F238E27FC236}">
                <a16:creationId xmlns:a16="http://schemas.microsoft.com/office/drawing/2014/main" id="{ED81DEAD-B515-4DF2-BDF5-EDC674975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print(all_sprites.sprites()[0] is e)  # True</a:t>
            </a:r>
          </a:p>
        </p:txBody>
      </p:sp>
      <p:sp>
        <p:nvSpPr>
          <p:cNvPr id="8" name="print(enemies.sprites()[0] is e)      # True">
            <a:extLst xmlns:a="http://schemas.openxmlformats.org/drawingml/2006/main">
              <a:ext uri="{FF2B5EF4-FFF2-40B4-BE49-F238E27FC236}">
                <a16:creationId xmlns:a16="http://schemas.microsoft.com/office/drawing/2014/main" id="{E77F5DB7-6A08-4905-8ED6-A16E93D2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print(enemies.sprites()[0] is e)      # True</a:t>
            </a:r>
          </a:p>
        </p:txBody>
      </p:sp>
      <p:sp>
        <p:nvSpPr>
          <p:cNvPr id="9" name="all_sprites 統一更新與繪製；enemies 用於敵人碰撞檢查。">
            <a:extLst xmlns:a="http://schemas.openxmlformats.org/drawingml/2006/main">
              <a:ext uri="{FF2B5EF4-FFF2-40B4-BE49-F238E27FC236}">
                <a16:creationId xmlns:a16="http://schemas.microsoft.com/office/drawing/2014/main" id="{DE89E517-4C69-4A55-8FB4-C2EFEF03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all_sprites 統一更新與繪製；enemies 用於敵人碰撞檢查。</a:t>
            </a:r>
          </a:p>
        </p:txBody>
      </p:sp>
      <p:sp>
        <p:nvSpPr>
          <p:cNvPr id="10" name="改變 e.hp，從任何群組取得的同一物件都會反映新值。">
            <a:extLst xmlns:a="http://schemas.openxmlformats.org/drawingml/2006/main">
              <a:ext uri="{FF2B5EF4-FFF2-40B4-BE49-F238E27FC236}">
                <a16:creationId xmlns:a16="http://schemas.microsoft.com/office/drawing/2014/main" id="{92C7F754-7A6E-4C0D-8DE9-356D06DD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改變 e.hp，從任何群組取得的同一物件都會反映新值。</a:t>
            </a:r>
          </a:p>
        </p:txBody>
      </p:sp>
      <p:sp>
        <p:nvSpPr>
          <p:cNvPr id="11" name="game.py · spawn_enemy()">
            <a:extLst xmlns:a="http://schemas.openxmlformats.org/drawingml/2006/main">
              <a:ext uri="{FF2B5EF4-FFF2-40B4-BE49-F238E27FC236}">
                <a16:creationId xmlns:a16="http://schemas.microsoft.com/office/drawing/2014/main" id="{4FB9AD9C-58C2-42C9-A85C-AEB9FC9BB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spawn_enemy()</a:t>
            </a:r>
          </a:p>
        </p:txBody>
      </p:sp>
      <p:sp>
        <p:nvSpPr>
          <p:cNvPr id="12" name="12">
            <a:extLst xmlns:a="http://schemas.openxmlformats.org/drawingml/2006/main">
              <a:ext uri="{FF2B5EF4-FFF2-40B4-BE49-F238E27FC236}">
                <a16:creationId xmlns:a16="http://schemas.microsoft.com/office/drawing/2014/main" id="{770CBA0A-398B-469C-B837-C3637DE9B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4591889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or：把共同資料集中起來">
            <a:extLst xmlns:a="http://schemas.openxmlformats.org/drawingml/2006/main">
              <a:ext uri="{FF2B5EF4-FFF2-40B4-BE49-F238E27FC236}">
                <a16:creationId xmlns:a16="http://schemas.microsoft.com/office/drawing/2014/main" id="{FC17CF2D-12EA-4B7E-888C-522DD47C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Actor：把共同資料集中起來</a:t>
            </a:r>
          </a:p>
        </p:txBody>
      </p:sp>
      <p:sp>
        <p:nvSpPr>
          <p:cNvPr id="2" name="image 是外觀；rect 是位置與碰撞範圍">
            <a:extLst xmlns:a="http://schemas.openxmlformats.org/drawingml/2006/main">
              <a:ext uri="{FF2B5EF4-FFF2-40B4-BE49-F238E27FC236}">
                <a16:creationId xmlns:a16="http://schemas.microsoft.com/office/drawing/2014/main" id="{3A4F7E51-843A-4D68-A6D5-97BF5C51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image 是外觀；rect 是位置與碰撞範圍</a:t>
            </a:r>
          </a:p>
        </p:txBody>
      </p:sp>
      <p:sp>
        <p:nvSpPr>
          <p:cNvPr id="3" name="class Actor(pygame.sprite.Sprite):">
            <a:extLst xmlns:a="http://schemas.openxmlformats.org/drawingml/2006/main">
              <a:ext uri="{FF2B5EF4-FFF2-40B4-BE49-F238E27FC236}">
                <a16:creationId xmlns:a16="http://schemas.microsoft.com/office/drawing/2014/main" id="{B7086916-2196-4ADD-A294-16A44A816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class Actor(pygame.sprite.Sprite):</a:t>
            </a:r>
          </a:p>
        </p:txBody>
      </p:sp>
      <p:sp>
        <p:nvSpPr>
          <p:cNvPr id="4" name="    def __init__(self, name, position, size):">
            <a:extLst xmlns:a="http://schemas.openxmlformats.org/drawingml/2006/main">
              <a:ext uri="{FF2B5EF4-FFF2-40B4-BE49-F238E27FC236}">
                <a16:creationId xmlns:a16="http://schemas.microsoft.com/office/drawing/2014/main" id="{2516A004-8B59-465C-A683-B777CC6C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def __init__(self, name, position, size):</a:t>
            </a:r>
          </a:p>
        </p:txBody>
      </p:sp>
      <p:sp>
        <p:nvSpPr>
          <p:cNvPr id="5" name="        super().__init__()">
            <a:extLst xmlns:a="http://schemas.openxmlformats.org/drawingml/2006/main">
              <a:ext uri="{FF2B5EF4-FFF2-40B4-BE49-F238E27FC236}">
                <a16:creationId xmlns:a16="http://schemas.microsoft.com/office/drawing/2014/main" id="{BC51A71C-0CD3-493B-8EDF-2041291C9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super().__init__()</a:t>
            </a:r>
          </a:p>
        </p:txBody>
      </p:sp>
      <p:sp>
        <p:nvSpPr>
          <p:cNvPr id="6" name="        self.name = name">
            <a:extLst xmlns:a="http://schemas.openxmlformats.org/drawingml/2006/main">
              <a:ext uri="{FF2B5EF4-FFF2-40B4-BE49-F238E27FC236}">
                <a16:creationId xmlns:a16="http://schemas.microsoft.com/office/drawing/2014/main" id="{A9BB14B0-1FDF-4E63-9AEF-4A1324B7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self.name = name</a:t>
            </a:r>
          </a:p>
        </p:txBody>
      </p:sp>
      <p:sp>
        <p:nvSpPr>
          <p:cNvPr id="7" name="        self.image = pygame.Surface(size, pygame.SRCALPHA)">
            <a:extLst xmlns:a="http://schemas.openxmlformats.org/drawingml/2006/main">
              <a:ext uri="{FF2B5EF4-FFF2-40B4-BE49-F238E27FC236}">
                <a16:creationId xmlns:a16="http://schemas.microsoft.com/office/drawing/2014/main" id="{0447947D-64B7-465E-8D7D-A875C834A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self.image = pygame.Surface(size, pygame.SRCALPHA)</a:t>
            </a:r>
          </a:p>
        </p:txBody>
      </p:sp>
      <p:sp>
        <p:nvSpPr>
          <p:cNvPr id="8" name="        self.pos = pygame.Vector2(position)">
            <a:extLst xmlns:a="http://schemas.openxmlformats.org/drawingml/2006/main">
              <a:ext uri="{FF2B5EF4-FFF2-40B4-BE49-F238E27FC236}">
                <a16:creationId xmlns:a16="http://schemas.microsoft.com/office/drawing/2014/main" id="{40F20C20-17ED-4A83-ABCB-F0B2E6732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self.pos = pygame.Vector2(position)</a:t>
            </a:r>
          </a:p>
        </p:txBody>
      </p:sp>
      <p:sp>
        <p:nvSpPr>
          <p:cNvPr id="9" name="        self.rect = self.image.get_rect(center=position)">
            <a:extLst xmlns:a="http://schemas.openxmlformats.org/drawingml/2006/main">
              <a:ext uri="{FF2B5EF4-FFF2-40B4-BE49-F238E27FC236}">
                <a16:creationId xmlns:a16="http://schemas.microsoft.com/office/drawing/2014/main" id="{A5552C28-A31D-4B4A-8275-F7665422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self.rect = self.image.get_rect(center=position)</a:t>
            </a:r>
          </a:p>
        </p:txBody>
      </p:sp>
      <p:sp>
        <p:nvSpPr>
          <p:cNvPr id="10" name="        self.velocity = pygame.Vector2()">
            <a:extLst xmlns:a="http://schemas.openxmlformats.org/drawingml/2006/main">
              <a:ext uri="{FF2B5EF4-FFF2-40B4-BE49-F238E27FC236}">
                <a16:creationId xmlns:a16="http://schemas.microsoft.com/office/drawing/2014/main" id="{27506C20-E234-4AF2-873F-308D1B154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self.velocity = pygame.Vector2()</a:t>
            </a:r>
          </a:p>
        </p:txBody>
      </p:sp>
      <p:sp>
        <p:nvSpPr>
          <p:cNvPr id="11" name="super().__init__() 先初始化 Sprite 的群組管理功能。">
            <a:extLst xmlns:a="http://schemas.openxmlformats.org/drawingml/2006/main">
              <a:ext uri="{FF2B5EF4-FFF2-40B4-BE49-F238E27FC236}">
                <a16:creationId xmlns:a16="http://schemas.microsoft.com/office/drawing/2014/main" id="{FBBE781E-B40C-48A4-8073-56EEEAE2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super().__init__() 先初始化 Sprite 的群組管理功能。</a:t>
            </a:r>
          </a:p>
        </p:txBody>
      </p:sp>
      <p:sp>
        <p:nvSpPr>
          <p:cNvPr id="12" name="pos 使用浮點座標；rect 使用整數像素座標。">
            <a:extLst xmlns:a="http://schemas.openxmlformats.org/drawingml/2006/main">
              <a:ext uri="{FF2B5EF4-FFF2-40B4-BE49-F238E27FC236}">
                <a16:creationId xmlns:a16="http://schemas.microsoft.com/office/drawing/2014/main" id="{B009052A-AA63-4667-9B55-C828C3492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pos 使用浮點座標；rect 使用整數像素座標。</a:t>
            </a:r>
          </a:p>
        </p:txBody>
      </p:sp>
      <p:sp>
        <p:nvSpPr>
          <p:cNvPr id="13" name="actors.py · Actor.__init__()">
            <a:extLst xmlns:a="http://schemas.openxmlformats.org/drawingml/2006/main">
              <a:ext uri="{FF2B5EF4-FFF2-40B4-BE49-F238E27FC236}">
                <a16:creationId xmlns:a16="http://schemas.microsoft.com/office/drawing/2014/main" id="{F8B7003D-DBE4-4E17-9FF0-BCECFDF1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Actor.__init__()</a:t>
            </a:r>
          </a:p>
        </p:txBody>
      </p:sp>
      <p:sp>
        <p:nvSpPr>
          <p:cNvPr id="14" name="13">
            <a:extLst xmlns:a="http://schemas.openxmlformats.org/drawingml/2006/main">
              <a:ext uri="{FF2B5EF4-FFF2-40B4-BE49-F238E27FC236}">
                <a16:creationId xmlns:a16="http://schemas.microsoft.com/office/drawing/2014/main" id="{7FBB3705-62C1-4C2E-9DC8-391D1C64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880213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移動 = 速度 × 經過時間">
            <a:extLst xmlns:a="http://schemas.openxmlformats.org/drawingml/2006/main">
              <a:ext uri="{FF2B5EF4-FFF2-40B4-BE49-F238E27FC236}">
                <a16:creationId xmlns:a16="http://schemas.microsoft.com/office/drawing/2014/main" id="{6AC985E5-456A-4DCD-BF26-DAFC1AD73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移動 = 速度 × 經過時間</a:t>
            </a:r>
          </a:p>
        </p:txBody>
      </p:sp>
      <p:sp>
        <p:nvSpPr>
          <p:cNvPr id="2" name="dt 的單位是秒；速度的單位是像素／秒">
            <a:extLst xmlns:a="http://schemas.openxmlformats.org/drawingml/2006/main">
              <a:ext uri="{FF2B5EF4-FFF2-40B4-BE49-F238E27FC236}">
                <a16:creationId xmlns:a16="http://schemas.microsoft.com/office/drawing/2014/main" id="{0B53BDB5-A781-486F-96DE-0C8B7277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dt 的單位是秒；速度的單位是像素／秒</a:t>
            </a:r>
          </a:p>
        </p:txBody>
      </p:sp>
      <p:sp>
        <p:nvSpPr>
          <p:cNvPr id="3" name="def update(self, dt):">
            <a:extLst xmlns:a="http://schemas.openxmlformats.org/drawingml/2006/main">
              <a:ext uri="{FF2B5EF4-FFF2-40B4-BE49-F238E27FC236}">
                <a16:creationId xmlns:a16="http://schemas.microsoft.com/office/drawing/2014/main" id="{897BE3B1-55BB-4DFA-A67E-C173E7931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update(self, dt):</a:t>
            </a:r>
          </a:p>
        </p:txBody>
      </p:sp>
      <p:sp>
        <p:nvSpPr>
          <p:cNvPr id="4" name="    self.pos += self.velocity * dt">
            <a:extLst xmlns:a="http://schemas.openxmlformats.org/drawingml/2006/main">
              <a:ext uri="{FF2B5EF4-FFF2-40B4-BE49-F238E27FC236}">
                <a16:creationId xmlns:a16="http://schemas.microsoft.com/office/drawing/2014/main" id="{17DF4569-07E3-4106-BAFE-221AABCD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self.pos += self.velocity * dt</a:t>
            </a:r>
          </a:p>
        </p:txBody>
      </p:sp>
      <p:sp>
        <p:nvSpPr>
          <p:cNvPr id="5" name="    self.rect.center = (round(self.pos.x), round(self.pos.y))">
            <a:extLst xmlns:a="http://schemas.openxmlformats.org/drawingml/2006/main">
              <a:ext uri="{FF2B5EF4-FFF2-40B4-BE49-F238E27FC236}">
                <a16:creationId xmlns:a16="http://schemas.microsoft.com/office/drawing/2014/main" id="{8203D504-2B8D-42B5-8038-22958F80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self.rect.center = (round(self.pos.x), round(self.pos.y))</a:t>
            </a:r>
          </a:p>
        </p:txBody>
      </p:sp>
      <p:sp>
        <p:nvSpPr>
          <p:cNvPr id="6" name="每秒 80 像素，經過 0.5 秒會移動 40 像素。">
            <a:extLst xmlns:a="http://schemas.openxmlformats.org/drawingml/2006/main">
              <a:ext uri="{FF2B5EF4-FFF2-40B4-BE49-F238E27FC236}">
                <a16:creationId xmlns:a16="http://schemas.microsoft.com/office/drawing/2014/main" id="{676C40C6-A5D9-43C3-9BFB-EB23ED67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每秒 80 像素，經過 0.5 秒會移動 40 像素。</a:t>
            </a:r>
          </a:p>
        </p:txBody>
      </p:sp>
      <p:sp>
        <p:nvSpPr>
          <p:cNvPr id="7" name="先更新 pos 再同步 rect，避免每影格的小數位移被丟掉。">
            <a:extLst xmlns:a="http://schemas.openxmlformats.org/drawingml/2006/main">
              <a:ext uri="{FF2B5EF4-FFF2-40B4-BE49-F238E27FC236}">
                <a16:creationId xmlns:a16="http://schemas.microsoft.com/office/drawing/2014/main" id="{18B7E225-DBF3-479E-A7C3-4292C11E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先更新 pos 再同步 rect，避免每影格的小數位移被丟掉。</a:t>
            </a:r>
          </a:p>
        </p:txBody>
      </p:sp>
      <p:sp>
        <p:nvSpPr>
          <p:cNvPr id="8" name="actors.py · Actor.update()">
            <a:extLst xmlns:a="http://schemas.openxmlformats.org/drawingml/2006/main">
              <a:ext uri="{FF2B5EF4-FFF2-40B4-BE49-F238E27FC236}">
                <a16:creationId xmlns:a16="http://schemas.microsoft.com/office/drawing/2014/main" id="{C9D96437-542F-45A2-9578-D2FB3910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Actor.update()</a:t>
            </a:r>
          </a:p>
        </p:txBody>
      </p:sp>
      <p:sp>
        <p:nvSpPr>
          <p:cNvPr id="9" name="14">
            <a:extLst xmlns:a="http://schemas.openxmlformats.org/drawingml/2006/main">
              <a:ext uri="{FF2B5EF4-FFF2-40B4-BE49-F238E27FC236}">
                <a16:creationId xmlns:a16="http://schemas.microsoft.com/office/drawing/2014/main" id="{832ED0A0-BD4B-4EE8-83CA-9BF83476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1006467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layer：把輸入轉成方向">
            <a:extLst xmlns:a="http://schemas.openxmlformats.org/drawingml/2006/main">
              <a:ext uri="{FF2B5EF4-FFF2-40B4-BE49-F238E27FC236}">
                <a16:creationId xmlns:a16="http://schemas.microsoft.com/office/drawing/2014/main" id="{E247B94B-82EE-44B0-9E9F-01EAFF1EB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Player：把輸入轉成方向</a:t>
            </a:r>
          </a:p>
        </p:txBody>
      </p:sp>
      <p:sp>
        <p:nvSpPr>
          <p:cNvPr id="2" name="由 Game 讀取按鍵；Player 決定自己的速度">
            <a:extLst xmlns:a="http://schemas.openxmlformats.org/drawingml/2006/main">
              <a:ext uri="{FF2B5EF4-FFF2-40B4-BE49-F238E27FC236}">
                <a16:creationId xmlns:a16="http://schemas.microsoft.com/office/drawing/2014/main" id="{BA073DBE-2F67-41D1-902E-B728D433F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由 Game 讀取按鍵；Player 決定自己的速度</a:t>
            </a:r>
          </a:p>
        </p:txBody>
      </p:sp>
      <p:sp>
        <p:nvSpPr>
          <p:cNvPr id="3" name="def set_direction(self, x, y):">
            <a:extLst xmlns:a="http://schemas.openxmlformats.org/drawingml/2006/main">
              <a:ext uri="{FF2B5EF4-FFF2-40B4-BE49-F238E27FC236}">
                <a16:creationId xmlns:a16="http://schemas.microsoft.com/office/drawing/2014/main" id="{CE203FF0-A7EF-4B14-872F-58AEB000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set_direction(self, x, y):</a:t>
            </a:r>
          </a:p>
        </p:txBody>
      </p:sp>
      <p:sp>
        <p:nvSpPr>
          <p:cNvPr id="4" name="    direction = pygame.Vector2(x, y)">
            <a:extLst xmlns:a="http://schemas.openxmlformats.org/drawingml/2006/main">
              <a:ext uri="{FF2B5EF4-FFF2-40B4-BE49-F238E27FC236}">
                <a16:creationId xmlns:a16="http://schemas.microsoft.com/office/drawing/2014/main" id="{8A0590FB-588A-4FE0-A88E-BC223E202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direction = pygame.Vector2(x, y)</a:t>
            </a:r>
          </a:p>
        </p:txBody>
      </p:sp>
      <p:sp>
        <p:nvSpPr>
          <p:cNvPr id="5" name="    if direction.length_squared() &gt; 1:">
            <a:extLst xmlns:a="http://schemas.openxmlformats.org/drawingml/2006/main">
              <a:ext uri="{FF2B5EF4-FFF2-40B4-BE49-F238E27FC236}">
                <a16:creationId xmlns:a16="http://schemas.microsoft.com/office/drawing/2014/main" id="{ECB89465-3D63-4322-B73D-6BC6D15D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direction.length_squared() &gt; 1:</a:t>
            </a:r>
          </a:p>
        </p:txBody>
      </p:sp>
      <p:sp>
        <p:nvSpPr>
          <p:cNvPr id="6" name="        direction = direction.normalize()">
            <a:extLst xmlns:a="http://schemas.openxmlformats.org/drawingml/2006/main">
              <a:ext uri="{FF2B5EF4-FFF2-40B4-BE49-F238E27FC236}">
                <a16:creationId xmlns:a16="http://schemas.microsoft.com/office/drawing/2014/main" id="{1E76F525-E72B-4B51-B853-C44FF8841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direction = direction.normalize()</a:t>
            </a:r>
          </a:p>
        </p:txBody>
      </p:sp>
      <p:sp>
        <p:nvSpPr>
          <p:cNvPr id="7" name="    self.velocity = direction * PLAYER_SPEED">
            <a:extLst xmlns:a="http://schemas.openxmlformats.org/drawingml/2006/main">
              <a:ext uri="{FF2B5EF4-FFF2-40B4-BE49-F238E27FC236}">
                <a16:creationId xmlns:a16="http://schemas.microsoft.com/office/drawing/2014/main" id="{F041ACAC-2131-496A-BBE3-C4D3F2CB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self.velocity = direction * PLAYER_SPEED</a:t>
            </a:r>
          </a:p>
        </p:txBody>
      </p:sp>
      <p:sp>
        <p:nvSpPr>
          <p:cNvPr id="8" name="(1, 0) 向右；(0, -1) 向上；(0, 0) 停止。">
            <a:extLst xmlns:a="http://schemas.openxmlformats.org/drawingml/2006/main">
              <a:ext uri="{FF2B5EF4-FFF2-40B4-BE49-F238E27FC236}">
                <a16:creationId xmlns:a16="http://schemas.microsoft.com/office/drawing/2014/main" id="{EC90846D-7E06-4391-B47F-FAFEC5DC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(1, 0) 向右；(0, -1) 向上；(0, 0) 停止。</a:t>
            </a:r>
          </a:p>
        </p:txBody>
      </p:sp>
      <p:sp>
        <p:nvSpPr>
          <p:cNvPr id="9" name="normalize() 讓斜向移動與直向移動具有相同速率。">
            <a:extLst xmlns:a="http://schemas.openxmlformats.org/drawingml/2006/main">
              <a:ext uri="{FF2B5EF4-FFF2-40B4-BE49-F238E27FC236}">
                <a16:creationId xmlns:a16="http://schemas.microsoft.com/office/drawing/2014/main" id="{496F383D-CB47-43B5-931A-D5C6339A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normalize() 讓斜向移動與直向移動具有相同速率。</a:t>
            </a:r>
          </a:p>
        </p:txBody>
      </p:sp>
      <p:sp>
        <p:nvSpPr>
          <p:cNvPr id="10" name="actors.py · Player.set_direction()">
            <a:extLst xmlns:a="http://schemas.openxmlformats.org/drawingml/2006/main">
              <a:ext uri="{FF2B5EF4-FFF2-40B4-BE49-F238E27FC236}">
                <a16:creationId xmlns:a16="http://schemas.microsoft.com/office/drawing/2014/main" id="{8FF14E88-0B13-4547-A65B-DAFB80CC5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Player.set_direction()</a:t>
            </a:r>
          </a:p>
        </p:txBody>
      </p:sp>
      <p:sp>
        <p:nvSpPr>
          <p:cNvPr id="11" name="15">
            <a:extLst xmlns:a="http://schemas.openxmlformats.org/drawingml/2006/main">
              <a:ext uri="{FF2B5EF4-FFF2-40B4-BE49-F238E27FC236}">
                <a16:creationId xmlns:a16="http://schemas.microsoft.com/office/drawing/2014/main" id="{8C95AC00-2776-4AED-8C8F-84E50750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254549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layer.shoot()：決定能否發射">
            <a:extLst xmlns:a="http://schemas.openxmlformats.org/drawingml/2006/main">
              <a:ext uri="{FF2B5EF4-FFF2-40B4-BE49-F238E27FC236}">
                <a16:creationId xmlns:a16="http://schemas.microsoft.com/office/drawing/2014/main" id="{BD65254C-344C-45E5-BD62-0F7A17A22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Player.shoot()：決定能否發射</a:t>
            </a:r>
          </a:p>
        </p:txBody>
      </p:sp>
      <p:sp>
        <p:nvSpPr>
          <p:cNvPr id="2" name="方法把限制與狀態更新封裝在一起">
            <a:extLst xmlns:a="http://schemas.openxmlformats.org/drawingml/2006/main">
              <a:ext uri="{FF2B5EF4-FFF2-40B4-BE49-F238E27FC236}">
                <a16:creationId xmlns:a16="http://schemas.microsoft.com/office/drawing/2014/main" id="{9922C079-D5BF-433C-8215-9E056406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方法把限制與狀態更新封裝在一起</a:t>
            </a:r>
          </a:p>
        </p:txBody>
      </p:sp>
      <p:sp>
        <p:nvSpPr>
          <p:cNvPr id="3" name="def shoot(self, name):">
            <a:extLst xmlns:a="http://schemas.openxmlformats.org/drawingml/2006/main">
              <a:ext uri="{FF2B5EF4-FFF2-40B4-BE49-F238E27FC236}">
                <a16:creationId xmlns:a16="http://schemas.microsoft.com/office/drawing/2014/main" id="{FC3360F4-6C26-4D90-B8D8-FF16CF42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shoot(self, name):</a:t>
            </a:r>
          </a:p>
        </p:txBody>
      </p:sp>
      <p:sp>
        <p:nvSpPr>
          <p:cNvPr id="4" name="    if self.cooldown &gt; 0 or self.hp == 0:">
            <a:extLst xmlns:a="http://schemas.openxmlformats.org/drawingml/2006/main">
              <a:ext uri="{FF2B5EF4-FFF2-40B4-BE49-F238E27FC236}">
                <a16:creationId xmlns:a16="http://schemas.microsoft.com/office/drawing/2014/main" id="{925BE753-1CDC-4988-97B6-782F9E0E7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self.cooldown &gt; 0 or self.hp == 0:</a:t>
            </a:r>
          </a:p>
        </p:txBody>
      </p:sp>
      <p:sp>
        <p:nvSpPr>
          <p:cNvPr id="5" name="        return None">
            <a:extLst xmlns:a="http://schemas.openxmlformats.org/drawingml/2006/main">
              <a:ext uri="{FF2B5EF4-FFF2-40B4-BE49-F238E27FC236}">
                <a16:creationId xmlns:a16="http://schemas.microsoft.com/office/drawing/2014/main" id="{0B01C353-77E2-447C-B060-DD1847D1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None</a:t>
            </a:r>
          </a:p>
        </p:txBody>
      </p:sp>
      <p:sp>
        <p:nvSpPr>
          <p:cNvPr id="6" name="    self.cooldown = SHOT_INTERVAL">
            <a:extLst xmlns:a="http://schemas.openxmlformats.org/drawingml/2006/main">
              <a:ext uri="{FF2B5EF4-FFF2-40B4-BE49-F238E27FC236}">
                <a16:creationId xmlns:a16="http://schemas.microsoft.com/office/drawing/2014/main" id="{326982E2-7998-4222-AB14-15869636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self.cooldown = SHOT_INTERVAL</a:t>
            </a:r>
          </a:p>
        </p:txBody>
      </p:sp>
      <p:sp>
        <p:nvSpPr>
          <p:cNvPr id="7" name="    return Bullet(name, self)">
            <a:extLst xmlns:a="http://schemas.openxmlformats.org/drawingml/2006/main">
              <a:ext uri="{FF2B5EF4-FFF2-40B4-BE49-F238E27FC236}">
                <a16:creationId xmlns:a16="http://schemas.microsoft.com/office/drawing/2014/main" id="{436C7440-A419-492D-A362-4AE186890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Bullet(name, self)</a:t>
            </a:r>
          </a:p>
        </p:txBody>
      </p:sp>
      <p:sp>
        <p:nvSpPr>
          <p:cNvPr id="8" name="冷卻未結束或 hp 為 0 時，回傳 None。">
            <a:extLst xmlns:a="http://schemas.openxmlformats.org/drawingml/2006/main">
              <a:ext uri="{FF2B5EF4-FFF2-40B4-BE49-F238E27FC236}">
                <a16:creationId xmlns:a16="http://schemas.microsoft.com/office/drawing/2014/main" id="{3B54B7F2-1B0E-4DA1-99A8-BCA95654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冷卻未結束或 hp 為 0 時，回傳 None。</a:t>
            </a:r>
          </a:p>
        </p:txBody>
      </p:sp>
      <p:sp>
        <p:nvSpPr>
          <p:cNvPr id="9" name="成功時建立新 Bullet；self 就是發射它的玩家。">
            <a:extLst xmlns:a="http://schemas.openxmlformats.org/drawingml/2006/main">
              <a:ext uri="{FF2B5EF4-FFF2-40B4-BE49-F238E27FC236}">
                <a16:creationId xmlns:a16="http://schemas.microsoft.com/office/drawing/2014/main" id="{7E155714-0102-4432-BF78-A9A90F36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成功時建立新 Bullet；self 就是發射它的玩家。</a:t>
            </a:r>
          </a:p>
        </p:txBody>
      </p:sp>
      <p:sp>
        <p:nvSpPr>
          <p:cNvPr id="10" name="actors.py · Player.shoot()">
            <a:extLst xmlns:a="http://schemas.openxmlformats.org/drawingml/2006/main">
              <a:ext uri="{FF2B5EF4-FFF2-40B4-BE49-F238E27FC236}">
                <a16:creationId xmlns:a16="http://schemas.microsoft.com/office/drawing/2014/main" id="{B6F8A64E-5700-4243-AAFA-478F8F31C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Player.shoot()</a:t>
            </a:r>
          </a:p>
        </p:txBody>
      </p:sp>
      <p:sp>
        <p:nvSpPr>
          <p:cNvPr id="11" name="16">
            <a:extLst xmlns:a="http://schemas.openxmlformats.org/drawingml/2006/main">
              <a:ext uri="{FF2B5EF4-FFF2-40B4-BE49-F238E27FC236}">
                <a16:creationId xmlns:a16="http://schemas.microsoft.com/office/drawing/2014/main" id="{69E9394B-63CA-417E-833C-41AD1E229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01599902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ullet：記住誰發射自己">
            <a:extLst xmlns:a="http://schemas.openxmlformats.org/drawingml/2006/main">
              <a:ext uri="{FF2B5EF4-FFF2-40B4-BE49-F238E27FC236}">
                <a16:creationId xmlns:a16="http://schemas.microsoft.com/office/drawing/2014/main" id="{F69EA34D-3D99-4B12-AA9E-5451A061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Bullet：記住誰發射自己</a:t>
            </a:r>
          </a:p>
        </p:txBody>
      </p:sp>
      <p:sp>
        <p:nvSpPr>
          <p:cNvPr id="2" name="owner 保留物件參照；負的 y 速度表示向上">
            <a:extLst xmlns:a="http://schemas.openxmlformats.org/drawingml/2006/main">
              <a:ext uri="{FF2B5EF4-FFF2-40B4-BE49-F238E27FC236}">
                <a16:creationId xmlns:a16="http://schemas.microsoft.com/office/drawing/2014/main" id="{E48B2047-A6D8-4743-B302-C317C1F6E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owner 保留物件參照；負的 y 速度表示向上</a:t>
            </a:r>
          </a:p>
        </p:txBody>
      </p:sp>
      <p:sp>
        <p:nvSpPr>
          <p:cNvPr id="3" name="def __init__(self, name, owner):">
            <a:extLst xmlns:a="http://schemas.openxmlformats.org/drawingml/2006/main">
              <a:ext uri="{FF2B5EF4-FFF2-40B4-BE49-F238E27FC236}">
                <a16:creationId xmlns:a16="http://schemas.microsoft.com/office/drawing/2014/main" id="{FD7ACA5F-91F9-4C27-9D25-883713CA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__init__(self, name, owner):</a:t>
            </a:r>
          </a:p>
        </p:txBody>
      </p:sp>
      <p:sp>
        <p:nvSpPr>
          <p:cNvPr id="4" name="    position = (owner.rect.centerx, owner.rect.top - 9)">
            <a:extLst xmlns:a="http://schemas.openxmlformats.org/drawingml/2006/main">
              <a:ext uri="{FF2B5EF4-FFF2-40B4-BE49-F238E27FC236}">
                <a16:creationId xmlns:a16="http://schemas.microsoft.com/office/drawing/2014/main" id="{D9C8C7DD-22AB-413F-83F0-CDFE29DF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position = (owner.rect.centerx, owner.rect.top - 9)</a:t>
            </a:r>
          </a:p>
        </p:txBody>
      </p:sp>
      <p:sp>
        <p:nvSpPr>
          <p:cNvPr id="5" name="    super().__init__(name, position, (8, 20))">
            <a:extLst xmlns:a="http://schemas.openxmlformats.org/drawingml/2006/main">
              <a:ext uri="{FF2B5EF4-FFF2-40B4-BE49-F238E27FC236}">
                <a16:creationId xmlns:a16="http://schemas.microsoft.com/office/drawing/2014/main" id="{D3515820-B814-4D8F-BECC-55A4375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super().__init__(name, position, (8, 20))</a:t>
            </a:r>
          </a:p>
        </p:txBody>
      </p:sp>
      <p:sp>
        <p:nvSpPr>
          <p:cNvPr id="6" name="    self.owner = owner">
            <a:extLst xmlns:a="http://schemas.openxmlformats.org/drawingml/2006/main">
              <a:ext uri="{FF2B5EF4-FFF2-40B4-BE49-F238E27FC236}">
                <a16:creationId xmlns:a16="http://schemas.microsoft.com/office/drawing/2014/main" id="{766D9A6D-C394-4C77-BCEA-4E1D91C4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self.owner = owner</a:t>
            </a:r>
          </a:p>
        </p:txBody>
      </p:sp>
      <p:sp>
        <p:nvSpPr>
          <p:cNvPr id="7" name="    self.damage = 1">
            <a:extLst xmlns:a="http://schemas.openxmlformats.org/drawingml/2006/main">
              <a:ext uri="{FF2B5EF4-FFF2-40B4-BE49-F238E27FC236}">
                <a16:creationId xmlns:a16="http://schemas.microsoft.com/office/drawing/2014/main" id="{59373960-3F66-49C7-9747-DAF78D37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self.damage = 1</a:t>
            </a:r>
          </a:p>
        </p:txBody>
      </p:sp>
      <p:sp>
        <p:nvSpPr>
          <p:cNvPr id="8" name="    self.velocity.y = -BULLET_SPEED">
            <a:extLst xmlns:a="http://schemas.openxmlformats.org/drawingml/2006/main">
              <a:ext uri="{FF2B5EF4-FFF2-40B4-BE49-F238E27FC236}">
                <a16:creationId xmlns:a16="http://schemas.microsoft.com/office/drawing/2014/main" id="{8830C958-A070-45E1-BDCE-EDFE45C1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self.velocity.y = -BULLET_SPEED</a:t>
            </a:r>
          </a:p>
        </p:txBody>
      </p:sp>
      <p:sp>
        <p:nvSpPr>
          <p:cNvPr id="9" name="owner 是 Player 物件，不是字串，也不是複本。">
            <a:extLst xmlns:a="http://schemas.openxmlformats.org/drawingml/2006/main">
              <a:ext uri="{FF2B5EF4-FFF2-40B4-BE49-F238E27FC236}">
                <a16:creationId xmlns:a16="http://schemas.microsoft.com/office/drawing/2014/main" id="{82CEA7C3-C9B0-48B9-82C2-3642AC79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owner 是 Player 物件，不是字串，也不是複本。</a:t>
            </a:r>
          </a:p>
        </p:txBody>
      </p:sp>
      <p:sp>
        <p:nvSpPr>
          <p:cNvPr id="10" name="此頁省略外觀繪製；傷害數值為 1。">
            <a:extLst xmlns:a="http://schemas.openxmlformats.org/drawingml/2006/main">
              <a:ext uri="{FF2B5EF4-FFF2-40B4-BE49-F238E27FC236}">
                <a16:creationId xmlns:a16="http://schemas.microsoft.com/office/drawing/2014/main" id="{19134B4A-FC79-407A-8DDA-49F841C02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此頁省略外觀繪製；傷害數值為 1。</a:t>
            </a:r>
          </a:p>
        </p:txBody>
      </p:sp>
      <p:sp>
        <p:nvSpPr>
          <p:cNvPr id="11" name="actors.py · Bullet.__init__() · excerpt">
            <a:extLst xmlns:a="http://schemas.openxmlformats.org/drawingml/2006/main">
              <a:ext uri="{FF2B5EF4-FFF2-40B4-BE49-F238E27FC236}">
                <a16:creationId xmlns:a16="http://schemas.microsoft.com/office/drawing/2014/main" id="{09F18562-27C7-49EC-A354-E0197D2D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Bullet.__init__() · excerpt</a:t>
            </a:r>
          </a:p>
        </p:txBody>
      </p:sp>
      <p:sp>
        <p:nvSpPr>
          <p:cNvPr id="12" name="17">
            <a:extLst xmlns:a="http://schemas.openxmlformats.org/drawingml/2006/main">
              <a:ext uri="{FF2B5EF4-FFF2-40B4-BE49-F238E27FC236}">
                <a16:creationId xmlns:a16="http://schemas.microsoft.com/office/drawing/2014/main" id="{59CD40CA-FA65-4D33-8333-2FFD6582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7164430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Game：把新子彈加入場景">
            <a:extLst xmlns:a="http://schemas.openxmlformats.org/drawingml/2006/main">
              <a:ext uri="{FF2B5EF4-FFF2-40B4-BE49-F238E27FC236}">
                <a16:creationId xmlns:a16="http://schemas.microsoft.com/office/drawing/2014/main" id="{23436AC1-453C-4166-8ED9-E6CFD958A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Game：把新子彈加入場景</a:t>
            </a:r>
          </a:p>
        </p:txBody>
      </p:sp>
      <p:sp>
        <p:nvSpPr>
          <p:cNvPr id="2" name="建立物件，與加入群組，是兩個不同步驟">
            <a:extLst xmlns:a="http://schemas.openxmlformats.org/drawingml/2006/main">
              <a:ext uri="{FF2B5EF4-FFF2-40B4-BE49-F238E27FC236}">
                <a16:creationId xmlns:a16="http://schemas.microsoft.com/office/drawing/2014/main" id="{B5B79B98-540C-4757-AAF4-0D72C3EB7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建立物件，與加入群組，是兩個不同步驟</a:t>
            </a:r>
          </a:p>
        </p:txBody>
      </p:sp>
      <p:sp>
        <p:nvSpPr>
          <p:cNvPr id="3" name="bullet = self.player.shoot(f&quot;B{self.next_bullet:02}&quot;)">
            <a:extLst xmlns:a="http://schemas.openxmlformats.org/drawingml/2006/main">
              <a:ext uri="{FF2B5EF4-FFF2-40B4-BE49-F238E27FC236}">
                <a16:creationId xmlns:a16="http://schemas.microsoft.com/office/drawing/2014/main" id="{A040A35F-4955-464A-ABC5-A60C8F2C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bullet = self.player.shoot(f"B{self.next_bullet:02}")</a:t>
            </a:r>
          </a:p>
        </p:txBody>
      </p:sp>
      <p:sp>
        <p:nvSpPr>
          <p:cNvPr id="4" name="if bullet is not None:">
            <a:extLst xmlns:a="http://schemas.openxmlformats.org/drawingml/2006/main">
              <a:ext uri="{FF2B5EF4-FFF2-40B4-BE49-F238E27FC236}">
                <a16:creationId xmlns:a16="http://schemas.microsoft.com/office/drawing/2014/main" id="{150892B5-8ECF-4F27-A9B3-BA89C91D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bullet is not None:</a:t>
            </a:r>
          </a:p>
        </p:txBody>
      </p:sp>
      <p:sp>
        <p:nvSpPr>
          <p:cNvPr id="5" name="    self.next_bullet += 1">
            <a:extLst xmlns:a="http://schemas.openxmlformats.org/drawingml/2006/main">
              <a:ext uri="{FF2B5EF4-FFF2-40B4-BE49-F238E27FC236}">
                <a16:creationId xmlns:a16="http://schemas.microsoft.com/office/drawing/2014/main" id="{81F83584-66AA-4CFB-84FB-672FFDB3D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self.next_bullet += 1</a:t>
            </a:r>
          </a:p>
        </p:txBody>
      </p:sp>
      <p:sp>
        <p:nvSpPr>
          <p:cNvPr id="6" name="    self.bullets.add(bullet)">
            <a:extLst xmlns:a="http://schemas.openxmlformats.org/drawingml/2006/main">
              <a:ext uri="{FF2B5EF4-FFF2-40B4-BE49-F238E27FC236}">
                <a16:creationId xmlns:a16="http://schemas.microsoft.com/office/drawing/2014/main" id="{162A2042-676A-44DB-845A-835B99D0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self.bullets.add(bullet)</a:t>
            </a:r>
          </a:p>
        </p:txBody>
      </p:sp>
      <p:sp>
        <p:nvSpPr>
          <p:cNvPr id="7" name="    self.all_sprites.add(bullet)">
            <a:extLst xmlns:a="http://schemas.openxmlformats.org/drawingml/2006/main">
              <a:ext uri="{FF2B5EF4-FFF2-40B4-BE49-F238E27FC236}">
                <a16:creationId xmlns:a16="http://schemas.microsoft.com/office/drawing/2014/main" id="{BD842A9A-A9B0-4307-8551-AEEF8D0D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self.all_sprites.add(bullet)</a:t>
            </a:r>
          </a:p>
        </p:txBody>
      </p:sp>
      <p:sp>
        <p:nvSpPr>
          <p:cNvPr id="8" name="Player 負責產生 Bullet；Game 決定它參與哪些群組。">
            <a:extLst xmlns:a="http://schemas.openxmlformats.org/drawingml/2006/main">
              <a:ext uri="{FF2B5EF4-FFF2-40B4-BE49-F238E27FC236}">
                <a16:creationId xmlns:a16="http://schemas.microsoft.com/office/drawing/2014/main" id="{6F337E6D-FDE0-4544-8795-35BCE7F39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Player 負責產生 Bullet；Game 決定它參與哪些群組。</a:t>
            </a:r>
          </a:p>
        </p:txBody>
      </p:sp>
      <p:sp>
        <p:nvSpPr>
          <p:cNvPr id="9" name="加入 bullets 後可參與碰撞；加入 all_sprites 後可更新與繪製。">
            <a:extLst xmlns:a="http://schemas.openxmlformats.org/drawingml/2006/main">
              <a:ext uri="{FF2B5EF4-FFF2-40B4-BE49-F238E27FC236}">
                <a16:creationId xmlns:a16="http://schemas.microsoft.com/office/drawing/2014/main" id="{1BB93F9D-B2B8-444A-AC07-048C615F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加入 bullets 後可參與碰撞；加入 all_sprites 後可更新與繪製。</a:t>
            </a:r>
          </a:p>
        </p:txBody>
      </p:sp>
      <p:sp>
        <p:nvSpPr>
          <p:cNvPr id="10" name="game.py · Game.try_shoot() · excerpt">
            <a:extLst xmlns:a="http://schemas.openxmlformats.org/drawingml/2006/main">
              <a:ext uri="{FF2B5EF4-FFF2-40B4-BE49-F238E27FC236}">
                <a16:creationId xmlns:a16="http://schemas.microsoft.com/office/drawing/2014/main" id="{3466345F-37C0-4918-9716-F8B2D117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Game.try_shoot() · excerpt</a:t>
            </a:r>
          </a:p>
        </p:txBody>
      </p:sp>
      <p:sp>
        <p:nvSpPr>
          <p:cNvPr id="11" name="18">
            <a:extLst xmlns:a="http://schemas.openxmlformats.org/drawingml/2006/main">
              <a:ext uri="{FF2B5EF4-FFF2-40B4-BE49-F238E27FC236}">
                <a16:creationId xmlns:a16="http://schemas.microsoft.com/office/drawing/2014/main" id="{EA43D919-FE1B-4DF3-A9B6-8C47627A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96028520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多型：同一個 update(dt)，不同工作">
            <a:extLst xmlns:a="http://schemas.openxmlformats.org/drawingml/2006/main">
              <a:ext uri="{FF2B5EF4-FFF2-40B4-BE49-F238E27FC236}">
                <a16:creationId xmlns:a16="http://schemas.microsoft.com/office/drawing/2014/main" id="{107F599A-8B56-4CDC-B075-158CBF504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多型：同一個 update(dt)，不同工作</a:t>
            </a:r>
          </a:p>
        </p:txBody>
      </p:sp>
      <p:sp>
        <p:nvSpPr>
          <p:cNvPr id="2" name="game.all_sprites.update(dt)">
            <a:extLst xmlns:a="http://schemas.openxmlformats.org/drawingml/2006/main">
              <a:ext uri="{FF2B5EF4-FFF2-40B4-BE49-F238E27FC236}">
                <a16:creationId xmlns:a16="http://schemas.microsoft.com/office/drawing/2014/main" id="{0D0FF631-5E36-437F-8994-0AFF2554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game.all_sprites.update(dt)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BE74B46D-39F0-4DC1-AA37-87BB1DFAD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Player.update：先移動，再限制邊界、更新冷卻與無敵時間。">
            <a:extLst xmlns:a="http://schemas.openxmlformats.org/drawingml/2006/main">
              <a:ext uri="{FF2B5EF4-FFF2-40B4-BE49-F238E27FC236}">
                <a16:creationId xmlns:a16="http://schemas.microsoft.com/office/drawing/2014/main" id="{B9D3E40F-72CD-42F0-AA92-6EF8E7A1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Player.update：先移動，再限制邊界、更新冷卻與無敵時間。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20CE58B8-7E91-46B6-94F0-2146CE2C7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Enemy：直接沿用 Actor.update，依自己的 velocity 向下移動。">
            <a:extLst xmlns:a="http://schemas.openxmlformats.org/drawingml/2006/main">
              <a:ext uri="{FF2B5EF4-FFF2-40B4-BE49-F238E27FC236}">
                <a16:creationId xmlns:a16="http://schemas.microsoft.com/office/drawing/2014/main" id="{D3C09DEE-49ED-4880-9CD9-557747BEC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Enemy：直接沿用 Actor.update，依自己的 velocity 向下移動。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E6003CE8-373C-4465-BCBA-C3BC0C805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Bullet.update：先移動，離開上方邊界就 kill()。">
            <a:extLst xmlns:a="http://schemas.openxmlformats.org/drawingml/2006/main">
              <a:ext uri="{FF2B5EF4-FFF2-40B4-BE49-F238E27FC236}">
                <a16:creationId xmlns:a16="http://schemas.microsoft.com/office/drawing/2014/main" id="{269B61A7-4B6A-439C-913C-27AACEA8E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Bullet.update：先移動，離開上方邊界就 kill()。</a:t>
            </a:r>
          </a:p>
        </p:txBody>
      </p:sp>
      <p:sp>
        <p:nvSpPr>
          <p:cNvPr id="9" name="19">
            <a:extLst xmlns:a="http://schemas.openxmlformats.org/drawingml/2006/main">
              <a:ext uri="{FF2B5EF4-FFF2-40B4-BE49-F238E27FC236}">
                <a16:creationId xmlns:a16="http://schemas.microsoft.com/office/drawing/2014/main" id="{A43A9CC6-1003-48D2-9720-F37DF7701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5395783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Enemy：自己管理受擊狀態">
            <a:extLst xmlns:a="http://schemas.openxmlformats.org/drawingml/2006/main">
              <a:ext uri="{FF2B5EF4-FFF2-40B4-BE49-F238E27FC236}">
                <a16:creationId xmlns:a16="http://schemas.microsoft.com/office/drawing/2014/main" id="{1BEFB5FD-6E4D-4279-9076-1A9689B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Enemy：自己管理受擊狀態</a:t>
            </a:r>
          </a:p>
        </p:txBody>
      </p:sp>
      <p:sp>
        <p:nvSpPr>
          <p:cNvPr id="2" name="Game 問「是否擊破？」；Enemy 決定 hp 如何變化">
            <a:extLst xmlns:a="http://schemas.openxmlformats.org/drawingml/2006/main">
              <a:ext uri="{FF2B5EF4-FFF2-40B4-BE49-F238E27FC236}">
                <a16:creationId xmlns:a16="http://schemas.microsoft.com/office/drawing/2014/main" id="{9E2B0010-C00E-4621-899F-0ADE882D5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Game 問「是否擊破？」；Enemy 決定 hp 如何變化</a:t>
            </a:r>
          </a:p>
        </p:txBody>
      </p:sp>
      <p:sp>
        <p:nvSpPr>
          <p:cNvPr id="3" name="def take_hit(self, damage):">
            <a:extLst xmlns:a="http://schemas.openxmlformats.org/drawingml/2006/main">
              <a:ext uri="{FF2B5EF4-FFF2-40B4-BE49-F238E27FC236}">
                <a16:creationId xmlns:a16="http://schemas.microsoft.com/office/drawing/2014/main" id="{7C0C46C5-F70C-4DFE-BDAC-C156FD21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take_hit(self, damage):</a:t>
            </a:r>
          </a:p>
        </p:txBody>
      </p:sp>
      <p:sp>
        <p:nvSpPr>
          <p:cNvPr id="4" name="    self.hp = max(0, self.hp - damage)">
            <a:extLst xmlns:a="http://schemas.openxmlformats.org/drawingml/2006/main">
              <a:ext uri="{FF2B5EF4-FFF2-40B4-BE49-F238E27FC236}">
                <a16:creationId xmlns:a16="http://schemas.microsoft.com/office/drawing/2014/main" id="{961CB950-2757-4029-B1B1-89AA060D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self.hp = max(0, self.hp - damage)</a:t>
            </a:r>
          </a:p>
        </p:txBody>
      </p:sp>
      <p:sp>
        <p:nvSpPr>
          <p:cNvPr id="5" name="    if self.hp == 0:">
            <a:extLst xmlns:a="http://schemas.openxmlformats.org/drawingml/2006/main">
              <a:ext uri="{FF2B5EF4-FFF2-40B4-BE49-F238E27FC236}">
                <a16:creationId xmlns:a16="http://schemas.microsoft.com/office/drawing/2014/main" id="{EC84C2A3-8576-4A7C-B3C4-1FAC86E34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self.hp == 0:</a:t>
            </a:r>
          </a:p>
        </p:txBody>
      </p:sp>
      <p:sp>
        <p:nvSpPr>
          <p:cNvPr id="6" name="        self.kill()">
            <a:extLst xmlns:a="http://schemas.openxmlformats.org/drawingml/2006/main">
              <a:ext uri="{FF2B5EF4-FFF2-40B4-BE49-F238E27FC236}">
                <a16:creationId xmlns:a16="http://schemas.microsoft.com/office/drawing/2014/main" id="{84281921-A907-42D7-A95B-AA8C1B88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self.kill()</a:t>
            </a:r>
          </a:p>
        </p:txBody>
      </p:sp>
      <p:sp>
        <p:nvSpPr>
          <p:cNvPr id="7" name="        return True">
            <a:extLst xmlns:a="http://schemas.openxmlformats.org/drawingml/2006/main">
              <a:ext uri="{FF2B5EF4-FFF2-40B4-BE49-F238E27FC236}">
                <a16:creationId xmlns:a16="http://schemas.microsoft.com/office/drawing/2014/main" id="{837CB491-70A9-4696-ACD1-9AE771B34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True</a:t>
            </a:r>
          </a:p>
        </p:txBody>
      </p:sp>
      <p:sp>
        <p:nvSpPr>
          <p:cNvPr id="8" name="    return False">
            <a:extLst xmlns:a="http://schemas.openxmlformats.org/drawingml/2006/main">
              <a:ext uri="{FF2B5EF4-FFF2-40B4-BE49-F238E27FC236}">
                <a16:creationId xmlns:a16="http://schemas.microsoft.com/office/drawing/2014/main" id="{5C20C6EB-A68B-4930-9772-831E263B6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False</a:t>
            </a:r>
          </a:p>
        </p:txBody>
      </p:sp>
      <p:sp>
        <p:nvSpPr>
          <p:cNvPr id="9" name="max(0, ...) 使 hp 不會小於 0。">
            <a:extLst xmlns:a="http://schemas.openxmlformats.org/drawingml/2006/main">
              <a:ext uri="{FF2B5EF4-FFF2-40B4-BE49-F238E27FC236}">
                <a16:creationId xmlns:a16="http://schemas.microsoft.com/office/drawing/2014/main" id="{C433FA53-FE26-424D-AC58-BCF1EC3E4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max(0, ...) 使 hp 不會小於 0。</a:t>
            </a:r>
          </a:p>
        </p:txBody>
      </p:sp>
      <p:sp>
        <p:nvSpPr>
          <p:cNvPr id="10" name="回傳 True 才表示剛被擊破；Game 才加分。">
            <a:extLst xmlns:a="http://schemas.openxmlformats.org/drawingml/2006/main">
              <a:ext uri="{FF2B5EF4-FFF2-40B4-BE49-F238E27FC236}">
                <a16:creationId xmlns:a16="http://schemas.microsoft.com/office/drawing/2014/main" id="{AF623118-C5A0-4EF5-BA72-017A8C4A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回傳 True 才表示剛被擊破；Game 才加分。</a:t>
            </a:r>
          </a:p>
        </p:txBody>
      </p:sp>
      <p:sp>
        <p:nvSpPr>
          <p:cNvPr id="11" name="actors.py · Enemy.take_hit()">
            <a:extLst xmlns:a="http://schemas.openxmlformats.org/drawingml/2006/main">
              <a:ext uri="{FF2B5EF4-FFF2-40B4-BE49-F238E27FC236}">
                <a16:creationId xmlns:a16="http://schemas.microsoft.com/office/drawing/2014/main" id="{168A2ED3-D628-4E61-B079-8D28DE809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Enemy.take_hit()</a:t>
            </a:r>
          </a:p>
        </p:txBody>
      </p:sp>
      <p:sp>
        <p:nvSpPr>
          <p:cNvPr id="12" name="20">
            <a:extLst xmlns:a="http://schemas.openxmlformats.org/drawingml/2006/main">
              <a:ext uri="{FF2B5EF4-FFF2-40B4-BE49-F238E27FC236}">
                <a16:creationId xmlns:a16="http://schemas.microsoft.com/office/drawing/2014/main" id="{489760DF-4DA7-48B6-ACB8-1F5D9729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71249870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碰撞：一顆子彈只處理一次命中">
            <a:extLst xmlns:a="http://schemas.openxmlformats.org/drawingml/2006/main">
              <a:ext uri="{FF2B5EF4-FFF2-40B4-BE49-F238E27FC236}">
                <a16:creationId xmlns:a16="http://schemas.microsoft.com/office/drawing/2014/main" id="{7CF1CA54-560C-41E6-816F-BF6B3A35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碰撞：一顆子彈只處理一次命中</a:t>
            </a:r>
          </a:p>
        </p:txBody>
      </p:sp>
      <p:sp>
        <p:nvSpPr>
          <p:cNvPr id="2" name="rect 矩形重疊；本例沒有使用像素遮罩">
            <a:extLst xmlns:a="http://schemas.openxmlformats.org/drawingml/2006/main">
              <a:ext uri="{FF2B5EF4-FFF2-40B4-BE49-F238E27FC236}">
                <a16:creationId xmlns:a16="http://schemas.microsoft.com/office/drawing/2014/main" id="{8E7256EE-0326-458F-83C1-CA55F6E5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rect 矩形重疊；本例沒有使用像素遮罩</a:t>
            </a:r>
          </a:p>
        </p:txBody>
      </p:sp>
      <p:sp>
        <p:nvSpPr>
          <p:cNvPr id="3" name="for bullet in self.bullets.sprites():">
            <a:extLst xmlns:a="http://schemas.openxmlformats.org/drawingml/2006/main">
              <a:ext uri="{FF2B5EF4-FFF2-40B4-BE49-F238E27FC236}">
                <a16:creationId xmlns:a16="http://schemas.microsoft.com/office/drawing/2014/main" id="{18B3E964-C5F3-4EFC-8EB6-F0B7FA95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for bullet in self.bullets.sprites():</a:t>
            </a:r>
          </a:p>
        </p:txBody>
      </p:sp>
      <p:sp>
        <p:nvSpPr>
          <p:cNvPr id="4" name="    hits = pygame.sprite.spritecollide(">
            <a:extLst xmlns:a="http://schemas.openxmlformats.org/drawingml/2006/main">
              <a:ext uri="{FF2B5EF4-FFF2-40B4-BE49-F238E27FC236}">
                <a16:creationId xmlns:a16="http://schemas.microsoft.com/office/drawing/2014/main" id="{394851D1-A508-41E5-A57D-D44F569A6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hits = pygame.sprite.spritecollide(</a:t>
            </a:r>
          </a:p>
        </p:txBody>
      </p:sp>
      <p:sp>
        <p:nvSpPr>
          <p:cNvPr id="5" name="        bullet, self.enemies, False)">
            <a:extLst xmlns:a="http://schemas.openxmlformats.org/drawingml/2006/main">
              <a:ext uri="{FF2B5EF4-FFF2-40B4-BE49-F238E27FC236}">
                <a16:creationId xmlns:a16="http://schemas.microsoft.com/office/drawing/2014/main" id="{B868D118-18A0-457C-9C4F-87E343426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bullet, self.enemies, False)</a:t>
            </a:r>
          </a:p>
        </p:txBody>
      </p:sp>
      <p:sp>
        <p:nvSpPr>
          <p:cNvPr id="6" name="    if hits:">
            <a:extLst xmlns:a="http://schemas.openxmlformats.org/drawingml/2006/main">
              <a:ext uri="{FF2B5EF4-FFF2-40B4-BE49-F238E27FC236}">
                <a16:creationId xmlns:a16="http://schemas.microsoft.com/office/drawing/2014/main" id="{E701365A-4355-4687-B9BF-D27C88C0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hits:</a:t>
            </a:r>
          </a:p>
        </p:txBody>
      </p:sp>
      <p:sp>
        <p:nvSpPr>
          <p:cNvPr id="7" name="        enemy = hits[0]">
            <a:extLst xmlns:a="http://schemas.openxmlformats.org/drawingml/2006/main">
              <a:ext uri="{FF2B5EF4-FFF2-40B4-BE49-F238E27FC236}">
                <a16:creationId xmlns:a16="http://schemas.microsoft.com/office/drawing/2014/main" id="{CE731053-111A-414E-ABA9-D4136FAE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enemy = hits[0]</a:t>
            </a:r>
          </a:p>
        </p:txBody>
      </p:sp>
      <p:sp>
        <p:nvSpPr>
          <p:cNvPr id="8" name="        destroyed = enemy.take_hit(bullet.damage)">
            <a:extLst xmlns:a="http://schemas.openxmlformats.org/drawingml/2006/main">
              <a:ext uri="{FF2B5EF4-FFF2-40B4-BE49-F238E27FC236}">
                <a16:creationId xmlns:a16="http://schemas.microsoft.com/office/drawing/2014/main" id="{FA953A8E-6F04-4168-9364-E2D8CE25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destroyed = enemy.take_hit(bullet.damage)</a:t>
            </a:r>
          </a:p>
        </p:txBody>
      </p:sp>
      <p:sp>
        <p:nvSpPr>
          <p:cNvPr id="9" name="        bullet.kill()">
            <a:extLst xmlns:a="http://schemas.openxmlformats.org/drawingml/2006/main">
              <a:ext uri="{FF2B5EF4-FFF2-40B4-BE49-F238E27FC236}">
                <a16:creationId xmlns:a16="http://schemas.microsoft.com/office/drawing/2014/main" id="{C42D1B79-FB1B-408B-942F-3AED2BA4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bullet.kill()</a:t>
            </a:r>
          </a:p>
        </p:txBody>
      </p:sp>
      <p:sp>
        <p:nvSpPr>
          <p:cNvPr id="10" name="        if destroyed:">
            <a:extLst xmlns:a="http://schemas.openxmlformats.org/drawingml/2006/main">
              <a:ext uri="{FF2B5EF4-FFF2-40B4-BE49-F238E27FC236}">
                <a16:creationId xmlns:a16="http://schemas.microsoft.com/office/drawing/2014/main" id="{919FE575-B245-4D7D-94A4-14960A79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if destroyed:</a:t>
            </a:r>
          </a:p>
        </p:txBody>
      </p:sp>
      <p:sp>
        <p:nvSpPr>
          <p:cNvPr id="11" name="            self.score += 10">
            <a:extLst xmlns:a="http://schemas.openxmlformats.org/drawingml/2006/main">
              <a:ext uri="{FF2B5EF4-FFF2-40B4-BE49-F238E27FC236}">
                <a16:creationId xmlns:a16="http://schemas.microsoft.com/office/drawing/2014/main" id="{C497DC24-FAE8-4569-9580-3E1C17CF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053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    self.score += 10</a:t>
            </a:r>
          </a:p>
        </p:txBody>
      </p:sp>
      <p:sp>
        <p:nvSpPr>
          <p:cNvPr id="12" name="hits[0] 只取第一個敵人；重疊敵人不會被同一顆子彈重複擊中。">
            <a:extLst xmlns:a="http://schemas.openxmlformats.org/drawingml/2006/main">
              <a:ext uri="{FF2B5EF4-FFF2-40B4-BE49-F238E27FC236}">
                <a16:creationId xmlns:a16="http://schemas.microsoft.com/office/drawing/2014/main" id="{982E32FA-A7DC-4986-9E6F-D5E57762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hits[0] 只取第一個敵人；重疊敵人不會被同一顆子彈重複擊中。</a:t>
            </a:r>
          </a:p>
        </p:txBody>
      </p:sp>
      <p:sp>
        <p:nvSpPr>
          <p:cNvPr id="13" name="先扣血，再移除子彈；擊破才 +10。">
            <a:extLst xmlns:a="http://schemas.openxmlformats.org/drawingml/2006/main">
              <a:ext uri="{FF2B5EF4-FFF2-40B4-BE49-F238E27FC236}">
                <a16:creationId xmlns:a16="http://schemas.microsoft.com/office/drawing/2014/main" id="{1EDE9887-5CF0-4A75-B6DD-D29E8C4F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先扣血，再移除子彈；擊破才 +10。</a:t>
            </a:r>
          </a:p>
        </p:txBody>
      </p:sp>
      <p:sp>
        <p:nvSpPr>
          <p:cNvPr id="14" name="game.py · Game.resolve_collisions() · excerpt">
            <a:extLst xmlns:a="http://schemas.openxmlformats.org/drawingml/2006/main">
              <a:ext uri="{FF2B5EF4-FFF2-40B4-BE49-F238E27FC236}">
                <a16:creationId xmlns:a16="http://schemas.microsoft.com/office/drawing/2014/main" id="{65DA2A99-4E8D-4266-8685-7AF07C74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Game.resolve_collisions() · excerpt</a:t>
            </a:r>
          </a:p>
        </p:txBody>
      </p:sp>
      <p:sp>
        <p:nvSpPr>
          <p:cNvPr id="15" name="21">
            <a:extLst xmlns:a="http://schemas.openxmlformats.org/drawingml/2006/main">
              <a:ext uri="{FF2B5EF4-FFF2-40B4-BE49-F238E27FC236}">
                <a16:creationId xmlns:a16="http://schemas.microsoft.com/office/drawing/2014/main" id="{E8B69A7B-64A4-456F-8CE0-206722E65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71299012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受傷：由 Player 維持有效狀態">
            <a:extLst xmlns:a="http://schemas.openxmlformats.org/drawingml/2006/main">
              <a:ext uri="{FF2B5EF4-FFF2-40B4-BE49-F238E27FC236}">
                <a16:creationId xmlns:a16="http://schemas.microsoft.com/office/drawing/2014/main" id="{6BDE5E6D-2B18-437F-8D8F-5A879A56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受傷：由 Player 維持有效狀態</a:t>
            </a:r>
          </a:p>
        </p:txBody>
      </p:sp>
      <p:sp>
        <p:nvSpPr>
          <p:cNvPr id="2" name="每次有效受傷扣 1；接著有 0.8 秒無敵時間">
            <a:extLst xmlns:a="http://schemas.openxmlformats.org/drawingml/2006/main">
              <a:ext uri="{FF2B5EF4-FFF2-40B4-BE49-F238E27FC236}">
                <a16:creationId xmlns:a16="http://schemas.microsoft.com/office/drawing/2014/main" id="{98699F61-A021-4B7F-9F12-67CF6036F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每次有效受傷扣 1；接著有 0.8 秒無敵時間</a:t>
            </a:r>
          </a:p>
        </p:txBody>
      </p:sp>
      <p:sp>
        <p:nvSpPr>
          <p:cNvPr id="3" name="def take_damage(self):">
            <a:extLst xmlns:a="http://schemas.openxmlformats.org/drawingml/2006/main">
              <a:ext uri="{FF2B5EF4-FFF2-40B4-BE49-F238E27FC236}">
                <a16:creationId xmlns:a16="http://schemas.microsoft.com/office/drawing/2014/main" id="{6C585ACD-BCB8-4B1E-9E17-FD5DBE6BB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def take_damage(self):</a:t>
            </a:r>
          </a:p>
        </p:txBody>
      </p:sp>
      <p:sp>
        <p:nvSpPr>
          <p:cNvPr id="4" name="    if self.invulnerable &gt; 0 or self.hp == 0:">
            <a:extLst xmlns:a="http://schemas.openxmlformats.org/drawingml/2006/main">
              <a:ext uri="{FF2B5EF4-FFF2-40B4-BE49-F238E27FC236}">
                <a16:creationId xmlns:a16="http://schemas.microsoft.com/office/drawing/2014/main" id="{FEC72FAB-7534-412C-A1FA-F1233B6D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if self.invulnerable &gt; 0 or self.hp == 0:</a:t>
            </a:r>
          </a:p>
        </p:txBody>
      </p:sp>
      <p:sp>
        <p:nvSpPr>
          <p:cNvPr id="5" name="        return False">
            <a:extLst xmlns:a="http://schemas.openxmlformats.org/drawingml/2006/main">
              <a:ext uri="{FF2B5EF4-FFF2-40B4-BE49-F238E27FC236}">
                <a16:creationId xmlns:a16="http://schemas.microsoft.com/office/drawing/2014/main" id="{7C1CA487-0035-470A-A026-F2D7CE126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return False</a:t>
            </a:r>
          </a:p>
        </p:txBody>
      </p:sp>
      <p:sp>
        <p:nvSpPr>
          <p:cNvPr id="6" name="    self.hp -= 1">
            <a:extLst xmlns:a="http://schemas.openxmlformats.org/drawingml/2006/main">
              <a:ext uri="{FF2B5EF4-FFF2-40B4-BE49-F238E27FC236}">
                <a16:creationId xmlns:a16="http://schemas.microsoft.com/office/drawing/2014/main" id="{15A9DA94-E22E-40CC-BD0D-2755403B0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self.hp -= 1</a:t>
            </a:r>
          </a:p>
        </p:txBody>
      </p:sp>
      <p:sp>
        <p:nvSpPr>
          <p:cNvPr id="7" name="    self.invulnerable = 0.8">
            <a:extLst xmlns:a="http://schemas.openxmlformats.org/drawingml/2006/main">
              <a:ext uri="{FF2B5EF4-FFF2-40B4-BE49-F238E27FC236}">
                <a16:creationId xmlns:a16="http://schemas.microsoft.com/office/drawing/2014/main" id="{6C1EF795-6AD7-4215-AB4C-9021393C6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self.invulnerable = 0.8</a:t>
            </a:r>
          </a:p>
        </p:txBody>
      </p:sp>
      <p:sp>
        <p:nvSpPr>
          <p:cNvPr id="8" name="    return True">
            <a:extLst xmlns:a="http://schemas.openxmlformats.org/drawingml/2006/main">
              <a:ext uri="{FF2B5EF4-FFF2-40B4-BE49-F238E27FC236}">
                <a16:creationId xmlns:a16="http://schemas.microsoft.com/office/drawing/2014/main" id="{E848CEA5-5DE6-4E3F-B129-5578AF0BA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return True</a:t>
            </a:r>
          </a:p>
        </p:txBody>
      </p:sp>
      <p:sp>
        <p:nvSpPr>
          <p:cNvPr id="9" name="無敵時間內或 hp 已為 0 時，拒絕新的傷害。">
            <a:extLst xmlns:a="http://schemas.openxmlformats.org/drawingml/2006/main">
              <a:ext uri="{FF2B5EF4-FFF2-40B4-BE49-F238E27FC236}">
                <a16:creationId xmlns:a16="http://schemas.microsoft.com/office/drawing/2014/main" id="{C9624AAC-278F-490E-9448-8DCB7F93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無敵時間內或 hp 已為 0 時，拒絕新的傷害。</a:t>
            </a:r>
          </a:p>
        </p:txBody>
      </p:sp>
      <p:sp>
        <p:nvSpPr>
          <p:cNvPr id="10" name="Game 不直接修改 player.hp，而是呼叫 take_damage()。">
            <a:extLst xmlns:a="http://schemas.openxmlformats.org/drawingml/2006/main">
              <a:ext uri="{FF2B5EF4-FFF2-40B4-BE49-F238E27FC236}">
                <a16:creationId xmlns:a16="http://schemas.microsoft.com/office/drawing/2014/main" id="{C4BA57F5-AD75-4EA2-9BE4-0DDBC317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Game 不直接修改 player.hp，而是呼叫 take_damage()。</a:t>
            </a:r>
          </a:p>
        </p:txBody>
      </p:sp>
      <p:sp>
        <p:nvSpPr>
          <p:cNvPr id="11" name="actors.py · Player.take_damage()">
            <a:extLst xmlns:a="http://schemas.openxmlformats.org/drawingml/2006/main">
              <a:ext uri="{FF2B5EF4-FFF2-40B4-BE49-F238E27FC236}">
                <a16:creationId xmlns:a16="http://schemas.microsoft.com/office/drawing/2014/main" id="{AD218D28-5CDB-4949-922B-51DCEF029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actors.py · Player.take_damage()</a:t>
            </a:r>
          </a:p>
        </p:txBody>
      </p:sp>
      <p:sp>
        <p:nvSpPr>
          <p:cNvPr id="12" name="22">
            <a:extLst xmlns:a="http://schemas.openxmlformats.org/drawingml/2006/main">
              <a:ext uri="{FF2B5EF4-FFF2-40B4-BE49-F238E27FC236}">
                <a16:creationId xmlns:a16="http://schemas.microsoft.com/office/drawing/2014/main" id="{23D7F75B-68B7-4DB5-B2CE-F2253CAB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1537375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ll()：離開場景，不等於立即銷毀">
            <a:extLst xmlns:a="http://schemas.openxmlformats.org/drawingml/2006/main">
              <a:ext uri="{FF2B5EF4-FFF2-40B4-BE49-F238E27FC236}">
                <a16:creationId xmlns:a16="http://schemas.microsoft.com/office/drawing/2014/main" id="{5B5C55CF-F8E0-4409-B0AC-12FE560E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kill()：離開場景，不等於立即銷毀</a:t>
            </a:r>
          </a:p>
        </p:txBody>
      </p:sp>
      <p:sp>
        <p:nvSpPr>
          <p:cNvPr id="2" name="群組成員身分與 Python 物件生命週期不同">
            <a:extLst xmlns:a="http://schemas.openxmlformats.org/drawingml/2006/main">
              <a:ext uri="{FF2B5EF4-FFF2-40B4-BE49-F238E27FC236}">
                <a16:creationId xmlns:a16="http://schemas.microsoft.com/office/drawing/2014/main" id="{F84620EC-5F20-4079-86C4-A4531B40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群組成員身分與 Python 物件生命週期不同</a:t>
            </a:r>
          </a:p>
        </p:txBody>
      </p:sp>
      <p:sp>
        <p:nvSpPr>
          <p:cNvPr id="3" name="b = game.player.shoot(&quot;B99&quot;)">
            <a:extLst xmlns:a="http://schemas.openxmlformats.org/drawingml/2006/main">
              <a:ext uri="{FF2B5EF4-FFF2-40B4-BE49-F238E27FC236}">
                <a16:creationId xmlns:a16="http://schemas.microsoft.com/office/drawing/2014/main" id="{EC2BE110-C700-41AE-A928-56C2D25A1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b = game.player.shoot("B99")</a:t>
            </a:r>
          </a:p>
        </p:txBody>
      </p:sp>
      <p:sp>
        <p:nvSpPr>
          <p:cNvPr id="4" name="if b is not None:">
            <a:extLst xmlns:a="http://schemas.openxmlformats.org/drawingml/2006/main">
              <a:ext uri="{FF2B5EF4-FFF2-40B4-BE49-F238E27FC236}">
                <a16:creationId xmlns:a16="http://schemas.microsoft.com/office/drawing/2014/main" id="{C354645E-5F48-4A99-BC57-2F2CB307E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b is not None:</a:t>
            </a:r>
          </a:p>
        </p:txBody>
      </p:sp>
      <p:sp>
        <p:nvSpPr>
          <p:cNvPr id="5" name="    game.bullets.add(b)">
            <a:extLst xmlns:a="http://schemas.openxmlformats.org/drawingml/2006/main">
              <a:ext uri="{FF2B5EF4-FFF2-40B4-BE49-F238E27FC236}">
                <a16:creationId xmlns:a16="http://schemas.microsoft.com/office/drawing/2014/main" id="{3E3107F1-75F4-4BA3-BE11-154912F3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game.bullets.add(b)</a:t>
            </a:r>
          </a:p>
        </p:txBody>
      </p:sp>
      <p:sp>
        <p:nvSpPr>
          <p:cNvPr id="6" name="    game.all_sprites.add(b)">
            <a:extLst xmlns:a="http://schemas.openxmlformats.org/drawingml/2006/main">
              <a:ext uri="{FF2B5EF4-FFF2-40B4-BE49-F238E27FC236}">
                <a16:creationId xmlns:a16="http://schemas.microsoft.com/office/drawing/2014/main" id="{A56B94D2-1008-479D-B8BB-5F565D54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game.all_sprites.add(b)</a:t>
            </a:r>
          </a:p>
        </p:txBody>
      </p:sp>
      <p:sp>
        <p:nvSpPr>
          <p:cNvPr id="7" name="    b.kill()">
            <a:extLst xmlns:a="http://schemas.openxmlformats.org/drawingml/2006/main">
              <a:ext uri="{FF2B5EF4-FFF2-40B4-BE49-F238E27FC236}">
                <a16:creationId xmlns:a16="http://schemas.microsoft.com/office/drawing/2014/main" id="{DD3A6BBD-2D4F-4A85-9AA4-7AE9A0F0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b.kill()</a:t>
            </a:r>
          </a:p>
        </p:txBody>
      </p:sp>
      <p:sp>
        <p:nvSpPr>
          <p:cNvPr id="8" name="    print(b.alive())                 # False">
            <a:extLst xmlns:a="http://schemas.openxmlformats.org/drawingml/2006/main">
              <a:ext uri="{FF2B5EF4-FFF2-40B4-BE49-F238E27FC236}">
                <a16:creationId xmlns:a16="http://schemas.microsoft.com/office/drawing/2014/main" id="{DFCC1117-6A92-4D99-8570-513B8AD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print(b.alive())                 # False</a:t>
            </a:r>
          </a:p>
        </p:txBody>
      </p:sp>
      <p:sp>
        <p:nvSpPr>
          <p:cNvPr id="9" name="    print(b.owner is game.player)    # True">
            <a:extLst xmlns:a="http://schemas.openxmlformats.org/drawingml/2006/main">
              <a:ext uri="{FF2B5EF4-FFF2-40B4-BE49-F238E27FC236}">
                <a16:creationId xmlns:a16="http://schemas.microsoft.com/office/drawing/2014/main" id="{2E8CA272-5D74-4B5B-A6FE-CDA61018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print(b.owner is game.player)    # True</a:t>
            </a:r>
          </a:p>
        </p:txBody>
      </p:sp>
      <p:sp>
        <p:nvSpPr>
          <p:cNvPr id="10" name="kill() 從所有 Group 移除；外部變數 b 仍持有參照。">
            <a:extLst xmlns:a="http://schemas.openxmlformats.org/drawingml/2006/main">
              <a:ext uri="{FF2B5EF4-FFF2-40B4-BE49-F238E27FC236}">
                <a16:creationId xmlns:a16="http://schemas.microsoft.com/office/drawing/2014/main" id="{12FA1FD6-51D4-4F0A-8671-AA53A9E3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kill() 從所有 Group 移除；外部變數 b 仍持有參照。</a:t>
            </a:r>
          </a:p>
        </p:txBody>
      </p:sp>
      <p:sp>
        <p:nvSpPr>
          <p:cNvPr id="11" name="alive() 檢查是否屬於群組，不是檢查 hp。">
            <a:extLst xmlns:a="http://schemas.openxmlformats.org/drawingml/2006/main">
              <a:ext uri="{FF2B5EF4-FFF2-40B4-BE49-F238E27FC236}">
                <a16:creationId xmlns:a16="http://schemas.microsoft.com/office/drawing/2014/main" id="{D932C84A-2F94-47A3-9D9B-13C85DCC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alive() 檢查是否屬於群組，不是檢查 hp。</a:t>
            </a:r>
          </a:p>
        </p:txBody>
      </p:sp>
      <p:sp>
        <p:nvSpPr>
          <p:cNvPr id="12" name="interactive example · fresh Game">
            <a:extLst xmlns:a="http://schemas.openxmlformats.org/drawingml/2006/main">
              <a:ext uri="{FF2B5EF4-FFF2-40B4-BE49-F238E27FC236}">
                <a16:creationId xmlns:a16="http://schemas.microsoft.com/office/drawing/2014/main" id="{D48E066D-5A16-4ACC-8E73-F344FCC1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interactive example · fresh Game</a:t>
            </a:r>
          </a:p>
        </p:txBody>
      </p:sp>
      <p:sp>
        <p:nvSpPr>
          <p:cNvPr id="13" name="23">
            <a:extLst xmlns:a="http://schemas.openxmlformats.org/drawingml/2006/main">
              <a:ext uri="{FF2B5EF4-FFF2-40B4-BE49-F238E27FC236}">
                <a16:creationId xmlns:a16="http://schemas.microsoft.com/office/drawing/2014/main" id="{6B4ACC5A-E94D-4DEF-A02B-0DE04A8E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3401680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主迴圈：讀輸入、更新、畫出來">
            <a:extLst xmlns:a="http://schemas.openxmlformats.org/drawingml/2006/main">
              <a:ext uri="{FF2B5EF4-FFF2-40B4-BE49-F238E27FC236}">
                <a16:creationId xmlns:a16="http://schemas.microsoft.com/office/drawing/2014/main" id="{10C42DE4-198A-48BF-BF2A-2A48634D0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主迴圈：讀輸入、更新、畫出來</a:t>
            </a:r>
          </a:p>
        </p:txBody>
      </p:sp>
      <p:sp>
        <p:nvSpPr>
          <p:cNvPr id="2" name="run() 的順序；中間省略按鍵讀取細節">
            <a:extLst xmlns:a="http://schemas.openxmlformats.org/drawingml/2006/main">
              <a:ext uri="{FF2B5EF4-FFF2-40B4-BE49-F238E27FC236}">
                <a16:creationId xmlns:a16="http://schemas.microsoft.com/office/drawing/2014/main" id="{E2BD5A74-E2CC-42AF-B856-C7D7C2C7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run() 的順序；中間省略按鍵讀取細節</a:t>
            </a:r>
          </a:p>
        </p:txBody>
      </p:sp>
      <p:sp>
        <p:nvSpPr>
          <p:cNvPr id="3" name="dt = min(self.clock.tick(FPS) / 1000, 1 / 30)">
            <a:extLst xmlns:a="http://schemas.openxmlformats.org/drawingml/2006/main">
              <a:ext uri="{FF2B5EF4-FFF2-40B4-BE49-F238E27FC236}">
                <a16:creationId xmlns:a16="http://schemas.microsoft.com/office/drawing/2014/main" id="{F9A3AC45-DE94-448B-A7B0-B099FDADF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dt = min(self.clock.tick(FPS) / 1000, 1 / 30)</a:t>
            </a:r>
          </a:p>
        </p:txBody>
      </p:sp>
      <p:sp>
        <p:nvSpPr>
          <p:cNvPr id="4" name="self.handle_events(pygame.event.get())">
            <a:extLst xmlns:a="http://schemas.openxmlformats.org/drawingml/2006/main">
              <a:ext uri="{FF2B5EF4-FFF2-40B4-BE49-F238E27FC236}">
                <a16:creationId xmlns:a16="http://schemas.microsoft.com/office/drawing/2014/main" id="{60C514F2-9F4E-48D6-B58F-DE6770D36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self.handle_events(pygame.event.get())</a:t>
            </a:r>
          </a:p>
        </p:txBody>
      </p:sp>
      <p:sp>
        <p:nvSpPr>
          <p:cNvPr id="5" name="# direction and shooting come from keyboard input">
            <a:extLst xmlns:a="http://schemas.openxmlformats.org/drawingml/2006/main">
              <a:ext uri="{FF2B5EF4-FFF2-40B4-BE49-F238E27FC236}">
                <a16:creationId xmlns:a16="http://schemas.microsoft.com/office/drawing/2014/main" id="{967D4A8C-2B00-412A-98FC-6E7954C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direction and shooting come from keyboard input</a:t>
            </a:r>
          </a:p>
        </p:txBody>
      </p:sp>
      <p:sp>
        <p:nvSpPr>
          <p:cNvPr id="6" name="self.tick(dt, direction, shooting)">
            <a:extLst xmlns:a="http://schemas.openxmlformats.org/drawingml/2006/main">
              <a:ext uri="{FF2B5EF4-FFF2-40B4-BE49-F238E27FC236}">
                <a16:creationId xmlns:a16="http://schemas.microsoft.com/office/drawing/2014/main" id="{CCBE6B00-ABD8-474F-8D99-A882B4033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self.tick(dt, direction, shooting)</a:t>
            </a:r>
          </a:p>
        </p:txBody>
      </p:sp>
      <p:sp>
        <p:nvSpPr>
          <p:cNvPr id="7" name="view.draw(self)">
            <a:extLst xmlns:a="http://schemas.openxmlformats.org/drawingml/2006/main">
              <a:ext uri="{FF2B5EF4-FFF2-40B4-BE49-F238E27FC236}">
                <a16:creationId xmlns:a16="http://schemas.microsoft.com/office/drawing/2014/main" id="{397DB90F-D3D6-4BD6-BE0A-E55C73F5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view.draw(self)</a:t>
            </a:r>
          </a:p>
        </p:txBody>
      </p:sp>
      <p:sp>
        <p:nvSpPr>
          <p:cNvPr id="8" name="pygame.display.flip()">
            <a:extLst xmlns:a="http://schemas.openxmlformats.org/drawingml/2006/main">
              <a:ext uri="{FF2B5EF4-FFF2-40B4-BE49-F238E27FC236}">
                <a16:creationId xmlns:a16="http://schemas.microsoft.com/office/drawing/2014/main" id="{DF585149-C4DE-415B-87F9-3D1EFB773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pygame.display.flip()</a:t>
            </a:r>
          </a:p>
        </p:txBody>
      </p:sp>
      <p:sp>
        <p:nvSpPr>
          <p:cNvPr id="9" name="tick() 只有 playing 才更新；view.draw() 也會繪製暫停與結束狀態。">
            <a:extLst xmlns:a="http://schemas.openxmlformats.org/drawingml/2006/main">
              <a:ext uri="{FF2B5EF4-FFF2-40B4-BE49-F238E27FC236}">
                <a16:creationId xmlns:a16="http://schemas.microsoft.com/office/drawing/2014/main" id="{DA1B595C-5AFF-4E63-9099-FC311A46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tick() 只有 playing 才更新；view.draw() 也會繪製暫停與結束狀態。</a:t>
            </a:r>
          </a:p>
        </p:txBody>
      </p:sp>
      <p:sp>
        <p:nvSpPr>
          <p:cNvPr id="10" name="Clock 回傳毫秒，除以 1000 得秒；本例將 dt 上限設為 1/30 秒。">
            <a:extLst xmlns:a="http://schemas.openxmlformats.org/drawingml/2006/main">
              <a:ext uri="{FF2B5EF4-FFF2-40B4-BE49-F238E27FC236}">
                <a16:creationId xmlns:a16="http://schemas.microsoft.com/office/drawing/2014/main" id="{C16474F4-A50E-46B0-BBE5-E1466226E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Clock 回傳毫秒，除以 1000 得秒；本例將 dt 上限設為 1/30 秒。</a:t>
            </a:r>
          </a:p>
        </p:txBody>
      </p:sp>
      <p:sp>
        <p:nvSpPr>
          <p:cNvPr id="11" name="game.py · Game.run() · excerpt">
            <a:extLst xmlns:a="http://schemas.openxmlformats.org/drawingml/2006/main">
              <a:ext uri="{FF2B5EF4-FFF2-40B4-BE49-F238E27FC236}">
                <a16:creationId xmlns:a16="http://schemas.microsoft.com/office/drawing/2014/main" id="{9FD90D04-A602-4164-8C2F-2F861ED9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Game.run() · excerpt</a:t>
            </a:r>
          </a:p>
        </p:txBody>
      </p:sp>
      <p:sp>
        <p:nvSpPr>
          <p:cNvPr id="12" name="24">
            <a:extLst xmlns:a="http://schemas.openxmlformats.org/drawingml/2006/main">
              <a:ext uri="{FF2B5EF4-FFF2-40B4-BE49-F238E27FC236}">
                <a16:creationId xmlns:a16="http://schemas.microsoft.com/office/drawing/2014/main" id="{5BF517A9-3DD1-4D4D-8474-16BF255D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56110827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狀態：暫停不再偷偷移動">
            <a:extLst xmlns:a="http://schemas.openxmlformats.org/drawingml/2006/main">
              <a:ext uri="{FF2B5EF4-FFF2-40B4-BE49-F238E27FC236}">
                <a16:creationId xmlns:a16="http://schemas.microsoft.com/office/drawing/2014/main" id="{3B0E2FA1-8E08-4A28-9ED1-06EDB006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狀態：暫停不再偷偷移動</a:t>
            </a:r>
          </a:p>
        </p:txBody>
      </p:sp>
      <p:sp>
        <p:nvSpPr>
          <p:cNvPr id="2" name="ready → playing ⇄ paused；playing → won / lost">
            <a:extLst xmlns:a="http://schemas.openxmlformats.org/drawingml/2006/main">
              <a:ext uri="{FF2B5EF4-FFF2-40B4-BE49-F238E27FC236}">
                <a16:creationId xmlns:a16="http://schemas.microsoft.com/office/drawing/2014/main" id="{A8564B57-9E15-4687-868B-B244E9D9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ready → playing ⇄ paused；playing → won / lost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DFFA51-2745-4FC2-8616-0BB82FE55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81250"/>
            <a:ext cx="2000250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72C40"/>
            </a:solidFill>
          </a:ln>
        </p:spPr>
      </p:sp>
      <p:sp>
        <p:nvSpPr>
          <p:cNvPr id="4" name="ready">
            <a:extLst xmlns:a="http://schemas.openxmlformats.org/drawingml/2006/main">
              <a:ext uri="{FF2B5EF4-FFF2-40B4-BE49-F238E27FC236}">
                <a16:creationId xmlns:a16="http://schemas.microsoft.com/office/drawing/2014/main" id="{9A82D4D4-2D33-4B43-9563-60E82DF9A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16954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ready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61D870-EDC2-4D16-A27D-AE1B73E8F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81250"/>
            <a:ext cx="2428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6" name="playing">
            <a:extLst xmlns:a="http://schemas.openxmlformats.org/drawingml/2006/main">
              <a:ext uri="{FF2B5EF4-FFF2-40B4-BE49-F238E27FC236}">
                <a16:creationId xmlns:a16="http://schemas.microsoft.com/office/drawing/2014/main" id="{26E0BB2F-7D1C-4CB2-A754-BAD7F6DAE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466975"/>
            <a:ext cx="2124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playing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0F570A-AAF4-4618-B288-80E630CD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29125"/>
            <a:ext cx="2428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A66D08"/>
            </a:solidFill>
          </a:ln>
        </p:spPr>
      </p:sp>
      <p:sp>
        <p:nvSpPr>
          <p:cNvPr id="8" name="paused">
            <a:extLst xmlns:a="http://schemas.openxmlformats.org/drawingml/2006/main">
              <a:ext uri="{FF2B5EF4-FFF2-40B4-BE49-F238E27FC236}">
                <a16:creationId xmlns:a16="http://schemas.microsoft.com/office/drawing/2014/main" id="{549A4011-854B-4AA7-8713-A4637A2E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514850"/>
            <a:ext cx="2124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A66D08"/>
                </a:solidFill>
                <a:latin typeface="Microsoft JhengHei"/>
                <a:ea typeface="Microsoft JhengHei"/>
                <a:cs typeface="Microsoft JhengHei"/>
              </a:rPr>
              <a:t>paused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879FDE-D262-4F08-99E7-0460E53C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666875"/>
            <a:ext cx="2047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C62"/>
            </a:solidFill>
          </a:ln>
        </p:spPr>
      </p:sp>
      <p:sp>
        <p:nvSpPr>
          <p:cNvPr id="10" name="won">
            <a:extLst xmlns:a="http://schemas.openxmlformats.org/drawingml/2006/main">
              <a:ext uri="{FF2B5EF4-FFF2-40B4-BE49-F238E27FC236}">
                <a16:creationId xmlns:a16="http://schemas.microsoft.com/office/drawing/2014/main" id="{ED86895F-213F-42B4-B21A-F9F8BC8AD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52600"/>
            <a:ext cx="1743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won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1E40E-565F-4CD1-82CA-A20FAA2F5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524250"/>
            <a:ext cx="2047875" cy="619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BF4A44"/>
            </a:solidFill>
          </a:ln>
        </p:spPr>
      </p:sp>
      <p:sp>
        <p:nvSpPr>
          <p:cNvPr id="12" name="lost">
            <a:extLst xmlns:a="http://schemas.openxmlformats.org/drawingml/2006/main">
              <a:ext uri="{FF2B5EF4-FFF2-40B4-BE49-F238E27FC236}">
                <a16:creationId xmlns:a16="http://schemas.microsoft.com/office/drawing/2014/main" id="{B077CD6D-E1E2-458E-9F80-0E9EB50F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609975"/>
            <a:ext cx="17430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rPr>
              <a:t>lost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69081C-10A6-4E7E-BD66-CFA2006F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71750" y="2686050"/>
            <a:ext cx="219075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760EBE-446B-4EF8-AA7D-23CF260C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4670551" y="2686050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78D357-5A38-485F-A074-181D5B74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670551" y="2635818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6" name="Enter">
            <a:extLst xmlns:a="http://schemas.openxmlformats.org/drawingml/2006/main">
              <a:ext uri="{FF2B5EF4-FFF2-40B4-BE49-F238E27FC236}">
                <a16:creationId xmlns:a16="http://schemas.microsoft.com/office/drawing/2014/main" id="{22EC2961-8384-4273-AE44-E8D4F193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57425"/>
            <a:ext cx="1238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Enter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D8E72F-D3A9-43F4-9F70-A6C3BA4A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24500" y="3000375"/>
            <a:ext cx="0" cy="14287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C0E3CC-9BA2-4CB9-9535-24EA9653C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474268" y="4337176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83230C-A92E-47B3-8886-90D0FADB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524500" y="4337176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0" name="P">
            <a:extLst xmlns:a="http://schemas.openxmlformats.org/drawingml/2006/main">
              <a:ext uri="{FF2B5EF4-FFF2-40B4-BE49-F238E27FC236}">
                <a16:creationId xmlns:a16="http://schemas.microsoft.com/office/drawing/2014/main" id="{EE0518AF-7838-4E62-8689-94F2EA779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5528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A43D26-DA74-4D09-AC23-D63B013F0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6429375" y="3000375"/>
            <a:ext cx="0" cy="142875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5B2FA4-B783-4700-BB8B-1E39344BE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429375" y="3000375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E6819E-2275-4CD9-BC88-75EEBB0C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379143" y="3000375"/>
            <a:ext cx="50232" cy="91949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4" name="P">
            <a:extLst xmlns:a="http://schemas.openxmlformats.org/drawingml/2006/main">
              <a:ext uri="{FF2B5EF4-FFF2-40B4-BE49-F238E27FC236}">
                <a16:creationId xmlns:a16="http://schemas.microsoft.com/office/drawing/2014/main" id="{DAD23B7B-BD1E-4B0F-BABF-A5E2D13E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52825"/>
            <a:ext cx="381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5033D7-56ED-4DC1-882B-F1A1E3AF9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91375" y="2686050"/>
            <a:ext cx="1143000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485E42-DC06-4CA5-9F26-D6965F3D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8334375" y="1971675"/>
            <a:ext cx="0" cy="71437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496568B-2F31-418A-866A-4EE32E4F0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1971675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E64088-66E6-425B-988C-7AF443BC3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433051" y="19716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F16ACF-05C1-436B-A7CF-2BC261B8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433051" y="19214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0" name="score ≥ 200">
            <a:extLst xmlns:a="http://schemas.openxmlformats.org/drawingml/2006/main">
              <a:ext uri="{FF2B5EF4-FFF2-40B4-BE49-F238E27FC236}">
                <a16:creationId xmlns:a16="http://schemas.microsoft.com/office/drawing/2014/main" id="{6F90C682-7E05-47C4-9A71-47D3BE264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score ≥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821C1C-3638-4F05-AC27-7327A6D3A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2686050"/>
            <a:ext cx="0" cy="1152525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A6B5C4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FFE2F8-1167-44A5-9277-0E62D5CB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8334375" y="3838575"/>
            <a:ext cx="1190625" cy="0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27855D-69AE-4D49-BE1C-0A6A3BE4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9433051" y="3838575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3D54400-4805-4E76-B6C5-D0456E89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9433051" y="3788343"/>
            <a:ext cx="91949" cy="50232"/>
          </a:xfrm>
          <a:prstGeom xmlns:a="http://schemas.openxmlformats.org/drawingml/2006/main" prst="line">
            <a:avLst/>
          </a:prstGeom>
          <a:ln xmlns:a="http://schemas.openxmlformats.org/drawingml/2006/main" w="15240">
            <a:solidFill>
              <a:srgbClr val="172C40"/>
            </a:solidFill>
          </a:ln>
        </p:spPr>
      </p:sp>
      <p:sp>
        <p:nvSpPr>
          <p:cNvPr id="35" name="hp = 0">
            <a:extLst xmlns:a="http://schemas.openxmlformats.org/drawingml/2006/main">
              <a:ext uri="{FF2B5EF4-FFF2-40B4-BE49-F238E27FC236}">
                <a16:creationId xmlns:a16="http://schemas.microsoft.com/office/drawing/2014/main" id="{CB5D12E0-D589-440E-A6A4-D6ED9F7B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19475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BF4A44"/>
                </a:solidFill>
                <a:latin typeface="Microsoft JhengHei"/>
                <a:ea typeface="Microsoft JhengHei"/>
                <a:cs typeface="Microsoft JhengHei"/>
              </a:rPr>
              <a:t>hp = 0</a:t>
            </a:r>
          </a:p>
        </p:txBody>
      </p:sp>
      <p:sp>
        <p:nvSpPr>
          <p:cNvPr id="36" name="R：任何狀態 → ready">
            <a:extLst xmlns:a="http://schemas.openxmlformats.org/drawingml/2006/main">
              <a:ext uri="{FF2B5EF4-FFF2-40B4-BE49-F238E27FC236}">
                <a16:creationId xmlns:a16="http://schemas.microsoft.com/office/drawing/2014/main" id="{28AB3E75-FA8B-4BF4-B010-5CAC5A38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R：任何狀態 → ready</a:t>
            </a:r>
          </a:p>
        </p:txBody>
      </p:sp>
      <p:sp>
        <p:nvSpPr>
          <p:cNvPr id="37" name="N 只在 paused 時呼叫 update(1 / FPS)；一次推進一影格，不會自動射擊。">
            <a:extLst xmlns:a="http://schemas.openxmlformats.org/drawingml/2006/main">
              <a:ext uri="{FF2B5EF4-FFF2-40B4-BE49-F238E27FC236}">
                <a16:creationId xmlns:a16="http://schemas.microsoft.com/office/drawing/2014/main" id="{58E975FF-1E7D-435D-A4BF-DCAB8F93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N 只在 paused 時呼叫 update(1 / FPS)；一次推進一影格，不會自動射擊。</a:t>
            </a:r>
          </a:p>
        </p:txBody>
      </p:sp>
      <p:sp>
        <p:nvSpPr>
          <p:cNvPr id="38" name="R 重設回 ready；Enter 再開始。hp = 0 判定優先於達到 200 分。">
            <a:extLst xmlns:a="http://schemas.openxmlformats.org/drawingml/2006/main">
              <a:ext uri="{FF2B5EF4-FFF2-40B4-BE49-F238E27FC236}">
                <a16:creationId xmlns:a16="http://schemas.microsoft.com/office/drawing/2014/main" id="{51B70D66-F6AA-4EF9-AF3B-644EFE87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05500"/>
            <a:ext cx="523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R 重設回 ready；Enter 再開始。hp = 0 判定優先於達到 200 分。</a:t>
            </a:r>
          </a:p>
        </p:txBody>
      </p:sp>
      <p:sp>
        <p:nvSpPr>
          <p:cNvPr id="39" name="25">
            <a:extLst xmlns:a="http://schemas.openxmlformats.org/drawingml/2006/main">
              <a:ext uri="{FF2B5EF4-FFF2-40B4-BE49-F238E27FC236}">
                <a16:creationId xmlns:a16="http://schemas.microsoft.com/office/drawing/2014/main" id="{7D4C3E22-BCD8-4262-A3A8-49555B7D8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9255449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重設：建立新一局的物件">
            <a:extLst xmlns:a="http://schemas.openxmlformats.org/drawingml/2006/main">
              <a:ext uri="{FF2B5EF4-FFF2-40B4-BE49-F238E27FC236}">
                <a16:creationId xmlns:a16="http://schemas.microsoft.com/office/drawing/2014/main" id="{9DC0F7F4-F572-4474-900C-79326255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重設：建立新一局的物件</a:t>
            </a:r>
          </a:p>
        </p:txBody>
      </p:sp>
      <p:sp>
        <p:nvSpPr>
          <p:cNvPr id="2" name="reset() 重建玩家與群組，重新設定分數與狀態">
            <a:extLst xmlns:a="http://schemas.openxmlformats.org/drawingml/2006/main">
              <a:ext uri="{FF2B5EF4-FFF2-40B4-BE49-F238E27FC236}">
                <a16:creationId xmlns:a16="http://schemas.microsoft.com/office/drawing/2014/main" id="{95689BA5-8AB6-4A60-AC96-3567918F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reset() 重建玩家與群組，重新設定分數與狀態</a:t>
            </a:r>
          </a:p>
        </p:txBody>
      </p:sp>
      <p:sp>
        <p:nvSpPr>
          <p:cNvPr id="3" name="if hasattr(self, &quot;all_sprites&quot;):">
            <a:extLst xmlns:a="http://schemas.openxmlformats.org/drawingml/2006/main">
              <a:ext uri="{FF2B5EF4-FFF2-40B4-BE49-F238E27FC236}">
                <a16:creationId xmlns:a16="http://schemas.microsoft.com/office/drawing/2014/main" id="{32490578-B519-4CF4-ACFA-83C911E96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if hasattr(self, "all_sprites"):</a:t>
            </a:r>
          </a:p>
        </p:txBody>
      </p:sp>
      <p:sp>
        <p:nvSpPr>
          <p:cNvPr id="4" name="    for actor in self.all_sprites.sprites():">
            <a:extLst xmlns:a="http://schemas.openxmlformats.org/drawingml/2006/main">
              <a:ext uri="{FF2B5EF4-FFF2-40B4-BE49-F238E27FC236}">
                <a16:creationId xmlns:a16="http://schemas.microsoft.com/office/drawing/2014/main" id="{26CD1420-D704-4C85-A384-2E603CA38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for actor in self.all_sprites.sprites():</a:t>
            </a:r>
          </a:p>
        </p:txBody>
      </p:sp>
      <p:sp>
        <p:nvSpPr>
          <p:cNvPr id="5" name="        actor.kill()">
            <a:extLst xmlns:a="http://schemas.openxmlformats.org/drawingml/2006/main">
              <a:ext uri="{FF2B5EF4-FFF2-40B4-BE49-F238E27FC236}">
                <a16:creationId xmlns:a16="http://schemas.microsoft.com/office/drawing/2014/main" id="{5D69E17F-4E77-434A-BC13-7C80A77E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        actor.kill()</a:t>
            </a:r>
          </a:p>
        </p:txBody>
      </p:sp>
      <p:sp>
        <p:nvSpPr>
          <p:cNvPr id="6" name="self.player = Player((PLAY_AREA.centerx, PLAY_AREA.bottom - 60))">
            <a:extLst xmlns:a="http://schemas.openxmlformats.org/drawingml/2006/main">
              <a:ext uri="{FF2B5EF4-FFF2-40B4-BE49-F238E27FC236}">
                <a16:creationId xmlns:a16="http://schemas.microsoft.com/office/drawing/2014/main" id="{53293E5B-31F5-4874-9C53-13FFC9EC2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self.player = Player((PLAY_AREA.centerx, PLAY_AREA.bottom - 60))</a:t>
            </a:r>
          </a:p>
        </p:txBody>
      </p:sp>
      <p:sp>
        <p:nvSpPr>
          <p:cNvPr id="7" name="self.all_sprites = pygame.sprite.Group(self.player)">
            <a:extLst xmlns:a="http://schemas.openxmlformats.org/drawingml/2006/main">
              <a:ext uri="{FF2B5EF4-FFF2-40B4-BE49-F238E27FC236}">
                <a16:creationId xmlns:a16="http://schemas.microsoft.com/office/drawing/2014/main" id="{6E8DCF23-C431-4B20-872F-8AA0D9C9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self.all_sprites = pygame.sprite.Group(self.player)</a:t>
            </a:r>
          </a:p>
        </p:txBody>
      </p:sp>
      <p:sp>
        <p:nvSpPr>
          <p:cNvPr id="8" name="self.enemies = pygame.sprite.Group()">
            <a:extLst xmlns:a="http://schemas.openxmlformats.org/drawingml/2006/main">
              <a:ext uri="{FF2B5EF4-FFF2-40B4-BE49-F238E27FC236}">
                <a16:creationId xmlns:a16="http://schemas.microsoft.com/office/drawing/2014/main" id="{417DA900-7644-4B29-9CF2-68639D54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337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self.enemies = pygame.sprite.Group()</a:t>
            </a:r>
          </a:p>
        </p:txBody>
      </p:sp>
      <p:sp>
        <p:nvSpPr>
          <p:cNvPr id="9" name="self.bullets = pygame.sprite.Group()">
            <a:extLst xmlns:a="http://schemas.openxmlformats.org/drawingml/2006/main">
              <a:ext uri="{FF2B5EF4-FFF2-40B4-BE49-F238E27FC236}">
                <a16:creationId xmlns:a16="http://schemas.microsoft.com/office/drawing/2014/main" id="{480F73C5-BA55-4D48-BF0B-73B8C59A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8576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self.bullets = pygame.sprite.Group()</a:t>
            </a:r>
          </a:p>
        </p:txBody>
      </p:sp>
      <p:sp>
        <p:nvSpPr>
          <p:cNvPr id="10" name="self.score = 0">
            <a:extLst xmlns:a="http://schemas.openxmlformats.org/drawingml/2006/main">
              <a:ext uri="{FF2B5EF4-FFF2-40B4-BE49-F238E27FC236}">
                <a16:creationId xmlns:a16="http://schemas.microsoft.com/office/drawing/2014/main" id="{C5AD94B9-49A6-4C9D-BA76-82F1BC73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814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self.score = 0</a:t>
            </a:r>
          </a:p>
        </p:txBody>
      </p:sp>
      <p:sp>
        <p:nvSpPr>
          <p:cNvPr id="11" name="self.state = &quot;ready&quot;">
            <a:extLst xmlns:a="http://schemas.openxmlformats.org/drawingml/2006/main">
              <a:ext uri="{FF2B5EF4-FFF2-40B4-BE49-F238E27FC236}">
                <a16:creationId xmlns:a16="http://schemas.microsoft.com/office/drawing/2014/main" id="{F0F6A6A5-BDB8-4102-86BD-C237885F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053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self.state = "ready"</a:t>
            </a:r>
          </a:p>
        </p:txBody>
      </p:sp>
      <p:sp>
        <p:nvSpPr>
          <p:cNvPr id="12" name="舊物件先移出群組；若其他地方仍有參照，就仍可存取。">
            <a:extLst xmlns:a="http://schemas.openxmlformats.org/drawingml/2006/main">
              <a:ext uri="{FF2B5EF4-FFF2-40B4-BE49-F238E27FC236}">
                <a16:creationId xmlns:a16="http://schemas.microsoft.com/office/drawing/2014/main" id="{47343131-D181-4EA8-B971-61A77990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舊物件先移出群組；若其他地方仍有參照，就仍可存取。</a:t>
            </a:r>
          </a:p>
        </p:txBody>
      </p:sp>
      <p:sp>
        <p:nvSpPr>
          <p:cNvPr id="13" name="範例接著建立三個初始敵人；新局的 player 是新物件。">
            <a:extLst xmlns:a="http://schemas.openxmlformats.org/drawingml/2006/main">
              <a:ext uri="{FF2B5EF4-FFF2-40B4-BE49-F238E27FC236}">
                <a16:creationId xmlns:a16="http://schemas.microsoft.com/office/drawing/2014/main" id="{5264A507-627C-4960-B1FF-59687479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範例接著建立三個初始敵人；新局的 player 是新物件。</a:t>
            </a:r>
          </a:p>
        </p:txBody>
      </p:sp>
      <p:sp>
        <p:nvSpPr>
          <p:cNvPr id="14" name="game.py · Game.reset() · excerpt after first initialization">
            <a:extLst xmlns:a="http://schemas.openxmlformats.org/drawingml/2006/main">
              <a:ext uri="{FF2B5EF4-FFF2-40B4-BE49-F238E27FC236}">
                <a16:creationId xmlns:a16="http://schemas.microsoft.com/office/drawing/2014/main" id="{13AC787B-0625-41A7-A969-A1ABABB0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game.py · Game.reset() · excerpt after first initialization</a:t>
            </a:r>
          </a:p>
        </p:txBody>
      </p:sp>
      <p:sp>
        <p:nvSpPr>
          <p:cNvPr id="15" name="26">
            <a:extLst xmlns:a="http://schemas.openxmlformats.org/drawingml/2006/main">
              <a:ext uri="{FF2B5EF4-FFF2-40B4-BE49-F238E27FC236}">
                <a16:creationId xmlns:a16="http://schemas.microsoft.com/office/drawing/2014/main" id="{BAB97D37-25C4-4508-92AD-0CB5CA41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76795866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從檔案找到要修改的責任">
            <a:extLst xmlns:a="http://schemas.openxmlformats.org/drawingml/2006/main">
              <a:ext uri="{FF2B5EF4-FFF2-40B4-BE49-F238E27FC236}">
                <a16:creationId xmlns:a16="http://schemas.microsoft.com/office/drawing/2014/main" id="{149D3774-5A34-412E-8AEF-C57B8477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從檔案找到要修改的責任</a:t>
            </a:r>
          </a:p>
        </p:txBody>
      </p:sp>
      <p:sp>
        <p:nvSpPr>
          <p:cNvPr id="2" name="五個核心類別；顯示與語言使用獨立函式">
            <a:extLst xmlns:a="http://schemas.openxmlformats.org/drawingml/2006/main">
              <a:ext uri="{FF2B5EF4-FFF2-40B4-BE49-F238E27FC236}">
                <a16:creationId xmlns:a16="http://schemas.microsoft.com/office/drawing/2014/main" id="{E789716D-8ACD-450C-B05E-88397119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五個核心類別；顯示與語言使用獨立函式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C51C28-4920-4CE3-AC4B-1E0E818DAEFF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4095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檔案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內容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actors.py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Actor、Player、Enemy、Bullet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game.py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Game 與事件、生成、碰撞、狀態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view.py / i18n.py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畫面與介面文字；不負責遊戲規則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settings.py / main.py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參數設定／指令列入口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682625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tests/test_game.py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角色行為、碰撞、狀態與畫面測試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27">
            <a:extLst xmlns:a="http://schemas.openxmlformats.org/drawingml/2006/main">
              <a:ext uri="{FF2B5EF4-FFF2-40B4-BE49-F238E27FC236}">
                <a16:creationId xmlns:a16="http://schemas.microsoft.com/office/drawing/2014/main" id="{9EF4039E-8E9D-45EB-8A21-FE69BBE7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4080663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B14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用測試確認物件的合作">
            <a:extLst xmlns:a="http://schemas.openxmlformats.org/drawingml/2006/main">
              <a:ext uri="{FF2B5EF4-FFF2-40B4-BE49-F238E27FC236}">
                <a16:creationId xmlns:a16="http://schemas.microsoft.com/office/drawing/2014/main" id="{32670DAE-2B78-47DC-B0BF-22F93B60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用測試確認物件的合作</a:t>
            </a:r>
          </a:p>
        </p:txBody>
      </p:sp>
      <p:sp>
        <p:nvSpPr>
          <p:cNvPr id="2" name="可觀察的結果，比只看程式碼更明確">
            <a:extLst xmlns:a="http://schemas.openxmlformats.org/drawingml/2006/main">
              <a:ext uri="{FF2B5EF4-FFF2-40B4-BE49-F238E27FC236}">
                <a16:creationId xmlns:a16="http://schemas.microsoft.com/office/drawing/2014/main" id="{6F0441C4-784C-4B8B-B9DA-85F011C3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可觀察的結果，比只看程式碼更明確</a:t>
            </a:r>
          </a:p>
        </p:txBody>
      </p:sp>
      <p:sp>
        <p:nvSpPr>
          <p:cNvPr id="3" name="# Windows PowerShell">
            <a:extLst xmlns:a="http://schemas.openxmlformats.org/drawingml/2006/main">
              <a:ext uri="{FF2B5EF4-FFF2-40B4-BE49-F238E27FC236}">
                <a16:creationId xmlns:a16="http://schemas.microsoft.com/office/drawing/2014/main" id="{292F175B-3743-41E0-A9DA-1537F8A4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145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Windows PowerShell</a:t>
            </a:r>
          </a:p>
        </p:txBody>
      </p:sp>
      <p:sp>
        <p:nvSpPr>
          <p:cNvPr id="4" name=".\.venv\Scripts\python.exe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A67D35E5-A337-4DCD-8F92-5567AC9F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383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.\.venv\Scripts\python.exe -m unittest discover -s tests -v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C94B68-3F65-4D26-83F9-C76F08F7B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622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6" name="# macOS / Linux">
            <a:extLst xmlns:a="http://schemas.openxmlformats.org/drawingml/2006/main">
              <a:ext uri="{FF2B5EF4-FFF2-40B4-BE49-F238E27FC236}">
                <a16:creationId xmlns:a16="http://schemas.microsoft.com/office/drawing/2014/main" id="{C88FF755-27EE-405F-ADA5-BDEF4FA44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8607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# macOS / Linux</a:t>
            </a:r>
          </a:p>
        </p:txBody>
      </p:sp>
      <p:sp>
        <p:nvSpPr>
          <p:cNvPr id="7" name=".venv/bin/python -m unittest discover -s tests -v">
            <a:extLst xmlns:a="http://schemas.openxmlformats.org/drawingml/2006/main">
              <a:ext uri="{FF2B5EF4-FFF2-40B4-BE49-F238E27FC236}">
                <a16:creationId xmlns:a16="http://schemas.microsoft.com/office/drawing/2014/main" id="{C3E8A6AE-2DFB-4091-B023-6698D48B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2025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2025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.venv/bin/python -m unittest discover -s tests -v</a:t>
            </a:r>
          </a:p>
        </p:txBody>
      </p:sp>
      <p:sp>
        <p:nvSpPr>
          <p:cNvPr id="8" name="確認同一參照、冷卻、單次命中、無敵時間與勝敗停止。">
            <a:extLst xmlns:a="http://schemas.openxmlformats.org/drawingml/2006/main">
              <a:ext uri="{FF2B5EF4-FFF2-40B4-BE49-F238E27FC236}">
                <a16:creationId xmlns:a16="http://schemas.microsoft.com/office/drawing/2014/main" id="{720A246C-2A44-46E4-A504-A8DEA8B7F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確認同一參照、冷卻、單次命中、無敵時間與勝敗停止。</a:t>
            </a:r>
          </a:p>
        </p:txBody>
      </p:sp>
      <p:sp>
        <p:nvSpPr>
          <p:cNvPr id="9" name="測試採 SDL dummy 驅動，不必開啟遊戲視窗。">
            <a:extLst xmlns:a="http://schemas.openxmlformats.org/drawingml/2006/main">
              <a:ext uri="{FF2B5EF4-FFF2-40B4-BE49-F238E27FC236}">
                <a16:creationId xmlns:a16="http://schemas.microsoft.com/office/drawing/2014/main" id="{0FA854AC-7D21-42FF-B1CA-3DD20B39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267325"/>
            <a:ext cx="5191125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68EDBE"/>
                </a:solidFill>
                <a:latin typeface="Microsoft JhengHei"/>
                <a:ea typeface="Microsoft JhengHei"/>
                <a:cs typeface="Microsoft JhengHei"/>
              </a:rPr>
              <a:t>測試採 SDL dummy 驅動，不必開啟遊戲視窗。</a:t>
            </a:r>
          </a:p>
        </p:txBody>
      </p:sp>
      <p:sp>
        <p:nvSpPr>
          <p:cNvPr id="10" name="project folder">
            <a:extLst xmlns:a="http://schemas.openxmlformats.org/drawingml/2006/main">
              <a:ext uri="{FF2B5EF4-FFF2-40B4-BE49-F238E27FC236}">
                <a16:creationId xmlns:a16="http://schemas.microsoft.com/office/drawing/2014/main" id="{406A8BC1-B5F9-4125-AE47-FB648E32B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467475"/>
            <a:ext cx="10477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Consolas"/>
                <a:ea typeface="Consolas"/>
                <a:cs typeface="Consolas"/>
              </a:defRPr>
            </a:pPr>
            <a:r>
              <a:rPr sz="1200" b="0">
                <a:solidFill>
                  <a:srgbClr val="EDF4FB"/>
                </a:solidFill>
                <a:latin typeface="Consolas"/>
                <a:ea typeface="Consolas"/>
                <a:cs typeface="Consolas"/>
              </a:rPr>
              <a:t>project folder</a:t>
            </a:r>
          </a:p>
        </p:txBody>
      </p:sp>
      <p:sp>
        <p:nvSpPr>
          <p:cNvPr id="11" name="28">
            <a:extLst xmlns:a="http://schemas.openxmlformats.org/drawingml/2006/main">
              <a:ext uri="{FF2B5EF4-FFF2-40B4-BE49-F238E27FC236}">
                <a16:creationId xmlns:a16="http://schemas.microsoft.com/office/drawing/2014/main" id="{510F8269-3CE5-4A57-9FB2-FC5B47550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EDF4FB"/>
                </a:solidFill>
                <a:latin typeface="Microsoft JhengHei"/>
                <a:ea typeface="Microsoft JhengHei"/>
                <a:cs typeface="Microsoft JhengHe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03106649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小練習：只修改負責的類別">
            <a:extLst xmlns:a="http://schemas.openxmlformats.org/drawingml/2006/main">
              <a:ext uri="{FF2B5EF4-FFF2-40B4-BE49-F238E27FC236}">
                <a16:creationId xmlns:a16="http://schemas.microsoft.com/office/drawing/2014/main" id="{66FA1463-4469-4B1F-93B1-F1B4F359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小練習：只修改負責的類別</a:t>
            </a:r>
          </a:p>
        </p:txBody>
      </p:sp>
      <p:sp>
        <p:nvSpPr>
          <p:cNvPr id="2" name="以可以觀察或測試的行為描述完成條件">
            <a:extLst xmlns:a="http://schemas.openxmlformats.org/drawingml/2006/main">
              <a:ext uri="{FF2B5EF4-FFF2-40B4-BE49-F238E27FC236}">
                <a16:creationId xmlns:a16="http://schemas.microsoft.com/office/drawing/2014/main" id="{4FC2BD90-B7BB-4E1D-AB57-DD49FE83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以可以觀察或測試的行為描述完成條件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F1D89116-5F6E-4545-9F1E-E0FCB1A1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716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把 Enemy 的 hp 設為 3：需要三次命中，且只加一次 10 分。">
            <a:extLst xmlns:a="http://schemas.openxmlformats.org/drawingml/2006/main">
              <a:ext uri="{FF2B5EF4-FFF2-40B4-BE49-F238E27FC236}">
                <a16:creationId xmlns:a16="http://schemas.microsoft.com/office/drawing/2014/main" id="{248397A1-64C7-40A6-952A-ADB530CF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19907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把 Enemy 的 hp 設為 3：需要三次命中，且只加一次 10 分。</a:t>
            </a:r>
          </a:p>
        </p:txBody>
      </p:sp>
      <p:sp>
        <p:nvSpPr>
          <p:cNvPr id="5" name="02">
            <a:extLst xmlns:a="http://schemas.openxmlformats.org/drawingml/2006/main">
              <a:ext uri="{FF2B5EF4-FFF2-40B4-BE49-F238E27FC236}">
                <a16:creationId xmlns:a16="http://schemas.microsoft.com/office/drawing/2014/main" id="{201AEE19-87CD-4F68-B676-8C78843CE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0042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把 Bullet.damage 改為 2：一發擊破 hp 為 2 的敵人。">
            <a:extLst xmlns:a="http://schemas.openxmlformats.org/drawingml/2006/main">
              <a:ext uri="{FF2B5EF4-FFF2-40B4-BE49-F238E27FC236}">
                <a16:creationId xmlns:a16="http://schemas.microsoft.com/office/drawing/2014/main" id="{2D1B8194-0E1C-4164-AE53-C73948E0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41947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把 Bullet.damage 改為 2：一發擊破 hp 為 2 的敵人。</a:t>
            </a:r>
          </a:p>
        </p:txBody>
      </p:sp>
      <p:sp>
        <p:nvSpPr>
          <p:cNvPr id="7" name="03">
            <a:extLst xmlns:a="http://schemas.openxmlformats.org/drawingml/2006/main">
              <a:ext uri="{FF2B5EF4-FFF2-40B4-BE49-F238E27FC236}">
                <a16:creationId xmlns:a16="http://schemas.microsoft.com/office/drawing/2014/main" id="{19EE5D3F-46DA-4640-9214-3BE0E9EE6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829175"/>
            <a:ext cx="685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縮短 SHOT_INTERVAL：確認冷卻期間仍不會建立新 Bullet。">
            <a:extLst xmlns:a="http://schemas.openxmlformats.org/drawingml/2006/main">
              <a:ext uri="{FF2B5EF4-FFF2-40B4-BE49-F238E27FC236}">
                <a16:creationId xmlns:a16="http://schemas.microsoft.com/office/drawing/2014/main" id="{D089926F-487A-4056-B9C7-242E7374E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4848225"/>
            <a:ext cx="9858375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縮短 SHOT_INTERVAL：確認冷卻期間仍不會建立新 Bullet。</a:t>
            </a:r>
          </a:p>
        </p:txBody>
      </p:sp>
      <p:sp>
        <p:nvSpPr>
          <p:cNvPr id="9" name="29">
            <a:extLst xmlns:a="http://schemas.openxmlformats.org/drawingml/2006/main">
              <a:ext uri="{FF2B5EF4-FFF2-40B4-BE49-F238E27FC236}">
                <a16:creationId xmlns:a16="http://schemas.microsoft.com/office/drawing/2014/main" id="{ADF391DA-5F5A-4927-A367-02592649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30503904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從五個類別，理解一個系統">
            <a:extLst xmlns:a="http://schemas.openxmlformats.org/drawingml/2006/main">
              <a:ext uri="{FF2B5EF4-FFF2-40B4-BE49-F238E27FC236}">
                <a16:creationId xmlns:a16="http://schemas.microsoft.com/office/drawing/2014/main" id="{228C6896-A7FE-4968-988D-1DA36009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從五個類別，理解一個系統</a:t>
            </a:r>
          </a:p>
        </p:txBody>
      </p:sp>
      <p:sp>
        <p:nvSpPr>
          <p:cNvPr id="2" name="把狀態留在物件裡，用方法讓物件合作">
            <a:extLst xmlns:a="http://schemas.openxmlformats.org/drawingml/2006/main">
              <a:ext uri="{FF2B5EF4-FFF2-40B4-BE49-F238E27FC236}">
                <a16:creationId xmlns:a16="http://schemas.microsoft.com/office/drawing/2014/main" id="{2847E5E3-2C83-40AC-A1C0-0F957F738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把狀態留在物件裡，用方法讓物件合作</a:t>
            </a:r>
          </a:p>
        </p:txBody>
      </p:sp>
      <p:sp>
        <p:nvSpPr>
          <p:cNvPr id="3" name="繼承共用行為；關聯持有參照；多型統一呼叫。 完整範例、三語投影片與可搜尋的章節都在課程網站。">
            <a:extLst xmlns:a="http://schemas.openxmlformats.org/drawingml/2006/main">
              <a:ext uri="{FF2B5EF4-FFF2-40B4-BE49-F238E27FC236}">
                <a16:creationId xmlns:a16="http://schemas.microsoft.com/office/drawing/2014/main" id="{1F46B689-AD6F-4AD8-9251-27E5A3A7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66900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繼承共用行為；關聯持有參照；多型統一呼叫。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完整範例、三語投影片與可搜尋的章節都在課程網站。</a:t>
            </a:r>
          </a:p>
        </p:txBody>
      </p:sp>
      <p:sp>
        <p:nvSpPr>
          <p:cNvPr id="4" name="Pygame · Sprite / Group">
            <a:extLst xmlns:a="http://schemas.openxmlformats.org/drawingml/2006/main">
              <a:ext uri="{FF2B5EF4-FFF2-40B4-BE49-F238E27FC236}">
                <a16:creationId xmlns:a16="http://schemas.microsoft.com/office/drawing/2014/main" id="{C5C8DD75-10EB-40A3-9B34-BF1313C6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7662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Pygame · Sprite / Group</a:t>
            </a:r>
          </a:p>
        </p:txBody>
      </p:sp>
      <p:sp>
        <p:nvSpPr>
          <p:cNvPr id="5" name="https://www.pygame.org/docs/ref/sprite.html">
            <a:extLst xmlns:a="http://schemas.openxmlformats.org/drawingml/2006/main">
              <a:ext uri="{FF2B5EF4-FFF2-40B4-BE49-F238E27FC236}">
                <a16:creationId xmlns:a16="http://schemas.microsoft.com/office/drawing/2014/main" id="{26D530CF-0907-4E1C-824F-0A1F674D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4766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e7eabacc39e14550"/>
              </a:rPr>
              <a:t>https://www.pygame.org/docs/ref/sprite.html</a:t>
            </a:r>
          </a:p>
        </p:txBody>
      </p:sp>
      <p:sp>
        <p:nvSpPr>
          <p:cNvPr id="6" name="Pygame · Clock">
            <a:extLst xmlns:a="http://schemas.openxmlformats.org/drawingml/2006/main">
              <a:ext uri="{FF2B5EF4-FFF2-40B4-BE49-F238E27FC236}">
                <a16:creationId xmlns:a16="http://schemas.microsoft.com/office/drawing/2014/main" id="{F562858E-46E3-4A26-91ED-86B3A5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0050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Pygame · Clock</a:t>
            </a:r>
          </a:p>
        </p:txBody>
      </p:sp>
      <p:sp>
        <p:nvSpPr>
          <p:cNvPr id="7" name="https://www.pygame.org/docs/ref/time.html">
            <a:extLst xmlns:a="http://schemas.openxmlformats.org/drawingml/2006/main">
              <a:ext uri="{FF2B5EF4-FFF2-40B4-BE49-F238E27FC236}">
                <a16:creationId xmlns:a16="http://schemas.microsoft.com/office/drawing/2014/main" id="{D257445D-0487-448A-8F28-E05E8F8BB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0050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2e149f9ffd9043ef"/>
              </a:rPr>
              <a:t>https://www.pygame.org/docs/ref/time.html</a:t>
            </a:r>
          </a:p>
        </p:txBody>
      </p:sp>
      <p:sp>
        <p:nvSpPr>
          <p:cNvPr id="8" name="Python 3.12 · Data model">
            <a:extLst xmlns:a="http://schemas.openxmlformats.org/drawingml/2006/main">
              <a:ext uri="{FF2B5EF4-FFF2-40B4-BE49-F238E27FC236}">
                <a16:creationId xmlns:a16="http://schemas.microsoft.com/office/drawing/2014/main" id="{2A281D15-8AFD-41B8-8A6F-3C771D69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5243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Python 3.12 · Data model</a:t>
            </a:r>
          </a:p>
        </p:txBody>
      </p:sp>
      <p:sp>
        <p:nvSpPr>
          <p:cNvPr id="9" name="https://docs.python.org/3.12/reference/datamodel.html">
            <a:extLst xmlns:a="http://schemas.openxmlformats.org/drawingml/2006/main">
              <a:ext uri="{FF2B5EF4-FFF2-40B4-BE49-F238E27FC236}">
                <a16:creationId xmlns:a16="http://schemas.microsoft.com/office/drawing/2014/main" id="{8050413E-6F63-4FC5-8CB0-D9EBC3397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2437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841b164e7694490c"/>
              </a:rPr>
              <a:t>https://docs.python.org/3.12/reference/datamodel.html</a:t>
            </a:r>
          </a:p>
        </p:txBody>
      </p:sp>
      <p:sp>
        <p:nvSpPr>
          <p:cNvPr id="10" name="OMG · UML 2.5.1">
            <a:extLst xmlns:a="http://schemas.openxmlformats.org/drawingml/2006/main">
              <a:ext uri="{FF2B5EF4-FFF2-40B4-BE49-F238E27FC236}">
                <a16:creationId xmlns:a16="http://schemas.microsoft.com/office/drawing/2014/main" id="{510A2EB8-8821-49B7-A65D-E297853CE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048250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OMG · UML 2.5.1</a:t>
            </a:r>
          </a:p>
        </p:txBody>
      </p:sp>
      <p:sp>
        <p:nvSpPr>
          <p:cNvPr id="11" name="https://www.omg.org/spec/UML/2.5.1">
            <a:extLst xmlns:a="http://schemas.openxmlformats.org/drawingml/2006/main">
              <a:ext uri="{FF2B5EF4-FFF2-40B4-BE49-F238E27FC236}">
                <a16:creationId xmlns:a16="http://schemas.microsoft.com/office/drawing/2014/main" id="{9D3EAC15-340B-462E-9A5D-EAFBD229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0482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884bd6b9ce1d4808"/>
              </a:rPr>
              <a:t>https://www.omg.org/spec/UML/2.5.1</a:t>
            </a:r>
          </a:p>
        </p:txBody>
      </p:sp>
      <p:sp>
        <p:nvSpPr>
          <p:cNvPr id="12" name="Course · Pygame">
            <a:extLst xmlns:a="http://schemas.openxmlformats.org/drawingml/2006/main">
              <a:ext uri="{FF2B5EF4-FFF2-40B4-BE49-F238E27FC236}">
                <a16:creationId xmlns:a16="http://schemas.microsoft.com/office/drawing/2014/main" id="{35452EC1-E91E-4854-A076-61D92ACE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7212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rPr>
              <a:t>Course · Pygame</a:t>
            </a:r>
          </a:p>
        </p:txBody>
      </p:sp>
      <p:sp>
        <p:nvSpPr>
          <p:cNvPr id="13" name="https://minhuangyuntech.github.io/oo2026/pygame/">
            <a:extLst xmlns:a="http://schemas.openxmlformats.org/drawingml/2006/main">
              <a:ext uri="{FF2B5EF4-FFF2-40B4-BE49-F238E27FC236}">
                <a16:creationId xmlns:a16="http://schemas.microsoft.com/office/drawing/2014/main" id="{6B364685-4FB6-4759-8D36-238D8ABE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572125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f72334a349cc4959"/>
              </a:rPr>
              <a:t>https://minhuangyuntech.github.io/oo2026/pygame/</a:t>
            </a:r>
          </a:p>
        </p:txBody>
      </p:sp>
      <p:sp>
        <p:nvSpPr>
          <p:cNvPr id="14" name="30">
            <a:extLst xmlns:a="http://schemas.openxmlformats.org/drawingml/2006/main">
              <a:ext uri="{FF2B5EF4-FFF2-40B4-BE49-F238E27FC236}">
                <a16:creationId xmlns:a16="http://schemas.microsoft.com/office/drawing/2014/main" id="{D5CDAFBA-6DAC-4484-96A6-DBE0EC45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18109860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開啟線上遊戲">
            <a:extLst xmlns:a="http://schemas.openxmlformats.org/drawingml/2006/main">
              <a:ext uri="{FF2B5EF4-FFF2-40B4-BE49-F238E27FC236}">
                <a16:creationId xmlns:a16="http://schemas.microsoft.com/office/drawing/2014/main" id="{9BDA5D7F-4D6F-4CC6-8DC6-9A0A607C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開啟線上遊戲</a:t>
            </a:r>
          </a:p>
        </p:txBody>
      </p:sp>
      <p:sp>
        <p:nvSpPr>
          <p:cNvPr id="2" name="免安裝，用瀏覽器讓五個類別動起來。">
            <a:extLst xmlns:a="http://schemas.openxmlformats.org/drawingml/2006/main">
              <a:ext uri="{FF2B5EF4-FFF2-40B4-BE49-F238E27FC236}">
                <a16:creationId xmlns:a16="http://schemas.microsoft.com/office/drawing/2014/main" id="{C4AD11EF-5272-42D0-A56C-6EF16190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免安裝，用瀏覽器讓五個類別動起來。</a:t>
            </a:r>
          </a:p>
        </p:txBody>
      </p:sp>
      <p:sp>
        <p:nvSpPr>
          <p:cNvPr id="3" name="點選連結，開始遊戲">
            <a:extLst xmlns:a="http://schemas.openxmlformats.org/drawingml/2006/main">
              <a:ext uri="{FF2B5EF4-FFF2-40B4-BE49-F238E27FC236}">
                <a16:creationId xmlns:a16="http://schemas.microsoft.com/office/drawing/2014/main" id="{35F6770F-1513-47AB-AB27-0C41FD0D7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00025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d29c7707a7944707"/>
              </a:rPr>
              <a:t>點選連結，開始遊戲</a:t>
            </a:r>
          </a:p>
        </p:txBody>
      </p:sp>
      <p:sp>
        <p:nvSpPr>
          <p:cNvPr id="4" name="https://minhuangyuntech.github.io/oo2026/pygame/play/">
            <a:extLst xmlns:a="http://schemas.openxmlformats.org/drawingml/2006/main">
              <a:ext uri="{FF2B5EF4-FFF2-40B4-BE49-F238E27FC236}">
                <a16:creationId xmlns:a16="http://schemas.microsoft.com/office/drawing/2014/main" id="{98DFD96F-F2A4-4B5B-A09F-A209C3C45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717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087C62"/>
                </a:solidFill>
                <a:latin typeface="Microsoft JhengHei"/>
                <a:ea typeface="Microsoft JhengHei"/>
                <a:cs typeface="Microsoft JhengHei"/>
                <a:hlinkClick xmlns:r="http://schemas.openxmlformats.org/officeDocument/2006/relationships" r:id="R57b45e9c14bd4815"/>
              </a:rPr>
              <a:t>https://minhuangyuntech.github.io/oo2026/pygame/play/</a:t>
            </a:r>
          </a:p>
        </p:txBody>
      </p:sp>
      <p:sp>
        <p:nvSpPr>
          <p:cNvPr id="5" name="開啟網址後，按「開始遊戲」；玩家、敵人與子彈各自是一個物件。">
            <a:extLst xmlns:a="http://schemas.openxmlformats.org/drawingml/2006/main">
              <a:ext uri="{FF2B5EF4-FFF2-40B4-BE49-F238E27FC236}">
                <a16:creationId xmlns:a16="http://schemas.microsoft.com/office/drawing/2014/main" id="{512CDA38-5C45-4451-AE11-905D979C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861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開啟網址後，按「開始遊戲」；玩家、敵人與子彈各自是一個物件。</a:t>
            </a:r>
          </a:p>
        </p:txBody>
      </p:sp>
      <p:sp>
        <p:nvSpPr>
          <p:cNvPr id="6" name="上方可切換中文、English、日本語；切換時保留當前場景與分數。">
            <a:extLst xmlns:a="http://schemas.openxmlformats.org/drawingml/2006/main">
              <a:ext uri="{FF2B5EF4-FFF2-40B4-BE49-F238E27FC236}">
                <a16:creationId xmlns:a16="http://schemas.microsoft.com/office/drawing/2014/main" id="{A6E91A23-AF8D-4FF5-8D8B-F10142CC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386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上方可切換中文、English、日本語；切換時保留當前場景與分數。</a:t>
            </a:r>
          </a:p>
        </p:txBody>
      </p:sp>
      <p:sp>
        <p:nvSpPr>
          <p:cNvPr id="7" name="線上版以 TypeScript / Canvas 實作；類別責任與規則對應原 Pygame 範例。">
            <a:extLst xmlns:a="http://schemas.openxmlformats.org/drawingml/2006/main">
              <a:ext uri="{FF2B5EF4-FFF2-40B4-BE49-F238E27FC236}">
                <a16:creationId xmlns:a16="http://schemas.microsoft.com/office/drawing/2014/main" id="{240FD181-A9ED-4D23-9C85-8EA5C190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9115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線上版以 TypeScript / Canvas 實作；類別責任與規則對應原 Pygame 範例。</a:t>
            </a:r>
          </a:p>
        </p:txBody>
      </p:sp>
      <p:sp>
        <p:nvSpPr>
          <p:cNvPr id="8" name="31">
            <a:extLst xmlns:a="http://schemas.openxmlformats.org/drawingml/2006/main">
              <a:ext uri="{FF2B5EF4-FFF2-40B4-BE49-F238E27FC236}">
                <a16:creationId xmlns:a16="http://schemas.microsoft.com/office/drawing/2014/main" id="{264E6818-8F7F-454F-B63A-D7A009E3B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88952721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線上版：鍵盤與觸控操作">
            <a:extLst xmlns:a="http://schemas.openxmlformats.org/drawingml/2006/main">
              <a:ext uri="{FF2B5EF4-FFF2-40B4-BE49-F238E27FC236}">
                <a16:creationId xmlns:a16="http://schemas.microsoft.com/office/drawing/2014/main" id="{C944816D-26D3-48BB-BF63-4C8F3E67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線上版：鍵盤與觸控操作</a:t>
            </a:r>
          </a:p>
        </p:txBody>
      </p:sp>
      <p:sp>
        <p:nvSpPr>
          <p:cNvPr id="2" name="先點選遊戲畫面，再使用鍵盤；也可使用畫面上的按鈕。">
            <a:extLst xmlns:a="http://schemas.openxmlformats.org/drawingml/2006/main">
              <a:ext uri="{FF2B5EF4-FFF2-40B4-BE49-F238E27FC236}">
                <a16:creationId xmlns:a16="http://schemas.microsoft.com/office/drawing/2014/main" id="{C6974EC7-646C-490E-A07D-ED664583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先點選遊戲畫面，再使用鍵盤；也可使用畫面上的按鈕。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7EFAEA-5D75-4A8D-A5FA-126DEB565853}"/>
              </a:ext>
            </a:extLst>
          </p:cNvPr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11049000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3238500"/>
                <a:gridCol w="7810500"/>
              </a:tblGrid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按鍵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EDF4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動作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T w="9525">
                      <a:solidFill>
                        <a:srgbClr val="CCD6DF"/>
                      </a:solidFill>
                      <a:prstDash val="solid"/>
                    </a:lnT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172C40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Enter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開始／繼續遊戲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方向鍵 / WASD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移動玩家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按住 Space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連續射擊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暫停／繼續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暫停時前進 1/60 秒，不自動射擊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顯示／隱藏物件標籤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5F7FA"/>
                    </a:solidFill>
                  </a:tcPr>
                </a:tc>
              </a:tr>
              <a:tr h="464344"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CCD6DF"/>
                      </a:solidFill>
                      <a:prstDash val="solid"/>
                    </a:lnL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825" tIns="66675" rIns="104775" bIns="6667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172C40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重新開始，回到準備畫面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CCD6DF"/>
                      </a:solidFill>
                      <a:prstDash val="solid"/>
                    </a:lnR>
                    <a:lnB w="9525">
                      <a:solidFill>
                        <a:srgbClr val="CCD6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觸控：按住方向與射擊按鈕；用「暫停觀察」與「單步 +1/60 秒」觀察。">
            <a:extLst xmlns:a="http://schemas.openxmlformats.org/drawingml/2006/main">
              <a:ext uri="{FF2B5EF4-FFF2-40B4-BE49-F238E27FC236}">
                <a16:creationId xmlns:a16="http://schemas.microsoft.com/office/drawing/2014/main" id="{97A208E9-78E9-4166-9041-EDB024685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648325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觸控：按住方向與射擊按鈕；用「暫停觀察」與「單步 +1/60 秒」觀察。</a:t>
            </a:r>
          </a:p>
        </p:txBody>
      </p:sp>
      <p:sp>
        <p:nvSpPr>
          <p:cNvPr id="5" name="標籤切換：線上版用 L；原 Pygame 版用 Tab。瀏覽器的 Tab 用來移動焦點。">
            <a:extLst xmlns:a="http://schemas.openxmlformats.org/drawingml/2006/main">
              <a:ext uri="{FF2B5EF4-FFF2-40B4-BE49-F238E27FC236}">
                <a16:creationId xmlns:a16="http://schemas.microsoft.com/office/drawing/2014/main" id="{70402017-EE28-48B1-AE51-08A23080C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86475"/>
            <a:ext cx="1095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標籤切換：線上版用 L；原 Pygame 版用 Tab。瀏覽器的 Tab 用來移動焦點。</a:t>
            </a:r>
          </a:p>
        </p:txBody>
      </p:sp>
      <p:sp>
        <p:nvSpPr>
          <p:cNvPr id="6" name="32">
            <a:extLst xmlns:a="http://schemas.openxmlformats.org/drawingml/2006/main">
              <a:ext uri="{FF2B5EF4-FFF2-40B4-BE49-F238E27FC236}">
                <a16:creationId xmlns:a16="http://schemas.microsoft.com/office/drawing/2014/main" id="{5C3DD7CF-A120-4B48-BD1C-F82166A42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6640399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5F7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暫停觀察：兩顆子彈，一個玩家">
            <a:extLst xmlns:a="http://schemas.openxmlformats.org/drawingml/2006/main">
              <a:ext uri="{FF2B5EF4-FFF2-40B4-BE49-F238E27FC236}">
                <a16:creationId xmlns:a16="http://schemas.microsoft.com/office/drawing/2014/main" id="{EA27A76E-0272-402B-9805-31A64F0EA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42862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暫停觀察：兩顆子彈，一個玩家</a:t>
            </a:r>
          </a:p>
        </p:txBody>
      </p:sp>
      <p:sp>
        <p:nvSpPr>
          <p:cNvPr id="2" name="停止時間，追蹤同一個物件的參照與座標變化。">
            <a:extLst xmlns:a="http://schemas.openxmlformats.org/drawingml/2006/main">
              <a:ext uri="{FF2B5EF4-FFF2-40B4-BE49-F238E27FC236}">
                <a16:creationId xmlns:a16="http://schemas.microsoft.com/office/drawing/2014/main" id="{D4C7F940-E280-4513-B844-16B20D83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1181100"/>
            <a:ext cx="11001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停止時間，追蹤同一個物件的參照與座標變化。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015E1-04C7-4E78-9238-2874CFF444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e9594acd194dbc"/>
          <a:stretch xmlns:a="http://schemas.openxmlformats.org/drawingml/2006/main"/>
        </p:blipFill>
        <p:spPr>
          <a:xfrm xmlns:a="http://schemas.openxmlformats.org/drawingml/2006/main">
            <a:off x="571500" y="1747534"/>
            <a:ext cx="5619750" cy="4639283"/>
          </a:xfrm>
          <a:prstGeom xmlns:a="http://schemas.openxmlformats.org/drawingml/2006/main" prst="rect">
            <a:avLst/>
          </a:prstGeom>
        </p:spPr>
      </p:pic>
      <p:sp>
        <p:nvSpPr>
          <p:cNvPr id="4" name="1  按「載入觀察範例」：重設為暫停場景，含 1 個 Player、3 個 Enemy、2 個 Bullet。">
            <a:extLst xmlns:a="http://schemas.openxmlformats.org/drawingml/2006/main">
              <a:ext uri="{FF2B5EF4-FFF2-40B4-BE49-F238E27FC236}">
                <a16:creationId xmlns:a16="http://schemas.microsoft.com/office/drawing/2014/main" id="{4CE30758-4F21-48D1-835C-32EFF979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76425"/>
            <a:ext cx="5000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1  按「載入觀察範例」：重設為暫停場景，含 1 個 Player、3 個 Enemy、2 個 Bullet。</a:t>
            </a:r>
          </a:p>
        </p:txBody>
      </p:sp>
      <p:sp>
        <p:nvSpPr>
          <p:cNvPr id="5" name="2  依序選取 B01、B02。兩者的 owner 都指向同一個 player，沒有複製玩家。">
            <a:extLst xmlns:a="http://schemas.openxmlformats.org/drawingml/2006/main">
              <a:ext uri="{FF2B5EF4-FFF2-40B4-BE49-F238E27FC236}">
                <a16:creationId xmlns:a16="http://schemas.microsoft.com/office/drawing/2014/main" id="{5DD05011-48E4-4663-B2FA-8213340D5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5000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2  依序選取 B01、B02。兩者的 owner 都指向同一個 player，沒有複製玩家。</a:t>
            </a:r>
          </a:p>
        </p:txBody>
      </p:sp>
      <p:sp>
        <p:nvSpPr>
          <p:cNvPr id="6" name="3  按一次 N：B01.y 從 490.0 變成 479.7。時間前進 1/60 秒，不自動射擊。">
            <a:extLst xmlns:a="http://schemas.openxmlformats.org/drawingml/2006/main">
              <a:ext uri="{FF2B5EF4-FFF2-40B4-BE49-F238E27FC236}">
                <a16:creationId xmlns:a16="http://schemas.microsoft.com/office/drawing/2014/main" id="{8A8FC2DB-5BC2-41F1-B980-8D5414FB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67275"/>
            <a:ext cx="5000625" cy="1362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72C40"/>
                </a:solidFill>
                <a:latin typeface="Microsoft JhengHei"/>
                <a:ea typeface="Microsoft JhengHei"/>
                <a:cs typeface="Microsoft JhengHei"/>
              </a:rPr>
              <a:t>3  按一次 N：B01.y 從 490.0 變成 479.7。時間前進 1/60 秒，不自動射擊。</a:t>
            </a:r>
          </a:p>
        </p:txBody>
      </p:sp>
      <p:sp>
        <p:nvSpPr>
          <p:cNvPr id="7" name="33">
            <a:extLst xmlns:a="http://schemas.openxmlformats.org/drawingml/2006/main">
              <a:ext uri="{FF2B5EF4-FFF2-40B4-BE49-F238E27FC236}">
                <a16:creationId xmlns:a16="http://schemas.microsoft.com/office/drawing/2014/main" id="{6B0FEF73-245C-46D5-8973-E2BC69B4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505575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def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B7082"/>
                </a:solidFill>
                <a:latin typeface="Microsoft JhengHei"/>
                <a:ea typeface="Microsoft JhengHei"/>
                <a:cs typeface="Microsoft JhengHe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8557643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2026-10-21T01:25:51.7040000Z</dcterms:created>
  <dcterms:modified xsi:type="dcterms:W3CDTF">2026-10-21T01:25:51.7040000Z</dcterms:modified>
</coreProperties>
</file>