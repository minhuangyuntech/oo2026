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266bc6ccec4c1e" /><Relationship Type="http://schemas.openxmlformats.org/officeDocument/2006/relationships/extended-properties" Target="/docProps/app.xml" Id="R4ddc1afac90a4549" /><Relationship Type="http://schemas.openxmlformats.org/officeDocument/2006/relationships/officeDocument" Target="/ppt/presentation.xml" Id="Reeb3d705cda34b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36597a9b54bfc"/>
  </p:sldMasterIdLst>
  <p:notesMasterIdLst>
    <p:notesMasterId xmlns:r="http://schemas.openxmlformats.org/officeDocument/2006/relationships" r:id="R4bebb163b81d46e5"/>
  </p:notesMasterIdLst>
  <p:sldIdLst>
    <p:sldId xmlns:r="http://schemas.openxmlformats.org/officeDocument/2006/relationships" id="256" r:id="Rf50aa4e1abc4438d"/>
    <p:sldId xmlns:r="http://schemas.openxmlformats.org/officeDocument/2006/relationships" id="257" r:id="R46a317312c724427"/>
    <p:sldId xmlns:r="http://schemas.openxmlformats.org/officeDocument/2006/relationships" id="258" r:id="Rbe9d74f863e84c06"/>
    <p:sldId xmlns:r="http://schemas.openxmlformats.org/officeDocument/2006/relationships" id="259" r:id="R3db8621665d748fd"/>
    <p:sldId xmlns:r="http://schemas.openxmlformats.org/officeDocument/2006/relationships" id="260" r:id="Rb2835bfa6403451a"/>
    <p:sldId xmlns:r="http://schemas.openxmlformats.org/officeDocument/2006/relationships" id="261" r:id="R000a4820ebc94887"/>
    <p:sldId xmlns:r="http://schemas.openxmlformats.org/officeDocument/2006/relationships" id="262" r:id="R84beaa8d2e7c423f"/>
    <p:sldId xmlns:r="http://schemas.openxmlformats.org/officeDocument/2006/relationships" id="263" r:id="Rbdccfc4699cb41b2"/>
    <p:sldId xmlns:r="http://schemas.openxmlformats.org/officeDocument/2006/relationships" id="264" r:id="Ra52ff138c9f941e3"/>
    <p:sldId xmlns:r="http://schemas.openxmlformats.org/officeDocument/2006/relationships" id="265" r:id="Rf8e0c24f3e3e44f6"/>
    <p:sldId xmlns:r="http://schemas.openxmlformats.org/officeDocument/2006/relationships" id="266" r:id="R450a93a4ed094e70"/>
    <p:sldId xmlns:r="http://schemas.openxmlformats.org/officeDocument/2006/relationships" id="267" r:id="Rf23aa93155d4409e"/>
    <p:sldId xmlns:r="http://schemas.openxmlformats.org/officeDocument/2006/relationships" id="268" r:id="R837be10e372e4779"/>
    <p:sldId xmlns:r="http://schemas.openxmlformats.org/officeDocument/2006/relationships" id="269" r:id="R5201007325c64b36"/>
    <p:sldId xmlns:r="http://schemas.openxmlformats.org/officeDocument/2006/relationships" id="270" r:id="R10d460e956bc4f12"/>
    <p:sldId xmlns:r="http://schemas.openxmlformats.org/officeDocument/2006/relationships" id="271" r:id="Rf8630a024c2c4863"/>
    <p:sldId xmlns:r="http://schemas.openxmlformats.org/officeDocument/2006/relationships" id="272" r:id="R84614da0600d4ed3"/>
    <p:sldId xmlns:r="http://schemas.openxmlformats.org/officeDocument/2006/relationships" id="273" r:id="R612aa7ffb09a4f34"/>
    <p:sldId xmlns:r="http://schemas.openxmlformats.org/officeDocument/2006/relationships" id="274" r:id="R340212988bbb4887"/>
    <p:sldId xmlns:r="http://schemas.openxmlformats.org/officeDocument/2006/relationships" id="275" r:id="Raa90dff9c210408c"/>
    <p:sldId xmlns:r="http://schemas.openxmlformats.org/officeDocument/2006/relationships" id="276" r:id="R26e2987fdba748e9"/>
    <p:sldId xmlns:r="http://schemas.openxmlformats.org/officeDocument/2006/relationships" id="277" r:id="R357ecb5779e14bd4"/>
    <p:sldId xmlns:r="http://schemas.openxmlformats.org/officeDocument/2006/relationships" id="278" r:id="R50f621c6440648dc"/>
    <p:sldId xmlns:r="http://schemas.openxmlformats.org/officeDocument/2006/relationships" id="279" r:id="R49babfc73c15472e"/>
    <p:sldId xmlns:r="http://schemas.openxmlformats.org/officeDocument/2006/relationships" id="280" r:id="R207222774c574d4c"/>
    <p:sldId xmlns:r="http://schemas.openxmlformats.org/officeDocument/2006/relationships" id="281" r:id="R65720dcf860e438d"/>
    <p:sldId xmlns:r="http://schemas.openxmlformats.org/officeDocument/2006/relationships" id="282" r:id="R807fafa004764f7e"/>
    <p:sldId xmlns:r="http://schemas.openxmlformats.org/officeDocument/2006/relationships" id="283" r:id="R8cf5717481cf4a44"/>
    <p:sldId xmlns:r="http://schemas.openxmlformats.org/officeDocument/2006/relationships" id="284" r:id="R9b719caaee264974"/>
    <p:sldId xmlns:r="http://schemas.openxmlformats.org/officeDocument/2006/relationships" id="285" r:id="Rbc31229f2847456c"/>
    <p:sldId xmlns:r="http://schemas.openxmlformats.org/officeDocument/2006/relationships" id="286" r:id="R577c2b10e3c84ad6"/>
    <p:sldId xmlns:r="http://schemas.openxmlformats.org/officeDocument/2006/relationships" id="287" r:id="R7b1175200ab344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6db5686bb54855" /><Relationship Type="http://schemas.openxmlformats.org/officeDocument/2006/relationships/slideMaster" Target="/ppt/slideMasters/slideMaster1.xml" Id="R21936597a9b54bfc" /><Relationship Type="http://schemas.openxmlformats.org/officeDocument/2006/relationships/notesMaster" Target="/ppt/notesMasters/notesMaster1.xml" Id="R4bebb163b81d46e5" /><Relationship Type="http://schemas.openxmlformats.org/officeDocument/2006/relationships/presProps" Target="/ppt/presProps.xml" Id="R70bc85023b144c96" /><Relationship Type="http://schemas.openxmlformats.org/officeDocument/2006/relationships/tableStyles" Target="/ppt/tableStyles.xml" Id="R2c0d2177289246be" /><Relationship Type="http://schemas.openxmlformats.org/officeDocument/2006/relationships/slide" Target="/ppt/slides/slide1.xml" Id="Rf50aa4e1abc4438d" /><Relationship Type="http://schemas.openxmlformats.org/officeDocument/2006/relationships/slide" Target="/ppt/slides/slide2.xml" Id="R46a317312c724427" /><Relationship Type="http://schemas.openxmlformats.org/officeDocument/2006/relationships/slide" Target="/ppt/slides/slide3.xml" Id="Rbe9d74f863e84c06" /><Relationship Type="http://schemas.openxmlformats.org/officeDocument/2006/relationships/slide" Target="/ppt/slides/slide4.xml" Id="R3db8621665d748fd" /><Relationship Type="http://schemas.openxmlformats.org/officeDocument/2006/relationships/slide" Target="/ppt/slides/slide5.xml" Id="Rb2835bfa6403451a" /><Relationship Type="http://schemas.openxmlformats.org/officeDocument/2006/relationships/slide" Target="/ppt/slides/slide6.xml" Id="R000a4820ebc94887" /><Relationship Type="http://schemas.openxmlformats.org/officeDocument/2006/relationships/slide" Target="/ppt/slides/slide7.xml" Id="R84beaa8d2e7c423f" /><Relationship Type="http://schemas.openxmlformats.org/officeDocument/2006/relationships/slide" Target="/ppt/slides/slide8.xml" Id="Rbdccfc4699cb41b2" /><Relationship Type="http://schemas.openxmlformats.org/officeDocument/2006/relationships/slide" Target="/ppt/slides/slide9.xml" Id="Ra52ff138c9f941e3" /><Relationship Type="http://schemas.openxmlformats.org/officeDocument/2006/relationships/slide" Target="/ppt/slides/slide10.xml" Id="Rf8e0c24f3e3e44f6" /><Relationship Type="http://schemas.openxmlformats.org/officeDocument/2006/relationships/slide" Target="/ppt/slides/slide11.xml" Id="R450a93a4ed094e70" /><Relationship Type="http://schemas.openxmlformats.org/officeDocument/2006/relationships/slide" Target="/ppt/slides/slide12.xml" Id="Rf23aa93155d4409e" /><Relationship Type="http://schemas.openxmlformats.org/officeDocument/2006/relationships/slide" Target="/ppt/slides/slide13.xml" Id="R837be10e372e4779" /><Relationship Type="http://schemas.openxmlformats.org/officeDocument/2006/relationships/slide" Target="/ppt/slides/slide14.xml" Id="R5201007325c64b36" /><Relationship Type="http://schemas.openxmlformats.org/officeDocument/2006/relationships/slide" Target="/ppt/slides/slide15.xml" Id="R10d460e956bc4f12" /><Relationship Type="http://schemas.openxmlformats.org/officeDocument/2006/relationships/slide" Target="/ppt/slides/slide16.xml" Id="Rf8630a024c2c4863" /><Relationship Type="http://schemas.openxmlformats.org/officeDocument/2006/relationships/slide" Target="/ppt/slides/slide17.xml" Id="R84614da0600d4ed3" /><Relationship Type="http://schemas.openxmlformats.org/officeDocument/2006/relationships/slide" Target="/ppt/slides/slide18.xml" Id="R612aa7ffb09a4f34" /><Relationship Type="http://schemas.openxmlformats.org/officeDocument/2006/relationships/slide" Target="/ppt/slides/slide19.xml" Id="R340212988bbb4887" /><Relationship Type="http://schemas.openxmlformats.org/officeDocument/2006/relationships/slide" Target="/ppt/slides/slide20.xml" Id="Raa90dff9c210408c" /><Relationship Type="http://schemas.openxmlformats.org/officeDocument/2006/relationships/slide" Target="/ppt/slides/slide21.xml" Id="R26e2987fdba748e9" /><Relationship Type="http://schemas.openxmlformats.org/officeDocument/2006/relationships/slide" Target="/ppt/slides/slide22.xml" Id="R357ecb5779e14bd4" /><Relationship Type="http://schemas.openxmlformats.org/officeDocument/2006/relationships/slide" Target="/ppt/slides/slide23.xml" Id="R50f621c6440648dc" /><Relationship Type="http://schemas.openxmlformats.org/officeDocument/2006/relationships/slide" Target="/ppt/slides/slide24.xml" Id="R49babfc73c15472e" /><Relationship Type="http://schemas.openxmlformats.org/officeDocument/2006/relationships/slide" Target="/ppt/slides/slide25.xml" Id="R207222774c574d4c" /><Relationship Type="http://schemas.openxmlformats.org/officeDocument/2006/relationships/slide" Target="/ppt/slides/slide26.xml" Id="R65720dcf860e438d" /><Relationship Type="http://schemas.openxmlformats.org/officeDocument/2006/relationships/slide" Target="/ppt/slides/slide27.xml" Id="R807fafa004764f7e" /><Relationship Type="http://schemas.openxmlformats.org/officeDocument/2006/relationships/slide" Target="/ppt/slides/slide28.xml" Id="R8cf5717481cf4a44" /><Relationship Type="http://schemas.openxmlformats.org/officeDocument/2006/relationships/slide" Target="/ppt/slides/slide29.xml" Id="R9b719caaee264974" /><Relationship Type="http://schemas.openxmlformats.org/officeDocument/2006/relationships/slide" Target="/ppt/slides/slide30.xml" Id="Rbc31229f2847456c" /><Relationship Type="http://schemas.openxmlformats.org/officeDocument/2006/relationships/slide" Target="/ppt/slides/slide31.xml" Id="R577c2b10e3c84ad6" /><Relationship Type="http://schemas.openxmlformats.org/officeDocument/2006/relationships/slide" Target="/ppt/slides/slide32.xml" Id="R7b1175200ab344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e22feb14e49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b3c28f3f4d4a27" /><Relationship Type="http://schemas.openxmlformats.org/officeDocument/2006/relationships/notesMaster" Target="/ppt/notesMasters/notesMaster1.xml" Id="Ra3f7c245b6f5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7ee5e3ce441c7" /><Relationship Type="http://schemas.openxmlformats.org/officeDocument/2006/relationships/notesMaster" Target="/ppt/notesMasters/notesMaster1.xml" Id="Rf61b14f4cbf143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29cceba90547b5" /><Relationship Type="http://schemas.openxmlformats.org/officeDocument/2006/relationships/notesMaster" Target="/ppt/notesMasters/notesMaster1.xml" Id="R3e7512ea359d46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d9f3385fd6429c" /><Relationship Type="http://schemas.openxmlformats.org/officeDocument/2006/relationships/notesMaster" Target="/ppt/notesMasters/notesMaster1.xml" Id="R64db9957991b41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ab7aa9e2384ae6" /><Relationship Type="http://schemas.openxmlformats.org/officeDocument/2006/relationships/notesMaster" Target="/ppt/notesMasters/notesMaster1.xml" Id="Raaf3efc689a640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787854daf64609" /><Relationship Type="http://schemas.openxmlformats.org/officeDocument/2006/relationships/notesMaster" Target="/ppt/notesMasters/notesMaster1.xml" Id="Rf125045c45b54a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71885d5894534" /><Relationship Type="http://schemas.openxmlformats.org/officeDocument/2006/relationships/notesMaster" Target="/ppt/notesMasters/notesMaster1.xml" Id="Rd79a13c33b9a41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0ac94fd75e4b87" /><Relationship Type="http://schemas.openxmlformats.org/officeDocument/2006/relationships/notesMaster" Target="/ppt/notesMasters/notesMaster1.xml" Id="R264e074beaea4d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1b5090c29a4d98" /><Relationship Type="http://schemas.openxmlformats.org/officeDocument/2006/relationships/notesMaster" Target="/ppt/notesMasters/notesMaster1.xml" Id="R6bd6b112be4749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eac4311a2440ad" /><Relationship Type="http://schemas.openxmlformats.org/officeDocument/2006/relationships/notesMaster" Target="/ppt/notesMasters/notesMaster1.xml" Id="Rd63f4f9b083141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93b0fe71594225" /><Relationship Type="http://schemas.openxmlformats.org/officeDocument/2006/relationships/notesMaster" Target="/ppt/notesMasters/notesMaster1.xml" Id="Ree336db1062f4a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ca0af4171a4782" /><Relationship Type="http://schemas.openxmlformats.org/officeDocument/2006/relationships/notesMaster" Target="/ppt/notesMasters/notesMaster1.xml" Id="R0445c676a40441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c4114e1a054404" /><Relationship Type="http://schemas.openxmlformats.org/officeDocument/2006/relationships/notesMaster" Target="/ppt/notesMasters/notesMaster1.xml" Id="Raecf36cd892449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4e9c07c792481d" /><Relationship Type="http://schemas.openxmlformats.org/officeDocument/2006/relationships/notesMaster" Target="/ppt/notesMasters/notesMaster1.xml" Id="R1a04d8d566454f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787e28a9e54b36" /><Relationship Type="http://schemas.openxmlformats.org/officeDocument/2006/relationships/notesMaster" Target="/ppt/notesMasters/notesMaster1.xml" Id="R6cdceaef103b48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4a5a5cdaae4ba4" /><Relationship Type="http://schemas.openxmlformats.org/officeDocument/2006/relationships/notesMaster" Target="/ppt/notesMasters/notesMaster1.xml" Id="R13f44d6dac0543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fb4930f1254eb7" /><Relationship Type="http://schemas.openxmlformats.org/officeDocument/2006/relationships/notesMaster" Target="/ppt/notesMasters/notesMaster1.xml" Id="Re16e5b4115a14f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c8d3b149ed492b" /><Relationship Type="http://schemas.openxmlformats.org/officeDocument/2006/relationships/notesMaster" Target="/ppt/notesMasters/notesMaster1.xml" Id="R0e6d7110833a4a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b57eda61794167" /><Relationship Type="http://schemas.openxmlformats.org/officeDocument/2006/relationships/notesMaster" Target="/ppt/notesMasters/notesMaster1.xml" Id="R511df0f0989b4d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ba1a75ada544fa" /><Relationship Type="http://schemas.openxmlformats.org/officeDocument/2006/relationships/notesMaster" Target="/ppt/notesMasters/notesMaster1.xml" Id="R24eb5c3aabee4d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39a3a5f6504998" /><Relationship Type="http://schemas.openxmlformats.org/officeDocument/2006/relationships/notesMaster" Target="/ppt/notesMasters/notesMaster1.xml" Id="R1e1fdd3bebc240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bd39b992d94933" /><Relationship Type="http://schemas.openxmlformats.org/officeDocument/2006/relationships/notesMaster" Target="/ppt/notesMasters/notesMaster1.xml" Id="Red315f2547764c3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86f36689e34c35" /><Relationship Type="http://schemas.openxmlformats.org/officeDocument/2006/relationships/notesMaster" Target="/ppt/notesMasters/notesMaster1.xml" Id="R37f38e55f44941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7fafa738a174da5" /><Relationship Type="http://schemas.openxmlformats.org/officeDocument/2006/relationships/notesMaster" Target="/ppt/notesMasters/notesMaster1.xml" Id="R0a6107383ffc40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d7ae88cf5c460e" /><Relationship Type="http://schemas.openxmlformats.org/officeDocument/2006/relationships/notesMaster" Target="/ppt/notesMasters/notesMaster1.xml" Id="Rdd8328a7ff0a43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ad82421b9245f6" /><Relationship Type="http://schemas.openxmlformats.org/officeDocument/2006/relationships/notesMaster" Target="/ppt/notesMasters/notesMaster1.xml" Id="R6031b5701e1845f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50d530ccfab4a5b" /><Relationship Type="http://schemas.openxmlformats.org/officeDocument/2006/relationships/notesMaster" Target="/ppt/notesMasters/notesMaster1.xml" Id="Rcf86d82f07b44a9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25a760cf1ea4d99" /><Relationship Type="http://schemas.openxmlformats.org/officeDocument/2006/relationships/notesMaster" Target="/ppt/notesMasters/notesMaster1.xml" Id="Rb348612a90034a4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c3c4aba710d4988" /><Relationship Type="http://schemas.openxmlformats.org/officeDocument/2006/relationships/notesMaster" Target="/ppt/notesMasters/notesMaster1.xml" Id="R884860aa352c4bc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b5e12096dbb4ee6" /><Relationship Type="http://schemas.openxmlformats.org/officeDocument/2006/relationships/notesMaster" Target="/ppt/notesMasters/notesMaster1.xml" Id="Ree45caeecab54a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d4f414b93904faf" /><Relationship Type="http://schemas.openxmlformats.org/officeDocument/2006/relationships/notesMaster" Target="/ppt/notesMasters/notesMaster1.xml" Id="R5d08df8497d342e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45e33a80d7a4c55" /><Relationship Type="http://schemas.openxmlformats.org/officeDocument/2006/relationships/notesMaster" Target="/ppt/notesMasters/notesMaster1.xml" Id="Rdce59d99853148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https://minhuangyuntech.github.io/oo2026/pygame/play/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422cba6844d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a2784375041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ce152e8bd4b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4dd3b185047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d63c0c6c24b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8fa5af55d44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E1A211-A11B-4FD9-9DA2-611B289EC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51AE39-8B3C-41D7-9B26-0A05B6E53E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FA4412-5C50-454A-9935-233482847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64F691-0CEA-413A-AC85-098DB35CF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B3A52C-571F-4337-8134-38351EEB26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109E9C-8C03-4C79-B14C-630DD92746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FDADE1-3B90-4C54-915C-9573C93868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40592A-1580-4276-A49E-70540C676F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D05A81-3A9D-4B3D-A9B0-78FCF0C03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5B9AEA-DA4F-470E-AE68-ED43D6CA2D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15d4eb4f6a4831" /><Relationship Type="http://schemas.openxmlformats.org/officeDocument/2006/relationships/slideLayout" Target="/ppt/slideLayouts/slideLayout1.xml" Id="Reae923bd8599496e" /><Relationship Type="http://schemas.openxmlformats.org/officeDocument/2006/relationships/slideLayout" Target="/ppt/slideLayouts/slideLayout2.xml" Id="Ra239cbcd66514713" /><Relationship Type="http://schemas.openxmlformats.org/officeDocument/2006/relationships/slideLayout" Target="/ppt/slideLayouts/slideLayout3.xml" Id="R653a70389d2c4b03" /><Relationship Type="http://schemas.openxmlformats.org/officeDocument/2006/relationships/slideLayout" Target="/ppt/slideLayouts/slideLayout4.xml" Id="R72476df90e1b4341" /><Relationship Type="http://schemas.openxmlformats.org/officeDocument/2006/relationships/slideLayout" Target="/ppt/slideLayouts/slideLayout5.xml" Id="R33317ff7c5c94295" /><Relationship Type="http://schemas.openxmlformats.org/officeDocument/2006/relationships/slideLayout" Target="/ppt/slideLayouts/slideLayout6.xml" Id="R7ae442f52ecb42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923bd8599496e"/>
    <p:sldLayoutId xmlns:r="http://schemas.openxmlformats.org/officeDocument/2006/relationships" id="2147483650" r:id="Ra239cbcd66514713"/>
    <p:sldLayoutId xmlns:r="http://schemas.openxmlformats.org/officeDocument/2006/relationships" id="2147483651" r:id="R653a70389d2c4b03"/>
    <p:sldLayoutId xmlns:r="http://schemas.openxmlformats.org/officeDocument/2006/relationships" id="2147483652" r:id="R72476df90e1b4341"/>
    <p:sldLayoutId xmlns:r="http://schemas.openxmlformats.org/officeDocument/2006/relationships" id="2147483653" r:id="R33317ff7c5c94295"/>
    <p:sldLayoutId xmlns:r="http://schemas.openxmlformats.org/officeDocument/2006/relationships" id="2147483654" r:id="R7ae442f52ecb42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a4e33d0b94291" /><Relationship Type="http://schemas.openxmlformats.org/officeDocument/2006/relationships/notesSlide" Target="/ppt/notesSlides/notesSlide1.xml" Id="Raf1f2f9d2d784d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892e9668242d1" /><Relationship Type="http://schemas.openxmlformats.org/officeDocument/2006/relationships/notesSlide" Target="/ppt/notesSlides/notesSlide2.xml" Id="Rb7d3e2dc897a42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d875d80224700" /><Relationship Type="http://schemas.openxmlformats.org/officeDocument/2006/relationships/image" Target="/ppt/media/image.png" Id="Ra802f476e1ca48ba" /><Relationship Type="http://schemas.openxmlformats.org/officeDocument/2006/relationships/notesSlide" Target="/ppt/notesSlides/notesSlide3.xml" Id="R7c8f729bfaf44c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ec5b519c54b6a" /><Relationship Type="http://schemas.openxmlformats.org/officeDocument/2006/relationships/notesSlide" Target="/ppt/notesSlides/notesSlide4.xml" Id="Rc0571305db0b4e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6ba2785f746b6" /><Relationship Type="http://schemas.openxmlformats.org/officeDocument/2006/relationships/notesSlide" Target="/ppt/notesSlides/notesSlide5.xml" Id="R231c7fbba45a41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fa88e6c9d9456b" /><Relationship Type="http://schemas.openxmlformats.org/officeDocument/2006/relationships/notesSlide" Target="/ppt/notesSlides/notesSlide6.xml" Id="Rb54336fccda74f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e2590920c4ba2" /><Relationship Type="http://schemas.openxmlformats.org/officeDocument/2006/relationships/notesSlide" Target="/ppt/notesSlides/notesSlide7.xml" Id="R7c6e4200227c49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2785a961e4960" /><Relationship Type="http://schemas.openxmlformats.org/officeDocument/2006/relationships/notesSlide" Target="/ppt/notesSlides/notesSlide8.xml" Id="Rc745b358138446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82a287f054c3b" /><Relationship Type="http://schemas.openxmlformats.org/officeDocument/2006/relationships/notesSlide" Target="/ppt/notesSlides/notesSlide9.xml" Id="Rdbafa95dc8c04b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7b83039994d15" /><Relationship Type="http://schemas.openxmlformats.org/officeDocument/2006/relationships/notesSlide" Target="/ppt/notesSlides/notesSlide10.xml" Id="R19f493ca2a834c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342c403cf486b" /><Relationship Type="http://schemas.openxmlformats.org/officeDocument/2006/relationships/notesSlide" Target="/ppt/notesSlides/notesSlide11.xml" Id="R1e3e1451350c4f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594b4092a437b" /><Relationship Type="http://schemas.openxmlformats.org/officeDocument/2006/relationships/notesSlide" Target="/ppt/notesSlides/notesSlide12.xml" Id="R3ffbdb088a7d40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a10b353574562" /><Relationship Type="http://schemas.openxmlformats.org/officeDocument/2006/relationships/notesSlide" Target="/ppt/notesSlides/notesSlide13.xml" Id="Rc2cc215dd4234b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4a7aad2dc4f6d" /><Relationship Type="http://schemas.openxmlformats.org/officeDocument/2006/relationships/notesSlide" Target="/ppt/notesSlides/notesSlide14.xml" Id="R02d478af613f4b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f7de12f864fdf" /><Relationship Type="http://schemas.openxmlformats.org/officeDocument/2006/relationships/notesSlide" Target="/ppt/notesSlides/notesSlide15.xml" Id="R4d0b8aa4b19543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0da514bc34824" /><Relationship Type="http://schemas.openxmlformats.org/officeDocument/2006/relationships/notesSlide" Target="/ppt/notesSlides/notesSlide16.xml" Id="Rff33275c58f84d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59430b6902464d" /><Relationship Type="http://schemas.openxmlformats.org/officeDocument/2006/relationships/notesSlide" Target="/ppt/notesSlides/notesSlide17.xml" Id="Rdccd2ecf56654d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5c83ba4544631" /><Relationship Type="http://schemas.openxmlformats.org/officeDocument/2006/relationships/notesSlide" Target="/ppt/notesSlides/notesSlide18.xml" Id="Rd15f6e2cba424fd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c27139a68489a" /><Relationship Type="http://schemas.openxmlformats.org/officeDocument/2006/relationships/notesSlide" Target="/ppt/notesSlides/notesSlide19.xml" Id="R9c78b9d6d8a540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44db2420a4f83" /><Relationship Type="http://schemas.openxmlformats.org/officeDocument/2006/relationships/notesSlide" Target="/ppt/notesSlides/notesSlide20.xml" Id="Rd9b286a674db4e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0753ef29d4fa3" /><Relationship Type="http://schemas.openxmlformats.org/officeDocument/2006/relationships/notesSlide" Target="/ppt/notesSlides/notesSlide21.xml" Id="Rb3d6b3085c6c49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14c72d01649a9" /><Relationship Type="http://schemas.openxmlformats.org/officeDocument/2006/relationships/notesSlide" Target="/ppt/notesSlides/notesSlide22.xml" Id="R9cce4bab595644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5529e0b96474c" /><Relationship Type="http://schemas.openxmlformats.org/officeDocument/2006/relationships/notesSlide" Target="/ppt/notesSlides/notesSlide23.xml" Id="Ra7f194ff24564f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ef6a2bfc248b0" /><Relationship Type="http://schemas.openxmlformats.org/officeDocument/2006/relationships/notesSlide" Target="/ppt/notesSlides/notesSlide24.xml" Id="R4e31dfea7ba0432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453b0dfdf4ad3" /><Relationship Type="http://schemas.openxmlformats.org/officeDocument/2006/relationships/notesSlide" Target="/ppt/notesSlides/notesSlide25.xml" Id="Rf75b3ac0e29847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86b8ebcfd4997" /><Relationship Type="http://schemas.openxmlformats.org/officeDocument/2006/relationships/notesSlide" Target="/ppt/notesSlides/notesSlide26.xml" Id="Rd79add8969ad4b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9820a57a4439e" /><Relationship Type="http://schemas.openxmlformats.org/officeDocument/2006/relationships/notesSlide" Target="/ppt/notesSlides/notesSlide27.xml" Id="Re3dff8244c2d4f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944c2939841ec" /><Relationship Type="http://schemas.openxmlformats.org/officeDocument/2006/relationships/image" Target="/ppt/media/image.jpeg" Id="R9c3048ceed464b40" /><Relationship Type="http://schemas.openxmlformats.org/officeDocument/2006/relationships/hyperlink" Target="https://minhuangyuntech.github.io/oo2026/en/pygame/play/" TargetMode="External" Id="Rb7d8bac4d38044da" /><Relationship Type="http://schemas.openxmlformats.org/officeDocument/2006/relationships/notesSlide" Target="/ppt/notesSlides/notesSlide28.xml" Id="Ra854ed1e8cb94a8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63a5531d84564" /><Relationship Type="http://schemas.openxmlformats.org/officeDocument/2006/relationships/hyperlink" Target="https://minhuangyuntech.github.io/oo2026/materials/week-8-examples.zip" TargetMode="External" Id="Rc34d748516614abe" /><Relationship Type="http://schemas.openxmlformats.org/officeDocument/2006/relationships/notesSlide" Target="/ppt/notesSlides/notesSlide29.xml" Id="R79a833cd9c564d8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e2d23816941dd" /><Relationship Type="http://schemas.openxmlformats.org/officeDocument/2006/relationships/notesSlide" Target="/ppt/notesSlides/notesSlide30.xml" Id="Rf81af1b1bd1944f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3bc18c35e4946" /><Relationship Type="http://schemas.openxmlformats.org/officeDocument/2006/relationships/notesSlide" Target="/ppt/notesSlides/notesSlide31.xml" Id="Ref313b722ad041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d011bac06462c" /><Relationship Type="http://schemas.openxmlformats.org/officeDocument/2006/relationships/hyperlink" Target="https://docs.python.org/3.12/library/abc.html" TargetMode="External" Id="R7f98f415de5e4db8" /><Relationship Type="http://schemas.openxmlformats.org/officeDocument/2006/relationships/hyperlink" Target="https://docs.python.org/3.12/library/typing.html#typing.Protocol" TargetMode="External" Id="Rc21f289b3a294d50" /><Relationship Type="http://schemas.openxmlformats.org/officeDocument/2006/relationships/notesSlide" Target="/ppt/notesSlides/notesSlide32.xml" Id="R979969cf5a5149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OOP  /  Week 8">
            <a:extLst xmlns:a="http://schemas.openxmlformats.org/drawingml/2006/main">
              <a:ext uri="{FF2B5EF4-FFF2-40B4-BE49-F238E27FC236}">
                <a16:creationId xmlns:a16="http://schemas.microsoft.com/office/drawing/2014/main" id="{AA4AE8C0-4D91-4947-BF83-E9941AE2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100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OOP  /  Week 8</a:t>
            </a:r>
          </a:p>
        </p:txBody>
      </p:sp>
      <p:sp>
        <p:nvSpPr>
          <p:cNvPr id="2" name="Polymorphism, abstraction and interfaces">
            <a:extLst xmlns:a="http://schemas.openxmlformats.org/drawingml/2006/main">
              <a:ext uri="{FF2B5EF4-FFF2-40B4-BE49-F238E27FC236}">
                <a16:creationId xmlns:a16="http://schemas.microsoft.com/office/drawing/2014/main" id="{B4D2E74B-D250-4DD4-96F2-01ABA04C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57375"/>
            <a:ext cx="11049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Polymorphism, abstraction</a:t>
            </a:r>
          </a:p>
          <a:p xmlns:a="http://schemas.openxmlformats.org/drawingml/2006/main">
            <a: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and interfaces</a:t>
            </a:r>
          </a:p>
        </p:txBody>
      </p:sp>
      <p:sp>
        <p:nvSpPr>
          <p:cNvPr id="3" name="Shared interfaces and replaceable objects in the shooter">
            <a:extLst xmlns:a="http://schemas.openxmlformats.org/drawingml/2006/main">
              <a:ext uri="{FF2B5EF4-FFF2-40B4-BE49-F238E27FC236}">
                <a16:creationId xmlns:a16="http://schemas.microsoft.com/office/drawing/2014/main" id="{3BAD949A-6A15-4283-97A1-5C2DA5CC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Shared interfaces and replaceable objects in the shooter</a:t>
            </a:r>
          </a:p>
        </p:txBody>
      </p:sp>
      <p:sp>
        <p:nvSpPr>
          <p:cNvPr id="4" name="Enemy · update(dt) · ABC · Protocol · Motion">
            <a:extLst xmlns:a="http://schemas.openxmlformats.org/drawingml/2006/main">
              <a:ext uri="{FF2B5EF4-FFF2-40B4-BE49-F238E27FC236}">
                <a16:creationId xmlns:a16="http://schemas.microsoft.com/office/drawing/2014/main" id="{56A4C7CC-908F-4A81-9C9F-B486D14D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8EDBE"/>
                </a:solidFill>
                <a:latin typeface="Consolas"/>
                <a:ea typeface="Consolas"/>
                <a:cs typeface="Consolas"/>
              </a:rPr>
              <a:t>Enemy · update(dt) · ABC · Protocol · Motion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C86FFF97-2DA3-4122-9C00-B0CD6CFB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2486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his week’s topics">
            <a:extLst xmlns:a="http://schemas.openxmlformats.org/drawingml/2006/main">
              <a:ext uri="{FF2B5EF4-FFF2-40B4-BE49-F238E27FC236}">
                <a16:creationId xmlns:a16="http://schemas.microsoft.com/office/drawing/2014/main" id="{5C0AB966-C46B-4416-B346-7D5E216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This week’s topics</a:t>
            </a:r>
          </a:p>
        </p:txBody>
      </p:sp>
      <p:sp>
        <p:nvSpPr>
          <p:cNvPr id="2" name="Different objects can respond to the same call">
            <a:extLst xmlns:a="http://schemas.openxmlformats.org/drawingml/2006/main">
              <a:ext uri="{FF2B5EF4-FFF2-40B4-BE49-F238E27FC236}">
                <a16:creationId xmlns:a16="http://schemas.microsoft.com/office/drawing/2014/main" id="{B554B336-2687-4879-948F-BD08BE28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Different objects can respond to the same call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8C3AD0F8-80E7-4605-9F24-5E485145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race update(dt) to understand polymorphism and dynamic dispatch.">
            <a:extLst xmlns:a="http://schemas.openxmlformats.org/drawingml/2006/main">
              <a:ext uri="{FF2B5EF4-FFF2-40B4-BE49-F238E27FC236}">
                <a16:creationId xmlns:a16="http://schemas.microsoft.com/office/drawing/2014/main" id="{5A720F32-C352-4B53-8B1A-3B51484D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Trace update(dt) to understand polymorphism and dynamic dispatch.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5A9B7EFE-5D29-4C74-9510-C00DFC9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Compare duck typing, ABCs, and Protocols.">
            <a:extLst xmlns:a="http://schemas.openxmlformats.org/drawingml/2006/main">
              <a:ext uri="{FF2B5EF4-FFF2-40B4-BE49-F238E27FC236}">
                <a16:creationId xmlns:a16="http://schemas.microsoft.com/office/drawing/2014/main" id="{14EC1C16-6655-4816-BBD0-9BCD080B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Compare duck typing, ABCs, and Protocols.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EE09102B-0E55-4DA3-ADAC-932EAE6A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Add enemy behavior and replace movement through composition.">
            <a:extLst xmlns:a="http://schemas.openxmlformats.org/drawingml/2006/main">
              <a:ext uri="{FF2B5EF4-FFF2-40B4-BE49-F238E27FC236}">
                <a16:creationId xmlns:a16="http://schemas.microsoft.com/office/drawing/2014/main" id="{695AA602-833F-4AE7-A1A6-D16EA5A4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Add enemy behavior and replace movement through composition.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7B69AA59-025E-44F1-8BD9-4C16205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4098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bjects in the original shooter">
            <a:extLst xmlns:a="http://schemas.openxmlformats.org/drawingml/2006/main">
              <a:ext uri="{FF2B5EF4-FFF2-40B4-BE49-F238E27FC236}">
                <a16:creationId xmlns:a16="http://schemas.microsoft.com/office/drawing/2014/main" id="{6A3AB26A-FAEC-4AFC-B433-F49ACED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Objects in the original shooter</a:t>
            </a:r>
          </a:p>
        </p:txBody>
      </p:sp>
      <p:sp>
        <p:nvSpPr>
          <p:cNvPr id="2" name="Game manages Player, Enemy, and Bullet">
            <a:extLst xmlns:a="http://schemas.openxmlformats.org/drawingml/2006/main">
              <a:ext uri="{FF2B5EF4-FFF2-40B4-BE49-F238E27FC236}">
                <a16:creationId xmlns:a16="http://schemas.microsoft.com/office/drawing/2014/main" id="{A03573F7-04EC-4234-82CF-A5C9A8DD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Game manages Player, Enemy, and Bullet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DA9AC-642A-4130-86B9-C7EA2A2F2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2f476e1ca48ba"/>
          <a:stretch xmlns:a="http://schemas.openxmlformats.org/drawingml/2006/main"/>
        </p:blipFill>
        <p:spPr>
          <a:xfrm xmlns:a="http://schemas.openxmlformats.org/drawingml/2006/main">
            <a:off x="678656" y="1838325"/>
            <a:ext cx="6786563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Each actor holds its own position, velocity, and state.">
            <a:extLst xmlns:a="http://schemas.openxmlformats.org/drawingml/2006/main">
              <a:ext uri="{FF2B5EF4-FFF2-40B4-BE49-F238E27FC236}">
                <a16:creationId xmlns:a16="http://schemas.microsoft.com/office/drawing/2014/main" id="{CF456F3A-EFDE-4009-9B28-7337B09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9775"/>
            <a:ext cx="3476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Each actor holds its own position, velocity, and state.</a:t>
            </a:r>
          </a:p>
        </p:txBody>
      </p:sp>
      <p:sp>
        <p:nvSpPr>
          <p:cNvPr id="5" name="Game updates the group. Actors handle their own behavior.">
            <a:extLst xmlns:a="http://schemas.openxmlformats.org/drawingml/2006/main">
              <a:ext uri="{FF2B5EF4-FFF2-40B4-BE49-F238E27FC236}">
                <a16:creationId xmlns:a16="http://schemas.microsoft.com/office/drawing/2014/main" id="{65D4DC28-5890-40B9-A0C6-31C9B2CB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71900"/>
            <a:ext cx="3476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Game updates the group. Actors handle their own behavior.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883B4572-A0AC-44FC-AFF2-F76AC300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8994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xisting classes and update behavior">
            <a:extLst xmlns:a="http://schemas.openxmlformats.org/drawingml/2006/main">
              <a:ext uri="{FF2B5EF4-FFF2-40B4-BE49-F238E27FC236}">
                <a16:creationId xmlns:a16="http://schemas.microsoft.com/office/drawing/2014/main" id="{C07FEB9D-F27C-4541-9897-873A3AFB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Existing classes and update behavior</a:t>
            </a:r>
          </a:p>
        </p:txBody>
      </p:sp>
      <p:sp>
        <p:nvSpPr>
          <p:cNvPr id="2" name="Enemy inherits Actor.update() unchanged">
            <a:extLst xmlns:a="http://schemas.openxmlformats.org/drawingml/2006/main">
              <a:ext uri="{FF2B5EF4-FFF2-40B4-BE49-F238E27FC236}">
                <a16:creationId xmlns:a16="http://schemas.microsoft.com/office/drawing/2014/main" id="{01B6620E-670D-4CFC-B266-1F2255C4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Enemy inherits Actor.update() unchanged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9A4FD-206D-45C4-8E1D-A8ACC180B7CF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763000"/>
              </a:tblGrid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Class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Update behavior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Move by velocity and synchronize rect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Shared motion, bounds, and cooldown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Use Actor movement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Shared motion, then remove offscreen bullets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Inherited methods also participate in polymorphism. Not every subclass needs an ">
            <a:extLst xmlns:a="http://schemas.openxmlformats.org/drawingml/2006/main">
              <a:ext uri="{FF2B5EF4-FFF2-40B4-BE49-F238E27FC236}">
                <a16:creationId xmlns:a16="http://schemas.microsoft.com/office/drawing/2014/main" id="{3C98FDE7-C66F-42FB-A1D6-B198351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Inherited methods also participate in polymorphism. Not every subclass needs an override.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D2ACAE3A-9EE6-4CC7-B92D-FA1F27A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130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One call updates the group">
            <a:extLst xmlns:a="http://schemas.openxmlformats.org/drawingml/2006/main">
              <a:ext uri="{FF2B5EF4-FFF2-40B4-BE49-F238E27FC236}">
                <a16:creationId xmlns:a16="http://schemas.microsoft.com/office/drawing/2014/main" id="{E9ECE0D9-B704-4747-9680-2ADD5500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One call updates the group</a:t>
            </a:r>
          </a:p>
        </p:txBody>
      </p:sp>
      <p:sp>
        <p:nvSpPr>
          <p:cNvPr id="2" name="Game.update() in the original game.py">
            <a:extLst xmlns:a="http://schemas.openxmlformats.org/drawingml/2006/main">
              <a:ext uri="{FF2B5EF4-FFF2-40B4-BE49-F238E27FC236}">
                <a16:creationId xmlns:a16="http://schemas.microsoft.com/office/drawing/2014/main" id="{0204B082-B235-4B45-BAB7-67E3057A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Game.update() in the original game.py</a:t>
            </a:r>
          </a:p>
        </p:txBody>
      </p:sp>
      <p:sp>
        <p:nvSpPr>
          <p:cNvPr id="3" name="self.all_sprites.update(dt)">
            <a:extLst xmlns:a="http://schemas.openxmlformats.org/drawingml/2006/main">
              <a:ext uri="{FF2B5EF4-FFF2-40B4-BE49-F238E27FC236}">
                <a16:creationId xmlns:a16="http://schemas.microsoft.com/office/drawing/2014/main" id="{30642833-18E6-4542-A8EE-172D755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self.all_sprites.update(dt)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64162-40CF-4691-ACC0-30482DB6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# Conceptual equivalent:">
            <a:extLst xmlns:a="http://schemas.openxmlformats.org/drawingml/2006/main">
              <a:ext uri="{FF2B5EF4-FFF2-40B4-BE49-F238E27FC236}">
                <a16:creationId xmlns:a16="http://schemas.microsoft.com/office/drawing/2014/main" id="{182F2F73-A9FB-42EA-85E1-0CC4F9F3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Conceptual equivalent:</a:t>
            </a:r>
          </a:p>
        </p:txBody>
      </p:sp>
      <p:sp>
        <p:nvSpPr>
          <p:cNvPr id="6" name="for actor in self.all_sprites:">
            <a:extLst xmlns:a="http://schemas.openxmlformats.org/drawingml/2006/main">
              <a:ext uri="{FF2B5EF4-FFF2-40B4-BE49-F238E27FC236}">
                <a16:creationId xmlns:a16="http://schemas.microsoft.com/office/drawing/2014/main" id="{30A32A86-3E7E-43CA-86CF-EC0A9D9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for actor in self.all_sprites:</a:t>
            </a:r>
          </a:p>
        </p:txBody>
      </p:sp>
      <p:sp>
        <p:nvSpPr>
          <p:cNvPr id="7" name="    actor.update(dt)">
            <a:extLst xmlns:a="http://schemas.openxmlformats.org/drawingml/2006/main">
              <a:ext uri="{FF2B5EF4-FFF2-40B4-BE49-F238E27FC236}">
                <a16:creationId xmlns:a16="http://schemas.microsoft.com/office/drawing/2014/main" id="{0111F3D7-EF3D-499C-A7B3-07E30653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actor.update(dt)</a:t>
            </a:r>
          </a:p>
        </p:txBody>
      </p:sp>
      <p:sp>
        <p:nvSpPr>
          <p:cNvPr id="8" name="Group.update(dt) forwards the same dt to each Sprite’s update.">
            <a:extLst xmlns:a="http://schemas.openxmlformats.org/drawingml/2006/main">
              <a:ext uri="{FF2B5EF4-FFF2-40B4-BE49-F238E27FC236}">
                <a16:creationId xmlns:a16="http://schemas.microsoft.com/office/drawing/2014/main" id="{6953BE24-2CEA-4454-95C3-0914BF8E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Group.update(dt) forwards the same dt to each Sprite’s update.</a:t>
            </a:r>
          </a:p>
        </p:txBody>
      </p:sp>
      <p:sp>
        <p:nvSpPr>
          <p:cNvPr id="9" name="The group does not collect update return values.">
            <a:extLst xmlns:a="http://schemas.openxmlformats.org/drawingml/2006/main">
              <a:ext uri="{FF2B5EF4-FFF2-40B4-BE49-F238E27FC236}">
                <a16:creationId xmlns:a16="http://schemas.microsoft.com/office/drawing/2014/main" id="{D856B305-77B3-4033-8F61-8F1F879B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group does not collect update return values.</a:t>
            </a:r>
          </a:p>
        </p:txBody>
      </p:sp>
      <p:sp>
        <p:nvSpPr>
          <p:cNvPr id="10" name="game.py / Game.update">
            <a:extLst xmlns:a="http://schemas.openxmlformats.org/drawingml/2006/main">
              <a:ext uri="{FF2B5EF4-FFF2-40B4-BE49-F238E27FC236}">
                <a16:creationId xmlns:a16="http://schemas.microsoft.com/office/drawing/2014/main" id="{89C70A05-35AB-46E2-990B-D7BDCE0F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/ Game.update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A32EC819-1BDE-4ED0-B02D-F2811CD6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3436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amic dispatch paths">
            <a:extLst xmlns:a="http://schemas.openxmlformats.org/drawingml/2006/main">
              <a:ext uri="{FF2B5EF4-FFF2-40B4-BE49-F238E27FC236}">
                <a16:creationId xmlns:a16="http://schemas.microsoft.com/office/drawing/2014/main" id="{E323D7C7-CDE6-4DF2-B083-8C970A5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Dynamic dispatch paths</a:t>
            </a:r>
          </a:p>
        </p:txBody>
      </p:sp>
      <p:sp>
        <p:nvSpPr>
          <p:cNvPr id="2" name="Method lookup follows the object’s actual class">
            <a:extLst xmlns:a="http://schemas.openxmlformats.org/drawingml/2006/main">
              <a:ext uri="{FF2B5EF4-FFF2-40B4-BE49-F238E27FC236}">
                <a16:creationId xmlns:a16="http://schemas.microsoft.com/office/drawing/2014/main" id="{8F4A1E4A-0F17-48AD-B112-A858DC6A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Method lookup follows the object’s actual class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0B4B8-CE1F-4884-A629-96B453423886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0375"/>
                <a:gridCol w="3714750"/>
                <a:gridCol w="4333875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Actual object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Method found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Further call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player: 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Player.update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super().update(dt)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E01: 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Actor.update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Move directly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B01: 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Bullet.update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super().update(dt)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he loop name stays actor while the referenced object changes.">
            <a:extLst xmlns:a="http://schemas.openxmlformats.org/drawingml/2006/main">
              <a:ext uri="{FF2B5EF4-FFF2-40B4-BE49-F238E27FC236}">
                <a16:creationId xmlns:a16="http://schemas.microsoft.com/office/drawing/2014/main" id="{2C346832-18A5-4675-B6D6-45227CB5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The loop name stays actor while the referenced object changes.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F25B40BB-6437-4522-ADAE-21EDFE8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8233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red movement and dt">
            <a:extLst xmlns:a="http://schemas.openxmlformats.org/drawingml/2006/main">
              <a:ext uri="{FF2B5EF4-FFF2-40B4-BE49-F238E27FC236}">
                <a16:creationId xmlns:a16="http://schemas.microsoft.com/office/drawing/2014/main" id="{FA20B73E-A0BF-4256-A124-1E41A7C7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Shared movement and dt</a:t>
            </a:r>
          </a:p>
        </p:txBody>
      </p:sp>
      <p:sp>
        <p:nvSpPr>
          <p:cNvPr id="2" name="dt is in seconds. Velocity is in pixels per second.">
            <a:extLst xmlns:a="http://schemas.openxmlformats.org/drawingml/2006/main">
              <a:ext uri="{FF2B5EF4-FFF2-40B4-BE49-F238E27FC236}">
                <a16:creationId xmlns:a16="http://schemas.microsoft.com/office/drawing/2014/main" id="{F6B478D5-754D-4432-B133-0CC87FC9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dt is in seconds. Velocity is in pixels per second.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30E45191-CF07-46EA-8B59-F4CDFDF4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elf.pos += self.velocity * dt">
            <a:extLst xmlns:a="http://schemas.openxmlformats.org/drawingml/2006/main">
              <a:ext uri="{FF2B5EF4-FFF2-40B4-BE49-F238E27FC236}">
                <a16:creationId xmlns:a16="http://schemas.microsoft.com/office/drawing/2014/main" id="{3FD6AA3E-3264-433B-A055-C80828C6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self.pos += self.velocity * dt</a:t>
            </a:r>
          </a:p>
        </p:txBody>
      </p:sp>
      <p:sp>
        <p:nvSpPr>
          <p:cNvPr id="5" name="    self.rect.center = (round(self.pos.x), round(self.pos.y))">
            <a:extLst xmlns:a="http://schemas.openxmlformats.org/drawingml/2006/main">
              <a:ext uri="{FF2B5EF4-FFF2-40B4-BE49-F238E27FC236}">
                <a16:creationId xmlns:a16="http://schemas.microsoft.com/office/drawing/2014/main" id="{1666A7DA-F3D9-4065-A4A3-E03A9F56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self.rect.center = (round(self.pos.x), round(self.pos.y))</a:t>
            </a:r>
          </a:p>
        </p:txBody>
      </p:sp>
      <p:sp>
        <p:nvSpPr>
          <p:cNvPr id="6" name="At velocity −620 and dt=0.5, bullet y decreases by 310 pixels.">
            <a:extLst xmlns:a="http://schemas.openxmlformats.org/drawingml/2006/main">
              <a:ext uri="{FF2B5EF4-FFF2-40B4-BE49-F238E27FC236}">
                <a16:creationId xmlns:a16="http://schemas.microsoft.com/office/drawing/2014/main" id="{607DD55C-7837-4EDD-B48B-3EBEB1D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At velocity −620 and dt=0.5, bullet y decreases by 310 pixels.</a:t>
            </a:r>
          </a:p>
        </p:txBody>
      </p:sp>
      <p:sp>
        <p:nvSpPr>
          <p:cNvPr id="7" name="pos retains fractions. rect uses integers for drawing and collision.">
            <a:extLst xmlns:a="http://schemas.openxmlformats.org/drawingml/2006/main">
              <a:ext uri="{FF2B5EF4-FFF2-40B4-BE49-F238E27FC236}">
                <a16:creationId xmlns:a16="http://schemas.microsoft.com/office/drawing/2014/main" id="{F6E1BE38-8ADE-4748-8AAE-038E090D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pos retains fractions. rect uses integers for drawing and collision.</a:t>
            </a:r>
          </a:p>
        </p:txBody>
      </p:sp>
      <p:sp>
        <p:nvSpPr>
          <p:cNvPr id="8" name="actors.py / Actor.update">
            <a:extLst xmlns:a="http://schemas.openxmlformats.org/drawingml/2006/main">
              <a:ext uri="{FF2B5EF4-FFF2-40B4-BE49-F238E27FC236}">
                <a16:creationId xmlns:a16="http://schemas.microsoft.com/office/drawing/2014/main" id="{BB69CB56-4EDE-4567-A926-BD017336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Actor.update</a:t>
            </a:r>
          </a:p>
        </p:txBody>
      </p:sp>
      <p:sp>
        <p:nvSpPr>
          <p:cNvPr id="9" name="07">
            <a:extLst xmlns:a="http://schemas.openxmlformats.org/drawingml/2006/main">
              <a:ext uri="{FF2B5EF4-FFF2-40B4-BE49-F238E27FC236}">
                <a16:creationId xmlns:a16="http://schemas.microsoft.com/office/drawing/2014/main" id="{884AA70E-8AB0-4C4D-BB7E-D90299CC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5345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Overriding and super()">
            <a:extLst xmlns:a="http://schemas.openxmlformats.org/drawingml/2006/main">
              <a:ext uri="{FF2B5EF4-FFF2-40B4-BE49-F238E27FC236}">
                <a16:creationId xmlns:a16="http://schemas.microsoft.com/office/drawing/2014/main" id="{09BC2B32-9BF5-424D-97FB-AD4E247B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Overriding and super()</a:t>
            </a:r>
          </a:p>
        </p:txBody>
      </p:sp>
      <p:sp>
        <p:nvSpPr>
          <p:cNvPr id="2" name="Bullet adds its rule after shared movement">
            <a:extLst xmlns:a="http://schemas.openxmlformats.org/drawingml/2006/main">
              <a:ext uri="{FF2B5EF4-FFF2-40B4-BE49-F238E27FC236}">
                <a16:creationId xmlns:a16="http://schemas.microsoft.com/office/drawing/2014/main" id="{AA591668-C9FF-4122-9A7E-22EA1022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Bullet adds its rule after shared movement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2395A56C-5C6A-45A5-AAA7-93509E63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655EFC26-E21D-40BE-83B6-E86371E4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super().update(dt)</a:t>
            </a:r>
          </a:p>
        </p:txBody>
      </p:sp>
      <p:sp>
        <p:nvSpPr>
          <p:cNvPr id="5" name="    if self.rect.bottom &lt; PLAY_AREA.top:">
            <a:extLst xmlns:a="http://schemas.openxmlformats.org/drawingml/2006/main">
              <a:ext uri="{FF2B5EF4-FFF2-40B4-BE49-F238E27FC236}">
                <a16:creationId xmlns:a16="http://schemas.microsoft.com/office/drawing/2014/main" id="{9C857448-4888-4E5D-AD87-601C3EF5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self.rect.bottom &lt; PLAY_AREA.top:</a:t>
            </a:r>
          </a:p>
        </p:txBody>
      </p:sp>
      <p:sp>
        <p:nvSpPr>
          <p:cNvPr id="6" name="        self.kill()">
            <a:extLst xmlns:a="http://schemas.openxmlformats.org/drawingml/2006/main">
              <a:ext uri="{FF2B5EF4-FFF2-40B4-BE49-F238E27FC236}">
                <a16:creationId xmlns:a16="http://schemas.microsoft.com/office/drawing/2014/main" id="{0187FF7D-01DC-4E40-9544-60D86FB9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self.kill()</a:t>
            </a:r>
          </a:p>
        </p:txBody>
      </p:sp>
      <p:sp>
        <p:nvSpPr>
          <p:cNvPr id="7" name="In this inheritance chain, super().update(dt) calls Actor.update.">
            <a:extLst xmlns:a="http://schemas.openxmlformats.org/drawingml/2006/main">
              <a:ext uri="{FF2B5EF4-FFF2-40B4-BE49-F238E27FC236}">
                <a16:creationId xmlns:a16="http://schemas.microsoft.com/office/drawing/2014/main" id="{4FD047BE-A5B1-4833-9DBD-F0B3E6A2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In this inheritance chain, super().update(dt) calls Actor.update.</a:t>
            </a:r>
          </a:p>
        </p:txBody>
      </p:sp>
      <p:sp>
        <p:nvSpPr>
          <p:cNvPr id="8" name="When the bullet leaves the top edge, kill() removes it from all groups.">
            <a:extLst xmlns:a="http://schemas.openxmlformats.org/drawingml/2006/main">
              <a:ext uri="{FF2B5EF4-FFF2-40B4-BE49-F238E27FC236}">
                <a16:creationId xmlns:a16="http://schemas.microsoft.com/office/drawing/2014/main" id="{16C3BF4E-87F4-4691-96A5-0B963677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When the bullet leaves the top edge, kill() removes it from all groups.</a:t>
            </a:r>
          </a:p>
        </p:txBody>
      </p:sp>
      <p:sp>
        <p:nvSpPr>
          <p:cNvPr id="9" name="actors.py / Bullet.update">
            <a:extLst xmlns:a="http://schemas.openxmlformats.org/drawingml/2006/main">
              <a:ext uri="{FF2B5EF4-FFF2-40B4-BE49-F238E27FC236}">
                <a16:creationId xmlns:a16="http://schemas.microsoft.com/office/drawing/2014/main" id="{AAC728B6-2604-494A-8C9A-9E132BC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Bullet.update</a:t>
            </a:r>
          </a:p>
        </p:txBody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78BA084A-193A-4FE5-A06E-9E8CCEE5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6340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n enemy that weaves sideways">
            <a:extLst xmlns:a="http://schemas.openxmlformats.org/drawingml/2006/main">
              <a:ext uri="{FF2B5EF4-FFF2-40B4-BE49-F238E27FC236}">
                <a16:creationId xmlns:a16="http://schemas.microsoft.com/office/drawing/2014/main" id="{B8A1C35B-7675-4ABA-8EC8-253C4C4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An enemy that weaves sideways</a:t>
            </a:r>
          </a:p>
        </p:txBody>
      </p:sp>
      <p:sp>
        <p:nvSpPr>
          <p:cNvPr id="2" name="WeavingEnemy is a Week 8 extension">
            <a:extLst xmlns:a="http://schemas.openxmlformats.org/drawingml/2006/main">
              <a:ext uri="{FF2B5EF4-FFF2-40B4-BE49-F238E27FC236}">
                <a16:creationId xmlns:a16="http://schemas.microsoft.com/office/drawing/2014/main" id="{D01531EC-7359-40B5-84B5-DA57766C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WeavingEnemy is a Week 8 extension</a:t>
            </a:r>
          </a:p>
        </p:txBody>
      </p:sp>
      <p:sp>
        <p:nvSpPr>
          <p:cNvPr id="3" name="class WeavingEnemy(Enemy):">
            <a:extLst xmlns:a="http://schemas.openxmlformats.org/drawingml/2006/main">
              <a:ext uri="{FF2B5EF4-FFF2-40B4-BE49-F238E27FC236}">
                <a16:creationId xmlns:a16="http://schemas.microsoft.com/office/drawing/2014/main" id="{1BD9DFE8-7134-46C4-ACCC-BC94790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WeavingEnemy(Enemy):</a:t>
            </a:r>
          </a:p>
        </p:txBody>
      </p:sp>
      <p:sp>
        <p:nvSpPr>
          <p:cNvPr id="4" name="    def __init__(self, name, position, speed=80, hp=1):">
            <a:extLst xmlns:a="http://schemas.openxmlformats.org/drawingml/2006/main">
              <a:ext uri="{FF2B5EF4-FFF2-40B4-BE49-F238E27FC236}">
                <a16:creationId xmlns:a16="http://schemas.microsoft.com/office/drawing/2014/main" id="{BF48AB78-131F-46CE-87A6-7803E4D6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speed=80, hp=1):</a:t>
            </a:r>
          </a:p>
        </p:txBody>
      </p:sp>
      <p:sp>
        <p:nvSpPr>
          <p:cNvPr id="5" name="        super().__init__(name, position, speed, hp)">
            <a:extLst xmlns:a="http://schemas.openxmlformats.org/drawingml/2006/main">
              <a:ext uri="{FF2B5EF4-FFF2-40B4-BE49-F238E27FC236}">
                <a16:creationId xmlns:a16="http://schemas.microsoft.com/office/drawing/2014/main" id="{27F6EDBA-FF9D-4A23-95E2-46AFE8EB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position, speed, hp)</a:t>
            </a:r>
          </a:p>
        </p:txBody>
      </p:sp>
      <p:sp>
        <p:nvSpPr>
          <p:cNvPr id="6" name="        self.elapsed = 0.0">
            <a:extLst xmlns:a="http://schemas.openxmlformats.org/drawingml/2006/main">
              <a:ext uri="{FF2B5EF4-FFF2-40B4-BE49-F238E27FC236}">
                <a16:creationId xmlns:a16="http://schemas.microsoft.com/office/drawing/2014/main" id="{03810AE8-1255-4FCC-B363-1AF57B73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= 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07171-CC2D-444A-A96C-69AF6AFF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15BBC3D3-8D94-4336-9DD0-549AA8B8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9" name="        self.elapsed += dt">
            <a:extLst xmlns:a="http://schemas.openxmlformats.org/drawingml/2006/main">
              <a:ext uri="{FF2B5EF4-FFF2-40B4-BE49-F238E27FC236}">
                <a16:creationId xmlns:a16="http://schemas.microsoft.com/office/drawing/2014/main" id="{BC19AD18-4EDE-4A2E-AFB8-65774C9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+= dt</a:t>
            </a:r>
          </a:p>
        </p:txBody>
      </p:sp>
      <p:sp>
        <p:nvSpPr>
          <p:cNvPr id="10" name="        self.velocity.x = 100 * cos(3 * self.elapsed)">
            <a:extLst xmlns:a="http://schemas.openxmlformats.org/drawingml/2006/main">
              <a:ext uri="{FF2B5EF4-FFF2-40B4-BE49-F238E27FC236}">
                <a16:creationId xmlns:a16="http://schemas.microsoft.com/office/drawing/2014/main" id="{50FE0113-9065-4F57-B405-5BC426C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self.velocity.x = 100 * cos(3 * self.elapsed)</a:t>
            </a:r>
          </a:p>
        </p:txBody>
      </p:sp>
      <p:sp>
        <p:nvSpPr>
          <p:cNvPr id="11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B7A60CE8-6369-4878-A9F0-D85978B5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12" name="elapsed accumulates seconds. cos() varies horizontal velocity.">
            <a:extLst xmlns:a="http://schemas.openxmlformats.org/drawingml/2006/main">
              <a:ext uri="{FF2B5EF4-FFF2-40B4-BE49-F238E27FC236}">
                <a16:creationId xmlns:a16="http://schemas.microsoft.com/office/drawing/2014/main" id="{BEA5EBD6-E69D-49EC-8418-B2F72B26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elapsed accumulates seconds. cos() varies horizontal velocity.</a:t>
            </a:r>
          </a:p>
        </p:txBody>
      </p:sp>
      <p:sp>
        <p:nvSpPr>
          <p:cNvPr id="13" name="HP, damage handling, and group operations remain inherited.">
            <a:extLst xmlns:a="http://schemas.openxmlformats.org/drawingml/2006/main">
              <a:ext uri="{FF2B5EF4-FFF2-40B4-BE49-F238E27FC236}">
                <a16:creationId xmlns:a16="http://schemas.microsoft.com/office/drawing/2014/main" id="{2264B5EE-5177-47B2-9303-0B23F93B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HP, damage handling, and group operations remain inherited.</a:t>
            </a:r>
          </a:p>
        </p:txBody>
      </p:sp>
      <p:sp>
        <p:nvSpPr>
          <p:cNvPr id="14" name="extension.py / WeavingEnemy">
            <a:extLst xmlns:a="http://schemas.openxmlformats.org/drawingml/2006/main">
              <a:ext uri="{FF2B5EF4-FFF2-40B4-BE49-F238E27FC236}">
                <a16:creationId xmlns:a16="http://schemas.microsoft.com/office/drawing/2014/main" id="{A49A5FEE-8BD9-4737-842C-5D1CA534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/ WeavingEnemy</a:t>
            </a:r>
          </a:p>
        </p:txBody>
      </p:sp>
      <p:sp>
        <p:nvSpPr>
          <p:cNvPr id="15" name="09">
            <a:extLst xmlns:a="http://schemas.openxmlformats.org/drawingml/2006/main">
              <a:ext uri="{FF2B5EF4-FFF2-40B4-BE49-F238E27FC236}">
                <a16:creationId xmlns:a16="http://schemas.microsoft.com/office/drawing/2014/main" id="{415C36D9-1B4F-4A24-92BD-33457F88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7368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e new enemy joins the same group">
            <a:extLst xmlns:a="http://schemas.openxmlformats.org/drawingml/2006/main">
              <a:ext uri="{FF2B5EF4-FFF2-40B4-BE49-F238E27FC236}">
                <a16:creationId xmlns:a16="http://schemas.microsoft.com/office/drawing/2014/main" id="{109E1FC6-437A-4583-AB0B-558B296E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The new enemy joins the same group</a:t>
            </a:r>
          </a:p>
        </p:txBody>
      </p:sp>
      <p:sp>
        <p:nvSpPr>
          <p:cNvPr id="2" name="Choose the class at creation. Keep the shared update call.">
            <a:extLst xmlns:a="http://schemas.openxmlformats.org/drawingml/2006/main">
              <a:ext uri="{FF2B5EF4-FFF2-40B4-BE49-F238E27FC236}">
                <a16:creationId xmlns:a16="http://schemas.microsoft.com/office/drawing/2014/main" id="{3401553C-1F41-488B-8A96-6C182D93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Choose the class at creation. Keep the shared update call.</a:t>
            </a:r>
          </a:p>
        </p:txBody>
      </p:sp>
      <p:sp>
        <p:nvSpPr>
          <p:cNvPr id="3" name="from actors import Enemy">
            <a:extLst xmlns:a="http://schemas.openxmlformats.org/drawingml/2006/main">
              <a:ext uri="{FF2B5EF4-FFF2-40B4-BE49-F238E27FC236}">
                <a16:creationId xmlns:a16="http://schemas.microsoft.com/office/drawing/2014/main" id="{D13512AE-837D-423C-AB89-1E5ADB22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actors import Enemy</a:t>
            </a:r>
          </a:p>
        </p:txBody>
      </p:sp>
      <p:sp>
        <p:nvSpPr>
          <p:cNvPr id="4" name="from extension import WeavingEnemy">
            <a:extLst xmlns:a="http://schemas.openxmlformats.org/drawingml/2006/main">
              <a:ext uri="{FF2B5EF4-FFF2-40B4-BE49-F238E27FC236}">
                <a16:creationId xmlns:a16="http://schemas.microsoft.com/office/drawing/2014/main" id="{A8345F1F-419C-41E5-842C-9CEAE39D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extension import WeavingEnemy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D2F0B-C079-407E-BBCB-4EFDDE65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a = Enemy(&quot;E01&quot;, (180, 180))">
            <a:extLst xmlns:a="http://schemas.openxmlformats.org/drawingml/2006/main">
              <a:ext uri="{FF2B5EF4-FFF2-40B4-BE49-F238E27FC236}">
                <a16:creationId xmlns:a16="http://schemas.microsoft.com/office/drawing/2014/main" id="{F48AD9F6-0062-4C35-B5D2-713290A0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 = Enemy("E01", (180, 180))</a:t>
            </a:r>
          </a:p>
        </p:txBody>
      </p:sp>
      <p:sp>
        <p:nvSpPr>
          <p:cNvPr id="7" name="b = WeavingEnemy(&quot;E02&quot;, (395, 235))">
            <a:extLst xmlns:a="http://schemas.openxmlformats.org/drawingml/2006/main">
              <a:ext uri="{FF2B5EF4-FFF2-40B4-BE49-F238E27FC236}">
                <a16:creationId xmlns:a16="http://schemas.microsoft.com/office/drawing/2014/main" id="{73F1BB8C-21CD-41BA-830E-AE140194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 = WeavingEnemy("E02", (395, 235))</a:t>
            </a:r>
          </a:p>
        </p:txBody>
      </p:sp>
      <p:sp>
        <p:nvSpPr>
          <p:cNvPr id="8" name="group = pygame.sprite.Group(a, b)">
            <a:extLst xmlns:a="http://schemas.openxmlformats.org/drawingml/2006/main">
              <a:ext uri="{FF2B5EF4-FFF2-40B4-BE49-F238E27FC236}">
                <a16:creationId xmlns:a16="http://schemas.microsoft.com/office/drawing/2014/main" id="{2CBF46EB-F6E4-4491-9AD3-52FEDE61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group = pygame.sprite.Group(a, b)</a:t>
            </a:r>
          </a:p>
        </p:txBody>
      </p:sp>
      <p:sp>
        <p:nvSpPr>
          <p:cNvPr id="9" name="group.update(1 / 60)">
            <a:extLst xmlns:a="http://schemas.openxmlformats.org/drawingml/2006/main">
              <a:ext uri="{FF2B5EF4-FFF2-40B4-BE49-F238E27FC236}">
                <a16:creationId xmlns:a16="http://schemas.microsoft.com/office/drawing/2014/main" id="{7CF27E07-4952-421B-86DD-2BCF7F40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group.update(1 / 60)</a:t>
            </a:r>
          </a:p>
        </p:txBody>
      </p:sp>
      <p:sp>
        <p:nvSpPr>
          <p:cNvPr id="10" name="Both the original Enemy and the new enemy accept update(dt).">
            <a:extLst xmlns:a="http://schemas.openxmlformats.org/drawingml/2006/main">
              <a:ext uri="{FF2B5EF4-FFF2-40B4-BE49-F238E27FC236}">
                <a16:creationId xmlns:a16="http://schemas.microsoft.com/office/drawing/2014/main" id="{45FE3826-CB85-402B-BAC1-4393DEF1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Both the original Enemy and the new enemy accept update(dt).</a:t>
            </a:r>
          </a:p>
        </p:txBody>
      </p:sp>
      <p:sp>
        <p:nvSpPr>
          <p:cNvPr id="11" name="The complete spawn logic is in demo_game.py.">
            <a:extLst xmlns:a="http://schemas.openxmlformats.org/drawingml/2006/main">
              <a:ext uri="{FF2B5EF4-FFF2-40B4-BE49-F238E27FC236}">
                <a16:creationId xmlns:a16="http://schemas.microsoft.com/office/drawing/2014/main" id="{D7D42C2B-1D5D-4DEE-B088-3CF4E0FF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complete spawn logic is in demo_game.py.</a:t>
            </a:r>
          </a:p>
        </p:txBody>
      </p:sp>
      <p:sp>
        <p:nvSpPr>
          <p:cNvPr id="12" name="demo_game.py / Week8Game.spawn_enemy (concept)">
            <a:extLst xmlns:a="http://schemas.openxmlformats.org/drawingml/2006/main">
              <a:ext uri="{FF2B5EF4-FFF2-40B4-BE49-F238E27FC236}">
                <a16:creationId xmlns:a16="http://schemas.microsoft.com/office/drawing/2014/main" id="{863F9FEE-AD7B-43A3-8E45-6CE391A8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demo_game.py / Week8Game.spawn_enemy (concept)</a:t>
            </a:r>
          </a:p>
        </p:txBody>
      </p:sp>
      <p:sp>
        <p:nvSpPr>
          <p:cNvPr id="13" name="10">
            <a:extLst xmlns:a="http://schemas.openxmlformats.org/drawingml/2006/main">
              <a:ext uri="{FF2B5EF4-FFF2-40B4-BE49-F238E27FC236}">
                <a16:creationId xmlns:a16="http://schemas.microsoft.com/office/drawing/2014/main" id="{A070011D-CCCE-42D3-9FC6-A38E0B42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75472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uck typing with Spark">
            <a:extLst xmlns:a="http://schemas.openxmlformats.org/drawingml/2006/main">
              <a:ext uri="{FF2B5EF4-FFF2-40B4-BE49-F238E27FC236}">
                <a16:creationId xmlns:a16="http://schemas.microsoft.com/office/drawing/2014/main" id="{6CE74E69-A81E-416E-8D09-54934988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Duck typing with Spark</a:t>
            </a:r>
          </a:p>
        </p:txBody>
      </p:sp>
      <p:sp>
        <p:nvSpPr>
          <p:cNvPr id="2" name="An object can participate when it supports the required operation">
            <a:extLst xmlns:a="http://schemas.openxmlformats.org/drawingml/2006/main">
              <a:ext uri="{FF2B5EF4-FFF2-40B4-BE49-F238E27FC236}">
                <a16:creationId xmlns:a16="http://schemas.microsoft.com/office/drawing/2014/main" id="{0AF7664E-5853-4A0B-BD63-A0051460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An object can participate when it supports the required operation</a:t>
            </a:r>
          </a:p>
        </p:txBody>
      </p:sp>
      <p:sp>
        <p:nvSpPr>
          <p:cNvPr id="3" name="class Spark:">
            <a:extLst xmlns:a="http://schemas.openxmlformats.org/drawingml/2006/main">
              <a:ext uri="{FF2B5EF4-FFF2-40B4-BE49-F238E27FC236}">
                <a16:creationId xmlns:a16="http://schemas.microsoft.com/office/drawing/2014/main" id="{40F8069D-053D-4E4C-9D11-0371F7BA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Spark:</a:t>
            </a:r>
          </a:p>
        </p:txBody>
      </p:sp>
      <p:sp>
        <p:nvSpPr>
          <p:cNvPr id="4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BD661661-90A8-4158-AE62-4E194C33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5" name="        self.ttl = 1.0">
            <a:extLst xmlns:a="http://schemas.openxmlformats.org/drawingml/2006/main">
              <a:ext uri="{FF2B5EF4-FFF2-40B4-BE49-F238E27FC236}">
                <a16:creationId xmlns:a16="http://schemas.microsoft.com/office/drawing/2014/main" id="{E8A322BD-B9F2-458B-94B4-E867F8F9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self.ttl = 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83C4F-C395-4C19-A4D6-56759908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C3C80F67-BB27-4EB9-A3F3-39A25815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self.ttl = max(0.0, self.ttl - dt)">
            <a:extLst xmlns:a="http://schemas.openxmlformats.org/drawingml/2006/main">
              <a:ext uri="{FF2B5EF4-FFF2-40B4-BE49-F238E27FC236}">
                <a16:creationId xmlns:a16="http://schemas.microsoft.com/office/drawing/2014/main" id="{CBE7A101-8949-4E54-A3F5-E5A95012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self.ttl = max(0.0, self.ttl - dt)</a:t>
            </a:r>
          </a:p>
        </p:txBody>
      </p:sp>
      <p:sp>
        <p:nvSpPr>
          <p:cNvPr id="9" name="Spark stores a remaining lifetime, ttl. It does not inherit from Enemy.">
            <a:extLst xmlns:a="http://schemas.openxmlformats.org/drawingml/2006/main">
              <a:ext uri="{FF2B5EF4-FFF2-40B4-BE49-F238E27FC236}">
                <a16:creationId xmlns:a16="http://schemas.microsoft.com/office/drawing/2014/main" id="{E5D7B2B7-9106-48CD-839E-4B622D4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Spark stores a remaining lifetime, ttl. It does not inherit from Enemy.</a:t>
            </a:r>
          </a:p>
        </p:txBody>
      </p:sp>
      <p:sp>
        <p:nvSpPr>
          <p:cNvPr id="10" name="Spark fits an ordinary update list. Pygame groups still need Sprite support.">
            <a:extLst xmlns:a="http://schemas.openxmlformats.org/drawingml/2006/main">
              <a:ext uri="{FF2B5EF4-FFF2-40B4-BE49-F238E27FC236}">
                <a16:creationId xmlns:a16="http://schemas.microsoft.com/office/drawing/2014/main" id="{7EDE8BFC-A1C6-476D-A92C-5366F1B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Spark fits an ordinary update list. Pygame groups still need Sprite support.</a:t>
            </a:r>
          </a:p>
        </p:txBody>
      </p:sp>
      <p:sp>
        <p:nvSpPr>
          <p:cNvPr id="11" name="contracts.py / Spark">
            <a:extLst xmlns:a="http://schemas.openxmlformats.org/drawingml/2006/main">
              <a:ext uri="{FF2B5EF4-FFF2-40B4-BE49-F238E27FC236}">
                <a16:creationId xmlns:a16="http://schemas.microsoft.com/office/drawing/2014/main" id="{65ABBE49-847A-4129-B7D1-A761C677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Spark</a:t>
            </a:r>
          </a:p>
        </p:txBody>
      </p:sp>
      <p:sp>
        <p:nvSpPr>
          <p:cNvPr id="12" name="11">
            <a:extLst xmlns:a="http://schemas.openxmlformats.org/drawingml/2006/main">
              <a:ext uri="{FF2B5EF4-FFF2-40B4-BE49-F238E27FC236}">
                <a16:creationId xmlns:a16="http://schemas.microsoft.com/office/drawing/2014/main" id="{DB1524A3-EDC3-43F1-B7F3-A8A50130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4539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alls need compatible methods">
            <a:extLst xmlns:a="http://schemas.openxmlformats.org/drawingml/2006/main">
              <a:ext uri="{FF2B5EF4-FFF2-40B4-BE49-F238E27FC236}">
                <a16:creationId xmlns:a16="http://schemas.microsoft.com/office/drawing/2014/main" id="{DAD74659-778D-4933-AC0B-82C3B978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Calls need compatible methods</a:t>
            </a:r>
          </a:p>
        </p:txBody>
      </p:sp>
      <p:sp>
        <p:nvSpPr>
          <p:cNvPr id="2" name="Both the method name and its parameters affect the call">
            <a:extLst xmlns:a="http://schemas.openxmlformats.org/drawingml/2006/main">
              <a:ext uri="{FF2B5EF4-FFF2-40B4-BE49-F238E27FC236}">
                <a16:creationId xmlns:a16="http://schemas.microsoft.com/office/drawing/2014/main" id="{191FBFB9-B883-4542-A7A8-6FAFA531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Both the method name and its parameters affect the call</a:t>
            </a:r>
          </a:p>
        </p:txBody>
      </p:sp>
      <p:sp>
        <p:nvSpPr>
          <p:cNvPr id="3" name="class BadClock:">
            <a:extLst xmlns:a="http://schemas.openxmlformats.org/drawingml/2006/main">
              <a:ext uri="{FF2B5EF4-FFF2-40B4-BE49-F238E27FC236}">
                <a16:creationId xmlns:a16="http://schemas.microsoft.com/office/drawing/2014/main" id="{8E588425-FED2-459C-B84D-209EF8DD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BadClock:</a:t>
            </a:r>
          </a:p>
        </p:txBody>
      </p:sp>
      <p:sp>
        <p:nvSpPr>
          <p:cNvPr id="4" name="    def update(self):">
            <a:extLst xmlns:a="http://schemas.openxmlformats.org/drawingml/2006/main">
              <a:ext uri="{FF2B5EF4-FFF2-40B4-BE49-F238E27FC236}">
                <a16:creationId xmlns:a16="http://schemas.microsoft.com/office/drawing/2014/main" id="{460A7B6C-4136-40D5-90B4-40C59B3A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update(self):</a:t>
            </a:r>
          </a:p>
        </p:txBody>
      </p:sp>
      <p:sp>
        <p:nvSpPr>
          <p:cNvPr id="5" name="        pass">
            <a:extLst xmlns:a="http://schemas.openxmlformats.org/drawingml/2006/main">
              <a:ext uri="{FF2B5EF4-FFF2-40B4-BE49-F238E27FC236}">
                <a16:creationId xmlns:a16="http://schemas.microsoft.com/office/drawing/2014/main" id="{E843A34D-04DB-4E34-A782-B5AEFC77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ABB4-6DC8-40EF-B35E-AF91A96D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bad = BadClock()">
            <a:extLst xmlns:a="http://schemas.openxmlformats.org/drawingml/2006/main">
              <a:ext uri="{FF2B5EF4-FFF2-40B4-BE49-F238E27FC236}">
                <a16:creationId xmlns:a16="http://schemas.microsoft.com/office/drawing/2014/main" id="{947430EE-491D-4DEA-8988-27E960A4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 = BadClock()</a:t>
            </a:r>
          </a:p>
        </p:txBody>
      </p:sp>
      <p:sp>
        <p:nvSpPr>
          <p:cNvPr id="8" name="bad.update(0.5)  # TypeError">
            <a:extLst xmlns:a="http://schemas.openxmlformats.org/drawingml/2006/main">
              <a:ext uri="{FF2B5EF4-FFF2-40B4-BE49-F238E27FC236}">
                <a16:creationId xmlns:a16="http://schemas.microsoft.com/office/drawing/2014/main" id="{BB507648-1A45-490F-9E80-925F677E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bad.update(0.5)  # TypeError</a:t>
            </a:r>
          </a:p>
        </p:txBody>
      </p:sp>
      <p:sp>
        <p:nvSpPr>
          <p:cNvPr id="9" name="A missing update method raises AttributeError.">
            <a:extLst xmlns:a="http://schemas.openxmlformats.org/drawingml/2006/main">
              <a:ext uri="{FF2B5EF4-FFF2-40B4-BE49-F238E27FC236}">
                <a16:creationId xmlns:a16="http://schemas.microsoft.com/office/drawing/2014/main" id="{5E0A9D54-2958-4A6B-8678-1D26687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 missing update method raises AttributeError.</a:t>
            </a:r>
          </a:p>
        </p:txBody>
      </p:sp>
      <p:sp>
        <p:nvSpPr>
          <p:cNvPr id="10" name="An update method without a dt parameter also fails this call.">
            <a:extLst xmlns:a="http://schemas.openxmlformats.org/drawingml/2006/main">
              <a:ext uri="{FF2B5EF4-FFF2-40B4-BE49-F238E27FC236}">
                <a16:creationId xmlns:a16="http://schemas.microsoft.com/office/drawing/2014/main" id="{AD158A1F-D57F-4C12-B2F1-9085599B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An update method without a dt parameter also fails this call.</a:t>
            </a:r>
          </a:p>
        </p:txBody>
      </p:sp>
      <p:sp>
        <p:nvSpPr>
          <p:cNvPr id="11" name="contracts.py / BadClock">
            <a:extLst xmlns:a="http://schemas.openxmlformats.org/drawingml/2006/main">
              <a:ext uri="{FF2B5EF4-FFF2-40B4-BE49-F238E27FC236}">
                <a16:creationId xmlns:a16="http://schemas.microsoft.com/office/drawing/2014/main" id="{30CD6E14-3067-48F0-B5AE-28884DD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BadClock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D2DBFF35-8028-4C1E-A681-36B504F0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43443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e update contract">
            <a:extLst xmlns:a="http://schemas.openxmlformats.org/drawingml/2006/main">
              <a:ext uri="{FF2B5EF4-FFF2-40B4-BE49-F238E27FC236}">
                <a16:creationId xmlns:a16="http://schemas.microsoft.com/office/drawing/2014/main" id="{F62733D1-848A-48B2-A176-5399ED21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The update contract</a:t>
            </a:r>
          </a:p>
        </p:txBody>
      </p:sp>
      <p:sp>
        <p:nvSpPr>
          <p:cNvPr id="2" name="A shared interface includes behavior and units">
            <a:extLst xmlns:a="http://schemas.openxmlformats.org/drawingml/2006/main">
              <a:ext uri="{FF2B5EF4-FFF2-40B4-BE49-F238E27FC236}">
                <a16:creationId xmlns:a16="http://schemas.microsoft.com/office/drawing/2014/main" id="{6F9DEA34-5D3D-4A47-B9F8-FAF7D5D8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A shared interface includes behavior and units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6C319-524F-4296-B15C-C589F270561D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763000"/>
              </a:tblGrid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Item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Contract in this example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Input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dt: float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Units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Elapsed seconds, dt ≥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Side effects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Update own state and synchronize rect when needed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Return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Abstraction exposes required operations while keeping implementation details ins">
            <a:extLst xmlns:a="http://schemas.openxmlformats.org/drawingml/2006/main">
              <a:ext uri="{FF2B5EF4-FFF2-40B4-BE49-F238E27FC236}">
                <a16:creationId xmlns:a16="http://schemas.microsoft.com/office/drawing/2014/main" id="{5A804462-EB0F-42A3-8DE8-07647F67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Abstraction exposes required operations while keeping implementation details inside objects.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74CCB07A-9CF4-44EE-9F94-26DAF9C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22765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bstract base classes">
            <a:extLst xmlns:a="http://schemas.openxmlformats.org/drawingml/2006/main">
              <a:ext uri="{FF2B5EF4-FFF2-40B4-BE49-F238E27FC236}">
                <a16:creationId xmlns:a16="http://schemas.microsoft.com/office/drawing/2014/main" id="{BCF1B04B-829B-4DFB-97E4-E6C66E97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Abstract base classes</a:t>
            </a:r>
          </a:p>
        </p:txBody>
      </p:sp>
      <p:sp>
        <p:nvSpPr>
          <p:cNvPr id="2" name="Abstract methods declare operations subclasses must complete">
            <a:extLst xmlns:a="http://schemas.openxmlformats.org/drawingml/2006/main">
              <a:ext uri="{FF2B5EF4-FFF2-40B4-BE49-F238E27FC236}">
                <a16:creationId xmlns:a16="http://schemas.microsoft.com/office/drawing/2014/main" id="{7869BBFF-0370-4978-80F5-975C0399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Abstract methods declare operations subclasses must complete</a:t>
            </a:r>
          </a:p>
        </p:txBody>
      </p:sp>
      <p:sp>
        <p:nvSpPr>
          <p:cNvPr id="3" name="from abc import ABC, abstractmethod">
            <a:extLst xmlns:a="http://schemas.openxmlformats.org/drawingml/2006/main">
              <a:ext uri="{FF2B5EF4-FFF2-40B4-BE49-F238E27FC236}">
                <a16:creationId xmlns:a16="http://schemas.microsoft.com/office/drawing/2014/main" id="{3B9B11A7-8C85-41B9-BE25-3FB337EB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abc import ABC, abstractmethod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84504-7D9F-4E4A-B1EB-26D58627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class UpdateableABC(ABC):">
            <a:extLst xmlns:a="http://schemas.openxmlformats.org/drawingml/2006/main">
              <a:ext uri="{FF2B5EF4-FFF2-40B4-BE49-F238E27FC236}">
                <a16:creationId xmlns:a16="http://schemas.microsoft.com/office/drawing/2014/main" id="{B7C482AC-2279-4602-9863-06C30E78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UpdateableABC(ABC):</a:t>
            </a:r>
          </a:p>
        </p:txBody>
      </p:sp>
      <p:sp>
        <p:nvSpPr>
          <p:cNvPr id="6" name="    @abstractmethod">
            <a:extLst xmlns:a="http://schemas.openxmlformats.org/drawingml/2006/main">
              <a:ext uri="{FF2B5EF4-FFF2-40B4-BE49-F238E27FC236}">
                <a16:creationId xmlns:a16="http://schemas.microsoft.com/office/drawing/2014/main" id="{7C2C8EE3-8D7A-4384-ACAD-5B555D43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@abstractmethod</a:t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839E5E27-E898-402E-8A37-47F3766C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pass">
            <a:extLst xmlns:a="http://schemas.openxmlformats.org/drawingml/2006/main">
              <a:ext uri="{FF2B5EF4-FFF2-40B4-BE49-F238E27FC236}">
                <a16:creationId xmlns:a16="http://schemas.microsoft.com/office/drawing/2014/main" id="{B25C7CE9-E5BB-4325-8EA9-84475108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pass</a:t>
            </a:r>
          </a:p>
        </p:txBody>
      </p:sp>
      <p:sp>
        <p:nvSpPr>
          <p:cNvPr id="9" name="This is a separate simplified model. The original Actor remains concrete.">
            <a:extLst xmlns:a="http://schemas.openxmlformats.org/drawingml/2006/main">
              <a:ext uri="{FF2B5EF4-FFF2-40B4-BE49-F238E27FC236}">
                <a16:creationId xmlns:a16="http://schemas.microsoft.com/office/drawing/2014/main" id="{CEE3C7CF-024E-4461-BA20-B830C8F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This is a separate simplified model. The original Actor remains concrete.</a:t>
            </a:r>
          </a:p>
        </p:txBody>
      </p:sp>
      <p:sp>
        <p:nvSpPr>
          <p:cNvPr id="10" name="ABC and abstractmethod come from the abc module.">
            <a:extLst xmlns:a="http://schemas.openxmlformats.org/drawingml/2006/main">
              <a:ext uri="{FF2B5EF4-FFF2-40B4-BE49-F238E27FC236}">
                <a16:creationId xmlns:a16="http://schemas.microsoft.com/office/drawing/2014/main" id="{50C976CB-BC9A-4700-91AA-BD5D1B49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ABC and abstractmethod come from the abc module.</a:t>
            </a:r>
          </a:p>
        </p:txBody>
      </p:sp>
      <p:sp>
        <p:nvSpPr>
          <p:cNvPr id="11" name="contracts.py / UpdateableABC">
            <a:extLst xmlns:a="http://schemas.openxmlformats.org/drawingml/2006/main">
              <a:ext uri="{FF2B5EF4-FFF2-40B4-BE49-F238E27FC236}">
                <a16:creationId xmlns:a16="http://schemas.microsoft.com/office/drawing/2014/main" id="{37544015-9CC6-4937-BA1B-FB2D0109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UpdateableABC</a:t>
            </a:r>
          </a:p>
        </p:txBody>
      </p:sp>
      <p:sp>
        <p:nvSpPr>
          <p:cNvPr id="12" name="14">
            <a:extLst xmlns:a="http://schemas.openxmlformats.org/drawingml/2006/main">
              <a:ext uri="{FF2B5EF4-FFF2-40B4-BE49-F238E27FC236}">
                <a16:creationId xmlns:a16="http://schemas.microsoft.com/office/drawing/2014/main" id="{DB1FB065-B961-4678-9234-6FFD9FDF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84355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Unimplemented abstract methods">
            <a:extLst xmlns:a="http://schemas.openxmlformats.org/drawingml/2006/main">
              <a:ext uri="{FF2B5EF4-FFF2-40B4-BE49-F238E27FC236}">
                <a16:creationId xmlns:a16="http://schemas.microsoft.com/office/drawing/2014/main" id="{6D9B5A09-D72E-4808-872D-DD8069A8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Unimplemented abstract methods</a:t>
            </a:r>
          </a:p>
        </p:txBody>
      </p:sp>
      <p:sp>
        <p:nvSpPr>
          <p:cNvPr id="2" name="Python blocks instantiation while abstract methods remain">
            <a:extLst xmlns:a="http://schemas.openxmlformats.org/drawingml/2006/main">
              <a:ext uri="{FF2B5EF4-FFF2-40B4-BE49-F238E27FC236}">
                <a16:creationId xmlns:a16="http://schemas.microsoft.com/office/drawing/2014/main" id="{15A20B18-5546-4DE3-A36D-C83005C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blocks instantiation while abstract methods remain</a:t>
            </a:r>
          </a:p>
        </p:txBody>
      </p:sp>
      <p:sp>
        <p:nvSpPr>
          <p:cNvPr id="3" name="class Incomplete(UpdateableABC):">
            <a:extLst xmlns:a="http://schemas.openxmlformats.org/drawingml/2006/main">
              <a:ext uri="{FF2B5EF4-FFF2-40B4-BE49-F238E27FC236}">
                <a16:creationId xmlns:a16="http://schemas.microsoft.com/office/drawing/2014/main" id="{AABFB705-E780-4A90-9CBF-C51D7E6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Incomplete(UpdateableABC):</a:t>
            </a:r>
          </a:p>
        </p:txBody>
      </p:sp>
      <p:sp>
        <p:nvSpPr>
          <p:cNvPr id="4" name="    pass">
            <a:extLst xmlns:a="http://schemas.openxmlformats.org/drawingml/2006/main">
              <a:ext uri="{FF2B5EF4-FFF2-40B4-BE49-F238E27FC236}">
                <a16:creationId xmlns:a16="http://schemas.microsoft.com/office/drawing/2014/main" id="{6FEFC118-C8B0-4C9C-80A1-DB1A9A0E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D9CEE-C772-401E-9E95-7470F034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Incomplete()  # TypeError">
            <a:extLst xmlns:a="http://schemas.openxmlformats.org/drawingml/2006/main">
              <a:ext uri="{FF2B5EF4-FFF2-40B4-BE49-F238E27FC236}">
                <a16:creationId xmlns:a16="http://schemas.microsoft.com/office/drawing/2014/main" id="{A7647015-1EAC-4380-9AC2-1A82202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Incomplete()  # TypeError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2CF66-79BA-499E-B72F-899CAE6F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# Still abstract:">
            <a:extLst xmlns:a="http://schemas.openxmlformats.org/drawingml/2006/main">
              <a:ext uri="{FF2B5EF4-FFF2-40B4-BE49-F238E27FC236}">
                <a16:creationId xmlns:a16="http://schemas.microsoft.com/office/drawing/2014/main" id="{63999AB9-0693-4123-BB9A-B5FBC75D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Still abstract:</a:t>
            </a:r>
          </a:p>
        </p:txBody>
      </p:sp>
      <p:sp>
        <p:nvSpPr>
          <p:cNvPr id="9" name="UpdateableABC()  # TypeError">
            <a:extLst xmlns:a="http://schemas.openxmlformats.org/drawingml/2006/main">
              <a:ext uri="{FF2B5EF4-FFF2-40B4-BE49-F238E27FC236}">
                <a16:creationId xmlns:a16="http://schemas.microsoft.com/office/drawing/2014/main" id="{5B3B58CE-69A4-4306-961D-029E99FC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UpdateableABC()  # TypeError</a:t>
            </a:r>
          </a:p>
        </p:txBody>
      </p:sp>
      <p:sp>
        <p:nvSpPr>
          <p:cNvPr id="10" name="pass alone creates no abstract contract. ABC and the decorator do.">
            <a:extLst xmlns:a="http://schemas.openxmlformats.org/drawingml/2006/main">
              <a:ext uri="{FF2B5EF4-FFF2-40B4-BE49-F238E27FC236}">
                <a16:creationId xmlns:a16="http://schemas.microsoft.com/office/drawing/2014/main" id="{F04E1E0D-855B-48D6-B855-A2A35FA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pass alone creates no abstract contract. ABC and the decorator do.</a:t>
            </a:r>
          </a:p>
        </p:txBody>
      </p:sp>
      <p:sp>
        <p:nvSpPr>
          <p:cNvPr id="11" name="ABCs do not fully validate override signatures or behavior.">
            <a:extLst xmlns:a="http://schemas.openxmlformats.org/drawingml/2006/main">
              <a:ext uri="{FF2B5EF4-FFF2-40B4-BE49-F238E27FC236}">
                <a16:creationId xmlns:a16="http://schemas.microsoft.com/office/drawing/2014/main" id="{7737032D-7CDE-4D06-9AD5-2A4E90F9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ABCs do not fully validate override signatures or behavior.</a:t>
            </a:r>
          </a:p>
        </p:txBody>
      </p:sp>
      <p:sp>
        <p:nvSpPr>
          <p:cNvPr id="12" name="contracts.py / abstract-class example">
            <a:extLst xmlns:a="http://schemas.openxmlformats.org/drawingml/2006/main">
              <a:ext uri="{FF2B5EF4-FFF2-40B4-BE49-F238E27FC236}">
                <a16:creationId xmlns:a16="http://schemas.microsoft.com/office/drawing/2014/main" id="{375A6092-FEA8-4EDF-8C2E-B129D274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abstract-class example</a:t>
            </a:r>
          </a:p>
        </p:txBody>
      </p:sp>
      <p:sp>
        <p:nvSpPr>
          <p:cNvPr id="13" name="15">
            <a:extLst xmlns:a="http://schemas.openxmlformats.org/drawingml/2006/main">
              <a:ext uri="{FF2B5EF4-FFF2-40B4-BE49-F238E27FC236}">
                <a16:creationId xmlns:a16="http://schemas.microsoft.com/office/drawing/2014/main" id="{8F909AD7-EB83-4A5A-926A-C6373D3A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246326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 concrete implementation">
            <a:extLst xmlns:a="http://schemas.openxmlformats.org/drawingml/2006/main">
              <a:ext uri="{FF2B5EF4-FFF2-40B4-BE49-F238E27FC236}">
                <a16:creationId xmlns:a16="http://schemas.microsoft.com/office/drawing/2014/main" id="{5357544E-16E0-421A-A318-1E1E31F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A concrete implementation</a:t>
            </a:r>
          </a:p>
        </p:txBody>
      </p:sp>
      <p:sp>
        <p:nvSpPr>
          <p:cNvPr id="2" name="FallingTarget implements update(dt)">
            <a:extLst xmlns:a="http://schemas.openxmlformats.org/drawingml/2006/main">
              <a:ext uri="{FF2B5EF4-FFF2-40B4-BE49-F238E27FC236}">
                <a16:creationId xmlns:a16="http://schemas.microsoft.com/office/drawing/2014/main" id="{2DB7665C-E4B5-432C-8E24-F59C3720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FallingTarget implements update(dt)</a:t>
            </a:r>
          </a:p>
        </p:txBody>
      </p:sp>
      <p:sp>
        <p:nvSpPr>
          <p:cNvPr id="3" name="class FallingTarget(UpdateableABC):">
            <a:extLst xmlns:a="http://schemas.openxmlformats.org/drawingml/2006/main">
              <a:ext uri="{FF2B5EF4-FFF2-40B4-BE49-F238E27FC236}">
                <a16:creationId xmlns:a16="http://schemas.microsoft.com/office/drawing/2014/main" id="{D46D1293-6B05-4F63-ACC8-94093A74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FallingTarget(UpdateableABC):</a:t>
            </a:r>
          </a:p>
        </p:txBody>
      </p:sp>
      <p:sp>
        <p:nvSpPr>
          <p:cNvPr id="4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5E4A1A79-70FF-40E4-B47A-C39D574B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5" name="        self.y = 0.0">
            <a:extLst xmlns:a="http://schemas.openxmlformats.org/drawingml/2006/main">
              <a:ext uri="{FF2B5EF4-FFF2-40B4-BE49-F238E27FC236}">
                <a16:creationId xmlns:a16="http://schemas.microsoft.com/office/drawing/2014/main" id="{33BE94CA-5F03-45C3-B569-E2751CD4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self.y = 0.0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C8CEC-5A40-4D43-9ECE-153C669C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14C172FC-8E44-4E5C-904F-688530D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self.y += 80.0 * dt">
            <a:extLst xmlns:a="http://schemas.openxmlformats.org/drawingml/2006/main">
              <a:ext uri="{FF2B5EF4-FFF2-40B4-BE49-F238E27FC236}">
                <a16:creationId xmlns:a16="http://schemas.microsoft.com/office/drawing/2014/main" id="{5321617A-2C9D-4A8B-948B-44850A67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self.y += 80.0 * dt</a:t>
            </a:r>
          </a:p>
        </p:txBody>
      </p:sp>
      <p:sp>
        <p:nvSpPr>
          <p:cNvPr id="9" name="After creation, update(0.5) changes y from 0.0 to 40.0.">
            <a:extLst xmlns:a="http://schemas.openxmlformats.org/drawingml/2006/main">
              <a:ext uri="{FF2B5EF4-FFF2-40B4-BE49-F238E27FC236}">
                <a16:creationId xmlns:a16="http://schemas.microsoft.com/office/drawing/2014/main" id="{E9EB16CD-E711-46BF-B66D-C17A9EFE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After creation, update(0.5) changes y from 0.0 to 40.0.</a:t>
            </a:r>
          </a:p>
        </p:txBody>
      </p:sp>
      <p:sp>
        <p:nvSpPr>
          <p:cNvPr id="10" name="An abstract class can also provide shared implementations and regular methods.">
            <a:extLst xmlns:a="http://schemas.openxmlformats.org/drawingml/2006/main">
              <a:ext uri="{FF2B5EF4-FFF2-40B4-BE49-F238E27FC236}">
                <a16:creationId xmlns:a16="http://schemas.microsoft.com/office/drawing/2014/main" id="{2F497235-2884-4A99-9454-DA4BE25F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An abstract class can also provide shared implementations and regular methods.</a:t>
            </a:r>
          </a:p>
        </p:txBody>
      </p:sp>
      <p:sp>
        <p:nvSpPr>
          <p:cNvPr id="11" name="contracts.py / FallingTarget">
            <a:extLst xmlns:a="http://schemas.openxmlformats.org/drawingml/2006/main">
              <a:ext uri="{FF2B5EF4-FFF2-40B4-BE49-F238E27FC236}">
                <a16:creationId xmlns:a16="http://schemas.microsoft.com/office/drawing/2014/main" id="{A758FB29-F4DE-476C-9C5A-D8A08B6B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FallingTarget</a:t>
            </a:r>
          </a:p>
        </p:txBody>
      </p:sp>
      <p:sp>
        <p:nvSpPr>
          <p:cNvPr id="12" name="16">
            <a:extLst xmlns:a="http://schemas.openxmlformats.org/drawingml/2006/main">
              <a:ext uri="{FF2B5EF4-FFF2-40B4-BE49-F238E27FC236}">
                <a16:creationId xmlns:a16="http://schemas.microsoft.com/office/drawing/2014/main" id="{554C113A-64AB-4D03-83BB-3201218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197321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rotocol describes required capabilities">
            <a:extLst xmlns:a="http://schemas.openxmlformats.org/drawingml/2006/main">
              <a:ext uri="{FF2B5EF4-FFF2-40B4-BE49-F238E27FC236}">
                <a16:creationId xmlns:a16="http://schemas.microsoft.com/office/drawing/2014/main" id="{76B262AD-5255-4BAF-9C2E-9B3F064A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Protocol describes required capabilities</a:t>
            </a:r>
          </a:p>
        </p:txBody>
      </p:sp>
      <p:sp>
        <p:nvSpPr>
          <p:cNvPr id="2" name="Compatibility follows structure without explicit inheritance">
            <a:extLst xmlns:a="http://schemas.openxmlformats.org/drawingml/2006/main">
              <a:ext uri="{FF2B5EF4-FFF2-40B4-BE49-F238E27FC236}">
                <a16:creationId xmlns:a16="http://schemas.microsoft.com/office/drawing/2014/main" id="{F7D07120-3E1F-485B-9E8C-BAB9142C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Compatibility follows structure without explicit inheritance</a:t>
            </a:r>
          </a:p>
        </p:txBody>
      </p:sp>
      <p:sp>
        <p:nvSpPr>
          <p:cNvPr id="3" name="from typing import Protocol">
            <a:extLst xmlns:a="http://schemas.openxmlformats.org/drawingml/2006/main">
              <a:ext uri="{FF2B5EF4-FFF2-40B4-BE49-F238E27FC236}">
                <a16:creationId xmlns:a16="http://schemas.microsoft.com/office/drawing/2014/main" id="{72880B33-0B58-4286-AE25-6A646C2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</a:t>
            </a:r>
          </a:p>
        </p:txBody>
      </p:sp>
      <p:sp>
        <p:nvSpPr>
          <p:cNvPr id="4" name="from collections.abc import Iterable">
            <a:extLst xmlns:a="http://schemas.openxmlformats.org/drawingml/2006/main">
              <a:ext uri="{FF2B5EF4-FFF2-40B4-BE49-F238E27FC236}">
                <a16:creationId xmlns:a16="http://schemas.microsoft.com/office/drawing/2014/main" id="{E7301358-396A-47F8-BD4E-9BA1D979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collections.abc import Iterable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D2FB0-8C7F-422C-AD59-5062BBB0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class Updatable(Protocol):">
            <a:extLst xmlns:a="http://schemas.openxmlformats.org/drawingml/2006/main">
              <a:ext uri="{FF2B5EF4-FFF2-40B4-BE49-F238E27FC236}">
                <a16:creationId xmlns:a16="http://schemas.microsoft.com/office/drawing/2014/main" id="{BD085A84-312B-43BC-9FDE-41EB5AF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Updatable(Protocol):</a:t>
            </a:r>
          </a:p>
        </p:txBody>
      </p:sp>
      <p:sp>
        <p:nvSpPr>
          <p:cNvPr id="7" name="    def update(self, dt: float) -&gt; None: ...">
            <a:extLst xmlns:a="http://schemas.openxmlformats.org/drawingml/2006/main">
              <a:ext uri="{FF2B5EF4-FFF2-40B4-BE49-F238E27FC236}">
                <a16:creationId xmlns:a16="http://schemas.microsoft.com/office/drawing/2014/main" id="{6EBE84C4-142D-422D-87C0-99B47AFB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A001B-8313-49BC-B416-8EF97146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def tick_all(items: Iterable[Updatable]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A01512FB-043C-4133-B7A8-CC9561F9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tick_all(items: Iterable[Updatable], dt: float) -&gt; None:</a:t>
            </a:r>
          </a:p>
        </p:txBody>
      </p:sp>
      <p:sp>
        <p:nvSpPr>
          <p:cNvPr id="10" name="    for item in items:">
            <a:extLst xmlns:a="http://schemas.openxmlformats.org/drawingml/2006/main">
              <a:ext uri="{FF2B5EF4-FFF2-40B4-BE49-F238E27FC236}">
                <a16:creationId xmlns:a16="http://schemas.microsoft.com/office/drawing/2014/main" id="{756211C4-4C97-432F-9F4B-2895A360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item in items:</a:t>
            </a:r>
          </a:p>
        </p:txBody>
      </p:sp>
      <p:sp>
        <p:nvSpPr>
          <p:cNvPr id="11" name="        item.update(dt)">
            <a:extLst xmlns:a="http://schemas.openxmlformats.org/drawingml/2006/main">
              <a:ext uri="{FF2B5EF4-FFF2-40B4-BE49-F238E27FC236}">
                <a16:creationId xmlns:a16="http://schemas.microsoft.com/office/drawing/2014/main" id="{09EEFD21-CFBC-43B4-8AD4-7E98C8F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item.update(dt)</a:t>
            </a:r>
          </a:p>
        </p:txBody>
      </p:sp>
      <p:sp>
        <p:nvSpPr>
          <p:cNvPr id="12" name="tick_all only needs each item to accept update(dt).">
            <a:extLst xmlns:a="http://schemas.openxmlformats.org/drawingml/2006/main">
              <a:ext uri="{FF2B5EF4-FFF2-40B4-BE49-F238E27FC236}">
                <a16:creationId xmlns:a16="http://schemas.microsoft.com/office/drawing/2014/main" id="{BD1E4F5F-7F12-489E-B50B-1622FC90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tick_all only needs each item to accept update(dt).</a:t>
            </a:r>
          </a:p>
        </p:txBody>
      </p:sp>
      <p:sp>
        <p:nvSpPr>
          <p:cNvPr id="13" name="Iterable accepts sources such as lists and tuples.">
            <a:extLst xmlns:a="http://schemas.openxmlformats.org/drawingml/2006/main">
              <a:ext uri="{FF2B5EF4-FFF2-40B4-BE49-F238E27FC236}">
                <a16:creationId xmlns:a16="http://schemas.microsoft.com/office/drawing/2014/main" id="{9F6B9F84-E2B1-4113-A698-A4CAC1B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Iterable accepts sources such as lists and tuples.</a:t>
            </a:r>
          </a:p>
        </p:txBody>
      </p:sp>
      <p:sp>
        <p:nvSpPr>
          <p:cNvPr id="14" name="contracts.py / Updatable, tick_all">
            <a:extLst xmlns:a="http://schemas.openxmlformats.org/drawingml/2006/main">
              <a:ext uri="{FF2B5EF4-FFF2-40B4-BE49-F238E27FC236}">
                <a16:creationId xmlns:a16="http://schemas.microsoft.com/office/drawing/2014/main" id="{60FF1120-ACAE-4690-95D0-E92EE3EB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Updatable, tick_all</a:t>
            </a:r>
          </a:p>
        </p:txBody>
      </p:sp>
      <p:sp>
        <p:nvSpPr>
          <p:cNvPr id="15" name="17">
            <a:extLst xmlns:a="http://schemas.openxmlformats.org/drawingml/2006/main">
              <a:ext uri="{FF2B5EF4-FFF2-40B4-BE49-F238E27FC236}">
                <a16:creationId xmlns:a16="http://schemas.microsoft.com/office/drawing/2014/main" id="{F57D0E33-2E06-4247-B8C9-97C32AD4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04730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fferent classes share one update function">
            <a:extLst xmlns:a="http://schemas.openxmlformats.org/drawingml/2006/main">
              <a:ext uri="{FF2B5EF4-FFF2-40B4-BE49-F238E27FC236}">
                <a16:creationId xmlns:a16="http://schemas.microsoft.com/office/drawing/2014/main" id="{AD2E1474-AE2A-49D1-AC0E-2DA4A9D1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Different classes share one update function</a:t>
            </a:r>
          </a:p>
        </p:txBody>
      </p:sp>
      <p:sp>
        <p:nvSpPr>
          <p:cNvPr id="2" name="FallingTarget and Spark both satisfy Updatable">
            <a:extLst xmlns:a="http://schemas.openxmlformats.org/drawingml/2006/main">
              <a:ext uri="{FF2B5EF4-FFF2-40B4-BE49-F238E27FC236}">
                <a16:creationId xmlns:a16="http://schemas.microsoft.com/office/drawing/2014/main" id="{C8151612-1035-400D-B0E3-C067EAD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FallingTarget and Spark both satisfy Updatable</a:t>
            </a:r>
          </a:p>
        </p:txBody>
      </p:sp>
      <p:sp>
        <p:nvSpPr>
          <p:cNvPr id="3" name="from contracts import FallingTarget, Spark, tick_all">
            <a:extLst xmlns:a="http://schemas.openxmlformats.org/drawingml/2006/main">
              <a:ext uri="{FF2B5EF4-FFF2-40B4-BE49-F238E27FC236}">
                <a16:creationId xmlns:a16="http://schemas.microsoft.com/office/drawing/2014/main" id="{7791F888-782C-4125-B89D-C25CF115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FallingTarget, Spark, tick_all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36EDF-DCE7-43A9-98B4-444DD9A0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target = FallingTarget()">
            <a:extLst xmlns:a="http://schemas.openxmlformats.org/drawingml/2006/main">
              <a:ext uri="{FF2B5EF4-FFF2-40B4-BE49-F238E27FC236}">
                <a16:creationId xmlns:a16="http://schemas.microsoft.com/office/drawing/2014/main" id="{1D106834-ABBC-4B4E-B990-0A8D746B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target = FallingTarget()</a:t>
            </a:r>
          </a:p>
        </p:txBody>
      </p:sp>
      <p:sp>
        <p:nvSpPr>
          <p:cNvPr id="6" name="spark = Spark()">
            <a:extLst xmlns:a="http://schemas.openxmlformats.org/drawingml/2006/main">
              <a:ext uri="{FF2B5EF4-FFF2-40B4-BE49-F238E27FC236}">
                <a16:creationId xmlns:a16="http://schemas.microsoft.com/office/drawing/2014/main" id="{82E75AA1-D111-48E9-9F68-34C1BF4C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spark = Spark()</a:t>
            </a:r>
          </a:p>
        </p:txBody>
      </p:sp>
      <p:sp>
        <p:nvSpPr>
          <p:cNvPr id="7" name="tick_all([target, spark], 0.5)">
            <a:extLst xmlns:a="http://schemas.openxmlformats.org/drawingml/2006/main">
              <a:ext uri="{FF2B5EF4-FFF2-40B4-BE49-F238E27FC236}">
                <a16:creationId xmlns:a16="http://schemas.microsoft.com/office/drawing/2014/main" id="{8E616D76-C0EB-46C8-8A8A-2FBB99B2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tick_all([target, spark], 0.5)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36C43-B13D-4698-9BD9-7A81FF9D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print(target.y, spark.ttl)">
            <a:extLst xmlns:a="http://schemas.openxmlformats.org/drawingml/2006/main">
              <a:ext uri="{FF2B5EF4-FFF2-40B4-BE49-F238E27FC236}">
                <a16:creationId xmlns:a16="http://schemas.microsoft.com/office/drawing/2014/main" id="{3EFAAA7A-0550-4575-9153-2202151D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print(target.y, spark.ttl)</a:t>
            </a:r>
          </a:p>
        </p:txBody>
      </p:sp>
      <p:sp>
        <p:nvSpPr>
          <p:cNvPr id="10" name="# 40.0 0.5">
            <a:extLst xmlns:a="http://schemas.openxmlformats.org/drawingml/2006/main">
              <a:ext uri="{FF2B5EF4-FFF2-40B4-BE49-F238E27FC236}">
                <a16:creationId xmlns:a16="http://schemas.microsoft.com/office/drawing/2014/main" id="{966F4EFD-8F8C-49E8-8232-3679857C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40.0 0.5</a:t>
            </a:r>
          </a:p>
        </p:txBody>
      </p:sp>
      <p:sp>
        <p:nvSpPr>
          <p:cNvPr id="11" name="Spark does not need to declare class Spark(Updatable).">
            <a:extLst xmlns:a="http://schemas.openxmlformats.org/drawingml/2006/main">
              <a:ext uri="{FF2B5EF4-FFF2-40B4-BE49-F238E27FC236}">
                <a16:creationId xmlns:a16="http://schemas.microsoft.com/office/drawing/2014/main" id="{A82F8027-5441-4135-98D5-9C3BB6C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Spark does not need to declare class Spark(Updatable).</a:t>
            </a:r>
          </a:p>
        </p:txBody>
      </p:sp>
      <p:sp>
        <p:nvSpPr>
          <p:cNvPr id="12" name="The same dt produces different state changes in different objects.">
            <a:extLst xmlns:a="http://schemas.openxmlformats.org/drawingml/2006/main">
              <a:ext uri="{FF2B5EF4-FFF2-40B4-BE49-F238E27FC236}">
                <a16:creationId xmlns:a16="http://schemas.microsoft.com/office/drawing/2014/main" id="{CC1D6980-DE3C-4518-82B1-40AC1D2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same dt produces different state changes in different objects.</a:t>
            </a:r>
          </a:p>
        </p:txBody>
      </p:sp>
      <p:sp>
        <p:nvSpPr>
          <p:cNvPr id="13" name="contracts.py / executable example">
            <a:extLst xmlns:a="http://schemas.openxmlformats.org/drawingml/2006/main">
              <a:ext uri="{FF2B5EF4-FFF2-40B4-BE49-F238E27FC236}">
                <a16:creationId xmlns:a16="http://schemas.microsoft.com/office/drawing/2014/main" id="{EFF35634-E778-47EA-823A-EBCF3C89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executable example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EFF4BDA9-8175-4AA0-8FC9-9DC2805E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314928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tatic checking finds incompatible methods">
            <a:extLst xmlns:a="http://schemas.openxmlformats.org/drawingml/2006/main">
              <a:ext uri="{FF2B5EF4-FFF2-40B4-BE49-F238E27FC236}">
                <a16:creationId xmlns:a16="http://schemas.microsoft.com/office/drawing/2014/main" id="{040208EC-24ED-43E8-92CA-76F7A859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Static checking finds incompatible methods</a:t>
            </a:r>
          </a:p>
        </p:txBody>
      </p:sp>
      <p:sp>
        <p:nvSpPr>
          <p:cNvPr id="2" name="typing_error.py intentionally contains a type error">
            <a:extLst xmlns:a="http://schemas.openxmlformats.org/drawingml/2006/main">
              <a:ext uri="{FF2B5EF4-FFF2-40B4-BE49-F238E27FC236}">
                <a16:creationId xmlns:a16="http://schemas.microsoft.com/office/drawing/2014/main" id="{3A04697E-896B-41B5-909B-7F79200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typing_error.py intentionally contains a type error</a:t>
            </a:r>
          </a:p>
        </p:txBody>
      </p:sp>
      <p:sp>
        <p:nvSpPr>
          <p:cNvPr id="3" name="from contracts import BadClock, Updatable">
            <a:extLst xmlns:a="http://schemas.openxmlformats.org/drawingml/2006/main">
              <a:ext uri="{FF2B5EF4-FFF2-40B4-BE49-F238E27FC236}">
                <a16:creationId xmlns:a16="http://schemas.microsoft.com/office/drawing/2014/main" id="{84514E19-8D75-4EB4-BB55-320E7E8A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BadClock, Updatable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3928D-01A5-424C-A707-EC8937FE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bad: Updatable = BadClock()">
            <a:extLst xmlns:a="http://schemas.openxmlformats.org/drawingml/2006/main">
              <a:ext uri="{FF2B5EF4-FFF2-40B4-BE49-F238E27FC236}">
                <a16:creationId xmlns:a16="http://schemas.microsoft.com/office/drawing/2014/main" id="{52AAC326-07F9-414B-9381-0202A36B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bad: Updatable = BadClock()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025B4-E546-40ED-B990-B958E70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# mypy: incompatible types in assignment">
            <a:extLst xmlns:a="http://schemas.openxmlformats.org/drawingml/2006/main">
              <a:ext uri="{FF2B5EF4-FFF2-40B4-BE49-F238E27FC236}">
                <a16:creationId xmlns:a16="http://schemas.microsoft.com/office/drawing/2014/main" id="{CC098847-A2EB-4EC2-8F35-EDE82832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mypy: incompatible types in assignment</a:t>
            </a:r>
          </a:p>
        </p:txBody>
      </p:sp>
      <p:sp>
        <p:nvSpPr>
          <p:cNvPr id="8" name="mypy expects update(self, dt: float), but BadClock has no dt.">
            <a:extLst xmlns:a="http://schemas.openxmlformats.org/drawingml/2006/main">
              <a:ext uri="{FF2B5EF4-FFF2-40B4-BE49-F238E27FC236}">
                <a16:creationId xmlns:a16="http://schemas.microsoft.com/office/drawing/2014/main" id="{A08C9786-83B2-4788-90E1-0F27288F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mypy expects update(self, dt: float), but BadClock has no dt.</a:t>
            </a:r>
          </a:p>
        </p:txBody>
      </p:sp>
      <p:sp>
        <p:nvSpPr>
          <p:cNvPr id="9" name="Type hints support checking. Python does not run mypy automatically.">
            <a:extLst xmlns:a="http://schemas.openxmlformats.org/drawingml/2006/main">
              <a:ext uri="{FF2B5EF4-FFF2-40B4-BE49-F238E27FC236}">
                <a16:creationId xmlns:a16="http://schemas.microsoft.com/office/drawing/2014/main" id="{5159C72D-996F-4C23-A1FF-CA16B2CA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Type hints support checking. Python does not run mypy automatically.</a:t>
            </a:r>
          </a:p>
        </p:txBody>
      </p:sp>
      <p:sp>
        <p:nvSpPr>
          <p:cNvPr id="10" name="typing_error.py">
            <a:extLst xmlns:a="http://schemas.openxmlformats.org/drawingml/2006/main">
              <a:ext uri="{FF2B5EF4-FFF2-40B4-BE49-F238E27FC236}">
                <a16:creationId xmlns:a16="http://schemas.microsoft.com/office/drawing/2014/main" id="{80A24C6D-B2BD-4CEA-A2D5-41D21113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typing_error.py</a:t>
            </a:r>
          </a:p>
        </p:txBody>
      </p:sp>
      <p:sp>
        <p:nvSpPr>
          <p:cNvPr id="11" name="19">
            <a:extLst xmlns:a="http://schemas.openxmlformats.org/drawingml/2006/main">
              <a:ext uri="{FF2B5EF4-FFF2-40B4-BE49-F238E27FC236}">
                <a16:creationId xmlns:a16="http://schemas.microsoft.com/office/drawing/2014/main" id="{DC2F6D24-9836-44EA-8F94-C094045A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031661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imits of runtime_checkable">
            <a:extLst xmlns:a="http://schemas.openxmlformats.org/drawingml/2006/main">
              <a:ext uri="{FF2B5EF4-FFF2-40B4-BE49-F238E27FC236}">
                <a16:creationId xmlns:a16="http://schemas.microsoft.com/office/drawing/2014/main" id="{BA37DDB2-9592-4B89-9E67-1662BEBD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Limits of runtime_checkable</a:t>
            </a:r>
          </a:p>
        </p:txBody>
      </p:sp>
      <p:sp>
        <p:nvSpPr>
          <p:cNvPr id="2" name="Runtime checks look for members, not complete signatures">
            <a:extLst xmlns:a="http://schemas.openxmlformats.org/drawingml/2006/main">
              <a:ext uri="{FF2B5EF4-FFF2-40B4-BE49-F238E27FC236}">
                <a16:creationId xmlns:a16="http://schemas.microsoft.com/office/drawing/2014/main" id="{F70FDFDA-4A2B-4EE8-8167-E6C8043C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Runtime checks look for members, not complete signatures</a:t>
            </a:r>
          </a:p>
        </p:txBody>
      </p:sp>
      <p:sp>
        <p:nvSpPr>
          <p:cNvPr id="3" name="from typing import Protocol, runtime_checkable">
            <a:extLst xmlns:a="http://schemas.openxmlformats.org/drawingml/2006/main">
              <a:ext uri="{FF2B5EF4-FFF2-40B4-BE49-F238E27FC236}">
                <a16:creationId xmlns:a16="http://schemas.microsoft.com/office/drawing/2014/main" id="{C62B1B48-F04F-491A-ADCC-0513E8D0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Protocol, runtime_checkable</a:t>
            </a:r>
          </a:p>
        </p:txBody>
      </p:sp>
      <p:sp>
        <p:nvSpPr>
          <p:cNvPr id="4" name="from contracts import BadClock">
            <a:extLst xmlns:a="http://schemas.openxmlformats.org/drawingml/2006/main">
              <a:ext uri="{FF2B5EF4-FFF2-40B4-BE49-F238E27FC236}">
                <a16:creationId xmlns:a16="http://schemas.microsoft.com/office/drawing/2014/main" id="{6437EF14-B5DB-46BC-87B6-3B167DE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BadClock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C9A4A-2025-45F1-8420-3AFC3AE0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@runtime_checkable">
            <a:extLst xmlns:a="http://schemas.openxmlformats.org/drawingml/2006/main">
              <a:ext uri="{FF2B5EF4-FFF2-40B4-BE49-F238E27FC236}">
                <a16:creationId xmlns:a16="http://schemas.microsoft.com/office/drawing/2014/main" id="{ABE3E3F2-B47B-4927-AC38-E897BE9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@runtime_checkable</a:t>
            </a:r>
          </a:p>
        </p:txBody>
      </p:sp>
      <p:sp>
        <p:nvSpPr>
          <p:cNvPr id="7" name="class CanUpdate(Protocol):">
            <a:extLst xmlns:a="http://schemas.openxmlformats.org/drawingml/2006/main">
              <a:ext uri="{FF2B5EF4-FFF2-40B4-BE49-F238E27FC236}">
                <a16:creationId xmlns:a16="http://schemas.microsoft.com/office/drawing/2014/main" id="{1B45065A-91F6-4733-8C6E-E3A78444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CanUpdate(Protocol):</a:t>
            </a:r>
          </a:p>
        </p:txBody>
      </p:sp>
      <p:sp>
        <p:nvSpPr>
          <p:cNvPr id="8" name="    def update(self, dt: float) -&gt; None: ...">
            <a:extLst xmlns:a="http://schemas.openxmlformats.org/drawingml/2006/main">
              <a:ext uri="{FF2B5EF4-FFF2-40B4-BE49-F238E27FC236}">
                <a16:creationId xmlns:a16="http://schemas.microsoft.com/office/drawing/2014/main" id="{CC5C7AD8-1453-4888-9988-6DEE314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 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B5BBB-C6FE-4182-8C99-B311ADF3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print(isinstance(BadClock(), CanUpdate))">
            <a:extLst xmlns:a="http://schemas.openxmlformats.org/drawingml/2006/main">
              <a:ext uri="{FF2B5EF4-FFF2-40B4-BE49-F238E27FC236}">
                <a16:creationId xmlns:a16="http://schemas.microsoft.com/office/drawing/2014/main" id="{DFF04752-8617-4753-972A-8B211D7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print(isinstance(BadClock(), CanUpdate))</a:t>
            </a:r>
          </a:p>
        </p:txBody>
      </p:sp>
      <p:sp>
        <p:nvSpPr>
          <p:cNvPr id="11" name="# True">
            <a:extLst xmlns:a="http://schemas.openxmlformats.org/drawingml/2006/main">
              <a:ext uri="{FF2B5EF4-FFF2-40B4-BE49-F238E27FC236}">
                <a16:creationId xmlns:a16="http://schemas.microsoft.com/office/drawing/2014/main" id="{0AAC7B4A-1A6D-4CF8-A3DD-4693241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True</a:t>
            </a:r>
          </a:p>
        </p:txBody>
      </p:sp>
      <p:sp>
        <p:nvSpPr>
          <p:cNvPr id="12" name="isinstance returning True does not guarantee update(0.5) succeeds.">
            <a:extLst xmlns:a="http://schemas.openxmlformats.org/drawingml/2006/main">
              <a:ext uri="{FF2B5EF4-FFF2-40B4-BE49-F238E27FC236}">
                <a16:creationId xmlns:a16="http://schemas.microsoft.com/office/drawing/2014/main" id="{B1B97107-2725-4B07-AE8F-26129FBF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isinstance returning True does not guarantee update(0.5) succeeds.</a:t>
            </a:r>
          </a:p>
        </p:txBody>
      </p:sp>
      <p:sp>
        <p:nvSpPr>
          <p:cNvPr id="13" name="An ordinary Protocol needs this decorator for this isinstance check.">
            <a:extLst xmlns:a="http://schemas.openxmlformats.org/drawingml/2006/main">
              <a:ext uri="{FF2B5EF4-FFF2-40B4-BE49-F238E27FC236}">
                <a16:creationId xmlns:a16="http://schemas.microsoft.com/office/drawing/2014/main" id="{FE3B4E16-DA49-4891-9C09-74CD43AE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An ordinary Protocol needs this decorator for this isinstance check.</a:t>
            </a:r>
          </a:p>
        </p:txBody>
      </p:sp>
      <p:sp>
        <p:nvSpPr>
          <p:cNvPr id="14" name="contracts.py / CanUpdate">
            <a:extLst xmlns:a="http://schemas.openxmlformats.org/drawingml/2006/main">
              <a:ext uri="{FF2B5EF4-FFF2-40B4-BE49-F238E27FC236}">
                <a16:creationId xmlns:a16="http://schemas.microsoft.com/office/drawing/2014/main" id="{32B0E605-A97F-4481-A5D0-0CD4A0F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CanUpdate</a:t>
            </a:r>
          </a:p>
        </p:txBody>
      </p:sp>
      <p:sp>
        <p:nvSpPr>
          <p:cNvPr id="15" name="20">
            <a:extLst xmlns:a="http://schemas.openxmlformats.org/drawingml/2006/main">
              <a:ext uri="{FF2B5EF4-FFF2-40B4-BE49-F238E27FC236}">
                <a16:creationId xmlns:a16="http://schemas.microsoft.com/office/drawing/2014/main" id="{718B28EA-E28E-489A-895F-28D01A16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882728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ree ways to express an interface">
            <a:extLst xmlns:a="http://schemas.openxmlformats.org/drawingml/2006/main">
              <a:ext uri="{FF2B5EF4-FFF2-40B4-BE49-F238E27FC236}">
                <a16:creationId xmlns:a16="http://schemas.microsoft.com/office/drawing/2014/main" id="{F44A3D68-D0DC-48DA-B356-321C7E1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Three ways to express an interface</a:t>
            </a:r>
          </a:p>
        </p:txBody>
      </p:sp>
      <p:sp>
        <p:nvSpPr>
          <p:cNvPr id="2" name="Choose the contract and checking approach you need">
            <a:extLst xmlns:a="http://schemas.openxmlformats.org/drawingml/2006/main">
              <a:ext uri="{FF2B5EF4-FFF2-40B4-BE49-F238E27FC236}">
                <a16:creationId xmlns:a16="http://schemas.microsoft.com/office/drawing/2014/main" id="{5EAC8FC8-4219-4E94-84FA-99457384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Choose the contract and checking approach you need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CF0B6-A215-426E-9021-83BFC712C070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33875"/>
                <a:gridCol w="4333875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Compatibility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Main check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Duck typing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Required operation works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At the call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Inheritance and implementations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At instantiation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Method and attribute structure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Primarily static checking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 three support polymorphism. ABCs and Protocols can coexist in one project.">
            <a:extLst xmlns:a="http://schemas.openxmlformats.org/drawingml/2006/main">
              <a:ext uri="{FF2B5EF4-FFF2-40B4-BE49-F238E27FC236}">
                <a16:creationId xmlns:a16="http://schemas.microsoft.com/office/drawing/2014/main" id="{C4F4A9FE-79F3-4439-9E66-318E624A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All three support polymorphism. ABCs and Protocols can coexist in one project.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7D47F5C9-BA46-4E43-AF87-434B0DD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472684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ype compatibility and correct behavior">
            <a:extLst xmlns:a="http://schemas.openxmlformats.org/drawingml/2006/main">
              <a:ext uri="{FF2B5EF4-FFF2-40B4-BE49-F238E27FC236}">
                <a16:creationId xmlns:a16="http://schemas.microsoft.com/office/drawing/2014/main" id="{301927A8-6F2B-4C46-BC53-138D6271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Type compatibility and correct behavior</a:t>
            </a:r>
          </a:p>
        </p:txBody>
      </p:sp>
      <p:sp>
        <p:nvSpPr>
          <p:cNvPr id="2" name="Interfaces describe calls. Tests check state changes.">
            <a:extLst xmlns:a="http://schemas.openxmlformats.org/drawingml/2006/main">
              <a:ext uri="{FF2B5EF4-FFF2-40B4-BE49-F238E27FC236}">
                <a16:creationId xmlns:a16="http://schemas.microsoft.com/office/drawing/2014/main" id="{7E3D6388-4A6D-4DBD-989A-CF3442FD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Interfaces describe calls. Tests check state changes.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B054FD0-7177-479B-9EB1-27185946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Every update(dt) uses seconds. One class must not silently use milliseconds.">
            <a:extLst xmlns:a="http://schemas.openxmlformats.org/drawingml/2006/main">
              <a:ext uri="{FF2B5EF4-FFF2-40B4-BE49-F238E27FC236}">
                <a16:creationId xmlns:a16="http://schemas.microsoft.com/office/drawing/2014/main" id="{BE935510-1DDB-4558-A28A-F6C1566A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Every update(dt) uses seconds. One class must not silently use milliseconds.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3AF22A73-A325-422E-8777-648F14C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An override still accepts existing calls without extra required arguments.">
            <a:extLst xmlns:a="http://schemas.openxmlformats.org/drawingml/2006/main">
              <a:ext uri="{FF2B5EF4-FFF2-40B4-BE49-F238E27FC236}">
                <a16:creationId xmlns:a16="http://schemas.microsoft.com/office/drawing/2014/main" id="{18785759-D529-45B8-87ED-01AD4295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An override still accepts existing calls without extra required arguments.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82DC07D4-1CDD-40CA-AD8E-62F1B032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Tests also check position, HP, and rect consistency.">
            <a:extLst xmlns:a="http://schemas.openxmlformats.org/drawingml/2006/main">
              <a:ext uri="{FF2B5EF4-FFF2-40B4-BE49-F238E27FC236}">
                <a16:creationId xmlns:a16="http://schemas.microsoft.com/office/drawing/2014/main" id="{060F05B0-59E3-4A3B-8DF7-B2FD3EA8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Tests also check position, HP, and rect consistency.</a:t>
            </a:r>
          </a:p>
        </p:txBody>
      </p:sp>
      <p:sp>
        <p:nvSpPr>
          <p:cNvPr id="9" name="22">
            <a:extLst xmlns:a="http://schemas.openxmlformats.org/drawingml/2006/main">
              <a:ext uri="{FF2B5EF4-FFF2-40B4-BE49-F238E27FC236}">
                <a16:creationId xmlns:a16="http://schemas.microsoft.com/office/drawing/2014/main" id="{5E01FFB2-36F1-4E3B-A70F-61C5AFC2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708895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parate movement through composition">
            <a:extLst xmlns:a="http://schemas.openxmlformats.org/drawingml/2006/main">
              <a:ext uri="{FF2B5EF4-FFF2-40B4-BE49-F238E27FC236}">
                <a16:creationId xmlns:a16="http://schemas.microsoft.com/office/drawing/2014/main" id="{539C39CF-251D-4A6B-8821-CE3DB33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Separate movement through composition</a:t>
            </a:r>
          </a:p>
        </p:txBody>
      </p:sp>
      <p:sp>
        <p:nvSpPr>
          <p:cNvPr id="2" name="Enemy holds a Motion object to calculate velocity">
            <a:extLst xmlns:a="http://schemas.openxmlformats.org/drawingml/2006/main">
              <a:ext uri="{FF2B5EF4-FFF2-40B4-BE49-F238E27FC236}">
                <a16:creationId xmlns:a16="http://schemas.microsoft.com/office/drawing/2014/main" id="{32E06093-7A19-40D1-889B-8DCA93F7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Enemy holds a Motion object to calculate velocity</a:t>
            </a:r>
          </a:p>
        </p:txBody>
      </p:sp>
      <p:sp>
        <p:nvSpPr>
          <p:cNvPr id="3" name="from typing import Protocol">
            <a:extLst xmlns:a="http://schemas.openxmlformats.org/drawingml/2006/main">
              <a:ext uri="{FF2B5EF4-FFF2-40B4-BE49-F238E27FC236}">
                <a16:creationId xmlns:a16="http://schemas.microsoft.com/office/drawing/2014/main" id="{B31A3B4C-56CD-492E-8616-6FF661B5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9571F-AF25-4F6E-A7E0-BB604681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class Motion(Protocol):">
            <a:extLst xmlns:a="http://schemas.openxmlformats.org/drawingml/2006/main">
              <a:ext uri="{FF2B5EF4-FFF2-40B4-BE49-F238E27FC236}">
                <a16:creationId xmlns:a16="http://schemas.microsoft.com/office/drawing/2014/main" id="{259512C7-6B4A-4982-AC47-379D0241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Motion(Protocol):</a:t>
            </a:r>
          </a:p>
        </p:txBody>
      </p:sp>
      <p:sp>
        <p:nvSpPr>
          <p:cNvPr id="6" name="    def velocity(self, dt: float) -&gt; tuple[float, float]: ...">
            <a:extLst xmlns:a="http://schemas.openxmlformats.org/drawingml/2006/main">
              <a:ext uri="{FF2B5EF4-FFF2-40B4-BE49-F238E27FC236}">
                <a16:creationId xmlns:a16="http://schemas.microsoft.com/office/drawing/2014/main" id="{05877290-562F-4151-B687-63CEE34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 ...</a:t>
            </a:r>
          </a:p>
        </p:txBody>
      </p:sp>
      <p:sp>
        <p:nvSpPr>
          <p:cNvPr id="7" name="Motion describes velocity(dt), returning (vx, vy).">
            <a:extLst xmlns:a="http://schemas.openxmlformats.org/drawingml/2006/main">
              <a:ext uri="{FF2B5EF4-FFF2-40B4-BE49-F238E27FC236}">
                <a16:creationId xmlns:a16="http://schemas.microsoft.com/office/drawing/2014/main" id="{B67DFE99-58C7-47BC-AD4F-9B219B1F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Motion describes velocity(dt), returning (vx, vy).</a:t>
            </a:r>
          </a:p>
        </p:txBody>
      </p:sp>
      <p:sp>
        <p:nvSpPr>
          <p:cNvPr id="8" name="The returned values are velocities, not yet multiplied by dt.">
            <a:extLst xmlns:a="http://schemas.openxmlformats.org/drawingml/2006/main">
              <a:ext uri="{FF2B5EF4-FFF2-40B4-BE49-F238E27FC236}">
                <a16:creationId xmlns:a16="http://schemas.microsoft.com/office/drawing/2014/main" id="{89C5684F-7188-418D-B82E-B4F44AB7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returned values are velocities, not yet multiplied by dt.</a:t>
            </a:r>
          </a:p>
        </p:txBody>
      </p:sp>
      <p:sp>
        <p:nvSpPr>
          <p:cNvPr id="9" name="motion.py / Motion">
            <a:extLst xmlns:a="http://schemas.openxmlformats.org/drawingml/2006/main">
              <a:ext uri="{FF2B5EF4-FFF2-40B4-BE49-F238E27FC236}">
                <a16:creationId xmlns:a16="http://schemas.microsoft.com/office/drawing/2014/main" id="{6F9FD34A-1905-44E8-B1CD-79CF0D38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Motion</a:t>
            </a:r>
          </a:p>
        </p:txBody>
      </p:sp>
      <p:sp>
        <p:nvSpPr>
          <p:cNvPr id="10" name="23">
            <a:extLst xmlns:a="http://schemas.openxmlformats.org/drawingml/2006/main">
              <a:ext uri="{FF2B5EF4-FFF2-40B4-BE49-F238E27FC236}">
                <a16:creationId xmlns:a16="http://schemas.microsoft.com/office/drawing/2014/main" id="{47DE3E2E-0E7A-4734-B5DC-6A7C6D9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208033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traight and weaving strategies">
            <a:extLst xmlns:a="http://schemas.openxmlformats.org/drawingml/2006/main">
              <a:ext uri="{FF2B5EF4-FFF2-40B4-BE49-F238E27FC236}">
                <a16:creationId xmlns:a16="http://schemas.microsoft.com/office/drawing/2014/main" id="{EC93ED4B-3919-447E-9E6F-4325C07C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Straight and weaving strategies</a:t>
            </a:r>
          </a:p>
        </p:txBody>
      </p:sp>
      <p:sp>
        <p:nvSpPr>
          <p:cNvPr id="2" name="The same velocity(dt) interface produces different velocities">
            <a:extLst xmlns:a="http://schemas.openxmlformats.org/drawingml/2006/main">
              <a:ext uri="{FF2B5EF4-FFF2-40B4-BE49-F238E27FC236}">
                <a16:creationId xmlns:a16="http://schemas.microsoft.com/office/drawing/2014/main" id="{8B1F5D70-C44A-464D-8AF6-95BD992F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same velocity(dt) interface produces different velocities</a:t>
            </a:r>
          </a:p>
        </p:txBody>
      </p:sp>
      <p:sp>
        <p:nvSpPr>
          <p:cNvPr id="3" name="from math import cos">
            <a:extLst xmlns:a="http://schemas.openxmlformats.org/drawingml/2006/main">
              <a:ext uri="{FF2B5EF4-FFF2-40B4-BE49-F238E27FC236}">
                <a16:creationId xmlns:a16="http://schemas.microsoft.com/office/drawing/2014/main" id="{DE79A14C-EE91-4A1B-A0AF-DC6BD152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math import cos</a:t>
            </a:r>
          </a:p>
        </p:txBody>
      </p:sp>
      <p:sp>
        <p:nvSpPr>
          <p:cNvPr id="4" name="class Straight:">
            <a:extLst xmlns:a="http://schemas.openxmlformats.org/drawingml/2006/main">
              <a:ext uri="{FF2B5EF4-FFF2-40B4-BE49-F238E27FC236}">
                <a16:creationId xmlns:a16="http://schemas.microsoft.com/office/drawing/2014/main" id="{28141E48-F12F-41B8-8082-7EBB37FB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Straight:</a:t>
            </a:r>
          </a:p>
        </p:txBody>
      </p:sp>
      <p:sp>
        <p:nvSpPr>
          <p:cNvPr id="5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00A4975D-357E-4AB7-82D1-6E05D24A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6" name="        return (0.0, 80.0)">
            <a:extLst xmlns:a="http://schemas.openxmlformats.org/drawingml/2006/main">
              <a:ext uri="{FF2B5EF4-FFF2-40B4-BE49-F238E27FC236}">
                <a16:creationId xmlns:a16="http://schemas.microsoft.com/office/drawing/2014/main" id="{339235EB-F8B0-4AA3-A9FA-495BCF83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(0.0, 80.0)</a:t>
            </a:r>
          </a:p>
        </p:txBody>
      </p:sp>
      <p:sp>
        <p:nvSpPr>
          <p:cNvPr id="7" name="class Weave:">
            <a:extLst xmlns:a="http://schemas.openxmlformats.org/drawingml/2006/main">
              <a:ext uri="{FF2B5EF4-FFF2-40B4-BE49-F238E27FC236}">
                <a16:creationId xmlns:a16="http://schemas.microsoft.com/office/drawing/2014/main" id="{1C0677D7-5CFF-4630-9E4D-61CFB4A5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Weave:</a:t>
            </a:r>
          </a:p>
        </p:txBody>
      </p:sp>
      <p:sp>
        <p:nvSpPr>
          <p:cNvPr id="8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7A1F6207-1508-4704-AF59-61F2536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9" name="        self.elapsed = 0.0">
            <a:extLst xmlns:a="http://schemas.openxmlformats.org/drawingml/2006/main">
              <a:ext uri="{FF2B5EF4-FFF2-40B4-BE49-F238E27FC236}">
                <a16:creationId xmlns:a16="http://schemas.microsoft.com/office/drawing/2014/main" id="{52629C20-89F9-4FDA-8277-2919C582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= 0.0</a:t>
            </a:r>
          </a:p>
        </p:txBody>
      </p:sp>
      <p:sp>
        <p:nvSpPr>
          <p:cNvPr id="10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A88E4E2B-BDD1-4F0B-93FF-2E3F18AA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11" name="        self.elapsed += dt">
            <a:extLst xmlns:a="http://schemas.openxmlformats.org/drawingml/2006/main">
              <a:ext uri="{FF2B5EF4-FFF2-40B4-BE49-F238E27FC236}">
                <a16:creationId xmlns:a16="http://schemas.microsoft.com/office/drawing/2014/main" id="{8B6CE4CD-650E-4BE4-A16C-9696DBA2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+= dt</a:t>
            </a:r>
          </a:p>
        </p:txBody>
      </p:sp>
      <p:sp>
        <p:nvSpPr>
          <p:cNvPr id="12" name="        return (100.0 * cos(3.0 * self.elapsed), 80.0)">
            <a:extLst xmlns:a="http://schemas.openxmlformats.org/drawingml/2006/main">
              <a:ext uri="{FF2B5EF4-FFF2-40B4-BE49-F238E27FC236}">
                <a16:creationId xmlns:a16="http://schemas.microsoft.com/office/drawing/2014/main" id="{91F751C1-BA29-41E4-9CFA-465AA09E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(100.0 * cos(3.0 * self.elapsed), 80.0)</a:t>
            </a:r>
          </a:p>
        </p:txBody>
      </p:sp>
      <p:sp>
        <p:nvSpPr>
          <p:cNvPr id="13" name="Straight needs no timer. Weave keeps its own elapsed time.">
            <a:extLst xmlns:a="http://schemas.openxmlformats.org/drawingml/2006/main">
              <a:ext uri="{FF2B5EF4-FFF2-40B4-BE49-F238E27FC236}">
                <a16:creationId xmlns:a16="http://schemas.microsoft.com/office/drawing/2014/main" id="{2EE91410-DD52-462A-B2FC-20CBD828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Straight needs no timer. Weave keeps its own elapsed time.</a:t>
            </a:r>
          </a:p>
        </p:txBody>
      </p:sp>
      <p:sp>
        <p:nvSpPr>
          <p:cNvPr id="14" name="Create a separate Weave for each enemy to avoid sharing mutable time state.">
            <a:extLst xmlns:a="http://schemas.openxmlformats.org/drawingml/2006/main">
              <a:ext uri="{FF2B5EF4-FFF2-40B4-BE49-F238E27FC236}">
                <a16:creationId xmlns:a16="http://schemas.microsoft.com/office/drawing/2014/main" id="{32CA17A1-3AA8-404B-B324-5DC6719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Create a separate Weave for each enemy to avoid sharing mutable time state.</a:t>
            </a:r>
          </a:p>
        </p:txBody>
      </p:sp>
      <p:sp>
        <p:nvSpPr>
          <p:cNvPr id="15" name="motion.py / Straight, Weave">
            <a:extLst xmlns:a="http://schemas.openxmlformats.org/drawingml/2006/main">
              <a:ext uri="{FF2B5EF4-FFF2-40B4-BE49-F238E27FC236}">
                <a16:creationId xmlns:a16="http://schemas.microsoft.com/office/drawing/2014/main" id="{135DB3E5-31A1-4C64-B0FC-FFF6A8AB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Straight, Weave</a:t>
            </a:r>
          </a:p>
        </p:txBody>
      </p:sp>
      <p:sp>
        <p:nvSpPr>
          <p:cNvPr id="16" name="24">
            <a:extLst xmlns:a="http://schemas.openxmlformats.org/drawingml/2006/main">
              <a:ext uri="{FF2B5EF4-FFF2-40B4-BE49-F238E27FC236}">
                <a16:creationId xmlns:a16="http://schemas.microsoft.com/office/drawing/2014/main" id="{E203BF3B-1723-4627-80B7-33450CC6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757908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trategyEnemy delegates velocity">
            <a:extLst xmlns:a="http://schemas.openxmlformats.org/drawingml/2006/main">
              <a:ext uri="{FF2B5EF4-FFF2-40B4-BE49-F238E27FC236}">
                <a16:creationId xmlns:a16="http://schemas.microsoft.com/office/drawing/2014/main" id="{E91B994E-B358-4550-BE17-DBC7E5AE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StrategyEnemy delegates velocity</a:t>
            </a:r>
          </a:p>
        </p:txBody>
      </p:sp>
      <p:sp>
        <p:nvSpPr>
          <p:cNvPr id="2" name="Inherit Enemy behavior while holding a movement strategy">
            <a:extLst xmlns:a="http://schemas.openxmlformats.org/drawingml/2006/main">
              <a:ext uri="{FF2B5EF4-FFF2-40B4-BE49-F238E27FC236}">
                <a16:creationId xmlns:a16="http://schemas.microsoft.com/office/drawing/2014/main" id="{6016AF49-6C67-4265-96D4-1759B1B3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Inherit Enemy behavior while holding a movement strategy</a:t>
            </a:r>
          </a:p>
        </p:txBody>
      </p:sp>
      <p:sp>
        <p:nvSpPr>
          <p:cNvPr id="3" name="class StrategyEnemy(Enemy):">
            <a:extLst xmlns:a="http://schemas.openxmlformats.org/drawingml/2006/main">
              <a:ext uri="{FF2B5EF4-FFF2-40B4-BE49-F238E27FC236}">
                <a16:creationId xmlns:a16="http://schemas.microsoft.com/office/drawing/2014/main" id="{B931C175-B492-478C-9E86-DC684FDD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StrategyEnemy(Enemy):</a:t>
            </a:r>
          </a:p>
        </p:txBody>
      </p:sp>
      <p:sp>
        <p:nvSpPr>
          <p:cNvPr id="4" name="    def __init__(self, name, position, motion: Motion):">
            <a:extLst xmlns:a="http://schemas.openxmlformats.org/drawingml/2006/main">
              <a:ext uri="{FF2B5EF4-FFF2-40B4-BE49-F238E27FC236}">
                <a16:creationId xmlns:a16="http://schemas.microsoft.com/office/drawing/2014/main" id="{C7141983-DBA5-4C8A-A7D9-390B176D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motion: Motion):</a:t>
            </a:r>
          </a:p>
        </p:txBody>
      </p:sp>
      <p:sp>
        <p:nvSpPr>
          <p:cNvPr id="5" name="        super().__init__(name, position)">
            <a:extLst xmlns:a="http://schemas.openxmlformats.org/drawingml/2006/main">
              <a:ext uri="{FF2B5EF4-FFF2-40B4-BE49-F238E27FC236}">
                <a16:creationId xmlns:a16="http://schemas.microsoft.com/office/drawing/2014/main" id="{58F02CB6-209A-48B0-A047-CB6978A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position)</a:t>
            </a:r>
          </a:p>
        </p:txBody>
      </p:sp>
      <p:sp>
        <p:nvSpPr>
          <p:cNvPr id="6" name="        self.motion = motion">
            <a:extLst xmlns:a="http://schemas.openxmlformats.org/drawingml/2006/main">
              <a:ext uri="{FF2B5EF4-FFF2-40B4-BE49-F238E27FC236}">
                <a16:creationId xmlns:a16="http://schemas.microsoft.com/office/drawing/2014/main" id="{0DFB7ECE-9F34-4618-8C16-FB6AE973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self.motion = motion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E20FC-5DE8-4846-B5F3-D5E2546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4E99DD0E-5697-4254-8412-57FC9418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9" name="        vx, vy = self.motion.velocity(dt)">
            <a:extLst xmlns:a="http://schemas.openxmlformats.org/drawingml/2006/main">
              <a:ext uri="{FF2B5EF4-FFF2-40B4-BE49-F238E27FC236}">
                <a16:creationId xmlns:a16="http://schemas.microsoft.com/office/drawing/2014/main" id="{031E3ABD-3D39-4784-84F6-D58FB6FA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vx, vy = self.motion.velocity(dt)</a:t>
            </a:r>
          </a:p>
        </p:txBody>
      </p:sp>
      <p:sp>
        <p:nvSpPr>
          <p:cNvPr id="10" name="        self.velocity.update(vx, vy)">
            <a:extLst xmlns:a="http://schemas.openxmlformats.org/drawingml/2006/main">
              <a:ext uri="{FF2B5EF4-FFF2-40B4-BE49-F238E27FC236}">
                <a16:creationId xmlns:a16="http://schemas.microsoft.com/office/drawing/2014/main" id="{1F1B64FC-52B3-4A4F-BD3D-8581572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self.velocity.update(vx, vy)</a:t>
            </a:r>
          </a:p>
        </p:txBody>
      </p:sp>
      <p:sp>
        <p:nvSpPr>
          <p:cNvPr id="11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768455F9-F119-4009-A046-14239903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12" name="Get velocity first. Actor.update then multiplies it by dt.">
            <a:extLst xmlns:a="http://schemas.openxmlformats.org/drawingml/2006/main">
              <a:ext uri="{FF2B5EF4-FFF2-40B4-BE49-F238E27FC236}">
                <a16:creationId xmlns:a16="http://schemas.microsoft.com/office/drawing/2014/main" id="{A79688D3-C1E8-42C4-95F9-E29F4196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Get velocity first. Actor.update then multiplies it by dt.</a:t>
            </a:r>
          </a:p>
        </p:txBody>
      </p:sp>
      <p:sp>
        <p:nvSpPr>
          <p:cNvPr id="13" name="This is object composition by reference. A field alone does not prove UML compos">
            <a:extLst xmlns:a="http://schemas.openxmlformats.org/drawingml/2006/main">
              <a:ext uri="{FF2B5EF4-FFF2-40B4-BE49-F238E27FC236}">
                <a16:creationId xmlns:a16="http://schemas.microsoft.com/office/drawing/2014/main" id="{2CD4E52D-6A82-4066-9D96-1AB0B24B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This is object composition by reference. A field alone does not prove UML composite ownership.</a:t>
            </a:r>
          </a:p>
        </p:txBody>
      </p:sp>
      <p:sp>
        <p:nvSpPr>
          <p:cNvPr id="14" name="extension.py / StrategyEnemy">
            <a:extLst xmlns:a="http://schemas.openxmlformats.org/drawingml/2006/main">
              <a:ext uri="{FF2B5EF4-FFF2-40B4-BE49-F238E27FC236}">
                <a16:creationId xmlns:a16="http://schemas.microsoft.com/office/drawing/2014/main" id="{6CC08C28-765A-41DC-9130-98E18B37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/ StrategyEnemy</a:t>
            </a:r>
          </a:p>
        </p:txBody>
      </p:sp>
      <p:sp>
        <p:nvSpPr>
          <p:cNvPr id="15" name="25">
            <a:extLst xmlns:a="http://schemas.openxmlformats.org/drawingml/2006/main">
              <a:ext uri="{FF2B5EF4-FFF2-40B4-BE49-F238E27FC236}">
                <a16:creationId xmlns:a16="http://schemas.microsoft.com/office/drawing/2014/main" id="{46580B72-BDE6-4D47-8ACA-6F44CE61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924821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eep the enemy and replace its strategy">
            <a:extLst xmlns:a="http://schemas.openxmlformats.org/drawingml/2006/main">
              <a:ext uri="{FF2B5EF4-FFF2-40B4-BE49-F238E27FC236}">
                <a16:creationId xmlns:a16="http://schemas.microsoft.com/office/drawing/2014/main" id="{48710538-52A1-4D76-A848-AECE8A85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Keep the enemy and replace its strategy</a:t>
            </a:r>
          </a:p>
        </p:txBody>
      </p:sp>
      <p:sp>
        <p:nvSpPr>
          <p:cNvPr id="2" name="Change the motion reference without rebuilding Enemy">
            <a:extLst xmlns:a="http://schemas.openxmlformats.org/drawingml/2006/main">
              <a:ext uri="{FF2B5EF4-FFF2-40B4-BE49-F238E27FC236}">
                <a16:creationId xmlns:a16="http://schemas.microsoft.com/office/drawing/2014/main" id="{96416AE7-CF8A-493E-B3E1-8207E71D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Change the motion reference without rebuilding Enemy</a:t>
            </a:r>
          </a:p>
        </p:txBody>
      </p:sp>
      <p:sp>
        <p:nvSpPr>
          <p:cNvPr id="3" name="from extension import StrategyEnemy">
            <a:extLst xmlns:a="http://schemas.openxmlformats.org/drawingml/2006/main">
              <a:ext uri="{FF2B5EF4-FFF2-40B4-BE49-F238E27FC236}">
                <a16:creationId xmlns:a16="http://schemas.microsoft.com/office/drawing/2014/main" id="{894D523D-65AB-42FC-A7FF-A765161C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extension import StrategyEnemy</a:t>
            </a:r>
          </a:p>
        </p:txBody>
      </p:sp>
      <p:sp>
        <p:nvSpPr>
          <p:cNvPr id="4" name="from motion import Straight, Weave">
            <a:extLst xmlns:a="http://schemas.openxmlformats.org/drawingml/2006/main">
              <a:ext uri="{FF2B5EF4-FFF2-40B4-BE49-F238E27FC236}">
                <a16:creationId xmlns:a16="http://schemas.microsoft.com/office/drawing/2014/main" id="{379B15AC-14C1-4976-BC74-67F20C03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motion import Straight, Weave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D8E0E-9229-40B7-84C6-744BEF61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enemy = StrategyEnemy(&quot;E03&quot;, (620, 175), Weave())">
            <a:extLst xmlns:a="http://schemas.openxmlformats.org/drawingml/2006/main">
              <a:ext uri="{FF2B5EF4-FFF2-40B4-BE49-F238E27FC236}">
                <a16:creationId xmlns:a16="http://schemas.microsoft.com/office/drawing/2014/main" id="{731FA09F-B111-495A-8379-F950CC8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 = StrategyEnemy("E03", (620, 175), Weave())</a:t>
            </a:r>
          </a:p>
        </p:txBody>
      </p:sp>
      <p:sp>
        <p:nvSpPr>
          <p:cNvPr id="7" name="original = enemy">
            <a:extLst xmlns:a="http://schemas.openxmlformats.org/drawingml/2006/main">
              <a:ext uri="{FF2B5EF4-FFF2-40B4-BE49-F238E27FC236}">
                <a16:creationId xmlns:a16="http://schemas.microsoft.com/office/drawing/2014/main" id="{01E2DC28-9281-4D14-8970-721BB620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original = enemy</a:t>
            </a:r>
          </a:p>
        </p:txBody>
      </p:sp>
      <p:sp>
        <p:nvSpPr>
          <p:cNvPr id="8" name="enemy.motion = Straight()">
            <a:extLst xmlns:a="http://schemas.openxmlformats.org/drawingml/2006/main">
              <a:ext uri="{FF2B5EF4-FFF2-40B4-BE49-F238E27FC236}">
                <a16:creationId xmlns:a16="http://schemas.microsoft.com/office/drawing/2014/main" id="{9DC0E8D2-830C-4B29-B98F-12DBA04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enemy.motion = Straight()</a:t>
            </a:r>
          </a:p>
        </p:txBody>
      </p:sp>
      <p:sp>
        <p:nvSpPr>
          <p:cNvPr id="9" name="print(enemy is original)  # True">
            <a:extLst xmlns:a="http://schemas.openxmlformats.org/drawingml/2006/main">
              <a:ext uri="{FF2B5EF4-FFF2-40B4-BE49-F238E27FC236}">
                <a16:creationId xmlns:a16="http://schemas.microsoft.com/office/drawing/2014/main" id="{D6D86FBF-98EA-4514-A62A-ED5B6EA2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print(enemy is original)  # True</a:t>
            </a:r>
          </a:p>
        </p:txBody>
      </p:sp>
      <p:sp>
        <p:nvSpPr>
          <p:cNvPr id="10" name="Enemy identity, position, and HP remain. The next update uses the new strategy.">
            <a:extLst xmlns:a="http://schemas.openxmlformats.org/drawingml/2006/main">
              <a:ext uri="{FF2B5EF4-FFF2-40B4-BE49-F238E27FC236}">
                <a16:creationId xmlns:a16="http://schemas.microsoft.com/office/drawing/2014/main" id="{974FE8FC-72E8-4A8D-9664-7ADFE235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Enemy identity, position, and HP remain. The next update uses the new strategy.</a:t>
            </a:r>
          </a:p>
        </p:txBody>
      </p:sp>
      <p:sp>
        <p:nvSpPr>
          <p:cNvPr id="11" name="Press C in the Week 8 game to switch StrategyEnemy between straight and weaving ">
            <a:extLst xmlns:a="http://schemas.openxmlformats.org/drawingml/2006/main">
              <a:ext uri="{FF2B5EF4-FFF2-40B4-BE49-F238E27FC236}">
                <a16:creationId xmlns:a16="http://schemas.microsoft.com/office/drawing/2014/main" id="{BCD0C10D-C339-44FF-9711-83189A0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Press C in the Week 8 game to switch StrategyEnemy between straight and weaving motion.</a:t>
            </a:r>
          </a:p>
        </p:txBody>
      </p:sp>
      <p:sp>
        <p:nvSpPr>
          <p:cNvPr id="12" name="extension.py + motion.py">
            <a:extLst xmlns:a="http://schemas.openxmlformats.org/drawingml/2006/main">
              <a:ext uri="{FF2B5EF4-FFF2-40B4-BE49-F238E27FC236}">
                <a16:creationId xmlns:a16="http://schemas.microsoft.com/office/drawing/2014/main" id="{561FF876-1B83-40C9-99FD-CBACC60C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+ motion.py</a:t>
            </a:r>
          </a:p>
        </p:txBody>
      </p:sp>
      <p:sp>
        <p:nvSpPr>
          <p:cNvPr id="13" name="26">
            <a:extLst xmlns:a="http://schemas.openxmlformats.org/drawingml/2006/main">
              <a:ext uri="{FF2B5EF4-FFF2-40B4-BE49-F238E27FC236}">
                <a16:creationId xmlns:a16="http://schemas.microsoft.com/office/drawing/2014/main" id="{B347BE07-DAC7-4B63-A1CB-D1A0C408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605972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oosing inheritance or composition">
            <a:extLst xmlns:a="http://schemas.openxmlformats.org/drawingml/2006/main">
              <a:ext uri="{FF2B5EF4-FFF2-40B4-BE49-F238E27FC236}">
                <a16:creationId xmlns:a16="http://schemas.microsoft.com/office/drawing/2014/main" id="{99F76081-B84A-4826-9E25-9034BFE7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Choosing inheritance or composition</a:t>
            </a:r>
          </a:p>
        </p:txBody>
      </p:sp>
      <p:sp>
        <p:nvSpPr>
          <p:cNvPr id="2" name="Decide from identity and how behavior changes">
            <a:extLst xmlns:a="http://schemas.openxmlformats.org/drawingml/2006/main">
              <a:ext uri="{FF2B5EF4-FFF2-40B4-BE49-F238E27FC236}">
                <a16:creationId xmlns:a16="http://schemas.microsoft.com/office/drawing/2014/main" id="{3A129F35-ABF7-4A91-A2A9-C5E58D20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Decide from identity and how behavior changes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9B787-0E47-46D2-8163-FA8E74645076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86250"/>
                <a:gridCol w="2381250"/>
                <a:gridCol w="4381500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Situation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 kind of Enemy sharing damage rules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Inheritance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WeavingEnemy(Enemy)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One enemy switches movement behavior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Composition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enemy.motion = Straight()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Unrelated objects can update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tick_all([target, spark], 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trategyEnemy uses both inheritance and composition. They can complement each ot">
            <a:extLst xmlns:a="http://schemas.openxmlformats.org/drawingml/2006/main">
              <a:ext uri="{FF2B5EF4-FFF2-40B4-BE49-F238E27FC236}">
                <a16:creationId xmlns:a16="http://schemas.microsoft.com/office/drawing/2014/main" id="{318BAB12-3703-41F2-B5AB-557BAE9F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StrategyEnemy uses both inheritance and composition. They can complement each other.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FA8F184B-E5DC-45E8-BE91-BECF7AFB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212599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use and inspect the browser game">
            <a:extLst xmlns:a="http://schemas.openxmlformats.org/drawingml/2006/main">
              <a:ext uri="{FF2B5EF4-FFF2-40B4-BE49-F238E27FC236}">
                <a16:creationId xmlns:a16="http://schemas.microsoft.com/office/drawing/2014/main" id="{59BA394A-9EAB-4F75-A4A8-CB78BA4C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Pause and inspect the browser game</a:t>
            </a:r>
          </a:p>
        </p:txBody>
      </p:sp>
      <p:sp>
        <p:nvSpPr>
          <p:cNvPr id="2" name="The browser keeps the original game. New strategies are in the Week 8 download.">
            <a:extLst xmlns:a="http://schemas.openxmlformats.org/drawingml/2006/main">
              <a:ext uri="{FF2B5EF4-FFF2-40B4-BE49-F238E27FC236}">
                <a16:creationId xmlns:a16="http://schemas.microsoft.com/office/drawing/2014/main" id="{C8142983-33B2-4437-A0F0-0673B705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The browser keeps the original game. New strategies are in the Week 8 download.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D7B9C-F08F-4CFC-86CF-96880645B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048ceed464b40"/>
          <a:stretch xmlns:a="http://schemas.openxmlformats.org/drawingml/2006/main"/>
        </p:blipFill>
        <p:spPr>
          <a:xfrm xmlns:a="http://schemas.openxmlformats.org/drawingml/2006/main">
            <a:off x="571500" y="1938135"/>
            <a:ext cx="5238750" cy="4324755"/>
          </a:xfrm>
          <a:prstGeom xmlns:a="http://schemas.openxmlformats.org/drawingml/2006/main" prst="rect">
            <a:avLst/>
          </a:prstGeom>
        </p:spPr>
      </p:pic>
      <p:sp>
        <p:nvSpPr>
          <p:cNvPr id="4" name="Load the observation example, select B01, then press N for one frame.">
            <a:extLst xmlns:a="http://schemas.openxmlformats.org/drawingml/2006/main">
              <a:ext uri="{FF2B5EF4-FFF2-40B4-BE49-F238E27FC236}">
                <a16:creationId xmlns:a16="http://schemas.microsoft.com/office/drawing/2014/main" id="{A4E6CD79-AF2B-4AF4-8298-09BAFBF6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Load the observation example, select B01, then press N for one frame.</a:t>
            </a:r>
          </a:p>
        </p:txBody>
      </p:sp>
      <p:sp>
        <p:nvSpPr>
          <p:cNvPr id="5" name="B01.y changes from about 490.0 to 479.7. Its owner stays the same Player.">
            <a:extLst xmlns:a="http://schemas.openxmlformats.org/drawingml/2006/main">
              <a:ext uri="{FF2B5EF4-FFF2-40B4-BE49-F238E27FC236}">
                <a16:creationId xmlns:a16="http://schemas.microsoft.com/office/drawing/2014/main" id="{90737F9F-B006-4C0C-99DF-76D8862C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B01.y changes from about 490.0 to 479.7. Its owner stays the same Player.</a:t>
            </a:r>
          </a:p>
        </p:txBody>
      </p:sp>
      <p:sp>
        <p:nvSpPr>
          <p:cNvPr id="6" name="Open the original browser game ↗">
            <a:extLst xmlns:a="http://schemas.openxmlformats.org/drawingml/2006/main">
              <a:ext uri="{FF2B5EF4-FFF2-40B4-BE49-F238E27FC236}">
                <a16:creationId xmlns:a16="http://schemas.microsoft.com/office/drawing/2014/main" id="{4EB15F4D-EB2A-49EE-9501-32C35233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721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C62"/>
                </a:solidFill>
                <a:latin typeface="Aptos"/>
                <a:ea typeface="Aptos"/>
                <a:cs typeface="Aptos"/>
                <a:hlinkClick xmlns:r="http://schemas.openxmlformats.org/officeDocument/2006/relationships" r:id="Rb7d8bac4d38044da"/>
              </a:rPr>
              <a:t>Open the original browser game ↗</a:t>
            </a:r>
          </a:p>
        </p:txBody>
      </p:sp>
      <p:sp>
        <p:nvSpPr>
          <p:cNvPr id="7" name="28">
            <a:extLst xmlns:a="http://schemas.openxmlformats.org/drawingml/2006/main">
              <a:ext uri="{FF2B5EF4-FFF2-40B4-BE49-F238E27FC236}">
                <a16:creationId xmlns:a16="http://schemas.microsoft.com/office/drawing/2014/main" id="{C02E4567-9C9F-48C3-90AF-E5DC86A8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469699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un the Week 8 examples">
            <a:extLst xmlns:a="http://schemas.openxmlformats.org/drawingml/2006/main">
              <a:ext uri="{FF2B5EF4-FFF2-40B4-BE49-F238E27FC236}">
                <a16:creationId xmlns:a16="http://schemas.microsoft.com/office/drawing/2014/main" id="{F6025CF1-B3AD-45CF-9512-1E6D8F5D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Run the Week 8 examples</a:t>
            </a:r>
          </a:p>
        </p:txBody>
      </p:sp>
      <p:sp>
        <p:nvSpPr>
          <p:cNvPr id="2" name="Run inside week8_examples after extracting the ZIP">
            <a:extLst xmlns:a="http://schemas.openxmlformats.org/drawingml/2006/main">
              <a:ext uri="{FF2B5EF4-FFF2-40B4-BE49-F238E27FC236}">
                <a16:creationId xmlns:a16="http://schemas.microsoft.com/office/drawing/2014/main" id="{E109B509-320F-4950-AA82-17ABE565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Run inside week8_examples after extracting the ZIP</a:t>
            </a:r>
          </a:p>
        </p:txBody>
      </p:sp>
      <p:sp>
        <p:nvSpPr>
          <p:cNvPr id="3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96EC4E2D-8289-4B96-8101-F95FB81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4" name="python contracts.py">
            <a:extLst xmlns:a="http://schemas.openxmlformats.org/drawingml/2006/main">
              <a:ext uri="{FF2B5EF4-FFF2-40B4-BE49-F238E27FC236}">
                <a16:creationId xmlns:a16="http://schemas.microsoft.com/office/drawing/2014/main" id="{8CB85D83-2EF3-4949-B28C-E0349E23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contracts.py</a:t>
            </a:r>
          </a:p>
        </p:txBody>
      </p:sp>
      <p:sp>
        <p:nvSpPr>
          <p:cNvPr id="5" name="python demo_game.py --lang en">
            <a:extLst xmlns:a="http://schemas.openxmlformats.org/drawingml/2006/main">
              <a:ext uri="{FF2B5EF4-FFF2-40B4-BE49-F238E27FC236}">
                <a16:creationId xmlns:a16="http://schemas.microsoft.com/office/drawing/2014/main" id="{A5BECDC4-D60E-40FF-B93E-F06A1638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demo_game.py --lang en</a:t>
            </a:r>
          </a:p>
        </p:txBody>
      </p:sp>
      <p:sp>
        <p:nvSpPr>
          <p:cNvPr id="6" name="python -m mypy --strict contracts.py motion.py">
            <a:extLst xmlns:a="http://schemas.openxmlformats.org/drawingml/2006/main">
              <a:ext uri="{FF2B5EF4-FFF2-40B4-BE49-F238E27FC236}">
                <a16:creationId xmlns:a16="http://schemas.microsoft.com/office/drawing/2014/main" id="{FA7314F0-4256-4571-938D-A0FCAB65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mypy --strict contracts.py motion.py</a:t>
            </a:r>
          </a:p>
        </p:txBody>
      </p:sp>
      <p:sp>
        <p:nvSpPr>
          <p:cNvPr id="7" name="python -m mypy --strict typing_error.py">
            <a:extLst xmlns:a="http://schemas.openxmlformats.org/drawingml/2006/main">
              <a:ext uri="{FF2B5EF4-FFF2-40B4-BE49-F238E27FC236}">
                <a16:creationId xmlns:a16="http://schemas.microsoft.com/office/drawing/2014/main" id="{E260F39C-CE02-4C19-8045-2E55D189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mypy --strict typing_error.py</a:t>
            </a:r>
          </a:p>
        </p:txBody>
      </p:sp>
      <p:sp>
        <p:nvSpPr>
          <p:cNvPr id="8" name="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34A23E94-EE14-45D3-87A8-EE3580EB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unittest discover -s tests -v</a:t>
            </a:r>
          </a:p>
        </p:txBody>
      </p:sp>
      <p:sp>
        <p:nvSpPr>
          <p:cNvPr id="9" name="Python 3.12+. Original controls remain. C switches strategy, P pauses, N steps.">
            <a:extLst xmlns:a="http://schemas.openxmlformats.org/drawingml/2006/main">
              <a:ext uri="{FF2B5EF4-FFF2-40B4-BE49-F238E27FC236}">
                <a16:creationId xmlns:a16="http://schemas.microsoft.com/office/drawing/2014/main" id="{64CF75F8-38D6-4757-AC76-56548347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3.12+. Original controls remain. C switches strategy, P pauses, N steps.</a:t>
            </a:r>
          </a:p>
        </p:txBody>
      </p:sp>
      <p:sp>
        <p:nvSpPr>
          <p:cNvPr id="10" name="Use en or ja for English or Japanese. typing_error.py should report a type error">
            <a:extLst xmlns:a="http://schemas.openxmlformats.org/drawingml/2006/main">
              <a:ext uri="{FF2B5EF4-FFF2-40B4-BE49-F238E27FC236}">
                <a16:creationId xmlns:a16="http://schemas.microsoft.com/office/drawing/2014/main" id="{E2AB9634-AE3F-42DD-AF18-A0564395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Use en or ja for English or Japanese. typing_error.py should report a type error.</a:t>
            </a:r>
          </a:p>
        </p:txBody>
      </p:sp>
      <p:sp>
        <p:nvSpPr>
          <p:cNvPr id="11" name="Download Week 8 examples ↗">
            <a:extLst xmlns:a="http://schemas.openxmlformats.org/drawingml/2006/main">
              <a:ext uri="{FF2B5EF4-FFF2-40B4-BE49-F238E27FC236}">
                <a16:creationId xmlns:a16="http://schemas.microsoft.com/office/drawing/2014/main" id="{5D3AEDA5-84A9-4D83-8D90-FA6A4898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8EDBE"/>
                </a:solidFill>
                <a:latin typeface="Aptos"/>
                <a:ea typeface="Aptos"/>
                <a:cs typeface="Aptos"/>
                <a:hlinkClick xmlns:r="http://schemas.openxmlformats.org/officeDocument/2006/relationships" r:id="Rc34d748516614abe"/>
              </a:rPr>
              <a:t>Download Week 8 examples ↗</a:t>
            </a:r>
          </a:p>
        </p:txBody>
      </p:sp>
      <p:sp>
        <p:nvSpPr>
          <p:cNvPr id="12" name="week8_examples/">
            <a:extLst xmlns:a="http://schemas.openxmlformats.org/drawingml/2006/main">
              <a:ext uri="{FF2B5EF4-FFF2-40B4-BE49-F238E27FC236}">
                <a16:creationId xmlns:a16="http://schemas.microsoft.com/office/drawing/2014/main" id="{ED681B01-8507-43B7-8B76-DA890361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week8_examples/</a:t>
            </a:r>
          </a:p>
        </p:txBody>
      </p:sp>
      <p:sp>
        <p:nvSpPr>
          <p:cNvPr id="13" name="29">
            <a:extLst xmlns:a="http://schemas.openxmlformats.org/drawingml/2006/main">
              <a:ext uri="{FF2B5EF4-FFF2-40B4-BE49-F238E27FC236}">
                <a16:creationId xmlns:a16="http://schemas.microsoft.com/office/drawing/2014/main" id="{063D2FD7-3199-4042-99EC-F8E9AFD4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081130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xercise: a motion-freeze strategy">
            <a:extLst xmlns:a="http://schemas.openxmlformats.org/drawingml/2006/main">
              <a:ext uri="{FF2B5EF4-FFF2-40B4-BE49-F238E27FC236}">
                <a16:creationId xmlns:a16="http://schemas.microsoft.com/office/drawing/2014/main" id="{82AF2497-F476-4490-87C3-5F36FB1D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Exercise: a motion-freeze strategy</a:t>
            </a:r>
          </a:p>
        </p:txBody>
      </p:sp>
      <p:sp>
        <p:nvSpPr>
          <p:cNvPr id="2" name="Add Freeze so an existing enemy stays in place">
            <a:extLst xmlns:a="http://schemas.openxmlformats.org/drawingml/2006/main">
              <a:ext uri="{FF2B5EF4-FFF2-40B4-BE49-F238E27FC236}">
                <a16:creationId xmlns:a16="http://schemas.microsoft.com/office/drawing/2014/main" id="{B845C65A-BD9B-4D6C-A9DC-3D4668C7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Add Freeze so an existing enemy stays in place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93E389E-1F4D-4418-A6AE-C17FED2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Implement velocity(dt) and return zero horizontal and vertical velocity.">
            <a:extLst xmlns:a="http://schemas.openxmlformats.org/drawingml/2006/main">
              <a:ext uri="{FF2B5EF4-FFF2-40B4-BE49-F238E27FC236}">
                <a16:creationId xmlns:a16="http://schemas.microsoft.com/office/drawing/2014/main" id="{409B5425-CA88-4DAC-A534-4993FA87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Implement velocity(dt) and return zero horizontal and vertical velocity.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06D44794-2F43-4B88-B7EE-7C252EA8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Assign Freeze() to enemy.motion, then call update(0.5).">
            <a:extLst xmlns:a="http://schemas.openxmlformats.org/drawingml/2006/main">
              <a:ext uri="{FF2B5EF4-FFF2-40B4-BE49-F238E27FC236}">
                <a16:creationId xmlns:a16="http://schemas.microsoft.com/office/drawing/2014/main" id="{DBB1E74B-F53D-4A8B-8165-D060642A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Assign Freeze() to enemy.motion, then call update(0.5).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2D29491E-1F0C-4C70-81C1-5D68AC3E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Check that position is unchanged while identity and HP remain.">
            <a:extLst xmlns:a="http://schemas.openxmlformats.org/drawingml/2006/main">
              <a:ext uri="{FF2B5EF4-FFF2-40B4-BE49-F238E27FC236}">
                <a16:creationId xmlns:a16="http://schemas.microsoft.com/office/drawing/2014/main" id="{5619D6AC-A4F9-44C8-817F-3A789C55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Check that position is unchanged while identity and HP remain.</a:t>
            </a:r>
          </a:p>
        </p:txBody>
      </p:sp>
      <p:sp>
        <p:nvSpPr>
          <p:cNvPr id="9" name="30">
            <a:extLst xmlns:a="http://schemas.openxmlformats.org/drawingml/2006/main">
              <a:ext uri="{FF2B5EF4-FFF2-40B4-BE49-F238E27FC236}">
                <a16:creationId xmlns:a16="http://schemas.microsoft.com/office/drawing/2014/main" id="{39E0820E-19A9-4695-96DB-15814B0D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290886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xercise solution and state checks">
            <a:extLst xmlns:a="http://schemas.openxmlformats.org/drawingml/2006/main">
              <a:ext uri="{FF2B5EF4-FFF2-40B4-BE49-F238E27FC236}">
                <a16:creationId xmlns:a16="http://schemas.microsoft.com/office/drawing/2014/main" id="{9DA8423D-4C88-40D0-867A-92D44FE9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Exercise solution and state checks</a:t>
            </a:r>
          </a:p>
        </p:txBody>
      </p:sp>
      <p:sp>
        <p:nvSpPr>
          <p:cNvPr id="2" name="Replace the behavior object and reuse the update flow">
            <a:extLst xmlns:a="http://schemas.openxmlformats.org/drawingml/2006/main">
              <a:ext uri="{FF2B5EF4-FFF2-40B4-BE49-F238E27FC236}">
                <a16:creationId xmlns:a16="http://schemas.microsoft.com/office/drawing/2014/main" id="{AF997DE8-AB2A-4403-A219-88FE94A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Replace the behavior object and reuse the update flow</a:t>
            </a:r>
          </a:p>
        </p:txBody>
      </p:sp>
      <p:sp>
        <p:nvSpPr>
          <p:cNvPr id="3" name="class Freeze:">
            <a:extLst xmlns:a="http://schemas.openxmlformats.org/drawingml/2006/main">
              <a:ext uri="{FF2B5EF4-FFF2-40B4-BE49-F238E27FC236}">
                <a16:creationId xmlns:a16="http://schemas.microsoft.com/office/drawing/2014/main" id="{6FB223A7-CD01-4159-A774-2EE14CAC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Freeze:</a:t>
            </a:r>
          </a:p>
        </p:txBody>
      </p:sp>
      <p:sp>
        <p:nvSpPr>
          <p:cNvPr id="4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14A72545-7E56-4437-9939-F9627E0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5" name="        return (0.0, 0.0)">
            <a:extLst xmlns:a="http://schemas.openxmlformats.org/drawingml/2006/main">
              <a:ext uri="{FF2B5EF4-FFF2-40B4-BE49-F238E27FC236}">
                <a16:creationId xmlns:a16="http://schemas.microsoft.com/office/drawing/2014/main" id="{940123E6-9F15-41A2-AF07-145E5A8E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(0.0, 0.0)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CA40D-569C-482F-99F9-9FF1C4A8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enemy.motion = Freeze()">
            <a:extLst xmlns:a="http://schemas.openxmlformats.org/drawingml/2006/main">
              <a:ext uri="{FF2B5EF4-FFF2-40B4-BE49-F238E27FC236}">
                <a16:creationId xmlns:a16="http://schemas.microsoft.com/office/drawing/2014/main" id="{16AA1FC4-1954-43B3-9FD9-7CCE5DB7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enemy.motion = Freeze()</a:t>
            </a:r>
          </a:p>
        </p:txBody>
      </p:sp>
      <p:sp>
        <p:nvSpPr>
          <p:cNvPr id="8" name="before = tuple(enemy.pos)">
            <a:extLst xmlns:a="http://schemas.openxmlformats.org/drawingml/2006/main">
              <a:ext uri="{FF2B5EF4-FFF2-40B4-BE49-F238E27FC236}">
                <a16:creationId xmlns:a16="http://schemas.microsoft.com/office/drawing/2014/main" id="{A427CB24-802D-4C2E-AA59-F9B8E3B4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before = tuple(enemy.pos)</a:t>
            </a:r>
          </a:p>
        </p:txBody>
      </p:sp>
      <p:sp>
        <p:nvSpPr>
          <p:cNvPr id="9" name="original = enemy">
            <a:extLst xmlns:a="http://schemas.openxmlformats.org/drawingml/2006/main">
              <a:ext uri="{FF2B5EF4-FFF2-40B4-BE49-F238E27FC236}">
                <a16:creationId xmlns:a16="http://schemas.microsoft.com/office/drawing/2014/main" id="{64CFC840-459B-42EF-AF3D-D1FB7CB4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original = enemy</a:t>
            </a:r>
          </a:p>
        </p:txBody>
      </p:sp>
      <p:sp>
        <p:nvSpPr>
          <p:cNvPr id="10" name="enemy.update(0.5)">
            <a:extLst xmlns:a="http://schemas.openxmlformats.org/drawingml/2006/main">
              <a:ext uri="{FF2B5EF4-FFF2-40B4-BE49-F238E27FC236}">
                <a16:creationId xmlns:a16="http://schemas.microsoft.com/office/drawing/2014/main" id="{AD63998D-6607-4899-B739-1881D4F5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enemy.update(0.5)</a:t>
            </a:r>
          </a:p>
        </p:txBody>
      </p:sp>
      <p:sp>
        <p:nvSpPr>
          <p:cNvPr id="11" name="assert tuple(enemy.pos) == before">
            <a:extLst xmlns:a="http://schemas.openxmlformats.org/drawingml/2006/main">
              <a:ext uri="{FF2B5EF4-FFF2-40B4-BE49-F238E27FC236}">
                <a16:creationId xmlns:a16="http://schemas.microsoft.com/office/drawing/2014/main" id="{460E883E-6D8F-4A68-B64C-9DE8E34F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assert tuple(enemy.pos) == before</a:t>
            </a:r>
          </a:p>
        </p:txBody>
      </p:sp>
      <p:sp>
        <p:nvSpPr>
          <p:cNvPr id="12" name="assert enemy is original">
            <a:extLst xmlns:a="http://schemas.openxmlformats.org/drawingml/2006/main">
              <a:ext uri="{FF2B5EF4-FFF2-40B4-BE49-F238E27FC236}">
                <a16:creationId xmlns:a16="http://schemas.microsoft.com/office/drawing/2014/main" id="{AAECEDF7-21B2-472F-ACC8-34DEA410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assert enemy is original</a:t>
            </a:r>
          </a:p>
        </p:txBody>
      </p:sp>
      <p:sp>
        <p:nvSpPr>
          <p:cNvPr id="13" name="Freeze satisfies Motion structurally without explicit inheritance.">
            <a:extLst xmlns:a="http://schemas.openxmlformats.org/drawingml/2006/main">
              <a:ext uri="{FF2B5EF4-FFF2-40B4-BE49-F238E27FC236}">
                <a16:creationId xmlns:a16="http://schemas.microsoft.com/office/drawing/2014/main" id="{3A1D813E-A783-4685-8654-F27C89FD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Freeze satisfies Motion structurally without explicit inheritance.</a:t>
            </a:r>
          </a:p>
        </p:txBody>
      </p:sp>
      <p:sp>
        <p:nvSpPr>
          <p:cNvPr id="14" name="The complete tests also check HP, rect, and group membership.">
            <a:extLst xmlns:a="http://schemas.openxmlformats.org/drawingml/2006/main">
              <a:ext uri="{FF2B5EF4-FFF2-40B4-BE49-F238E27FC236}">
                <a16:creationId xmlns:a16="http://schemas.microsoft.com/office/drawing/2014/main" id="{4AF3A540-1C31-47DD-90C0-010B88E4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complete tests also check HP, rect, and group membership.</a:t>
            </a:r>
          </a:p>
        </p:txBody>
      </p:sp>
      <p:sp>
        <p:nvSpPr>
          <p:cNvPr id="15" name="motion.py / Freeze; tests/test_week8.py">
            <a:extLst xmlns:a="http://schemas.openxmlformats.org/drawingml/2006/main">
              <a:ext uri="{FF2B5EF4-FFF2-40B4-BE49-F238E27FC236}">
                <a16:creationId xmlns:a16="http://schemas.microsoft.com/office/drawing/2014/main" id="{1B921489-A011-48F2-9105-7E3001C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Freeze; tests/test_week8.py</a:t>
            </a:r>
          </a:p>
        </p:txBody>
      </p:sp>
      <p:sp>
        <p:nvSpPr>
          <p:cNvPr id="16" name="31">
            <a:extLst xmlns:a="http://schemas.openxmlformats.org/drawingml/2006/main">
              <a:ext uri="{FF2B5EF4-FFF2-40B4-BE49-F238E27FC236}">
                <a16:creationId xmlns:a16="http://schemas.microsoft.com/office/drawing/2014/main" id="{522CA123-7098-459E-BCCA-C068C6F5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112499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ey ideas and references">
            <a:extLst xmlns:a="http://schemas.openxmlformats.org/drawingml/2006/main">
              <a:ext uri="{FF2B5EF4-FFF2-40B4-BE49-F238E27FC236}">
                <a16:creationId xmlns:a16="http://schemas.microsoft.com/office/drawing/2014/main" id="{1A3D1521-531E-46DA-B047-F29735E5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Key ideas and references</a:t>
            </a:r>
          </a:p>
        </p:txBody>
      </p:sp>
      <p:sp>
        <p:nvSpPr>
          <p:cNvPr id="2" name="Shared interfaces let objects cooperate and be replaced">
            <a:extLst xmlns:a="http://schemas.openxmlformats.org/drawingml/2006/main">
              <a:ext uri="{FF2B5EF4-FFF2-40B4-BE49-F238E27FC236}">
                <a16:creationId xmlns:a16="http://schemas.microsoft.com/office/drawing/2014/main" id="{8FB0B348-3BC7-4FB3-9669-778EBEB7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Shared interfaces let objects cooperate and be replaced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AB11758-B811-40ED-86B8-4366EAA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Polymorphism selects behavior by object. Inheritance and duck typing both suppor">
            <a:extLst xmlns:a="http://schemas.openxmlformats.org/drawingml/2006/main">
              <a:ext uri="{FF2B5EF4-FFF2-40B4-BE49-F238E27FC236}">
                <a16:creationId xmlns:a16="http://schemas.microsoft.com/office/drawing/2014/main" id="{38906A7B-642B-4645-B101-E3601FAD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Polymorphism selects behavior by object. Inheritance and duck typing both support it.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A5E5140B-9F7C-4F5E-9AA2-680C4744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ABCs require implementations. Protocols describe structural compatibility.">
            <a:extLst xmlns:a="http://schemas.openxmlformats.org/drawingml/2006/main">
              <a:ext uri="{FF2B5EF4-FFF2-40B4-BE49-F238E27FC236}">
                <a16:creationId xmlns:a16="http://schemas.microsoft.com/office/drawing/2014/main" id="{CA6DCF08-45BD-4BED-A991-733D352C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ABCs require implementations. Protocols describe structural compatibility.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5EF6856E-1267-47A6-80D2-673955BE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Composition enables replaceable behavior. Tests check the contract behind the in">
            <a:extLst xmlns:a="http://schemas.openxmlformats.org/drawingml/2006/main">
              <a:ext uri="{FF2B5EF4-FFF2-40B4-BE49-F238E27FC236}">
                <a16:creationId xmlns:a16="http://schemas.microsoft.com/office/drawing/2014/main" id="{1BC2425D-9395-4092-87F0-16BF60FE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Composition enables replaceable behavior. Tests check the contract behind the interface.</a:t>
            </a:r>
          </a:p>
        </p:txBody>
      </p:sp>
      <p:sp>
        <p:nvSpPr>
          <p:cNvPr id="9" name="Python abstract classes ↗">
            <a:extLst xmlns:a="http://schemas.openxmlformats.org/drawingml/2006/main">
              <a:ext uri="{FF2B5EF4-FFF2-40B4-BE49-F238E27FC236}">
                <a16:creationId xmlns:a16="http://schemas.microsoft.com/office/drawing/2014/main" id="{E725F1B5-4DD1-4DF8-B30C-59153ED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1025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C62"/>
                </a:solidFill>
                <a:latin typeface="Aptos"/>
                <a:ea typeface="Aptos"/>
                <a:cs typeface="Aptos"/>
                <a:hlinkClick xmlns:r="http://schemas.openxmlformats.org/officeDocument/2006/relationships" r:id="R7f98f415de5e4db8"/>
              </a:rPr>
              <a:t>Python abstract classes ↗</a:t>
            </a:r>
          </a:p>
        </p:txBody>
      </p:sp>
      <p:sp>
        <p:nvSpPr>
          <p:cNvPr id="10" name="Python Protocol ↗">
            <a:extLst xmlns:a="http://schemas.openxmlformats.org/drawingml/2006/main">
              <a:ext uri="{FF2B5EF4-FFF2-40B4-BE49-F238E27FC236}">
                <a16:creationId xmlns:a16="http://schemas.microsoft.com/office/drawing/2014/main" id="{E7AE9ED2-7E59-4DE3-9811-15135BC8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81025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C62"/>
                </a:solidFill>
                <a:latin typeface="Aptos"/>
                <a:ea typeface="Aptos"/>
                <a:cs typeface="Aptos"/>
                <a:hlinkClick xmlns:r="http://schemas.openxmlformats.org/officeDocument/2006/relationships" r:id="Rc21f289b3a294d50"/>
              </a:rPr>
              <a:t>Python Protocol ↗</a:t>
            </a:r>
          </a:p>
        </p:txBody>
      </p:sp>
      <p:sp>
        <p:nvSpPr>
          <p:cNvPr id="11" name="32">
            <a:extLst xmlns:a="http://schemas.openxmlformats.org/drawingml/2006/main">
              <a:ext uri="{FF2B5EF4-FFF2-40B4-BE49-F238E27FC236}">
                <a16:creationId xmlns:a16="http://schemas.microsoft.com/office/drawing/2014/main" id="{1E2BBE0F-A9A2-4B46-976A-C77D3C95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006891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2026-10-28T04:40:08.5490000Z</dcterms:created>
  <dcterms:modified xsi:type="dcterms:W3CDTF">2026-10-28T04:40:08.5490000Z</dcterms:modified>
</coreProperties>
</file>