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36e33c2eca42e7" /><Relationship Type="http://schemas.openxmlformats.org/officeDocument/2006/relationships/extended-properties" Target="/docProps/app.xml" Id="R154d0774d4404b2d" /><Relationship Type="http://schemas.openxmlformats.org/officeDocument/2006/relationships/officeDocument" Target="/ppt/presentation.xml" Id="Re7a4b42ac1ac4a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fbc630a8d4985"/>
  </p:sldMasterIdLst>
  <p:notesMasterIdLst>
    <p:notesMasterId xmlns:r="http://schemas.openxmlformats.org/officeDocument/2006/relationships" r:id="Re3113b36242a4425"/>
  </p:notesMasterIdLst>
  <p:sldIdLst>
    <p:sldId xmlns:r="http://schemas.openxmlformats.org/officeDocument/2006/relationships" id="256" r:id="R203f9e2e3f004d92"/>
    <p:sldId xmlns:r="http://schemas.openxmlformats.org/officeDocument/2006/relationships" id="257" r:id="R8bd6944e9cbd4ff0"/>
    <p:sldId xmlns:r="http://schemas.openxmlformats.org/officeDocument/2006/relationships" id="258" r:id="Ra6f06b22abdb488e"/>
    <p:sldId xmlns:r="http://schemas.openxmlformats.org/officeDocument/2006/relationships" id="259" r:id="Ra9463812ac6249b4"/>
    <p:sldId xmlns:r="http://schemas.openxmlformats.org/officeDocument/2006/relationships" id="260" r:id="R9b17204239a74596"/>
    <p:sldId xmlns:r="http://schemas.openxmlformats.org/officeDocument/2006/relationships" id="261" r:id="R72ba721e08b841f7"/>
    <p:sldId xmlns:r="http://schemas.openxmlformats.org/officeDocument/2006/relationships" id="262" r:id="R45aee8a344b949c6"/>
    <p:sldId xmlns:r="http://schemas.openxmlformats.org/officeDocument/2006/relationships" id="263" r:id="R842548549d5a4e82"/>
    <p:sldId xmlns:r="http://schemas.openxmlformats.org/officeDocument/2006/relationships" id="264" r:id="R358ee00d1b2d4a76"/>
    <p:sldId xmlns:r="http://schemas.openxmlformats.org/officeDocument/2006/relationships" id="265" r:id="R1b0a2b6af0db4c8e"/>
    <p:sldId xmlns:r="http://schemas.openxmlformats.org/officeDocument/2006/relationships" id="266" r:id="R99cda77478a24a2f"/>
    <p:sldId xmlns:r="http://schemas.openxmlformats.org/officeDocument/2006/relationships" id="267" r:id="Rdd09d7ba83724b22"/>
    <p:sldId xmlns:r="http://schemas.openxmlformats.org/officeDocument/2006/relationships" id="268" r:id="R1bdd761118c64ff3"/>
    <p:sldId xmlns:r="http://schemas.openxmlformats.org/officeDocument/2006/relationships" id="269" r:id="Rf377fb2d49cd42a1"/>
    <p:sldId xmlns:r="http://schemas.openxmlformats.org/officeDocument/2006/relationships" id="270" r:id="Rb9774afd312a4c25"/>
    <p:sldId xmlns:r="http://schemas.openxmlformats.org/officeDocument/2006/relationships" id="271" r:id="R430d5c0578e041a5"/>
    <p:sldId xmlns:r="http://schemas.openxmlformats.org/officeDocument/2006/relationships" id="272" r:id="R6da03ea7603c4525"/>
    <p:sldId xmlns:r="http://schemas.openxmlformats.org/officeDocument/2006/relationships" id="273" r:id="Rf676c6c692064f55"/>
    <p:sldId xmlns:r="http://schemas.openxmlformats.org/officeDocument/2006/relationships" id="274" r:id="Rbcaa128f3add4820"/>
    <p:sldId xmlns:r="http://schemas.openxmlformats.org/officeDocument/2006/relationships" id="275" r:id="R3512afabbe6a4632"/>
    <p:sldId xmlns:r="http://schemas.openxmlformats.org/officeDocument/2006/relationships" id="276" r:id="Rbc91352cf2be4896"/>
    <p:sldId xmlns:r="http://schemas.openxmlformats.org/officeDocument/2006/relationships" id="277" r:id="Re07805c3f59d4b84"/>
    <p:sldId xmlns:r="http://schemas.openxmlformats.org/officeDocument/2006/relationships" id="278" r:id="R3d1d35508058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b71a0b27b4026" /><Relationship Type="http://schemas.openxmlformats.org/officeDocument/2006/relationships/slideMaster" Target="/ppt/slideMasters/slideMaster1.xml" Id="R4b8fbc630a8d4985" /><Relationship Type="http://schemas.openxmlformats.org/officeDocument/2006/relationships/notesMaster" Target="/ppt/notesMasters/notesMaster1.xml" Id="Re3113b36242a4425" /><Relationship Type="http://schemas.openxmlformats.org/officeDocument/2006/relationships/presProps" Target="/ppt/presProps.xml" Id="Ra63056d6307545cd" /><Relationship Type="http://schemas.openxmlformats.org/officeDocument/2006/relationships/viewProps" Target="/ppt/viewProps.xml" Id="R3c7c9c585efc4305" /><Relationship Type="http://schemas.openxmlformats.org/officeDocument/2006/relationships/tableStyles" Target="/ppt/tableStyles.xml" Id="R7cfba6cae4f842a0" /><Relationship Type="http://schemas.openxmlformats.org/officeDocument/2006/relationships/slide" Target="/ppt/slides/slide1.xml" Id="R203f9e2e3f004d92" /><Relationship Type="http://schemas.openxmlformats.org/officeDocument/2006/relationships/slide" Target="/ppt/slides/slide2.xml" Id="R8bd6944e9cbd4ff0" /><Relationship Type="http://schemas.openxmlformats.org/officeDocument/2006/relationships/slide" Target="/ppt/slides/slide3.xml" Id="Ra6f06b22abdb488e" /><Relationship Type="http://schemas.openxmlformats.org/officeDocument/2006/relationships/slide" Target="/ppt/slides/slide4.xml" Id="Ra9463812ac6249b4" /><Relationship Type="http://schemas.openxmlformats.org/officeDocument/2006/relationships/slide" Target="/ppt/slides/slide5.xml" Id="R9b17204239a74596" /><Relationship Type="http://schemas.openxmlformats.org/officeDocument/2006/relationships/slide" Target="/ppt/slides/slide6.xml" Id="R72ba721e08b841f7" /><Relationship Type="http://schemas.openxmlformats.org/officeDocument/2006/relationships/slide" Target="/ppt/slides/slide7.xml" Id="R45aee8a344b949c6" /><Relationship Type="http://schemas.openxmlformats.org/officeDocument/2006/relationships/slide" Target="/ppt/slides/slide8.xml" Id="R842548549d5a4e82" /><Relationship Type="http://schemas.openxmlformats.org/officeDocument/2006/relationships/slide" Target="/ppt/slides/slide9.xml" Id="R358ee00d1b2d4a76" /><Relationship Type="http://schemas.openxmlformats.org/officeDocument/2006/relationships/slide" Target="/ppt/slides/slide10.xml" Id="R1b0a2b6af0db4c8e" /><Relationship Type="http://schemas.openxmlformats.org/officeDocument/2006/relationships/slide" Target="/ppt/slides/slide11.xml" Id="R99cda77478a24a2f" /><Relationship Type="http://schemas.openxmlformats.org/officeDocument/2006/relationships/slide" Target="/ppt/slides/slide12.xml" Id="Rdd09d7ba83724b22" /><Relationship Type="http://schemas.openxmlformats.org/officeDocument/2006/relationships/slide" Target="/ppt/slides/slide13.xml" Id="R1bdd761118c64ff3" /><Relationship Type="http://schemas.openxmlformats.org/officeDocument/2006/relationships/slide" Target="/ppt/slides/slide14.xml" Id="Rf377fb2d49cd42a1" /><Relationship Type="http://schemas.openxmlformats.org/officeDocument/2006/relationships/slide" Target="/ppt/slides/slide15.xml" Id="Rb9774afd312a4c25" /><Relationship Type="http://schemas.openxmlformats.org/officeDocument/2006/relationships/slide" Target="/ppt/slides/slide16.xml" Id="R430d5c0578e041a5" /><Relationship Type="http://schemas.openxmlformats.org/officeDocument/2006/relationships/slide" Target="/ppt/slides/slide17.xml" Id="R6da03ea7603c4525" /><Relationship Type="http://schemas.openxmlformats.org/officeDocument/2006/relationships/slide" Target="/ppt/slides/slide18.xml" Id="Rf676c6c692064f55" /><Relationship Type="http://schemas.openxmlformats.org/officeDocument/2006/relationships/slide" Target="/ppt/slides/slide19.xml" Id="Rbcaa128f3add4820" /><Relationship Type="http://schemas.openxmlformats.org/officeDocument/2006/relationships/slide" Target="/ppt/slides/slide20.xml" Id="R3512afabbe6a4632" /><Relationship Type="http://schemas.openxmlformats.org/officeDocument/2006/relationships/slide" Target="/ppt/slides/slide21.xml" Id="Rbc91352cf2be4896" /><Relationship Type="http://schemas.openxmlformats.org/officeDocument/2006/relationships/slide" Target="/ppt/slides/slide22.xml" Id="Re07805c3f59d4b84" /><Relationship Type="http://schemas.openxmlformats.org/officeDocument/2006/relationships/slide" Target="/ppt/slides/slide23.xml" Id="R3d1d35508058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757d7b593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00a445a8242b7" /><Relationship Type="http://schemas.openxmlformats.org/officeDocument/2006/relationships/notesMaster" Target="/ppt/notesMasters/notesMaster1.xml" Id="Re1dca48a2320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88f5c8dec442ca" /><Relationship Type="http://schemas.openxmlformats.org/officeDocument/2006/relationships/notesMaster" Target="/ppt/notesMasters/notesMaster1.xml" Id="R81318d2a7fa34a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859a713aba4e79" /><Relationship Type="http://schemas.openxmlformats.org/officeDocument/2006/relationships/notesMaster" Target="/ppt/notesMasters/notesMaster1.xml" Id="Ra4102b3919a9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c73875af504f47" /><Relationship Type="http://schemas.openxmlformats.org/officeDocument/2006/relationships/notesMaster" Target="/ppt/notesMasters/notesMaster1.xml" Id="R880e273e3ca640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c09db6eec4021" /><Relationship Type="http://schemas.openxmlformats.org/officeDocument/2006/relationships/notesMaster" Target="/ppt/notesMasters/notesMaster1.xml" Id="Raad7052415d543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956ea167804807" /><Relationship Type="http://schemas.openxmlformats.org/officeDocument/2006/relationships/notesMaster" Target="/ppt/notesMasters/notesMaster1.xml" Id="Rd04cc75d88ac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3eb5b03134d03" /><Relationship Type="http://schemas.openxmlformats.org/officeDocument/2006/relationships/notesMaster" Target="/ppt/notesMasters/notesMaster1.xml" Id="Rdcdef87b94eb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39d597f0974ec7" /><Relationship Type="http://schemas.openxmlformats.org/officeDocument/2006/relationships/notesMaster" Target="/ppt/notesMasters/notesMaster1.xml" Id="Rae4ab2ab662a46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129fa451f049c9" /><Relationship Type="http://schemas.openxmlformats.org/officeDocument/2006/relationships/notesMaster" Target="/ppt/notesMasters/notesMaster1.xml" Id="R0a0e1f274230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8259b9ce3740d7" /><Relationship Type="http://schemas.openxmlformats.org/officeDocument/2006/relationships/notesMaster" Target="/ppt/notesMasters/notesMaster1.xml" Id="Rdfa7b12013ab46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c34191eea846df" /><Relationship Type="http://schemas.openxmlformats.org/officeDocument/2006/relationships/notesMaster" Target="/ppt/notesMasters/notesMaster1.xml" Id="R90b950aed1be46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96e3aec15d4583" /><Relationship Type="http://schemas.openxmlformats.org/officeDocument/2006/relationships/notesMaster" Target="/ppt/notesMasters/notesMaster1.xml" Id="R52c3e22919ec4a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9997f81a0b45ac" /><Relationship Type="http://schemas.openxmlformats.org/officeDocument/2006/relationships/notesMaster" Target="/ppt/notesMasters/notesMaster1.xml" Id="R8cc0ed3ae62044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8197cda1ef4f5e" /><Relationship Type="http://schemas.openxmlformats.org/officeDocument/2006/relationships/notesMaster" Target="/ppt/notesMasters/notesMaster1.xml" Id="Rfd0f7532f61f4c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e62ce4a30947cd" /><Relationship Type="http://schemas.openxmlformats.org/officeDocument/2006/relationships/notesMaster" Target="/ppt/notesMasters/notesMaster1.xml" Id="R323258325fe147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47c13e9d3149d3" /><Relationship Type="http://schemas.openxmlformats.org/officeDocument/2006/relationships/notesMaster" Target="/ppt/notesMasters/notesMaster1.xml" Id="R31c5be2e5b3648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2532a9e7564a50" /><Relationship Type="http://schemas.openxmlformats.org/officeDocument/2006/relationships/notesMaster" Target="/ppt/notesMasters/notesMaster1.xml" Id="R6f448b0429474e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c77d56a65b4437" /><Relationship Type="http://schemas.openxmlformats.org/officeDocument/2006/relationships/notesMaster" Target="/ppt/notesMasters/notesMaster1.xml" Id="Rdfabb9f473fd4a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19d1bec95f45c3" /><Relationship Type="http://schemas.openxmlformats.org/officeDocument/2006/relationships/notesMaster" Target="/ppt/notesMasters/notesMaster1.xml" Id="R34c070da898742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fb458794134a64" /><Relationship Type="http://schemas.openxmlformats.org/officeDocument/2006/relationships/notesMaster" Target="/ppt/notesMasters/notesMaster1.xml" Id="R2c033e02641e43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325874a1b449e6" /><Relationship Type="http://schemas.openxmlformats.org/officeDocument/2006/relationships/notesMaster" Target="/ppt/notesMasters/notesMaster1.xml" Id="R7a1e02b6c17348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7d4b917c104415f" /><Relationship Type="http://schemas.openxmlformats.org/officeDocument/2006/relationships/notesMaster" Target="/ppt/notesMasters/notesMaster1.xml" Id="R89f6bb75288246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dd1d89623841ff" /><Relationship Type="http://schemas.openxmlformats.org/officeDocument/2006/relationships/notesMaster" Target="/ppt/notesMasters/notesMaster1.xml" Id="R50dc0e5ac1ed48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https://webapp.yuntech.edu.tw/WebNewCAS/Course/Plan/Query.aspx?&amp;115&amp;1&amp;1478</a:t>
            </a:r>
          </a:p>
          <a:p xmlns:a="http://schemas.openxmlformats.org/drawingml/2006/main">
            <a:r>
              <a:t>Name spelling: https://uel.yuntech.edu.tw/en/faculty_1.html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https://minhuangyuntech.github.io/oo2026/#project</a:t>
            </a:r>
          </a:p>
          <a:p xmlns:a="http://schemas.openxmlformats.org/drawingml/2006/main">
            <a:r>
              <a:t>Source: https://github.com/openclaw/openclaw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https://minhuangyuntech.github.io/oo2026/#project</a:t>
            </a:r>
            <a:endParaRPr/>
          </a:p>
          <a:p xmlns:a="http://schemas.openxmlformats.org/drawingml/2006/main">
            <a:r>
              <a:t>Source: https://github.com/openclaw/openclaw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https://minhuangyuntech.github.io/oo2026/#roadmap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https://minhuangyuntech.github.io/oo2026/#weeks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https://packaging.python.org/en/latest/tutorials/packaging-projects/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https://minhuangyuntech.github.io/oo2026/week/18/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https://minhuangyuntech.github.io/oo2026/week/12/</a:t>
            </a:r>
          </a:p>
          <a:p xmlns:a="http://schemas.openxmlformats.org/drawingml/2006/main">
            <a:r>
              <a:t>Source: https://minhuangyuntech.github.io/oo2026/week/17/</a:t>
            </a:r>
          </a:p>
          <a:p xmlns:a="http://schemas.openxmlformats.org/drawingml/2006/main">
            <a:r>
              <a:t>Source: https://minhuangyuntech.github.io/oo2026/week/18/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https://minhuangyuntech.github.io/oo2026/week/17/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https://minhuangyuntech.github.io/oo2026/week/15/</a:t>
            </a:r>
          </a:p>
          <a:p xmlns:a="http://schemas.openxmlformats.org/drawingml/2006/main">
            <a:r>
              <a:t>Source: https://docs.djangoproject.com/en/6.0/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https://minhuangyuntech.github.io/oo2026/week/15/</a:t>
            </a:r>
          </a:p>
          <a:p xmlns:a="http://schemas.openxmlformats.org/drawingml/2006/main">
            <a:r>
              <a:t>Source: https://minhuangyuntech.github.io/oo2026/week/16/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https://minhuangyuntech.github.io/oo2026/#weeks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https://webapp.yuntech.edu.tw/WebNewCAS/Course/Plan/Query.aspx?&amp;115&amp;1&amp;1478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https://webapp.yuntech.edu.tw/WebNewCAS/Course/Plan/Query.aspx?&amp;115&amp;1&amp;1478</a:t>
            </a:r>
          </a:p>
          <a:p xmlns:a="http://schemas.openxmlformats.org/drawingml/2006/main">
            <a:r>
              <a:t>Name spelling: https://uel.yuntech.edu.tw/en/faculty_1.html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https://minhuangyuntech.github.io/oo2026/week/2/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990c8ef2446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cfe29699b34ce0" /><Relationship Type="http://schemas.openxmlformats.org/officeDocument/2006/relationships/slideLayout" Target="/ppt/slideLayouts/slideLayout1.xml" Id="Rd6e555a4d85d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555a4d85d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e962f9fef4c5e" /><Relationship Type="http://schemas.openxmlformats.org/officeDocument/2006/relationships/image" Target="/ppt/media/image.png" Id="R87e27af40eed468d" /><Relationship Type="http://schemas.openxmlformats.org/officeDocument/2006/relationships/notesSlide" Target="/ppt/notesSlides/notesSlide1.xml" Id="Rc87e28cafc294e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56ac990ea4f23" /><Relationship Type="http://schemas.openxmlformats.org/officeDocument/2006/relationships/notesSlide" Target="/ppt/notesSlides/notesSlide2.xml" Id="R2e8116cba4f9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595b1358d4314" /><Relationship Type="http://schemas.openxmlformats.org/officeDocument/2006/relationships/notesSlide" Target="/ppt/notesSlides/notesSlide3.xml" Id="Rc6bab8333e4d4b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4ef3c90f34648" /><Relationship Type="http://schemas.openxmlformats.org/officeDocument/2006/relationships/notesSlide" Target="/ppt/notesSlides/notesSlide4.xml" Id="R610ccf1a2a4640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df6af844e4826" /><Relationship Type="http://schemas.openxmlformats.org/officeDocument/2006/relationships/notesSlide" Target="/ppt/notesSlides/notesSlide5.xml" Id="R8b8ee571491345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716a30cad475e" /><Relationship Type="http://schemas.openxmlformats.org/officeDocument/2006/relationships/notesSlide" Target="/ppt/notesSlides/notesSlide6.xml" Id="R5919e2f9c68d40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a0821b7724861" /><Relationship Type="http://schemas.openxmlformats.org/officeDocument/2006/relationships/notesSlide" Target="/ppt/notesSlides/notesSlide7.xml" Id="R7744eca13ef14f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d55e783174622" /><Relationship Type="http://schemas.openxmlformats.org/officeDocument/2006/relationships/notesSlide" Target="/ppt/notesSlides/notesSlide8.xml" Id="Rbe169e3362754c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e965069694263" /><Relationship Type="http://schemas.openxmlformats.org/officeDocument/2006/relationships/image" Target="/ppt/media/image2.png" Id="R43b969c2bbc64cb2" /><Relationship Type="http://schemas.openxmlformats.org/officeDocument/2006/relationships/notesSlide" Target="/ppt/notesSlides/notesSlide9.xml" Id="R471c24674a9943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617262be541a2" /><Relationship Type="http://schemas.openxmlformats.org/officeDocument/2006/relationships/notesSlide" Target="/ppt/notesSlides/notesSlide10.xml" Id="R92fdaa3978184f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350a7842422b" /><Relationship Type="http://schemas.openxmlformats.org/officeDocument/2006/relationships/notesSlide" Target="/ppt/notesSlides/notesSlide11.xml" Id="R70a71fb7356e45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790d772342a6" /><Relationship Type="http://schemas.openxmlformats.org/officeDocument/2006/relationships/notesSlide" Target="/ppt/notesSlides/notesSlide12.xml" Id="R6350d3270b8641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789fe49894a75" /><Relationship Type="http://schemas.openxmlformats.org/officeDocument/2006/relationships/notesSlide" Target="/ppt/notesSlides/notesSlide13.xml" Id="Rd999fa12f51241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a97f118474d4c" /><Relationship Type="http://schemas.openxmlformats.org/officeDocument/2006/relationships/notesSlide" Target="/ppt/notesSlides/notesSlide14.xml" Id="Rd59aa1adcc184a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e8e66e5dd43b2" /><Relationship Type="http://schemas.openxmlformats.org/officeDocument/2006/relationships/image" Target="/ppt/media/image3.png" Id="R8e9e48d6c77341a5" /><Relationship Type="http://schemas.openxmlformats.org/officeDocument/2006/relationships/notesSlide" Target="/ppt/notesSlides/notesSlide15.xml" Id="Rc4efe45affac40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a562fdddb4930" /><Relationship Type="http://schemas.openxmlformats.org/officeDocument/2006/relationships/notesSlide" Target="/ppt/notesSlides/notesSlide16.xml" Id="R2f20887ffec849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4083c18394866" /><Relationship Type="http://schemas.openxmlformats.org/officeDocument/2006/relationships/notesSlide" Target="/ppt/notesSlides/notesSlide17.xml" Id="R0f629bb9401546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126d7bcad4075" /><Relationship Type="http://schemas.openxmlformats.org/officeDocument/2006/relationships/image" Target="/ppt/media/image4.png" Id="Rad8fa09702844458" /><Relationship Type="http://schemas.openxmlformats.org/officeDocument/2006/relationships/notesSlide" Target="/ppt/notesSlides/notesSlide18.xml" Id="Rf7fa7a37da4646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3fef4aa7a489d" /><Relationship Type="http://schemas.openxmlformats.org/officeDocument/2006/relationships/notesSlide" Target="/ppt/notesSlides/notesSlide19.xml" Id="R5d4568dc236f47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6335706924fc7" /><Relationship Type="http://schemas.openxmlformats.org/officeDocument/2006/relationships/notesSlide" Target="/ppt/notesSlides/notesSlide20.xml" Id="R5e4917bdb2ba49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69553e91b441d" /><Relationship Type="http://schemas.openxmlformats.org/officeDocument/2006/relationships/notesSlide" Target="/ppt/notesSlides/notesSlide21.xml" Id="R30d9ab13055c41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afe45340498c" /><Relationship Type="http://schemas.openxmlformats.org/officeDocument/2006/relationships/hyperlink" Target="https://minhuangyuntech.github.io/oo2026" TargetMode="External" Id="R62fce2d5fb974243" /><Relationship Type="http://schemas.openxmlformats.org/officeDocument/2006/relationships/hyperlink" Target="https://minhuangyuntech.github.io/oo2026" TargetMode="External" Id="R80e7af5f143d4f0d" /><Relationship Type="http://schemas.openxmlformats.org/officeDocument/2006/relationships/hyperlink" Target="https://eclass.yuntech.edu.tw/" TargetMode="External" Id="R21a8a61d88d64d4c" /><Relationship Type="http://schemas.openxmlformats.org/officeDocument/2006/relationships/hyperlink" Target="https://eclass.yuntech.edu.tw/" TargetMode="External" Id="R670343b8c253455d" /><Relationship Type="http://schemas.openxmlformats.org/officeDocument/2006/relationships/notesSlide" Target="/ppt/notesSlides/notesSlide22.xml" Id="R0331175f4605459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8a04a83094ba6" /><Relationship Type="http://schemas.openxmlformats.org/officeDocument/2006/relationships/notesSlide" Target="/ppt/notesSlides/notesSlide23.xml" Id="R6d40b4bb1f9548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B4A50307-008F-4370-ADD6-D8FF2957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pic>
        <p:nvPicPr>
          <p:cNvPr id="11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27af40eed46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WEEK 01">
            <a:extLst xmlns:a="http://schemas.openxmlformats.org/drawingml/2006/main">
              <a:ext uri="{FF2B5EF4-FFF2-40B4-BE49-F238E27FC236}">
                <a16:creationId xmlns:a16="http://schemas.microsoft.com/office/drawing/2014/main" id="{F3D9F2D9-7B33-4B0A-8FD3-546CF8D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01</a:t>
            </a:r>
          </a:p>
        </p:txBody>
      </p:sp>
      <p:sp>
        <p:nvSpPr>
          <p:cNvPr id="4" name="物件導向 程式設計">
            <a:extLst xmlns:a="http://schemas.openxmlformats.org/drawingml/2006/main">
              <a:ext uri="{FF2B5EF4-FFF2-40B4-BE49-F238E27FC236}">
                <a16:creationId xmlns:a16="http://schemas.microsoft.com/office/drawing/2014/main" id="{97801A59-0B31-4E60-A29B-ADF982D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95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Object-Oriented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Programming</a:t>
            </a:r>
          </a:p>
        </p:txBody>
      </p:sp>
      <p:sp>
        <p:nvSpPr>
          <p:cNvPr id="5" name="Python 套件與個人 AI 助理">
            <a:extLst xmlns:a="http://schemas.openxmlformats.org/drawingml/2006/main">
              <a:ext uri="{FF2B5EF4-FFF2-40B4-BE49-F238E27FC236}">
                <a16:creationId xmlns:a16="http://schemas.microsoft.com/office/drawing/2014/main" id="{B6E5FE56-A1B5-47EC-8700-EDE9C401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Theory and Practice</a:t>
            </a:r>
            <a:endParaRPr sz="2325" b="0">
              <a:solidFill>
                <a:srgbClr val="F7F4E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第一週課程說明　90 分鐘">
            <a:extLst xmlns:a="http://schemas.openxmlformats.org/drawingml/2006/main">
              <a:ext uri="{FF2B5EF4-FFF2-40B4-BE49-F238E27FC236}">
                <a16:creationId xmlns:a16="http://schemas.microsoft.com/office/drawing/2014/main" id="{A22C34D4-7FDD-4B79-B896-D28A644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386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1 Course Overview   90 minutes</a:t>
            </a:r>
            <a:endParaRPr sz="1875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75948AFF-1103-4DFA-A2CD-5DA89AC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435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National Yunlin University of Science and Technology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Department of Electronic Engineering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Academic Year 115, Semester 1   Min-Huang Ho</a:t>
            </a:r>
          </a:p>
        </p:txBody>
      </p:sp>
    </p:spTree>
    <p:extLst>
      <p:ext uri="{BB962C8B-B14F-4D97-AF65-F5344CB8AC3E}">
        <p14:creationId xmlns:p14="http://schemas.microsoft.com/office/powerpoint/2010/main" val="132127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寫程式時，你遇過哪些情況？">
            <a:extLst xmlns:a="http://schemas.openxmlformats.org/drawingml/2006/main">
              <a:ext uri="{FF2B5EF4-FFF2-40B4-BE49-F238E27FC236}">
                <a16:creationId xmlns:a16="http://schemas.microsoft.com/office/drawing/2014/main" id="{1185466A-5A74-4F83-B6A9-4754028B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Which programming problems have you faced?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E86E911-C1F0-4EEF-AD4B-CF676AD8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看不懂">
            <a:extLst xmlns:a="http://schemas.openxmlformats.org/drawingml/2006/main">
              <a:ext uri="{FF2B5EF4-FFF2-40B4-BE49-F238E27FC236}">
                <a16:creationId xmlns:a16="http://schemas.microsoft.com/office/drawing/2014/main" id="{3745DB6B-7DCA-489B-9320-AE74017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Hard to understand</a:t>
            </a:r>
          </a:p>
        </p:txBody>
      </p:sp>
      <p:sp>
        <p:nvSpPr>
          <p:cNvPr id="4" name="一個月後，連自己也忘記原本的想法。">
            <a:extLst xmlns:a="http://schemas.openxmlformats.org/drawingml/2006/main">
              <a:ext uri="{FF2B5EF4-FFF2-40B4-BE49-F238E27FC236}">
                <a16:creationId xmlns:a16="http://schemas.microsoft.com/office/drawing/2014/main" id="{2715C5AB-0A04-4AD3-937A-2A99775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month later, you forget your own reasoning.</a:t>
            </a:r>
          </a:p>
        </p:txBody>
      </p:sp>
      <p:sp>
        <p:nvSpPr>
          <p:cNvPr id="5" name="改不動">
            <a:extLst xmlns:a="http://schemas.openxmlformats.org/drawingml/2006/main">
              <a:ext uri="{FF2B5EF4-FFF2-40B4-BE49-F238E27FC236}">
                <a16:creationId xmlns:a16="http://schemas.microsoft.com/office/drawing/2014/main" id="{82BBB59A-43CC-4464-9D5C-E99024F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Hard to change</a:t>
            </a:r>
          </a:p>
        </p:txBody>
      </p:sp>
      <p:sp>
        <p:nvSpPr>
          <p:cNvPr id="6" name="新增一個功能，其他功能卻出錯。">
            <a:extLst xmlns:a="http://schemas.openxmlformats.org/drawingml/2006/main">
              <a:ext uri="{FF2B5EF4-FFF2-40B4-BE49-F238E27FC236}">
                <a16:creationId xmlns:a16="http://schemas.microsoft.com/office/drawing/2014/main" id="{C07ED07E-4FA7-4145-A267-CF5B3A7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479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Adding one feature causes other features to break.</a:t>
            </a:r>
          </a:p>
        </p:txBody>
      </p:sp>
      <p:sp>
        <p:nvSpPr>
          <p:cNvPr id="7" name="搬不走">
            <a:extLst xmlns:a="http://schemas.openxmlformats.org/drawingml/2006/main">
              <a:ext uri="{FF2B5EF4-FFF2-40B4-BE49-F238E27FC236}">
                <a16:creationId xmlns:a16="http://schemas.microsoft.com/office/drawing/2014/main" id="{5CD603C4-7336-4219-8889-BD077B15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Hard to move</a:t>
            </a:r>
          </a:p>
        </p:txBody>
      </p:sp>
      <p:sp>
        <p:nvSpPr>
          <p:cNvPr id="8" name="換一台電腦，程式就無法執行。">
            <a:extLst xmlns:a="http://schemas.openxmlformats.org/drawingml/2006/main">
              <a:ext uri="{FF2B5EF4-FFF2-40B4-BE49-F238E27FC236}">
                <a16:creationId xmlns:a16="http://schemas.microsoft.com/office/drawing/2014/main" id="{FAE9D90E-0793-47D8-90EC-127C54F2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909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program stops working on another computer.</a:t>
            </a:r>
          </a:p>
        </p:txBody>
      </p:sp>
      <p:sp>
        <p:nvSpPr>
          <p:cNvPr id="9" name="接不起來">
            <a:extLst xmlns:a="http://schemas.openxmlformats.org/drawingml/2006/main">
              <a:ext uri="{FF2B5EF4-FFF2-40B4-BE49-F238E27FC236}">
                <a16:creationId xmlns:a16="http://schemas.microsoft.com/office/drawing/2014/main" id="{152B48C4-AADE-478F-8FB9-C507DE1D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Hard to integrate</a:t>
            </a:r>
          </a:p>
        </p:txBody>
      </p:sp>
      <p:sp>
        <p:nvSpPr>
          <p:cNvPr id="10" name="大家各自完成，整合時才發現介面不同。">
            <a:extLst xmlns:a="http://schemas.openxmlformats.org/drawingml/2006/main">
              <a:ext uri="{FF2B5EF4-FFF2-40B4-BE49-F238E27FC236}">
                <a16:creationId xmlns:a16="http://schemas.microsoft.com/office/drawing/2014/main" id="{4CD7E486-1CA2-4C2F-8184-CF8AADB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Everyone finishes their part, but the interfaces do not match.</a:t>
            </a:r>
          </a:p>
        </p:txBody>
      </p:sp>
    </p:spTree>
    <p:extLst>
      <p:ext uri="{BB962C8B-B14F-4D97-AF65-F5344CB8AC3E}">
        <p14:creationId xmlns:p14="http://schemas.microsoft.com/office/powerpoint/2010/main" val="1534223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你的程式經驗">
            <a:extLst xmlns:a="http://schemas.openxmlformats.org/drawingml/2006/main">
              <a:ext uri="{FF2B5EF4-FFF2-40B4-BE49-F238E27FC236}">
                <a16:creationId xmlns:a16="http://schemas.microsoft.com/office/drawing/2014/main" id="{276A2247-3E5B-4ECC-BC10-9B2B89C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Your programming experience</a:t>
            </a:r>
          </a:p>
        </p:txBody>
      </p:sp>
      <p:sp>
        <p:nvSpPr>
          <p:cNvPr id="2" name="每個人的起點不同，先認識自己的基礎。">
            <a:extLst xmlns:a="http://schemas.openxmlformats.org/drawingml/2006/main">
              <a:ext uri="{FF2B5EF4-FFF2-40B4-BE49-F238E27FC236}">
                <a16:creationId xmlns:a16="http://schemas.microsoft.com/office/drawing/2014/main" id="{598CE064-A6F2-47C7-9575-ACD2EFAE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Build on your C experience and identify the skills you want to strengthen.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8701542-AA77-4699-AB90-73609B6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寫過什麼？">
            <a:extLst xmlns:a="http://schemas.openxmlformats.org/drawingml/2006/main">
              <a:ext uri="{FF2B5EF4-FFF2-40B4-BE49-F238E27FC236}">
                <a16:creationId xmlns:a16="http://schemas.microsoft.com/office/drawing/2014/main" id="{4EAB17EA-8307-451F-AB33-F329F81D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What have you built?</a:t>
            </a:r>
          </a:p>
        </p:txBody>
      </p:sp>
      <p:sp>
        <p:nvSpPr>
          <p:cNvPr id="5" name="C 或 Python 課堂練習、專題 或自己的小工具">
            <a:extLst xmlns:a="http://schemas.openxmlformats.org/drawingml/2006/main">
              <a:ext uri="{FF2B5EF4-FFF2-40B4-BE49-F238E27FC236}">
                <a16:creationId xmlns:a16="http://schemas.microsoft.com/office/drawing/2014/main" id="{4D96647E-33FA-479D-9526-F562BAC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 or Python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Class exercises, projects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 your own small tools</a:t>
            </a:r>
          </a:p>
        </p:txBody>
      </p:sp>
      <p:sp>
        <p:nvSpPr>
          <p:cNvPr id="6" name="用過什麼？">
            <a:extLst xmlns:a="http://schemas.openxmlformats.org/drawingml/2006/main">
              <a:ext uri="{FF2B5EF4-FFF2-40B4-BE49-F238E27FC236}">
                <a16:creationId xmlns:a16="http://schemas.microsoft.com/office/drawing/2014/main" id="{C67028CE-0193-4D26-AA2B-E220E48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What have you used?</a:t>
            </a:r>
          </a:p>
        </p:txBody>
      </p:sp>
      <p:sp>
        <p:nvSpPr>
          <p:cNvPr id="7" name="函式與資料結構 Git、測試 或網站框架">
            <a:extLst xmlns:a="http://schemas.openxmlformats.org/drawingml/2006/main">
              <a:ext uri="{FF2B5EF4-FFF2-40B4-BE49-F238E27FC236}">
                <a16:creationId xmlns:a16="http://schemas.microsoft.com/office/drawing/2014/main" id="{C6B6B28B-F2D2-4B0F-9568-DCF905E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Functions and data structures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Git, testing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 web frameworks</a:t>
            </a:r>
          </a:p>
        </p:txBody>
      </p:sp>
      <p:sp>
        <p:nvSpPr>
          <p:cNvPr id="8" name="最想補強什麼？">
            <a:extLst xmlns:a="http://schemas.openxmlformats.org/drawingml/2006/main">
              <a:ext uri="{FF2B5EF4-FFF2-40B4-BE49-F238E27FC236}">
                <a16:creationId xmlns:a16="http://schemas.microsoft.com/office/drawing/2014/main" id="{917A8E93-7D8B-4D9C-ACA3-C01E622F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257425"/>
            <a:ext cx="336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What would you improve?</a:t>
            </a:r>
          </a:p>
        </p:txBody>
      </p:sp>
      <p:sp>
        <p:nvSpPr>
          <p:cNvPr id="9" name="讀懂程式 除錯與修改 或和別人合作">
            <a:extLst xmlns:a="http://schemas.openxmlformats.org/drawingml/2006/main">
              <a:ext uri="{FF2B5EF4-FFF2-40B4-BE49-F238E27FC236}">
                <a16:creationId xmlns:a16="http://schemas.microsoft.com/office/drawing/2014/main" id="{5E4C801C-712F-4213-93F4-BE3A238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162300"/>
            <a:ext cx="336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Reading code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Debugging and revising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or working with others</a:t>
            </a:r>
          </a:p>
        </p:txBody>
      </p:sp>
    </p:spTree>
    <p:extLst>
      <p:ext uri="{BB962C8B-B14F-4D97-AF65-F5344CB8AC3E}">
        <p14:creationId xmlns:p14="http://schemas.microsoft.com/office/powerpoint/2010/main" val="89553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這門課關心的能力">
            <a:extLst xmlns:a="http://schemas.openxmlformats.org/drawingml/2006/main">
              <a:ext uri="{FF2B5EF4-FFF2-40B4-BE49-F238E27FC236}">
                <a16:creationId xmlns:a16="http://schemas.microsoft.com/office/drawing/2014/main" id="{3B20533E-92FA-4F48-A30F-DE8F1750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Course learning goals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4A63DA0-12D0-4D95-BD14-B7BECB4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讓程式能被使用， 也能持續修改。">
            <a:extLst xmlns:a="http://schemas.openxmlformats.org/drawingml/2006/main">
              <a:ext uri="{FF2B5EF4-FFF2-40B4-BE49-F238E27FC236}">
                <a16:creationId xmlns:a16="http://schemas.microsoft.com/office/drawing/2014/main" id="{2C241CED-85E3-4CED-909E-D536FCF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Understand object-oriented thinking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and design software systems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that can evolve.</a:t>
            </a:r>
          </a:p>
        </p:txBody>
      </p:sp>
      <p:sp>
        <p:nvSpPr>
          <p:cNvPr id="4" name="使用者看得懂介面，同學接得上功能， 自己能驗證修改後的結果。">
            <a:extLst xmlns:a="http://schemas.openxmlformats.org/drawingml/2006/main">
              <a:ext uri="{FF2B5EF4-FFF2-40B4-BE49-F238E27FC236}">
                <a16:creationId xmlns:a16="http://schemas.microsoft.com/office/drawing/2014/main" id="{6EF9BF7D-F8A8-4654-85E9-2CF7FAB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Practice object modeling, design principles, testing and refactoring in Python.</a:t>
            </a:r>
            <a:endParaRPr sz="24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algn="l">
              <a:buNone/>
              <a:defRPr sz="24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Complete an individual project that you can run, explain and reproduce.</a:t>
            </a:r>
            <a:endParaRPr sz="24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108305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期末作品：MiniClaw">
            <a:extLst xmlns:a="http://schemas.openxmlformats.org/drawingml/2006/main">
              <a:ext uri="{FF2B5EF4-FFF2-40B4-BE49-F238E27FC236}">
                <a16:creationId xmlns:a16="http://schemas.microsoft.com/office/drawing/2014/main" id="{4E677BE3-C158-4513-ADA0-820954E3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Final project: an individual OOP system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92D19D2F-800C-4BD2-9F07-5C632B9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自己的個人 AI 助理">
            <a:extLst xmlns:a="http://schemas.openxmlformats.org/drawingml/2006/main">
              <a:ext uri="{FF2B5EF4-FFF2-40B4-BE49-F238E27FC236}">
                <a16:creationId xmlns:a16="http://schemas.microsoft.com/office/drawing/2014/main" id="{33B2F8D7-20BC-4071-877B-0DB05E5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0715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125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Choose a real problem</a:t>
            </a:r>
          </a:p>
        </p:txBody>
      </p:sp>
      <p:sp>
        <p:nvSpPr>
          <p:cNvPr id="4" name="透過網頁對話，呼叫自己設計的工具， 保存資料並回報執行結果。">
            <a:extLst xmlns:a="http://schemas.openxmlformats.org/drawingml/2006/main">
              <a:ext uri="{FF2B5EF4-FFF2-40B4-BE49-F238E27FC236}">
                <a16:creationId xmlns:a16="http://schemas.microsoft.com/office/drawing/2014/main" id="{E55BEDBF-640A-475F-A5C0-F9B0B7C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8025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Define the users, scenarios and scope.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Build a testable system with clear class responsibilities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and meaningful object collaboration.</a:t>
            </a:r>
          </a:p>
        </p:txBody>
      </p:sp>
      <p:sp>
        <p:nvSpPr>
          <p:cNvPr id="5" name="以 OpenClaw 的個人助理概念為靈感， 完成適合本課範圍的 Python 教學版。">
            <a:extLst xmlns:a="http://schemas.openxmlformats.org/drawingml/2006/main">
              <a:ext uri="{FF2B5EF4-FFF2-40B4-BE49-F238E27FC236}">
                <a16:creationId xmlns:a16="http://schemas.microsoft.com/office/drawing/2014/main" id="{DBA22465-440F-4FC5-A01B-26C7AE2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MiniClaw, a personal AI assistant, is a suggested integration project.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You may choose another topic that demonstrates OOP design.</a:t>
            </a:r>
          </a:p>
        </p:txBody>
      </p:sp>
    </p:spTree>
    <p:extLst>
      <p:ext uri="{BB962C8B-B14F-4D97-AF65-F5344CB8AC3E}">
        <p14:creationId xmlns:p14="http://schemas.microsoft.com/office/powerpoint/2010/main" val="178397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iniClaw 的專題範圍">
            <a:extLst xmlns:a="http://schemas.openxmlformats.org/drawingml/2006/main">
              <a:ext uri="{FF2B5EF4-FFF2-40B4-BE49-F238E27FC236}">
                <a16:creationId xmlns:a16="http://schemas.microsoft.com/office/drawing/2014/main" id="{D9A4C3AF-12C8-40E6-A804-FD86CD4F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MiniClaw: an optional integration project</a:t>
            </a:r>
          </a:p>
        </p:txBody>
      </p:sp>
      <p:sp>
        <p:nvSpPr>
          <p:cNvPr id="2" name="基本功能先完成，延伸功能依進度加入。">
            <a:extLst xmlns:a="http://schemas.openxmlformats.org/drawingml/2006/main">
              <a:ext uri="{FF2B5EF4-FFF2-40B4-BE49-F238E27FC236}">
                <a16:creationId xmlns:a16="http://schemas.microsoft.com/office/drawing/2014/main" id="{70334FB7-298A-4903-B76E-C340887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Inspired by OpenClaw, keep the scope small and complete the core features.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CB5B9AD-D71A-46BE-B528-CC77EF19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基本成果">
            <a:extLst xmlns:a="http://schemas.openxmlformats.org/drawingml/2006/main">
              <a:ext uri="{FF2B5EF4-FFF2-40B4-BE49-F238E27FC236}">
                <a16:creationId xmlns:a16="http://schemas.microsoft.com/office/drawing/2014/main" id="{F69A0919-F79E-401B-A67F-6C59DAF3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Core scope for this example</a:t>
            </a:r>
          </a:p>
        </p:txBody>
      </p:sp>
      <p:sp>
        <p:nvSpPr>
          <p:cNvPr id="5" name="網頁對話與紀錄 真實模型與測試替身 數個可操作資料的工具 參數檢查與錯誤處理">
            <a:extLst xmlns:a="http://schemas.openxmlformats.org/drawingml/2006/main">
              <a:ext uri="{FF2B5EF4-FFF2-40B4-BE49-F238E27FC236}">
                <a16:creationId xmlns:a16="http://schemas.microsoft.com/office/drawing/2014/main" id="{CF37D8C0-0B49-43FE-ABDA-DB8C753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Web chat and conversation history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real model and a test double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Tools that work with data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Input validation and error handling</a:t>
            </a:r>
          </a:p>
        </p:txBody>
      </p:sp>
      <p:sp>
        <p:nvSpPr>
          <p:cNvPr id="6" name="延伸選項">
            <a:extLst xmlns:a="http://schemas.openxmlformats.org/drawingml/2006/main">
              <a:ext uri="{FF2B5EF4-FFF2-40B4-BE49-F238E27FC236}">
                <a16:creationId xmlns:a16="http://schemas.microsoft.com/office/drawing/2014/main" id="{B511AD72-1901-4FA8-AAB1-0E81250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Optional extensions</a:t>
            </a:r>
          </a:p>
        </p:txBody>
      </p:sp>
      <p:sp>
        <p:nvSpPr>
          <p:cNvPr id="7" name="排程提醒 感測器整合 外部聊天平台 串流回覆">
            <a:extLst xmlns:a="http://schemas.openxmlformats.org/drawingml/2006/main">
              <a:ext uri="{FF2B5EF4-FFF2-40B4-BE49-F238E27FC236}">
                <a16:creationId xmlns:a16="http://schemas.microsoft.com/office/drawing/2014/main" id="{545C412C-496D-44EC-964C-735EFD2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Scheduled reminders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Sensor integration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External chat platforms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Streaming responses</a:t>
            </a:r>
          </a:p>
        </p:txBody>
      </p:sp>
      <p:sp>
        <p:nvSpPr>
          <p:cNvPr id="8" name="工具循環需設定步數上限，讓執行過程可控制、可追蹤。">
            <a:extLst xmlns:a="http://schemas.openxmlformats.org/drawingml/2006/main">
              <a:ext uri="{FF2B5EF4-FFF2-40B4-BE49-F238E27FC236}">
                <a16:creationId xmlns:a16="http://schemas.microsoft.com/office/drawing/2014/main" id="{8989D5CB-BBB4-44CF-92A8-423D54C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Set a step limit for tool calls and choose features that fit your project.</a:t>
            </a:r>
          </a:p>
        </p:txBody>
      </p:sp>
    </p:spTree>
    <p:extLst>
      <p:ext uri="{BB962C8B-B14F-4D97-AF65-F5344CB8AC3E}">
        <p14:creationId xmlns:p14="http://schemas.microsoft.com/office/powerpoint/2010/main" val="326507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整學期的作品路線">
            <a:extLst xmlns:a="http://schemas.openxmlformats.org/drawingml/2006/main">
              <a:ext uri="{FF2B5EF4-FFF2-40B4-BE49-F238E27FC236}">
                <a16:creationId xmlns:a16="http://schemas.microsoft.com/office/drawing/2014/main" id="{28BC8EA3-C70B-4CFF-A53F-C21D2F7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18 weeks, three stages of learning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5AB6321A-529A-4BA6-8615-A6422DE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9" name="表格 6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00525"/>
                <a:gridCol w="4200525"/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Learning focus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Outcome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Weeks 1–5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Python, classes, encapsulation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the object memory model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Develop object-oriented thinking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Weeks 6–11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UML, inheritance, polymorphism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advanced type mechanisms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Organize replaceable components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Weeks 12–18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Analysis, design, SOLID, patterns,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testing and supplementary integration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Complete an individual system project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4" name="每一階段的成果，都能成為下一階段的材料。">
            <a:extLst xmlns:a="http://schemas.openxmlformats.org/drawingml/2006/main">
              <a:ext uri="{FF2B5EF4-FFF2-40B4-BE49-F238E27FC236}">
                <a16:creationId xmlns:a16="http://schemas.microsoft.com/office/drawing/2014/main" id="{4B674E8D-98EE-4ED5-8D68-8D5E3DA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>
              <a:solidFill>
                <a:srgbClr val="16686C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498622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我們會學到的設計觀點">
            <a:extLst xmlns:a="http://schemas.openxmlformats.org/drawingml/2006/main">
              <a:ext uri="{FF2B5EF4-FFF2-40B4-BE49-F238E27FC236}">
                <a16:creationId xmlns:a16="http://schemas.microsoft.com/office/drawing/2014/main" id="{B72234E4-8408-4255-A23A-6DEEF44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Theory and practice this semester</a:t>
            </a:r>
            <a:endParaRPr sz="3300" b="1">
              <a:solidFill>
                <a:srgbClr val="132B3A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6E4F94EC-9978-4D05-9C9D-C36DBA9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物件導向基礎">
            <a:extLst xmlns:a="http://schemas.openxmlformats.org/drawingml/2006/main">
              <a:ext uri="{FF2B5EF4-FFF2-40B4-BE49-F238E27FC236}">
                <a16:creationId xmlns:a16="http://schemas.microsoft.com/office/drawing/2014/main" id="{2B443CAE-B2CE-4F62-A432-A79BD30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 models and core concepts</a:t>
            </a:r>
          </a:p>
        </p:txBody>
      </p:sp>
      <p:sp>
        <p:nvSpPr>
          <p:cNvPr id="4" name="類別與物件 封裝、繼承與多型 抽象化、關係與責任">
            <a:extLst xmlns:a="http://schemas.openxmlformats.org/drawingml/2006/main">
              <a:ext uri="{FF2B5EF4-FFF2-40B4-BE49-F238E27FC236}">
                <a16:creationId xmlns:a16="http://schemas.microsoft.com/office/drawing/2014/main" id="{91F04B25-369C-4F50-9CE5-3646CB9F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Classes, encapsulation and object lifecycles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Relationships, inheritance and polymorphism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Abstract interfaces and UML class diagrams</a:t>
            </a:r>
          </a:p>
        </p:txBody>
      </p:sp>
      <p:sp>
        <p:nvSpPr>
          <p:cNvPr id="5" name="現代設計實務">
            <a:extLst xmlns:a="http://schemas.openxmlformats.org/drawingml/2006/main">
              <a:ext uri="{FF2B5EF4-FFF2-40B4-BE49-F238E27FC236}">
                <a16:creationId xmlns:a16="http://schemas.microsoft.com/office/drawing/2014/main" id="{26C9E9ED-BA8C-4CCF-A558-65EE2E4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3835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Analysis and design practices</a:t>
            </a:r>
          </a:p>
        </p:txBody>
      </p:sp>
      <p:sp>
        <p:nvSpPr>
          <p:cNvPr id="6" name="組合與介面 型別、測試與重構 可替換的外部服務">
            <a:extLst xmlns:a="http://schemas.openxmlformats.org/drawingml/2006/main">
              <a:ext uri="{FF2B5EF4-FFF2-40B4-BE49-F238E27FC236}">
                <a16:creationId xmlns:a16="http://schemas.microsoft.com/office/drawing/2014/main" id="{5B921DDC-9A92-456E-8086-8678AD3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4322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Data classes, generics and Protocol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OOA/OOD, SOLID and design patterns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Testing, refactoring and system integration</a:t>
            </a:r>
          </a:p>
        </p:txBody>
      </p:sp>
      <p:sp>
        <p:nvSpPr>
          <p:cNvPr id="7" name="以 Python 實作，搭配 Java、C#、C++、Go 的設計比較。">
            <a:extLst xmlns:a="http://schemas.openxmlformats.org/drawingml/2006/main">
              <a:ext uri="{FF2B5EF4-FFF2-40B4-BE49-F238E27FC236}">
                <a16:creationId xmlns:a16="http://schemas.microsoft.com/office/drawing/2014/main" id="{2B57281E-E250-45C5-9D1E-B551BC1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3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Use Python for implementation and build on C to understand objects and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1564020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個人作品：自己的 Python 套件">
            <a:extLst xmlns:a="http://schemas.openxmlformats.org/drawingml/2006/main">
              <a:ext uri="{FF2B5EF4-FFF2-40B4-BE49-F238E27FC236}">
                <a16:creationId xmlns:a16="http://schemas.microsoft.com/office/drawing/2014/main" id="{9F994F83-FFC9-46B1-AD88-5BCF4B92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Extension: a reusable Python module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BA19BD74-91D0-48CE-BA10-EE6FCA05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969c2bbc64cb2"/>
          <a:stretch xmlns:a="http://schemas.openxmlformats.org/drawingml/2006/main"/>
        </p:blipFill>
        <p:spPr>
          <a:xfrm xmlns:a="http://schemas.openxmlformats.org/drawingml/2006/main">
            <a:off x="6429375" y="1797844"/>
            <a:ext cx="5048250" cy="3786188"/>
          </a:xfrm>
          <a:prstGeom xmlns:a="http://schemas.openxmlformats.org/drawingml/2006/main" prst="rect">
            <a:avLst/>
          </a:prstGeom>
        </p:spPr>
      </p:pic>
      <p:sp>
        <p:nvSpPr>
          <p:cNvPr id="4" name="讓同學能安裝， 也能依文件使用。">
            <a:extLst xmlns:a="http://schemas.openxmlformats.org/drawingml/2006/main">
              <a:ext uri="{FF2B5EF4-FFF2-40B4-BE49-F238E27FC236}">
                <a16:creationId xmlns:a16="http://schemas.microsoft.com/office/drawing/2014/main" id="{0B7A340A-BF3E-4E69-92C6-BB85D7B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Turn one clear function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into a standalone module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that fits your project.</a:t>
            </a:r>
          </a:p>
        </p:txBody>
      </p:sp>
      <p:sp>
        <p:nvSpPr>
          <p:cNvPr id="5" name="一個明確用途 一套清楚的公開介面 一份可執行的使用範例">
            <a:extLst xmlns:a="http://schemas.openxmlformats.org/drawingml/2006/main">
              <a:ext uri="{FF2B5EF4-FFF2-40B4-BE49-F238E27FC236}">
                <a16:creationId xmlns:a16="http://schemas.microsoft.com/office/drawing/2014/main" id="{AC137D5C-8AD9-4EB9-9070-99EBBC8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19575"/>
            <a:ext cx="5429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 clear public API and usage example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An installable package as a next step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TestPyPI and PyPI publishing practice</a:t>
            </a:r>
          </a:p>
        </p:txBody>
      </p:sp>
    </p:spTree>
    <p:extLst>
      <p:ext uri="{BB962C8B-B14F-4D97-AF65-F5344CB8AC3E}">
        <p14:creationId xmlns:p14="http://schemas.microsoft.com/office/powerpoint/2010/main" val="975670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模組、套件與發布">
            <a:extLst xmlns:a="http://schemas.openxmlformats.org/drawingml/2006/main">
              <a:ext uri="{FF2B5EF4-FFF2-40B4-BE49-F238E27FC236}">
                <a16:creationId xmlns:a16="http://schemas.microsoft.com/office/drawing/2014/main" id="{15572C5A-8F7B-4EA0-A380-4B7F6918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Three programming paradigms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8209DDC0-F379-4BEB-9B65-B7EED83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模組 Module">
            <a:extLst xmlns:a="http://schemas.openxmlformats.org/drawingml/2006/main">
              <a:ext uri="{FF2B5EF4-FFF2-40B4-BE49-F238E27FC236}">
                <a16:creationId xmlns:a16="http://schemas.microsoft.com/office/drawing/2014/main" id="{27BE3E6A-B53E-4502-B10F-AD2D118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Procedural</a:t>
            </a:r>
          </a:p>
        </p:txBody>
      </p:sp>
      <p:sp>
        <p:nvSpPr>
          <p:cNvPr id="4" name="組織函式、類別與其他程式內容。">
            <a:extLst xmlns:a="http://schemas.openxmlformats.org/drawingml/2006/main">
              <a:ext uri="{FF2B5EF4-FFF2-40B4-BE49-F238E27FC236}">
                <a16:creationId xmlns:a16="http://schemas.microsoft.com/office/drawing/2014/main" id="{7BD25DA9-01C5-415D-9C12-68A1124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621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Use functions to process data and a control flow to connect operations.</a:t>
            </a:r>
          </a:p>
        </p:txBody>
      </p:sp>
      <p:sp>
        <p:nvSpPr>
          <p:cNvPr id="5" name="可安裝套件">
            <a:extLst xmlns:a="http://schemas.openxmlformats.org/drawingml/2006/main">
              <a:ext uri="{FF2B5EF4-FFF2-40B4-BE49-F238E27FC236}">
                <a16:creationId xmlns:a16="http://schemas.microsoft.com/office/drawing/2014/main" id="{67DA567C-D01B-4C68-801D-AB2B03D7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Object-oriented</a:t>
            </a:r>
          </a:p>
        </p:txBody>
      </p:sp>
      <p:sp>
        <p:nvSpPr>
          <p:cNvPr id="6" name="加入專案資訊、版本、相依需求與文件。">
            <a:extLst xmlns:a="http://schemas.openxmlformats.org/drawingml/2006/main">
              <a:ext uri="{FF2B5EF4-FFF2-40B4-BE49-F238E27FC236}">
                <a16:creationId xmlns:a16="http://schemas.microsoft.com/office/drawing/2014/main" id="{1C819318-EA31-4290-91C5-846D9680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Combine state and behavior in objects. Organize the system
around responsibilities and collaboration.</a:t>
            </a:r>
          </a:p>
        </p:txBody>
      </p:sp>
      <p:sp>
        <p:nvSpPr>
          <p:cNvPr id="7" name="PyPI">
            <a:extLst xmlns:a="http://schemas.openxmlformats.org/drawingml/2006/main">
              <a:ext uri="{FF2B5EF4-FFF2-40B4-BE49-F238E27FC236}">
                <a16:creationId xmlns:a16="http://schemas.microsoft.com/office/drawing/2014/main" id="{48C619FC-D48E-4B42-907E-E769B630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Functional</a:t>
            </a:r>
          </a:p>
        </p:txBody>
      </p:sp>
      <p:sp>
        <p:nvSpPr>
          <p:cNvPr id="8" name="發布套件，讓其他人透過 pip 安裝。">
            <a:extLst xmlns:a="http://schemas.openxmlformats.org/drawingml/2006/main">
              <a:ext uri="{FF2B5EF4-FFF2-40B4-BE49-F238E27FC236}">
                <a16:creationId xmlns:a16="http://schemas.microsoft.com/office/drawing/2014/main" id="{F52463E5-6B42-4F94-AD5F-0D23B19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053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Favor pure functions and immutable data to reduce
hidden state and side effects.</a:t>
            </a:r>
          </a:p>
        </p:txBody>
      </p:sp>
      <p:sp>
        <p:nvSpPr>
          <p:cNvPr id="9" name="套件的核心功能可以獨立使用，期末再接上 AI 助理。">
            <a:extLst xmlns:a="http://schemas.openxmlformats.org/drawingml/2006/main">
              <a:ext uri="{FF2B5EF4-FFF2-40B4-BE49-F238E27FC236}">
                <a16:creationId xmlns:a16="http://schemas.microsoft.com/office/drawing/2014/main" id="{59D0D177-32C7-456E-AAC8-5C26A33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Choose the approach that fits the problem. A system can combine paradigms.</a:t>
            </a:r>
          </a:p>
        </p:txBody>
      </p:sp>
    </p:spTree>
    <p:extLst>
      <p:ext uri="{BB962C8B-B14F-4D97-AF65-F5344CB8AC3E}">
        <p14:creationId xmlns:p14="http://schemas.microsoft.com/office/powerpoint/2010/main" val="1249921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個人套件的選題方向">
            <a:extLst xmlns:a="http://schemas.openxmlformats.org/drawingml/2006/main">
              <a:ext uri="{FF2B5EF4-FFF2-40B4-BE49-F238E27FC236}">
                <a16:creationId xmlns:a16="http://schemas.microsoft.com/office/drawing/2014/main" id="{C906C417-07F8-45EB-9A59-D92D539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One problem: withdrawing from an account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1C798B61-F787-4B68-A067-82BA73F0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38650"/>
                <a:gridCol w="405765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Procedural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Object-oriented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Where data lives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 account dictionary or struct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Attributes of an Account object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How to withdraw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withdraw(account, 250)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account.withdraw(250)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Who checks rules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function validates</a:t>
                      </a: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amount and balance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The method maintains</a:t>
                      </a: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object invariants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Maintenance focus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Coordination of control flow and data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Object responsibilities</a:t>
                      </a: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the public interface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2638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套件要交付哪些內容？">
            <a:extLst xmlns:a="http://schemas.openxmlformats.org/drawingml/2006/main">
              <a:ext uri="{FF2B5EF4-FFF2-40B4-BE49-F238E27FC236}">
                <a16:creationId xmlns:a16="http://schemas.microsoft.com/office/drawing/2014/main" id="{4FABE4DE-320E-4FC9-B98D-B2964606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Final project deliverables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3C2FBDC4-5C85-40A5-868A-12486281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功能與介面">
            <a:extLst xmlns:a="http://schemas.openxmlformats.org/drawingml/2006/main">
              <a:ext uri="{FF2B5EF4-FFF2-40B4-BE49-F238E27FC236}">
                <a16:creationId xmlns:a16="http://schemas.microsoft.com/office/drawing/2014/main" id="{BB12CD7C-9D87-4960-AB63-C8DFB1C3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Requirements and code</a:t>
            </a:r>
          </a:p>
        </p:txBody>
      </p:sp>
      <p:sp>
        <p:nvSpPr>
          <p:cNvPr id="4" name="明確的輸入、輸出與操作方式。">
            <a:extLst xmlns:a="http://schemas.openxmlformats.org/drawingml/2006/main">
              <a:ext uri="{FF2B5EF4-FFF2-40B4-BE49-F238E27FC236}">
                <a16:creationId xmlns:a16="http://schemas.microsoft.com/office/drawing/2014/main" id="{5F9DFA2D-B1B5-4C5C-91B8-92A8ECD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Clear usage scenarios, functional scope and runnable source code.</a:t>
            </a:r>
          </a:p>
        </p:txBody>
      </p:sp>
      <p:sp>
        <p:nvSpPr>
          <p:cNvPr id="5" name="使用文件">
            <a:extLst xmlns:a="http://schemas.openxmlformats.org/drawingml/2006/main">
              <a:ext uri="{FF2B5EF4-FFF2-40B4-BE49-F238E27FC236}">
                <a16:creationId xmlns:a16="http://schemas.microsoft.com/office/drawing/2014/main" id="{00EC3EB3-46DC-4C01-9ACB-D6DB3130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Design documentation</a:t>
            </a:r>
          </a:p>
        </p:txBody>
      </p:sp>
      <p:sp>
        <p:nvSpPr>
          <p:cNvPr id="6" name="安裝方式、最小範例與限制。">
            <a:extLst xmlns:a="http://schemas.openxmlformats.org/drawingml/2006/main">
              <a:ext uri="{FF2B5EF4-FFF2-40B4-BE49-F238E27FC236}">
                <a16:creationId xmlns:a16="http://schemas.microsoft.com/office/drawing/2014/main" id="{4F735FE3-BE30-420A-984F-09DED2A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UML that matches the code, plus one SOLID principle
or design pattern and the problem it solves.</a:t>
            </a:r>
          </a:p>
        </p:txBody>
      </p:sp>
      <p:sp>
        <p:nvSpPr>
          <p:cNvPr id="7" name="測試">
            <a:extLst xmlns:a="http://schemas.openxmlformats.org/drawingml/2006/main">
              <a:ext uri="{FF2B5EF4-FFF2-40B4-BE49-F238E27FC236}">
                <a16:creationId xmlns:a16="http://schemas.microsoft.com/office/drawing/2014/main" id="{3F1C1190-D0CB-4BDC-9E0B-10D79855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Tests and reflection</a:t>
            </a:r>
          </a:p>
        </p:txBody>
      </p:sp>
      <p:sp>
        <p:nvSpPr>
          <p:cNvPr id="8" name="正常、邊界與錯誤情境。">
            <a:extLst xmlns:a="http://schemas.openxmlformats.org/drawingml/2006/main">
              <a:ext uri="{FF2B5EF4-FFF2-40B4-BE49-F238E27FC236}">
                <a16:creationId xmlns:a16="http://schemas.microsoft.com/office/drawing/2014/main" id="{F5623F99-3FEA-42BF-82F6-AFC7503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385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Test cases, results, remaining risks and your personal reflection.</a:t>
            </a:r>
          </a:p>
        </p:txBody>
      </p:sp>
      <p:sp>
        <p:nvSpPr>
          <p:cNvPr id="9" name="發布資訊">
            <a:extLst xmlns:a="http://schemas.openxmlformats.org/drawingml/2006/main">
              <a:ext uri="{FF2B5EF4-FFF2-40B4-BE49-F238E27FC236}">
                <a16:creationId xmlns:a16="http://schemas.microsoft.com/office/drawing/2014/main" id="{42FB417D-D0BC-47D2-818A-BCE1037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Setup and deployment</a:t>
            </a:r>
          </a:p>
        </p:txBody>
      </p:sp>
      <p:sp>
        <p:nvSpPr>
          <p:cNvPr id="10" name="版本、相依需求、授權與更新紀錄。">
            <a:extLst xmlns:a="http://schemas.openxmlformats.org/drawingml/2006/main">
              <a:ext uri="{FF2B5EF4-FFF2-40B4-BE49-F238E27FC236}">
                <a16:creationId xmlns:a16="http://schemas.microsoft.com/office/drawing/2014/main" id="{A57DE241-8107-4E0D-9D4B-91E6341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815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README, version history, and a URL or complete startup instructions.</a:t>
            </a:r>
          </a:p>
        </p:txBody>
      </p:sp>
    </p:spTree>
    <p:extLst>
      <p:ext uri="{BB962C8B-B14F-4D97-AF65-F5344CB8AC3E}">
        <p14:creationId xmlns:p14="http://schemas.microsoft.com/office/powerpoint/2010/main" val="6062845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套件發布與修正">
            <a:extLst xmlns:a="http://schemas.openxmlformats.org/drawingml/2006/main">
              <a:ext uri="{FF2B5EF4-FFF2-40B4-BE49-F238E27FC236}">
                <a16:creationId xmlns:a16="http://schemas.microsoft.com/office/drawing/2014/main" id="{3CD61242-4CFA-408E-944D-337A974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The individual project workflow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8042A101-3175-4C61-92C1-F0F5125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ADC5E43-351A-4E29-80E9-93B12B3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完成基本功能">
            <a:extLst xmlns:a="http://schemas.openxmlformats.org/drawingml/2006/main">
              <a:ext uri="{FF2B5EF4-FFF2-40B4-BE49-F238E27FC236}">
                <a16:creationId xmlns:a16="http://schemas.microsoft.com/office/drawing/2014/main" id="{388A267C-2B7B-4EDB-8885-3363595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621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Define the problem</a:t>
            </a:r>
          </a:p>
        </p:txBody>
      </p:sp>
      <p:sp>
        <p:nvSpPr>
          <p:cNvPr id="5" name="先在本機驗證用途與公開介面">
            <a:extLst xmlns:a="http://schemas.openxmlformats.org/drawingml/2006/main">
              <a:ext uri="{FF2B5EF4-FFF2-40B4-BE49-F238E27FC236}">
                <a16:creationId xmlns:a16="http://schemas.microsoft.com/office/drawing/2014/main" id="{38101E2B-E284-47AB-983F-C185D50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977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Identify users, scenarios and verifiable requirements.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861938AF-328B-499D-B89C-3CEEA88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補上文件與測試">
            <a:extLst xmlns:a="http://schemas.openxmlformats.org/drawingml/2006/main">
              <a:ext uri="{FF2B5EF4-FFF2-40B4-BE49-F238E27FC236}">
                <a16:creationId xmlns:a16="http://schemas.microsoft.com/office/drawing/2014/main" id="{E769E7CA-DA2A-44AB-ACD5-42489EC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956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Model objects and APIs</a:t>
            </a:r>
          </a:p>
        </p:txBody>
      </p:sp>
      <p:sp>
        <p:nvSpPr>
          <p:cNvPr id="8" name="讓同學知道怎麼用、怎麼判斷結果">
            <a:extLst xmlns:a="http://schemas.openxmlformats.org/drawingml/2006/main">
              <a:ext uri="{FF2B5EF4-FFF2-40B4-BE49-F238E27FC236}">
                <a16:creationId xmlns:a16="http://schemas.microsoft.com/office/drawing/2014/main" id="{74102C40-3334-4747-891C-25333AA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4322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Explain responsibilities, UML and interaction flows.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04124A66-D8E3-407A-BD68-8B1BBB3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發布到 TestPyPI">
            <a:extLst xmlns:a="http://schemas.openxmlformats.org/drawingml/2006/main">
              <a:ext uri="{FF2B5EF4-FFF2-40B4-BE49-F238E27FC236}">
                <a16:creationId xmlns:a16="http://schemas.microsoft.com/office/drawing/2014/main" id="{F6FD852F-6FF1-487F-B23F-44AE490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290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Build and test</a:t>
            </a:r>
          </a:p>
        </p:txBody>
      </p:sp>
      <p:sp>
        <p:nvSpPr>
          <p:cNvPr id="11" name="練習安裝與同儕試用">
            <a:extLst xmlns:a="http://schemas.openxmlformats.org/drawingml/2006/main">
              <a:ext uri="{FF2B5EF4-FFF2-40B4-BE49-F238E27FC236}">
                <a16:creationId xmlns:a16="http://schemas.microsoft.com/office/drawing/2014/main" id="{75BA1797-184E-4584-843F-C805C304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Test normal, boundary and failure cases, then refactor.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72E15F7F-FE93-4A72-8798-B03C5B9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修正並發布到 PyPI">
            <a:extLst xmlns:a="http://schemas.openxmlformats.org/drawingml/2006/main">
              <a:ext uri="{FF2B5EF4-FFF2-40B4-BE49-F238E27FC236}">
                <a16:creationId xmlns:a16="http://schemas.microsoft.com/office/drawing/2014/main" id="{BD1BD069-39EF-4BA6-A507-CFAE02E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7625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Review, present and deliver</a:t>
            </a:r>
          </a:p>
        </p:txBody>
      </p:sp>
      <p:sp>
        <p:nvSpPr>
          <p:cNvPr id="14" name="回應使用回饋，保留版本紀錄">
            <a:extLst xmlns:a="http://schemas.openxmlformats.org/drawingml/2006/main">
              <a:ext uri="{FF2B5EF4-FFF2-40B4-BE49-F238E27FC236}">
                <a16:creationId xmlns:a16="http://schemas.microsoft.com/office/drawing/2014/main" id="{B302EC46-936C-4086-93AA-5CC6799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0125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Week 17: design review.
Week 18: complete the required deliverables.</a:t>
            </a:r>
          </a:p>
        </p:txBody>
      </p:sp>
    </p:spTree>
    <p:extLst>
      <p:ext uri="{BB962C8B-B14F-4D97-AF65-F5344CB8AC3E}">
        <p14:creationId xmlns:p14="http://schemas.microsoft.com/office/powerpoint/2010/main" val="1239881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同學能用，就是重要的驗收">
            <a:extLst xmlns:a="http://schemas.openxmlformats.org/drawingml/2006/main">
              <a:ext uri="{FF2B5EF4-FFF2-40B4-BE49-F238E27FC236}">
                <a16:creationId xmlns:a16="http://schemas.microsoft.com/office/drawing/2014/main" id="{BE12F62C-6B32-441D-8CBC-382970E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Reproducibility is part of acceptance</a:t>
            </a:r>
            <a:endParaRPr sz="3300" b="1">
              <a:solidFill>
                <a:srgbClr val="F7F4ED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39776095-24EC-46EB-A1E6-DBC954C9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乾淨環境安裝 閱讀 README 呼叫公開介面">
            <a:extLst xmlns:a="http://schemas.openxmlformats.org/drawingml/2006/main">
              <a:ext uri="{FF2B5EF4-FFF2-40B4-BE49-F238E27FC236}">
                <a16:creationId xmlns:a16="http://schemas.microsoft.com/office/drawing/2014/main" id="{1216690C-267F-4AB5-BBE3-953C2C3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43100"/>
            <a:ext cx="10382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Start in a clean environment using the README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Complete the main use cases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Run the tests and check the results</a:t>
            </a:r>
          </a:p>
        </p:txBody>
      </p:sp>
      <p:sp>
        <p:nvSpPr>
          <p:cNvPr id="4" name="作者不代操作，同學不修改套件原始碼。 使用上的困難，成為下一個版本的改進依據。">
            <a:extLst xmlns:a="http://schemas.openxmlformats.org/drawingml/2006/main">
              <a:ext uri="{FF2B5EF4-FFF2-40B4-BE49-F238E27FC236}">
                <a16:creationId xmlns:a16="http://schemas.microsoft.com/office/drawing/2014/main" id="{6461A250-51DE-43D5-A9A2-CB94E480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76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16285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jango 與 MiniClaw 的分工">
            <a:extLst xmlns:a="http://schemas.openxmlformats.org/drawingml/2006/main">
              <a:ext uri="{FF2B5EF4-FFF2-40B4-BE49-F238E27FC236}">
                <a16:creationId xmlns:a16="http://schemas.microsoft.com/office/drawing/2014/main" id="{BAE173AD-E51A-4F3D-92D5-5275D7E2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Integration example: Django and MiniClaw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DCE9A6FA-CB18-49FC-926D-1D0548F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17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e48d6c77341a5"/>
          <a:srcRect xmlns:a="http://schemas.openxmlformats.org/drawingml/2006/main" l="0" t="20137" r="0" b="20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" y="1638300"/>
            <a:ext cx="1133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LLM 模型">
            <a:extLst xmlns:a="http://schemas.openxmlformats.org/drawingml/2006/main">
              <a:ext uri="{FF2B5EF4-FFF2-40B4-BE49-F238E27FC236}">
                <a16:creationId xmlns:a16="http://schemas.microsoft.com/office/drawing/2014/main" id="{CC3B7B66-A108-4317-9C28-99450A5E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287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LLM</a:t>
            </a:r>
          </a:p>
        </p:txBody>
      </p:sp>
      <p:sp>
        <p:nvSpPr>
          <p:cNvPr id="5" name="Django 網頁">
            <a:extLst xmlns:a="http://schemas.openxmlformats.org/drawingml/2006/main">
              <a:ext uri="{FF2B5EF4-FFF2-40B4-BE49-F238E27FC236}">
                <a16:creationId xmlns:a16="http://schemas.microsoft.com/office/drawing/2014/main" id="{507433A6-0158-4328-A4FD-8B3D90F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Django web app</a:t>
            </a:r>
          </a:p>
        </p:txBody>
      </p:sp>
      <p:sp>
        <p:nvSpPr>
          <p:cNvPr id="6" name="接收輸入、顯示結果">
            <a:extLst xmlns:a="http://schemas.openxmlformats.org/drawingml/2006/main">
              <a:ext uri="{FF2B5EF4-FFF2-40B4-BE49-F238E27FC236}">
                <a16:creationId xmlns:a16="http://schemas.microsoft.com/office/drawing/2014/main" id="{E2F0663D-91BD-4E23-A72B-D3F4303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57875"/>
            <a:ext cx="2628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Accept input,
display results</a:t>
            </a:r>
          </a:p>
        </p:txBody>
      </p:sp>
      <p:sp>
        <p:nvSpPr>
          <p:cNvPr id="7" name="助理核心">
            <a:extLst xmlns:a="http://schemas.openxmlformats.org/drawingml/2006/main">
              <a:ext uri="{FF2B5EF4-FFF2-40B4-BE49-F238E27FC236}">
                <a16:creationId xmlns:a16="http://schemas.microsoft.com/office/drawing/2014/main" id="{8B7AD7D9-472D-4800-B368-68FA4A5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02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Assistant core</a:t>
            </a:r>
          </a:p>
        </p:txBody>
      </p:sp>
      <p:sp>
        <p:nvSpPr>
          <p:cNvPr id="8" name="協調模型與工具">
            <a:extLst xmlns:a="http://schemas.openxmlformats.org/drawingml/2006/main">
              <a:ext uri="{FF2B5EF4-FFF2-40B4-BE49-F238E27FC236}">
                <a16:creationId xmlns:a16="http://schemas.microsoft.com/office/drawing/2014/main" id="{4A499FBA-448C-4D7C-B418-3C6CE0E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57875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Coordinate the model
and tools</a:t>
            </a:r>
          </a:p>
        </p:txBody>
      </p:sp>
      <p:sp>
        <p:nvSpPr>
          <p:cNvPr id="9" name="Python 套件">
            <a:extLst xmlns:a="http://schemas.openxmlformats.org/drawingml/2006/main">
              <a:ext uri="{FF2B5EF4-FFF2-40B4-BE49-F238E27FC236}">
                <a16:creationId xmlns:a16="http://schemas.microsoft.com/office/drawing/2014/main" id="{3295A853-4ED1-4BA1-81D3-D497E7C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102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Python package</a:t>
            </a:r>
          </a:p>
        </p:txBody>
      </p:sp>
      <p:sp>
        <p:nvSpPr>
          <p:cNvPr id="10" name="執行具體功能">
            <a:extLst xmlns:a="http://schemas.openxmlformats.org/drawingml/2006/main">
              <a:ext uri="{FF2B5EF4-FFF2-40B4-BE49-F238E27FC236}">
                <a16:creationId xmlns:a16="http://schemas.microsoft.com/office/drawing/2014/main" id="{CE58E52E-7AD3-4269-8559-CFF15A9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57875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Run specific
operations</a:t>
            </a:r>
          </a:p>
        </p:txBody>
      </p:sp>
      <p:sp>
        <p:nvSpPr>
          <p:cNvPr id="11" name="資料庫">
            <a:extLst xmlns:a="http://schemas.openxmlformats.org/drawingml/2006/main">
              <a:ext uri="{FF2B5EF4-FFF2-40B4-BE49-F238E27FC236}">
                <a16:creationId xmlns:a16="http://schemas.microsoft.com/office/drawing/2014/main" id="{021D5986-123E-4C8B-B5E1-0628AFE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102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Database</a:t>
            </a:r>
          </a:p>
        </p:txBody>
      </p:sp>
      <p:sp>
        <p:nvSpPr>
          <p:cNvPr id="12" name="保存資料與紀錄">
            <a:extLst xmlns:a="http://schemas.openxmlformats.org/drawingml/2006/main">
              <a:ext uri="{FF2B5EF4-FFF2-40B4-BE49-F238E27FC236}">
                <a16:creationId xmlns:a16="http://schemas.microsoft.com/office/drawing/2014/main" id="{9BFE0771-7239-45D8-9E13-C9520261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57875"/>
            <a:ext cx="2209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Store data and logs</a:t>
            </a:r>
          </a:p>
        </p:txBody>
      </p:sp>
    </p:spTree>
    <p:extLst>
      <p:ext uri="{BB962C8B-B14F-4D97-AF65-F5344CB8AC3E}">
        <p14:creationId xmlns:p14="http://schemas.microsoft.com/office/powerpoint/2010/main" val="7032777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jango 讓作品成為網站">
            <a:extLst xmlns:a="http://schemas.openxmlformats.org/drawingml/2006/main">
              <a:ext uri="{FF2B5EF4-FFF2-40B4-BE49-F238E27FC236}">
                <a16:creationId xmlns:a16="http://schemas.microsoft.com/office/drawing/2014/main" id="{8F91C909-9B3C-4309-BD1C-FCEBF9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Web and AI: supplementary integration</a:t>
            </a:r>
          </a:p>
        </p:txBody>
      </p:sp>
      <p:sp>
        <p:nvSpPr>
          <p:cNvPr id="2" name="網站平台與核心功能各有責任。">
            <a:extLst xmlns:a="http://schemas.openxmlformats.org/drawingml/2006/main">
              <a:ext uri="{FF2B5EF4-FFF2-40B4-BE49-F238E27FC236}">
                <a16:creationId xmlns:a16="http://schemas.microsoft.com/office/drawing/2014/main" id="{B06865B1-5036-4EA0-BB7B-E3CC9A2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Week 15: web and databases. Week 16: LLM integration and Linux deployment.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5BCE64EC-A93C-49E0-9D23-4412D4C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Django 負責">
            <a:extLst xmlns:a="http://schemas.openxmlformats.org/drawingml/2006/main">
              <a:ext uri="{FF2B5EF4-FFF2-40B4-BE49-F238E27FC236}">
                <a16:creationId xmlns:a16="http://schemas.microsoft.com/office/drawing/2014/main" id="{F8FCE2E6-F097-42E9-B7DA-E001B168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Platforms and external services</a:t>
            </a:r>
          </a:p>
        </p:txBody>
      </p:sp>
      <p:sp>
        <p:nvSpPr>
          <p:cNvPr id="5" name="網頁請求與畫面 使用者登入 資料保存與管理">
            <a:extLst xmlns:a="http://schemas.openxmlformats.org/drawingml/2006/main">
              <a:ext uri="{FF2B5EF4-FFF2-40B4-BE49-F238E27FC236}">
                <a16:creationId xmlns:a16="http://schemas.microsoft.com/office/drawing/2014/main" id="{67414D85-26DB-4684-A392-0A29FD9A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Django web app and database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Cloud APIs or Ollama models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Linux environment and deployment</a:t>
            </a:r>
          </a:p>
        </p:txBody>
      </p:sp>
      <p:sp>
        <p:nvSpPr>
          <p:cNvPr id="6" name="你設計的核心">
            <a:extLst xmlns:a="http://schemas.openxmlformats.org/drawingml/2006/main">
              <a:ext uri="{FF2B5EF4-FFF2-40B4-BE49-F238E27FC236}">
                <a16:creationId xmlns:a16="http://schemas.microsoft.com/office/drawing/2014/main" id="{F211364B-77DD-420D-9101-57083CC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62175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The core you design</a:t>
            </a:r>
          </a:p>
        </p:txBody>
      </p:sp>
      <p:sp>
        <p:nvSpPr>
          <p:cNvPr id="7" name="工具操作規則 助理與模型的協作 可獨立執行的測試">
            <a:extLst xmlns:a="http://schemas.openxmlformats.org/drawingml/2006/main">
              <a:ext uri="{FF2B5EF4-FFF2-40B4-BE49-F238E27FC236}">
                <a16:creationId xmlns:a16="http://schemas.microsoft.com/office/drawing/2014/main" id="{4C766374-C06C-48BF-97A5-F5BE8A6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67050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Object responsibilities and domain rules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Replaceable providers and services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Tests that run independently</a:t>
            </a:r>
          </a:p>
        </p:txBody>
      </p:sp>
      <p:sp>
        <p:nvSpPr>
          <p:cNvPr id="8" name="同一套核心，先從命令列使用，再接上網頁。">
            <a:extLst xmlns:a="http://schemas.openxmlformats.org/drawingml/2006/main">
              <a:ext uri="{FF2B5EF4-FFF2-40B4-BE49-F238E27FC236}">
                <a16:creationId xmlns:a16="http://schemas.microsoft.com/office/drawing/2014/main" id="{A317511A-D61E-4525-A7E9-8DEEFD4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Choose integrations to suit your topic. The core logic should work independently first.</a:t>
            </a:r>
          </a:p>
        </p:txBody>
      </p:sp>
    </p:spTree>
    <p:extLst>
      <p:ext uri="{BB962C8B-B14F-4D97-AF65-F5344CB8AC3E}">
        <p14:creationId xmlns:p14="http://schemas.microsoft.com/office/powerpoint/2010/main" val="1372574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開發工具全貌">
            <a:extLst xmlns:a="http://schemas.openxmlformats.org/drawingml/2006/main">
              <a:ext uri="{FF2B5EF4-FFF2-40B4-BE49-F238E27FC236}">
                <a16:creationId xmlns:a16="http://schemas.microsoft.com/office/drawing/2014/main" id="{5013B04A-4CEE-4936-927C-49E4C891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Development tools at a glance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BB2CD2EA-E658-4C67-9C71-F1A509C1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8" name="表格 5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305300"/>
                <a:gridCol w="4305300"/>
              </a:tblGrid>
              <a:tr h="7581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Coding and</a:t>
                      </a:r>
                    </a:p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debugging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Python, editor and debugger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Inspect code and object state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Analysis and</a:t>
                      </a:r>
                    </a:p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design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UML and CRC cards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Express responsibilities,</a:t>
                      </a: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relationships and interactions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Versioning and</a:t>
                      </a:r>
                    </a:p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quality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Git, testing and type-checking tools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Track changes and verify behavior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Delivery and</a:t>
                      </a:r>
                    </a:p>
                    <a:p>
                      <a:r>
                        <a:rPr sz="180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integration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packages, web apps</a:t>
                      </a: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and model services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Reproduce results and connect</a:t>
                      </a: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external capabilities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56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2">
            <a:extLst xmlns:a="http://schemas.openxmlformats.org/drawingml/2006/main">
              <a:ext uri="{FF2B5EF4-FFF2-40B4-BE49-F238E27FC236}">
                <a16:creationId xmlns:a16="http://schemas.microsoft.com/office/drawing/2014/main" id="{A65243F2-E2A0-4738-85FB-EF65B664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fa097028444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你的工具構想">
            <a:extLst xmlns:a="http://schemas.openxmlformats.org/drawingml/2006/main">
              <a:ext uri="{FF2B5EF4-FFF2-40B4-BE49-F238E27FC236}">
                <a16:creationId xmlns:a16="http://schemas.microsoft.com/office/drawing/2014/main" id="{DDDA2A20-A42D-4F17-9951-B01FB68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Your project idea</a:t>
            </a:r>
          </a:p>
        </p:txBody>
      </p:sp>
      <p:sp>
        <p:nvSpPr>
          <p:cNvPr id="4" name="你想讓自己的助理 多具備哪一種能力？">
            <a:extLst xmlns:a="http://schemas.openxmlformats.org/drawingml/2006/main">
              <a:ext uri="{FF2B5EF4-FFF2-40B4-BE49-F238E27FC236}">
                <a16:creationId xmlns:a16="http://schemas.microsoft.com/office/drawing/2014/main" id="{3DBF4626-7876-4D0F-AD1A-614FA087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What problem would you solve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with object-oriented design?</a:t>
            </a:r>
          </a:p>
        </p:txBody>
      </p:sp>
      <p:sp>
        <p:nvSpPr>
          <p:cNvPr id="5" name="從課業、實驗室或生活中的 一個具體問題開始。">
            <a:extLst xmlns:a="http://schemas.openxmlformats.org/drawingml/2006/main">
              <a:ext uri="{FF2B5EF4-FFF2-40B4-BE49-F238E27FC236}">
                <a16:creationId xmlns:a16="http://schemas.microsoft.com/office/drawing/2014/main" id="{8F73EA2E-5447-4DB5-AE53-BE009A31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6235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Start with a specific problem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in your studies, lab work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or daily life.</a:t>
            </a:r>
          </a:p>
        </p:txBody>
      </p:sp>
      <p:sp>
        <p:nvSpPr>
          <p:cNvPr id="6" name="想一想，再與鄰座交流。">
            <a:extLst xmlns:a="http://schemas.openxmlformats.org/drawingml/2006/main">
              <a:ext uri="{FF2B5EF4-FFF2-40B4-BE49-F238E27FC236}">
                <a16:creationId xmlns:a16="http://schemas.microsoft.com/office/drawing/2014/main" id="{105BEFA7-D989-45F1-8D22-13E38F1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endParaRPr sz="1950" b="0">
              <a:solidFill>
                <a:srgbClr val="5B6D73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757249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個值得實作的需求">
            <a:extLst xmlns:a="http://schemas.openxmlformats.org/drawingml/2006/main">
              <a:ext uri="{FF2B5EF4-FFF2-40B4-BE49-F238E27FC236}">
                <a16:creationId xmlns:a16="http://schemas.microsoft.com/office/drawing/2014/main" id="{9DFE4D62-19EC-4354-ABFE-141E359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 requirement worth implementing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02D4F4B7-423D-44D9-8ED4-1FEE845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使用者">
            <a:extLst xmlns:a="http://schemas.openxmlformats.org/drawingml/2006/main">
              <a:ext uri="{FF2B5EF4-FFF2-40B4-BE49-F238E27FC236}">
                <a16:creationId xmlns:a16="http://schemas.microsoft.com/office/drawing/2014/main" id="{270126D1-99CB-460C-905B-C6AFD73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User</a:t>
            </a:r>
          </a:p>
        </p:txBody>
      </p:sp>
      <p:sp>
        <p:nvSpPr>
          <p:cNvPr id="4" name="誰會用？現在遇到什麼問題？">
            <a:extLst xmlns:a="http://schemas.openxmlformats.org/drawingml/2006/main">
              <a:ext uri="{FF2B5EF4-FFF2-40B4-BE49-F238E27FC236}">
                <a16:creationId xmlns:a16="http://schemas.microsoft.com/office/drawing/2014/main" id="{C0F70B9A-34F2-4535-A1DA-5F2187E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716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Who will use it? What problem do they face?</a:t>
            </a:r>
          </a:p>
        </p:txBody>
      </p:sp>
      <p:sp>
        <p:nvSpPr>
          <p:cNvPr id="5" name="要求">
            <a:extLst xmlns:a="http://schemas.openxmlformats.org/drawingml/2006/main">
              <a:ext uri="{FF2B5EF4-FFF2-40B4-BE49-F238E27FC236}">
                <a16:creationId xmlns:a16="http://schemas.microsoft.com/office/drawing/2014/main" id="{8DB4BE20-15FC-404B-A57E-B72E4E2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Request</a:t>
            </a:r>
          </a:p>
        </p:txBody>
      </p:sp>
      <p:sp>
        <p:nvSpPr>
          <p:cNvPr id="6" name="使用者會怎麼說？">
            <a:extLst xmlns:a="http://schemas.openxmlformats.org/drawingml/2006/main">
              <a:ext uri="{FF2B5EF4-FFF2-40B4-BE49-F238E27FC236}">
                <a16:creationId xmlns:a16="http://schemas.microsoft.com/office/drawing/2014/main" id="{B63F6073-7B28-406A-B596-3B584F3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How would the user ask for it?</a:t>
            </a:r>
          </a:p>
        </p:txBody>
      </p:sp>
      <p:sp>
        <p:nvSpPr>
          <p:cNvPr id="7" name="資料">
            <a:extLst xmlns:a="http://schemas.openxmlformats.org/drawingml/2006/main">
              <a:ext uri="{FF2B5EF4-FFF2-40B4-BE49-F238E27FC236}">
                <a16:creationId xmlns:a16="http://schemas.microsoft.com/office/drawing/2014/main" id="{CA3AF99F-0583-4746-8476-C3616EB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Data</a:t>
            </a:r>
          </a:p>
        </p:txBody>
      </p:sp>
      <p:sp>
        <p:nvSpPr>
          <p:cNvPr id="8" name="需要讀取或改變哪些資訊？">
            <a:extLst xmlns:a="http://schemas.openxmlformats.org/drawingml/2006/main">
              <a:ext uri="{FF2B5EF4-FFF2-40B4-BE49-F238E27FC236}">
                <a16:creationId xmlns:a16="http://schemas.microsoft.com/office/drawing/2014/main" id="{F0A43ABE-FEC2-42A0-99BD-4ACCCEB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385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What information must it read or change?</a:t>
            </a:r>
          </a:p>
        </p:txBody>
      </p:sp>
      <p:sp>
        <p:nvSpPr>
          <p:cNvPr id="9" name="失敗情境">
            <a:extLst xmlns:a="http://schemas.openxmlformats.org/drawingml/2006/main">
              <a:ext uri="{FF2B5EF4-FFF2-40B4-BE49-F238E27FC236}">
                <a16:creationId xmlns:a16="http://schemas.microsoft.com/office/drawing/2014/main" id="{F1B3D73B-6750-4C72-B4F0-E1701084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Failure scenarios</a:t>
            </a:r>
          </a:p>
        </p:txBody>
      </p:sp>
      <p:sp>
        <p:nvSpPr>
          <p:cNvPr id="10" name="什麼情況可能無法完成？">
            <a:extLst xmlns:a="http://schemas.openxmlformats.org/drawingml/2006/main">
              <a:ext uri="{FF2B5EF4-FFF2-40B4-BE49-F238E27FC236}">
                <a16:creationId xmlns:a16="http://schemas.microsoft.com/office/drawing/2014/main" id="{A7DCA6C0-9AA1-4A6D-AD16-4A9600E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720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What could prevent the task from succeeding?</a:t>
            </a:r>
          </a:p>
        </p:txBody>
      </p:sp>
    </p:spTree>
    <p:extLst>
      <p:ext uri="{BB962C8B-B14F-4D97-AF65-F5344CB8AC3E}">
        <p14:creationId xmlns:p14="http://schemas.microsoft.com/office/powerpoint/2010/main" val="5885203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課程評量">
            <a:extLst xmlns:a="http://schemas.openxmlformats.org/drawingml/2006/main">
              <a:ext uri="{FF2B5EF4-FFF2-40B4-BE49-F238E27FC236}">
                <a16:creationId xmlns:a16="http://schemas.microsoft.com/office/drawing/2014/main" id="{408AB78A-DA64-4793-9056-B20829FF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Course assessment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EC96D8F9-D621-4012-A166-2B340339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30%">
            <a:extLst xmlns:a="http://schemas.openxmlformats.org/drawingml/2006/main">
              <a:ext uri="{FF2B5EF4-FFF2-40B4-BE49-F238E27FC236}">
                <a16:creationId xmlns:a16="http://schemas.microsoft.com/office/drawing/2014/main" id="{80019E59-8BAD-4E54-831B-DD9166D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4" name="出席及平時成績">
            <a:extLst xmlns:a="http://schemas.openxmlformats.org/drawingml/2006/main">
              <a:ext uri="{FF2B5EF4-FFF2-40B4-BE49-F238E27FC236}">
                <a16:creationId xmlns:a16="http://schemas.microsoft.com/office/drawing/2014/main" id="{64030BF2-FEAA-46FB-9E94-603C5BF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3276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Attendance and
ongoing coursework</a:t>
            </a:r>
          </a:p>
        </p:txBody>
      </p:sp>
      <p:sp>
        <p:nvSpPr>
          <p:cNvPr id="5" name="30%">
            <a:extLst xmlns:a="http://schemas.openxmlformats.org/drawingml/2006/main">
              <a:ext uri="{FF2B5EF4-FFF2-40B4-BE49-F238E27FC236}">
                <a16:creationId xmlns:a16="http://schemas.microsoft.com/office/drawing/2014/main" id="{B71FE668-57CC-4EC6-ADC3-B1FEC1B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6" name="期中考試">
            <a:extLst xmlns:a="http://schemas.openxmlformats.org/drawingml/2006/main">
              <a:ext uri="{FF2B5EF4-FFF2-40B4-BE49-F238E27FC236}">
                <a16:creationId xmlns:a16="http://schemas.microsoft.com/office/drawing/2014/main" id="{BEE49FD1-F329-4DF9-81D4-79245424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Midterm exam</a:t>
            </a:r>
          </a:p>
        </p:txBody>
      </p:sp>
      <p:sp>
        <p:nvSpPr>
          <p:cNvPr id="7" name="40%">
            <a:extLst xmlns:a="http://schemas.openxmlformats.org/drawingml/2006/main">
              <a:ext uri="{FF2B5EF4-FFF2-40B4-BE49-F238E27FC236}">
                <a16:creationId xmlns:a16="http://schemas.microsoft.com/office/drawing/2014/main" id="{0ADDFFAE-7934-46B4-923A-AA4EF99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0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8" name="期末專題">
            <a:extLst xmlns:a="http://schemas.openxmlformats.org/drawingml/2006/main">
              <a:ext uri="{FF2B5EF4-FFF2-40B4-BE49-F238E27FC236}">
                <a16:creationId xmlns:a16="http://schemas.microsoft.com/office/drawing/2014/main" id="{A7B4D364-0C29-45BC-8328-ADEC8AC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81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Final project</a:t>
            </a:r>
          </a:p>
        </p:txBody>
      </p:sp>
      <p:sp>
        <p:nvSpPr>
          <p:cNvPr id="9" name="第九週期中筆試。 套件作業、分組方式與細部評分標準另行公告。">
            <a:extLst xmlns:a="http://schemas.openxmlformats.org/drawingml/2006/main">
              <a:ext uri="{FF2B5EF4-FFF2-40B4-BE49-F238E27FC236}">
                <a16:creationId xmlns:a16="http://schemas.microsoft.com/office/drawing/2014/main" id="{2FEE31A5-BD23-4710-8CB2-A2AD09C2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Written midterm in Week 9.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Assignments and detailed grading criteria will follow.</a:t>
            </a:r>
          </a:p>
        </p:txBody>
      </p:sp>
    </p:spTree>
    <p:extLst>
      <p:ext uri="{BB962C8B-B14F-4D97-AF65-F5344CB8AC3E}">
        <p14:creationId xmlns:p14="http://schemas.microsoft.com/office/powerpoint/2010/main" val="2638932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輔助使用原則">
            <a:extLst xmlns:a="http://schemas.openxmlformats.org/drawingml/2006/main">
              <a:ext uri="{FF2B5EF4-FFF2-40B4-BE49-F238E27FC236}">
                <a16:creationId xmlns:a16="http://schemas.microsoft.com/office/drawing/2014/main" id="{056FA843-E0DE-4327-BB83-8E42DB2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Guidelines for AI assistance</a:t>
            </a:r>
          </a:p>
        </p:txBody>
      </p:sp>
      <p:sp>
        <p:nvSpPr>
          <p:cNvPr id="2" name="26">
            <a:extLst xmlns:a="http://schemas.openxmlformats.org/drawingml/2006/main">
              <a:ext uri="{FF2B5EF4-FFF2-40B4-BE49-F238E27FC236}">
                <a16:creationId xmlns:a16="http://schemas.microsoft.com/office/drawing/2014/main" id="{0A424CD7-DFD7-4425-8FF8-C72C98D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可以協助">
            <a:extLst xmlns:a="http://schemas.openxmlformats.org/drawingml/2006/main">
              <a:ext uri="{FF2B5EF4-FFF2-40B4-BE49-F238E27FC236}">
                <a16:creationId xmlns:a16="http://schemas.microsoft.com/office/drawing/2014/main" id="{B36AFA19-1421-488E-9E61-E6A85B95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AI can help with</a:t>
            </a:r>
          </a:p>
        </p:txBody>
      </p:sp>
      <p:sp>
        <p:nvSpPr>
          <p:cNvPr id="4" name="理解概念與程式 除錯、比較方案 提出測試情境">
            <a:extLst xmlns:a="http://schemas.openxmlformats.org/drawingml/2006/main">
              <a:ext uri="{FF2B5EF4-FFF2-40B4-BE49-F238E27FC236}">
                <a16:creationId xmlns:a16="http://schemas.microsoft.com/office/drawing/2014/main" id="{B7857B4D-B30C-4FFE-B8FE-44E5A0A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Understanding concepts and code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Debugging and comparing approaches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Suggesting test scenarios</a:t>
            </a:r>
          </a:p>
        </p:txBody>
      </p:sp>
      <p:sp>
        <p:nvSpPr>
          <p:cNvPr id="5" name="提交者的責任">
            <a:extLst xmlns:a="http://schemas.openxmlformats.org/drawingml/2006/main">
              <a:ext uri="{FF2B5EF4-FFF2-40B4-BE49-F238E27FC236}">
                <a16:creationId xmlns:a16="http://schemas.microsoft.com/office/drawing/2014/main" id="{AA85E9A0-A807-4487-BD86-CF4A299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71700"/>
            <a:ext cx="526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Your responsibilities</a:t>
            </a:r>
          </a:p>
        </p:txBody>
      </p:sp>
      <p:sp>
        <p:nvSpPr>
          <p:cNvPr id="6" name="說明程式如何運作 驗證結果與限制 完成指定修改">
            <a:extLst xmlns:a="http://schemas.openxmlformats.org/drawingml/2006/main">
              <a:ext uri="{FF2B5EF4-FFF2-40B4-BE49-F238E27FC236}">
                <a16:creationId xmlns:a16="http://schemas.microsoft.com/office/drawing/2014/main" id="{D7A2A52A-FB9B-4F5A-9011-CCC8E89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76575"/>
            <a:ext cx="52673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Explain how the code works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Verify results and limitations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Make the required changes</a:t>
            </a:r>
          </a:p>
        </p:txBody>
      </p:sp>
      <p:sp>
        <p:nvSpPr>
          <p:cNvPr id="7" name="作業簡述 AI 協助的部分，以及你如何檢查結果。">
            <a:extLst xmlns:a="http://schemas.openxmlformats.org/drawingml/2006/main">
              <a:ext uri="{FF2B5EF4-FFF2-40B4-BE49-F238E27FC236}">
                <a16:creationId xmlns:a16="http://schemas.microsoft.com/office/drawing/2014/main" id="{2FE6547C-66C2-464D-8B5E-346CEF2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endParaRPr sz="2100" b="0">
              <a:solidFill>
                <a:srgbClr val="88D1C4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755361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教材與課程聯繫">
            <a:extLst xmlns:a="http://schemas.openxmlformats.org/drawingml/2006/main">
              <a:ext uri="{FF2B5EF4-FFF2-40B4-BE49-F238E27FC236}">
                <a16:creationId xmlns:a16="http://schemas.microsoft.com/office/drawing/2014/main" id="{75330A73-1C93-4950-8345-31C96105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Course materials and contact</a:t>
            </a:r>
          </a:p>
        </p:txBody>
      </p:sp>
      <p:sp>
        <p:nvSpPr>
          <p:cNvPr id="2" name="27">
            <a:extLst xmlns:a="http://schemas.openxmlformats.org/drawingml/2006/main">
              <a:ext uri="{FF2B5EF4-FFF2-40B4-BE49-F238E27FC236}">
                <a16:creationId xmlns:a16="http://schemas.microsoft.com/office/drawing/2014/main" id="{4AA800BE-0894-410D-91C7-26A4626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" name="課程教材網站">
            <a:extLst xmlns:a="http://schemas.openxmlformats.org/drawingml/2006/main">
              <a:ext uri="{FF2B5EF4-FFF2-40B4-BE49-F238E27FC236}">
                <a16:creationId xmlns:a16="http://schemas.microsoft.com/office/drawing/2014/main" id="{6E54E5C1-0662-488C-8B02-483BA5F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Course materials</a:t>
            </a:r>
          </a:p>
        </p:txBody>
      </p:sp>
      <p:sp>
        <p:nvSpPr>
          <p:cNvPr id="4" name="minhuangyuntech.github.io/oo2026">
            <a:extLst xmlns:a="http://schemas.openxmlformats.org/drawingml/2006/main">
              <a:ext uri="{FF2B5EF4-FFF2-40B4-BE49-F238E27FC236}">
                <a16:creationId xmlns:a16="http://schemas.microsoft.com/office/drawing/2014/main" id="{1B966EB6-AAEE-4BCE-BE0C-540EB9FC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2fce2d5fb974243"/>
              </a:rPr>
              <a:t>https://</a:t>
            </a: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80e7af5f143d4f0d"/>
              </a:rPr>
              <a:t>minhuangyuntech.github.io/oo2026</a:t>
            </a:r>
          </a:p>
        </p:txBody>
      </p:sp>
      <p:sp>
        <p:nvSpPr>
          <p:cNvPr id="5" name="課程平台">
            <a:extLst xmlns:a="http://schemas.openxmlformats.org/drawingml/2006/main">
              <a:ext uri="{FF2B5EF4-FFF2-40B4-BE49-F238E27FC236}">
                <a16:creationId xmlns:a16="http://schemas.microsoft.com/office/drawing/2014/main" id="{537AFF1E-7508-4A84-8466-2A749B8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Course platform</a:t>
            </a:r>
          </a:p>
        </p:txBody>
      </p:sp>
      <p:sp>
        <p:nvSpPr>
          <p:cNvPr id="6" name="eclass.yuntech.edu.tw">
            <a:extLst xmlns:a="http://schemas.openxmlformats.org/drawingml/2006/main">
              <a:ext uri="{FF2B5EF4-FFF2-40B4-BE49-F238E27FC236}">
                <a16:creationId xmlns:a16="http://schemas.microsoft.com/office/drawing/2014/main" id="{7905FBF9-89D6-42E3-BF4B-C4648B4B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21a8a61d88d64d4c"/>
              </a:rPr>
              <a:t>https://</a:t>
            </a:r>
            <a:r>
              <a:rPr sz="24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70343b8c253455d"/>
              </a:rPr>
              <a:t>eclass.yuntech.edu.tw</a:t>
            </a:r>
          </a:p>
        </p:txBody>
      </p:sp>
      <p:sp>
        <p:nvSpPr>
          <p:cNvPr id="7" name="何敏煌　minhuang@yuntech.edu.tw 課業輔導：週三 10:00–12:00，需預約">
            <a:extLst xmlns:a="http://schemas.openxmlformats.org/drawingml/2006/main">
              <a:ext uri="{FF2B5EF4-FFF2-40B4-BE49-F238E27FC236}">
                <a16:creationId xmlns:a16="http://schemas.microsoft.com/office/drawing/2014/main" id="{9A891CC1-4038-400C-BA99-8B5FAAB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Min-Huang Ho   minhuang@yuntech.edu.tw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Office hours: Wednesday 10:00–12:00, by appointment</a:t>
            </a:r>
          </a:p>
        </p:txBody>
      </p:sp>
    </p:spTree>
    <p:extLst>
      <p:ext uri="{BB962C8B-B14F-4D97-AF65-F5344CB8AC3E}">
        <p14:creationId xmlns:p14="http://schemas.microsoft.com/office/powerpoint/2010/main" val="1545292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第二週：物件導向的理論與工具">
            <a:extLst xmlns:a="http://schemas.openxmlformats.org/drawingml/2006/main">
              <a:ext uri="{FF2B5EF4-FFF2-40B4-BE49-F238E27FC236}">
                <a16:creationId xmlns:a16="http://schemas.microsoft.com/office/drawing/2014/main" id="{26AA6B1C-F90A-497A-9683-FFAEFA7E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Week 2: Python fundamentals review</a:t>
            </a:r>
          </a:p>
        </p:txBody>
      </p:sp>
      <p:sp>
        <p:nvSpPr>
          <p:cNvPr id="2" name="29">
            <a:extLst xmlns:a="http://schemas.openxmlformats.org/drawingml/2006/main">
              <a:ext uri="{FF2B5EF4-FFF2-40B4-BE49-F238E27FC236}">
                <a16:creationId xmlns:a16="http://schemas.microsoft.com/office/drawing/2014/main" id="{0E8DE15F-F0BE-413F-A412-E183FC2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" name="程式設計典範">
            <a:extLst xmlns:a="http://schemas.openxmlformats.org/drawingml/2006/main">
              <a:ext uri="{FF2B5EF4-FFF2-40B4-BE49-F238E27FC236}">
                <a16:creationId xmlns:a16="http://schemas.microsoft.com/office/drawing/2014/main" id="{E62BC9A6-D96D-4B07-B656-4C30D19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Data and control flow</a:t>
            </a:r>
          </a:p>
        </p:txBody>
      </p:sp>
      <p:sp>
        <p:nvSpPr>
          <p:cNvPr id="4" name="程序式與物件導向的觀點。">
            <a:extLst xmlns:a="http://schemas.openxmlformats.org/drawingml/2006/main">
              <a:ext uri="{FF2B5EF4-FFF2-40B4-BE49-F238E27FC236}">
                <a16:creationId xmlns:a16="http://schemas.microsoft.com/office/drawing/2014/main" id="{D086987A-31C9-4D38-9DDA-DA6A2514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Data types, operators, conditions and loops.</a:t>
            </a:r>
          </a:p>
        </p:txBody>
      </p:sp>
      <p:sp>
        <p:nvSpPr>
          <p:cNvPr id="5" name="傳統 OOP 基礎">
            <a:extLst xmlns:a="http://schemas.openxmlformats.org/drawingml/2006/main">
              <a:ext uri="{FF2B5EF4-FFF2-40B4-BE49-F238E27FC236}">
                <a16:creationId xmlns:a16="http://schemas.microsoft.com/office/drawing/2014/main" id="{DF65A938-21A2-4F5C-A6D9-1319B84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Functions and
parameters</a:t>
            </a:r>
          </a:p>
        </p:txBody>
      </p:sp>
      <p:sp>
        <p:nvSpPr>
          <p:cNvPr id="6" name="類別、物件與核心概念。">
            <a:extLst xmlns:a="http://schemas.openxmlformats.org/drawingml/2006/main">
              <a:ext uri="{FF2B5EF4-FFF2-40B4-BE49-F238E27FC236}">
                <a16:creationId xmlns:a16="http://schemas.microsoft.com/office/drawing/2014/main" id="{9698B67C-C31B-4ADD-8DF0-DEDC366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Functions, scope, parameter passing and return values.</a:t>
            </a:r>
          </a:p>
        </p:txBody>
      </p:sp>
      <p:sp>
        <p:nvSpPr>
          <p:cNvPr id="7" name="分析、設計與實作">
            <a:extLst xmlns:a="http://schemas.openxmlformats.org/drawingml/2006/main">
              <a:ext uri="{FF2B5EF4-FFF2-40B4-BE49-F238E27FC236}">
                <a16:creationId xmlns:a16="http://schemas.microsoft.com/office/drawing/2014/main" id="{2477BED6-E736-4F5B-ACE9-365CE91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Containers and data</a:t>
            </a:r>
          </a:p>
        </p:txBody>
      </p:sp>
      <p:sp>
        <p:nvSpPr>
          <p:cNvPr id="8" name="OOA、OOD、OOP 的差異與關係。">
            <a:extLst xmlns:a="http://schemas.openxmlformats.org/drawingml/2006/main">
              <a:ext uri="{FF2B5EF4-FFF2-40B4-BE49-F238E27FC236}">
                <a16:creationId xmlns:a16="http://schemas.microsoft.com/office/drawing/2014/main" id="{7A3BBAB8-3599-4114-9B19-611EF06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0047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list, tuple, dict, set and comprehensions.</a:t>
            </a:r>
          </a:p>
        </p:txBody>
      </p:sp>
      <p:sp>
        <p:nvSpPr>
          <p:cNvPr id="9" name="開發與設計工具">
            <a:extLst xmlns:a="http://schemas.openxmlformats.org/drawingml/2006/main">
              <a:ext uri="{FF2B5EF4-FFF2-40B4-BE49-F238E27FC236}">
                <a16:creationId xmlns:a16="http://schemas.microsoft.com/office/drawing/2014/main" id="{DFB157F3-CBFD-4569-B00E-1370376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Moving from C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to Python</a:t>
            </a:r>
          </a:p>
        </p:txBody>
      </p:sp>
      <p:sp>
        <p:nvSpPr>
          <p:cNvPr id="10" name="編輯、除錯與設計表達。">
            <a:extLst xmlns:a="http://schemas.openxmlformats.org/drawingml/2006/main">
              <a:ext uri="{FF2B5EF4-FFF2-40B4-BE49-F238E27FC236}">
                <a16:creationId xmlns:a16="http://schemas.microsoft.com/office/drawing/2014/main" id="{DE3F32B3-34BC-4C90-A37B-C57BE72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958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Compare syntax and execution models. Rewrite a small program
with functions and containers.</a:t>
            </a:r>
          </a:p>
        </p:txBody>
      </p:sp>
    </p:spTree>
    <p:extLst>
      <p:ext uri="{BB962C8B-B14F-4D97-AF65-F5344CB8AC3E}">
        <p14:creationId xmlns:p14="http://schemas.microsoft.com/office/powerpoint/2010/main" val="1073563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2026-09-09T06:11:09.9860000Z</dcterms:created>
  <dcterms:modified xsi:type="dcterms:W3CDTF">2026-09-09T06:11:09.9860000Z</dcterms:modified>
</coreProperties>
</file>