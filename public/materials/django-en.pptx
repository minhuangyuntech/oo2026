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e6dd3d29164596" /><Relationship Type="http://schemas.openxmlformats.org/officeDocument/2006/relationships/extended-properties" Target="/docProps/app.xml" Id="Rf27c42aa4ddb40db" /><Relationship Type="http://schemas.openxmlformats.org/officeDocument/2006/relationships/officeDocument" Target="/ppt/presentation.xml" Id="Rbe0165962c494f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6ef143fcfe4c12"/>
  </p:sldMasterIdLst>
  <p:notesMasterIdLst>
    <p:notesMasterId xmlns:r="http://schemas.openxmlformats.org/officeDocument/2006/relationships" r:id="R430aa5e4588d4225"/>
  </p:notesMasterIdLst>
  <p:sldIdLst>
    <p:sldId xmlns:r="http://schemas.openxmlformats.org/officeDocument/2006/relationships" id="256" r:id="R023fb61c436f47ae"/>
    <p:sldId xmlns:r="http://schemas.openxmlformats.org/officeDocument/2006/relationships" id="257" r:id="Rac179a73fe0f4b2a"/>
    <p:sldId xmlns:r="http://schemas.openxmlformats.org/officeDocument/2006/relationships" id="258" r:id="Ra9b2d7035bc742f2"/>
    <p:sldId xmlns:r="http://schemas.openxmlformats.org/officeDocument/2006/relationships" id="259" r:id="Rd05f84a5516d4299"/>
    <p:sldId xmlns:r="http://schemas.openxmlformats.org/officeDocument/2006/relationships" id="260" r:id="Rfb3189a34a914cdb"/>
    <p:sldId xmlns:r="http://schemas.openxmlformats.org/officeDocument/2006/relationships" id="261" r:id="R625b98142e0e4097"/>
    <p:sldId xmlns:r="http://schemas.openxmlformats.org/officeDocument/2006/relationships" id="262" r:id="R4714657fd71344f0"/>
    <p:sldId xmlns:r="http://schemas.openxmlformats.org/officeDocument/2006/relationships" id="263" r:id="R6419792919f8427f"/>
    <p:sldId xmlns:r="http://schemas.openxmlformats.org/officeDocument/2006/relationships" id="264" r:id="Rc1a50575f311497a"/>
    <p:sldId xmlns:r="http://schemas.openxmlformats.org/officeDocument/2006/relationships" id="265" r:id="R5d986ef7fd6b4474"/>
    <p:sldId xmlns:r="http://schemas.openxmlformats.org/officeDocument/2006/relationships" id="266" r:id="R60896dcaa18c486c"/>
    <p:sldId xmlns:r="http://schemas.openxmlformats.org/officeDocument/2006/relationships" id="267" r:id="R50d4ebcb5e4b499e"/>
    <p:sldId xmlns:r="http://schemas.openxmlformats.org/officeDocument/2006/relationships" id="268" r:id="R7e376ad40bdf49ba"/>
    <p:sldId xmlns:r="http://schemas.openxmlformats.org/officeDocument/2006/relationships" id="269" r:id="R58127966bd5b4cc7"/>
    <p:sldId xmlns:r="http://schemas.openxmlformats.org/officeDocument/2006/relationships" id="270" r:id="Ra8eef406147d43cd"/>
    <p:sldId xmlns:r="http://schemas.openxmlformats.org/officeDocument/2006/relationships" id="271" r:id="Rc9f1d5152560435a"/>
    <p:sldId xmlns:r="http://schemas.openxmlformats.org/officeDocument/2006/relationships" id="272" r:id="R5a3378ec66384a6b"/>
    <p:sldId xmlns:r="http://schemas.openxmlformats.org/officeDocument/2006/relationships" id="273" r:id="R31c8322628884bf5"/>
    <p:sldId xmlns:r="http://schemas.openxmlformats.org/officeDocument/2006/relationships" id="274" r:id="Refcb388d7f3f458b"/>
    <p:sldId xmlns:r="http://schemas.openxmlformats.org/officeDocument/2006/relationships" id="275" r:id="R225064b44bc8417b"/>
    <p:sldId xmlns:r="http://schemas.openxmlformats.org/officeDocument/2006/relationships" id="276" r:id="R48fcefb7360c43bc"/>
    <p:sldId xmlns:r="http://schemas.openxmlformats.org/officeDocument/2006/relationships" id="277" r:id="R76ce89b741be49f8"/>
    <p:sldId xmlns:r="http://schemas.openxmlformats.org/officeDocument/2006/relationships" id="278" r:id="R7ae15a68732b42ea"/>
    <p:sldId xmlns:r="http://schemas.openxmlformats.org/officeDocument/2006/relationships" id="279" r:id="Re353634cd6c949e4"/>
    <p:sldId xmlns:r="http://schemas.openxmlformats.org/officeDocument/2006/relationships" id="280" r:id="R39819ff253314ba4"/>
    <p:sldId xmlns:r="http://schemas.openxmlformats.org/officeDocument/2006/relationships" id="281" r:id="Ra9032839577643d7"/>
    <p:sldId xmlns:r="http://schemas.openxmlformats.org/officeDocument/2006/relationships" id="282" r:id="Rd876d8ee48a64d7e"/>
    <p:sldId xmlns:r="http://schemas.openxmlformats.org/officeDocument/2006/relationships" id="283" r:id="R9a580b426ff54eb9"/>
    <p:sldId xmlns:r="http://schemas.openxmlformats.org/officeDocument/2006/relationships" id="284" r:id="R394079544c4e4f6a"/>
    <p:sldId xmlns:r="http://schemas.openxmlformats.org/officeDocument/2006/relationships" id="285" r:id="R609fd6c333734fea"/>
    <p:sldId xmlns:r="http://schemas.openxmlformats.org/officeDocument/2006/relationships" id="286" r:id="R231573191da04894"/>
    <p:sldId xmlns:r="http://schemas.openxmlformats.org/officeDocument/2006/relationships" id="287" r:id="R68c35fae8ca74a22"/>
    <p:sldId xmlns:r="http://schemas.openxmlformats.org/officeDocument/2006/relationships" id="288" r:id="R3f8f82ff570b440e"/>
    <p:sldId xmlns:r="http://schemas.openxmlformats.org/officeDocument/2006/relationships" id="289" r:id="R34079a9a67f44953"/>
    <p:sldId xmlns:r="http://schemas.openxmlformats.org/officeDocument/2006/relationships" id="290" r:id="Re763a425fe424b1d"/>
    <p:sldId xmlns:r="http://schemas.openxmlformats.org/officeDocument/2006/relationships" id="291" r:id="Rb3423df454d646f6"/>
    <p:sldId xmlns:r="http://schemas.openxmlformats.org/officeDocument/2006/relationships" id="292" r:id="R0dd3c1cbdb604585"/>
    <p:sldId xmlns:r="http://schemas.openxmlformats.org/officeDocument/2006/relationships" id="293" r:id="R07b6ffe744614a75"/>
    <p:sldId xmlns:r="http://schemas.openxmlformats.org/officeDocument/2006/relationships" id="294" r:id="R1a651e8101e84268"/>
    <p:sldId xmlns:r="http://schemas.openxmlformats.org/officeDocument/2006/relationships" id="295" r:id="Re27ee7c4052f4681"/>
    <p:sldId xmlns:r="http://schemas.openxmlformats.org/officeDocument/2006/relationships" id="296" r:id="R401d4aa4870741f1"/>
    <p:sldId xmlns:r="http://schemas.openxmlformats.org/officeDocument/2006/relationships" id="297" r:id="Ra05e4e5925fc4e13"/>
    <p:sldId xmlns:r="http://schemas.openxmlformats.org/officeDocument/2006/relationships" id="298" r:id="R64baa115320c41c2"/>
    <p:sldId xmlns:r="http://schemas.openxmlformats.org/officeDocument/2006/relationships" id="299" r:id="R01e100da9c28422e"/>
    <p:sldId xmlns:r="http://schemas.openxmlformats.org/officeDocument/2006/relationships" id="300" r:id="Rc5588f3cc7094963"/>
    <p:sldId xmlns:r="http://schemas.openxmlformats.org/officeDocument/2006/relationships" id="301" r:id="R49c0cac609304fa8"/>
    <p:sldId xmlns:r="http://schemas.openxmlformats.org/officeDocument/2006/relationships" id="302" r:id="Rf60cc8cf4fcb4be5"/>
    <p:sldId xmlns:r="http://schemas.openxmlformats.org/officeDocument/2006/relationships" id="303" r:id="R46aec8bc7f6f4a1b"/>
    <p:sldId xmlns:r="http://schemas.openxmlformats.org/officeDocument/2006/relationships" id="304" r:id="R676e957946094193"/>
    <p:sldId xmlns:r="http://schemas.openxmlformats.org/officeDocument/2006/relationships" id="305" r:id="R1ca490f7182649d2"/>
    <p:sldId xmlns:r="http://schemas.openxmlformats.org/officeDocument/2006/relationships" id="306" r:id="Ra339d32db2114b97"/>
    <p:sldId xmlns:r="http://schemas.openxmlformats.org/officeDocument/2006/relationships" id="307" r:id="Rb55b6dcaa8e8403f"/>
    <p:sldId xmlns:r="http://schemas.openxmlformats.org/officeDocument/2006/relationships" id="308" r:id="Rb019128a1e9641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12f23926cf4449" /><Relationship Type="http://schemas.openxmlformats.org/officeDocument/2006/relationships/slideMaster" Target="/ppt/slideMasters/slideMaster1.xml" Id="Rc66ef143fcfe4c12" /><Relationship Type="http://schemas.openxmlformats.org/officeDocument/2006/relationships/notesMaster" Target="/ppt/notesMasters/notesMaster1.xml" Id="R430aa5e4588d4225" /><Relationship Type="http://schemas.openxmlformats.org/officeDocument/2006/relationships/presProps" Target="/ppt/presProps.xml" Id="R50317fed79e34360" /><Relationship Type="http://schemas.openxmlformats.org/officeDocument/2006/relationships/tableStyles" Target="/ppt/tableStyles.xml" Id="R0a2e59c9660a4c51" /><Relationship Type="http://schemas.openxmlformats.org/officeDocument/2006/relationships/slide" Target="/ppt/slides/slide1.xml" Id="R023fb61c436f47ae" /><Relationship Type="http://schemas.openxmlformats.org/officeDocument/2006/relationships/slide" Target="/ppt/slides/slide2.xml" Id="Rac179a73fe0f4b2a" /><Relationship Type="http://schemas.openxmlformats.org/officeDocument/2006/relationships/slide" Target="/ppt/slides/slide3.xml" Id="Ra9b2d7035bc742f2" /><Relationship Type="http://schemas.openxmlformats.org/officeDocument/2006/relationships/slide" Target="/ppt/slides/slide4.xml" Id="Rd05f84a5516d4299" /><Relationship Type="http://schemas.openxmlformats.org/officeDocument/2006/relationships/slide" Target="/ppt/slides/slide5.xml" Id="Rfb3189a34a914cdb" /><Relationship Type="http://schemas.openxmlformats.org/officeDocument/2006/relationships/slide" Target="/ppt/slides/slide6.xml" Id="R625b98142e0e4097" /><Relationship Type="http://schemas.openxmlformats.org/officeDocument/2006/relationships/slide" Target="/ppt/slides/slide7.xml" Id="R4714657fd71344f0" /><Relationship Type="http://schemas.openxmlformats.org/officeDocument/2006/relationships/slide" Target="/ppt/slides/slide8.xml" Id="R6419792919f8427f" /><Relationship Type="http://schemas.openxmlformats.org/officeDocument/2006/relationships/slide" Target="/ppt/slides/slide9.xml" Id="Rc1a50575f311497a" /><Relationship Type="http://schemas.openxmlformats.org/officeDocument/2006/relationships/slide" Target="/ppt/slides/slide10.xml" Id="R5d986ef7fd6b4474" /><Relationship Type="http://schemas.openxmlformats.org/officeDocument/2006/relationships/slide" Target="/ppt/slides/slide11.xml" Id="R60896dcaa18c486c" /><Relationship Type="http://schemas.openxmlformats.org/officeDocument/2006/relationships/slide" Target="/ppt/slides/slide12.xml" Id="R50d4ebcb5e4b499e" /><Relationship Type="http://schemas.openxmlformats.org/officeDocument/2006/relationships/slide" Target="/ppt/slides/slide13.xml" Id="R7e376ad40bdf49ba" /><Relationship Type="http://schemas.openxmlformats.org/officeDocument/2006/relationships/slide" Target="/ppt/slides/slide14.xml" Id="R58127966bd5b4cc7" /><Relationship Type="http://schemas.openxmlformats.org/officeDocument/2006/relationships/slide" Target="/ppt/slides/slide15.xml" Id="Ra8eef406147d43cd" /><Relationship Type="http://schemas.openxmlformats.org/officeDocument/2006/relationships/slide" Target="/ppt/slides/slide16.xml" Id="Rc9f1d5152560435a" /><Relationship Type="http://schemas.openxmlformats.org/officeDocument/2006/relationships/slide" Target="/ppt/slides/slide17.xml" Id="R5a3378ec66384a6b" /><Relationship Type="http://schemas.openxmlformats.org/officeDocument/2006/relationships/slide" Target="/ppt/slides/slide18.xml" Id="R31c8322628884bf5" /><Relationship Type="http://schemas.openxmlformats.org/officeDocument/2006/relationships/slide" Target="/ppt/slides/slide19.xml" Id="Refcb388d7f3f458b" /><Relationship Type="http://schemas.openxmlformats.org/officeDocument/2006/relationships/slide" Target="/ppt/slides/slide20.xml" Id="R225064b44bc8417b" /><Relationship Type="http://schemas.openxmlformats.org/officeDocument/2006/relationships/slide" Target="/ppt/slides/slide21.xml" Id="R48fcefb7360c43bc" /><Relationship Type="http://schemas.openxmlformats.org/officeDocument/2006/relationships/slide" Target="/ppt/slides/slide22.xml" Id="R76ce89b741be49f8" /><Relationship Type="http://schemas.openxmlformats.org/officeDocument/2006/relationships/slide" Target="/ppt/slides/slide23.xml" Id="R7ae15a68732b42ea" /><Relationship Type="http://schemas.openxmlformats.org/officeDocument/2006/relationships/slide" Target="/ppt/slides/slide24.xml" Id="Re353634cd6c949e4" /><Relationship Type="http://schemas.openxmlformats.org/officeDocument/2006/relationships/slide" Target="/ppt/slides/slide25.xml" Id="R39819ff253314ba4" /><Relationship Type="http://schemas.openxmlformats.org/officeDocument/2006/relationships/slide" Target="/ppt/slides/slide26.xml" Id="Ra9032839577643d7" /><Relationship Type="http://schemas.openxmlformats.org/officeDocument/2006/relationships/slide" Target="/ppt/slides/slide27.xml" Id="Rd876d8ee48a64d7e" /><Relationship Type="http://schemas.openxmlformats.org/officeDocument/2006/relationships/slide" Target="/ppt/slides/slide28.xml" Id="R9a580b426ff54eb9" /><Relationship Type="http://schemas.openxmlformats.org/officeDocument/2006/relationships/slide" Target="/ppt/slides/slide29.xml" Id="R394079544c4e4f6a" /><Relationship Type="http://schemas.openxmlformats.org/officeDocument/2006/relationships/slide" Target="/ppt/slides/slide30.xml" Id="R609fd6c333734fea" /><Relationship Type="http://schemas.openxmlformats.org/officeDocument/2006/relationships/slide" Target="/ppt/slides/slide31.xml" Id="R231573191da04894" /><Relationship Type="http://schemas.openxmlformats.org/officeDocument/2006/relationships/slide" Target="/ppt/slides/slide32.xml" Id="R68c35fae8ca74a22" /><Relationship Type="http://schemas.openxmlformats.org/officeDocument/2006/relationships/slide" Target="/ppt/slides/slide33.xml" Id="R3f8f82ff570b440e" /><Relationship Type="http://schemas.openxmlformats.org/officeDocument/2006/relationships/slide" Target="/ppt/slides/slide34.xml" Id="R34079a9a67f44953" /><Relationship Type="http://schemas.openxmlformats.org/officeDocument/2006/relationships/slide" Target="/ppt/slides/slide35.xml" Id="Re763a425fe424b1d" /><Relationship Type="http://schemas.openxmlformats.org/officeDocument/2006/relationships/slide" Target="/ppt/slides/slide36.xml" Id="Rb3423df454d646f6" /><Relationship Type="http://schemas.openxmlformats.org/officeDocument/2006/relationships/slide" Target="/ppt/slides/slide37.xml" Id="R0dd3c1cbdb604585" /><Relationship Type="http://schemas.openxmlformats.org/officeDocument/2006/relationships/slide" Target="/ppt/slides/slide38.xml" Id="R07b6ffe744614a75" /><Relationship Type="http://schemas.openxmlformats.org/officeDocument/2006/relationships/slide" Target="/ppt/slides/slide39.xml" Id="R1a651e8101e84268" /><Relationship Type="http://schemas.openxmlformats.org/officeDocument/2006/relationships/slide" Target="/ppt/slides/slide40.xml" Id="Re27ee7c4052f4681" /><Relationship Type="http://schemas.openxmlformats.org/officeDocument/2006/relationships/slide" Target="/ppt/slides/slide41.xml" Id="R401d4aa4870741f1" /><Relationship Type="http://schemas.openxmlformats.org/officeDocument/2006/relationships/slide" Target="/ppt/slides/slide42.xml" Id="Ra05e4e5925fc4e13" /><Relationship Type="http://schemas.openxmlformats.org/officeDocument/2006/relationships/slide" Target="/ppt/slides/slide43.xml" Id="R64baa115320c41c2" /><Relationship Type="http://schemas.openxmlformats.org/officeDocument/2006/relationships/slide" Target="/ppt/slides/slide44.xml" Id="R01e100da9c28422e" /><Relationship Type="http://schemas.openxmlformats.org/officeDocument/2006/relationships/slide" Target="/ppt/slides/slide45.xml" Id="Rc5588f3cc7094963" /><Relationship Type="http://schemas.openxmlformats.org/officeDocument/2006/relationships/slide" Target="/ppt/slides/slide46.xml" Id="R49c0cac609304fa8" /><Relationship Type="http://schemas.openxmlformats.org/officeDocument/2006/relationships/slide" Target="/ppt/slides/slide47.xml" Id="Rf60cc8cf4fcb4be5" /><Relationship Type="http://schemas.openxmlformats.org/officeDocument/2006/relationships/slide" Target="/ppt/slides/slide48.xml" Id="R46aec8bc7f6f4a1b" /><Relationship Type="http://schemas.openxmlformats.org/officeDocument/2006/relationships/slide" Target="/ppt/slides/slide49.xml" Id="R676e957946094193" /><Relationship Type="http://schemas.openxmlformats.org/officeDocument/2006/relationships/slide" Target="/ppt/slides/slide50.xml" Id="R1ca490f7182649d2" /><Relationship Type="http://schemas.openxmlformats.org/officeDocument/2006/relationships/slide" Target="/ppt/slides/slide51.xml" Id="Ra339d32db2114b97" /><Relationship Type="http://schemas.openxmlformats.org/officeDocument/2006/relationships/slide" Target="/ppt/slides/slide52.xml" Id="Rb55b6dcaa8e8403f" /><Relationship Type="http://schemas.openxmlformats.org/officeDocument/2006/relationships/slide" Target="/ppt/slides/slide53.xml" Id="Rb019128a1e9641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f8814b4d4e4d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8a34d5b56d48fd" /><Relationship Type="http://schemas.openxmlformats.org/officeDocument/2006/relationships/notesMaster" Target="/ppt/notesMasters/notesMaster1.xml" Id="R697f41d6f58e4a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1f9bf0b4ad4d1a" /><Relationship Type="http://schemas.openxmlformats.org/officeDocument/2006/relationships/notesMaster" Target="/ppt/notesMasters/notesMaster1.xml" Id="R8e166c444ac24c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e8eefb418048f6" /><Relationship Type="http://schemas.openxmlformats.org/officeDocument/2006/relationships/notesMaster" Target="/ppt/notesMasters/notesMaster1.xml" Id="R80ec17e3beb04c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4031a8124a4295" /><Relationship Type="http://schemas.openxmlformats.org/officeDocument/2006/relationships/notesMaster" Target="/ppt/notesMasters/notesMaster1.xml" Id="R6b42bd9c018940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e4deb9d124470d" /><Relationship Type="http://schemas.openxmlformats.org/officeDocument/2006/relationships/notesMaster" Target="/ppt/notesMasters/notesMaster1.xml" Id="R9ab2531109ad45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e08ce3a19f484c" /><Relationship Type="http://schemas.openxmlformats.org/officeDocument/2006/relationships/notesMaster" Target="/ppt/notesMasters/notesMaster1.xml" Id="R40a0b2bdbd874d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d8e93371234355" /><Relationship Type="http://schemas.openxmlformats.org/officeDocument/2006/relationships/notesMaster" Target="/ppt/notesMasters/notesMaster1.xml" Id="R27b76e2b6ed74e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d492f5fcae478c" /><Relationship Type="http://schemas.openxmlformats.org/officeDocument/2006/relationships/notesMaster" Target="/ppt/notesMasters/notesMaster1.xml" Id="Rcbf2c0bc8af84d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9e81053a5a4191" /><Relationship Type="http://schemas.openxmlformats.org/officeDocument/2006/relationships/notesMaster" Target="/ppt/notesMasters/notesMaster1.xml" Id="Rc00b914cd2994a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67fa3dcc6948cf" /><Relationship Type="http://schemas.openxmlformats.org/officeDocument/2006/relationships/notesMaster" Target="/ppt/notesMasters/notesMaster1.xml" Id="R896bfd5bef854a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95d3971c0d4092" /><Relationship Type="http://schemas.openxmlformats.org/officeDocument/2006/relationships/notesMaster" Target="/ppt/notesMasters/notesMaster1.xml" Id="R0cfcdee5ff5c40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957346ae1b4f35" /><Relationship Type="http://schemas.openxmlformats.org/officeDocument/2006/relationships/notesMaster" Target="/ppt/notesMasters/notesMaster1.xml" Id="Rb564ed953d2644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8d6dec837b4f54" /><Relationship Type="http://schemas.openxmlformats.org/officeDocument/2006/relationships/notesMaster" Target="/ppt/notesMasters/notesMaster1.xml" Id="Ra53449ada8ba4a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6d3647f9fd41ed" /><Relationship Type="http://schemas.openxmlformats.org/officeDocument/2006/relationships/notesMaster" Target="/ppt/notesMasters/notesMaster1.xml" Id="Ree8eb30ab5474a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b9ed64a7e924642" /><Relationship Type="http://schemas.openxmlformats.org/officeDocument/2006/relationships/notesMaster" Target="/ppt/notesMasters/notesMaster1.xml" Id="Rf46de7f53f444a4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59a62c2d6a4a53" /><Relationship Type="http://schemas.openxmlformats.org/officeDocument/2006/relationships/notesMaster" Target="/ppt/notesMasters/notesMaster1.xml" Id="R2b54136a020644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078ee3f8d34349" /><Relationship Type="http://schemas.openxmlformats.org/officeDocument/2006/relationships/notesMaster" Target="/ppt/notesMasters/notesMaster1.xml" Id="Rc84c47932ec34b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5af502ac504f1b" /><Relationship Type="http://schemas.openxmlformats.org/officeDocument/2006/relationships/notesMaster" Target="/ppt/notesMasters/notesMaster1.xml" Id="Rf9e6516901b04e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99223e64e942a2" /><Relationship Type="http://schemas.openxmlformats.org/officeDocument/2006/relationships/notesMaster" Target="/ppt/notesMasters/notesMaster1.xml" Id="Re0d1dd6a7f2340b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bf6c511078492f" /><Relationship Type="http://schemas.openxmlformats.org/officeDocument/2006/relationships/notesMaster" Target="/ppt/notesMasters/notesMaster1.xml" Id="R96aede42fc6945c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03f346c04b432a" /><Relationship Type="http://schemas.openxmlformats.org/officeDocument/2006/relationships/notesMaster" Target="/ppt/notesMasters/notesMaster1.xml" Id="R6ee4e8a086134bf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d09b8269e5942cd" /><Relationship Type="http://schemas.openxmlformats.org/officeDocument/2006/relationships/notesMaster" Target="/ppt/notesMasters/notesMaster1.xml" Id="R56f216a3075044f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df3456fe4b0466f" /><Relationship Type="http://schemas.openxmlformats.org/officeDocument/2006/relationships/notesMaster" Target="/ppt/notesMasters/notesMaster1.xml" Id="Rf9651a4c989a484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edb40f80f2d4473" /><Relationship Type="http://schemas.openxmlformats.org/officeDocument/2006/relationships/notesMaster" Target="/ppt/notesMasters/notesMaster1.xml" Id="Ra52bf7ca205a4d7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8777f5b2e014155" /><Relationship Type="http://schemas.openxmlformats.org/officeDocument/2006/relationships/notesMaster" Target="/ppt/notesMasters/notesMaster1.xml" Id="R77c01cb94512436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36829b1913e4241" /><Relationship Type="http://schemas.openxmlformats.org/officeDocument/2006/relationships/notesMaster" Target="/ppt/notesMasters/notesMaster1.xml" Id="R585fbe38c67d43a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03467fad8d1426d" /><Relationship Type="http://schemas.openxmlformats.org/officeDocument/2006/relationships/notesMaster" Target="/ppt/notesMasters/notesMaster1.xml" Id="R47e423bc8586478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962d21b68b24be3" /><Relationship Type="http://schemas.openxmlformats.org/officeDocument/2006/relationships/notesMaster" Target="/ppt/notesMasters/notesMaster1.xml" Id="R974425f1dd294c6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346eaf5f1e34510" /><Relationship Type="http://schemas.openxmlformats.org/officeDocument/2006/relationships/notesMaster" Target="/ppt/notesMasters/notesMaster1.xml" Id="R4486c9f943164ce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6ed0a9fa8f44e7e" /><Relationship Type="http://schemas.openxmlformats.org/officeDocument/2006/relationships/notesMaster" Target="/ppt/notesMasters/notesMaster1.xml" Id="R6056efe326bb461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c6aebe78d234873" /><Relationship Type="http://schemas.openxmlformats.org/officeDocument/2006/relationships/notesMaster" Target="/ppt/notesMasters/notesMaster1.xml" Id="Rdac85c111272477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b2dc43667b94490" /><Relationship Type="http://schemas.openxmlformats.org/officeDocument/2006/relationships/notesMaster" Target="/ppt/notesMasters/notesMaster1.xml" Id="R635aa4491115470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de3e2013bb34826" /><Relationship Type="http://schemas.openxmlformats.org/officeDocument/2006/relationships/notesMaster" Target="/ppt/notesMasters/notesMaster1.xml" Id="Rbdbe37a8a10a42c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1acb91001eb4bad" /><Relationship Type="http://schemas.openxmlformats.org/officeDocument/2006/relationships/notesMaster" Target="/ppt/notesMasters/notesMaster1.xml" Id="R3edead4fc1d4469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8f73b3fcdf1454f" /><Relationship Type="http://schemas.openxmlformats.org/officeDocument/2006/relationships/notesMaster" Target="/ppt/notesMasters/notesMaster1.xml" Id="Reca83efd67ee4a8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9cfe4e035674ae0" /><Relationship Type="http://schemas.openxmlformats.org/officeDocument/2006/relationships/notesMaster" Target="/ppt/notesMasters/notesMaster1.xml" Id="R4c00f76c0ece420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37f78334caf458d" /><Relationship Type="http://schemas.openxmlformats.org/officeDocument/2006/relationships/notesMaster" Target="/ppt/notesMasters/notesMaster1.xml" Id="R91bec8a77d414d8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93004d6d72e4ba5" /><Relationship Type="http://schemas.openxmlformats.org/officeDocument/2006/relationships/notesMaster" Target="/ppt/notesMasters/notesMaster1.xml" Id="R68850314eaf2451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8c1c7d5382048bb" /><Relationship Type="http://schemas.openxmlformats.org/officeDocument/2006/relationships/notesMaster" Target="/ppt/notesMasters/notesMaster1.xml" Id="R150949a632dc4a2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b6c7561a8d84cb0" /><Relationship Type="http://schemas.openxmlformats.org/officeDocument/2006/relationships/notesMaster" Target="/ppt/notesMasters/notesMaster1.xml" Id="R2b4495e30ca04e7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5f4d82b516344bd" /><Relationship Type="http://schemas.openxmlformats.org/officeDocument/2006/relationships/notesMaster" Target="/ppt/notesMasters/notesMaster1.xml" Id="Rc6b2399b71614e2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16e128f62c949c5" /><Relationship Type="http://schemas.openxmlformats.org/officeDocument/2006/relationships/notesMaster" Target="/ppt/notesMasters/notesMaster1.xml" Id="Re999bea351464c6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ea24c998414428a" /><Relationship Type="http://schemas.openxmlformats.org/officeDocument/2006/relationships/notesMaster" Target="/ppt/notesMasters/notesMaster1.xml" Id="R4cce16a5e91d42b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c4ef0f21ac44df1" /><Relationship Type="http://schemas.openxmlformats.org/officeDocument/2006/relationships/notesMaster" Target="/ppt/notesMasters/notesMaster1.xml" Id="R8b167dc8a750403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7ce6ba7db3f42ea" /><Relationship Type="http://schemas.openxmlformats.org/officeDocument/2006/relationships/notesMaster" Target="/ppt/notesMasters/notesMaster1.xml" Id="Rd60d0182cbd64a2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b9c09b8c7b94cf5" /><Relationship Type="http://schemas.openxmlformats.org/officeDocument/2006/relationships/notesMaster" Target="/ppt/notesMasters/notesMaster1.xml" Id="Rbd1131c2462e4af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353eb09471d4943" /><Relationship Type="http://schemas.openxmlformats.org/officeDocument/2006/relationships/notesMaster" Target="/ppt/notesMasters/notesMaster1.xml" Id="R77212b4c4ce5454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a1dbcbb03b14316" /><Relationship Type="http://schemas.openxmlformats.org/officeDocument/2006/relationships/notesMaster" Target="/ppt/notesMasters/notesMaster1.xml" Id="R8619b650a2ca4fa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aee21aac3884082" /><Relationship Type="http://schemas.openxmlformats.org/officeDocument/2006/relationships/notesMaster" Target="/ppt/notesMasters/notesMaster1.xml" Id="Rbc264f9ad376487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3f1bc8fe87b405b" /><Relationship Type="http://schemas.openxmlformats.org/officeDocument/2006/relationships/notesMaster" Target="/ppt/notesMasters/notesMaster1.xml" Id="Rf5976bbbccdb43f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97cc41d335b4a8b" /><Relationship Type="http://schemas.openxmlformats.org/officeDocument/2006/relationships/notesMaster" Target="/ppt/notesMasters/notesMaster1.xml" Id="R9bbc7b2709be490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286f68dd47440f5" /><Relationship Type="http://schemas.openxmlformats.org/officeDocument/2006/relationships/notesMaster" Target="/ppt/notesMasters/notesMaster1.xml" Id="Rae462cad29af4db9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090c0620a1a4c31" /><Relationship Type="http://schemas.openxmlformats.org/officeDocument/2006/relationships/notesMaster" Target="/ppt/notesMasters/notesMaster1.xml" Id="R5e88142b6bd646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https://docs.djangoproject.com/en/5.2/intro/tutorial01/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  <a:p xmlns:a="http://schemas.openxmlformats.org/drawingml/2006/main">
            <a:r>
              <a:t>Concept illustration generated with image_gen.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Runnable catalog project included with this course.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  <a:p xmlns:a="http://schemas.openxmlformats.org/drawingml/2006/main">
            <a:r>
              <a:t>Screenshot of the running localized Django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https://docs.djangoproject.com/en/5.2/intro/tutorial01/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https://docs.djangoproject.com/en/5.2/intro/tutorial03/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https://docs.djangoproject.com/en/5.2/intro/tutorial01/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https://docs.python.org/3/library/venv.html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https://docs.djangoproject.com/en/5.2/intro/install/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https://docs.djangoproject.com/en/5.2/intro/tutorial01/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https://docs.djangoproject.com/en/5.2/intro/tutorial01/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https://docs.djangoproject.com/en/5.2/ref/django-admin/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https://docs.python.org/3/tutorial/modules.html#packages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https://docs.djangoproject.com/en/5.2/ref/settings/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https://docs.djangoproject.com/en/5.2/ref/settings/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https://docs.djangoproject.com/en/5.2/howto/deployment/checklist/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https://docs.djangoproject.com/en/5.2/howto/deployment/wsgi/</a:t>
            </a:r>
          </a:p>
          <a:p xmlns:a="http://schemas.openxmlformats.org/drawingml/2006/main">
            <a:r>
              <a:t>https://docs.djangoproject.com/en/5.2/howto/deployment/asgi/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https://docs.djangoproject.com/en/5.2/intro/tutorial01/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https://docs.djangoproject.com/en/5.2/intro/tutorial01/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https://docs.djangoproject.com/en/5.2/ref/applications/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https://docs.djangoproject.com/en/5.2/topics/http/views/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https://docs.djangoproject.com/en/5.2/topics/http/urls/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https://docs.djangoproject.com/en/5.2/topics/http/urls/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https://docs.djangoproject.com/en/5.2/intro/tutorial03/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  <a:p xmlns:a="http://schemas.openxmlformats.org/drawingml/2006/main">
            <a:r>
              <a:t>Concept illustration generated with image_gen.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https://docs.djangoproject.com/en/5.2/ref/models/fields/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https://docs.djangoproject.com/en/5.2/ref/models/instances/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https://docs.djangoproject.com/en/5.2/topics/migrations/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  <a:p xmlns:a="http://schemas.openxmlformats.org/drawingml/2006/main">
            <a:r>
              <a:t>Concept illustration generated with image_gen.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https://docs.djangoproject.com/en/5.2/topics/migrations/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https://docs.djangoproject.com/en/5.2/topics/migrations/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https://docs.djangoproject.com/en/5.2/topics/db/queries/</a:t>
            </a:r>
          </a:p>
          <a:p xmlns:a="http://schemas.openxmlformats.org/drawingml/2006/main">
            <a:r>
              <a:t>https://docs.djangoproject.com/en/5.2/ref/models/instances/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https://docs.djangoproject.com/en/5.2/ref/contrib/admin/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https://docs.djangoproject.com/en/5.2/ref/contrib/admin/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https://docs.djangoproject.com/en/5.2/intro/tutorial03/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https://docs.djangoproject.com/en/5.2/topics/templates/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https://docs.djangoproject.com/en/5.2/ref/templates/language/</a:t>
            </a:r>
          </a:p>
          <a:p xmlns:a="http://schemas.openxmlformats.org/drawingml/2006/main">
            <a:r>
              <a:t>https://docs.djangoproject.com/en/5.2/howto/static-files/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https://docs.djangoproject.com/en/5.2/ref/templates/language/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https://docs.djangoproject.com/en/5.2/howto/static-files/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https://docs.djangoproject.com/en/5.2/topics/http/urls/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https://docs.djangoproject.com/en/5.2/topics/http/shortcuts/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https://docs.djangoproject.com/en/5.2/topics/forms/modelforms/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https://docs.djangoproject.com/en/5.2/topics/forms/modelforms/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https://docs.djangoproject.com/en/5.2/ref/csrf/</a:t>
            </a:r>
          </a:p>
          <a:p xmlns:a="http://schemas.openxmlformats.org/drawingml/2006/main">
            <a:r>
              <a:t>https://docs.djangoproject.com/en/5.2/topics/forms/modelforms/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Runnable catalog project included with this course.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  <a:p xmlns:a="http://schemas.openxmlformats.org/drawingml/2006/main">
            <a:r>
              <a:t>Screenshot of the running localized Django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https://docs.djangoproject.com/en/5.2/topics/testing/overview/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https://docs.djangoproject.com/en/5.2/topics/http/middleware/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https://docs.djangoproject.com/en/5.2/intro/tutorial01/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https://docs.djangoproject.com/en/5.2/intro/tutorial01/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https://docs.djangoproject.com/en/5.2/intro/tutorial01/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https://docs.python.org/3/library/venv.html</a:t>
            </a:r>
          </a:p>
          <a:p xmlns:a="http://schemas.openxmlformats.org/drawingml/2006/main">
            <a:r>
              <a:t>https://docs.djangoproject.com/en/5.2/howto/static-files/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Runnable catalog project included with this course.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https://docs.djangoproject.com/en/5.2/topics/http/urls/</a:t>
            </a:r>
          </a:p>
          <a:p xmlns:a="http://schemas.openxmlformats.org/drawingml/2006/main">
            <a:r>
              <a:t>https://docs.djangoproject.com/en/5.2/howto/static-files/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https://docs.djangoproject.com/en/5.2/howto/deployment/checklist/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https://docs.djangoproject.com/en/5.2/ref/django-admin/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https://docs.djangoproject.com/en/5.2/intro/tutorial01/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https://docs.djangoproject.com/en/5.2/intro/tutorial01/</a:t>
            </a:r>
          </a:p>
          <a:p xmlns:a="http://schemas.openxmlformats.org/drawingml/2006/main">
            <a:r>
              <a:t>https://docs.djangoproject.com/en/5.2/intro/tutorial02/</a:t>
            </a:r>
          </a:p>
          <a:p xmlns:a="http://schemas.openxmlformats.org/drawingml/2006/main">
            <a:r>
              <a:t>https://docs.djangoproject.com/en/5.2/intro/tutorial03/</a:t>
            </a:r>
          </a:p>
          <a:p xmlns:a="http://schemas.openxmlformats.org/drawingml/2006/main">
            <a:r>
              <a:t>https://docs.djangoproject.com/en/5.2/topics/forms/modelforms/</a:t>
            </a:r>
          </a:p>
          <a:p xmlns:a="http://schemas.openxmlformats.org/drawingml/2006/main">
            <a:r>
              <a:t>https://docs.djangoproject.com/en/5.2/ref/settings/</a:t>
            </a:r>
          </a:p>
          <a:p xmlns:a="http://schemas.openxmlformats.org/drawingml/2006/main">
            <a:r>
              <a:t>https://docs.djangoproject.com/en/5.2/ref/applications/</a:t>
            </a:r>
          </a:p>
          <a:p xmlns:a="http://schemas.openxmlformats.org/drawingml/2006/main">
            <a:r>
              <a:t>https://docs.djangoproject.com/en/5.2/topics/http/urls/</a:t>
            </a:r>
          </a:p>
          <a:p xmlns:a="http://schemas.openxmlformats.org/drawingml/2006/main">
            <a:r>
              <a:t>https://docs.djangoproject.com/en/5.2/topics/migrations/</a:t>
            </a:r>
          </a:p>
          <a:p xmlns:a="http://schemas.openxmlformats.org/drawingml/2006/main">
            <a:r>
              <a:t>https://docs.djangoproject.com/en/5.2/ref/contrib/admin/</a:t>
            </a:r>
          </a:p>
          <a:p xmlns:a="http://schemas.openxmlformats.org/drawingml/2006/main">
            <a:r>
              <a:t>https://docs.djangoproject.com/en/5.2/ref/templates/language/</a:t>
            </a:r>
          </a:p>
          <a:p xmlns:a="http://schemas.openxmlformats.org/drawingml/2006/main">
            <a:r>
              <a:t>https://docs.djangoproject.com/en/5.2/howto/static-files/</a:t>
            </a:r>
          </a:p>
          <a:p xmlns:a="http://schemas.openxmlformats.org/drawingml/2006/main">
            <a:r>
              <a:t>https://docs.djangoproject.com/en/5.2/topics/testing/overview/</a:t>
            </a:r>
          </a:p>
          <a:p xmlns:a="http://schemas.openxmlformats.org/drawingml/2006/main">
            <a:r>
              <a:t>https://docs.djangoproject.com/en/5.2/howto/deployment/checklist/</a:t>
            </a:r>
          </a:p>
          <a:p xmlns:a="http://schemas.openxmlformats.org/drawingml/2006/main">
            <a:r>
              <a:t>Scope: generated project and app files, plus common added files. This material does not enumerate the internal source files in site-packages/django.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6e42997a44a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1e31a7417e48bc" /><Relationship Type="http://schemas.openxmlformats.org/officeDocument/2006/relationships/slideLayout" Target="/ppt/slideLayouts/slideLayout1.xml" Id="Rd9840611f9de44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840611f9de44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3b2f5dd5744e4" /><Relationship Type="http://schemas.openxmlformats.org/officeDocument/2006/relationships/image" Target="/ppt/media/image.png" Id="R1a0600e11b304d8a" /><Relationship Type="http://schemas.openxmlformats.org/officeDocument/2006/relationships/notesSlide" Target="/ppt/notesSlides/notesSlide1.xml" Id="R1d49e81716544d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4938f5f3f42d3" /><Relationship Type="http://schemas.openxmlformats.org/officeDocument/2006/relationships/image" Target="/ppt/media/image2.png" Id="Ree45cb602c03432e" /><Relationship Type="http://schemas.openxmlformats.org/officeDocument/2006/relationships/notesSlide" Target="/ppt/notesSlides/notesSlide2.xml" Id="Rf8d4d30fde7844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daef513144057" /><Relationship Type="http://schemas.openxmlformats.org/officeDocument/2006/relationships/notesSlide" Target="/ppt/notesSlides/notesSlide3.xml" Id="Rde78682f6c7949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94f431afc43ad" /><Relationship Type="http://schemas.openxmlformats.org/officeDocument/2006/relationships/notesSlide" Target="/ppt/notesSlides/notesSlide4.xml" Id="R95fdf2a5159e4f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864b6fba94c1a" /><Relationship Type="http://schemas.openxmlformats.org/officeDocument/2006/relationships/notesSlide" Target="/ppt/notesSlides/notesSlide5.xml" Id="Rc6a26846e05848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4c5cac4e34b6a" /><Relationship Type="http://schemas.openxmlformats.org/officeDocument/2006/relationships/notesSlide" Target="/ppt/notesSlides/notesSlide6.xml" Id="Re017c9733e9e49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9863e3f9142bb" /><Relationship Type="http://schemas.openxmlformats.org/officeDocument/2006/relationships/notesSlide" Target="/ppt/notesSlides/notesSlide7.xml" Id="R5c14dbd7575749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87f47d4c04a05" /><Relationship Type="http://schemas.openxmlformats.org/officeDocument/2006/relationships/notesSlide" Target="/ppt/notesSlides/notesSlide8.xml" Id="R2dbaa145df724e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8695ec4f9434c" /><Relationship Type="http://schemas.openxmlformats.org/officeDocument/2006/relationships/notesSlide" Target="/ppt/notesSlides/notesSlide9.xml" Id="R3591f8c530f74b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6f54def21496f" /><Relationship Type="http://schemas.openxmlformats.org/officeDocument/2006/relationships/notesSlide" Target="/ppt/notesSlides/notesSlide10.xml" Id="Rc126a15ac7334a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89d8e14374452" /><Relationship Type="http://schemas.openxmlformats.org/officeDocument/2006/relationships/notesSlide" Target="/ppt/notesSlides/notesSlide11.xml" Id="R0e597db8131540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b69237a4946e0" /><Relationship Type="http://schemas.openxmlformats.org/officeDocument/2006/relationships/notesSlide" Target="/ppt/notesSlides/notesSlide12.xml" Id="R14fb8961429046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bc32a7fa546b2" /><Relationship Type="http://schemas.openxmlformats.org/officeDocument/2006/relationships/notesSlide" Target="/ppt/notesSlides/notesSlide13.xml" Id="Rb8d6805898494b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75efe9feb4705" /><Relationship Type="http://schemas.openxmlformats.org/officeDocument/2006/relationships/notesSlide" Target="/ppt/notesSlides/notesSlide14.xml" Id="Reba056dd46534d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ba92c0ca9458f" /><Relationship Type="http://schemas.openxmlformats.org/officeDocument/2006/relationships/notesSlide" Target="/ppt/notesSlides/notesSlide15.xml" Id="R07b000d0b7f94c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5d3ce2dd6410b" /><Relationship Type="http://schemas.openxmlformats.org/officeDocument/2006/relationships/notesSlide" Target="/ppt/notesSlides/notesSlide16.xml" Id="Rf0062ad5b65544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5fd01b0a643fe" /><Relationship Type="http://schemas.openxmlformats.org/officeDocument/2006/relationships/notesSlide" Target="/ppt/notesSlides/notesSlide17.xml" Id="R5cb731a9917944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d0ef7472644db" /><Relationship Type="http://schemas.openxmlformats.org/officeDocument/2006/relationships/notesSlide" Target="/ppt/notesSlides/notesSlide18.xml" Id="Rfb33825d03024b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78c0cd2d04047" /><Relationship Type="http://schemas.openxmlformats.org/officeDocument/2006/relationships/notesSlide" Target="/ppt/notesSlides/notesSlide19.xml" Id="R2ad0a1fce24d42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956d7bbc94e4f" /><Relationship Type="http://schemas.openxmlformats.org/officeDocument/2006/relationships/notesSlide" Target="/ppt/notesSlides/notesSlide20.xml" Id="R597c21b45480463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ef3e71d7f4012" /><Relationship Type="http://schemas.openxmlformats.org/officeDocument/2006/relationships/notesSlide" Target="/ppt/notesSlides/notesSlide21.xml" Id="Rc386e74ced5340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5bdfe472e4f09" /><Relationship Type="http://schemas.openxmlformats.org/officeDocument/2006/relationships/image" Target="/ppt/media/image3.png" Id="R6ae43ba1a6a143a7" /><Relationship Type="http://schemas.openxmlformats.org/officeDocument/2006/relationships/notesSlide" Target="/ppt/notesSlides/notesSlide22.xml" Id="Rc4e7e31283d944a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0e80da23d49a6" /><Relationship Type="http://schemas.openxmlformats.org/officeDocument/2006/relationships/notesSlide" Target="/ppt/notesSlides/notesSlide23.xml" Id="R740b65982f3a49e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cf17504a04034" /><Relationship Type="http://schemas.openxmlformats.org/officeDocument/2006/relationships/notesSlide" Target="/ppt/notesSlides/notesSlide24.xml" Id="R3acbdba35f0a4b1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8f5bf46fb4d67" /><Relationship Type="http://schemas.openxmlformats.org/officeDocument/2006/relationships/image" Target="/ppt/media/image4.png" Id="R66f243fc272846f7" /><Relationship Type="http://schemas.openxmlformats.org/officeDocument/2006/relationships/notesSlide" Target="/ppt/notesSlides/notesSlide25.xml" Id="R6e0dcb0c15e441f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9faa9122b4f58" /><Relationship Type="http://schemas.openxmlformats.org/officeDocument/2006/relationships/notesSlide" Target="/ppt/notesSlides/notesSlide26.xml" Id="R5ae7e68ae217471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b007cdb3d41ac" /><Relationship Type="http://schemas.openxmlformats.org/officeDocument/2006/relationships/notesSlide" Target="/ppt/notesSlides/notesSlide27.xml" Id="Rdaf754fbf8ae424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e255be2184cee" /><Relationship Type="http://schemas.openxmlformats.org/officeDocument/2006/relationships/notesSlide" Target="/ppt/notesSlides/notesSlide28.xml" Id="R5b1ec06029d041a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6529a22204bce" /><Relationship Type="http://schemas.openxmlformats.org/officeDocument/2006/relationships/notesSlide" Target="/ppt/notesSlides/notesSlide29.xml" Id="R09df182415e0488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0fd3a7b4b4fc7" /><Relationship Type="http://schemas.openxmlformats.org/officeDocument/2006/relationships/notesSlide" Target="/ppt/notesSlides/notesSlide30.xml" Id="R5b9810856d74469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5b842da054276" /><Relationship Type="http://schemas.openxmlformats.org/officeDocument/2006/relationships/notesSlide" Target="/ppt/notesSlides/notesSlide31.xml" Id="Ra1460f7b1177407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9026adb80426b" /><Relationship Type="http://schemas.openxmlformats.org/officeDocument/2006/relationships/notesSlide" Target="/ppt/notesSlides/notesSlide32.xml" Id="Rc59454a1a8cc427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377b07ec84c61" /><Relationship Type="http://schemas.openxmlformats.org/officeDocument/2006/relationships/notesSlide" Target="/ppt/notesSlides/notesSlide33.xml" Id="R9690f62e4ccd487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8d0cddf644886" /><Relationship Type="http://schemas.openxmlformats.org/officeDocument/2006/relationships/notesSlide" Target="/ppt/notesSlides/notesSlide34.xml" Id="R143b636fc6d9448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b4fa08f3c4e1d" /><Relationship Type="http://schemas.openxmlformats.org/officeDocument/2006/relationships/notesSlide" Target="/ppt/notesSlides/notesSlide35.xml" Id="R027afd45606f4d3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5f67ebf334e9c" /><Relationship Type="http://schemas.openxmlformats.org/officeDocument/2006/relationships/notesSlide" Target="/ppt/notesSlides/notesSlide36.xml" Id="R5e1c0daf1964402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6a37aba844cae" /><Relationship Type="http://schemas.openxmlformats.org/officeDocument/2006/relationships/notesSlide" Target="/ppt/notesSlides/notesSlide37.xml" Id="R636e375bacfb456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225ac60cd47d0" /><Relationship Type="http://schemas.openxmlformats.org/officeDocument/2006/relationships/notesSlide" Target="/ppt/notesSlides/notesSlide38.xml" Id="Ref863c6a674b460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01160ceb74476" /><Relationship Type="http://schemas.openxmlformats.org/officeDocument/2006/relationships/notesSlide" Target="/ppt/notesSlides/notesSlide39.xml" Id="Rc44cd57b4b89409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8a9e504e640f6" /><Relationship Type="http://schemas.openxmlformats.org/officeDocument/2006/relationships/notesSlide" Target="/ppt/notesSlides/notesSlide40.xml" Id="Rd6c8b60bad534f9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f33bb5da74e1a" /><Relationship Type="http://schemas.openxmlformats.org/officeDocument/2006/relationships/image" Target="/ppt/media/image5.png" Id="Rc846e0291f364b94" /><Relationship Type="http://schemas.openxmlformats.org/officeDocument/2006/relationships/notesSlide" Target="/ppt/notesSlides/notesSlide41.xml" Id="Rfc460b456e70414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7f39338b24b69" /><Relationship Type="http://schemas.openxmlformats.org/officeDocument/2006/relationships/notesSlide" Target="/ppt/notesSlides/notesSlide42.xml" Id="Ra1f48ab8a012405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20dd0777b41db" /><Relationship Type="http://schemas.openxmlformats.org/officeDocument/2006/relationships/notesSlide" Target="/ppt/notesSlides/notesSlide43.xml" Id="R546673fc67a5494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a31817c034280" /><Relationship Type="http://schemas.openxmlformats.org/officeDocument/2006/relationships/notesSlide" Target="/ppt/notesSlides/notesSlide44.xml" Id="Rfd4bd563f71f4c7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47f5eb4ce47e8" /><Relationship Type="http://schemas.openxmlformats.org/officeDocument/2006/relationships/notesSlide" Target="/ppt/notesSlides/notesSlide45.xml" Id="R22227e2aaf50482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b36e78a954e5f" /><Relationship Type="http://schemas.openxmlformats.org/officeDocument/2006/relationships/notesSlide" Target="/ppt/notesSlides/notesSlide46.xml" Id="R0a0a3b9907d043b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b91c5362145e1" /><Relationship Type="http://schemas.openxmlformats.org/officeDocument/2006/relationships/notesSlide" Target="/ppt/notesSlides/notesSlide47.xml" Id="Ra184cd58ba9645d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b917e98974a99" /><Relationship Type="http://schemas.openxmlformats.org/officeDocument/2006/relationships/notesSlide" Target="/ppt/notesSlides/notesSlide48.xml" Id="R42c54c020e714e1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06e5d0311423c" /><Relationship Type="http://schemas.openxmlformats.org/officeDocument/2006/relationships/notesSlide" Target="/ppt/notesSlides/notesSlide49.xml" Id="Rd115aa7a50814e5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3433464f344ff" /><Relationship Type="http://schemas.openxmlformats.org/officeDocument/2006/relationships/notesSlide" Target="/ppt/notesSlides/notesSlide50.xml" Id="R6565ca41718e4f9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f7719132b43df" /><Relationship Type="http://schemas.openxmlformats.org/officeDocument/2006/relationships/notesSlide" Target="/ppt/notesSlides/notesSlide51.xml" Id="Rc518249fb46a437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cd641572b4273" /><Relationship Type="http://schemas.openxmlformats.org/officeDocument/2006/relationships/notesSlide" Target="/ppt/notesSlides/notesSlide52.xml" Id="Rd3928872864a4f2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9bd557d3e4e86" /><Relationship Type="http://schemas.openxmlformats.org/officeDocument/2006/relationships/notesSlide" Target="/ppt/notesSlides/notesSlide53.xml" Id="Ra628324729c14a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600e11b304d8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JANGO / WEB DEVELOPMENT">
            <a:extLst xmlns:a="http://schemas.openxmlformats.org/drawingml/2006/main">
              <a:ext uri="{FF2B5EF4-FFF2-40B4-BE49-F238E27FC236}">
                <a16:creationId xmlns:a16="http://schemas.microsoft.com/office/drawing/2014/main" id="{C9BF74CC-6C0C-43F6-996D-887D9D5F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722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DJANGO / WEB DEVELOPMENT</a:t>
            </a:r>
          </a:p>
        </p:txBody>
      </p:sp>
      <p:sp>
        <p:nvSpPr>
          <p:cNvPr id="3" name="Django 網站建立 與專案檔案解析">
            <a:extLst xmlns:a="http://schemas.openxmlformats.org/drawingml/2006/main">
              <a:ext uri="{FF2B5EF4-FFF2-40B4-BE49-F238E27FC236}">
                <a16:creationId xmlns:a16="http://schemas.microsoft.com/office/drawing/2014/main" id="{2EA4678B-1594-4370-8C55-AF27A1C0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2390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Building Websites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with Django</a:t>
            </a:r>
          </a:p>
        </p:txBody>
      </p:sp>
      <p:sp>
        <p:nvSpPr>
          <p:cNvPr id="4" name="從第一個網頁到資料、模板與表單">
            <a:extLst xmlns:a="http://schemas.openxmlformats.org/drawingml/2006/main">
              <a:ext uri="{FF2B5EF4-FFF2-40B4-BE49-F238E27FC236}">
                <a16:creationId xmlns:a16="http://schemas.microsoft.com/office/drawing/2014/main" id="{A3EA4ECE-C3DF-4500-88DF-C37AD0DE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Project files, data, templates and forms</a:t>
            </a:r>
          </a:p>
        </p:txBody>
      </p:sp>
      <p:sp>
        <p:nvSpPr>
          <p:cNvPr id="5" name="物件導向程式設計　／　中文補充教材 Python 3.12　Django 5.2">
            <a:extLst xmlns:a="http://schemas.openxmlformats.org/drawingml/2006/main">
              <a:ext uri="{FF2B5EF4-FFF2-40B4-BE49-F238E27FC236}">
                <a16:creationId xmlns:a16="http://schemas.microsoft.com/office/drawing/2014/main" id="{9B255240-AEFE-4A7D-9968-2EF5BEC8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9775"/>
            <a:ext cx="7429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DC7CD"/>
                </a:solidFill>
                <a:latin typeface="Arial"/>
                <a:ea typeface="Arial"/>
                <a:cs typeface="Arial"/>
              </a:rPr>
              <a:t>Object-oriented programming / English edition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DC7CD"/>
                </a:solidFill>
                <a:latin typeface="Arial"/>
                <a:ea typeface="Arial"/>
                <a:cs typeface="Arial"/>
              </a:rPr>
              <a:t>Python 3.12  Django 5.2</a:t>
            </a:r>
          </a:p>
        </p:txBody>
      </p:sp>
    </p:spTree>
    <p:extLst>
      <p:ext uri="{BB962C8B-B14F-4D97-AF65-F5344CB8AC3E}">
        <p14:creationId xmlns:p14="http://schemas.microsoft.com/office/powerpoint/2010/main" val="1656160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本次建立的商品目錄網站">
            <a:extLst xmlns:a="http://schemas.openxmlformats.org/drawingml/2006/main">
              <a:ext uri="{FF2B5EF4-FFF2-40B4-BE49-F238E27FC236}">
                <a16:creationId xmlns:a16="http://schemas.microsoft.com/office/drawing/2014/main" id="{2E3AAFD1-33B5-4FA9-B8B4-D1A7E2B5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Our product catalog website</a:t>
            </a:r>
          </a:p>
        </p:txBody>
      </p:sp>
      <p:sp>
        <p:nvSpPr>
          <p:cNvPr id="2" name="一個可執行的專案，連結所有檔案的用途">
            <a:extLst xmlns:a="http://schemas.openxmlformats.org/drawingml/2006/main">
              <a:ext uri="{FF2B5EF4-FFF2-40B4-BE49-F238E27FC236}">
                <a16:creationId xmlns:a16="http://schemas.microsoft.com/office/drawing/2014/main" id="{E2878EDA-5E89-4785-8A19-18C06BA5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One working project connects all the files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8360CE27-0DC8-47EB-9E22-559C66D1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5cb602c03432e"/>
          <a:stretch xmlns:a="http://schemas.openxmlformats.org/drawingml/2006/main"/>
        </p:blipFill>
        <p:spPr>
          <a:xfrm xmlns:a="http://schemas.openxmlformats.org/drawingml/2006/main">
            <a:off x="612457" y="1743075"/>
            <a:ext cx="7376160" cy="4610100"/>
          </a:xfrm>
          <a:prstGeom xmlns:a="http://schemas.openxmlformats.org/drawingml/2006/main" prst="rect">
            <a:avLst/>
          </a:prstGeom>
        </p:spPr>
      </p:pic>
      <p:sp>
        <p:nvSpPr>
          <p:cNvPr id="5" name="瀏覽商品">
            <a:extLst xmlns:a="http://schemas.openxmlformats.org/drawingml/2006/main">
              <a:ext uri="{FF2B5EF4-FFF2-40B4-BE49-F238E27FC236}">
                <a16:creationId xmlns:a16="http://schemas.microsoft.com/office/drawing/2014/main" id="{8986DE33-8D1F-4B40-A6C3-C967C5AD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9550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Browse products</a:t>
            </a:r>
          </a:p>
        </p:txBody>
      </p:sp>
      <p:sp>
        <p:nvSpPr>
          <p:cNvPr id="6" name="列表、價格與庫存狀態">
            <a:extLst xmlns:a="http://schemas.openxmlformats.org/drawingml/2006/main">
              <a:ext uri="{FF2B5EF4-FFF2-40B4-BE49-F238E27FC236}">
                <a16:creationId xmlns:a16="http://schemas.microsoft.com/office/drawing/2014/main" id="{528E1A30-F650-4BA0-B9F9-15A1568B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5270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A list with prices and availability</a:t>
            </a:r>
          </a:p>
        </p:txBody>
      </p:sp>
      <p:sp>
        <p:nvSpPr>
          <p:cNvPr id="7" name="查看內容">
            <a:extLst xmlns:a="http://schemas.openxmlformats.org/drawingml/2006/main">
              <a:ext uri="{FF2B5EF4-FFF2-40B4-BE49-F238E27FC236}">
                <a16:creationId xmlns:a16="http://schemas.microsoft.com/office/drawing/2014/main" id="{CB508732-EFF1-440F-B83E-E9A47256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8612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View details</a:t>
            </a:r>
          </a:p>
        </p:txBody>
      </p:sp>
      <p:sp>
        <p:nvSpPr>
          <p:cNvPr id="8" name="以商品編號取得單筆資料">
            <a:extLst xmlns:a="http://schemas.openxmlformats.org/drawingml/2006/main">
              <a:ext uri="{FF2B5EF4-FFF2-40B4-BE49-F238E27FC236}">
                <a16:creationId xmlns:a16="http://schemas.microsoft.com/office/drawing/2014/main" id="{F42B5CAF-B5C8-45BA-B010-F7F0E20E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4332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Retrieve one product by its ID</a:t>
            </a:r>
          </a:p>
        </p:txBody>
      </p:sp>
      <p:sp>
        <p:nvSpPr>
          <p:cNvPr id="9" name="新增資料">
            <a:extLst xmlns:a="http://schemas.openxmlformats.org/drawingml/2006/main">
              <a:ext uri="{FF2B5EF4-FFF2-40B4-BE49-F238E27FC236}">
                <a16:creationId xmlns:a16="http://schemas.microsoft.com/office/drawing/2014/main" id="{50B2758B-50AC-42DC-8AA7-693EB386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7675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Add products</a:t>
            </a:r>
          </a:p>
        </p:txBody>
      </p:sp>
      <p:sp>
        <p:nvSpPr>
          <p:cNvPr id="10" name="表單驗證後寫入資料庫">
            <a:extLst xmlns:a="http://schemas.openxmlformats.org/drawingml/2006/main">
              <a:ext uri="{FF2B5EF4-FFF2-40B4-BE49-F238E27FC236}">
                <a16:creationId xmlns:a16="http://schemas.microsoft.com/office/drawing/2014/main" id="{9D1A922B-D03D-4F83-8393-23CFF943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93395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Validate a form and save the data</a:t>
            </a:r>
          </a:p>
        </p:txBody>
      </p:sp>
      <p:sp>
        <p:nvSpPr>
          <p:cNvPr id="11" name="完成版範例：Django_網站入門_範例.zip">
            <a:extLst xmlns:a="http://schemas.openxmlformats.org/drawingml/2006/main">
              <a:ext uri="{FF2B5EF4-FFF2-40B4-BE49-F238E27FC236}">
                <a16:creationId xmlns:a16="http://schemas.microsoft.com/office/drawing/2014/main" id="{A2C20628-7CD7-4FA3-82C8-3798939C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Complete example: Django_Website_Starter_EN.zip</a:t>
            </a:r>
          </a:p>
        </p:txBody>
      </p:sp>
    </p:spTree>
    <p:extLst>
      <p:ext uri="{BB962C8B-B14F-4D97-AF65-F5344CB8AC3E}">
        <p14:creationId xmlns:p14="http://schemas.microsoft.com/office/powerpoint/2010/main" val="473680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網站運作的基本概念">
            <a:extLst xmlns:a="http://schemas.openxmlformats.org/drawingml/2006/main">
              <a:ext uri="{FF2B5EF4-FFF2-40B4-BE49-F238E27FC236}">
                <a16:creationId xmlns:a16="http://schemas.microsoft.com/office/drawing/2014/main" id="{DDD0BA85-AA03-4F59-B308-96F54467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How a website works</a:t>
            </a:r>
          </a:p>
        </p:txBody>
      </p:sp>
      <p:sp>
        <p:nvSpPr>
          <p:cNvPr id="2" name="瀏覽器與伺服器各有不同工作">
            <a:extLst xmlns:a="http://schemas.openxmlformats.org/drawingml/2006/main">
              <a:ext uri="{FF2B5EF4-FFF2-40B4-BE49-F238E27FC236}">
                <a16:creationId xmlns:a16="http://schemas.microsoft.com/office/drawing/2014/main" id="{AF5B6E2A-0366-4F5D-B436-3DD6BEE7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The browser and server have different roles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7CC67FA7-4C87-4AFC-930C-C30ABBBC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瀏覽器">
            <a:extLst xmlns:a="http://schemas.openxmlformats.org/drawingml/2006/main">
              <a:ext uri="{FF2B5EF4-FFF2-40B4-BE49-F238E27FC236}">
                <a16:creationId xmlns:a16="http://schemas.microsoft.com/office/drawing/2014/main" id="{856306FA-9193-4D45-884B-F3F658DD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5" name="送出 HTTP 請求，顯示 HTML，套用 CSS 與 JavaScript。">
            <a:extLst xmlns:a="http://schemas.openxmlformats.org/drawingml/2006/main">
              <a:ext uri="{FF2B5EF4-FFF2-40B4-BE49-F238E27FC236}">
                <a16:creationId xmlns:a16="http://schemas.microsoft.com/office/drawing/2014/main" id="{E3286711-651E-4607-983B-CDD97985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Sends HTTP requests and displays HTML with CSS and JavaScript.</a:t>
            </a:r>
          </a:p>
        </p:txBody>
      </p:sp>
      <p:sp>
        <p:nvSpPr>
          <p:cNvPr id="6" name="Django">
            <a:extLst xmlns:a="http://schemas.openxmlformats.org/drawingml/2006/main">
              <a:ext uri="{FF2B5EF4-FFF2-40B4-BE49-F238E27FC236}">
                <a16:creationId xmlns:a16="http://schemas.microsoft.com/office/drawing/2014/main" id="{E41BB450-0462-44EA-9227-0F23B742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Django</a:t>
            </a:r>
          </a:p>
        </p:txBody>
      </p:sp>
      <p:sp>
        <p:nvSpPr>
          <p:cNvPr id="7" name="在伺服器執行 Python，處理路由、資料與回應。">
            <a:extLst xmlns:a="http://schemas.openxmlformats.org/drawingml/2006/main">
              <a:ext uri="{FF2B5EF4-FFF2-40B4-BE49-F238E27FC236}">
                <a16:creationId xmlns:a16="http://schemas.microsoft.com/office/drawing/2014/main" id="{F4311AE7-92E0-484E-AC96-A46B9F9D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Runs Python on the server to handle URLs, data and responses.</a:t>
            </a:r>
          </a:p>
        </p:txBody>
      </p:sp>
      <p:sp>
        <p:nvSpPr>
          <p:cNvPr id="8" name="資料庫">
            <a:extLst xmlns:a="http://schemas.openxmlformats.org/drawingml/2006/main">
              <a:ext uri="{FF2B5EF4-FFF2-40B4-BE49-F238E27FC236}">
                <a16:creationId xmlns:a16="http://schemas.microsoft.com/office/drawing/2014/main" id="{B45B1448-A3DF-4323-8CFC-D79E0B7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9" name="儲存商品資料，讓資料在程式重新啟動後仍可保留。">
            <a:extLst xmlns:a="http://schemas.openxmlformats.org/drawingml/2006/main">
              <a:ext uri="{FF2B5EF4-FFF2-40B4-BE49-F238E27FC236}">
                <a16:creationId xmlns:a16="http://schemas.microsoft.com/office/drawing/2014/main" id="{674C5C44-C614-4253-AFD3-731178E9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Stores products so the data survives a program restart.</a:t>
            </a:r>
          </a:p>
        </p:txBody>
      </p:sp>
      <p:sp>
        <p:nvSpPr>
          <p:cNvPr id="10" name="URL">
            <a:extLst xmlns:a="http://schemas.openxmlformats.org/drawingml/2006/main">
              <a:ext uri="{FF2B5EF4-FFF2-40B4-BE49-F238E27FC236}">
                <a16:creationId xmlns:a16="http://schemas.microsoft.com/office/drawing/2014/main" id="{2193E78A-D565-41DD-8153-FEEC24A4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URL</a:t>
            </a:r>
          </a:p>
        </p:txBody>
      </p:sp>
      <p:sp>
        <p:nvSpPr>
          <p:cNvPr id="11" name="例如 /products/，由路由規則決定交給哪個函式。">
            <a:extLst xmlns:a="http://schemas.openxmlformats.org/drawingml/2006/main">
              <a:ext uri="{FF2B5EF4-FFF2-40B4-BE49-F238E27FC236}">
                <a16:creationId xmlns:a16="http://schemas.microsoft.com/office/drawing/2014/main" id="{5284A46E-A4DA-4064-ADF5-D230EA73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A route such as /products/ determines which view handles a request.</a:t>
            </a:r>
          </a:p>
        </p:txBody>
      </p:sp>
      <p:sp>
        <p:nvSpPr>
          <p:cNvPr id="12" name="瀏覽器收到的是回應內容，不會直接執行伺服器上的 Python。">
            <a:extLst xmlns:a="http://schemas.openxmlformats.org/drawingml/2006/main">
              <a:ext uri="{FF2B5EF4-FFF2-40B4-BE49-F238E27FC236}">
                <a16:creationId xmlns:a16="http://schemas.microsoft.com/office/drawing/2014/main" id="{F2805499-B3FF-4DA7-AEF7-8D708DFA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The browser receives a response. Server-side Python runs on the server.</a:t>
            </a:r>
          </a:p>
        </p:txBody>
      </p:sp>
    </p:spTree>
    <p:extLst>
      <p:ext uri="{BB962C8B-B14F-4D97-AF65-F5344CB8AC3E}">
        <p14:creationId xmlns:p14="http://schemas.microsoft.com/office/powerpoint/2010/main" val="2232145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jango 的 Model、View 與 Template">
            <a:extLst xmlns:a="http://schemas.openxmlformats.org/drawingml/2006/main">
              <a:ext uri="{FF2B5EF4-FFF2-40B4-BE49-F238E27FC236}">
                <a16:creationId xmlns:a16="http://schemas.microsoft.com/office/drawing/2014/main" id="{FF9C46DA-DE5A-4D0B-949B-A95F10FB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Model, View and Template</a:t>
            </a:r>
          </a:p>
        </p:txBody>
      </p:sp>
      <p:sp>
        <p:nvSpPr>
          <p:cNvPr id="2" name="MVT 是理解網站責任分工的起點">
            <a:extLst xmlns:a="http://schemas.openxmlformats.org/drawingml/2006/main">
              <a:ext uri="{FF2B5EF4-FFF2-40B4-BE49-F238E27FC236}">
                <a16:creationId xmlns:a16="http://schemas.microsoft.com/office/drawing/2014/main" id="{6A0DD917-FAB5-40A6-8267-50A99BD4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MVT separates the responsibilities of a website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2BF02E14-6951-4E2A-8BE2-47B92251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4286250"/>
                <a:gridCol w="4781550"/>
              </a:tblGrid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Location in this example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catalog/models.py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Data fields and object behavior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View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catalog/views.py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Handle requests and build responses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Template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catalog/templates/catalog/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Insert data into HTML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URLconf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config/urls.py, catalog/urls.py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Map URLs to views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Django 的 view 通常負責處理請求；畫面結構主要放在 template。">
            <a:extLst xmlns:a="http://schemas.openxmlformats.org/drawingml/2006/main">
              <a:ext uri="{FF2B5EF4-FFF2-40B4-BE49-F238E27FC236}">
                <a16:creationId xmlns:a16="http://schemas.microsoft.com/office/drawing/2014/main" id="{B49EFB70-1F90-460B-88AC-B04E795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A Django view handles the request. A template mainly defines the page structure.</a:t>
            </a:r>
          </a:p>
        </p:txBody>
      </p:sp>
    </p:spTree>
    <p:extLst>
      <p:ext uri="{BB962C8B-B14F-4D97-AF65-F5344CB8AC3E}">
        <p14:creationId xmlns:p14="http://schemas.microsoft.com/office/powerpoint/2010/main" val="768765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環境與版本">
            <a:extLst xmlns:a="http://schemas.openxmlformats.org/drawingml/2006/main">
              <a:ext uri="{FF2B5EF4-FFF2-40B4-BE49-F238E27FC236}">
                <a16:creationId xmlns:a16="http://schemas.microsoft.com/office/drawing/2014/main" id="{B764CD55-0469-47B7-BF1E-F99087F3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Tools and versions</a:t>
            </a:r>
          </a:p>
        </p:txBody>
      </p:sp>
      <p:sp>
        <p:nvSpPr>
          <p:cNvPr id="2" name="本教材使用 Python 3.12 與 Django 5.2">
            <a:extLst xmlns:a="http://schemas.openxmlformats.org/drawingml/2006/main">
              <a:ext uri="{FF2B5EF4-FFF2-40B4-BE49-F238E27FC236}">
                <a16:creationId xmlns:a16="http://schemas.microsoft.com/office/drawing/2014/main" id="{63730656-91DC-4928-98F5-B5250DCF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This material uses Python 3.12 and Django 5.2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F92D005E-0EF2-462B-8C27-12754FDE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Python">
            <a:extLst xmlns:a="http://schemas.openxmlformats.org/drawingml/2006/main">
              <a:ext uri="{FF2B5EF4-FFF2-40B4-BE49-F238E27FC236}">
                <a16:creationId xmlns:a16="http://schemas.microsoft.com/office/drawing/2014/main" id="{5463490B-1BC9-40CA-BCCE-90FD4A6D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5" name="執行網站的語言環境。先確認 python --version。">
            <a:extLst xmlns:a="http://schemas.openxmlformats.org/drawingml/2006/main">
              <a:ext uri="{FF2B5EF4-FFF2-40B4-BE49-F238E27FC236}">
                <a16:creationId xmlns:a16="http://schemas.microsoft.com/office/drawing/2014/main" id="{10A48F63-0C47-4701-A3F5-E6449990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The runtime for the website. Check it with python --version.</a:t>
            </a:r>
          </a:p>
        </p:txBody>
      </p:sp>
      <p:sp>
        <p:nvSpPr>
          <p:cNvPr id="6" name="虛擬環境">
            <a:extLst xmlns:a="http://schemas.openxmlformats.org/drawingml/2006/main">
              <a:ext uri="{FF2B5EF4-FFF2-40B4-BE49-F238E27FC236}">
                <a16:creationId xmlns:a16="http://schemas.microsoft.com/office/drawing/2014/main" id="{0253EDA4-B5AB-4A5E-A010-08E864AB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Virtual environment</a:t>
            </a:r>
          </a:p>
        </p:txBody>
      </p:sp>
      <p:sp>
        <p:nvSpPr>
          <p:cNvPr id="7" name="每個專案使用自己的套件，避免不同課程互相影響。">
            <a:extLst xmlns:a="http://schemas.openxmlformats.org/drawingml/2006/main">
              <a:ext uri="{FF2B5EF4-FFF2-40B4-BE49-F238E27FC236}">
                <a16:creationId xmlns:a16="http://schemas.microsoft.com/office/drawing/2014/main" id="{252CDEBE-1868-4CCD-9A22-33FC13EC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Separate packages for each project prevent dependency conflicts.</a:t>
            </a:r>
          </a:p>
        </p:txBody>
      </p:sp>
      <p:sp>
        <p:nvSpPr>
          <p:cNvPr id="8" name="編輯器與終端機">
            <a:extLst xmlns:a="http://schemas.openxmlformats.org/drawingml/2006/main">
              <a:ext uri="{FF2B5EF4-FFF2-40B4-BE49-F238E27FC236}">
                <a16:creationId xmlns:a16="http://schemas.microsoft.com/office/drawing/2014/main" id="{CE2FEBBB-29A2-435C-957C-92CBDFF9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Editor and terminal</a:t>
            </a:r>
          </a:p>
        </p:txBody>
      </p:sp>
      <p:sp>
        <p:nvSpPr>
          <p:cNvPr id="9" name="用 VS Code 編輯程式，在 PowerShell 執行命令。">
            <a:extLst xmlns:a="http://schemas.openxmlformats.org/drawingml/2006/main">
              <a:ext uri="{FF2B5EF4-FFF2-40B4-BE49-F238E27FC236}">
                <a16:creationId xmlns:a16="http://schemas.microsoft.com/office/drawing/2014/main" id="{876CA2E4-4F87-481D-B20D-6CF81E7C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Edit code in VS Code and run commands in PowerShell.</a:t>
            </a:r>
          </a:p>
        </p:txBody>
      </p:sp>
      <p:sp>
        <p:nvSpPr>
          <p:cNvPr id="10" name="瀏覽器">
            <a:extLst xmlns:a="http://schemas.openxmlformats.org/drawingml/2006/main">
              <a:ext uri="{FF2B5EF4-FFF2-40B4-BE49-F238E27FC236}">
                <a16:creationId xmlns:a16="http://schemas.microsoft.com/office/drawing/2014/main" id="{EBB5049B-6F0D-4E96-8046-1FFCCB17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1" name="開啟 http://127.0.0.1:8000/ 檢查網站。">
            <a:extLst xmlns:a="http://schemas.openxmlformats.org/drawingml/2006/main">
              <a:ext uri="{FF2B5EF4-FFF2-40B4-BE49-F238E27FC236}">
                <a16:creationId xmlns:a16="http://schemas.microsoft.com/office/drawing/2014/main" id="{11CBA5ED-4C2D-44D1-B753-265A66DA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Open http://127.0.0.1:8000/ to check the website.</a:t>
            </a:r>
          </a:p>
        </p:txBody>
      </p:sp>
      <p:sp>
        <p:nvSpPr>
          <p:cNvPr id="12" name="範例指令以 Windows PowerShell 為主。">
            <a:extLst xmlns:a="http://schemas.openxmlformats.org/drawingml/2006/main">
              <a:ext uri="{FF2B5EF4-FFF2-40B4-BE49-F238E27FC236}">
                <a16:creationId xmlns:a16="http://schemas.microsoft.com/office/drawing/2014/main" id="{02520DE1-9730-4BFA-AD78-DBFA9757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Commands mainly use Windows PowerShell.</a:t>
            </a:r>
          </a:p>
        </p:txBody>
      </p:sp>
    </p:spTree>
    <p:extLst>
      <p:ext uri="{BB962C8B-B14F-4D97-AF65-F5344CB8AC3E}">
        <p14:creationId xmlns:p14="http://schemas.microsoft.com/office/powerpoint/2010/main" val="16939518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建立工作目錄與虛擬環境">
            <a:extLst xmlns:a="http://schemas.openxmlformats.org/drawingml/2006/main">
              <a:ext uri="{FF2B5EF4-FFF2-40B4-BE49-F238E27FC236}">
                <a16:creationId xmlns:a16="http://schemas.microsoft.com/office/drawing/2014/main" id="{E2F0E2FD-C557-45B7-93D8-5DD96479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Workspace and virtual environment</a:t>
            </a:r>
          </a:p>
        </p:txBody>
      </p:sp>
      <p:sp>
        <p:nvSpPr>
          <p:cNvPr id="2" name="PowerShell：先選擇要存放專案的位置">
            <a:extLst xmlns:a="http://schemas.openxmlformats.org/drawingml/2006/main">
              <a:ext uri="{FF2B5EF4-FFF2-40B4-BE49-F238E27FC236}">
                <a16:creationId xmlns:a16="http://schemas.microsoft.com/office/drawing/2014/main" id="{8473C6CC-3EF9-47DE-92FD-B3641435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PowerShell: choose a location for your project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6698893D-9367-4342-968B-521E8695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mkdir django_shop">
            <a:extLst xmlns:a="http://schemas.openxmlformats.org/drawingml/2006/main">
              <a:ext uri="{FF2B5EF4-FFF2-40B4-BE49-F238E27FC236}">
                <a16:creationId xmlns:a16="http://schemas.microsoft.com/office/drawing/2014/main" id="{00DA5B04-8C1C-4A48-B92E-0DD69A01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mkdir django_shop</a:t>
            </a:r>
          </a:p>
        </p:txBody>
      </p:sp>
      <p:sp>
        <p:nvSpPr>
          <p:cNvPr id="5" name="cd django_shop">
            <a:extLst xmlns:a="http://schemas.openxmlformats.org/drawingml/2006/main">
              <a:ext uri="{FF2B5EF4-FFF2-40B4-BE49-F238E27FC236}">
                <a16:creationId xmlns:a16="http://schemas.microsoft.com/office/drawing/2014/main" id="{63EB96BE-85F0-4581-A07C-28A6F659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cd django_shop</a:t>
            </a:r>
          </a:p>
        </p:txBody>
      </p:sp>
      <p:sp>
        <p:nvSpPr>
          <p:cNvPr id="6" name="python --version">
            <a:extLst xmlns:a="http://schemas.openxmlformats.org/drawingml/2006/main">
              <a:ext uri="{FF2B5EF4-FFF2-40B4-BE49-F238E27FC236}">
                <a16:creationId xmlns:a16="http://schemas.microsoft.com/office/drawing/2014/main" id="{B1A170C9-A34B-4597-88F2-E338FFC8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--version</a:t>
            </a:r>
          </a:p>
        </p:txBody>
      </p:sp>
      <p:sp>
        <p:nvSpPr>
          <p:cNvPr id="7" name="python -m venv .venv">
            <a:extLst xmlns:a="http://schemas.openxmlformats.org/drawingml/2006/main">
              <a:ext uri="{FF2B5EF4-FFF2-40B4-BE49-F238E27FC236}">
                <a16:creationId xmlns:a16="http://schemas.microsoft.com/office/drawing/2014/main" id="{4E6A156A-2B6A-4363-9587-433A456A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-m venv .venv</a:t>
            </a:r>
          </a:p>
        </p:txBody>
      </p:sp>
      <p:sp>
        <p:nvSpPr>
          <p:cNvPr id="8" name=".\.venv\Scripts\Activate.ps1">
            <a:extLst xmlns:a="http://schemas.openxmlformats.org/drawingml/2006/main">
              <a:ext uri="{FF2B5EF4-FFF2-40B4-BE49-F238E27FC236}">
                <a16:creationId xmlns:a16="http://schemas.microsoft.com/office/drawing/2014/main" id="{E7AF1C92-241F-4524-AEE6-747BAD0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.\.venv\Scripts\Activate.ps1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5D35C-8A10-44E3-80E9-5DF102BC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python -c &quot;import sys; print(sys.executable)&quot;">
            <a:extLst xmlns:a="http://schemas.openxmlformats.org/drawingml/2006/main">
              <a:ext uri="{FF2B5EF4-FFF2-40B4-BE49-F238E27FC236}">
                <a16:creationId xmlns:a16="http://schemas.microsoft.com/office/drawing/2014/main" id="{AC8B05FC-B3D8-48CC-A20E-A7A141B7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-c "import sys; print(sys.executable)"</a:t>
            </a:r>
          </a:p>
        </p:txBody>
      </p:sp>
      <p:sp>
        <p:nvSpPr>
          <p:cNvPr id="11" name="確認執行環境">
            <a:extLst xmlns:a="http://schemas.openxmlformats.org/drawingml/2006/main">
              <a:ext uri="{FF2B5EF4-FFF2-40B4-BE49-F238E27FC236}">
                <a16:creationId xmlns:a16="http://schemas.microsoft.com/office/drawing/2014/main" id="{499387ED-26E3-403E-9AE7-C9E7CDC6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Runtime check</a:t>
            </a:r>
          </a:p>
        </p:txBody>
      </p:sp>
      <p:sp>
        <p:nvSpPr>
          <p:cNvPr id="12" name="最後一行應顯示 .venv 裡的 Python 路徑。">
            <a:extLst xmlns:a="http://schemas.openxmlformats.org/drawingml/2006/main">
              <a:ext uri="{FF2B5EF4-FFF2-40B4-BE49-F238E27FC236}">
                <a16:creationId xmlns:a16="http://schemas.microsoft.com/office/drawing/2014/main" id="{FA8D35B6-A9A4-4D89-866D-89E7A7F6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The last line should show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the Python executable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inside .venv.</a:t>
            </a:r>
          </a:p>
        </p:txBody>
      </p:sp>
      <p:sp>
        <p:nvSpPr>
          <p:cNvPr id="13" name="無法啟用時">
            <a:extLst xmlns:a="http://schemas.openxmlformats.org/drawingml/2006/main">
              <a:ext uri="{FF2B5EF4-FFF2-40B4-BE49-F238E27FC236}">
                <a16:creationId xmlns:a16="http://schemas.microsoft.com/office/drawing/2014/main" id="{3BD43891-3E28-49F1-BD97-C0D2706E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Without activation</a:t>
            </a:r>
          </a:p>
        </p:txBody>
      </p:sp>
      <p:sp>
        <p:nvSpPr>
          <p:cNvPr id="14" name="可直接執行 .\.venv\Scripts\python.exe 搭配後續命令。">
            <a:extLst xmlns:a="http://schemas.openxmlformats.org/drawingml/2006/main">
              <a:ext uri="{FF2B5EF4-FFF2-40B4-BE49-F238E27FC236}">
                <a16:creationId xmlns:a16="http://schemas.microsoft.com/office/drawing/2014/main" id="{B3D870B4-E84B-4BF1-9429-A6AC1D2C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You can invoke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.\.venv\Scripts\python.exe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directly for later commands.</a:t>
            </a:r>
          </a:p>
        </p:txBody>
      </p:sp>
      <p:sp>
        <p:nvSpPr>
          <p:cNvPr id="15" name="macOS / Linux：python3 -m venv .venv，再執行 source .venv/bin/activate。">
            <a:extLst xmlns:a="http://schemas.openxmlformats.org/drawingml/2006/main">
              <a:ext uri="{FF2B5EF4-FFF2-40B4-BE49-F238E27FC236}">
                <a16:creationId xmlns:a16="http://schemas.microsoft.com/office/drawing/2014/main" id="{1518E608-D826-439D-B6D3-ECF087E9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macOS / Linux: python3 -m venv .venv, then source .venv/bin/activate.</a:t>
            </a:r>
          </a:p>
        </p:txBody>
      </p:sp>
    </p:spTree>
    <p:extLst>
      <p:ext uri="{BB962C8B-B14F-4D97-AF65-F5344CB8AC3E}">
        <p14:creationId xmlns:p14="http://schemas.microsoft.com/office/powerpoint/2010/main" val="787787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安裝 Django 與記錄依賴">
            <a:extLst xmlns:a="http://schemas.openxmlformats.org/drawingml/2006/main">
              <a:ext uri="{FF2B5EF4-FFF2-40B4-BE49-F238E27FC236}">
                <a16:creationId xmlns:a16="http://schemas.microsoft.com/office/drawing/2014/main" id="{F1EF1E8F-AE3E-4D54-B4AF-0BAA40A2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Django installation and dependencies</a:t>
            </a:r>
          </a:p>
        </p:txBody>
      </p:sp>
      <p:sp>
        <p:nvSpPr>
          <p:cNvPr id="2" name="後續命令都在已啟用的虛擬環境中執行">
            <a:extLst xmlns:a="http://schemas.openxmlformats.org/drawingml/2006/main">
              <a:ext uri="{FF2B5EF4-FFF2-40B4-BE49-F238E27FC236}">
                <a16:creationId xmlns:a16="http://schemas.microsoft.com/office/drawing/2014/main" id="{CB279F81-CF54-41DC-9977-6EA96975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Run subsequent commands in the active virtual environment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C4EFD05E-C6F8-4FA2-8B1E-9BD3CD50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python -m pip install &quot;Django&gt;=5.2,&lt;5.3&quot;">
            <a:extLst xmlns:a="http://schemas.openxmlformats.org/drawingml/2006/main">
              <a:ext uri="{FF2B5EF4-FFF2-40B4-BE49-F238E27FC236}">
                <a16:creationId xmlns:a16="http://schemas.microsoft.com/office/drawing/2014/main" id="{52B9148D-AC3E-4234-801F-9909E8B5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-m pip install "Django&gt;=5.2,&lt;5.3"</a:t>
            </a:r>
          </a:p>
        </p:txBody>
      </p:sp>
      <p:sp>
        <p:nvSpPr>
          <p:cNvPr id="5" name="python -m django --version">
            <a:extLst xmlns:a="http://schemas.openxmlformats.org/drawingml/2006/main">
              <a:ext uri="{FF2B5EF4-FFF2-40B4-BE49-F238E27FC236}">
                <a16:creationId xmlns:a16="http://schemas.microsoft.com/office/drawing/2014/main" id="{0524F578-3BBA-43B3-93C9-160EBADF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-m django --version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D3176-BD12-460B-AC7F-65D863DC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# requirements.txt 的內容">
            <a:extLst xmlns:a="http://schemas.openxmlformats.org/drawingml/2006/main">
              <a:ext uri="{FF2B5EF4-FFF2-40B4-BE49-F238E27FC236}">
                <a16:creationId xmlns:a16="http://schemas.microsoft.com/office/drawing/2014/main" id="{2D75B754-A2D0-46AD-8E24-7352BB33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# Contents of requirements.txt</a:t>
            </a:r>
          </a:p>
        </p:txBody>
      </p:sp>
      <p:sp>
        <p:nvSpPr>
          <p:cNvPr id="8" name="Django&gt;=5.2,&lt;5.3">
            <a:extLst xmlns:a="http://schemas.openxmlformats.org/drawingml/2006/main">
              <a:ext uri="{FF2B5EF4-FFF2-40B4-BE49-F238E27FC236}">
                <a16:creationId xmlns:a16="http://schemas.microsoft.com/office/drawing/2014/main" id="{237120B6-B11F-4E1F-98E3-99FD8297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Django&gt;=5.2,&lt;5.3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C1F05-FF0D-4B8E-8CE0-C093AA89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# 取得別人的專案後，安裝所需套件">
            <a:extLst xmlns:a="http://schemas.openxmlformats.org/drawingml/2006/main">
              <a:ext uri="{FF2B5EF4-FFF2-40B4-BE49-F238E27FC236}">
                <a16:creationId xmlns:a16="http://schemas.microsoft.com/office/drawing/2014/main" id="{642ABED2-E03D-411C-ADEC-C48A02CE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# Install dependencies for an existing project</a:t>
            </a:r>
          </a:p>
        </p:txBody>
      </p:sp>
      <p:sp>
        <p:nvSpPr>
          <p:cNvPr id="11" name="python -m pip install -r requirements.txt">
            <a:extLst xmlns:a="http://schemas.openxmlformats.org/drawingml/2006/main">
              <a:ext uri="{FF2B5EF4-FFF2-40B4-BE49-F238E27FC236}">
                <a16:creationId xmlns:a16="http://schemas.microsoft.com/office/drawing/2014/main" id="{F52999E4-2C72-4CFB-9D1B-115907D8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-m pip install -r requirements.txt</a:t>
            </a:r>
          </a:p>
        </p:txBody>
      </p:sp>
      <p:sp>
        <p:nvSpPr>
          <p:cNvPr id="12" name="版本範圍">
            <a:extLst xmlns:a="http://schemas.openxmlformats.org/drawingml/2006/main">
              <a:ext uri="{FF2B5EF4-FFF2-40B4-BE49-F238E27FC236}">
                <a16:creationId xmlns:a16="http://schemas.microsoft.com/office/drawing/2014/main" id="{C06965D5-642E-4AE7-BB43-9954532A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Version range</a:t>
            </a:r>
          </a:p>
        </p:txBody>
      </p:sp>
      <p:sp>
        <p:nvSpPr>
          <p:cNvPr id="13" name="固定使用 5.2 系列， 保留更新修補版的空間。">
            <a:extLst xmlns:a="http://schemas.openxmlformats.org/drawingml/2006/main">
              <a:ext uri="{FF2B5EF4-FFF2-40B4-BE49-F238E27FC236}">
                <a16:creationId xmlns:a16="http://schemas.microsoft.com/office/drawing/2014/main" id="{6918B897-B064-4703-B53E-DD5865DE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Use the 5.2 series while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allowing newer patch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releases.</a:t>
            </a:r>
          </a:p>
        </p:txBody>
      </p:sp>
      <p:sp>
        <p:nvSpPr>
          <p:cNvPr id="14" name="檔案用途">
            <a:extLst xmlns:a="http://schemas.openxmlformats.org/drawingml/2006/main">
              <a:ext uri="{FF2B5EF4-FFF2-40B4-BE49-F238E27FC236}">
                <a16:creationId xmlns:a16="http://schemas.microsoft.com/office/drawing/2014/main" id="{478AB24A-97B3-428C-A920-1E5B224C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requirements.txt</a:t>
            </a:r>
          </a:p>
        </p:txBody>
      </p:sp>
      <p:sp>
        <p:nvSpPr>
          <p:cNvPr id="15" name="requirements.txt 自行建立。 記錄套件需求， 不是 Django 自動產生。">
            <a:extLst xmlns:a="http://schemas.openxmlformats.org/drawingml/2006/main">
              <a:ext uri="{FF2B5EF4-FFF2-40B4-BE49-F238E27FC236}">
                <a16:creationId xmlns:a16="http://schemas.microsoft.com/office/drawing/2014/main" id="{F0DAF4AB-2651-44CB-B022-EA9B331B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Create this file yourself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to record dependencies.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Django does not create it.</a:t>
            </a:r>
          </a:p>
        </p:txBody>
      </p:sp>
      <p:sp>
        <p:nvSpPr>
          <p:cNvPr id="16" name="查詢套件：python -m pip show Django。">
            <a:extLst xmlns:a="http://schemas.openxmlformats.org/drawingml/2006/main">
              <a:ext uri="{FF2B5EF4-FFF2-40B4-BE49-F238E27FC236}">
                <a16:creationId xmlns:a16="http://schemas.microsoft.com/office/drawing/2014/main" id="{6B9F1DC8-5C6D-4E18-AF30-41616D76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Package details: python -m pip show Django.</a:t>
            </a:r>
          </a:p>
        </p:txBody>
      </p:sp>
    </p:spTree>
    <p:extLst>
      <p:ext uri="{BB962C8B-B14F-4D97-AF65-F5344CB8AC3E}">
        <p14:creationId xmlns:p14="http://schemas.microsoft.com/office/powerpoint/2010/main" val="9585318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建立 Django project">
            <a:extLst xmlns:a="http://schemas.openxmlformats.org/drawingml/2006/main">
              <a:ext uri="{FF2B5EF4-FFF2-40B4-BE49-F238E27FC236}">
                <a16:creationId xmlns:a16="http://schemas.microsoft.com/office/drawing/2014/main" id="{85EDF3EC-4EF3-4470-9C32-9F410CE9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Creating a Django project</a:t>
            </a:r>
          </a:p>
        </p:txBody>
      </p:sp>
      <p:sp>
        <p:nvSpPr>
          <p:cNvPr id="2" name="在 django_shop 目錄執行">
            <a:extLst xmlns:a="http://schemas.openxmlformats.org/drawingml/2006/main">
              <a:ext uri="{FF2B5EF4-FFF2-40B4-BE49-F238E27FC236}">
                <a16:creationId xmlns:a16="http://schemas.microsoft.com/office/drawing/2014/main" id="{FCEECFC4-A249-4AE5-8159-7DA3DCBB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Run the command inside django_shop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BF039572-2121-4F17-BEC7-2A0246D6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python -m django startproject config .">
            <a:extLst xmlns:a="http://schemas.openxmlformats.org/drawingml/2006/main">
              <a:ext uri="{FF2B5EF4-FFF2-40B4-BE49-F238E27FC236}">
                <a16:creationId xmlns:a16="http://schemas.microsoft.com/office/drawing/2014/main" id="{5F4949AB-AE5A-411E-920A-21512F69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-m django startproject config 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85770-C53E-45B5-A696-EC38FBD7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jango_shop/">
            <a:extLst xmlns:a="http://schemas.openxmlformats.org/drawingml/2006/main">
              <a:ext uri="{FF2B5EF4-FFF2-40B4-BE49-F238E27FC236}">
                <a16:creationId xmlns:a16="http://schemas.microsoft.com/office/drawing/2014/main" id="{9E19979B-3A05-4FFB-90A8-5BE68AF8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django_shop/</a:t>
            </a:r>
          </a:p>
        </p:txBody>
      </p:sp>
      <p:sp>
        <p:nvSpPr>
          <p:cNvPr id="7" name="    manage.py">
            <a:extLst xmlns:a="http://schemas.openxmlformats.org/drawingml/2006/main">
              <a:ext uri="{FF2B5EF4-FFF2-40B4-BE49-F238E27FC236}">
                <a16:creationId xmlns:a16="http://schemas.microsoft.com/office/drawing/2014/main" id="{432058F5-86BD-4BCD-8FC0-5D5628ED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manage.py</a:t>
            </a:r>
          </a:p>
        </p:txBody>
      </p:sp>
      <p:sp>
        <p:nvSpPr>
          <p:cNvPr id="8" name="    config/">
            <a:extLst xmlns:a="http://schemas.openxmlformats.org/drawingml/2006/main">
              <a:ext uri="{FF2B5EF4-FFF2-40B4-BE49-F238E27FC236}">
                <a16:creationId xmlns:a16="http://schemas.microsoft.com/office/drawing/2014/main" id="{6B68BBBD-6431-40AF-ACDB-ED2E4F3F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config/</a:t>
            </a:r>
          </a:p>
        </p:txBody>
      </p:sp>
      <p:sp>
        <p:nvSpPr>
          <p:cNvPr id="9" name="        __init__.py">
            <a:extLst xmlns:a="http://schemas.openxmlformats.org/drawingml/2006/main">
              <a:ext uri="{FF2B5EF4-FFF2-40B4-BE49-F238E27FC236}">
                <a16:creationId xmlns:a16="http://schemas.microsoft.com/office/drawing/2014/main" id="{A0D2479C-1ACE-4684-829E-EF0A42FD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__init__.py</a:t>
            </a:r>
          </a:p>
        </p:txBody>
      </p:sp>
      <p:sp>
        <p:nvSpPr>
          <p:cNvPr id="10" name="        settings.py">
            <a:extLst xmlns:a="http://schemas.openxmlformats.org/drawingml/2006/main">
              <a:ext uri="{FF2B5EF4-FFF2-40B4-BE49-F238E27FC236}">
                <a16:creationId xmlns:a16="http://schemas.microsoft.com/office/drawing/2014/main" id="{2CE6C8D6-27D3-4BEF-8EA4-F3F93571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settings.py</a:t>
            </a:r>
          </a:p>
        </p:txBody>
      </p:sp>
      <p:sp>
        <p:nvSpPr>
          <p:cNvPr id="11" name="        urls.py">
            <a:extLst xmlns:a="http://schemas.openxmlformats.org/drawingml/2006/main">
              <a:ext uri="{FF2B5EF4-FFF2-40B4-BE49-F238E27FC236}">
                <a16:creationId xmlns:a16="http://schemas.microsoft.com/office/drawing/2014/main" id="{29BA1E3A-E1A0-4A5B-A615-948328F3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urls.py</a:t>
            </a:r>
          </a:p>
        </p:txBody>
      </p:sp>
      <p:sp>
        <p:nvSpPr>
          <p:cNvPr id="12" name="        asgi.py">
            <a:extLst xmlns:a="http://schemas.openxmlformats.org/drawingml/2006/main">
              <a:ext uri="{FF2B5EF4-FFF2-40B4-BE49-F238E27FC236}">
                <a16:creationId xmlns:a16="http://schemas.microsoft.com/office/drawing/2014/main" id="{B31DC0F5-BEE8-40B5-9FF1-F23A5BE3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asgi.py</a:t>
            </a:r>
          </a:p>
        </p:txBody>
      </p:sp>
      <p:sp>
        <p:nvSpPr>
          <p:cNvPr id="13" name="        wsgi.py">
            <a:extLst xmlns:a="http://schemas.openxmlformats.org/drawingml/2006/main">
              <a:ext uri="{FF2B5EF4-FFF2-40B4-BE49-F238E27FC236}">
                <a16:creationId xmlns:a16="http://schemas.microsoft.com/office/drawing/2014/main" id="{5613B126-BF25-4F9C-9339-1D15B3CE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wsgi.py</a:t>
            </a:r>
          </a:p>
        </p:txBody>
      </p:sp>
      <p:sp>
        <p:nvSpPr>
          <p:cNvPr id="14" name="句點的意思">
            <a:extLst xmlns:a="http://schemas.openxmlformats.org/drawingml/2006/main">
              <a:ext uri="{FF2B5EF4-FFF2-40B4-BE49-F238E27FC236}">
                <a16:creationId xmlns:a16="http://schemas.microsoft.com/office/drawing/2014/main" id="{41B98178-6308-47A1-8FE8-2BE410EE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The final dot</a:t>
            </a:r>
          </a:p>
        </p:txBody>
      </p:sp>
      <p:sp>
        <p:nvSpPr>
          <p:cNvPr id="15" name="結尾的 . 表示使用目前目錄， 避免多包一層資料夾。">
            <a:extLst xmlns:a="http://schemas.openxmlformats.org/drawingml/2006/main">
              <a:ext uri="{FF2B5EF4-FFF2-40B4-BE49-F238E27FC236}">
                <a16:creationId xmlns:a16="http://schemas.microsoft.com/office/drawing/2014/main" id="{FF99C090-0B0B-40C3-8495-B63C2612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The trailing . uses the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current directory and avoids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an extra outer folder.</a:t>
            </a:r>
          </a:p>
        </p:txBody>
      </p:sp>
      <p:sp>
        <p:nvSpPr>
          <p:cNvPr id="16" name="兩個名稱">
            <a:extLst xmlns:a="http://schemas.openxmlformats.org/drawingml/2006/main">
              <a:ext uri="{FF2B5EF4-FFF2-40B4-BE49-F238E27FC236}">
                <a16:creationId xmlns:a16="http://schemas.microsoft.com/office/drawing/2014/main" id="{822FD5BB-75B9-4279-A7A5-289D39D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Two names</a:t>
            </a:r>
          </a:p>
        </p:txBody>
      </p:sp>
      <p:sp>
        <p:nvSpPr>
          <p:cNvPr id="17" name="django_shop 是工作目錄。 config 是專案設定套件， 名稱可以自行選擇。">
            <a:extLst xmlns:a="http://schemas.openxmlformats.org/drawingml/2006/main">
              <a:ext uri="{FF2B5EF4-FFF2-40B4-BE49-F238E27FC236}">
                <a16:creationId xmlns:a16="http://schemas.microsoft.com/office/drawing/2014/main" id="{F6DA37F4-114C-4CFF-9CBB-8F378E33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django_shop is the folder.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config is the settings package.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You can choose both names.</a:t>
            </a:r>
          </a:p>
        </p:txBody>
      </p:sp>
      <p:sp>
        <p:nvSpPr>
          <p:cNvPr id="18" name="上方為 startproject 新增的檔案，不包含先前建立的 .venv 與 requirements.txt。">
            <a:extLst xmlns:a="http://schemas.openxmlformats.org/drawingml/2006/main">
              <a:ext uri="{FF2B5EF4-FFF2-40B4-BE49-F238E27FC236}">
                <a16:creationId xmlns:a16="http://schemas.microsoft.com/office/drawing/2014/main" id="{86AA5982-3D0D-4851-98A4-8D80096F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This tree shows startproject output. It omits the existing .venv and requirements.txt.</a:t>
            </a:r>
          </a:p>
        </p:txBody>
      </p:sp>
    </p:spTree>
    <p:extLst>
      <p:ext uri="{BB962C8B-B14F-4D97-AF65-F5344CB8AC3E}">
        <p14:creationId xmlns:p14="http://schemas.microsoft.com/office/powerpoint/2010/main" val="18547855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roject 與 App 的差異">
            <a:extLst xmlns:a="http://schemas.openxmlformats.org/drawingml/2006/main">
              <a:ext uri="{FF2B5EF4-FFF2-40B4-BE49-F238E27FC236}">
                <a16:creationId xmlns:a16="http://schemas.microsoft.com/office/drawing/2014/main" id="{255D875E-C04B-4A59-974A-5A9DAE11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Project and app</a:t>
            </a:r>
          </a:p>
        </p:txBody>
      </p:sp>
      <p:sp>
        <p:nvSpPr>
          <p:cNvPr id="2" name="網站整體設定與業務功能分開">
            <a:extLst xmlns:a="http://schemas.openxmlformats.org/drawingml/2006/main">
              <a:ext uri="{FF2B5EF4-FFF2-40B4-BE49-F238E27FC236}">
                <a16:creationId xmlns:a16="http://schemas.microsoft.com/office/drawing/2014/main" id="{A913FDF5-9735-40FF-8EA2-923026A4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Separate website configuration from business features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F7DCDEE5-B334-47C7-B505-6B883CA9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4629150"/>
                <a:gridCol w="4629150"/>
              </a:tblGrid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Project: config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App: catalog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Scope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Configuration for the whole site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A group of related features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Contents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Settings, root URLs, server entry points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Models, views, forms, templates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Command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startproject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startapp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Relationship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Combines multiple apps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Reusable across projects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本教材先建立一個 project，再加入一個 catalog app。">
            <a:extLst xmlns:a="http://schemas.openxmlformats.org/drawingml/2006/main">
              <a:ext uri="{FF2B5EF4-FFF2-40B4-BE49-F238E27FC236}">
                <a16:creationId xmlns:a16="http://schemas.microsoft.com/office/drawing/2014/main" id="{DB388E7D-B178-4C4A-8FB0-56C14839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This example creates one project and adds a catalog app.</a:t>
            </a:r>
          </a:p>
        </p:txBody>
      </p:sp>
    </p:spTree>
    <p:extLst>
      <p:ext uri="{BB962C8B-B14F-4D97-AF65-F5344CB8AC3E}">
        <p14:creationId xmlns:p14="http://schemas.microsoft.com/office/powerpoint/2010/main" val="4498157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manage.py：專案的命令入口">
            <a:extLst xmlns:a="http://schemas.openxmlformats.org/drawingml/2006/main">
              <a:ext uri="{FF2B5EF4-FFF2-40B4-BE49-F238E27FC236}">
                <a16:creationId xmlns:a16="http://schemas.microsoft.com/office/drawing/2014/main" id="{53D710B0-4A91-442A-8E31-44DECBE0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manage.py: management commands</a:t>
            </a:r>
          </a:p>
        </p:txBody>
      </p:sp>
      <p:sp>
        <p:nvSpPr>
          <p:cNvPr id="2" name="位於工作目錄，通常保留產生時的內容">
            <a:extLst xmlns:a="http://schemas.openxmlformats.org/drawingml/2006/main">
              <a:ext uri="{FF2B5EF4-FFF2-40B4-BE49-F238E27FC236}">
                <a16:creationId xmlns:a16="http://schemas.microsoft.com/office/drawing/2014/main" id="{3A312ABB-C8A9-4F74-953F-F7B82B58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Keep this entry point in the project directory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E52DA593-A6E5-4841-AE3A-F1EB4462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python manage.py check">
            <a:extLst xmlns:a="http://schemas.openxmlformats.org/drawingml/2006/main">
              <a:ext uri="{FF2B5EF4-FFF2-40B4-BE49-F238E27FC236}">
                <a16:creationId xmlns:a16="http://schemas.microsoft.com/office/drawing/2014/main" id="{76B6C082-DE94-45EE-B19B-D77292A4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check</a:t>
            </a:r>
          </a:p>
        </p:txBody>
      </p:sp>
      <p:sp>
        <p:nvSpPr>
          <p:cNvPr id="5" name="python manage.py runserver">
            <a:extLst xmlns:a="http://schemas.openxmlformats.org/drawingml/2006/main">
              <a:ext uri="{FF2B5EF4-FFF2-40B4-BE49-F238E27FC236}">
                <a16:creationId xmlns:a16="http://schemas.microsoft.com/office/drawing/2014/main" id="{5D7C6E00-FFB0-4714-B9F2-C1FE388D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runserver</a:t>
            </a:r>
          </a:p>
        </p:txBody>
      </p:sp>
      <p:sp>
        <p:nvSpPr>
          <p:cNvPr id="6" name="python manage.py startapp catalog">
            <a:extLst xmlns:a="http://schemas.openxmlformats.org/drawingml/2006/main">
              <a:ext uri="{FF2B5EF4-FFF2-40B4-BE49-F238E27FC236}">
                <a16:creationId xmlns:a16="http://schemas.microsoft.com/office/drawing/2014/main" id="{80F27D19-6AD8-4248-AC4E-4894D321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startapp catalog</a:t>
            </a:r>
          </a:p>
        </p:txBody>
      </p:sp>
      <p:sp>
        <p:nvSpPr>
          <p:cNvPr id="7" name="python manage.py makemigrations">
            <a:extLst xmlns:a="http://schemas.openxmlformats.org/drawingml/2006/main">
              <a:ext uri="{FF2B5EF4-FFF2-40B4-BE49-F238E27FC236}">
                <a16:creationId xmlns:a16="http://schemas.microsoft.com/office/drawing/2014/main" id="{CBCE6E1D-4D26-44FC-B844-4AB48190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makemigrations</a:t>
            </a:r>
          </a:p>
        </p:txBody>
      </p:sp>
      <p:sp>
        <p:nvSpPr>
          <p:cNvPr id="8" name="python manage.py migrate">
            <a:extLst xmlns:a="http://schemas.openxmlformats.org/drawingml/2006/main">
              <a:ext uri="{FF2B5EF4-FFF2-40B4-BE49-F238E27FC236}">
                <a16:creationId xmlns:a16="http://schemas.microsoft.com/office/drawing/2014/main" id="{DD44DF01-B9F6-497C-A36C-51160962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migrate</a:t>
            </a:r>
          </a:p>
        </p:txBody>
      </p:sp>
      <p:sp>
        <p:nvSpPr>
          <p:cNvPr id="9" name="python manage.py createsuperuser">
            <a:extLst xmlns:a="http://schemas.openxmlformats.org/drawingml/2006/main">
              <a:ext uri="{FF2B5EF4-FFF2-40B4-BE49-F238E27FC236}">
                <a16:creationId xmlns:a16="http://schemas.microsoft.com/office/drawing/2014/main" id="{C39E6053-B5D5-470B-AB69-421EC0AF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createsuperuser</a:t>
            </a:r>
          </a:p>
        </p:txBody>
      </p:sp>
      <p:sp>
        <p:nvSpPr>
          <p:cNvPr id="10" name="python manage.py shell">
            <a:extLst xmlns:a="http://schemas.openxmlformats.org/drawingml/2006/main">
              <a:ext uri="{FF2B5EF4-FFF2-40B4-BE49-F238E27FC236}">
                <a16:creationId xmlns:a16="http://schemas.microsoft.com/office/drawing/2014/main" id="{A1655FDA-8F5A-475B-8E4F-3F0E6FD0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shell</a:t>
            </a:r>
          </a:p>
        </p:txBody>
      </p:sp>
      <p:sp>
        <p:nvSpPr>
          <p:cNvPr id="11" name="python manage.py test">
            <a:extLst xmlns:a="http://schemas.openxmlformats.org/drawingml/2006/main">
              <a:ext uri="{FF2B5EF4-FFF2-40B4-BE49-F238E27FC236}">
                <a16:creationId xmlns:a16="http://schemas.microsoft.com/office/drawing/2014/main" id="{FE527ABE-FED3-4C15-A0E1-CB0AED56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test</a:t>
            </a:r>
          </a:p>
        </p:txBody>
      </p:sp>
      <p:sp>
        <p:nvSpPr>
          <p:cNvPr id="12" name="它做什麼">
            <a:extLst xmlns:a="http://schemas.openxmlformats.org/drawingml/2006/main">
              <a:ext uri="{FF2B5EF4-FFF2-40B4-BE49-F238E27FC236}">
                <a16:creationId xmlns:a16="http://schemas.microsoft.com/office/drawing/2014/main" id="{5A52B9AA-11AF-4EA2-94CF-2E172871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13" name="載入 config.settings 設定， 將命令交給 Django 執行。 通常不需修改此入口檔。">
            <a:extLst xmlns:a="http://schemas.openxmlformats.org/drawingml/2006/main">
              <a:ext uri="{FF2B5EF4-FFF2-40B4-BE49-F238E27FC236}">
                <a16:creationId xmlns:a16="http://schemas.microsoft.com/office/drawing/2014/main" id="{80F33F61-3DD3-42AD-A96E-A2393B16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Loads config.settings and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passes commands to Django.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Usually needs no changes.</a:t>
            </a:r>
          </a:p>
        </p:txBody>
      </p:sp>
      <p:sp>
        <p:nvSpPr>
          <p:cNvPr id="14" name="操作位置">
            <a:extLst xmlns:a="http://schemas.openxmlformats.org/drawingml/2006/main">
              <a:ext uri="{FF2B5EF4-FFF2-40B4-BE49-F238E27FC236}">
                <a16:creationId xmlns:a16="http://schemas.microsoft.com/office/drawing/2014/main" id="{5352E48C-0BB8-4303-9973-0FD045E5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Working directory</a:t>
            </a:r>
          </a:p>
        </p:txBody>
      </p:sp>
      <p:sp>
        <p:nvSpPr>
          <p:cNvPr id="15" name="執行命令時，工作目錄應 包含 manage.py， 否則必須提供完整路徑。">
            <a:extLst xmlns:a="http://schemas.openxmlformats.org/drawingml/2006/main">
              <a:ext uri="{FF2B5EF4-FFF2-40B4-BE49-F238E27FC236}">
                <a16:creationId xmlns:a16="http://schemas.microsoft.com/office/drawing/2014/main" id="{D8369F2A-D529-41D0-A7E7-0A84DF01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Run commands in the folder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containing manage.py, or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provide its full path.</a:t>
            </a:r>
          </a:p>
        </p:txBody>
      </p:sp>
      <p:sp>
        <p:nvSpPr>
          <p:cNvPr id="16" name="它是操作工具，業務邏輯通常放在 app 中。">
            <a:extLst xmlns:a="http://schemas.openxmlformats.org/drawingml/2006/main">
              <a:ext uri="{FF2B5EF4-FFF2-40B4-BE49-F238E27FC236}">
                <a16:creationId xmlns:a16="http://schemas.microsoft.com/office/drawing/2014/main" id="{0674C39A-3C4F-47CD-8E96-B6E2E58F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Business logic normally belongs in the app.</a:t>
            </a:r>
          </a:p>
        </p:txBody>
      </p:sp>
    </p:spTree>
    <p:extLst>
      <p:ext uri="{BB962C8B-B14F-4D97-AF65-F5344CB8AC3E}">
        <p14:creationId xmlns:p14="http://schemas.microsoft.com/office/powerpoint/2010/main" val="14962632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__init__.py：Python 套件標記">
            <a:extLst xmlns:a="http://schemas.openxmlformats.org/drawingml/2006/main">
              <a:ext uri="{FF2B5EF4-FFF2-40B4-BE49-F238E27FC236}">
                <a16:creationId xmlns:a16="http://schemas.microsoft.com/office/drawing/2014/main" id="{51879DE7-31D3-49C1-ADE8-A87DAA5C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__init__.py: Python packages</a:t>
            </a:r>
          </a:p>
        </p:txBody>
      </p:sp>
      <p:sp>
        <p:nvSpPr>
          <p:cNvPr id="2" name="config、catalog、migrations 內都會出現">
            <a:extLst xmlns:a="http://schemas.openxmlformats.org/drawingml/2006/main">
              <a:ext uri="{FF2B5EF4-FFF2-40B4-BE49-F238E27FC236}">
                <a16:creationId xmlns:a16="http://schemas.microsoft.com/office/drawing/2014/main" id="{1D76B00B-781B-4E8F-AC21-6627DB99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This file appears in config, catalog and migrations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3FB35C37-7B1A-4B5D-A858-EBDC487E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config/__init__.py">
            <a:extLst xmlns:a="http://schemas.openxmlformats.org/drawingml/2006/main">
              <a:ext uri="{FF2B5EF4-FFF2-40B4-BE49-F238E27FC236}">
                <a16:creationId xmlns:a16="http://schemas.microsoft.com/office/drawing/2014/main" id="{CCFF4EFF-80BC-44D0-B829-20E91467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config/__init__.py</a:t>
            </a:r>
          </a:p>
        </p:txBody>
      </p:sp>
      <p:sp>
        <p:nvSpPr>
          <p:cNvPr id="5" name="讓 config 成為一般 Python 套件，例如匯入 config.settings。">
            <a:extLst xmlns:a="http://schemas.openxmlformats.org/drawingml/2006/main">
              <a:ext uri="{FF2B5EF4-FFF2-40B4-BE49-F238E27FC236}">
                <a16:creationId xmlns:a16="http://schemas.microsoft.com/office/drawing/2014/main" id="{6104CA63-E1CE-423C-8035-C2B7374F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Makes config a regular Python package, allowing imports such as config.settings.</a:t>
            </a:r>
          </a:p>
        </p:txBody>
      </p:sp>
      <p:sp>
        <p:nvSpPr>
          <p:cNvPr id="6" name="catalog/__init__.py">
            <a:extLst xmlns:a="http://schemas.openxmlformats.org/drawingml/2006/main">
              <a:ext uri="{FF2B5EF4-FFF2-40B4-BE49-F238E27FC236}">
                <a16:creationId xmlns:a16="http://schemas.microsoft.com/office/drawing/2014/main" id="{30E0BF76-F9B5-474F-925B-6C8D8254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catalog/__init__.py</a:t>
            </a:r>
          </a:p>
        </p:txBody>
      </p:sp>
      <p:sp>
        <p:nvSpPr>
          <p:cNvPr id="7" name="標示 app 的 Python 套件，通常保持空白。">
            <a:extLst xmlns:a="http://schemas.openxmlformats.org/drawingml/2006/main">
              <a:ext uri="{FF2B5EF4-FFF2-40B4-BE49-F238E27FC236}">
                <a16:creationId xmlns:a16="http://schemas.microsoft.com/office/drawing/2014/main" id="{DBCB8398-BB28-4E08-90F9-D9BB9DC1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Marks the app as a Python package. It is usually empty.</a:t>
            </a:r>
          </a:p>
        </p:txBody>
      </p:sp>
      <p:sp>
        <p:nvSpPr>
          <p:cNvPr id="8" name="migrations/__init__.py">
            <a:extLst xmlns:a="http://schemas.openxmlformats.org/drawingml/2006/main">
              <a:ext uri="{FF2B5EF4-FFF2-40B4-BE49-F238E27FC236}">
                <a16:creationId xmlns:a16="http://schemas.microsoft.com/office/drawing/2014/main" id="{C12D8E30-89F1-4B32-89E8-2C203826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migrations/__init__.py</a:t>
            </a:r>
          </a:p>
        </p:txBody>
      </p:sp>
      <p:sp>
        <p:nvSpPr>
          <p:cNvPr id="9" name="標示 migration 模組所在的套件，與遷移檔一起保留。">
            <a:extLst xmlns:a="http://schemas.openxmlformats.org/drawingml/2006/main">
              <a:ext uri="{FF2B5EF4-FFF2-40B4-BE49-F238E27FC236}">
                <a16:creationId xmlns:a16="http://schemas.microsoft.com/office/drawing/2014/main" id="{97EB956E-FB7E-41A0-9A7C-2CECA0A8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Marks the migration package. Keep it with the migration files.</a:t>
            </a:r>
          </a:p>
        </p:txBody>
      </p:sp>
      <p:sp>
        <p:nvSpPr>
          <p:cNvPr id="10" name="與 __init__ 的差別">
            <a:extLst xmlns:a="http://schemas.openxmlformats.org/drawingml/2006/main">
              <a:ext uri="{FF2B5EF4-FFF2-40B4-BE49-F238E27FC236}">
                <a16:creationId xmlns:a16="http://schemas.microsoft.com/office/drawing/2014/main" id="{3E1A8CFB-1C56-4FD7-B167-4EC9759C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Compared with __init__</a:t>
            </a:r>
          </a:p>
        </p:txBody>
      </p:sp>
      <p:sp>
        <p:nvSpPr>
          <p:cNvPr id="11" name="__init__.py 是檔名；class 的 __init__() 是實例初始化方法。">
            <a:extLst xmlns:a="http://schemas.openxmlformats.org/drawingml/2006/main">
              <a:ext uri="{FF2B5EF4-FFF2-40B4-BE49-F238E27FC236}">
                <a16:creationId xmlns:a16="http://schemas.microsoft.com/office/drawing/2014/main" id="{9394A133-358C-42A2-B80A-86934424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__init__.py is a filename. A class uses __init__() to initialize an instance.</a:t>
            </a:r>
          </a:p>
        </p:txBody>
      </p:sp>
      <p:sp>
        <p:nvSpPr>
          <p:cNvPr id="12" name="這些空檔案有結構上的用途，不需要為了「填滿」而加入程式。">
            <a:extLst xmlns:a="http://schemas.openxmlformats.org/drawingml/2006/main">
              <a:ext uri="{FF2B5EF4-FFF2-40B4-BE49-F238E27FC236}">
                <a16:creationId xmlns:a16="http://schemas.microsoft.com/office/drawing/2014/main" id="{540B1988-919E-407F-A0D1-31C1C497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Empty files can serve a structural purpose. They do not need extra code.</a:t>
            </a:r>
          </a:p>
        </p:txBody>
      </p:sp>
    </p:spTree>
    <p:extLst>
      <p:ext uri="{BB962C8B-B14F-4D97-AF65-F5344CB8AC3E}">
        <p14:creationId xmlns:p14="http://schemas.microsoft.com/office/powerpoint/2010/main" val="5055817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ttings.py：網站設定中心">
            <a:extLst xmlns:a="http://schemas.openxmlformats.org/drawingml/2006/main">
              <a:ext uri="{FF2B5EF4-FFF2-40B4-BE49-F238E27FC236}">
                <a16:creationId xmlns:a16="http://schemas.microsoft.com/office/drawing/2014/main" id="{DC8D983E-42F2-4B52-805E-12D94B6C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settings.py: core configuration</a:t>
            </a:r>
          </a:p>
        </p:txBody>
      </p:sp>
      <p:sp>
        <p:nvSpPr>
          <p:cNvPr id="2" name="先認識每個設定負責的事情">
            <a:extLst xmlns:a="http://schemas.openxmlformats.org/drawingml/2006/main">
              <a:ext uri="{FF2B5EF4-FFF2-40B4-BE49-F238E27FC236}">
                <a16:creationId xmlns:a16="http://schemas.microsoft.com/office/drawing/2014/main" id="{946158AE-62BD-4A71-8CD9-4D3D7E0F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Each setting controls a different part of the site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7B6632E1-AE40-469A-AF55-B63B19E2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4333875"/>
                <a:gridCol w="3686175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This example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BASE_DIR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Build paths within the project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Project directory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INSTALLED_APPS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Enable apps and built-in features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Add CatalogConfig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ROOT_URLCONF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Select the root URL configuration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config.urls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DATABASES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Configure database connections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SQLite / db.sqlite3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TEMPLATES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Template engine and discovery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APP_DIRS=True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設定值是 Python 物件，字串、list 與 dict 都有各自語法。">
            <a:extLst xmlns:a="http://schemas.openxmlformats.org/drawingml/2006/main">
              <a:ext uri="{FF2B5EF4-FFF2-40B4-BE49-F238E27FC236}">
                <a16:creationId xmlns:a16="http://schemas.microsoft.com/office/drawing/2014/main" id="{DDAD5D58-C7AD-4332-9C6B-723FC0F0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Settings are Python values. Strings, lists and dictionaries use their own syntax.</a:t>
            </a:r>
          </a:p>
        </p:txBody>
      </p:sp>
    </p:spTree>
    <p:extLst>
      <p:ext uri="{BB962C8B-B14F-4D97-AF65-F5344CB8AC3E}">
        <p14:creationId xmlns:p14="http://schemas.microsoft.com/office/powerpoint/2010/main" val="10015211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ttings.py：其他預設設定">
            <a:extLst xmlns:a="http://schemas.openxmlformats.org/drawingml/2006/main">
              <a:ext uri="{FF2B5EF4-FFF2-40B4-BE49-F238E27FC236}">
                <a16:creationId xmlns:a16="http://schemas.microsoft.com/office/drawing/2014/main" id="{FDC5AA0E-6F94-4A35-956F-1685F277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settings.py: other defaults</a:t>
            </a:r>
          </a:p>
        </p:txBody>
      </p:sp>
      <p:sp>
        <p:nvSpPr>
          <p:cNvPr id="2" name="startproject 產生的設定也有明確用途">
            <a:extLst xmlns:a="http://schemas.openxmlformats.org/drawingml/2006/main">
              <a:ext uri="{FF2B5EF4-FFF2-40B4-BE49-F238E27FC236}">
                <a16:creationId xmlns:a16="http://schemas.microsoft.com/office/drawing/2014/main" id="{6CD42BC8-F6B2-45A3-A869-9D3FA7BE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The generated settings also have specific roles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16EB51D4-219B-44DA-B750-41C34EC2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29125"/>
                <a:gridCol w="6543675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MIDDLEWARE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Request and response processing, including sessions and authentication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AUTH_PASSWORD_VALIDATORS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Password rules for account creation and related workflows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LANGUAGE_CODE / TIME_ZONE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Interface language and default time zone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USE_I18N / USE_TZ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Translation support and time-zone-aware date/time handling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STATIC_URL / DEFAULT_AUTO_FIELD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Static URL prefix and the default automatic primary key type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本範例使用 zh-hant、Asia/Taipei；保留預設中介軟體與密碼驗證器。">
            <a:extLst xmlns:a="http://schemas.openxmlformats.org/drawingml/2006/main">
              <a:ext uri="{FF2B5EF4-FFF2-40B4-BE49-F238E27FC236}">
                <a16:creationId xmlns:a16="http://schemas.microsoft.com/office/drawing/2014/main" id="{D2551771-BE2E-42C2-939F-83717900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This version uses en and Asia/Taipei, with the default middleware and password validators.</a:t>
            </a:r>
          </a:p>
        </p:txBody>
      </p:sp>
    </p:spTree>
    <p:extLst>
      <p:ext uri="{BB962C8B-B14F-4D97-AF65-F5344CB8AC3E}">
        <p14:creationId xmlns:p14="http://schemas.microsoft.com/office/powerpoint/2010/main" val="7949583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開發設定與網站入口">
            <a:extLst xmlns:a="http://schemas.openxmlformats.org/drawingml/2006/main">
              <a:ext uri="{FF2B5EF4-FFF2-40B4-BE49-F238E27FC236}">
                <a16:creationId xmlns:a16="http://schemas.microsoft.com/office/drawing/2014/main" id="{26B80CBB-CECB-4085-8B67-B28DAD37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Development settings and entry points</a:t>
            </a:r>
          </a:p>
        </p:txBody>
      </p:sp>
      <p:sp>
        <p:nvSpPr>
          <p:cNvPr id="2" name="設定會影響網站行為，但不取代 view">
            <a:extLst xmlns:a="http://schemas.openxmlformats.org/drawingml/2006/main">
              <a:ext uri="{FF2B5EF4-FFF2-40B4-BE49-F238E27FC236}">
                <a16:creationId xmlns:a16="http://schemas.microsoft.com/office/drawing/2014/main" id="{C5D11427-AFC9-4598-B3AE-58F62C97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Settings control the site environment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0B11F0E0-965F-4F98-9287-378C72D3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DEBUG">
            <a:extLst xmlns:a="http://schemas.openxmlformats.org/drawingml/2006/main">
              <a:ext uri="{FF2B5EF4-FFF2-40B4-BE49-F238E27FC236}">
                <a16:creationId xmlns:a16="http://schemas.microsoft.com/office/drawing/2014/main" id="{E888D4C8-3430-4EFC-B49C-C1591EA6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DEBUG</a:t>
            </a:r>
          </a:p>
        </p:txBody>
      </p:sp>
      <p:sp>
        <p:nvSpPr>
          <p:cNvPr id="5" name="本機設 True 方便除錯，正式環境須關閉。">
            <a:extLst xmlns:a="http://schemas.openxmlformats.org/drawingml/2006/main">
              <a:ext uri="{FF2B5EF4-FFF2-40B4-BE49-F238E27FC236}">
                <a16:creationId xmlns:a16="http://schemas.microsoft.com/office/drawing/2014/main" id="{C7D80699-1181-44D6-887D-2330ECFD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True helps local debugging. Turn it off in production.</a:t>
            </a:r>
          </a:p>
        </p:txBody>
      </p:sp>
      <p:sp>
        <p:nvSpPr>
          <p:cNvPr id="6" name="ALLOWED_HOSTS">
            <a:extLst xmlns:a="http://schemas.openxmlformats.org/drawingml/2006/main">
              <a:ext uri="{FF2B5EF4-FFF2-40B4-BE49-F238E27FC236}">
                <a16:creationId xmlns:a16="http://schemas.microsoft.com/office/drawing/2014/main" id="{E7F881E1-1B4F-4BB7-BEE5-5A83B9FC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ALLOWED_HOSTS</a:t>
            </a:r>
          </a:p>
        </p:txBody>
      </p:sp>
      <p:sp>
        <p:nvSpPr>
          <p:cNvPr id="7" name="填可接受的主機名稱，例如 localhost、127.0.0.1，不含通訊埠。">
            <a:extLst xmlns:a="http://schemas.openxmlformats.org/drawingml/2006/main">
              <a:ext uri="{FF2B5EF4-FFF2-40B4-BE49-F238E27FC236}">
                <a16:creationId xmlns:a16="http://schemas.microsoft.com/office/drawing/2014/main" id="{FCAD31C1-9AAD-4D59-98BF-34135909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Accepted hostnames, such as localhost and 127.0.0.1, without port numbers.</a:t>
            </a:r>
          </a:p>
        </p:txBody>
      </p:sp>
      <p:sp>
        <p:nvSpPr>
          <p:cNvPr id="8" name="SECRET_KEY">
            <a:extLst xmlns:a="http://schemas.openxmlformats.org/drawingml/2006/main">
              <a:ext uri="{FF2B5EF4-FFF2-40B4-BE49-F238E27FC236}">
                <a16:creationId xmlns:a16="http://schemas.microsoft.com/office/drawing/2014/main" id="{5CE400F3-3E7C-4D18-B805-17D6153B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SECRET_KEY</a:t>
            </a:r>
          </a:p>
        </p:txBody>
      </p:sp>
      <p:sp>
        <p:nvSpPr>
          <p:cNvPr id="9" name="供簽章等功能使用。範例值僅供本機，正式環境另行保管。">
            <a:extLst xmlns:a="http://schemas.openxmlformats.org/drawingml/2006/main">
              <a:ext uri="{FF2B5EF4-FFF2-40B4-BE49-F238E27FC236}">
                <a16:creationId xmlns:a16="http://schemas.microsoft.com/office/drawing/2014/main" id="{A2491B0D-F257-4CA8-AD91-A922173C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Supports signing. The demo value is local-only. Protect production keys separately.</a:t>
            </a:r>
          </a:p>
        </p:txBody>
      </p:sp>
      <p:sp>
        <p:nvSpPr>
          <p:cNvPr id="10" name="WSGI_APPLICATION">
            <a:extLst xmlns:a="http://schemas.openxmlformats.org/drawingml/2006/main">
              <a:ext uri="{FF2B5EF4-FFF2-40B4-BE49-F238E27FC236}">
                <a16:creationId xmlns:a16="http://schemas.microsoft.com/office/drawing/2014/main" id="{C2C05E61-5135-49C8-AA36-84EF6995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WSGI_APPLICATION</a:t>
            </a:r>
          </a:p>
        </p:txBody>
      </p:sp>
      <p:sp>
        <p:nvSpPr>
          <p:cNvPr id="11" name="預設指向 config.wsgi.application，供 WSGI 相關載入使用。">
            <a:extLst xmlns:a="http://schemas.openxmlformats.org/drawingml/2006/main">
              <a:ext uri="{FF2B5EF4-FFF2-40B4-BE49-F238E27FC236}">
                <a16:creationId xmlns:a16="http://schemas.microsoft.com/office/drawing/2014/main" id="{5AC1DDBF-7D2F-4028-BA1E-9E940364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Usually config.wsgi.application, for loading the WSGI application.</a:t>
            </a:r>
          </a:p>
        </p:txBody>
      </p:sp>
      <p:sp>
        <p:nvSpPr>
          <p:cNvPr id="12" name="不要把正式環境的祕密金鑰或密碼提交到公開版本庫。">
            <a:extLst xmlns:a="http://schemas.openxmlformats.org/drawingml/2006/main">
              <a:ext uri="{FF2B5EF4-FFF2-40B4-BE49-F238E27FC236}">
                <a16:creationId xmlns:a16="http://schemas.microsoft.com/office/drawing/2014/main" id="{28D184AD-FFAD-455D-8456-7CE24DDB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Keep production secret keys and passwords out of public repositories.</a:t>
            </a:r>
          </a:p>
        </p:txBody>
      </p:sp>
    </p:spTree>
    <p:extLst>
      <p:ext uri="{BB962C8B-B14F-4D97-AF65-F5344CB8AC3E}">
        <p14:creationId xmlns:p14="http://schemas.microsoft.com/office/powerpoint/2010/main" val="5520953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wsgi.py 與 asgi.py：伺服器入口">
            <a:extLst xmlns:a="http://schemas.openxmlformats.org/drawingml/2006/main">
              <a:ext uri="{FF2B5EF4-FFF2-40B4-BE49-F238E27FC236}">
                <a16:creationId xmlns:a16="http://schemas.microsoft.com/office/drawing/2014/main" id="{B5D6980B-4127-48D5-AB62-E4B6969F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wsgi.py and asgi.py</a:t>
            </a:r>
          </a:p>
        </p:txBody>
      </p:sp>
      <p:sp>
        <p:nvSpPr>
          <p:cNvPr id="2" name="startproject 同時產生兩個檔案">
            <a:extLst xmlns:a="http://schemas.openxmlformats.org/drawingml/2006/main">
              <a:ext uri="{FF2B5EF4-FFF2-40B4-BE49-F238E27FC236}">
                <a16:creationId xmlns:a16="http://schemas.microsoft.com/office/drawing/2014/main" id="{F6552290-9726-4906-AEF3-F6685F62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startproject generates both server entry points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18F36ECE-B71D-446A-B9B1-F50E87B0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5715000"/>
                <a:gridCol w="2495550"/>
              </a:tblGrid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File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For beginners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config/wsgi.py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Creates the application that a WSGI server loads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Usually unchanged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config/asgi.py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Creates the application that an ASGI server loads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Usually unchanged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Both files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Load settings and expose an application object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Separate from URL routing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ASGI 支援非同步介面；即時通訊仍需相應的應用與伺服器配置。">
            <a:extLst xmlns:a="http://schemas.openxmlformats.org/drawingml/2006/main">
              <a:ext uri="{FF2B5EF4-FFF2-40B4-BE49-F238E27FC236}">
                <a16:creationId xmlns:a16="http://schemas.microsoft.com/office/drawing/2014/main" id="{0A5F0E17-39C3-4053-B30E-510FFA3F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ASGI supports async interfaces. Real-time features still need suitable application and server setup.</a:t>
            </a:r>
          </a:p>
        </p:txBody>
      </p:sp>
    </p:spTree>
    <p:extLst>
      <p:ext uri="{BB962C8B-B14F-4D97-AF65-F5344CB8AC3E}">
        <p14:creationId xmlns:p14="http://schemas.microsoft.com/office/powerpoint/2010/main" val="4488929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第一次啟動網站">
            <a:extLst xmlns:a="http://schemas.openxmlformats.org/drawingml/2006/main">
              <a:ext uri="{FF2B5EF4-FFF2-40B4-BE49-F238E27FC236}">
                <a16:creationId xmlns:a16="http://schemas.microsoft.com/office/drawing/2014/main" id="{042D032D-F4EE-4B8F-B76B-FCEB7667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The first server run</a:t>
            </a:r>
          </a:p>
        </p:txBody>
      </p:sp>
      <p:sp>
        <p:nvSpPr>
          <p:cNvPr id="2" name="此時尚未更動預設 config/urls.py">
            <a:extLst xmlns:a="http://schemas.openxmlformats.org/drawingml/2006/main">
              <a:ext uri="{FF2B5EF4-FFF2-40B4-BE49-F238E27FC236}">
                <a16:creationId xmlns:a16="http://schemas.microsoft.com/office/drawing/2014/main" id="{301DE85C-EC8E-40BB-9BCB-44A5AF8F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At this point, config/urls.py still has its generated contents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DF47651C-215F-4AA1-8DBF-CA96AB42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python manage.py migrate">
            <a:extLst xmlns:a="http://schemas.openxmlformats.org/drawingml/2006/main">
              <a:ext uri="{FF2B5EF4-FFF2-40B4-BE49-F238E27FC236}">
                <a16:creationId xmlns:a16="http://schemas.microsoft.com/office/drawing/2014/main" id="{55867A57-E191-4642-8AC2-1A16271D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migrate</a:t>
            </a:r>
          </a:p>
        </p:txBody>
      </p:sp>
      <p:sp>
        <p:nvSpPr>
          <p:cNvPr id="5" name="python manage.py runserver">
            <a:extLst xmlns:a="http://schemas.openxmlformats.org/drawingml/2006/main">
              <a:ext uri="{FF2B5EF4-FFF2-40B4-BE49-F238E27FC236}">
                <a16:creationId xmlns:a16="http://schemas.microsoft.com/office/drawing/2014/main" id="{0CCF2146-2501-4520-BAE5-F8BF1C1A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python manage.py runserver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9EFCC-521B-4C1E-92A1-0B498741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# 在瀏覽器開啟">
            <a:extLst xmlns:a="http://schemas.openxmlformats.org/drawingml/2006/main">
              <a:ext uri="{FF2B5EF4-FFF2-40B4-BE49-F238E27FC236}">
                <a16:creationId xmlns:a16="http://schemas.microsoft.com/office/drawing/2014/main" id="{65240512-4909-464F-944D-4F0BA980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# Open in the browser</a:t>
            </a:r>
          </a:p>
        </p:txBody>
      </p:sp>
      <p:sp>
        <p:nvSpPr>
          <p:cNvPr id="8" name="http://127.0.0.1:8000/">
            <a:extLst xmlns:a="http://schemas.openxmlformats.org/drawingml/2006/main">
              <a:ext uri="{FF2B5EF4-FFF2-40B4-BE49-F238E27FC236}">
                <a16:creationId xmlns:a16="http://schemas.microsoft.com/office/drawing/2014/main" id="{BFA99E24-51F7-4875-8ABE-60204C5E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http://127.0.0.1:8000/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BA748-8A0B-4052-828B-181CC02C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# 停止伺服器：在終端機按 Ctrl+C">
            <a:extLst xmlns:a="http://schemas.openxmlformats.org/drawingml/2006/main">
              <a:ext uri="{FF2B5EF4-FFF2-40B4-BE49-F238E27FC236}">
                <a16:creationId xmlns:a16="http://schemas.microsoft.com/office/drawing/2014/main" id="{24B33AF6-49F0-4472-A07E-6D6D60D0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# Stop the server: press Ctrl+C in the terminal</a:t>
            </a:r>
          </a:p>
        </p:txBody>
      </p:sp>
      <p:sp>
        <p:nvSpPr>
          <p:cNvPr id="11" name="migrate">
            <a:extLst xmlns:a="http://schemas.openxmlformats.org/drawingml/2006/main">
              <a:ext uri="{FF2B5EF4-FFF2-40B4-BE49-F238E27FC236}">
                <a16:creationId xmlns:a16="http://schemas.microsoft.com/office/drawing/2014/main" id="{AC010FDD-D624-4DBA-8E87-159275B8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migrate</a:t>
            </a:r>
          </a:p>
        </p:txBody>
      </p:sp>
      <p:sp>
        <p:nvSpPr>
          <p:cNvPr id="12" name="先建立 auth、session 等 內建 app 需要的資料表。">
            <a:extLst xmlns:a="http://schemas.openxmlformats.org/drawingml/2006/main">
              <a:ext uri="{FF2B5EF4-FFF2-40B4-BE49-F238E27FC236}">
                <a16:creationId xmlns:a16="http://schemas.microsoft.com/office/drawing/2014/main" id="{93DAF128-2EB2-468B-A763-E650789F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Creates database tables for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built-in apps such as auth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and sessions.</a:t>
            </a:r>
          </a:p>
        </p:txBody>
      </p:sp>
      <p:sp>
        <p:nvSpPr>
          <p:cNvPr id="13" name="runserver">
            <a:extLst xmlns:a="http://schemas.openxmlformats.org/drawingml/2006/main">
              <a:ext uri="{FF2B5EF4-FFF2-40B4-BE49-F238E27FC236}">
                <a16:creationId xmlns:a16="http://schemas.microsoft.com/office/drawing/2014/main" id="{80C6B603-1114-4890-875D-DAE48F37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runserver</a:t>
            </a:r>
          </a:p>
        </p:txBody>
      </p:sp>
      <p:sp>
        <p:nvSpPr>
          <p:cNvPr id="14" name="啟動本機開發伺服器， 終端機須保持執行。 它不是正式部署伺服器。">
            <a:extLst xmlns:a="http://schemas.openxmlformats.org/drawingml/2006/main">
              <a:ext uri="{FF2B5EF4-FFF2-40B4-BE49-F238E27FC236}">
                <a16:creationId xmlns:a16="http://schemas.microsoft.com/office/drawing/2014/main" id="{DCCBC842-B2DF-4FD4-B7D5-FC26E837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Starts the local development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server. Keep the terminal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running. Not for production.</a:t>
            </a:r>
          </a:p>
        </p:txBody>
      </p:sp>
      <p:sp>
        <p:nvSpPr>
          <p:cNvPr id="15" name="預設路由尚未修改時會顯示 Django 歡迎頁；後續改用 /products/。">
            <a:extLst xmlns:a="http://schemas.openxmlformats.org/drawingml/2006/main">
              <a:ext uri="{FF2B5EF4-FFF2-40B4-BE49-F238E27FC236}">
                <a16:creationId xmlns:a16="http://schemas.microsoft.com/office/drawing/2014/main" id="{2E0951EE-9C45-4C15-A3BB-0707440D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The default URL setup shows the welcome page. Later we will use /products/.</a:t>
            </a:r>
          </a:p>
        </p:txBody>
      </p:sp>
    </p:spTree>
    <p:extLst>
      <p:ext uri="{BB962C8B-B14F-4D97-AF65-F5344CB8AC3E}">
        <p14:creationId xmlns:p14="http://schemas.microsoft.com/office/powerpoint/2010/main" val="3351109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建立 catalog app">
            <a:extLst xmlns:a="http://schemas.openxmlformats.org/drawingml/2006/main">
              <a:ext uri="{FF2B5EF4-FFF2-40B4-BE49-F238E27FC236}">
                <a16:creationId xmlns:a16="http://schemas.microsoft.com/office/drawing/2014/main" id="{858E62BB-1629-42E4-AD2B-DC3BD4F5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Creating the catalog app</a:t>
            </a:r>
          </a:p>
        </p:txBody>
      </p:sp>
      <p:sp>
        <p:nvSpPr>
          <p:cNvPr id="2" name="在包含 manage.py 的目錄執行">
            <a:extLst xmlns:a="http://schemas.openxmlformats.org/drawingml/2006/main">
              <a:ext uri="{FF2B5EF4-FFF2-40B4-BE49-F238E27FC236}">
                <a16:creationId xmlns:a16="http://schemas.microsoft.com/office/drawing/2014/main" id="{CA35968B-C9FF-4CCE-9C09-D0502BFD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Run this in the directory containing manage.py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FCC1413B-6F44-4FE8-B8AA-269CA141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python manage.py startapp catalog">
            <a:extLst xmlns:a="http://schemas.openxmlformats.org/drawingml/2006/main">
              <a:ext uri="{FF2B5EF4-FFF2-40B4-BE49-F238E27FC236}">
                <a16:creationId xmlns:a16="http://schemas.microsoft.com/office/drawing/2014/main" id="{18844ADD-8F25-4722-82F9-76552853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startapp catalog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5C24E-A130-4832-9206-58E30BAC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catalog/">
            <a:extLst xmlns:a="http://schemas.openxmlformats.org/drawingml/2006/main">
              <a:ext uri="{FF2B5EF4-FFF2-40B4-BE49-F238E27FC236}">
                <a16:creationId xmlns:a16="http://schemas.microsoft.com/office/drawing/2014/main" id="{5F5565A1-516E-4F8B-A3C1-E673AF39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catalog/</a:t>
            </a:r>
          </a:p>
        </p:txBody>
      </p:sp>
      <p:sp>
        <p:nvSpPr>
          <p:cNvPr id="7" name="    __init__.py">
            <a:extLst xmlns:a="http://schemas.openxmlformats.org/drawingml/2006/main">
              <a:ext uri="{FF2B5EF4-FFF2-40B4-BE49-F238E27FC236}">
                <a16:creationId xmlns:a16="http://schemas.microsoft.com/office/drawing/2014/main" id="{CB2D96FA-B208-4D99-BB46-F697FC20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__init__.py</a:t>
            </a:r>
          </a:p>
        </p:txBody>
      </p:sp>
      <p:sp>
        <p:nvSpPr>
          <p:cNvPr id="8" name="    admin.py">
            <a:extLst xmlns:a="http://schemas.openxmlformats.org/drawingml/2006/main">
              <a:ext uri="{FF2B5EF4-FFF2-40B4-BE49-F238E27FC236}">
                <a16:creationId xmlns:a16="http://schemas.microsoft.com/office/drawing/2014/main" id="{65CE9F29-182B-42BB-A14A-D08400F3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admin.py</a:t>
            </a:r>
          </a:p>
        </p:txBody>
      </p:sp>
      <p:sp>
        <p:nvSpPr>
          <p:cNvPr id="9" name="    apps.py">
            <a:extLst xmlns:a="http://schemas.openxmlformats.org/drawingml/2006/main">
              <a:ext uri="{FF2B5EF4-FFF2-40B4-BE49-F238E27FC236}">
                <a16:creationId xmlns:a16="http://schemas.microsoft.com/office/drawing/2014/main" id="{84B3C8B2-AEE0-4534-B462-FC8F5E64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apps.py</a:t>
            </a:r>
          </a:p>
        </p:txBody>
      </p:sp>
      <p:sp>
        <p:nvSpPr>
          <p:cNvPr id="10" name="    migrations/">
            <a:extLst xmlns:a="http://schemas.openxmlformats.org/drawingml/2006/main">
              <a:ext uri="{FF2B5EF4-FFF2-40B4-BE49-F238E27FC236}">
                <a16:creationId xmlns:a16="http://schemas.microsoft.com/office/drawing/2014/main" id="{0D8BD164-38F3-4EE1-936B-34CDB65B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migrations/</a:t>
            </a:r>
          </a:p>
        </p:txBody>
      </p:sp>
      <p:sp>
        <p:nvSpPr>
          <p:cNvPr id="11" name="        __init__.py">
            <a:extLst xmlns:a="http://schemas.openxmlformats.org/drawingml/2006/main">
              <a:ext uri="{FF2B5EF4-FFF2-40B4-BE49-F238E27FC236}">
                <a16:creationId xmlns:a16="http://schemas.microsoft.com/office/drawing/2014/main" id="{574EB6A4-9178-48D6-850F-6C1D2DDB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__init__.py</a:t>
            </a:r>
          </a:p>
        </p:txBody>
      </p:sp>
      <p:sp>
        <p:nvSpPr>
          <p:cNvPr id="12" name="    models.py">
            <a:extLst xmlns:a="http://schemas.openxmlformats.org/drawingml/2006/main">
              <a:ext uri="{FF2B5EF4-FFF2-40B4-BE49-F238E27FC236}">
                <a16:creationId xmlns:a16="http://schemas.microsoft.com/office/drawing/2014/main" id="{BDBDB799-0900-4F44-B6D1-F0AAC08F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models.py</a:t>
            </a:r>
          </a:p>
        </p:txBody>
      </p:sp>
      <p:sp>
        <p:nvSpPr>
          <p:cNvPr id="13" name="    tests.py">
            <a:extLst xmlns:a="http://schemas.openxmlformats.org/drawingml/2006/main">
              <a:ext uri="{FF2B5EF4-FFF2-40B4-BE49-F238E27FC236}">
                <a16:creationId xmlns:a16="http://schemas.microsoft.com/office/drawing/2014/main" id="{9AFA6BD3-A531-47F4-8AAC-7DF9C1A5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tests.py</a:t>
            </a:r>
          </a:p>
        </p:txBody>
      </p:sp>
      <p:sp>
        <p:nvSpPr>
          <p:cNvPr id="14" name="    views.py">
            <a:extLst xmlns:a="http://schemas.openxmlformats.org/drawingml/2006/main">
              <a:ext uri="{FF2B5EF4-FFF2-40B4-BE49-F238E27FC236}">
                <a16:creationId xmlns:a16="http://schemas.microsoft.com/office/drawing/2014/main" id="{6E2BA2D1-7289-4034-B132-3742661D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views.py</a:t>
            </a:r>
          </a:p>
        </p:txBody>
      </p:sp>
      <p:sp>
        <p:nvSpPr>
          <p:cNvPr id="15" name="預設骨架">
            <a:extLst xmlns:a="http://schemas.openxmlformats.org/drawingml/2006/main">
              <a:ext uri="{FF2B5EF4-FFF2-40B4-BE49-F238E27FC236}">
                <a16:creationId xmlns:a16="http://schemas.microsoft.com/office/drawing/2014/main" id="{22200C39-99F6-4A1F-BAC8-EA288AD1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Generated structure</a:t>
            </a:r>
          </a:p>
        </p:txBody>
      </p:sp>
      <p:sp>
        <p:nvSpPr>
          <p:cNvPr id="16" name="程式檔先建立， 主要功能由開發者補上。">
            <a:extLst xmlns:a="http://schemas.openxmlformats.org/drawingml/2006/main">
              <a:ext uri="{FF2B5EF4-FFF2-40B4-BE49-F238E27FC236}">
                <a16:creationId xmlns:a16="http://schemas.microsoft.com/office/drawing/2014/main" id="{CC869189-CA2D-439D-A323-EB5A463C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Django creates the files.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You then add the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application behavior.</a:t>
            </a:r>
          </a:p>
        </p:txBody>
      </p:sp>
      <p:sp>
        <p:nvSpPr>
          <p:cNvPr id="17" name="不會自動建立">
            <a:extLst xmlns:a="http://schemas.openxmlformats.org/drawingml/2006/main">
              <a:ext uri="{FF2B5EF4-FFF2-40B4-BE49-F238E27FC236}">
                <a16:creationId xmlns:a16="http://schemas.microsoft.com/office/drawing/2014/main" id="{CFB3CD28-A574-4409-AA03-A08BDCBF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Add these yourself</a:t>
            </a:r>
          </a:p>
        </p:txBody>
      </p:sp>
      <p:sp>
        <p:nvSpPr>
          <p:cNvPr id="18" name="urls.py、forms.py、 templates/、static/ 需要後續自行加入。">
            <a:extLst xmlns:a="http://schemas.openxmlformats.org/drawingml/2006/main">
              <a:ext uri="{FF2B5EF4-FFF2-40B4-BE49-F238E27FC236}">
                <a16:creationId xmlns:a16="http://schemas.microsoft.com/office/drawing/2014/main" id="{4DE79638-113B-4F20-A27F-77F8D4C2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urls.py, forms.py,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templates/ and static/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are not generated.</a:t>
            </a:r>
          </a:p>
        </p:txBody>
      </p:sp>
      <p:sp>
        <p:nvSpPr>
          <p:cNvPr id="19" name="catalog 代表商品目錄功能，不是整個網站的名稱。">
            <a:extLst xmlns:a="http://schemas.openxmlformats.org/drawingml/2006/main">
              <a:ext uri="{FF2B5EF4-FFF2-40B4-BE49-F238E27FC236}">
                <a16:creationId xmlns:a16="http://schemas.microsoft.com/office/drawing/2014/main" id="{5A528649-037C-4EF9-9B47-3A0A3735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catalog names the product feature, rather than the whole website.</a:t>
            </a:r>
          </a:p>
        </p:txBody>
      </p:sp>
    </p:spTree>
    <p:extLst>
      <p:ext uri="{BB962C8B-B14F-4D97-AF65-F5344CB8AC3E}">
        <p14:creationId xmlns:p14="http://schemas.microsoft.com/office/powerpoint/2010/main" val="368708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pps.py：App 的設定類別">
            <a:extLst xmlns:a="http://schemas.openxmlformats.org/drawingml/2006/main">
              <a:ext uri="{FF2B5EF4-FFF2-40B4-BE49-F238E27FC236}">
                <a16:creationId xmlns:a16="http://schemas.microsoft.com/office/drawing/2014/main" id="{B6186188-7010-4D1D-9809-68A60C06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apps.py: app configuration</a:t>
            </a:r>
          </a:p>
        </p:txBody>
      </p:sp>
      <p:sp>
        <p:nvSpPr>
          <p:cNvPr id="2" name="catalog/apps.py 與 config/settings.py">
            <a:extLst xmlns:a="http://schemas.openxmlformats.org/drawingml/2006/main">
              <a:ext uri="{FF2B5EF4-FFF2-40B4-BE49-F238E27FC236}">
                <a16:creationId xmlns:a16="http://schemas.microsoft.com/office/drawing/2014/main" id="{6FB8F474-D978-4279-9DC3-A844FAE4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catalog/apps.py and config/settings.py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8ADC07BB-8BDC-4A50-86FC-302BD76E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# catalog/apps.py">
            <a:extLst xmlns:a="http://schemas.openxmlformats.org/drawingml/2006/main">
              <a:ext uri="{FF2B5EF4-FFF2-40B4-BE49-F238E27FC236}">
                <a16:creationId xmlns:a16="http://schemas.microsoft.com/office/drawing/2014/main" id="{FD1C23D3-31FF-4E88-A78F-0D67265B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# catalog/apps.py</a:t>
            </a:r>
          </a:p>
        </p:txBody>
      </p:sp>
      <p:sp>
        <p:nvSpPr>
          <p:cNvPr id="5" name="from django.apps import AppConfig">
            <a:extLst xmlns:a="http://schemas.openxmlformats.org/drawingml/2006/main">
              <a:ext uri="{FF2B5EF4-FFF2-40B4-BE49-F238E27FC236}">
                <a16:creationId xmlns:a16="http://schemas.microsoft.com/office/drawing/2014/main" id="{4E2F70FB-80CB-46A6-B205-04FDB652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django.apps import AppConfig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99F52-4E43-450C-A8DE-797821F3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class CatalogConfig(AppConfig):">
            <a:extLst xmlns:a="http://schemas.openxmlformats.org/drawingml/2006/main">
              <a:ext uri="{FF2B5EF4-FFF2-40B4-BE49-F238E27FC236}">
                <a16:creationId xmlns:a16="http://schemas.microsoft.com/office/drawing/2014/main" id="{E31C9ED9-F5BC-41D8-9E79-0A9AAB5D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CatalogConfig(AppConfig):</a:t>
            </a:r>
          </a:p>
        </p:txBody>
      </p:sp>
      <p:sp>
        <p:nvSpPr>
          <p:cNvPr id="8" name="    default_auto_field = &quot;django.db.models.BigAutoField&quot;">
            <a:extLst xmlns:a="http://schemas.openxmlformats.org/drawingml/2006/main">
              <a:ext uri="{FF2B5EF4-FFF2-40B4-BE49-F238E27FC236}">
                <a16:creationId xmlns:a16="http://schemas.microsoft.com/office/drawing/2014/main" id="{FAB65699-53C7-496C-833B-C0679EF8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default_auto_field = "django.db.models.BigAutoField"</a:t>
            </a:r>
          </a:p>
        </p:txBody>
      </p:sp>
      <p:sp>
        <p:nvSpPr>
          <p:cNvPr id="9" name="    name = &quot;catalog&quot;">
            <a:extLst xmlns:a="http://schemas.openxmlformats.org/drawingml/2006/main">
              <a:ext uri="{FF2B5EF4-FFF2-40B4-BE49-F238E27FC236}">
                <a16:creationId xmlns:a16="http://schemas.microsoft.com/office/drawing/2014/main" id="{F596DC0C-C770-4FD3-8589-0C3DD25B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name = "catalog"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C887C-D082-47DE-A7E3-87EAA6CB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# config/settings.py：加入既有 INSTALLED_APPS">
            <a:extLst xmlns:a="http://schemas.openxmlformats.org/drawingml/2006/main">
              <a:ext uri="{FF2B5EF4-FFF2-40B4-BE49-F238E27FC236}">
                <a16:creationId xmlns:a16="http://schemas.microsoft.com/office/drawing/2014/main" id="{D7D04C52-7136-4DC4-923C-AAB7CA61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# config/settings.py: add to existing INSTALLED_APPS</a:t>
            </a:r>
          </a:p>
        </p:txBody>
      </p:sp>
      <p:sp>
        <p:nvSpPr>
          <p:cNvPr id="12" name="&quot;catalog.apps.CatalogConfig&quot;,">
            <a:extLst xmlns:a="http://schemas.openxmlformats.org/drawingml/2006/main">
              <a:ext uri="{FF2B5EF4-FFF2-40B4-BE49-F238E27FC236}">
                <a16:creationId xmlns:a16="http://schemas.microsoft.com/office/drawing/2014/main" id="{F54925CE-1CB1-4599-9B61-0AAC77E6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"catalog.apps.CatalogConfig",</a:t>
            </a:r>
          </a:p>
        </p:txBody>
      </p:sp>
      <p:sp>
        <p:nvSpPr>
          <p:cNvPr id="13" name="AppConfig">
            <a:extLst xmlns:a="http://schemas.openxmlformats.org/drawingml/2006/main">
              <a:ext uri="{FF2B5EF4-FFF2-40B4-BE49-F238E27FC236}">
                <a16:creationId xmlns:a16="http://schemas.microsoft.com/office/drawing/2014/main" id="{30677EDE-2671-472A-AF28-F041DC70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AppConfig</a:t>
            </a:r>
          </a:p>
        </p:txBody>
      </p:sp>
      <p:sp>
        <p:nvSpPr>
          <p:cNvPr id="14" name="name 指定 app 的 Python 路徑。 default_auto_field 設定 自動主鍵的預設型別。">
            <a:extLst xmlns:a="http://schemas.openxmlformats.org/drawingml/2006/main">
              <a:ext uri="{FF2B5EF4-FFF2-40B4-BE49-F238E27FC236}">
                <a16:creationId xmlns:a16="http://schemas.microsoft.com/office/drawing/2014/main" id="{302534C9-C219-41F5-B51E-D4EBA8F0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name is the Python path.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default_auto_field selects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the automatic primary key.</a:t>
            </a:r>
          </a:p>
        </p:txBody>
      </p:sp>
      <p:sp>
        <p:nvSpPr>
          <p:cNvPr id="15" name="註冊 app">
            <a:extLst xmlns:a="http://schemas.openxmlformats.org/drawingml/2006/main">
              <a:ext uri="{FF2B5EF4-FFF2-40B4-BE49-F238E27FC236}">
                <a16:creationId xmlns:a16="http://schemas.microsoft.com/office/drawing/2014/main" id="{5517D9E8-974C-4AC1-A508-CA4EED21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App registration</a:t>
            </a:r>
          </a:p>
        </p:txBody>
      </p:sp>
      <p:sp>
        <p:nvSpPr>
          <p:cNvPr id="16" name="將設定類別加入既有清單， 保留 admin、auth、 staticfiles 等預設項目。">
            <a:extLst xmlns:a="http://schemas.openxmlformats.org/drawingml/2006/main">
              <a:ext uri="{FF2B5EF4-FFF2-40B4-BE49-F238E27FC236}">
                <a16:creationId xmlns:a16="http://schemas.microsoft.com/office/drawing/2014/main" id="{83C35008-2F04-4B38-B2D9-FDD00261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Add the configuration class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to the existing list. Keep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admin, auth and staticfiles.</a:t>
            </a:r>
          </a:p>
        </p:txBody>
      </p:sp>
      <p:sp>
        <p:nvSpPr>
          <p:cNvPr id="17" name="只有建立資料夾，並不代表 Django 已經啟用這個 app。">
            <a:extLst xmlns:a="http://schemas.openxmlformats.org/drawingml/2006/main">
              <a:ext uri="{FF2B5EF4-FFF2-40B4-BE49-F238E27FC236}">
                <a16:creationId xmlns:a16="http://schemas.microsoft.com/office/drawing/2014/main" id="{A9DEC94F-750B-467E-9902-E1746C49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Creating an app directory alone does not enable it in Django.</a:t>
            </a:r>
          </a:p>
        </p:txBody>
      </p:sp>
    </p:spTree>
    <p:extLst>
      <p:ext uri="{BB962C8B-B14F-4D97-AF65-F5344CB8AC3E}">
        <p14:creationId xmlns:p14="http://schemas.microsoft.com/office/powerpoint/2010/main" val="1015334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views.py：第一個回應函式">
            <a:extLst xmlns:a="http://schemas.openxmlformats.org/drawingml/2006/main">
              <a:ext uri="{FF2B5EF4-FFF2-40B4-BE49-F238E27FC236}">
                <a16:creationId xmlns:a16="http://schemas.microsoft.com/office/drawing/2014/main" id="{DECBFBBD-0B2A-444D-8594-121F5ACE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views.py: the first response</a:t>
            </a:r>
          </a:p>
        </p:txBody>
      </p:sp>
      <p:sp>
        <p:nvSpPr>
          <p:cNvPr id="2" name="先加入最簡單的 hello view">
            <a:extLst xmlns:a="http://schemas.openxmlformats.org/drawingml/2006/main">
              <a:ext uri="{FF2B5EF4-FFF2-40B4-BE49-F238E27FC236}">
                <a16:creationId xmlns:a16="http://schemas.microsoft.com/office/drawing/2014/main" id="{B70189BF-B65D-4674-9E3A-9E61116D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A minimal hello view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D2833D33-BA48-453C-9B6C-52550A34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from django.http import HttpResponse">
            <a:extLst xmlns:a="http://schemas.openxmlformats.org/drawingml/2006/main">
              <a:ext uri="{FF2B5EF4-FFF2-40B4-BE49-F238E27FC236}">
                <a16:creationId xmlns:a16="http://schemas.microsoft.com/office/drawing/2014/main" id="{EF36B267-3B2E-41C6-BEC7-C632AEEE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django.http import HttpResponse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C527A-F10F-457D-8A69-3336AB51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 hello(request):">
            <a:extLst xmlns:a="http://schemas.openxmlformats.org/drawingml/2006/main">
              <a:ext uri="{FF2B5EF4-FFF2-40B4-BE49-F238E27FC236}">
                <a16:creationId xmlns:a16="http://schemas.microsoft.com/office/drawing/2014/main" id="{FFC793D6-4352-4E73-BF21-EA67FB28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hello(request):</a:t>
            </a:r>
          </a:p>
        </p:txBody>
      </p:sp>
      <p:sp>
        <p:nvSpPr>
          <p:cNvPr id="7" name="    return HttpResponse(&quot;Hello, Django!&quot;)">
            <a:extLst xmlns:a="http://schemas.openxmlformats.org/drawingml/2006/main">
              <a:ext uri="{FF2B5EF4-FFF2-40B4-BE49-F238E27FC236}">
                <a16:creationId xmlns:a16="http://schemas.microsoft.com/office/drawing/2014/main" id="{C8529DF7-FE14-41FB-88D7-1C0A0F43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HttpResponse("Hello, Django!")</a:t>
            </a:r>
          </a:p>
        </p:txBody>
      </p:sp>
      <p:sp>
        <p:nvSpPr>
          <p:cNvPr id="8" name="輸入">
            <a:extLst xmlns:a="http://schemas.openxmlformats.org/drawingml/2006/main">
              <a:ext uri="{FF2B5EF4-FFF2-40B4-BE49-F238E27FC236}">
                <a16:creationId xmlns:a16="http://schemas.microsoft.com/office/drawing/2014/main" id="{E9377C05-B8D2-4EA7-AB60-93A7E6EE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9" name="request 包含 HTTP 方法、 網址資訊與送出的資料。">
            <a:extLst xmlns:a="http://schemas.openxmlformats.org/drawingml/2006/main">
              <a:ext uri="{FF2B5EF4-FFF2-40B4-BE49-F238E27FC236}">
                <a16:creationId xmlns:a16="http://schemas.microsoft.com/office/drawing/2014/main" id="{4EAD11F3-B66D-4085-B4E7-F2DDCD0E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request contains the HTTP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method, URL information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and submitted data.</a:t>
            </a:r>
          </a:p>
        </p:txBody>
      </p:sp>
      <p:sp>
        <p:nvSpPr>
          <p:cNvPr id="10" name="輸出">
            <a:extLst xmlns:a="http://schemas.openxmlformats.org/drawingml/2006/main">
              <a:ext uri="{FF2B5EF4-FFF2-40B4-BE49-F238E27FC236}">
                <a16:creationId xmlns:a16="http://schemas.microsoft.com/office/drawing/2014/main" id="{59D4A210-40AD-45F4-B3B5-5E758554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1" name="view 回傳 HttpResponse。 這個例子直接回傳文字， 尚未使用資料庫或模板。">
            <a:extLst xmlns:a="http://schemas.openxmlformats.org/drawingml/2006/main">
              <a:ext uri="{FF2B5EF4-FFF2-40B4-BE49-F238E27FC236}">
                <a16:creationId xmlns:a16="http://schemas.microsoft.com/office/drawing/2014/main" id="{797A2A2A-EA9A-4A78-83EE-FCE5CDF2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The view returns HttpResponse.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This example returns text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without a database or template.</a:t>
            </a:r>
          </a:p>
        </p:txBody>
      </p:sp>
      <p:sp>
        <p:nvSpPr>
          <p:cNvPr id="12" name="建立 view 之後，還需要路由讓瀏覽器找到它。">
            <a:extLst xmlns:a="http://schemas.openxmlformats.org/drawingml/2006/main">
              <a:ext uri="{FF2B5EF4-FFF2-40B4-BE49-F238E27FC236}">
                <a16:creationId xmlns:a16="http://schemas.microsoft.com/office/drawing/2014/main" id="{5D28D78D-1F02-4CC7-99C2-4E64B930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A URL route must connect the browser to the view.</a:t>
            </a:r>
          </a:p>
        </p:txBody>
      </p:sp>
    </p:spTree>
    <p:extLst>
      <p:ext uri="{BB962C8B-B14F-4D97-AF65-F5344CB8AC3E}">
        <p14:creationId xmlns:p14="http://schemas.microsoft.com/office/powerpoint/2010/main" val="11493392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atalog/urls.py：App 的路由">
            <a:extLst xmlns:a="http://schemas.openxmlformats.org/drawingml/2006/main">
              <a:ext uri="{FF2B5EF4-FFF2-40B4-BE49-F238E27FC236}">
                <a16:creationId xmlns:a16="http://schemas.microsoft.com/office/drawing/2014/main" id="{8699E0EF-0DDA-4E5C-BDA9-4C0BF2DA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catalog/urls.py: app routes</a:t>
            </a:r>
          </a:p>
        </p:txBody>
      </p:sp>
      <p:sp>
        <p:nvSpPr>
          <p:cNvPr id="2" name="這是自行新增的檔案">
            <a:extLst xmlns:a="http://schemas.openxmlformats.org/drawingml/2006/main">
              <a:ext uri="{FF2B5EF4-FFF2-40B4-BE49-F238E27FC236}">
                <a16:creationId xmlns:a16="http://schemas.microsoft.com/office/drawing/2014/main" id="{5F7F2DA5-1288-4E13-9C2C-80F138CB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Create this file yourself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07E2E159-2777-45A4-B21F-91D8F042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from django.urls import path">
            <a:extLst xmlns:a="http://schemas.openxmlformats.org/drawingml/2006/main">
              <a:ext uri="{FF2B5EF4-FFF2-40B4-BE49-F238E27FC236}">
                <a16:creationId xmlns:a16="http://schemas.microsoft.com/office/drawing/2014/main" id="{62A7C579-C090-42AF-B5C3-AB1EFE5E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django.urls import path</a:t>
            </a:r>
          </a:p>
        </p:txBody>
      </p:sp>
      <p:sp>
        <p:nvSpPr>
          <p:cNvPr id="5" name="from . import views">
            <a:extLst xmlns:a="http://schemas.openxmlformats.org/drawingml/2006/main">
              <a:ext uri="{FF2B5EF4-FFF2-40B4-BE49-F238E27FC236}">
                <a16:creationId xmlns:a16="http://schemas.microsoft.com/office/drawing/2014/main" id="{F77AC083-4C3E-4845-A28E-E18EE118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 import 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205CB-6BC1-4202-8FE7-8D6A176B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pp_name = &quot;catalog&quot;">
            <a:extLst xmlns:a="http://schemas.openxmlformats.org/drawingml/2006/main">
              <a:ext uri="{FF2B5EF4-FFF2-40B4-BE49-F238E27FC236}">
                <a16:creationId xmlns:a16="http://schemas.microsoft.com/office/drawing/2014/main" id="{BC521DC7-AEB9-422A-A278-77D1D8DE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app_name = "catalog"</a:t>
            </a:r>
          </a:p>
        </p:txBody>
      </p:sp>
      <p:sp>
        <p:nvSpPr>
          <p:cNvPr id="8" name="urlpatterns = [">
            <a:extLst xmlns:a="http://schemas.openxmlformats.org/drawingml/2006/main">
              <a:ext uri="{FF2B5EF4-FFF2-40B4-BE49-F238E27FC236}">
                <a16:creationId xmlns:a16="http://schemas.microsoft.com/office/drawing/2014/main" id="{CB5334D9-E35C-4A97-A8D9-2605A2AD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urlpatterns = [</a:t>
            </a:r>
          </a:p>
        </p:txBody>
      </p:sp>
      <p:sp>
        <p:nvSpPr>
          <p:cNvPr id="9" name="    path(&quot;hello/&quot;, views.hello, name=&quot;hello&quot;),">
            <a:extLst xmlns:a="http://schemas.openxmlformats.org/drawingml/2006/main">
              <a:ext uri="{FF2B5EF4-FFF2-40B4-BE49-F238E27FC236}">
                <a16:creationId xmlns:a16="http://schemas.microsoft.com/office/drawing/2014/main" id="{96423E9E-3808-48A7-A672-96E72095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path("hello/", views.hello, name="hello"),</a:t>
            </a:r>
          </a:p>
        </p:txBody>
      </p:sp>
      <p:sp>
        <p:nvSpPr>
          <p:cNvPr id="10" name="]">
            <a:extLst xmlns:a="http://schemas.openxmlformats.org/drawingml/2006/main">
              <a:ext uri="{FF2B5EF4-FFF2-40B4-BE49-F238E27FC236}">
                <a16:creationId xmlns:a16="http://schemas.microsoft.com/office/drawing/2014/main" id="{1AD3C398-15B1-4BFB-B3EC-6545ABF7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11" name="路徑與函式">
            <a:extLst xmlns:a="http://schemas.openxmlformats.org/drawingml/2006/main">
              <a:ext uri="{FF2B5EF4-FFF2-40B4-BE49-F238E27FC236}">
                <a16:creationId xmlns:a16="http://schemas.microsoft.com/office/drawing/2014/main" id="{1017771B-D3FB-4171-BE19-7D9A867C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Path and function</a:t>
            </a:r>
          </a:p>
        </p:txBody>
      </p:sp>
      <p:sp>
        <p:nvSpPr>
          <p:cNvPr id="12" name="hello/ 對應 views.hello。 此處傳函式本身， 不寫成 views.hello()。">
            <a:extLst xmlns:a="http://schemas.openxmlformats.org/drawingml/2006/main">
              <a:ext uri="{FF2B5EF4-FFF2-40B4-BE49-F238E27FC236}">
                <a16:creationId xmlns:a16="http://schemas.microsoft.com/office/drawing/2014/main" id="{DE40E4DD-C7BF-4E25-8999-37466193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hello/ maps to views.hello.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Pass the function itself,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without calling views.hello().</a:t>
            </a:r>
          </a:p>
        </p:txBody>
      </p:sp>
      <p:sp>
        <p:nvSpPr>
          <p:cNvPr id="13" name="路由名稱">
            <a:extLst xmlns:a="http://schemas.openxmlformats.org/drawingml/2006/main">
              <a:ext uri="{FF2B5EF4-FFF2-40B4-BE49-F238E27FC236}">
                <a16:creationId xmlns:a16="http://schemas.microsoft.com/office/drawing/2014/main" id="{B2119461-40FA-42FE-BA7D-843C73B0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Route names</a:t>
            </a:r>
          </a:p>
        </p:txBody>
      </p:sp>
      <p:sp>
        <p:nvSpPr>
          <p:cNvPr id="14" name="name 用於反向產生網址。 app_name 避免不同 app 出現相同路由名稱。">
            <a:extLst xmlns:a="http://schemas.openxmlformats.org/drawingml/2006/main">
              <a:ext uri="{FF2B5EF4-FFF2-40B4-BE49-F238E27FC236}">
                <a16:creationId xmlns:a16="http://schemas.microsoft.com/office/drawing/2014/main" id="{C0C3574A-2946-460F-A252-536825D3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name supports URL reversing.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app_name keeps names from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different apps separate.</a:t>
            </a:r>
          </a:p>
        </p:txBody>
      </p:sp>
      <p:sp>
        <p:nvSpPr>
          <p:cNvPr id="15" name="此處只有 app 內部的路徑，尚未決定網站上的前綴。">
            <a:extLst xmlns:a="http://schemas.openxmlformats.org/drawingml/2006/main">
              <a:ext uri="{FF2B5EF4-FFF2-40B4-BE49-F238E27FC236}">
                <a16:creationId xmlns:a16="http://schemas.microsoft.com/office/drawing/2014/main" id="{633E0A1D-ED7B-46D6-943D-D896A6DC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These are paths within the app. The project determines their URL prefix.</a:t>
            </a:r>
          </a:p>
        </p:txBody>
      </p:sp>
    </p:spTree>
    <p:extLst>
      <p:ext uri="{BB962C8B-B14F-4D97-AF65-F5344CB8AC3E}">
        <p14:creationId xmlns:p14="http://schemas.microsoft.com/office/powerpoint/2010/main" val="12684167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fig/urls.py：網站的總路由">
            <a:extLst xmlns:a="http://schemas.openxmlformats.org/drawingml/2006/main">
              <a:ext uri="{FF2B5EF4-FFF2-40B4-BE49-F238E27FC236}">
                <a16:creationId xmlns:a16="http://schemas.microsoft.com/office/drawing/2014/main" id="{49C74AB2-DA08-460B-88FA-79ED2707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config/urls.py: root routes</a:t>
            </a:r>
          </a:p>
        </p:txBody>
      </p:sp>
      <p:sp>
        <p:nvSpPr>
          <p:cNvPr id="2" name="將 /products/ 交給 catalog app">
            <a:extLst xmlns:a="http://schemas.openxmlformats.org/drawingml/2006/main">
              <a:ext uri="{FF2B5EF4-FFF2-40B4-BE49-F238E27FC236}">
                <a16:creationId xmlns:a16="http://schemas.microsoft.com/office/drawing/2014/main" id="{C6570155-2BA3-40CE-A49E-2BCC3C28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Delegate /products/ to the catalog app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D91B9E9A-DEB5-42B1-9240-3131A99E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from django.contrib import admin">
            <a:extLst xmlns:a="http://schemas.openxmlformats.org/drawingml/2006/main">
              <a:ext uri="{FF2B5EF4-FFF2-40B4-BE49-F238E27FC236}">
                <a16:creationId xmlns:a16="http://schemas.microsoft.com/office/drawing/2014/main" id="{7F66B7DF-B1FC-4304-BDC4-00A0FD71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django.contrib import admin</a:t>
            </a:r>
          </a:p>
        </p:txBody>
      </p:sp>
      <p:sp>
        <p:nvSpPr>
          <p:cNvPr id="5" name="from django.urls import include, path">
            <a:extLst xmlns:a="http://schemas.openxmlformats.org/drawingml/2006/main">
              <a:ext uri="{FF2B5EF4-FFF2-40B4-BE49-F238E27FC236}">
                <a16:creationId xmlns:a16="http://schemas.microsoft.com/office/drawing/2014/main" id="{5406EC61-B059-4AAE-8271-3DF3E810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django.urls import include,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6F392-63AD-4956-BBA8-A181B448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urlpatterns = [">
            <a:extLst xmlns:a="http://schemas.openxmlformats.org/drawingml/2006/main">
              <a:ext uri="{FF2B5EF4-FFF2-40B4-BE49-F238E27FC236}">
                <a16:creationId xmlns:a16="http://schemas.microsoft.com/office/drawing/2014/main" id="{A7ACCF56-DAEB-4747-AE30-F74ADAB8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urlpatterns = [</a:t>
            </a:r>
          </a:p>
        </p:txBody>
      </p:sp>
      <p:sp>
        <p:nvSpPr>
          <p:cNvPr id="8" name="    path(&quot;products/&quot;, include(&quot;catalog.urls&quot;)),">
            <a:extLst xmlns:a="http://schemas.openxmlformats.org/drawingml/2006/main">
              <a:ext uri="{FF2B5EF4-FFF2-40B4-BE49-F238E27FC236}">
                <a16:creationId xmlns:a16="http://schemas.microsoft.com/office/drawing/2014/main" id="{1EED7FAC-0CCB-415E-8FA9-63E98569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path("products/", include("catalog.urls")),</a:t>
            </a:r>
          </a:p>
        </p:txBody>
      </p:sp>
      <p:sp>
        <p:nvSpPr>
          <p:cNvPr id="9" name="    path(&quot;admin/&quot;, admin.site.urls),">
            <a:extLst xmlns:a="http://schemas.openxmlformats.org/drawingml/2006/main">
              <a:ext uri="{FF2B5EF4-FFF2-40B4-BE49-F238E27FC236}">
                <a16:creationId xmlns:a16="http://schemas.microsoft.com/office/drawing/2014/main" id="{99F22B03-A885-4E4A-8A64-E5D2E3DF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path("admin/", admin.site.urls),</a:t>
            </a:r>
          </a:p>
        </p:txBody>
      </p:sp>
      <p:sp>
        <p:nvSpPr>
          <p:cNvPr id="10" name="]">
            <a:extLst xmlns:a="http://schemas.openxmlformats.org/drawingml/2006/main">
              <a:ext uri="{FF2B5EF4-FFF2-40B4-BE49-F238E27FC236}">
                <a16:creationId xmlns:a16="http://schemas.microsoft.com/office/drawing/2014/main" id="{F04E4CF1-172D-4E42-BF93-6DB05748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11" name="include()">
            <a:extLst xmlns:a="http://schemas.openxmlformats.org/drawingml/2006/main">
              <a:ext uri="{FF2B5EF4-FFF2-40B4-BE49-F238E27FC236}">
                <a16:creationId xmlns:a16="http://schemas.microsoft.com/office/drawing/2014/main" id="{4B6A624C-B31F-4008-97DC-7FF3B75D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include()</a:t>
            </a:r>
          </a:p>
        </p:txBody>
      </p:sp>
      <p:sp>
        <p:nvSpPr>
          <p:cNvPr id="12" name="前綴 products/ 匹配後， 剩餘路徑由 app 路由處理。">
            <a:extLst xmlns:a="http://schemas.openxmlformats.org/drawingml/2006/main">
              <a:ext uri="{FF2B5EF4-FFF2-40B4-BE49-F238E27FC236}">
                <a16:creationId xmlns:a16="http://schemas.microsoft.com/office/drawing/2014/main" id="{84CEFB59-F4C9-4005-AD6C-DF190963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After matching products/,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the app URLconf handles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the remaining path.</a:t>
            </a:r>
          </a:p>
        </p:txBody>
      </p:sp>
      <p:sp>
        <p:nvSpPr>
          <p:cNvPr id="13" name="第一個可用網址">
            <a:extLst xmlns:a="http://schemas.openxmlformats.org/drawingml/2006/main">
              <a:ext uri="{FF2B5EF4-FFF2-40B4-BE49-F238E27FC236}">
                <a16:creationId xmlns:a16="http://schemas.microsoft.com/office/drawing/2014/main" id="{4AE88D99-22B1-4DCB-BB85-1A2312A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First working URL</a:t>
            </a:r>
          </a:p>
        </p:txBody>
      </p:sp>
      <p:sp>
        <p:nvSpPr>
          <p:cNvPr id="14" name="/products/hello/ 會執行 hello(request)， 顯示 Hello, Django!。">
            <a:extLst xmlns:a="http://schemas.openxmlformats.org/drawingml/2006/main">
              <a:ext uri="{FF2B5EF4-FFF2-40B4-BE49-F238E27FC236}">
                <a16:creationId xmlns:a16="http://schemas.microsoft.com/office/drawing/2014/main" id="{02A854F9-2DF3-4115-A73C-73DEF525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/products/hello/ calls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hello(request) and displays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Hello, Django!</a:t>
            </a:r>
          </a:p>
        </p:txBody>
      </p:sp>
      <p:sp>
        <p:nvSpPr>
          <p:cNvPr id="15" name="此設定尚未定義根路徑 /；根路徑出現 404 並不表示伺服器壞了。">
            <a:extLst xmlns:a="http://schemas.openxmlformats.org/drawingml/2006/main">
              <a:ext uri="{FF2B5EF4-FFF2-40B4-BE49-F238E27FC236}">
                <a16:creationId xmlns:a16="http://schemas.microsoft.com/office/drawing/2014/main" id="{DA9B70BC-EA11-4D95-9BFD-210DAE14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No route handles / yet. A 404 at the root does not mean the server has failed.</a:t>
            </a:r>
          </a:p>
        </p:txBody>
      </p:sp>
    </p:spTree>
    <p:extLst>
      <p:ext uri="{BB962C8B-B14F-4D97-AF65-F5344CB8AC3E}">
        <p14:creationId xmlns:p14="http://schemas.microsoft.com/office/powerpoint/2010/main" val="20176762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一次網頁請求的流程">
            <a:extLst xmlns:a="http://schemas.openxmlformats.org/drawingml/2006/main">
              <a:ext uri="{FF2B5EF4-FFF2-40B4-BE49-F238E27FC236}">
                <a16:creationId xmlns:a16="http://schemas.microsoft.com/office/drawing/2014/main" id="{D4BFD974-1340-492C-B6A1-A29304B6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The journey of a web request</a:t>
            </a:r>
          </a:p>
        </p:txBody>
      </p:sp>
      <p:sp>
        <p:nvSpPr>
          <p:cNvPr id="2" name="商品列表完成後，檔案如何共同工作">
            <a:extLst xmlns:a="http://schemas.openxmlformats.org/drawingml/2006/main">
              <a:ext uri="{FF2B5EF4-FFF2-40B4-BE49-F238E27FC236}">
                <a16:creationId xmlns:a16="http://schemas.microsoft.com/office/drawing/2014/main" id="{077875A5-A033-4AC7-B844-29E8E028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How the completed product list uses the project files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F15C5CC4-D44D-442F-A902-DFC8F505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43ba1a6a143a7"/>
          <a:stretch xmlns:a="http://schemas.openxmlformats.org/drawingml/2006/main"/>
        </p:blipFill>
        <p:spPr>
          <a:xfrm xmlns:a="http://schemas.openxmlformats.org/drawingml/2006/main">
            <a:off x="609600" y="1847850"/>
            <a:ext cx="10972800" cy="3657600"/>
          </a:xfrm>
          <a:prstGeom xmlns:a="http://schemas.openxmlformats.org/drawingml/2006/main" prst="rect">
            <a:avLst/>
          </a:prstGeom>
        </p:spPr>
      </p:pic>
      <p:sp>
        <p:nvSpPr>
          <p:cNvPr id="5" name="圖中簡化中介軟體與伺服器入口。View 協調模型查詢，再以模板與資料產生 HTML。">
            <a:extLst xmlns:a="http://schemas.openxmlformats.org/drawingml/2006/main">
              <a:ext uri="{FF2B5EF4-FFF2-40B4-BE49-F238E27FC236}">
                <a16:creationId xmlns:a16="http://schemas.microsoft.com/office/drawing/2014/main" id="{A53332C5-A828-4BD4-AAC6-2E1F3D16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This simplified diagram omits middleware and server entry points. The view combines model data and a template.</a:t>
            </a:r>
          </a:p>
        </p:txBody>
      </p:sp>
    </p:spTree>
    <p:extLst>
      <p:ext uri="{BB962C8B-B14F-4D97-AF65-F5344CB8AC3E}">
        <p14:creationId xmlns:p14="http://schemas.microsoft.com/office/powerpoint/2010/main" val="11097753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models.py：定義商品資料">
            <a:extLst xmlns:a="http://schemas.openxmlformats.org/drawingml/2006/main">
              <a:ext uri="{FF2B5EF4-FFF2-40B4-BE49-F238E27FC236}">
                <a16:creationId xmlns:a16="http://schemas.microsoft.com/office/drawing/2014/main" id="{138DC509-0DDE-43C2-9983-8A5673EF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models.py: product data</a:t>
            </a:r>
          </a:p>
        </p:txBody>
      </p:sp>
      <p:sp>
        <p:nvSpPr>
          <p:cNvPr id="2" name="Product 類別的資料欄位">
            <a:extLst xmlns:a="http://schemas.openxmlformats.org/drawingml/2006/main">
              <a:ext uri="{FF2B5EF4-FFF2-40B4-BE49-F238E27FC236}">
                <a16:creationId xmlns:a16="http://schemas.microsoft.com/office/drawing/2014/main" id="{0E10A741-53A7-4DFF-96AA-60823162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Fields in the Product class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C3A417BA-314E-4039-B46E-E588EDC2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from decimal import Decimal">
            <a:extLst xmlns:a="http://schemas.openxmlformats.org/drawingml/2006/main">
              <a:ext uri="{FF2B5EF4-FFF2-40B4-BE49-F238E27FC236}">
                <a16:creationId xmlns:a16="http://schemas.microsoft.com/office/drawing/2014/main" id="{9E0EF248-9BF3-4E73-9E0B-AE019235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decimal import Decimal</a:t>
            </a:r>
          </a:p>
        </p:txBody>
      </p:sp>
      <p:sp>
        <p:nvSpPr>
          <p:cNvPr id="5" name="from django.core.validators import MinValueValidator">
            <a:extLst xmlns:a="http://schemas.openxmlformats.org/drawingml/2006/main">
              <a:ext uri="{FF2B5EF4-FFF2-40B4-BE49-F238E27FC236}">
                <a16:creationId xmlns:a16="http://schemas.microsoft.com/office/drawing/2014/main" id="{022F5E69-151E-406F-891B-B4BF5E2E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django.core.validators import MinValueValidator</a:t>
            </a:r>
          </a:p>
        </p:txBody>
      </p:sp>
      <p:sp>
        <p:nvSpPr>
          <p:cNvPr id="6" name="from django.db import models">
            <a:extLst xmlns:a="http://schemas.openxmlformats.org/drawingml/2006/main">
              <a:ext uri="{FF2B5EF4-FFF2-40B4-BE49-F238E27FC236}">
                <a16:creationId xmlns:a16="http://schemas.microsoft.com/office/drawing/2014/main" id="{4B862F91-9FED-4E18-AEA5-628D6C06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django.db import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5E7E5-1B12-4E96-961D-F5818E86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lass Product(models.Model):">
            <a:extLst xmlns:a="http://schemas.openxmlformats.org/drawingml/2006/main">
              <a:ext uri="{FF2B5EF4-FFF2-40B4-BE49-F238E27FC236}">
                <a16:creationId xmlns:a16="http://schemas.microsoft.com/office/drawing/2014/main" id="{186FF126-3B51-4966-B1D1-3752486F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Product(models.Model):</a:t>
            </a:r>
          </a:p>
        </p:txBody>
      </p:sp>
      <p:sp>
        <p:nvSpPr>
          <p:cNvPr id="9" name="    name = models.CharField(max_length=80)">
            <a:extLst xmlns:a="http://schemas.openxmlformats.org/drawingml/2006/main">
              <a:ext uri="{FF2B5EF4-FFF2-40B4-BE49-F238E27FC236}">
                <a16:creationId xmlns:a16="http://schemas.microsoft.com/office/drawing/2014/main" id="{F9439E94-E341-4EB1-A22E-47C649AF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name = models.CharField(max_length=80)</a:t>
            </a:r>
          </a:p>
        </p:txBody>
      </p:sp>
      <p:sp>
        <p:nvSpPr>
          <p:cNvPr id="10" name="    price = models.DecimalField(">
            <a:extLst xmlns:a="http://schemas.openxmlformats.org/drawingml/2006/main">
              <a:ext uri="{FF2B5EF4-FFF2-40B4-BE49-F238E27FC236}">
                <a16:creationId xmlns:a16="http://schemas.microsoft.com/office/drawing/2014/main" id="{1D4495C3-57A1-4731-8BA3-F6B9E952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price = models.DecimalField(</a:t>
            </a:r>
          </a:p>
        </p:txBody>
      </p:sp>
      <p:sp>
        <p:nvSpPr>
          <p:cNvPr id="11" name="        max_digits=8, decimal_places=2,">
            <a:extLst xmlns:a="http://schemas.openxmlformats.org/drawingml/2006/main">
              <a:ext uri="{FF2B5EF4-FFF2-40B4-BE49-F238E27FC236}">
                <a16:creationId xmlns:a16="http://schemas.microsoft.com/office/drawing/2014/main" id="{50122E83-0007-4A59-B346-CB5BE2BD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max_digits=8, decimal_places=2,</a:t>
            </a:r>
          </a:p>
        </p:txBody>
      </p:sp>
      <p:sp>
        <p:nvSpPr>
          <p:cNvPr id="12" name="        validators=[MinValueValidator(Decimal(&quot;0&quot;))],">
            <a:extLst xmlns:a="http://schemas.openxmlformats.org/drawingml/2006/main">
              <a:ext uri="{FF2B5EF4-FFF2-40B4-BE49-F238E27FC236}">
                <a16:creationId xmlns:a16="http://schemas.microsoft.com/office/drawing/2014/main" id="{EE7B089C-E670-4DC9-831B-4904272C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validators=[MinValueValidator(Decimal("0"))],</a:t>
            </a:r>
          </a:p>
        </p:txBody>
      </p:sp>
      <p:sp>
        <p:nvSpPr>
          <p:cNvPr id="13" name="    )">
            <a:extLst xmlns:a="http://schemas.openxmlformats.org/drawingml/2006/main">
              <a:ext uri="{FF2B5EF4-FFF2-40B4-BE49-F238E27FC236}">
                <a16:creationId xmlns:a16="http://schemas.microsoft.com/office/drawing/2014/main" id="{905CDD0F-361A-496B-AF93-113DDE2F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)</a:t>
            </a:r>
          </a:p>
        </p:txBody>
      </p:sp>
      <p:sp>
        <p:nvSpPr>
          <p:cNvPr id="14" name="    stock = models.PositiveIntegerField(default=0)">
            <a:extLst xmlns:a="http://schemas.openxmlformats.org/drawingml/2006/main">
              <a:ext uri="{FF2B5EF4-FFF2-40B4-BE49-F238E27FC236}">
                <a16:creationId xmlns:a16="http://schemas.microsoft.com/office/drawing/2014/main" id="{CC6A56A4-8CE0-48E3-9048-FBB2945C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stock = models.PositiveIntegerField(default=0)</a:t>
            </a:r>
          </a:p>
        </p:txBody>
      </p:sp>
      <p:sp>
        <p:nvSpPr>
          <p:cNvPr id="15" name="資料欄位">
            <a:extLst xmlns:a="http://schemas.openxmlformats.org/drawingml/2006/main">
              <a:ext uri="{FF2B5EF4-FFF2-40B4-BE49-F238E27FC236}">
                <a16:creationId xmlns:a16="http://schemas.microsoft.com/office/drawing/2014/main" id="{04BF1BA8-9936-4D40-89FA-2DD0424E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Fields</a:t>
            </a:r>
          </a:p>
        </p:txBody>
      </p:sp>
      <p:sp>
        <p:nvSpPr>
          <p:cNvPr id="16" name="name 是文字，price 是十進位數， stock 是非負整數。 Django 預設另加主鍵 id。">
            <a:extLst xmlns:a="http://schemas.openxmlformats.org/drawingml/2006/main">
              <a:ext uri="{FF2B5EF4-FFF2-40B4-BE49-F238E27FC236}">
                <a16:creationId xmlns:a16="http://schemas.microsoft.com/office/drawing/2014/main" id="{F13C2C3D-E3E7-499E-9281-F74989CC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name is text, price is decimal,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and stock is nonnegative.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Django also adds an id.</a:t>
            </a:r>
          </a:p>
        </p:txBody>
      </p:sp>
      <p:sp>
        <p:nvSpPr>
          <p:cNvPr id="17" name="類別與資料表">
            <a:extLst xmlns:a="http://schemas.openxmlformats.org/drawingml/2006/main">
              <a:ext uri="{FF2B5EF4-FFF2-40B4-BE49-F238E27FC236}">
                <a16:creationId xmlns:a16="http://schemas.microsoft.com/office/drawing/2014/main" id="{CB6FEED7-DD2B-4BE9-B634-AF561BBB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Class and table</a:t>
            </a:r>
          </a:p>
        </p:txBody>
      </p:sp>
      <p:sp>
        <p:nvSpPr>
          <p:cNvPr id="18" name="Product 描述資料結構。 Product 實例對應單筆商品， 建表仍需執行 migration。">
            <a:extLst xmlns:a="http://schemas.openxmlformats.org/drawingml/2006/main">
              <a:ext uri="{FF2B5EF4-FFF2-40B4-BE49-F238E27FC236}">
                <a16:creationId xmlns:a16="http://schemas.microsoft.com/office/drawing/2014/main" id="{B8AF23C8-2276-48E5-B171-183DE338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Product defines the structure.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Each instance is one product.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Migrations create the table.</a:t>
            </a:r>
          </a:p>
        </p:txBody>
      </p:sp>
      <p:sp>
        <p:nvSpPr>
          <p:cNvPr id="19" name="validators 在模型或表單驗證時執行；直接指定欄位不會立即呼叫它。">
            <a:extLst xmlns:a="http://schemas.openxmlformats.org/drawingml/2006/main">
              <a:ext uri="{FF2B5EF4-FFF2-40B4-BE49-F238E27FC236}">
                <a16:creationId xmlns:a16="http://schemas.microsoft.com/office/drawing/2014/main" id="{5AD0379B-2FDC-4309-8D66-0DA89549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Validators run during model or form validation, not immediately when you assign a field.</a:t>
            </a:r>
          </a:p>
        </p:txBody>
      </p:sp>
    </p:spTree>
    <p:extLst>
      <p:ext uri="{BB962C8B-B14F-4D97-AF65-F5344CB8AC3E}">
        <p14:creationId xmlns:p14="http://schemas.microsoft.com/office/powerpoint/2010/main" val="11573493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Model 中的物件行為">
            <a:extLst xmlns:a="http://schemas.openxmlformats.org/drawingml/2006/main">
              <a:ext uri="{FF2B5EF4-FFF2-40B4-BE49-F238E27FC236}">
                <a16:creationId xmlns:a16="http://schemas.microsoft.com/office/drawing/2014/main" id="{EBC2DA2F-D8F6-4C61-BD67-71955A55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Object behavior in a model</a:t>
            </a:r>
          </a:p>
        </p:txBody>
      </p:sp>
      <p:sp>
        <p:nvSpPr>
          <p:cNvPr id="2" name="加入 Product 類別內，延續物件導向觀念">
            <a:extLst xmlns:a="http://schemas.openxmlformats.org/drawingml/2006/main">
              <a:ext uri="{FF2B5EF4-FFF2-40B4-BE49-F238E27FC236}">
                <a16:creationId xmlns:a16="http://schemas.microsoft.com/office/drawing/2014/main" id="{D41A1B14-B138-4F2A-BAA7-61CB5E52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Add these methods inside Product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6A84D06F-B740-47A3-B76E-A2A84B5B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E737BD3C-DB70-4D41-9B15-661F6223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5" name="    def in_stock(self):">
            <a:extLst xmlns:a="http://schemas.openxmlformats.org/drawingml/2006/main">
              <a:ext uri="{FF2B5EF4-FFF2-40B4-BE49-F238E27FC236}">
                <a16:creationId xmlns:a16="http://schemas.microsoft.com/office/drawing/2014/main" id="{533A288D-D308-49B3-A038-6FAA7912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in_stock(self):</a:t>
            </a:r>
          </a:p>
        </p:txBody>
      </p:sp>
      <p:sp>
        <p:nvSpPr>
          <p:cNvPr id="6" name="        return self.stock &gt; 0">
            <a:extLst xmlns:a="http://schemas.openxmlformats.org/drawingml/2006/main">
              <a:ext uri="{FF2B5EF4-FFF2-40B4-BE49-F238E27FC236}">
                <a16:creationId xmlns:a16="http://schemas.microsoft.com/office/drawing/2014/main" id="{9F9A2D7A-51C5-4673-BEC8-417DFBCA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self.stock &gt;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07069-7C69-42BD-B58A-A4FF55FE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__str__(self):">
            <a:extLst xmlns:a="http://schemas.openxmlformats.org/drawingml/2006/main">
              <a:ext uri="{FF2B5EF4-FFF2-40B4-BE49-F238E27FC236}">
                <a16:creationId xmlns:a16="http://schemas.microsoft.com/office/drawing/2014/main" id="{BD2EB4B0-FFAB-4F96-A075-9BADD50E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__str__(self):</a:t>
            </a:r>
          </a:p>
        </p:txBody>
      </p:sp>
      <p:sp>
        <p:nvSpPr>
          <p:cNvPr id="9" name="        return self.name">
            <a:extLst xmlns:a="http://schemas.openxmlformats.org/drawingml/2006/main">
              <a:ext uri="{FF2B5EF4-FFF2-40B4-BE49-F238E27FC236}">
                <a16:creationId xmlns:a16="http://schemas.microsoft.com/office/drawing/2014/main" id="{9BDA65AC-E9DF-4648-B468-4CAC0E17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self.name</a:t>
            </a:r>
          </a:p>
        </p:txBody>
      </p:sp>
      <p:sp>
        <p:nvSpPr>
          <p:cNvPr id="10" name="in_stock">
            <a:extLst xmlns:a="http://schemas.openxmlformats.org/drawingml/2006/main">
              <a:ext uri="{FF2B5EF4-FFF2-40B4-BE49-F238E27FC236}">
                <a16:creationId xmlns:a16="http://schemas.microsoft.com/office/drawing/2014/main" id="{B1F9ECB0-5F21-4F79-B11A-4BE695E8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in_stock</a:t>
            </a:r>
          </a:p>
        </p:txBody>
      </p:sp>
      <p:sp>
        <p:nvSpPr>
          <p:cNvPr id="11" name="計算目前是否有庫存， 不需要額外儲存欄位。 模板可讀取 product.in_stock。">
            <a:extLst xmlns:a="http://schemas.openxmlformats.org/drawingml/2006/main">
              <a:ext uri="{FF2B5EF4-FFF2-40B4-BE49-F238E27FC236}">
                <a16:creationId xmlns:a16="http://schemas.microsoft.com/office/drawing/2014/main" id="{835450EA-082C-4388-9D35-8D8994E2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Computes availability without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an extra database field.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Templates use product.in_stock.</a:t>
            </a:r>
          </a:p>
        </p:txBody>
      </p:sp>
      <p:sp>
        <p:nvSpPr>
          <p:cNvPr id="12" name="__str__()">
            <a:extLst xmlns:a="http://schemas.openxmlformats.org/drawingml/2006/main">
              <a:ext uri="{FF2B5EF4-FFF2-40B4-BE49-F238E27FC236}">
                <a16:creationId xmlns:a16="http://schemas.microsoft.com/office/drawing/2014/main" id="{95859A81-06F5-474D-930A-672BF5C1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__str__()</a:t>
            </a:r>
          </a:p>
        </p:txBody>
      </p:sp>
      <p:sp>
        <p:nvSpPr>
          <p:cNvPr id="13" name="定義物件的文字表示。 在 admin 或 shell 顯示商品時， 可看到名稱而非預設物件文字。">
            <a:extLst xmlns:a="http://schemas.openxmlformats.org/drawingml/2006/main">
              <a:ext uri="{FF2B5EF4-FFF2-40B4-BE49-F238E27FC236}">
                <a16:creationId xmlns:a16="http://schemas.microsoft.com/office/drawing/2014/main" id="{C696387F-3E13-4ECE-A58C-70E6E9E5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Defines a readable text form.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The admin and shell can show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the product name.</a:t>
            </a:r>
          </a:p>
        </p:txBody>
      </p:sp>
      <p:sp>
        <p:nvSpPr>
          <p:cNvPr id="14" name="本例的 property 只有 getter，不能直接指定 in_stock。">
            <a:extLst xmlns:a="http://schemas.openxmlformats.org/drawingml/2006/main">
              <a:ext uri="{FF2B5EF4-FFF2-40B4-BE49-F238E27FC236}">
                <a16:creationId xmlns:a16="http://schemas.microsoft.com/office/drawing/2014/main" id="{3EC87EFB-D88E-46D4-B422-6CF3CF6B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This property only has a getter. You cannot assign in_stock directly.</a:t>
            </a:r>
          </a:p>
        </p:txBody>
      </p:sp>
    </p:spTree>
    <p:extLst>
      <p:ext uri="{BB962C8B-B14F-4D97-AF65-F5344CB8AC3E}">
        <p14:creationId xmlns:p14="http://schemas.microsoft.com/office/powerpoint/2010/main" val="13274466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igration 與資料表的關係">
            <a:extLst xmlns:a="http://schemas.openxmlformats.org/drawingml/2006/main">
              <a:ext uri="{FF2B5EF4-FFF2-40B4-BE49-F238E27FC236}">
                <a16:creationId xmlns:a16="http://schemas.microsoft.com/office/drawing/2014/main" id="{E14656DB-DCE0-4F8E-8A22-3A794847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Migrations and database tables</a:t>
            </a:r>
          </a:p>
        </p:txBody>
      </p:sp>
      <p:sp>
        <p:nvSpPr>
          <p:cNvPr id="2" name="模型定義、變更檔案與資料庫是不同層次">
            <a:extLst xmlns:a="http://schemas.openxmlformats.org/drawingml/2006/main">
              <a:ext uri="{FF2B5EF4-FFF2-40B4-BE49-F238E27FC236}">
                <a16:creationId xmlns:a16="http://schemas.microsoft.com/office/drawing/2014/main" id="{8710718C-E980-40D7-889B-1304B1C5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Model definitions, change files and stored data have distinct roles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0E24DFD0-BD9A-4DBE-B88B-123FADE0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243fc272846f7"/>
          <a:stretch xmlns:a="http://schemas.openxmlformats.org/drawingml/2006/main"/>
        </p:blipFill>
        <p:spPr>
          <a:xfrm xmlns:a="http://schemas.openxmlformats.org/drawingml/2006/main">
            <a:off x="609600" y="1847850"/>
            <a:ext cx="10972800" cy="3657600"/>
          </a:xfrm>
          <a:prstGeom xmlns:a="http://schemas.openxmlformats.org/drawingml/2006/main" prst="rect">
            <a:avLst/>
          </a:prstGeom>
        </p:spPr>
      </p:pic>
      <p:sp>
        <p:nvSpPr>
          <p:cNvPr id="5" name="修改 models.py 後，先產生 migration，再將 migration 套用到資料庫。">
            <a:extLst xmlns:a="http://schemas.openxmlformats.org/drawingml/2006/main">
              <a:ext uri="{FF2B5EF4-FFF2-40B4-BE49-F238E27FC236}">
                <a16:creationId xmlns:a16="http://schemas.microsoft.com/office/drawing/2014/main" id="{94B43605-6BDC-4CA4-B9E2-8393CE3D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After changing models.py, generate a migration and then apply it to the database.</a:t>
            </a:r>
          </a:p>
        </p:txBody>
      </p:sp>
    </p:spTree>
    <p:extLst>
      <p:ext uri="{BB962C8B-B14F-4D97-AF65-F5344CB8AC3E}">
        <p14:creationId xmlns:p14="http://schemas.microsoft.com/office/powerpoint/2010/main" val="3157307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建立商品資料表">
            <a:extLst xmlns:a="http://schemas.openxmlformats.org/drawingml/2006/main">
              <a:ext uri="{FF2B5EF4-FFF2-40B4-BE49-F238E27FC236}">
                <a16:creationId xmlns:a16="http://schemas.microsoft.com/office/drawing/2014/main" id="{482B27C0-AD35-4750-8A6D-6CFF73B9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Creating the product table</a:t>
            </a:r>
          </a:p>
        </p:txBody>
      </p:sp>
      <p:sp>
        <p:nvSpPr>
          <p:cNvPr id="2" name="migrations/ 會開始出現版本化的 Python 檔案">
            <a:extLst xmlns:a="http://schemas.openxmlformats.org/drawingml/2006/main">
              <a:ext uri="{FF2B5EF4-FFF2-40B4-BE49-F238E27FC236}">
                <a16:creationId xmlns:a16="http://schemas.microsoft.com/office/drawing/2014/main" id="{A7122A3A-7914-4106-8F28-03992984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Versioned Python files appear in migrations/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4F9701DE-B53B-4EB4-AB06-BC93F443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python manage.py makemigrations catalog">
            <a:extLst xmlns:a="http://schemas.openxmlformats.org/drawingml/2006/main">
              <a:ext uri="{FF2B5EF4-FFF2-40B4-BE49-F238E27FC236}">
                <a16:creationId xmlns:a16="http://schemas.microsoft.com/office/drawing/2014/main" id="{4BDCF0F8-70DB-4E4B-ABCC-1431C31D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makemigrations catalog</a:t>
            </a:r>
          </a:p>
        </p:txBody>
      </p:sp>
      <p:sp>
        <p:nvSpPr>
          <p:cNvPr id="5" name="python manage.py migrate">
            <a:extLst xmlns:a="http://schemas.openxmlformats.org/drawingml/2006/main">
              <a:ext uri="{FF2B5EF4-FFF2-40B4-BE49-F238E27FC236}">
                <a16:creationId xmlns:a16="http://schemas.microsoft.com/office/drawing/2014/main" id="{43DD8A70-473A-4F5D-A31B-133B8A5E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migrate</a:t>
            </a:r>
          </a:p>
        </p:txBody>
      </p:sp>
      <p:sp>
        <p:nvSpPr>
          <p:cNvPr id="6" name="python manage.py showmigrations catalog">
            <a:extLst xmlns:a="http://schemas.openxmlformats.org/drawingml/2006/main">
              <a:ext uri="{FF2B5EF4-FFF2-40B4-BE49-F238E27FC236}">
                <a16:creationId xmlns:a16="http://schemas.microsoft.com/office/drawing/2014/main" id="{42F1A3A1-A85A-4885-8B5F-D6EAFCA3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showmigrations catalog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6A24E-B107-4C9E-87BC-C726BEDB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atalog/migrations/">
            <a:extLst xmlns:a="http://schemas.openxmlformats.org/drawingml/2006/main">
              <a:ext uri="{FF2B5EF4-FFF2-40B4-BE49-F238E27FC236}">
                <a16:creationId xmlns:a16="http://schemas.microsoft.com/office/drawing/2014/main" id="{49974BE5-5C2B-4EC2-9007-F1629EDF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catalog/migrations/</a:t>
            </a:r>
          </a:p>
        </p:txBody>
      </p:sp>
      <p:sp>
        <p:nvSpPr>
          <p:cNvPr id="9" name="    __init__.py">
            <a:extLst xmlns:a="http://schemas.openxmlformats.org/drawingml/2006/main">
              <a:ext uri="{FF2B5EF4-FFF2-40B4-BE49-F238E27FC236}">
                <a16:creationId xmlns:a16="http://schemas.microsoft.com/office/drawing/2014/main" id="{833AE2BB-ACEF-4602-987B-D4AF22E5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__init__.py</a:t>
            </a:r>
          </a:p>
        </p:txBody>
      </p:sp>
      <p:sp>
        <p:nvSpPr>
          <p:cNvPr id="10" name="    0001_initial.py">
            <a:extLst xmlns:a="http://schemas.openxmlformats.org/drawingml/2006/main">
              <a:ext uri="{FF2B5EF4-FFF2-40B4-BE49-F238E27FC236}">
                <a16:creationId xmlns:a16="http://schemas.microsoft.com/office/drawing/2014/main" id="{A18CBD2D-0827-4273-AB84-D1CB275E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0001_initial.py</a:t>
            </a:r>
          </a:p>
        </p:txBody>
      </p:sp>
      <p:sp>
        <p:nvSpPr>
          <p:cNvPr id="11" name="makemigrations">
            <a:extLst xmlns:a="http://schemas.openxmlformats.org/drawingml/2006/main">
              <a:ext uri="{FF2B5EF4-FFF2-40B4-BE49-F238E27FC236}">
                <a16:creationId xmlns:a16="http://schemas.microsoft.com/office/drawing/2014/main" id="{74420F5B-016A-406D-A731-D10ED47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makemigrations</a:t>
            </a:r>
          </a:p>
        </p:txBody>
      </p:sp>
      <p:sp>
        <p:nvSpPr>
          <p:cNvPr id="12" name="比較目前模型與既有 migration 的狀態，產生變更檔案。">
            <a:extLst xmlns:a="http://schemas.openxmlformats.org/drawingml/2006/main">
              <a:ext uri="{FF2B5EF4-FFF2-40B4-BE49-F238E27FC236}">
                <a16:creationId xmlns:a16="http://schemas.microsoft.com/office/drawing/2014/main" id="{C3F10EB6-B43E-4A7A-AAD1-5AA9268F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Compares model definitions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with migration state and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generates a change file.</a:t>
            </a:r>
          </a:p>
        </p:txBody>
      </p:sp>
      <p:sp>
        <p:nvSpPr>
          <p:cNvPr id="13" name="migrate">
            <a:extLst xmlns:a="http://schemas.openxmlformats.org/drawingml/2006/main">
              <a:ext uri="{FF2B5EF4-FFF2-40B4-BE49-F238E27FC236}">
                <a16:creationId xmlns:a16="http://schemas.microsoft.com/office/drawing/2014/main" id="{A24AF5E6-4888-41A4-935D-259102BF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migrate</a:t>
            </a:r>
          </a:p>
        </p:txBody>
      </p:sp>
      <p:sp>
        <p:nvSpPr>
          <p:cNvPr id="14" name="依依賴順序套用 migration。 showmigrations 的 [X] 表示已套用。">
            <a:extLst xmlns:a="http://schemas.openxmlformats.org/drawingml/2006/main">
              <a:ext uri="{FF2B5EF4-FFF2-40B4-BE49-F238E27FC236}">
                <a16:creationId xmlns:a16="http://schemas.microsoft.com/office/drawing/2014/main" id="{DE1D7F2D-5378-41B8-9AF8-1701537C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Applies migrations in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dependency order. [X] in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showmigrations means applied.</a:t>
            </a:r>
          </a:p>
        </p:txBody>
      </p:sp>
      <p:sp>
        <p:nvSpPr>
          <p:cNvPr id="15" name="模型的結構變更需要遷移；一般商品資料更新不需要建立 migration。">
            <a:extLst xmlns:a="http://schemas.openxmlformats.org/drawingml/2006/main">
              <a:ext uri="{FF2B5EF4-FFF2-40B4-BE49-F238E27FC236}">
                <a16:creationId xmlns:a16="http://schemas.microsoft.com/office/drawing/2014/main" id="{5B65F9C1-C342-40BE-8EED-E1D308B8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Structural model changes need migrations. Ordinary product data updates do not.</a:t>
            </a:r>
          </a:p>
        </p:txBody>
      </p:sp>
    </p:spTree>
    <p:extLst>
      <p:ext uri="{BB962C8B-B14F-4D97-AF65-F5344CB8AC3E}">
        <p14:creationId xmlns:p14="http://schemas.microsoft.com/office/powerpoint/2010/main" val="6795522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igration 檔案與 db.sqlite3">
            <a:extLst xmlns:a="http://schemas.openxmlformats.org/drawingml/2006/main">
              <a:ext uri="{FF2B5EF4-FFF2-40B4-BE49-F238E27FC236}">
                <a16:creationId xmlns:a16="http://schemas.microsoft.com/office/drawing/2014/main" id="{FB2C4DE7-19C2-4032-957D-217EBC59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Migration files and db.sqlite3</a:t>
            </a:r>
          </a:p>
        </p:txBody>
      </p:sp>
      <p:sp>
        <p:nvSpPr>
          <p:cNvPr id="2" name="程式版本與執行資料分別保存">
            <a:extLst xmlns:a="http://schemas.openxmlformats.org/drawingml/2006/main">
              <a:ext uri="{FF2B5EF4-FFF2-40B4-BE49-F238E27FC236}">
                <a16:creationId xmlns:a16="http://schemas.microsoft.com/office/drawing/2014/main" id="{0C4C00D3-789A-4BAB-95AE-CCB2A1BB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Store code history separately from runtime data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FE06BD31-3581-4A51-9D5F-5C2B3833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4591050"/>
                <a:gridCol w="3143250"/>
              </a:tblGrid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Location / content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Handling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migrations/__init__.py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Python package marker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Keep in version control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0001_initial.py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Initial table creation instructions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Review and commit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dependencies / operations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Migration dependencies and changes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Usually Django-generated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71437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db.sqlite3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SQLite data and migration records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Exclude from Git in this demo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不要把刪除 migration 或資料庫當作例行修復方式，已有資料的專案須另行評估。">
            <a:extLst xmlns:a="http://schemas.openxmlformats.org/drawingml/2006/main">
              <a:ext uri="{FF2B5EF4-FFF2-40B4-BE49-F238E27FC236}">
                <a16:creationId xmlns:a16="http://schemas.microsoft.com/office/drawing/2014/main" id="{BD8A14D8-61A6-48F7-914D-54E244FC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Do not routinely delete migrations or the database to fix errors. Assess existing data first.</a:t>
            </a:r>
          </a:p>
        </p:txBody>
      </p:sp>
    </p:spTree>
    <p:extLst>
      <p:ext uri="{BB962C8B-B14F-4D97-AF65-F5344CB8AC3E}">
        <p14:creationId xmlns:p14="http://schemas.microsoft.com/office/powerpoint/2010/main" val="13564213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以 ORM 建立與查詢資料">
            <a:extLst xmlns:a="http://schemas.openxmlformats.org/drawingml/2006/main">
              <a:ext uri="{FF2B5EF4-FFF2-40B4-BE49-F238E27FC236}">
                <a16:creationId xmlns:a16="http://schemas.microsoft.com/office/drawing/2014/main" id="{3D2DD9B3-AFF4-49FB-A48A-DC305AC5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Creating and querying data with the ORM</a:t>
            </a:r>
          </a:p>
        </p:txBody>
      </p:sp>
      <p:sp>
        <p:nvSpPr>
          <p:cNvPr id="2" name="先執行 python manage.py shell，再輸入 Python">
            <a:extLst xmlns:a="http://schemas.openxmlformats.org/drawingml/2006/main">
              <a:ext uri="{FF2B5EF4-FFF2-40B4-BE49-F238E27FC236}">
                <a16:creationId xmlns:a16="http://schemas.microsoft.com/office/drawing/2014/main" id="{76E3211F-22B6-4A3A-AD58-043F6ECD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Run python manage.py shell, then enter Python code</a:t>
            </a:r>
          </a:p>
        </p:txBody>
      </p:sp>
      <p:sp>
        <p:nvSpPr>
          <p:cNvPr id="3" name="28">
            <a:extLst xmlns:a="http://schemas.openxmlformats.org/drawingml/2006/main">
              <a:ext uri="{FF2B5EF4-FFF2-40B4-BE49-F238E27FC236}">
                <a16:creationId xmlns:a16="http://schemas.microsoft.com/office/drawing/2014/main" id="{EC5AB3A4-F8D2-40BD-877D-5E1B2322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from decimal import Decimal">
            <a:extLst xmlns:a="http://schemas.openxmlformats.org/drawingml/2006/main">
              <a:ext uri="{FF2B5EF4-FFF2-40B4-BE49-F238E27FC236}">
                <a16:creationId xmlns:a16="http://schemas.microsoft.com/office/drawing/2014/main" id="{D24F492C-EC98-45D7-B3C5-7300472C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decimal import Decimal</a:t>
            </a:r>
          </a:p>
        </p:txBody>
      </p:sp>
      <p:sp>
        <p:nvSpPr>
          <p:cNvPr id="5" name="from catalog.models import Product">
            <a:extLst xmlns:a="http://schemas.openxmlformats.org/drawingml/2006/main">
              <a:ext uri="{FF2B5EF4-FFF2-40B4-BE49-F238E27FC236}">
                <a16:creationId xmlns:a16="http://schemas.microsoft.com/office/drawing/2014/main" id="{B00FE2A1-6F25-434B-B97E-4E66D800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catalog.models import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A49C0-1070-4D07-B27E-A95F2997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 = Product(name=&quot;Keyboard&quot;,">
            <a:extLst xmlns:a="http://schemas.openxmlformats.org/drawingml/2006/main">
              <a:ext uri="{FF2B5EF4-FFF2-40B4-BE49-F238E27FC236}">
                <a16:creationId xmlns:a16="http://schemas.microsoft.com/office/drawing/2014/main" id="{3C2F61A6-8F2A-4D57-8C1C-534B9F30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 = Product(name="Keyboard",</a:t>
            </a:r>
          </a:p>
        </p:txBody>
      </p:sp>
      <p:sp>
        <p:nvSpPr>
          <p:cNvPr id="8" name="    price=Decimal(&quot;1290.00&quot;), stock=8)">
            <a:extLst xmlns:a="http://schemas.openxmlformats.org/drawingml/2006/main">
              <a:ext uri="{FF2B5EF4-FFF2-40B4-BE49-F238E27FC236}">
                <a16:creationId xmlns:a16="http://schemas.microsoft.com/office/drawing/2014/main" id="{7A340777-449F-4F1A-A62F-9639E739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price=Decimal("1290.00"), stock=8)</a:t>
            </a:r>
          </a:p>
        </p:txBody>
      </p:sp>
      <p:sp>
        <p:nvSpPr>
          <p:cNvPr id="9" name="p.full_clean()">
            <a:extLst xmlns:a="http://schemas.openxmlformats.org/drawingml/2006/main">
              <a:ext uri="{FF2B5EF4-FFF2-40B4-BE49-F238E27FC236}">
                <a16:creationId xmlns:a16="http://schemas.microsoft.com/office/drawing/2014/main" id="{E9203614-2E2E-417F-BA5E-83D34D89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p.full_clean()</a:t>
            </a:r>
          </a:p>
        </p:txBody>
      </p:sp>
      <p:sp>
        <p:nvSpPr>
          <p:cNvPr id="10" name="p.save()">
            <a:extLst xmlns:a="http://schemas.openxmlformats.org/drawingml/2006/main">
              <a:ext uri="{FF2B5EF4-FFF2-40B4-BE49-F238E27FC236}">
                <a16:creationId xmlns:a16="http://schemas.microsoft.com/office/drawing/2014/main" id="{D0E20A1D-EC77-444D-8247-0CF86FBD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p.save()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E2635-6005-4DE9-9E62-57B5F78C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roduct.objects.all()">
            <a:extLst xmlns:a="http://schemas.openxmlformats.org/drawingml/2006/main">
              <a:ext uri="{FF2B5EF4-FFF2-40B4-BE49-F238E27FC236}">
                <a16:creationId xmlns:a16="http://schemas.microsoft.com/office/drawing/2014/main" id="{6E516804-B1E6-4848-A263-7CEB5682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Product.objects.all()</a:t>
            </a:r>
          </a:p>
        </p:txBody>
      </p:sp>
      <p:sp>
        <p:nvSpPr>
          <p:cNvPr id="13" name="Product.objects.filter(stock__gt=0)">
            <a:extLst xmlns:a="http://schemas.openxmlformats.org/drawingml/2006/main">
              <a:ext uri="{FF2B5EF4-FFF2-40B4-BE49-F238E27FC236}">
                <a16:creationId xmlns:a16="http://schemas.microsoft.com/office/drawing/2014/main" id="{4003746E-C22B-4AE9-B315-2B318D29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Product.objects.filter(stock__gt=0)</a:t>
            </a:r>
          </a:p>
        </p:txBody>
      </p:sp>
      <p:sp>
        <p:nvSpPr>
          <p:cNvPr id="14" name="Product.objects.get(pk=p.pk)">
            <a:extLst xmlns:a="http://schemas.openxmlformats.org/drawingml/2006/main">
              <a:ext uri="{FF2B5EF4-FFF2-40B4-BE49-F238E27FC236}">
                <a16:creationId xmlns:a16="http://schemas.microsoft.com/office/drawing/2014/main" id="{E2086E71-46D2-4296-9FB4-305B4E75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Product.objects.get(pk=p.pk)</a:t>
            </a:r>
          </a:p>
        </p:txBody>
      </p:sp>
      <p:sp>
        <p:nvSpPr>
          <p:cNvPr id="15" name="ORM">
            <a:extLst xmlns:a="http://schemas.openxmlformats.org/drawingml/2006/main">
              <a:ext uri="{FF2B5EF4-FFF2-40B4-BE49-F238E27FC236}">
                <a16:creationId xmlns:a16="http://schemas.microsoft.com/office/drawing/2014/main" id="{6101D8CF-503F-438E-8FB0-9D660BBC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ORM</a:t>
            </a:r>
          </a:p>
        </p:txBody>
      </p:sp>
      <p:sp>
        <p:nvSpPr>
          <p:cNvPr id="16" name="以 Python 模型與查詢方法 操作資料，Django 轉成 適合資料庫的查詢。">
            <a:extLst xmlns:a="http://schemas.openxmlformats.org/drawingml/2006/main">
              <a:ext uri="{FF2B5EF4-FFF2-40B4-BE49-F238E27FC236}">
                <a16:creationId xmlns:a16="http://schemas.microsoft.com/office/drawing/2014/main" id="{55BE0FDA-BF16-46E7-98DC-346450B6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Use Python models and query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methods. Django translates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queries for the database.</a:t>
            </a:r>
          </a:p>
        </p:txBody>
      </p:sp>
      <p:sp>
        <p:nvSpPr>
          <p:cNvPr id="17" name="驗證與儲存">
            <a:extLst xmlns:a="http://schemas.openxmlformats.org/drawingml/2006/main">
              <a:ext uri="{FF2B5EF4-FFF2-40B4-BE49-F238E27FC236}">
                <a16:creationId xmlns:a16="http://schemas.microsoft.com/office/drawing/2014/main" id="{2276B238-27BF-4543-A4D4-C36A3B1B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Validation and saving</a:t>
            </a:r>
          </a:p>
        </p:txBody>
      </p:sp>
      <p:sp>
        <p:nvSpPr>
          <p:cNvPr id="18" name="本例明確呼叫 full_clean()。 save() 不會自動執行 完整模型驗證。">
            <a:extLst xmlns:a="http://schemas.openxmlformats.org/drawingml/2006/main">
              <a:ext uri="{FF2B5EF4-FFF2-40B4-BE49-F238E27FC236}">
                <a16:creationId xmlns:a16="http://schemas.microsoft.com/office/drawing/2014/main" id="{F32653DF-794E-4641-9803-F3C7E9E0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This example calls full_clean().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save() does not automatically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run full model validation.</a:t>
            </a:r>
          </a:p>
        </p:txBody>
      </p:sp>
      <p:sp>
        <p:nvSpPr>
          <p:cNvPr id="19" name="pk 是主鍵的通用名稱；預設 Product 使用 id 欄位。">
            <a:extLst xmlns:a="http://schemas.openxmlformats.org/drawingml/2006/main">
              <a:ext uri="{FF2B5EF4-FFF2-40B4-BE49-F238E27FC236}">
                <a16:creationId xmlns:a16="http://schemas.microsoft.com/office/drawing/2014/main" id="{B28E706F-83C6-4D07-BA50-1B12F725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pk is the generic primary-key name. Product uses id by default.</a:t>
            </a:r>
          </a:p>
        </p:txBody>
      </p:sp>
    </p:spTree>
    <p:extLst>
      <p:ext uri="{BB962C8B-B14F-4D97-AF65-F5344CB8AC3E}">
        <p14:creationId xmlns:p14="http://schemas.microsoft.com/office/powerpoint/2010/main" val="11756655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dmin.py：註冊管理介面">
            <a:extLst xmlns:a="http://schemas.openxmlformats.org/drawingml/2006/main">
              <a:ext uri="{FF2B5EF4-FFF2-40B4-BE49-F238E27FC236}">
                <a16:creationId xmlns:a16="http://schemas.microsoft.com/office/drawing/2014/main" id="{ADD18DC0-D0E7-44FF-B0DB-4DB0647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admin.py: model registration</a:t>
            </a:r>
          </a:p>
        </p:txBody>
      </p:sp>
      <p:sp>
        <p:nvSpPr>
          <p:cNvPr id="2" name="catalog/admin.py">
            <a:extLst xmlns:a="http://schemas.openxmlformats.org/drawingml/2006/main">
              <a:ext uri="{FF2B5EF4-FFF2-40B4-BE49-F238E27FC236}">
                <a16:creationId xmlns:a16="http://schemas.microsoft.com/office/drawing/2014/main" id="{FB9C5485-FCF7-43DA-B976-440B2974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catalog/admin.py</a:t>
            </a:r>
          </a:p>
        </p:txBody>
      </p:sp>
      <p:sp>
        <p:nvSpPr>
          <p:cNvPr id="3" name="29">
            <a:extLst xmlns:a="http://schemas.openxmlformats.org/drawingml/2006/main">
              <a:ext uri="{FF2B5EF4-FFF2-40B4-BE49-F238E27FC236}">
                <a16:creationId xmlns:a16="http://schemas.microsoft.com/office/drawing/2014/main" id="{EAFD3EE8-BF89-449F-AC36-C2C627F8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from django.contrib import admin">
            <a:extLst xmlns:a="http://schemas.openxmlformats.org/drawingml/2006/main">
              <a:ext uri="{FF2B5EF4-FFF2-40B4-BE49-F238E27FC236}">
                <a16:creationId xmlns:a16="http://schemas.microsoft.com/office/drawing/2014/main" id="{64A9E855-08FF-4A9D-8951-8D3C2B7E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django.contrib import admin</a:t>
            </a:r>
          </a:p>
        </p:txBody>
      </p:sp>
      <p:sp>
        <p:nvSpPr>
          <p:cNvPr id="5" name="from .models import Product">
            <a:extLst xmlns:a="http://schemas.openxmlformats.org/drawingml/2006/main">
              <a:ext uri="{FF2B5EF4-FFF2-40B4-BE49-F238E27FC236}">
                <a16:creationId xmlns:a16="http://schemas.microsoft.com/office/drawing/2014/main" id="{48B9DFDF-7508-4CC9-B678-5EF67504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.models import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D60FD-AD77-43FE-B874-4A7B7C55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@admin.register(Product)">
            <a:extLst xmlns:a="http://schemas.openxmlformats.org/drawingml/2006/main">
              <a:ext uri="{FF2B5EF4-FFF2-40B4-BE49-F238E27FC236}">
                <a16:creationId xmlns:a16="http://schemas.microsoft.com/office/drawing/2014/main" id="{91DCAA5D-2A57-4B4C-9C71-A873B429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@admin.register(Product)</a:t>
            </a:r>
          </a:p>
        </p:txBody>
      </p:sp>
      <p:sp>
        <p:nvSpPr>
          <p:cNvPr id="8" name="class ProductAdmin(admin.ModelAdmin):">
            <a:extLst xmlns:a="http://schemas.openxmlformats.org/drawingml/2006/main">
              <a:ext uri="{FF2B5EF4-FFF2-40B4-BE49-F238E27FC236}">
                <a16:creationId xmlns:a16="http://schemas.microsoft.com/office/drawing/2014/main" id="{D3B08997-6162-4795-8E09-3B04D8B4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ProductAdmin(admin.ModelAdmin):</a:t>
            </a:r>
          </a:p>
        </p:txBody>
      </p:sp>
      <p:sp>
        <p:nvSpPr>
          <p:cNvPr id="9" name="    list_display = (&quot;name&quot;, &quot;price&quot;, &quot;stock&quot;)">
            <a:extLst xmlns:a="http://schemas.openxmlformats.org/drawingml/2006/main">
              <a:ext uri="{FF2B5EF4-FFF2-40B4-BE49-F238E27FC236}">
                <a16:creationId xmlns:a16="http://schemas.microsoft.com/office/drawing/2014/main" id="{71F35985-DE9A-44E2-8AD5-BAF2F065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list_display = ("name", "price", "stock")</a:t>
            </a:r>
          </a:p>
        </p:txBody>
      </p:sp>
      <p:sp>
        <p:nvSpPr>
          <p:cNvPr id="10" name="    search_fields = (&quot;name&quot;,)">
            <a:extLst xmlns:a="http://schemas.openxmlformats.org/drawingml/2006/main">
              <a:ext uri="{FF2B5EF4-FFF2-40B4-BE49-F238E27FC236}">
                <a16:creationId xmlns:a16="http://schemas.microsoft.com/office/drawing/2014/main" id="{94FC789D-96E1-4A6B-9335-D87A0454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search_fields = ("name",)</a:t>
            </a:r>
          </a:p>
        </p:txBody>
      </p:sp>
      <p:sp>
        <p:nvSpPr>
          <p:cNvPr id="11" name="註冊模型">
            <a:extLst xmlns:a="http://schemas.openxmlformats.org/drawingml/2006/main">
              <a:ext uri="{FF2B5EF4-FFF2-40B4-BE49-F238E27FC236}">
                <a16:creationId xmlns:a16="http://schemas.microsoft.com/office/drawing/2014/main" id="{8C5325AA-1FC5-49AC-B929-509212F0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Registration</a:t>
            </a:r>
          </a:p>
        </p:txBody>
      </p:sp>
      <p:sp>
        <p:nvSpPr>
          <p:cNvPr id="12" name="讓 Product 出現在 Django 內建後台。">
            <a:extLst xmlns:a="http://schemas.openxmlformats.org/drawingml/2006/main">
              <a:ext uri="{FF2B5EF4-FFF2-40B4-BE49-F238E27FC236}">
                <a16:creationId xmlns:a16="http://schemas.microsoft.com/office/drawing/2014/main" id="{1EB124C1-8EE8-4EF0-B715-8FA85829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Makes Product available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in the built-in Django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admin site.</a:t>
            </a:r>
          </a:p>
        </p:txBody>
      </p:sp>
      <p:sp>
        <p:nvSpPr>
          <p:cNvPr id="13" name="自訂顯示">
            <a:extLst xmlns:a="http://schemas.openxmlformats.org/drawingml/2006/main">
              <a:ext uri="{FF2B5EF4-FFF2-40B4-BE49-F238E27FC236}">
                <a16:creationId xmlns:a16="http://schemas.microsoft.com/office/drawing/2014/main" id="{C369801E-A941-4F06-941E-F2C85D5F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Display options</a:t>
            </a:r>
          </a:p>
        </p:txBody>
      </p:sp>
      <p:sp>
        <p:nvSpPr>
          <p:cNvPr id="14" name="list_display 決定清單欄位， search_fields 啟用 指定欄位的搜尋。">
            <a:extLst xmlns:a="http://schemas.openxmlformats.org/drawingml/2006/main">
              <a:ext uri="{FF2B5EF4-FFF2-40B4-BE49-F238E27FC236}">
                <a16:creationId xmlns:a16="http://schemas.microsoft.com/office/drawing/2014/main" id="{FCB02247-E90C-4F3A-BC06-D9E9F3F5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list_display selects columns.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search_fields enables search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for the specified fields.</a:t>
            </a:r>
          </a:p>
        </p:txBody>
      </p:sp>
      <p:sp>
        <p:nvSpPr>
          <p:cNvPr id="15" name="admin.py 處理後台設定，公開網站的商品頁仍由自己的 view 與 template 負責。">
            <a:extLst xmlns:a="http://schemas.openxmlformats.org/drawingml/2006/main">
              <a:ext uri="{FF2B5EF4-FFF2-40B4-BE49-F238E27FC236}">
                <a16:creationId xmlns:a16="http://schemas.microsoft.com/office/drawing/2014/main" id="{D1D32942-2A0C-4FD9-B6CB-92D34E32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admin.py configures the admin. Public product pages still use your views and templates.</a:t>
            </a:r>
          </a:p>
        </p:txBody>
      </p:sp>
    </p:spTree>
    <p:extLst>
      <p:ext uri="{BB962C8B-B14F-4D97-AF65-F5344CB8AC3E}">
        <p14:creationId xmlns:p14="http://schemas.microsoft.com/office/powerpoint/2010/main" val="113038378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建立管理員與登入後台">
            <a:extLst xmlns:a="http://schemas.openxmlformats.org/drawingml/2006/main">
              <a:ext uri="{FF2B5EF4-FFF2-40B4-BE49-F238E27FC236}">
                <a16:creationId xmlns:a16="http://schemas.microsoft.com/office/drawing/2014/main" id="{C8BEF035-3577-4EC0-8660-F3C54EF4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Administrator account and login</a:t>
            </a:r>
          </a:p>
        </p:txBody>
      </p:sp>
      <p:sp>
        <p:nvSpPr>
          <p:cNvPr id="2" name="在一般終端機執行，非 manage.py shell 內">
            <a:extLst xmlns:a="http://schemas.openxmlformats.org/drawingml/2006/main">
              <a:ext uri="{FF2B5EF4-FFF2-40B4-BE49-F238E27FC236}">
                <a16:creationId xmlns:a16="http://schemas.microsoft.com/office/drawing/2014/main" id="{4148B36B-753C-4165-B4F9-F576CF28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Run these in a terminal, outside manage.py shell</a:t>
            </a:r>
          </a:p>
        </p:txBody>
      </p:sp>
      <p:sp>
        <p:nvSpPr>
          <p:cNvPr id="3" name="30">
            <a:extLst xmlns:a="http://schemas.openxmlformats.org/drawingml/2006/main">
              <a:ext uri="{FF2B5EF4-FFF2-40B4-BE49-F238E27FC236}">
                <a16:creationId xmlns:a16="http://schemas.microsoft.com/office/drawing/2014/main" id="{CFEB2F92-4D70-4591-B006-079033FC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" name="python manage.py createsuperuser">
            <a:extLst xmlns:a="http://schemas.openxmlformats.org/drawingml/2006/main">
              <a:ext uri="{FF2B5EF4-FFF2-40B4-BE49-F238E27FC236}">
                <a16:creationId xmlns:a16="http://schemas.microsoft.com/office/drawing/2014/main" id="{AF304D58-9C51-4F2C-A4CB-EDBEC01C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createsuperuser</a:t>
            </a:r>
          </a:p>
        </p:txBody>
      </p:sp>
      <p:sp>
        <p:nvSpPr>
          <p:cNvPr id="5" name="python manage.py runserver">
            <a:extLst xmlns:a="http://schemas.openxmlformats.org/drawingml/2006/main">
              <a:ext uri="{FF2B5EF4-FFF2-40B4-BE49-F238E27FC236}">
                <a16:creationId xmlns:a16="http://schemas.microsoft.com/office/drawing/2014/main" id="{D01B996F-BE81-4B5C-82A0-CBF32520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python manage.py runserver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165B7-AAC9-4D25-9977-0E2C5A8D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# 瀏覽器開啟">
            <a:extLst xmlns:a="http://schemas.openxmlformats.org/drawingml/2006/main">
              <a:ext uri="{FF2B5EF4-FFF2-40B4-BE49-F238E27FC236}">
                <a16:creationId xmlns:a16="http://schemas.microsoft.com/office/drawing/2014/main" id="{B09CC260-D94C-498A-8DF1-47E1DAEB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# Open in the browser</a:t>
            </a:r>
          </a:p>
        </p:txBody>
      </p:sp>
      <p:sp>
        <p:nvSpPr>
          <p:cNvPr id="8" name="http://127.0.0.1:8000/admin/">
            <a:extLst xmlns:a="http://schemas.openxmlformats.org/drawingml/2006/main">
              <a:ext uri="{FF2B5EF4-FFF2-40B4-BE49-F238E27FC236}">
                <a16:creationId xmlns:a16="http://schemas.microsoft.com/office/drawing/2014/main" id="{3F7EE1EF-B382-4410-B795-6BEE26BB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http://127.0.0.1:8000/admin/</a:t>
            </a:r>
          </a:p>
        </p:txBody>
      </p:sp>
      <p:sp>
        <p:nvSpPr>
          <p:cNvPr id="9" name="建立帳號">
            <a:extLst xmlns:a="http://schemas.openxmlformats.org/drawingml/2006/main">
              <a:ext uri="{FF2B5EF4-FFF2-40B4-BE49-F238E27FC236}">
                <a16:creationId xmlns:a16="http://schemas.microsoft.com/office/drawing/2014/main" id="{D0E88623-8F35-40F0-8EFA-C0EAA441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Account creation</a:t>
            </a:r>
          </a:p>
        </p:txBody>
      </p:sp>
      <p:sp>
        <p:nvSpPr>
          <p:cNvPr id="10" name="依提示輸入使用者名稱、 Email 與密碼。 密碼輸入不會顯示字元。">
            <a:extLst xmlns:a="http://schemas.openxmlformats.org/drawingml/2006/main">
              <a:ext uri="{FF2B5EF4-FFF2-40B4-BE49-F238E27FC236}">
                <a16:creationId xmlns:a16="http://schemas.microsoft.com/office/drawing/2014/main" id="{52944025-4332-4E16-BECE-4B5FF76F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Enter a username, email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and password as prompted.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Password characters stay hidden.</a:t>
            </a:r>
          </a:p>
        </p:txBody>
      </p:sp>
      <p:sp>
        <p:nvSpPr>
          <p:cNvPr id="11" name="管理資料">
            <a:extLst xmlns:a="http://schemas.openxmlformats.org/drawingml/2006/main">
              <a:ext uri="{FF2B5EF4-FFF2-40B4-BE49-F238E27FC236}">
                <a16:creationId xmlns:a16="http://schemas.microsoft.com/office/drawing/2014/main" id="{8468043A-D7C4-4AD2-8CB3-711C269E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Managing products</a:t>
            </a:r>
          </a:p>
        </p:txBody>
      </p:sp>
      <p:sp>
        <p:nvSpPr>
          <p:cNvPr id="12" name="登入後可新增、修改商品。 資料表與模型註冊均完成後， 才能看到商品管理功能。">
            <a:extLst xmlns:a="http://schemas.openxmlformats.org/drawingml/2006/main">
              <a:ext uri="{FF2B5EF4-FFF2-40B4-BE49-F238E27FC236}">
                <a16:creationId xmlns:a16="http://schemas.microsoft.com/office/drawing/2014/main" id="{A4AFD75B-B334-4625-AD89-63262470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After creating the tables and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registering the model, log in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to add or edit products.</a:t>
            </a:r>
          </a:p>
        </p:txBody>
      </p:sp>
      <p:sp>
        <p:nvSpPr>
          <p:cNvPr id="13" name="教材不預設共用帳號或密碼，由使用者在本機自行建立。">
            <a:extLst xmlns:a="http://schemas.openxmlformats.org/drawingml/2006/main">
              <a:ext uri="{FF2B5EF4-FFF2-40B4-BE49-F238E27FC236}">
                <a16:creationId xmlns:a16="http://schemas.microsoft.com/office/drawing/2014/main" id="{77C9A030-8F17-411C-9C99-8A4E383F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Each user creates a local account. The example includes no shared login or password.</a:t>
            </a:r>
          </a:p>
        </p:txBody>
      </p:sp>
    </p:spTree>
    <p:extLst>
      <p:ext uri="{BB962C8B-B14F-4D97-AF65-F5344CB8AC3E}">
        <p14:creationId xmlns:p14="http://schemas.microsoft.com/office/powerpoint/2010/main" val="192011390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以 View 顯示商品列表">
            <a:extLst xmlns:a="http://schemas.openxmlformats.org/drawingml/2006/main">
              <a:ext uri="{FF2B5EF4-FFF2-40B4-BE49-F238E27FC236}">
                <a16:creationId xmlns:a16="http://schemas.microsoft.com/office/drawing/2014/main" id="{8816B5D2-7BD8-4877-BFC3-6EE2A6A4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The product list view</a:t>
            </a:r>
          </a:p>
        </p:txBody>
      </p:sp>
      <p:sp>
        <p:nvSpPr>
          <p:cNvPr id="2" name="在 catalog/views.py 加入 product_list">
            <a:extLst xmlns:a="http://schemas.openxmlformats.org/drawingml/2006/main">
              <a:ext uri="{FF2B5EF4-FFF2-40B4-BE49-F238E27FC236}">
                <a16:creationId xmlns:a16="http://schemas.microsoft.com/office/drawing/2014/main" id="{217A6A3A-1D40-4BFF-9E30-C386D6A1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Add product_list to catalog/views.py</a:t>
            </a:r>
          </a:p>
        </p:txBody>
      </p:sp>
      <p:sp>
        <p:nvSpPr>
          <p:cNvPr id="3" name="31">
            <a:extLst xmlns:a="http://schemas.openxmlformats.org/drawingml/2006/main">
              <a:ext uri="{FF2B5EF4-FFF2-40B4-BE49-F238E27FC236}">
                <a16:creationId xmlns:a16="http://schemas.microsoft.com/office/drawing/2014/main" id="{BD2779D5-1C3B-40F3-B909-6E702C2B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" name="from django.shortcuts import render">
            <a:extLst xmlns:a="http://schemas.openxmlformats.org/drawingml/2006/main">
              <a:ext uri="{FF2B5EF4-FFF2-40B4-BE49-F238E27FC236}">
                <a16:creationId xmlns:a16="http://schemas.microsoft.com/office/drawing/2014/main" id="{B8F2B604-F4B2-4165-9CBA-5B411DAD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django.shortcuts import render</a:t>
            </a:r>
          </a:p>
        </p:txBody>
      </p:sp>
      <p:sp>
        <p:nvSpPr>
          <p:cNvPr id="5" name="from .models import Product">
            <a:extLst xmlns:a="http://schemas.openxmlformats.org/drawingml/2006/main">
              <a:ext uri="{FF2B5EF4-FFF2-40B4-BE49-F238E27FC236}">
                <a16:creationId xmlns:a16="http://schemas.microsoft.com/office/drawing/2014/main" id="{5B66ABD6-9EC7-4531-A46F-4889E3E1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.models import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756B5-0DE9-42C5-BDBA-989DB131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def product_list(request):">
            <a:extLst xmlns:a="http://schemas.openxmlformats.org/drawingml/2006/main">
              <a:ext uri="{FF2B5EF4-FFF2-40B4-BE49-F238E27FC236}">
                <a16:creationId xmlns:a16="http://schemas.microsoft.com/office/drawing/2014/main" id="{B3563BCD-2D0C-4BF1-AD19-B89C22C1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product_list(request):</a:t>
            </a:r>
          </a:p>
        </p:txBody>
      </p:sp>
      <p:sp>
        <p:nvSpPr>
          <p:cNvPr id="8" name="    products = Product.objects.order_by(&quot;name&quot;)">
            <a:extLst xmlns:a="http://schemas.openxmlformats.org/drawingml/2006/main">
              <a:ext uri="{FF2B5EF4-FFF2-40B4-BE49-F238E27FC236}">
                <a16:creationId xmlns:a16="http://schemas.microsoft.com/office/drawing/2014/main" id="{F4A6024D-D42B-4E80-A0C9-87C4DFA9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products = Product.objects.order_by("name")</a:t>
            </a:r>
          </a:p>
        </p:txBody>
      </p:sp>
      <p:sp>
        <p:nvSpPr>
          <p:cNvPr id="9" name="    return render(">
            <a:extLst xmlns:a="http://schemas.openxmlformats.org/drawingml/2006/main">
              <a:ext uri="{FF2B5EF4-FFF2-40B4-BE49-F238E27FC236}">
                <a16:creationId xmlns:a16="http://schemas.microsoft.com/office/drawing/2014/main" id="{1D9DB38E-6247-4BC7-A589-9BA5DAAA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render(</a:t>
            </a:r>
          </a:p>
        </p:txBody>
      </p:sp>
      <p:sp>
        <p:nvSpPr>
          <p:cNvPr id="10" name="        request,">
            <a:extLst xmlns:a="http://schemas.openxmlformats.org/drawingml/2006/main">
              <a:ext uri="{FF2B5EF4-FFF2-40B4-BE49-F238E27FC236}">
                <a16:creationId xmlns:a16="http://schemas.microsoft.com/office/drawing/2014/main" id="{118E9D07-6F1B-4C8A-B869-394A01BA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request,</a:t>
            </a:r>
          </a:p>
        </p:txBody>
      </p:sp>
      <p:sp>
        <p:nvSpPr>
          <p:cNvPr id="11" name="        &quot;catalog/product_list.html&quot;,">
            <a:extLst xmlns:a="http://schemas.openxmlformats.org/drawingml/2006/main">
              <a:ext uri="{FF2B5EF4-FFF2-40B4-BE49-F238E27FC236}">
                <a16:creationId xmlns:a16="http://schemas.microsoft.com/office/drawing/2014/main" id="{4C07D315-2DE7-48A4-AB34-A2D515D2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"catalog/product_list.html",</a:t>
            </a:r>
          </a:p>
        </p:txBody>
      </p:sp>
      <p:sp>
        <p:nvSpPr>
          <p:cNvPr id="12" name="        {&quot;products&quot;: products},">
            <a:extLst xmlns:a="http://schemas.openxmlformats.org/drawingml/2006/main">
              <a:ext uri="{FF2B5EF4-FFF2-40B4-BE49-F238E27FC236}">
                <a16:creationId xmlns:a16="http://schemas.microsoft.com/office/drawing/2014/main" id="{D32EA3E8-5993-43E2-A52E-519B15DF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{"products": products},</a:t>
            </a:r>
          </a:p>
        </p:txBody>
      </p:sp>
      <p:sp>
        <p:nvSpPr>
          <p:cNvPr id="13" name="    )">
            <a:extLst xmlns:a="http://schemas.openxmlformats.org/drawingml/2006/main">
              <a:ext uri="{FF2B5EF4-FFF2-40B4-BE49-F238E27FC236}">
                <a16:creationId xmlns:a16="http://schemas.microsoft.com/office/drawing/2014/main" id="{359B301E-20E5-4872-BC62-8DB92A0D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)</a:t>
            </a:r>
          </a:p>
        </p:txBody>
      </p:sp>
      <p:sp>
        <p:nvSpPr>
          <p:cNvPr id="14" name="取得資料">
            <a:extLst xmlns:a="http://schemas.openxmlformats.org/drawingml/2006/main">
              <a:ext uri="{FF2B5EF4-FFF2-40B4-BE49-F238E27FC236}">
                <a16:creationId xmlns:a16="http://schemas.microsoft.com/office/drawing/2014/main" id="{60847E24-A940-4319-B5E3-AA0C5058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Data query</a:t>
            </a:r>
          </a:p>
        </p:txBody>
      </p:sp>
      <p:sp>
        <p:nvSpPr>
          <p:cNvPr id="15" name="QuerySet 描述商品查詢， 依名稱排序，交給模板使用。">
            <a:extLst xmlns:a="http://schemas.openxmlformats.org/drawingml/2006/main">
              <a:ext uri="{FF2B5EF4-FFF2-40B4-BE49-F238E27FC236}">
                <a16:creationId xmlns:a16="http://schemas.microsoft.com/office/drawing/2014/main" id="{FAF82EA1-B7F1-40A9-8DD7-4B6487C9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The QuerySet describes a query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sorted by product name and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provides data to the template.</a:t>
            </a:r>
          </a:p>
        </p:txBody>
      </p:sp>
      <p:sp>
        <p:nvSpPr>
          <p:cNvPr id="16" name="render()">
            <a:extLst xmlns:a="http://schemas.openxmlformats.org/drawingml/2006/main">
              <a:ext uri="{FF2B5EF4-FFF2-40B4-BE49-F238E27FC236}">
                <a16:creationId xmlns:a16="http://schemas.microsoft.com/office/drawing/2014/main" id="{DC6D9237-CC3B-44E2-B01D-89F10BE9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render()</a:t>
            </a:r>
          </a:p>
        </p:txBody>
      </p:sp>
      <p:sp>
        <p:nvSpPr>
          <p:cNvPr id="17" name="指定模板名稱與 context， 將模板渲染成 HTML， 回傳 HttpResponse。">
            <a:extLst xmlns:a="http://schemas.openxmlformats.org/drawingml/2006/main">
              <a:ext uri="{FF2B5EF4-FFF2-40B4-BE49-F238E27FC236}">
                <a16:creationId xmlns:a16="http://schemas.microsoft.com/office/drawing/2014/main" id="{099E5DF6-9AB4-4AC1-84D9-F76FF3F2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Takes a template and context,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renders HTML and returns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an HttpResponse.</a:t>
            </a:r>
          </a:p>
        </p:txBody>
      </p:sp>
      <p:sp>
        <p:nvSpPr>
          <p:cNvPr id="18" name="下一步建立模板，並把 app 內的空路徑接到這個 view。">
            <a:extLst xmlns:a="http://schemas.openxmlformats.org/drawingml/2006/main">
              <a:ext uri="{FF2B5EF4-FFF2-40B4-BE49-F238E27FC236}">
                <a16:creationId xmlns:a16="http://schemas.microsoft.com/office/drawing/2014/main" id="{53987081-0637-4E7E-97B1-C26C7BB9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Next, add the template and map the empty app path to this view.</a:t>
            </a:r>
          </a:p>
        </p:txBody>
      </p:sp>
    </p:spTree>
    <p:extLst>
      <p:ext uri="{BB962C8B-B14F-4D97-AF65-F5344CB8AC3E}">
        <p14:creationId xmlns:p14="http://schemas.microsoft.com/office/powerpoint/2010/main" val="190414220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mplates 的目錄結構">
            <a:extLst xmlns:a="http://schemas.openxmlformats.org/drawingml/2006/main">
              <a:ext uri="{FF2B5EF4-FFF2-40B4-BE49-F238E27FC236}">
                <a16:creationId xmlns:a16="http://schemas.microsoft.com/office/drawing/2014/main" id="{4FF6D03A-7B1E-4715-AB30-37736830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The template directory</a:t>
            </a:r>
          </a:p>
        </p:txBody>
      </p:sp>
      <p:sp>
        <p:nvSpPr>
          <p:cNvPr id="2" name="templates/ 與其中的檔案需要自行建立">
            <a:extLst xmlns:a="http://schemas.openxmlformats.org/drawingml/2006/main">
              <a:ext uri="{FF2B5EF4-FFF2-40B4-BE49-F238E27FC236}">
                <a16:creationId xmlns:a16="http://schemas.microsoft.com/office/drawing/2014/main" id="{B8DA829C-D70C-4BE8-B036-465051AA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Create templates/ and its files yourself</a:t>
            </a:r>
          </a:p>
        </p:txBody>
      </p:sp>
      <p:sp>
        <p:nvSpPr>
          <p:cNvPr id="3" name="32">
            <a:extLst xmlns:a="http://schemas.openxmlformats.org/drawingml/2006/main">
              <a:ext uri="{FF2B5EF4-FFF2-40B4-BE49-F238E27FC236}">
                <a16:creationId xmlns:a16="http://schemas.microsoft.com/office/drawing/2014/main" id="{5094C1CD-3083-47F0-88CD-77C83866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4" name="catalog/">
            <a:extLst xmlns:a="http://schemas.openxmlformats.org/drawingml/2006/main">
              <a:ext uri="{FF2B5EF4-FFF2-40B4-BE49-F238E27FC236}">
                <a16:creationId xmlns:a16="http://schemas.microsoft.com/office/drawing/2014/main" id="{65C78038-3B4E-40CB-8E7B-B5400902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catalog/</a:t>
            </a:r>
          </a:p>
        </p:txBody>
      </p:sp>
      <p:sp>
        <p:nvSpPr>
          <p:cNvPr id="5" name="    templates/">
            <a:extLst xmlns:a="http://schemas.openxmlformats.org/drawingml/2006/main">
              <a:ext uri="{FF2B5EF4-FFF2-40B4-BE49-F238E27FC236}">
                <a16:creationId xmlns:a16="http://schemas.microsoft.com/office/drawing/2014/main" id="{FDAA23D4-E538-431B-86E0-2F18E29A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templates/</a:t>
            </a:r>
          </a:p>
        </p:txBody>
      </p:sp>
      <p:sp>
        <p:nvSpPr>
          <p:cNvPr id="6" name="        catalog/">
            <a:extLst xmlns:a="http://schemas.openxmlformats.org/drawingml/2006/main">
              <a:ext uri="{FF2B5EF4-FFF2-40B4-BE49-F238E27FC236}">
                <a16:creationId xmlns:a16="http://schemas.microsoft.com/office/drawing/2014/main" id="{8EA567EB-CF09-442C-8E67-E711484E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catalog/</a:t>
            </a:r>
          </a:p>
        </p:txBody>
      </p:sp>
      <p:sp>
        <p:nvSpPr>
          <p:cNvPr id="7" name="            base.html">
            <a:extLst xmlns:a="http://schemas.openxmlformats.org/drawingml/2006/main">
              <a:ext uri="{FF2B5EF4-FFF2-40B4-BE49-F238E27FC236}">
                <a16:creationId xmlns:a16="http://schemas.microsoft.com/office/drawing/2014/main" id="{52C014A7-A682-44E8-8EAD-0BA19B5A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base.html</a:t>
            </a:r>
          </a:p>
        </p:txBody>
      </p:sp>
      <p:sp>
        <p:nvSpPr>
          <p:cNvPr id="8" name="            product_list.html">
            <a:extLst xmlns:a="http://schemas.openxmlformats.org/drawingml/2006/main">
              <a:ext uri="{FF2B5EF4-FFF2-40B4-BE49-F238E27FC236}">
                <a16:creationId xmlns:a16="http://schemas.microsoft.com/office/drawing/2014/main" id="{42925D28-0648-43BB-8674-2DB7B3A2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product_list.html</a:t>
            </a:r>
          </a:p>
        </p:txBody>
      </p:sp>
      <p:sp>
        <p:nvSpPr>
          <p:cNvPr id="9" name="            product_detail.html">
            <a:extLst xmlns:a="http://schemas.openxmlformats.org/drawingml/2006/main">
              <a:ext uri="{FF2B5EF4-FFF2-40B4-BE49-F238E27FC236}">
                <a16:creationId xmlns:a16="http://schemas.microsoft.com/office/drawing/2014/main" id="{5EBD771C-F5E4-422E-8134-EFB1297D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product_detail.html</a:t>
            </a:r>
          </a:p>
        </p:txBody>
      </p:sp>
      <p:sp>
        <p:nvSpPr>
          <p:cNvPr id="10" name="            product_form.html">
            <a:extLst xmlns:a="http://schemas.openxmlformats.org/drawingml/2006/main">
              <a:ext uri="{FF2B5EF4-FFF2-40B4-BE49-F238E27FC236}">
                <a16:creationId xmlns:a16="http://schemas.microsoft.com/office/drawing/2014/main" id="{E5E217BC-A5F7-4EE0-ABB2-8DB9A4CE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product_form.html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DF0EC-EAAF-4DC0-9AE1-786AEFAA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# config/settings.py 的既有 TEMPLATES 設定">
            <a:extLst xmlns:a="http://schemas.openxmlformats.org/drawingml/2006/main">
              <a:ext uri="{FF2B5EF4-FFF2-40B4-BE49-F238E27FC236}">
                <a16:creationId xmlns:a16="http://schemas.microsoft.com/office/drawing/2014/main" id="{98173A85-8586-4B91-9186-7260F8A9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# Existing TEMPLATES setting in config/settings.py</a:t>
            </a:r>
          </a:p>
        </p:txBody>
      </p:sp>
      <p:sp>
        <p:nvSpPr>
          <p:cNvPr id="13" name="&quot;APP_DIRS&quot;: True">
            <a:extLst xmlns:a="http://schemas.openxmlformats.org/drawingml/2006/main">
              <a:ext uri="{FF2B5EF4-FFF2-40B4-BE49-F238E27FC236}">
                <a16:creationId xmlns:a16="http://schemas.microsoft.com/office/drawing/2014/main" id="{A3C198D5-C145-48EA-A081-D00545CF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"APP_DIRS": True</a:t>
            </a:r>
          </a:p>
        </p:txBody>
      </p:sp>
      <p:sp>
        <p:nvSpPr>
          <p:cNvPr id="14" name="第二層 catalog">
            <a:extLst xmlns:a="http://schemas.openxmlformats.org/drawingml/2006/main">
              <a:ext uri="{FF2B5EF4-FFF2-40B4-BE49-F238E27FC236}">
                <a16:creationId xmlns:a16="http://schemas.microsoft.com/office/drawing/2014/main" id="{478CDBAC-B28F-4E98-B66B-C3082DC9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Inner catalog folder</a:t>
            </a:r>
          </a:p>
        </p:txBody>
      </p:sp>
      <p:sp>
        <p:nvSpPr>
          <p:cNvPr id="15" name="作為模板名稱空間， 避免不同 app 的 同名 HTML 檔互相衝突。">
            <a:extLst xmlns:a="http://schemas.openxmlformats.org/drawingml/2006/main">
              <a:ext uri="{FF2B5EF4-FFF2-40B4-BE49-F238E27FC236}">
                <a16:creationId xmlns:a16="http://schemas.microsoft.com/office/drawing/2014/main" id="{AE11C47D-E429-46D3-8FE6-64810EF8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Provides a template namespace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so apps can use matching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HTML filenames safely.</a:t>
            </a:r>
          </a:p>
        </p:txBody>
      </p:sp>
      <p:sp>
        <p:nvSpPr>
          <p:cNvPr id="16" name="Django 如何找到">
            <a:extLst xmlns:a="http://schemas.openxmlformats.org/drawingml/2006/main">
              <a:ext uri="{FF2B5EF4-FFF2-40B4-BE49-F238E27FC236}">
                <a16:creationId xmlns:a16="http://schemas.microsoft.com/office/drawing/2014/main" id="{9AD37D3F-7C02-4A02-A517-C99BBEFA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Template discovery</a:t>
            </a:r>
          </a:p>
        </p:txBody>
      </p:sp>
      <p:sp>
        <p:nvSpPr>
          <p:cNvPr id="17" name="app 已加入 INSTALLED_APPS， 且 APP_DIRS=True 時， 會搜尋 app 的 templates/。">
            <a:extLst xmlns:a="http://schemas.openxmlformats.org/drawingml/2006/main">
              <a:ext uri="{FF2B5EF4-FFF2-40B4-BE49-F238E27FC236}">
                <a16:creationId xmlns:a16="http://schemas.microsoft.com/office/drawing/2014/main" id="{7884730C-508C-4163-A0BC-EC53BAF4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With the app installed and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APP_DIRS=True, Django searches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the app templates/ directory.</a:t>
            </a:r>
          </a:p>
        </p:txBody>
      </p:sp>
      <p:sp>
        <p:nvSpPr>
          <p:cNvPr id="18" name="render() 使用 catalog/product_list.html，不需要寫磁碟上的完整路徑。">
            <a:extLst xmlns:a="http://schemas.openxmlformats.org/drawingml/2006/main">
              <a:ext uri="{FF2B5EF4-FFF2-40B4-BE49-F238E27FC236}">
                <a16:creationId xmlns:a16="http://schemas.microsoft.com/office/drawing/2014/main" id="{DB0A4A6B-995B-4B98-8EC3-0EC5D3A1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render() uses catalog/product_list.html rather than a full filesystem path.</a:t>
            </a:r>
          </a:p>
        </p:txBody>
      </p:sp>
    </p:spTree>
    <p:extLst>
      <p:ext uri="{BB962C8B-B14F-4D97-AF65-F5344CB8AC3E}">
        <p14:creationId xmlns:p14="http://schemas.microsoft.com/office/powerpoint/2010/main" val="198174256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ase.html：共用網頁骨架">
            <a:extLst xmlns:a="http://schemas.openxmlformats.org/drawingml/2006/main">
              <a:ext uri="{FF2B5EF4-FFF2-40B4-BE49-F238E27FC236}">
                <a16:creationId xmlns:a16="http://schemas.microsoft.com/office/drawing/2014/main" id="{84930845-FC5E-4836-A363-497D0CCB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base.html: the shared page structure</a:t>
            </a:r>
          </a:p>
        </p:txBody>
      </p:sp>
      <p:sp>
        <p:nvSpPr>
          <p:cNvPr id="2" name="catalog/templates/catalog/base.html 節錄">
            <a:extLst xmlns:a="http://schemas.openxmlformats.org/drawingml/2006/main">
              <a:ext uri="{FF2B5EF4-FFF2-40B4-BE49-F238E27FC236}">
                <a16:creationId xmlns:a16="http://schemas.microsoft.com/office/drawing/2014/main" id="{8C7E8EF2-D741-4DA4-8328-2A1C1F44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Excerpt from catalog/templates/catalog/base.html</a:t>
            </a:r>
          </a:p>
        </p:txBody>
      </p:sp>
      <p:sp>
        <p:nvSpPr>
          <p:cNvPr id="3" name="33">
            <a:extLst xmlns:a="http://schemas.openxmlformats.org/drawingml/2006/main">
              <a:ext uri="{FF2B5EF4-FFF2-40B4-BE49-F238E27FC236}">
                <a16:creationId xmlns:a16="http://schemas.microsoft.com/office/drawing/2014/main" id="{3B63BC45-C85F-4211-977D-21380AFA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4" name="{% load static %}">
            <a:extLst xmlns:a="http://schemas.openxmlformats.org/drawingml/2006/main">
              <a:ext uri="{FF2B5EF4-FFF2-40B4-BE49-F238E27FC236}">
                <a16:creationId xmlns:a16="http://schemas.microsoft.com/office/drawing/2014/main" id="{BE2C7C40-2001-4B90-B207-1373F053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{% load static %}</a:t>
            </a:r>
          </a:p>
        </p:txBody>
      </p:sp>
      <p:sp>
        <p:nvSpPr>
          <p:cNvPr id="5" name="&lt;!doctype html&gt;">
            <a:extLst xmlns:a="http://schemas.openxmlformats.org/drawingml/2006/main">
              <a:ext uri="{FF2B5EF4-FFF2-40B4-BE49-F238E27FC236}">
                <a16:creationId xmlns:a16="http://schemas.microsoft.com/office/drawing/2014/main" id="{D12376C2-BCBA-4022-B166-0C6F9A9F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6667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&lt;!doctype html&gt;</a:t>
            </a:r>
          </a:p>
        </p:txBody>
      </p:sp>
      <p:sp>
        <p:nvSpPr>
          <p:cNvPr id="6" name="&lt;html lang=&quot;zh-Hant&quot;&gt;">
            <a:extLst xmlns:a="http://schemas.openxmlformats.org/drawingml/2006/main">
              <a:ext uri="{FF2B5EF4-FFF2-40B4-BE49-F238E27FC236}">
                <a16:creationId xmlns:a16="http://schemas.microsoft.com/office/drawing/2014/main" id="{E94C753F-D2E8-4939-AA2C-DFF4A979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1210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&lt;html lang="en"&gt;</a:t>
            </a:r>
          </a:p>
        </p:txBody>
      </p:sp>
      <p:sp>
        <p:nvSpPr>
          <p:cNvPr id="7" name="&lt;head&gt;">
            <a:extLst xmlns:a="http://schemas.openxmlformats.org/drawingml/2006/main">
              <a:ext uri="{FF2B5EF4-FFF2-40B4-BE49-F238E27FC236}">
                <a16:creationId xmlns:a16="http://schemas.microsoft.com/office/drawing/2014/main" id="{C185EB98-806B-4E1C-A88F-29A51D3D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5752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&lt;head&gt;</a:t>
            </a:r>
          </a:p>
        </p:txBody>
      </p:sp>
      <p:sp>
        <p:nvSpPr>
          <p:cNvPr id="8" name="  &lt;meta charset=&quot;utf-8&quot;&gt;">
            <a:extLst xmlns:a="http://schemas.openxmlformats.org/drawingml/2006/main">
              <a:ext uri="{FF2B5EF4-FFF2-40B4-BE49-F238E27FC236}">
                <a16:creationId xmlns:a16="http://schemas.microsoft.com/office/drawing/2014/main" id="{16F54324-6A1C-4C45-96FB-BCFDB400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0294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&lt;meta charset="utf-8"&gt;</a:t>
            </a:r>
          </a:p>
        </p:txBody>
      </p:sp>
      <p:sp>
        <p:nvSpPr>
          <p:cNvPr id="9" name="  &lt;title&gt;{% block title %}商品目錄{% endblock %}&lt;/title&gt;">
            <a:extLst xmlns:a="http://schemas.openxmlformats.org/drawingml/2006/main">
              <a:ext uri="{FF2B5EF4-FFF2-40B4-BE49-F238E27FC236}">
                <a16:creationId xmlns:a16="http://schemas.microsoft.com/office/drawing/2014/main" id="{3B902CCC-1D23-4727-9D49-7F4B225A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4837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&lt;title&gt;{% block title %}Product catalog{% endblock %}&lt;/title&gt;</a:t>
            </a:r>
          </a:p>
        </p:txBody>
      </p:sp>
      <p:sp>
        <p:nvSpPr>
          <p:cNvPr id="10" name="  &lt;link rel=&quot;stylesheet&quot;">
            <a:extLst xmlns:a="http://schemas.openxmlformats.org/drawingml/2006/main">
              <a:ext uri="{FF2B5EF4-FFF2-40B4-BE49-F238E27FC236}">
                <a16:creationId xmlns:a16="http://schemas.microsoft.com/office/drawing/2014/main" id="{55DE292F-BDB7-4790-8CD5-53BADB5A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9379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&lt;link rel="stylesheet"</a:t>
            </a:r>
          </a:p>
        </p:txBody>
      </p:sp>
      <p:sp>
        <p:nvSpPr>
          <p:cNvPr id="11" name="    href=&quot;{% static 'catalog/site.css' %}&quot;&gt;">
            <a:extLst xmlns:a="http://schemas.openxmlformats.org/drawingml/2006/main">
              <a:ext uri="{FF2B5EF4-FFF2-40B4-BE49-F238E27FC236}">
                <a16:creationId xmlns:a16="http://schemas.microsoft.com/office/drawing/2014/main" id="{C3B3975D-F790-45A4-B9CF-2B7A98E3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3921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href="{% static 'catalog/site.css' %}"&gt;</a:t>
            </a:r>
          </a:p>
        </p:txBody>
      </p:sp>
      <p:sp>
        <p:nvSpPr>
          <p:cNvPr id="12" name="&lt;/head&gt;">
            <a:extLst xmlns:a="http://schemas.openxmlformats.org/drawingml/2006/main">
              <a:ext uri="{FF2B5EF4-FFF2-40B4-BE49-F238E27FC236}">
                <a16:creationId xmlns:a16="http://schemas.microsoft.com/office/drawing/2014/main" id="{D1A63662-8A0C-4886-9733-D6DB48E0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8463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&lt;/head&gt;</a:t>
            </a:r>
          </a:p>
        </p:txBody>
      </p:sp>
      <p:sp>
        <p:nvSpPr>
          <p:cNvPr id="13" name="&lt;body&gt;">
            <a:extLst xmlns:a="http://schemas.openxmlformats.org/drawingml/2006/main">
              <a:ext uri="{FF2B5EF4-FFF2-40B4-BE49-F238E27FC236}">
                <a16:creationId xmlns:a16="http://schemas.microsoft.com/office/drawing/2014/main" id="{E8B20285-72F0-4F4A-B738-6334400F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006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&lt;body&gt;</a:t>
            </a:r>
          </a:p>
        </p:txBody>
      </p:sp>
      <p:sp>
        <p:nvSpPr>
          <p:cNvPr id="14" name="  {% block content %}{% endblock %}">
            <a:extLst xmlns:a="http://schemas.openxmlformats.org/drawingml/2006/main">
              <a:ext uri="{FF2B5EF4-FFF2-40B4-BE49-F238E27FC236}">
                <a16:creationId xmlns:a16="http://schemas.microsoft.com/office/drawing/2014/main" id="{F09C2190-D4F3-4615-B9C1-778C3F9E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7548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{% block content %}{% endblock %}</a:t>
            </a:r>
          </a:p>
        </p:txBody>
      </p:sp>
      <p:sp>
        <p:nvSpPr>
          <p:cNvPr id="15" name="&lt;/body&gt;">
            <a:extLst xmlns:a="http://schemas.openxmlformats.org/drawingml/2006/main">
              <a:ext uri="{FF2B5EF4-FFF2-40B4-BE49-F238E27FC236}">
                <a16:creationId xmlns:a16="http://schemas.microsoft.com/office/drawing/2014/main" id="{B40E0097-3031-4FBC-82FA-38990887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2090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&lt;/body&gt;</a:t>
            </a:r>
          </a:p>
        </p:txBody>
      </p:sp>
      <p:sp>
        <p:nvSpPr>
          <p:cNvPr id="16" name="&lt;/html&gt;">
            <a:extLst xmlns:a="http://schemas.openxmlformats.org/drawingml/2006/main">
              <a:ext uri="{FF2B5EF4-FFF2-40B4-BE49-F238E27FC236}">
                <a16:creationId xmlns:a16="http://schemas.microsoft.com/office/drawing/2014/main" id="{D0A3DB28-16E2-4BB2-93CA-5D9467BD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6633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&lt;/html&gt;</a:t>
            </a:r>
          </a:p>
        </p:txBody>
      </p:sp>
      <p:sp>
        <p:nvSpPr>
          <p:cNvPr id="17" name="模板繼承">
            <a:extLst xmlns:a="http://schemas.openxmlformats.org/drawingml/2006/main">
              <a:ext uri="{FF2B5EF4-FFF2-40B4-BE49-F238E27FC236}">
                <a16:creationId xmlns:a16="http://schemas.microsoft.com/office/drawing/2014/main" id="{FF56AD03-29BC-4726-80FA-A5EDBD6C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Template inheritance</a:t>
            </a:r>
          </a:p>
        </p:txBody>
      </p:sp>
      <p:sp>
        <p:nvSpPr>
          <p:cNvPr id="18" name="共用 head、導覽列等結構， 不同頁面替換 block 區塊。">
            <a:extLst xmlns:a="http://schemas.openxmlformats.org/drawingml/2006/main">
              <a:ext uri="{FF2B5EF4-FFF2-40B4-BE49-F238E27FC236}">
                <a16:creationId xmlns:a16="http://schemas.microsoft.com/office/drawing/2014/main" id="{2373ABBA-E0B8-4672-93ED-CD3FEEF1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Share the head and navigation.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Each page fills the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appropriate block.</a:t>
            </a:r>
          </a:p>
        </p:txBody>
      </p:sp>
      <p:sp>
        <p:nvSpPr>
          <p:cNvPr id="19" name="static 標籤">
            <a:extLst xmlns:a="http://schemas.openxmlformats.org/drawingml/2006/main">
              <a:ext uri="{FF2B5EF4-FFF2-40B4-BE49-F238E27FC236}">
                <a16:creationId xmlns:a16="http://schemas.microsoft.com/office/drawing/2014/main" id="{88915403-6B18-4F73-A640-E45D19C2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The static tag</a:t>
            </a:r>
          </a:p>
        </p:txBody>
      </p:sp>
      <p:sp>
        <p:nvSpPr>
          <p:cNvPr id="20" name="依 STATIC_URL 等設定 產生靜態檔案網址。 它不會把 CSS 內容貼進 HTML。">
            <a:extLst xmlns:a="http://schemas.openxmlformats.org/drawingml/2006/main">
              <a:ext uri="{FF2B5EF4-FFF2-40B4-BE49-F238E27FC236}">
                <a16:creationId xmlns:a16="http://schemas.microsoft.com/office/drawing/2014/main" id="{6899F8F7-E39E-41D0-B8EA-BC608A6E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Builds a static file URL using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settings such as STATIC_URL.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It does not inline the CSS.</a:t>
            </a:r>
          </a:p>
        </p:txBody>
      </p:sp>
      <p:sp>
        <p:nvSpPr>
          <p:cNvPr id="21" name="完整範例另有 viewport、導覽列與頁尾，皆放在同一個 base.html。">
            <a:extLst xmlns:a="http://schemas.openxmlformats.org/drawingml/2006/main">
              <a:ext uri="{FF2B5EF4-FFF2-40B4-BE49-F238E27FC236}">
                <a16:creationId xmlns:a16="http://schemas.microsoft.com/office/drawing/2014/main" id="{C3FD993E-7CF1-43E0-B324-A292B3D4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The complete example also puts the viewport, navigation and footer in base.html.</a:t>
            </a:r>
          </a:p>
        </p:txBody>
      </p:sp>
    </p:spTree>
    <p:extLst>
      <p:ext uri="{BB962C8B-B14F-4D97-AF65-F5344CB8AC3E}">
        <p14:creationId xmlns:p14="http://schemas.microsoft.com/office/powerpoint/2010/main" val="194284618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roduct_list.html：迴圈與資料呈現">
            <a:extLst xmlns:a="http://schemas.openxmlformats.org/drawingml/2006/main">
              <a:ext uri="{FF2B5EF4-FFF2-40B4-BE49-F238E27FC236}">
                <a16:creationId xmlns:a16="http://schemas.microsoft.com/office/drawing/2014/main" id="{0059BC29-F11B-4AFA-8730-CF3C149A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product_list.html: loops and values</a:t>
            </a:r>
          </a:p>
        </p:txBody>
      </p:sp>
      <p:sp>
        <p:nvSpPr>
          <p:cNvPr id="2" name="catalog/templates/catalog/product_list.html 核心內容">
            <a:extLst xmlns:a="http://schemas.openxmlformats.org/drawingml/2006/main">
              <a:ext uri="{FF2B5EF4-FFF2-40B4-BE49-F238E27FC236}">
                <a16:creationId xmlns:a16="http://schemas.microsoft.com/office/drawing/2014/main" id="{81BDE5E9-B649-450A-9719-A0DC29D0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Core content of catalog/templates/catalog/product_list.html</a:t>
            </a:r>
          </a:p>
        </p:txBody>
      </p:sp>
      <p:sp>
        <p:nvSpPr>
          <p:cNvPr id="3" name="34">
            <a:extLst xmlns:a="http://schemas.openxmlformats.org/drawingml/2006/main">
              <a:ext uri="{FF2B5EF4-FFF2-40B4-BE49-F238E27FC236}">
                <a16:creationId xmlns:a16="http://schemas.microsoft.com/office/drawing/2014/main" id="{65490D37-46F7-49E0-B89E-A551FCCC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4" name="{% extends &quot;catalog/base.html&quot; %}">
            <a:extLst xmlns:a="http://schemas.openxmlformats.org/drawingml/2006/main">
              <a:ext uri="{FF2B5EF4-FFF2-40B4-BE49-F238E27FC236}">
                <a16:creationId xmlns:a16="http://schemas.microsoft.com/office/drawing/2014/main" id="{1B6B80FC-1407-4BC4-B2E0-D74062CA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extends "catalog/base.html" %}</a:t>
            </a:r>
          </a:p>
        </p:txBody>
      </p:sp>
      <p:sp>
        <p:nvSpPr>
          <p:cNvPr id="5" name="{% block content %}">
            <a:extLst xmlns:a="http://schemas.openxmlformats.org/drawingml/2006/main">
              <a:ext uri="{FF2B5EF4-FFF2-40B4-BE49-F238E27FC236}">
                <a16:creationId xmlns:a16="http://schemas.microsoft.com/office/drawing/2014/main" id="{07727F6C-5080-476A-A17B-AD8F90C4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6667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block content %}</a:t>
            </a:r>
          </a:p>
        </p:txBody>
      </p:sp>
      <p:sp>
        <p:nvSpPr>
          <p:cNvPr id="6" name="&lt;h1&gt;商品目錄&lt;/h1&gt;">
            <a:extLst xmlns:a="http://schemas.openxmlformats.org/drawingml/2006/main">
              <a:ext uri="{FF2B5EF4-FFF2-40B4-BE49-F238E27FC236}">
                <a16:creationId xmlns:a16="http://schemas.microsoft.com/office/drawing/2014/main" id="{181686A2-9F42-4553-B528-5EBF5977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1210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&lt;h1&gt;Product catalog&lt;/h1&gt;</a:t>
            </a:r>
          </a:p>
        </p:txBody>
      </p:sp>
      <p:sp>
        <p:nvSpPr>
          <p:cNvPr id="7" name="&lt;ul&gt;">
            <a:extLst xmlns:a="http://schemas.openxmlformats.org/drawingml/2006/main">
              <a:ext uri="{FF2B5EF4-FFF2-40B4-BE49-F238E27FC236}">
                <a16:creationId xmlns:a16="http://schemas.microsoft.com/office/drawing/2014/main" id="{C15E4067-9740-47FA-9C8C-B0EA0734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5752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&lt;ul&gt;</a:t>
            </a:r>
          </a:p>
        </p:txBody>
      </p:sp>
      <p:sp>
        <p:nvSpPr>
          <p:cNvPr id="8" name="{% for product in products %}">
            <a:extLst xmlns:a="http://schemas.openxmlformats.org/drawingml/2006/main">
              <a:ext uri="{FF2B5EF4-FFF2-40B4-BE49-F238E27FC236}">
                <a16:creationId xmlns:a16="http://schemas.microsoft.com/office/drawing/2014/main" id="{D49FD90B-6D0B-4AFE-BAA1-AF0A133F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0294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for product in products %}</a:t>
            </a:r>
          </a:p>
        </p:txBody>
      </p:sp>
      <p:sp>
        <p:nvSpPr>
          <p:cNvPr id="9" name="  &lt;li&gt;{{ product.name }} / {{ product.price }}">
            <a:extLst xmlns:a="http://schemas.openxmlformats.org/drawingml/2006/main">
              <a:ext uri="{FF2B5EF4-FFF2-40B4-BE49-F238E27FC236}">
                <a16:creationId xmlns:a16="http://schemas.microsoft.com/office/drawing/2014/main" id="{97270744-CC7A-4535-B086-034C0A43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4837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&lt;li&gt;{{ product.name }} / {{ product.price }}</a:t>
            </a:r>
          </a:p>
        </p:txBody>
      </p:sp>
      <p:sp>
        <p:nvSpPr>
          <p:cNvPr id="10" name="    {% if product.in_stock %}有庫存{% endif %}">
            <a:extLst xmlns:a="http://schemas.openxmlformats.org/drawingml/2006/main">
              <a:ext uri="{FF2B5EF4-FFF2-40B4-BE49-F238E27FC236}">
                <a16:creationId xmlns:a16="http://schemas.microsoft.com/office/drawing/2014/main" id="{4D9BF0C9-EF35-4A9C-9AF5-08159167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9379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{% if product.in_stock %}In stock{% endif %}</a:t>
            </a:r>
          </a:p>
        </p:txBody>
      </p:sp>
      <p:sp>
        <p:nvSpPr>
          <p:cNvPr id="11" name="  &lt;/li&gt;">
            <a:extLst xmlns:a="http://schemas.openxmlformats.org/drawingml/2006/main">
              <a:ext uri="{FF2B5EF4-FFF2-40B4-BE49-F238E27FC236}">
                <a16:creationId xmlns:a16="http://schemas.microsoft.com/office/drawing/2014/main" id="{F6285107-94FE-4BE6-B6EE-8A0F60F2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3921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&lt;/li&gt;</a:t>
            </a:r>
          </a:p>
        </p:txBody>
      </p:sp>
      <p:sp>
        <p:nvSpPr>
          <p:cNvPr id="12" name="{% empty %}">
            <a:extLst xmlns:a="http://schemas.openxmlformats.org/drawingml/2006/main">
              <a:ext uri="{FF2B5EF4-FFF2-40B4-BE49-F238E27FC236}">
                <a16:creationId xmlns:a16="http://schemas.microsoft.com/office/drawing/2014/main" id="{E28D7741-BE6C-4495-8A38-7349F83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8463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empty %}</a:t>
            </a:r>
          </a:p>
        </p:txBody>
      </p:sp>
      <p:sp>
        <p:nvSpPr>
          <p:cNvPr id="13" name="  &lt;li&gt;目前沒有商品&lt;/li&gt;">
            <a:extLst xmlns:a="http://schemas.openxmlformats.org/drawingml/2006/main">
              <a:ext uri="{FF2B5EF4-FFF2-40B4-BE49-F238E27FC236}">
                <a16:creationId xmlns:a16="http://schemas.microsoft.com/office/drawing/2014/main" id="{6AAD18F0-55D0-488C-AAB2-BA4DB02F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006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&lt;li&gt;No products yet&lt;/li&gt;</a:t>
            </a:r>
          </a:p>
        </p:txBody>
      </p:sp>
      <p:sp>
        <p:nvSpPr>
          <p:cNvPr id="14" name="{% endfor %}">
            <a:extLst xmlns:a="http://schemas.openxmlformats.org/drawingml/2006/main">
              <a:ext uri="{FF2B5EF4-FFF2-40B4-BE49-F238E27FC236}">
                <a16:creationId xmlns:a16="http://schemas.microsoft.com/office/drawing/2014/main" id="{1A077891-3847-4E8F-82D6-CB279DBA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7548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endfor %}</a:t>
            </a:r>
          </a:p>
        </p:txBody>
      </p:sp>
      <p:sp>
        <p:nvSpPr>
          <p:cNvPr id="15" name="&lt;/ul&gt;">
            <a:extLst xmlns:a="http://schemas.openxmlformats.org/drawingml/2006/main">
              <a:ext uri="{FF2B5EF4-FFF2-40B4-BE49-F238E27FC236}">
                <a16:creationId xmlns:a16="http://schemas.microsoft.com/office/drawing/2014/main" id="{3E74D999-EB9C-460C-B5FE-0F1A682B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2090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&lt;/ul&gt;</a:t>
            </a:r>
          </a:p>
        </p:txBody>
      </p:sp>
      <p:sp>
        <p:nvSpPr>
          <p:cNvPr id="16" name="{% endblock %}">
            <a:extLst xmlns:a="http://schemas.openxmlformats.org/drawingml/2006/main">
              <a:ext uri="{FF2B5EF4-FFF2-40B4-BE49-F238E27FC236}">
                <a16:creationId xmlns:a16="http://schemas.microsoft.com/office/drawing/2014/main" id="{B0A51123-75B8-4830-BC47-D2336125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6633"/>
            <a:ext cx="7658100" cy="342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endblock %}</a:t>
            </a:r>
          </a:p>
        </p:txBody>
      </p:sp>
      <p:sp>
        <p:nvSpPr>
          <p:cNvPr id="17" name="兩種語法">
            <a:extLst xmlns:a="http://schemas.openxmlformats.org/drawingml/2006/main">
              <a:ext uri="{FF2B5EF4-FFF2-40B4-BE49-F238E27FC236}">
                <a16:creationId xmlns:a16="http://schemas.microsoft.com/office/drawing/2014/main" id="{303F9DFC-A601-4151-BFEE-F0A58EE3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Two syntaxes</a:t>
            </a:r>
          </a:p>
        </p:txBody>
      </p:sp>
      <p:sp>
        <p:nvSpPr>
          <p:cNvPr id="18" name="{{ ... }} 顯示值。 {% ... %} 執行模板標籤， 例如 for、if、block。">
            <a:extLst xmlns:a="http://schemas.openxmlformats.org/drawingml/2006/main">
              <a:ext uri="{FF2B5EF4-FFF2-40B4-BE49-F238E27FC236}">
                <a16:creationId xmlns:a16="http://schemas.microsoft.com/office/drawing/2014/main" id="{B6552039-5131-4244-9863-56B1D29F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{{ ... }} displays a value.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{% ... %} runs template tags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such as for, if and block.</a:t>
            </a:r>
          </a:p>
        </p:txBody>
      </p:sp>
      <p:sp>
        <p:nvSpPr>
          <p:cNvPr id="19" name="資料的來源">
            <a:extLst xmlns:a="http://schemas.openxmlformats.org/drawingml/2006/main">
              <a:ext uri="{FF2B5EF4-FFF2-40B4-BE49-F238E27FC236}">
                <a16:creationId xmlns:a16="http://schemas.microsoft.com/office/drawing/2014/main" id="{C8222372-97D7-4C53-A0F2-C99AE588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Data source</a:t>
            </a:r>
          </a:p>
        </p:txBody>
      </p:sp>
      <p:sp>
        <p:nvSpPr>
          <p:cNvPr id="20" name="products 來自 view 傳入的 context dict。 變數名稱必須一致。">
            <a:extLst xmlns:a="http://schemas.openxmlformats.org/drawingml/2006/main">
              <a:ext uri="{FF2B5EF4-FFF2-40B4-BE49-F238E27FC236}">
                <a16:creationId xmlns:a16="http://schemas.microsoft.com/office/drawing/2014/main" id="{FEC7F5F5-6F53-454C-8473-EF251956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products comes from the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context dictionary in the view.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The variable names must match.</a:t>
            </a:r>
          </a:p>
        </p:txBody>
      </p:sp>
      <p:sp>
        <p:nvSpPr>
          <p:cNvPr id="21" name="模板不是任意 Python 程式。預設 HTML 自動跳脫，不要隨意關閉。">
            <a:extLst xmlns:a="http://schemas.openxmlformats.org/drawingml/2006/main">
              <a:ext uri="{FF2B5EF4-FFF2-40B4-BE49-F238E27FC236}">
                <a16:creationId xmlns:a16="http://schemas.microsoft.com/office/drawing/2014/main" id="{40F0783F-2FA4-4780-B1F6-B15E8183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Templates do not run arbitrary Python. Keep default HTML autoescaping enabled.</a:t>
            </a:r>
          </a:p>
        </p:txBody>
      </p:sp>
    </p:spTree>
    <p:extLst>
      <p:ext uri="{BB962C8B-B14F-4D97-AF65-F5344CB8AC3E}">
        <p14:creationId xmlns:p14="http://schemas.microsoft.com/office/powerpoint/2010/main" val="3283021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tatic/ 與 site.css：網頁外觀">
            <a:extLst xmlns:a="http://schemas.openxmlformats.org/drawingml/2006/main">
              <a:ext uri="{FF2B5EF4-FFF2-40B4-BE49-F238E27FC236}">
                <a16:creationId xmlns:a16="http://schemas.microsoft.com/office/drawing/2014/main" id="{3DDFE3F5-381D-4BD7-B194-7D029BB1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static/ and site.css: page styling</a:t>
            </a:r>
          </a:p>
        </p:txBody>
      </p:sp>
      <p:sp>
        <p:nvSpPr>
          <p:cNvPr id="2" name="自行建立 catalog/static/catalog/site.css">
            <a:extLst xmlns:a="http://schemas.openxmlformats.org/drawingml/2006/main">
              <a:ext uri="{FF2B5EF4-FFF2-40B4-BE49-F238E27FC236}">
                <a16:creationId xmlns:a16="http://schemas.microsoft.com/office/drawing/2014/main" id="{11413C55-DC32-425F-94B2-6BF11914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Create catalog/static/catalog/site.css</a:t>
            </a:r>
          </a:p>
        </p:txBody>
      </p:sp>
      <p:sp>
        <p:nvSpPr>
          <p:cNvPr id="3" name="35">
            <a:extLst xmlns:a="http://schemas.openxmlformats.org/drawingml/2006/main">
              <a:ext uri="{FF2B5EF4-FFF2-40B4-BE49-F238E27FC236}">
                <a16:creationId xmlns:a16="http://schemas.microsoft.com/office/drawing/2014/main" id="{ABCCDF6F-7B6D-4F57-8A46-06CAF1E4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4" name="/* catalog/static/catalog/site.css */">
            <a:extLst xmlns:a="http://schemas.openxmlformats.org/drawingml/2006/main">
              <a:ext uri="{FF2B5EF4-FFF2-40B4-BE49-F238E27FC236}">
                <a16:creationId xmlns:a16="http://schemas.microsoft.com/office/drawing/2014/main" id="{25911818-F35E-489D-9BB3-09ABDC96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/* catalog/static/catalog/site.css */</a:t>
            </a:r>
          </a:p>
        </p:txBody>
      </p:sp>
      <p:sp>
        <p:nvSpPr>
          <p:cNvPr id="5" name="body {">
            <a:extLst xmlns:a="http://schemas.openxmlformats.org/drawingml/2006/main">
              <a:ext uri="{FF2B5EF4-FFF2-40B4-BE49-F238E27FC236}">
                <a16:creationId xmlns:a16="http://schemas.microsoft.com/office/drawing/2014/main" id="{B2390C89-745A-4F9D-A53C-9E08E2C9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body {</a:t>
            </a:r>
          </a:p>
        </p:txBody>
      </p:sp>
      <p:sp>
        <p:nvSpPr>
          <p:cNvPr id="6" name="  color: #132b3a;">
            <a:extLst xmlns:a="http://schemas.openxmlformats.org/drawingml/2006/main">
              <a:ext uri="{FF2B5EF4-FFF2-40B4-BE49-F238E27FC236}">
                <a16:creationId xmlns:a16="http://schemas.microsoft.com/office/drawing/2014/main" id="{1040DE2F-7D28-4189-9F7F-1677D422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color: #132b3a;</a:t>
            </a:r>
          </a:p>
        </p:txBody>
      </p:sp>
      <p:sp>
        <p:nvSpPr>
          <p:cNvPr id="7" name="  background: #f5f2eb;">
            <a:extLst xmlns:a="http://schemas.openxmlformats.org/drawingml/2006/main">
              <a:ext uri="{FF2B5EF4-FFF2-40B4-BE49-F238E27FC236}">
                <a16:creationId xmlns:a16="http://schemas.microsoft.com/office/drawing/2014/main" id="{A59F819F-ECA8-4A2B-A3C2-7F4ECEB0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background: #f5f2eb;</a:t>
            </a:r>
          </a:p>
        </p:txBody>
      </p:sp>
      <p:sp>
        <p:nvSpPr>
          <p:cNvPr id="8" name="  font-family: &quot;Microsoft JhengHei&quot;, sans-serif;">
            <a:extLst xmlns:a="http://schemas.openxmlformats.org/drawingml/2006/main">
              <a:ext uri="{FF2B5EF4-FFF2-40B4-BE49-F238E27FC236}">
                <a16:creationId xmlns:a16="http://schemas.microsoft.com/office/drawing/2014/main" id="{3FA78EA7-FD37-4F7C-923B-DEB1C919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font-family: "Arial", sans-serif;</a:t>
            </a:r>
          </a:p>
        </p:txBody>
      </p:sp>
      <p:sp>
        <p:nvSpPr>
          <p:cNvPr id="9" name="}">
            <a:extLst xmlns:a="http://schemas.openxmlformats.org/drawingml/2006/main">
              <a:ext uri="{FF2B5EF4-FFF2-40B4-BE49-F238E27FC236}">
                <a16:creationId xmlns:a16="http://schemas.microsoft.com/office/drawing/2014/main" id="{5E3847BF-9010-4BEE-8832-7BC44981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名稱空間">
            <a:extLst xmlns:a="http://schemas.openxmlformats.org/drawingml/2006/main">
              <a:ext uri="{FF2B5EF4-FFF2-40B4-BE49-F238E27FC236}">
                <a16:creationId xmlns:a16="http://schemas.microsoft.com/office/drawing/2014/main" id="{73D56EDF-5A91-41DE-8002-1CC3BE98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Namespace</a:t>
            </a:r>
          </a:p>
        </p:txBody>
      </p:sp>
      <p:sp>
        <p:nvSpPr>
          <p:cNvPr id="11" name="第二層 catalog 避免 多個 app 的 CSS 同名。">
            <a:extLst xmlns:a="http://schemas.openxmlformats.org/drawingml/2006/main">
              <a:ext uri="{FF2B5EF4-FFF2-40B4-BE49-F238E27FC236}">
                <a16:creationId xmlns:a16="http://schemas.microsoft.com/office/drawing/2014/main" id="{7A61C174-F239-422B-AF08-9A5F9CBF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The inner catalog directory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prevents CSS filename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collisions between apps.</a:t>
            </a:r>
          </a:p>
        </p:txBody>
      </p:sp>
      <p:sp>
        <p:nvSpPr>
          <p:cNvPr id="12" name="開發時載入">
            <a:extLst xmlns:a="http://schemas.openxmlformats.org/drawingml/2006/main">
              <a:ext uri="{FF2B5EF4-FFF2-40B4-BE49-F238E27FC236}">
                <a16:creationId xmlns:a16="http://schemas.microsoft.com/office/drawing/2014/main" id="{FF63A93E-C9F1-4C10-8256-50B1C352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During development</a:t>
            </a:r>
          </a:p>
        </p:txBody>
      </p:sp>
      <p:sp>
        <p:nvSpPr>
          <p:cNvPr id="13" name="啟用 staticfiles、DEBUG=True， runserver 可提供靜態檔。 正式環境需要另外部署。">
            <a:extLst xmlns:a="http://schemas.openxmlformats.org/drawingml/2006/main">
              <a:ext uri="{FF2B5EF4-FFF2-40B4-BE49-F238E27FC236}">
                <a16:creationId xmlns:a16="http://schemas.microsoft.com/office/drawing/2014/main" id="{971328AC-0D93-487D-AEFD-BFA9C412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With staticfiles enabled and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DEBUG=True, runserver serves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static files. Production needs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separate setup.</a:t>
            </a:r>
          </a:p>
        </p:txBody>
      </p:sp>
      <p:sp>
        <p:nvSpPr>
          <p:cNvPr id="14" name="settings.py 保留 STATIC_URL = &quot;static/&quot;；上方 CSS 程式只放在 site.css。">
            <a:extLst xmlns:a="http://schemas.openxmlformats.org/drawingml/2006/main">
              <a:ext uri="{FF2B5EF4-FFF2-40B4-BE49-F238E27FC236}">
                <a16:creationId xmlns:a16="http://schemas.microsoft.com/office/drawing/2014/main" id="{48E3D98A-5AD5-4C39-BAEC-7BF169C7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Keep STATIC_URL = "static/" in settings.py. Put the CSS above only in site.css.</a:t>
            </a:r>
          </a:p>
        </p:txBody>
      </p:sp>
    </p:spTree>
    <p:extLst>
      <p:ext uri="{BB962C8B-B14F-4D97-AF65-F5344CB8AC3E}">
        <p14:creationId xmlns:p14="http://schemas.microsoft.com/office/powerpoint/2010/main" val="165038595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完成版的 catalog/urls.py">
            <a:extLst xmlns:a="http://schemas.openxmlformats.org/drawingml/2006/main">
              <a:ext uri="{FF2B5EF4-FFF2-40B4-BE49-F238E27FC236}">
                <a16:creationId xmlns:a16="http://schemas.microsoft.com/office/drawing/2014/main" id="{2AD921F2-85F1-41C0-89BD-CAF44941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The complete catalog/urls.py</a:t>
            </a:r>
          </a:p>
        </p:txBody>
      </p:sp>
      <p:sp>
        <p:nvSpPr>
          <p:cNvPr id="2" name="將列表、詳細頁與新增頁接上路由">
            <a:extLst xmlns:a="http://schemas.openxmlformats.org/drawingml/2006/main">
              <a:ext uri="{FF2B5EF4-FFF2-40B4-BE49-F238E27FC236}">
                <a16:creationId xmlns:a16="http://schemas.microsoft.com/office/drawing/2014/main" id="{FC8CA389-7CDD-4422-B2E1-5334F33E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Routes for the list, details and creation form</a:t>
            </a:r>
          </a:p>
        </p:txBody>
      </p:sp>
      <p:sp>
        <p:nvSpPr>
          <p:cNvPr id="3" name="36">
            <a:extLst xmlns:a="http://schemas.openxmlformats.org/drawingml/2006/main">
              <a:ext uri="{FF2B5EF4-FFF2-40B4-BE49-F238E27FC236}">
                <a16:creationId xmlns:a16="http://schemas.microsoft.com/office/drawing/2014/main" id="{CF6B036F-5051-4201-9F6F-23279A2E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4" name="from django.urls import path">
            <a:extLst xmlns:a="http://schemas.openxmlformats.org/drawingml/2006/main">
              <a:ext uri="{FF2B5EF4-FFF2-40B4-BE49-F238E27FC236}">
                <a16:creationId xmlns:a16="http://schemas.microsoft.com/office/drawing/2014/main" id="{4C814C0E-0027-42B9-A438-CE66A381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django.urls import path</a:t>
            </a:r>
          </a:p>
        </p:txBody>
      </p:sp>
      <p:sp>
        <p:nvSpPr>
          <p:cNvPr id="5" name="from . import views">
            <a:extLst xmlns:a="http://schemas.openxmlformats.org/drawingml/2006/main">
              <a:ext uri="{FF2B5EF4-FFF2-40B4-BE49-F238E27FC236}">
                <a16:creationId xmlns:a16="http://schemas.microsoft.com/office/drawing/2014/main" id="{BD3298D6-107D-49AE-B7FA-C1F049F7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 import 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BF90B-8975-48AD-8605-DB7835DC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pp_name = &quot;catalog&quot;">
            <a:extLst xmlns:a="http://schemas.openxmlformats.org/drawingml/2006/main">
              <a:ext uri="{FF2B5EF4-FFF2-40B4-BE49-F238E27FC236}">
                <a16:creationId xmlns:a16="http://schemas.microsoft.com/office/drawing/2014/main" id="{191C410A-07CC-479B-B2AB-62263CA9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app_name = "catalog"</a:t>
            </a:r>
          </a:p>
        </p:txBody>
      </p:sp>
      <p:sp>
        <p:nvSpPr>
          <p:cNvPr id="8" name="urlpatterns = [">
            <a:extLst xmlns:a="http://schemas.openxmlformats.org/drawingml/2006/main">
              <a:ext uri="{FF2B5EF4-FFF2-40B4-BE49-F238E27FC236}">
                <a16:creationId xmlns:a16="http://schemas.microsoft.com/office/drawing/2014/main" id="{D5846293-4D3A-4C56-9C98-E4E289B0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urlpatterns = [</a:t>
            </a:r>
          </a:p>
        </p:txBody>
      </p:sp>
      <p:sp>
        <p:nvSpPr>
          <p:cNvPr id="9" name="    path(&quot;hello/&quot;, views.hello, name=&quot;hello&quot;),">
            <a:extLst xmlns:a="http://schemas.openxmlformats.org/drawingml/2006/main">
              <a:ext uri="{FF2B5EF4-FFF2-40B4-BE49-F238E27FC236}">
                <a16:creationId xmlns:a16="http://schemas.microsoft.com/office/drawing/2014/main" id="{585CB820-BDFC-4357-8514-6768E59F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path("hello/", views.hello, name="hello"),</a:t>
            </a:r>
          </a:p>
        </p:txBody>
      </p:sp>
      <p:sp>
        <p:nvSpPr>
          <p:cNvPr id="10" name="    path(&quot;&quot;, views.product_list, name=&quot;product_list&quot;),">
            <a:extLst xmlns:a="http://schemas.openxmlformats.org/drawingml/2006/main">
              <a:ext uri="{FF2B5EF4-FFF2-40B4-BE49-F238E27FC236}">
                <a16:creationId xmlns:a16="http://schemas.microsoft.com/office/drawing/2014/main" id="{6D5501B0-F624-4023-83C7-95BC835F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path("", views.product_list, name="product_list"),</a:t>
            </a:r>
          </a:p>
        </p:txBody>
      </p:sp>
      <p:sp>
        <p:nvSpPr>
          <p:cNvPr id="11" name="    path(&quot;new/&quot;, views.product_create,">
            <a:extLst xmlns:a="http://schemas.openxmlformats.org/drawingml/2006/main">
              <a:ext uri="{FF2B5EF4-FFF2-40B4-BE49-F238E27FC236}">
                <a16:creationId xmlns:a16="http://schemas.microsoft.com/office/drawing/2014/main" id="{7680ADF0-4E43-446B-8FCF-2D030A5C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path("new/", views.product_create,</a:t>
            </a:r>
          </a:p>
        </p:txBody>
      </p:sp>
      <p:sp>
        <p:nvSpPr>
          <p:cNvPr id="12" name="         name=&quot;product_create&quot;),">
            <a:extLst xmlns:a="http://schemas.openxmlformats.org/drawingml/2006/main">
              <a:ext uri="{FF2B5EF4-FFF2-40B4-BE49-F238E27FC236}">
                <a16:creationId xmlns:a16="http://schemas.microsoft.com/office/drawing/2014/main" id="{ACC6A038-9DF3-4B4B-8FF6-B9EF21F3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name="product_create"),</a:t>
            </a:r>
          </a:p>
        </p:txBody>
      </p:sp>
      <p:sp>
        <p:nvSpPr>
          <p:cNvPr id="13" name="    path(&quot;&lt;int:pk&gt;/&quot;, views.product_detail,">
            <a:extLst xmlns:a="http://schemas.openxmlformats.org/drawingml/2006/main">
              <a:ext uri="{FF2B5EF4-FFF2-40B4-BE49-F238E27FC236}">
                <a16:creationId xmlns:a16="http://schemas.microsoft.com/office/drawing/2014/main" id="{070660EB-08C5-4461-8A8E-2FDF846F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path("&lt;int:pk&gt;/", views.product_detail,</a:t>
            </a:r>
          </a:p>
        </p:txBody>
      </p:sp>
      <p:sp>
        <p:nvSpPr>
          <p:cNvPr id="14" name="         name=&quot;product_detail&quot;),">
            <a:extLst xmlns:a="http://schemas.openxmlformats.org/drawingml/2006/main">
              <a:ext uri="{FF2B5EF4-FFF2-40B4-BE49-F238E27FC236}">
                <a16:creationId xmlns:a16="http://schemas.microsoft.com/office/drawing/2014/main" id="{30BBA647-DD74-4F39-864D-99AD9FE7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name="product_detail"),</a:t>
            </a:r>
          </a:p>
        </p:txBody>
      </p:sp>
      <p:sp>
        <p:nvSpPr>
          <p:cNvPr id="15" name="]">
            <a:extLst xmlns:a="http://schemas.openxmlformats.org/drawingml/2006/main">
              <a:ext uri="{FF2B5EF4-FFF2-40B4-BE49-F238E27FC236}">
                <a16:creationId xmlns:a16="http://schemas.microsoft.com/office/drawing/2014/main" id="{9A85F439-3371-432D-BD16-53EC7063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16" name="路徑參數">
            <a:extLst xmlns:a="http://schemas.openxmlformats.org/drawingml/2006/main">
              <a:ext uri="{FF2B5EF4-FFF2-40B4-BE49-F238E27FC236}">
                <a16:creationId xmlns:a16="http://schemas.microsoft.com/office/drawing/2014/main" id="{CC96FBA8-DB29-4138-9552-43F5265E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Path parameters</a:t>
            </a:r>
          </a:p>
        </p:txBody>
      </p:sp>
      <p:sp>
        <p:nvSpPr>
          <p:cNvPr id="17" name="&lt;int:pk&gt; 轉為整數， 再傳給 view 的 pk 參數。">
            <a:extLst xmlns:a="http://schemas.openxmlformats.org/drawingml/2006/main">
              <a:ext uri="{FF2B5EF4-FFF2-40B4-BE49-F238E27FC236}">
                <a16:creationId xmlns:a16="http://schemas.microsoft.com/office/drawing/2014/main" id="{F8D0A3D3-E25F-43B5-BBC0-2014870A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&lt;int:pk&gt; converts the segment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to an integer and passes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it to the view as pk.</a:t>
            </a:r>
          </a:p>
        </p:txBody>
      </p:sp>
      <p:sp>
        <p:nvSpPr>
          <p:cNvPr id="18" name="建立順序">
            <a:extLst xmlns:a="http://schemas.openxmlformats.org/drawingml/2006/main">
              <a:ext uri="{FF2B5EF4-FFF2-40B4-BE49-F238E27FC236}">
                <a16:creationId xmlns:a16="http://schemas.microsoft.com/office/drawing/2014/main" id="{9AC985A5-0779-44E5-B76D-59F3BE82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Build order</a:t>
            </a:r>
          </a:p>
        </p:txBody>
      </p:sp>
      <p:sp>
        <p:nvSpPr>
          <p:cNvPr id="19" name="先完成對應 view 再加入路由， 避免匯入時找不到函式。 完成版範例已包含全部函式。">
            <a:extLst xmlns:a="http://schemas.openxmlformats.org/drawingml/2006/main">
              <a:ext uri="{FF2B5EF4-FFF2-40B4-BE49-F238E27FC236}">
                <a16:creationId xmlns:a16="http://schemas.microsoft.com/office/drawing/2014/main" id="{9EF809CA-D475-4E20-8A2F-C6D3E847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Define views before adding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routes that reference them.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The complete ZIP has them all.</a:t>
            </a:r>
          </a:p>
        </p:txBody>
      </p:sp>
      <p:sp>
        <p:nvSpPr>
          <p:cNvPr id="20" name="列表：/products/　新增：/products/new/　單筆：/products/1/">
            <a:extLst xmlns:a="http://schemas.openxmlformats.org/drawingml/2006/main">
              <a:ext uri="{FF2B5EF4-FFF2-40B4-BE49-F238E27FC236}">
                <a16:creationId xmlns:a16="http://schemas.microsoft.com/office/drawing/2014/main" id="{1A3846E4-3F70-4224-A0E3-71B96DB1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List: /products/    Create: /products/new/    Detail: /products/1/</a:t>
            </a:r>
          </a:p>
        </p:txBody>
      </p:sp>
    </p:spTree>
    <p:extLst>
      <p:ext uri="{BB962C8B-B14F-4D97-AF65-F5344CB8AC3E}">
        <p14:creationId xmlns:p14="http://schemas.microsoft.com/office/powerpoint/2010/main" val="164487193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詳細頁與找不到資料的處理">
            <a:extLst xmlns:a="http://schemas.openxmlformats.org/drawingml/2006/main">
              <a:ext uri="{FF2B5EF4-FFF2-40B4-BE49-F238E27FC236}">
                <a16:creationId xmlns:a16="http://schemas.microsoft.com/office/drawing/2014/main" id="{9DDCD221-C6AA-41BE-A986-D91B57CD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Product details and missing records</a:t>
            </a:r>
          </a:p>
        </p:txBody>
      </p:sp>
      <p:sp>
        <p:nvSpPr>
          <p:cNvPr id="2" name="catalog/views.py 加入 product_detail">
            <a:extLst xmlns:a="http://schemas.openxmlformats.org/drawingml/2006/main">
              <a:ext uri="{FF2B5EF4-FFF2-40B4-BE49-F238E27FC236}">
                <a16:creationId xmlns:a16="http://schemas.microsoft.com/office/drawing/2014/main" id="{3CECB042-5291-4ABE-922D-0D3BF75C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Add product_detail to catalog/views.py</a:t>
            </a:r>
          </a:p>
        </p:txBody>
      </p:sp>
      <p:sp>
        <p:nvSpPr>
          <p:cNvPr id="3" name="37">
            <a:extLst xmlns:a="http://schemas.openxmlformats.org/drawingml/2006/main">
              <a:ext uri="{FF2B5EF4-FFF2-40B4-BE49-F238E27FC236}">
                <a16:creationId xmlns:a16="http://schemas.microsoft.com/office/drawing/2014/main" id="{92FE850F-5ABC-4564-B574-8BFC5D36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4" name="from django.shortcuts import get_object_or_404">
            <a:extLst xmlns:a="http://schemas.openxmlformats.org/drawingml/2006/main">
              <a:ext uri="{FF2B5EF4-FFF2-40B4-BE49-F238E27FC236}">
                <a16:creationId xmlns:a16="http://schemas.microsoft.com/office/drawing/2014/main" id="{9F69A557-4FA3-48FA-8B41-1771623D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django.shortcuts import get_object_or_404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831B3-1342-473B-8711-241AE832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 product_detail(request, pk):">
            <a:extLst xmlns:a="http://schemas.openxmlformats.org/drawingml/2006/main">
              <a:ext uri="{FF2B5EF4-FFF2-40B4-BE49-F238E27FC236}">
                <a16:creationId xmlns:a16="http://schemas.microsoft.com/office/drawing/2014/main" id="{A078D05D-A49F-424E-9481-F2A362F9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product_detail(request, pk):</a:t>
            </a:r>
          </a:p>
        </p:txBody>
      </p:sp>
      <p:sp>
        <p:nvSpPr>
          <p:cNvPr id="7" name="    product = get_object_or_404(Product, pk=pk)">
            <a:extLst xmlns:a="http://schemas.openxmlformats.org/drawingml/2006/main">
              <a:ext uri="{FF2B5EF4-FFF2-40B4-BE49-F238E27FC236}">
                <a16:creationId xmlns:a16="http://schemas.microsoft.com/office/drawing/2014/main" id="{6D65112F-FD3A-4BD9-830E-E61FD809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product = get_object_or_404(Product, pk=pk)</a:t>
            </a:r>
          </a:p>
        </p:txBody>
      </p:sp>
      <p:sp>
        <p:nvSpPr>
          <p:cNvPr id="8" name="    return render(request,">
            <a:extLst xmlns:a="http://schemas.openxmlformats.org/drawingml/2006/main">
              <a:ext uri="{FF2B5EF4-FFF2-40B4-BE49-F238E27FC236}">
                <a16:creationId xmlns:a16="http://schemas.microsoft.com/office/drawing/2014/main" id="{4D708C50-39F4-4056-9D8B-2F751C6C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render(request,</a:t>
            </a:r>
          </a:p>
        </p:txBody>
      </p:sp>
      <p:sp>
        <p:nvSpPr>
          <p:cNvPr id="9" name="        &quot;catalog/product_detail.html&quot;,">
            <a:extLst xmlns:a="http://schemas.openxmlformats.org/drawingml/2006/main">
              <a:ext uri="{FF2B5EF4-FFF2-40B4-BE49-F238E27FC236}">
                <a16:creationId xmlns:a16="http://schemas.microsoft.com/office/drawing/2014/main" id="{45E00887-3C0D-41B6-A46B-301CE8F7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"catalog/product_detail.html",</a:t>
            </a:r>
          </a:p>
        </p:txBody>
      </p:sp>
      <p:sp>
        <p:nvSpPr>
          <p:cNvPr id="10" name="        {&quot;product&quot;: product})">
            <a:extLst xmlns:a="http://schemas.openxmlformats.org/drawingml/2006/main">
              <a:ext uri="{FF2B5EF4-FFF2-40B4-BE49-F238E27FC236}">
                <a16:creationId xmlns:a16="http://schemas.microsoft.com/office/drawing/2014/main" id="{8DA8D689-1917-4F09-B8B0-772BE268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{"product": product})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FB473-B2AF-4358-9A9C-1895BF7D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# product_detail.html 的核心內容">
            <a:extLst xmlns:a="http://schemas.openxmlformats.org/drawingml/2006/main">
              <a:ext uri="{FF2B5EF4-FFF2-40B4-BE49-F238E27FC236}">
                <a16:creationId xmlns:a16="http://schemas.microsoft.com/office/drawing/2014/main" id="{0B21756B-608A-4E2F-BCBA-5B1C64CF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# Core content of product_detail.html</a:t>
            </a:r>
          </a:p>
        </p:txBody>
      </p:sp>
      <p:sp>
        <p:nvSpPr>
          <p:cNvPr id="13" name="&lt;h1&gt;{{ product.name }}&lt;/h1&gt;">
            <a:extLst xmlns:a="http://schemas.openxmlformats.org/drawingml/2006/main">
              <a:ext uri="{FF2B5EF4-FFF2-40B4-BE49-F238E27FC236}">
                <a16:creationId xmlns:a16="http://schemas.microsoft.com/office/drawing/2014/main" id="{D0B4C0FC-B435-4934-9951-D9AD96C4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&lt;h1&gt;{{ product.name }}&lt;/h1&gt;</a:t>
            </a:r>
          </a:p>
        </p:txBody>
      </p:sp>
      <p:sp>
        <p:nvSpPr>
          <p:cNvPr id="14" name="&lt;p&gt;價格：{{ product.price }}&lt;/p&gt;">
            <a:extLst xmlns:a="http://schemas.openxmlformats.org/drawingml/2006/main">
              <a:ext uri="{FF2B5EF4-FFF2-40B4-BE49-F238E27FC236}">
                <a16:creationId xmlns:a16="http://schemas.microsoft.com/office/drawing/2014/main" id="{62F1F57D-24EA-4243-8FF2-8E2CD327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&lt;p&gt;Price：{{ product.price }}&lt;/p&gt;</a:t>
            </a:r>
          </a:p>
        </p:txBody>
      </p:sp>
      <p:sp>
        <p:nvSpPr>
          <p:cNvPr id="15" name="&lt;p&gt;庫存：{{ product.stock }}&lt;/p&gt;">
            <a:extLst xmlns:a="http://schemas.openxmlformats.org/drawingml/2006/main">
              <a:ext uri="{FF2B5EF4-FFF2-40B4-BE49-F238E27FC236}">
                <a16:creationId xmlns:a16="http://schemas.microsoft.com/office/drawing/2014/main" id="{072CD51C-95B6-4E0D-9AAA-6E096243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&lt;p&gt;Stock：{{ product.stock }}&lt;/p&gt;</a:t>
            </a:r>
          </a:p>
        </p:txBody>
      </p:sp>
      <p:sp>
        <p:nvSpPr>
          <p:cNvPr id="16" name="取得單筆">
            <a:extLst xmlns:a="http://schemas.openxmlformats.org/drawingml/2006/main">
              <a:ext uri="{FF2B5EF4-FFF2-40B4-BE49-F238E27FC236}">
                <a16:creationId xmlns:a16="http://schemas.microsoft.com/office/drawing/2014/main" id="{C334FEEF-DC71-421B-8278-18FAA7BB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One product</a:t>
            </a:r>
          </a:p>
        </p:txBody>
      </p:sp>
      <p:sp>
        <p:nvSpPr>
          <p:cNvPr id="17" name="找到商品就回傳物件， 找不到則產生 404 回應。">
            <a:extLst xmlns:a="http://schemas.openxmlformats.org/drawingml/2006/main">
              <a:ext uri="{FF2B5EF4-FFF2-40B4-BE49-F238E27FC236}">
                <a16:creationId xmlns:a16="http://schemas.microsoft.com/office/drawing/2014/main" id="{C5703838-5637-4ECB-9699-6E34DC10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Returns the matching product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or produces a 404 response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when no record exists.</a:t>
            </a:r>
          </a:p>
        </p:txBody>
      </p:sp>
      <p:sp>
        <p:nvSpPr>
          <p:cNvPr id="18" name="模板連結">
            <a:extLst xmlns:a="http://schemas.openxmlformats.org/drawingml/2006/main">
              <a:ext uri="{FF2B5EF4-FFF2-40B4-BE49-F238E27FC236}">
                <a16:creationId xmlns:a16="http://schemas.microsoft.com/office/drawing/2014/main" id="{5AAF3265-AFF4-441B-807A-4A936F65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Template links</a:t>
            </a:r>
          </a:p>
        </p:txBody>
      </p:sp>
      <p:sp>
        <p:nvSpPr>
          <p:cNvPr id="19" name="以路由名稱與商品 pk 產生詳細頁網址， 避免手寫固定 URL。">
            <a:extLst xmlns:a="http://schemas.openxmlformats.org/drawingml/2006/main">
              <a:ext uri="{FF2B5EF4-FFF2-40B4-BE49-F238E27FC236}">
                <a16:creationId xmlns:a16="http://schemas.microsoft.com/office/drawing/2014/main" id="{E87C49D0-F209-47A1-8AB0-A8BD780D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Use a route name and pk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to build the detail URL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instead of hard-coding it.</a:t>
            </a:r>
          </a:p>
        </p:txBody>
      </p:sp>
      <p:sp>
        <p:nvSpPr>
          <p:cNvPr id="20" name="模板連結：{% url 'catalog:product_detail' product.pk %}">
            <a:extLst xmlns:a="http://schemas.openxmlformats.org/drawingml/2006/main">
              <a:ext uri="{FF2B5EF4-FFF2-40B4-BE49-F238E27FC236}">
                <a16:creationId xmlns:a16="http://schemas.microsoft.com/office/drawing/2014/main" id="{44A1237E-6C22-488C-80C0-B6196C2E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Template link: {% url 'catalog:product_detail' product.pk %}</a:t>
            </a:r>
          </a:p>
        </p:txBody>
      </p:sp>
    </p:spTree>
    <p:extLst>
      <p:ext uri="{BB962C8B-B14F-4D97-AF65-F5344CB8AC3E}">
        <p14:creationId xmlns:p14="http://schemas.microsoft.com/office/powerpoint/2010/main" val="64756385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forms.py：輸入與資料驗證">
            <a:extLst xmlns:a="http://schemas.openxmlformats.org/drawingml/2006/main">
              <a:ext uri="{FF2B5EF4-FFF2-40B4-BE49-F238E27FC236}">
                <a16:creationId xmlns:a16="http://schemas.microsoft.com/office/drawing/2014/main" id="{D676383D-5DDC-4A17-8483-1B86E6BD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forms.py: input and validation</a:t>
            </a:r>
          </a:p>
        </p:txBody>
      </p:sp>
      <p:sp>
        <p:nvSpPr>
          <p:cNvPr id="2" name="catalog/forms.py 是自行新增的檔案">
            <a:extLst xmlns:a="http://schemas.openxmlformats.org/drawingml/2006/main">
              <a:ext uri="{FF2B5EF4-FFF2-40B4-BE49-F238E27FC236}">
                <a16:creationId xmlns:a16="http://schemas.microsoft.com/office/drawing/2014/main" id="{03C16CB8-3529-44F7-8C0A-F088209D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Create catalog/forms.py yourself</a:t>
            </a:r>
          </a:p>
        </p:txBody>
      </p:sp>
      <p:sp>
        <p:nvSpPr>
          <p:cNvPr id="3" name="38">
            <a:extLst xmlns:a="http://schemas.openxmlformats.org/drawingml/2006/main">
              <a:ext uri="{FF2B5EF4-FFF2-40B4-BE49-F238E27FC236}">
                <a16:creationId xmlns:a16="http://schemas.microsoft.com/office/drawing/2014/main" id="{D9D3AD31-5017-47EE-9397-E127039D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4" name="from django import forms">
            <a:extLst xmlns:a="http://schemas.openxmlformats.org/drawingml/2006/main">
              <a:ext uri="{FF2B5EF4-FFF2-40B4-BE49-F238E27FC236}">
                <a16:creationId xmlns:a16="http://schemas.microsoft.com/office/drawing/2014/main" id="{B5358070-76F7-4665-85CA-9DEF84D4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 import forms</a:t>
            </a:r>
          </a:p>
        </p:txBody>
      </p:sp>
      <p:sp>
        <p:nvSpPr>
          <p:cNvPr id="5" name="from .models import Product">
            <a:extLst xmlns:a="http://schemas.openxmlformats.org/drawingml/2006/main">
              <a:ext uri="{FF2B5EF4-FFF2-40B4-BE49-F238E27FC236}">
                <a16:creationId xmlns:a16="http://schemas.microsoft.com/office/drawing/2014/main" id="{BAAC9DD9-BA70-4EE4-B908-954B2BB5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.models import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5887A-6C8E-4E75-8491-869B8742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class ProductForm(forms.ModelForm):">
            <a:extLst xmlns:a="http://schemas.openxmlformats.org/drawingml/2006/main">
              <a:ext uri="{FF2B5EF4-FFF2-40B4-BE49-F238E27FC236}">
                <a16:creationId xmlns:a16="http://schemas.microsoft.com/office/drawing/2014/main" id="{4E12A483-9DEB-4A41-B80E-F50F2691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ProductForm(forms.ModelForm):</a:t>
            </a:r>
          </a:p>
        </p:txBody>
      </p:sp>
      <p:sp>
        <p:nvSpPr>
          <p:cNvPr id="8" name="    class Meta:">
            <a:extLst xmlns:a="http://schemas.openxmlformats.org/drawingml/2006/main">
              <a:ext uri="{FF2B5EF4-FFF2-40B4-BE49-F238E27FC236}">
                <a16:creationId xmlns:a16="http://schemas.microsoft.com/office/drawing/2014/main" id="{1F3585F8-41FA-48F5-B03F-8C415733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class Meta:</a:t>
            </a:r>
          </a:p>
        </p:txBody>
      </p:sp>
      <p:sp>
        <p:nvSpPr>
          <p:cNvPr id="9" name="        model = Product">
            <a:extLst xmlns:a="http://schemas.openxmlformats.org/drawingml/2006/main">
              <a:ext uri="{FF2B5EF4-FFF2-40B4-BE49-F238E27FC236}">
                <a16:creationId xmlns:a16="http://schemas.microsoft.com/office/drawing/2014/main" id="{5854E12A-9B5E-4868-97EF-0C6ADB8A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model = Product</a:t>
            </a:r>
          </a:p>
        </p:txBody>
      </p:sp>
      <p:sp>
        <p:nvSpPr>
          <p:cNvPr id="10" name="        fields = [&quot;name&quot;, &quot;price&quot;, &quot;stock&quot;]">
            <a:extLst xmlns:a="http://schemas.openxmlformats.org/drawingml/2006/main">
              <a:ext uri="{FF2B5EF4-FFF2-40B4-BE49-F238E27FC236}">
                <a16:creationId xmlns:a16="http://schemas.microsoft.com/office/drawing/2014/main" id="{7AB5D3B8-F924-4EE2-BD29-C0BFABF3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fields = ["name", "price", "stock"]</a:t>
            </a:r>
          </a:p>
        </p:txBody>
      </p:sp>
      <p:sp>
        <p:nvSpPr>
          <p:cNvPr id="11" name="        labels = {">
            <a:extLst xmlns:a="http://schemas.openxmlformats.org/drawingml/2006/main">
              <a:ext uri="{FF2B5EF4-FFF2-40B4-BE49-F238E27FC236}">
                <a16:creationId xmlns:a16="http://schemas.microsoft.com/office/drawing/2014/main" id="{C6DEE89B-E7A2-461F-99B3-8008BEAB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labels = {</a:t>
            </a:r>
          </a:p>
        </p:txBody>
      </p:sp>
      <p:sp>
        <p:nvSpPr>
          <p:cNvPr id="12" name="            &quot;name&quot;: &quot;商品名稱&quot;,">
            <a:extLst xmlns:a="http://schemas.openxmlformats.org/drawingml/2006/main">
              <a:ext uri="{FF2B5EF4-FFF2-40B4-BE49-F238E27FC236}">
                <a16:creationId xmlns:a16="http://schemas.microsoft.com/office/drawing/2014/main" id="{DF97E7AE-F8FB-49A0-B2F4-43BB2DA7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"name": "Product name",</a:t>
            </a:r>
          </a:p>
        </p:txBody>
      </p:sp>
      <p:sp>
        <p:nvSpPr>
          <p:cNvPr id="13" name="            &quot;price&quot;: &quot;價格&quot;,">
            <a:extLst xmlns:a="http://schemas.openxmlformats.org/drawingml/2006/main">
              <a:ext uri="{FF2B5EF4-FFF2-40B4-BE49-F238E27FC236}">
                <a16:creationId xmlns:a16="http://schemas.microsoft.com/office/drawing/2014/main" id="{5BE45204-D630-4EFC-BE3B-ABEF3C4C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"price": "Price",</a:t>
            </a:r>
          </a:p>
        </p:txBody>
      </p:sp>
      <p:sp>
        <p:nvSpPr>
          <p:cNvPr id="14" name="            &quot;stock&quot;: &quot;庫存&quot;,">
            <a:extLst xmlns:a="http://schemas.openxmlformats.org/drawingml/2006/main">
              <a:ext uri="{FF2B5EF4-FFF2-40B4-BE49-F238E27FC236}">
                <a16:creationId xmlns:a16="http://schemas.microsoft.com/office/drawing/2014/main" id="{A5BE1A8A-98A8-4F90-B9A1-44B565CB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"stock": "Stock",</a:t>
            </a:r>
          </a:p>
        </p:txBody>
      </p:sp>
      <p:sp>
        <p:nvSpPr>
          <p:cNvPr id="15" name="        }">
            <a:extLst xmlns:a="http://schemas.openxmlformats.org/drawingml/2006/main">
              <a:ext uri="{FF2B5EF4-FFF2-40B4-BE49-F238E27FC236}">
                <a16:creationId xmlns:a16="http://schemas.microsoft.com/office/drawing/2014/main" id="{B3E48BEE-21C3-431A-B42E-0E1D0198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16" name="ModelForm">
            <a:extLst xmlns:a="http://schemas.openxmlformats.org/drawingml/2006/main">
              <a:ext uri="{FF2B5EF4-FFF2-40B4-BE49-F238E27FC236}">
                <a16:creationId xmlns:a16="http://schemas.microsoft.com/office/drawing/2014/main" id="{A25FCC8B-998D-4790-80D4-63CFBEE7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ModelForm</a:t>
            </a:r>
          </a:p>
        </p:txBody>
      </p:sp>
      <p:sp>
        <p:nvSpPr>
          <p:cNvPr id="17" name="依模型建立表單欄位， 把字串輸入轉成適當型別， 並執行相關驗證。">
            <a:extLst xmlns:a="http://schemas.openxmlformats.org/drawingml/2006/main">
              <a:ext uri="{FF2B5EF4-FFF2-40B4-BE49-F238E27FC236}">
                <a16:creationId xmlns:a16="http://schemas.microsoft.com/office/drawing/2014/main" id="{67136034-3E2A-427E-99EA-3C814E4C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Builds fields from the model,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converts input strings and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performs related validation.</a:t>
            </a:r>
          </a:p>
        </p:txBody>
      </p:sp>
      <p:sp>
        <p:nvSpPr>
          <p:cNvPr id="18" name="明確選擇欄位">
            <a:extLst xmlns:a="http://schemas.openxmlformats.org/drawingml/2006/main">
              <a:ext uri="{FF2B5EF4-FFF2-40B4-BE49-F238E27FC236}">
                <a16:creationId xmlns:a16="http://schemas.microsoft.com/office/drawing/2014/main" id="{992DA543-DBEF-4090-AECA-FE066A1A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Explicit fields</a:t>
            </a:r>
          </a:p>
        </p:txBody>
      </p:sp>
      <p:sp>
        <p:nvSpPr>
          <p:cNvPr id="19" name="fields 指定允許使用者 提交的欄位，避免不必要的 資料暴露在表單中。">
            <a:extLst xmlns:a="http://schemas.openxmlformats.org/drawingml/2006/main">
              <a:ext uri="{FF2B5EF4-FFF2-40B4-BE49-F238E27FC236}">
                <a16:creationId xmlns:a16="http://schemas.microsoft.com/office/drawing/2014/main" id="{E8D32515-1651-4618-8C38-D33BABA6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fields lists the inputs that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users may submit and avoids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exposing unintended data.</a:t>
            </a:r>
          </a:p>
        </p:txBody>
      </p:sp>
      <p:sp>
        <p:nvSpPr>
          <p:cNvPr id="20" name="表單物件本身不是 HTML 檔案；HTML 由模板負責呈現。">
            <a:extLst xmlns:a="http://schemas.openxmlformats.org/drawingml/2006/main">
              <a:ext uri="{FF2B5EF4-FFF2-40B4-BE49-F238E27FC236}">
                <a16:creationId xmlns:a16="http://schemas.microsoft.com/office/drawing/2014/main" id="{C5847C40-B31B-4912-8210-72D939CD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A form object defines fields and validation. A template renders the HTML.</a:t>
            </a:r>
          </a:p>
        </p:txBody>
      </p:sp>
    </p:spTree>
    <p:extLst>
      <p:ext uri="{BB962C8B-B14F-4D97-AF65-F5344CB8AC3E}">
        <p14:creationId xmlns:p14="http://schemas.microsoft.com/office/powerpoint/2010/main" val="179963580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新增商品的 View">
            <a:extLst xmlns:a="http://schemas.openxmlformats.org/drawingml/2006/main">
              <a:ext uri="{FF2B5EF4-FFF2-40B4-BE49-F238E27FC236}">
                <a16:creationId xmlns:a16="http://schemas.microsoft.com/office/drawing/2014/main" id="{2F7E41CB-E6EF-449A-84B5-D0113420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The product creation view</a:t>
            </a:r>
          </a:p>
        </p:txBody>
      </p:sp>
      <p:sp>
        <p:nvSpPr>
          <p:cNvPr id="2" name="catalog/views.py：依 GET 與 POST 處理">
            <a:extLst xmlns:a="http://schemas.openxmlformats.org/drawingml/2006/main">
              <a:ext uri="{FF2B5EF4-FFF2-40B4-BE49-F238E27FC236}">
                <a16:creationId xmlns:a16="http://schemas.microsoft.com/office/drawing/2014/main" id="{368B4413-83C0-4CE2-ADAD-B69D98F2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catalog/views.py: handling GET and POST</a:t>
            </a:r>
          </a:p>
        </p:txBody>
      </p:sp>
      <p:sp>
        <p:nvSpPr>
          <p:cNvPr id="3" name="39">
            <a:extLst xmlns:a="http://schemas.openxmlformats.org/drawingml/2006/main">
              <a:ext uri="{FF2B5EF4-FFF2-40B4-BE49-F238E27FC236}">
                <a16:creationId xmlns:a16="http://schemas.microsoft.com/office/drawing/2014/main" id="{C51E1888-257D-4357-A45D-FB57543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4" name="@require_http_methods([&quot;GET&quot;, &quot;POST&quot;])">
            <a:extLst xmlns:a="http://schemas.openxmlformats.org/drawingml/2006/main">
              <a:ext uri="{FF2B5EF4-FFF2-40B4-BE49-F238E27FC236}">
                <a16:creationId xmlns:a16="http://schemas.microsoft.com/office/drawing/2014/main" id="{586399F4-A367-4036-AA3C-4D445150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@require_http_methods(["GET", "POST"])</a:t>
            </a:r>
          </a:p>
        </p:txBody>
      </p:sp>
      <p:sp>
        <p:nvSpPr>
          <p:cNvPr id="5" name="def product_create(request):">
            <a:extLst xmlns:a="http://schemas.openxmlformats.org/drawingml/2006/main">
              <a:ext uri="{FF2B5EF4-FFF2-40B4-BE49-F238E27FC236}">
                <a16:creationId xmlns:a16="http://schemas.microsoft.com/office/drawing/2014/main" id="{4827DE66-3CCC-4273-A99B-44096DB3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product_create(request):</a:t>
            </a:r>
          </a:p>
        </p:txBody>
      </p:sp>
      <p:sp>
        <p:nvSpPr>
          <p:cNvPr id="6" name="    if request.method == &quot;POST&quot;:">
            <a:extLst xmlns:a="http://schemas.openxmlformats.org/drawingml/2006/main">
              <a:ext uri="{FF2B5EF4-FFF2-40B4-BE49-F238E27FC236}">
                <a16:creationId xmlns:a16="http://schemas.microsoft.com/office/drawing/2014/main" id="{0FC015AD-795B-4CB4-81EB-0FB6890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if request.method == "POST":</a:t>
            </a:r>
          </a:p>
        </p:txBody>
      </p:sp>
      <p:sp>
        <p:nvSpPr>
          <p:cNvPr id="7" name="        form = ProductForm(request.POST)">
            <a:extLst xmlns:a="http://schemas.openxmlformats.org/drawingml/2006/main">
              <a:ext uri="{FF2B5EF4-FFF2-40B4-BE49-F238E27FC236}">
                <a16:creationId xmlns:a16="http://schemas.microsoft.com/office/drawing/2014/main" id="{8F28166C-DE02-45C3-B87A-2B98AB69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form = ProductForm(request.POST)</a:t>
            </a:r>
          </a:p>
        </p:txBody>
      </p:sp>
      <p:sp>
        <p:nvSpPr>
          <p:cNvPr id="8" name="        if form.is_valid():">
            <a:extLst xmlns:a="http://schemas.openxmlformats.org/drawingml/2006/main">
              <a:ext uri="{FF2B5EF4-FFF2-40B4-BE49-F238E27FC236}">
                <a16:creationId xmlns:a16="http://schemas.microsoft.com/office/drawing/2014/main" id="{A9680A21-0997-417B-8CC9-7478257C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form.is_valid():</a:t>
            </a:r>
          </a:p>
        </p:txBody>
      </p:sp>
      <p:sp>
        <p:nvSpPr>
          <p:cNvPr id="9" name="            form.save()">
            <a:extLst xmlns:a="http://schemas.openxmlformats.org/drawingml/2006/main">
              <a:ext uri="{FF2B5EF4-FFF2-40B4-BE49-F238E27FC236}">
                <a16:creationId xmlns:a16="http://schemas.microsoft.com/office/drawing/2014/main" id="{7E7A3109-1449-4DE3-8B5D-7F5A398B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form.save()</a:t>
            </a:r>
          </a:p>
        </p:txBody>
      </p:sp>
      <p:sp>
        <p:nvSpPr>
          <p:cNvPr id="10" name="            return redirect(&quot;catalog:product_list&quot;)">
            <a:extLst xmlns:a="http://schemas.openxmlformats.org/drawingml/2006/main">
              <a:ext uri="{FF2B5EF4-FFF2-40B4-BE49-F238E27FC236}">
                <a16:creationId xmlns:a16="http://schemas.microsoft.com/office/drawing/2014/main" id="{C3702903-219D-4D15-BFA8-919AB5B7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return redirect("catalog:product_list")</a:t>
            </a:r>
          </a:p>
        </p:txBody>
      </p:sp>
      <p:sp>
        <p:nvSpPr>
          <p:cNvPr id="11" name="    else:">
            <a:extLst xmlns:a="http://schemas.openxmlformats.org/drawingml/2006/main">
              <a:ext uri="{FF2B5EF4-FFF2-40B4-BE49-F238E27FC236}">
                <a16:creationId xmlns:a16="http://schemas.microsoft.com/office/drawing/2014/main" id="{A427723F-E56B-45BB-9084-7F3488AA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else:</a:t>
            </a:r>
          </a:p>
        </p:txBody>
      </p:sp>
      <p:sp>
        <p:nvSpPr>
          <p:cNvPr id="12" name="        form = ProductForm()">
            <a:extLst xmlns:a="http://schemas.openxmlformats.org/drawingml/2006/main">
              <a:ext uri="{FF2B5EF4-FFF2-40B4-BE49-F238E27FC236}">
                <a16:creationId xmlns:a16="http://schemas.microsoft.com/office/drawing/2014/main" id="{E604446E-B095-477D-B384-69CE997E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form = ProductForm()</a:t>
            </a:r>
          </a:p>
        </p:txBody>
      </p:sp>
      <p:sp>
        <p:nvSpPr>
          <p:cNvPr id="13" name="    return render(request,">
            <a:extLst xmlns:a="http://schemas.openxmlformats.org/drawingml/2006/main">
              <a:ext uri="{FF2B5EF4-FFF2-40B4-BE49-F238E27FC236}">
                <a16:creationId xmlns:a16="http://schemas.microsoft.com/office/drawing/2014/main" id="{A36BF401-3EBD-48C3-B6BE-E515EFB6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render(request,</a:t>
            </a:r>
          </a:p>
        </p:txBody>
      </p:sp>
      <p:sp>
        <p:nvSpPr>
          <p:cNvPr id="14" name="        &quot;catalog/product_form.html&quot;,">
            <a:extLst xmlns:a="http://schemas.openxmlformats.org/drawingml/2006/main">
              <a:ext uri="{FF2B5EF4-FFF2-40B4-BE49-F238E27FC236}">
                <a16:creationId xmlns:a16="http://schemas.microsoft.com/office/drawing/2014/main" id="{8511BC03-51FE-4399-B64B-E8466574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"catalog/product_form.html",</a:t>
            </a:r>
          </a:p>
        </p:txBody>
      </p:sp>
      <p:sp>
        <p:nvSpPr>
          <p:cNvPr id="15" name="        {&quot;form&quot;: form})">
            <a:extLst xmlns:a="http://schemas.openxmlformats.org/drawingml/2006/main">
              <a:ext uri="{FF2B5EF4-FFF2-40B4-BE49-F238E27FC236}">
                <a16:creationId xmlns:a16="http://schemas.microsoft.com/office/drawing/2014/main" id="{A315F6B8-4502-42C4-9D0A-E239BCC1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{"form": form})</a:t>
            </a:r>
          </a:p>
        </p:txBody>
      </p:sp>
      <p:sp>
        <p:nvSpPr>
          <p:cNvPr id="16" name="GET">
            <a:extLst xmlns:a="http://schemas.openxmlformats.org/drawingml/2006/main">
              <a:ext uri="{FF2B5EF4-FFF2-40B4-BE49-F238E27FC236}">
                <a16:creationId xmlns:a16="http://schemas.microsoft.com/office/drawing/2014/main" id="{B3F9F21D-8EA1-4B7C-9BDE-9FB45290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GET</a:t>
            </a:r>
          </a:p>
        </p:txBody>
      </p:sp>
      <p:sp>
        <p:nvSpPr>
          <p:cNvPr id="17" name="建立空表單，顯示輸入頁。">
            <a:extLst xmlns:a="http://schemas.openxmlformats.org/drawingml/2006/main">
              <a:ext uri="{FF2B5EF4-FFF2-40B4-BE49-F238E27FC236}">
                <a16:creationId xmlns:a16="http://schemas.microsoft.com/office/drawing/2014/main" id="{8032E71A-ADEE-4FA9-8722-4B479BD2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Creates an empty form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and displays the input page.</a:t>
            </a:r>
          </a:p>
        </p:txBody>
      </p:sp>
      <p:sp>
        <p:nvSpPr>
          <p:cNvPr id="18" name="POST">
            <a:extLst xmlns:a="http://schemas.openxmlformats.org/drawingml/2006/main">
              <a:ext uri="{FF2B5EF4-FFF2-40B4-BE49-F238E27FC236}">
                <a16:creationId xmlns:a16="http://schemas.microsoft.com/office/drawing/2014/main" id="{79A04000-8607-4526-9ECB-F9CA223E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19" name="把輸入交給表單驗證。 成功後儲存並重新導向； 失敗則顯示同一表單的錯誤。">
            <a:extLst xmlns:a="http://schemas.openxmlformats.org/drawingml/2006/main">
              <a:ext uri="{FF2B5EF4-FFF2-40B4-BE49-F238E27FC236}">
                <a16:creationId xmlns:a16="http://schemas.microsoft.com/office/drawing/2014/main" id="{26DD1D6B-AB03-4343-9628-F23D4045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Validates input. Success saves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and redirects to the list.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Invalid input shows errors.</a:t>
            </a:r>
          </a:p>
        </p:txBody>
      </p:sp>
      <p:sp>
        <p:nvSpPr>
          <p:cNvPr id="20" name="所需匯入：ProductForm、render、redirect、require_http_methods，完整檔案已提供。">
            <a:extLst xmlns:a="http://schemas.openxmlformats.org/drawingml/2006/main">
              <a:ext uri="{FF2B5EF4-FFF2-40B4-BE49-F238E27FC236}">
                <a16:creationId xmlns:a16="http://schemas.microsoft.com/office/drawing/2014/main" id="{2D350E01-7273-46A2-B92C-3B768D9A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Imports: ProductForm, render, redirect and require_http_methods. See the complete source.</a:t>
            </a:r>
          </a:p>
        </p:txBody>
      </p:sp>
    </p:spTree>
    <p:extLst>
      <p:ext uri="{BB962C8B-B14F-4D97-AF65-F5344CB8AC3E}">
        <p14:creationId xmlns:p14="http://schemas.microsoft.com/office/powerpoint/2010/main" val="120185525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roduct_form.html：提交表單">
            <a:extLst xmlns:a="http://schemas.openxmlformats.org/drawingml/2006/main">
              <a:ext uri="{FF2B5EF4-FFF2-40B4-BE49-F238E27FC236}">
                <a16:creationId xmlns:a16="http://schemas.microsoft.com/office/drawing/2014/main" id="{3437AB88-E736-4BDF-AD1B-54ED08FA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product_form.html: submitting data</a:t>
            </a:r>
          </a:p>
        </p:txBody>
      </p:sp>
      <p:sp>
        <p:nvSpPr>
          <p:cNvPr id="2" name="catalog/templates/catalog/product_form.html">
            <a:extLst xmlns:a="http://schemas.openxmlformats.org/drawingml/2006/main">
              <a:ext uri="{FF2B5EF4-FFF2-40B4-BE49-F238E27FC236}">
                <a16:creationId xmlns:a16="http://schemas.microsoft.com/office/drawing/2014/main" id="{2407D914-163A-4178-8BE6-DF5B7F48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catalog/templates/catalog/product_form.html</a:t>
            </a:r>
          </a:p>
        </p:txBody>
      </p:sp>
      <p:sp>
        <p:nvSpPr>
          <p:cNvPr id="3" name="40">
            <a:extLst xmlns:a="http://schemas.openxmlformats.org/drawingml/2006/main">
              <a:ext uri="{FF2B5EF4-FFF2-40B4-BE49-F238E27FC236}">
                <a16:creationId xmlns:a16="http://schemas.microsoft.com/office/drawing/2014/main" id="{FBEF0009-8A9D-4FFA-91C4-567DA6E5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" name="{% extends &quot;catalog/base.html&quot; %}">
            <a:extLst xmlns:a="http://schemas.openxmlformats.org/drawingml/2006/main">
              <a:ext uri="{FF2B5EF4-FFF2-40B4-BE49-F238E27FC236}">
                <a16:creationId xmlns:a16="http://schemas.microsoft.com/office/drawing/2014/main" id="{547750D9-CBF1-45FE-A053-8EBB88F0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extends "catalog/base.html" %}</a:t>
            </a:r>
          </a:p>
        </p:txBody>
      </p:sp>
      <p:sp>
        <p:nvSpPr>
          <p:cNvPr id="5" name="{% block content %}">
            <a:extLst xmlns:a="http://schemas.openxmlformats.org/drawingml/2006/main">
              <a:ext uri="{FF2B5EF4-FFF2-40B4-BE49-F238E27FC236}">
                <a16:creationId xmlns:a16="http://schemas.microsoft.com/office/drawing/2014/main" id="{0AE85C25-4F29-40ED-9D66-34523292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block content %}</a:t>
            </a:r>
          </a:p>
        </p:txBody>
      </p:sp>
      <p:sp>
        <p:nvSpPr>
          <p:cNvPr id="6" name="&lt;h1&gt;新增商品&lt;/h1&gt;">
            <a:extLst xmlns:a="http://schemas.openxmlformats.org/drawingml/2006/main">
              <a:ext uri="{FF2B5EF4-FFF2-40B4-BE49-F238E27FC236}">
                <a16:creationId xmlns:a16="http://schemas.microsoft.com/office/drawing/2014/main" id="{946D7653-B8F4-42E7-86A9-00C98E6F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&lt;h1&gt;Add product&lt;/h1&gt;</a:t>
            </a:r>
          </a:p>
        </p:txBody>
      </p:sp>
      <p:sp>
        <p:nvSpPr>
          <p:cNvPr id="7" name="&lt;form method=&quot;post&quot;&gt;">
            <a:extLst xmlns:a="http://schemas.openxmlformats.org/drawingml/2006/main">
              <a:ext uri="{FF2B5EF4-FFF2-40B4-BE49-F238E27FC236}">
                <a16:creationId xmlns:a16="http://schemas.microsoft.com/office/drawing/2014/main" id="{AD257DD5-807B-494D-84AA-CF4E8E44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&lt;form method="post"&gt;</a:t>
            </a:r>
          </a:p>
        </p:txBody>
      </p:sp>
      <p:sp>
        <p:nvSpPr>
          <p:cNvPr id="8" name="  {% csrf_token %}">
            <a:extLst xmlns:a="http://schemas.openxmlformats.org/drawingml/2006/main">
              <a:ext uri="{FF2B5EF4-FFF2-40B4-BE49-F238E27FC236}">
                <a16:creationId xmlns:a16="http://schemas.microsoft.com/office/drawing/2014/main" id="{828D0078-F0F1-4BA8-AFC3-791CAC9B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{% csrf_token %}</a:t>
            </a:r>
          </a:p>
        </p:txBody>
      </p:sp>
      <p:sp>
        <p:nvSpPr>
          <p:cNvPr id="9" name="  {{ form.as_p }}">
            <a:extLst xmlns:a="http://schemas.openxmlformats.org/drawingml/2006/main">
              <a:ext uri="{FF2B5EF4-FFF2-40B4-BE49-F238E27FC236}">
                <a16:creationId xmlns:a16="http://schemas.microsoft.com/office/drawing/2014/main" id="{25ACC3E8-0946-4D3D-A196-4A66658D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{{ form.as_p }}</a:t>
            </a:r>
          </a:p>
        </p:txBody>
      </p:sp>
      <p:sp>
        <p:nvSpPr>
          <p:cNvPr id="10" name="  &lt;button type=&quot;submit&quot;&gt;儲存商品&lt;/button&gt;">
            <a:extLst xmlns:a="http://schemas.openxmlformats.org/drawingml/2006/main">
              <a:ext uri="{FF2B5EF4-FFF2-40B4-BE49-F238E27FC236}">
                <a16:creationId xmlns:a16="http://schemas.microsoft.com/office/drawing/2014/main" id="{D18C9419-CC41-45DE-B2DC-E242D6B2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&lt;button type="submit"&gt;Save product&lt;/button&gt;</a:t>
            </a:r>
          </a:p>
        </p:txBody>
      </p:sp>
      <p:sp>
        <p:nvSpPr>
          <p:cNvPr id="11" name="&lt;/form&gt;">
            <a:extLst xmlns:a="http://schemas.openxmlformats.org/drawingml/2006/main">
              <a:ext uri="{FF2B5EF4-FFF2-40B4-BE49-F238E27FC236}">
                <a16:creationId xmlns:a16="http://schemas.microsoft.com/office/drawing/2014/main" id="{8611DEEF-2BE8-48EE-92AC-9DD897E0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&lt;/form&gt;</a:t>
            </a:r>
          </a:p>
        </p:txBody>
      </p:sp>
      <p:sp>
        <p:nvSpPr>
          <p:cNvPr id="12" name="{% endblock %}">
            <a:extLst xmlns:a="http://schemas.openxmlformats.org/drawingml/2006/main">
              <a:ext uri="{FF2B5EF4-FFF2-40B4-BE49-F238E27FC236}">
                <a16:creationId xmlns:a16="http://schemas.microsoft.com/office/drawing/2014/main" id="{905CD3C8-E6C3-4DD2-8BBD-3E75780C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{% endblock %}</a:t>
            </a:r>
          </a:p>
        </p:txBody>
      </p:sp>
      <p:sp>
        <p:nvSpPr>
          <p:cNvPr id="13" name="CSRF token">
            <a:extLst xmlns:a="http://schemas.openxmlformats.org/drawingml/2006/main">
              <a:ext uri="{FF2B5EF4-FFF2-40B4-BE49-F238E27FC236}">
                <a16:creationId xmlns:a16="http://schemas.microsoft.com/office/drawing/2014/main" id="{FC029244-514C-449A-996E-C133E45C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CSRF token</a:t>
            </a:r>
          </a:p>
        </p:txBody>
      </p:sp>
      <p:sp>
        <p:nvSpPr>
          <p:cNvPr id="14" name="與預設 CSRF 中介軟體配合， 保護站內 POST 表單。 驗證失敗時不可直接移除它。">
            <a:extLst xmlns:a="http://schemas.openxmlformats.org/drawingml/2006/main">
              <a:ext uri="{FF2B5EF4-FFF2-40B4-BE49-F238E27FC236}">
                <a16:creationId xmlns:a16="http://schemas.microsoft.com/office/drawing/2014/main" id="{0C209289-D4C1-4190-BBE9-B8E3CD9D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Works with CSRF middleware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to protect POST forms. Do not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remove it to bypass errors.</a:t>
            </a:r>
          </a:p>
        </p:txBody>
      </p:sp>
      <p:sp>
        <p:nvSpPr>
          <p:cNvPr id="15" name="form.as_p">
            <a:extLst xmlns:a="http://schemas.openxmlformats.org/drawingml/2006/main">
              <a:ext uri="{FF2B5EF4-FFF2-40B4-BE49-F238E27FC236}">
                <a16:creationId xmlns:a16="http://schemas.microsoft.com/office/drawing/2014/main" id="{C16F6C31-E9FF-4BC1-B32B-B75BFFFE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form.as_p</a:t>
            </a:r>
          </a:p>
        </p:txBody>
      </p:sp>
      <p:sp>
        <p:nvSpPr>
          <p:cNvPr id="16" name="輸出欄位、標籤與錯誤訊息。 使用者看得到驗證結果， 不需自己重寫所有 HTML。">
            <a:extLst xmlns:a="http://schemas.openxmlformats.org/drawingml/2006/main">
              <a:ext uri="{FF2B5EF4-FFF2-40B4-BE49-F238E27FC236}">
                <a16:creationId xmlns:a16="http://schemas.microsoft.com/office/drawing/2014/main" id="{342E4C6D-6021-4F7A-AF35-365457FD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Renders fields, labels and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errors, so users can see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validation results.</a:t>
            </a:r>
          </a:p>
        </p:txBody>
      </p:sp>
      <p:sp>
        <p:nvSpPr>
          <p:cNvPr id="17" name="本機範例允許新增商品；公開網站應另外安排登入、權限與操作規則。">
            <a:extLst xmlns:a="http://schemas.openxmlformats.org/drawingml/2006/main">
              <a:ext uri="{FF2B5EF4-FFF2-40B4-BE49-F238E27FC236}">
                <a16:creationId xmlns:a16="http://schemas.microsoft.com/office/drawing/2014/main" id="{6F894C9A-075B-4BF8-BE6F-F50F2215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The local example allows product creation. Public sites also need authentication and permissions.</a:t>
            </a:r>
          </a:p>
        </p:txBody>
      </p:sp>
    </p:spTree>
    <p:extLst>
      <p:ext uri="{BB962C8B-B14F-4D97-AF65-F5344CB8AC3E}">
        <p14:creationId xmlns:p14="http://schemas.microsoft.com/office/powerpoint/2010/main" val="173434511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完成後的新增商品頁">
            <a:extLst xmlns:a="http://schemas.openxmlformats.org/drawingml/2006/main">
              <a:ext uri="{FF2B5EF4-FFF2-40B4-BE49-F238E27FC236}">
                <a16:creationId xmlns:a16="http://schemas.microsoft.com/office/drawing/2014/main" id="{5E74BDAF-2ECF-46E5-93A5-464F48C9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The completed product form</a:t>
            </a:r>
          </a:p>
        </p:txBody>
      </p:sp>
      <p:sp>
        <p:nvSpPr>
          <p:cNvPr id="2" name="同一個表單連接模型、view 與 template">
            <a:extLst xmlns:a="http://schemas.openxmlformats.org/drawingml/2006/main">
              <a:ext uri="{FF2B5EF4-FFF2-40B4-BE49-F238E27FC236}">
                <a16:creationId xmlns:a16="http://schemas.microsoft.com/office/drawing/2014/main" id="{11311D7D-40EC-4B6D-8A27-43ABD991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One form connects the model, view and template</a:t>
            </a:r>
          </a:p>
        </p:txBody>
      </p:sp>
      <p:sp>
        <p:nvSpPr>
          <p:cNvPr id="3" name="41">
            <a:extLst xmlns:a="http://schemas.openxmlformats.org/drawingml/2006/main">
              <a:ext uri="{FF2B5EF4-FFF2-40B4-BE49-F238E27FC236}">
                <a16:creationId xmlns:a16="http://schemas.microsoft.com/office/drawing/2014/main" id="{BB7386D2-B392-4B40-9D30-D45F809B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6e0291f364b94"/>
          <a:stretch xmlns:a="http://schemas.openxmlformats.org/drawingml/2006/main"/>
        </p:blipFill>
        <p:spPr>
          <a:xfrm xmlns:a="http://schemas.openxmlformats.org/drawingml/2006/main">
            <a:off x="612457" y="1743075"/>
            <a:ext cx="7376160" cy="4610100"/>
          </a:xfrm>
          <a:prstGeom xmlns:a="http://schemas.openxmlformats.org/drawingml/2006/main" prst="rect">
            <a:avLst/>
          </a:prstGeom>
        </p:spPr>
      </p:pic>
      <p:sp>
        <p:nvSpPr>
          <p:cNvPr id="5" name="畫面">
            <a:extLst xmlns:a="http://schemas.openxmlformats.org/drawingml/2006/main">
              <a:ext uri="{FF2B5EF4-FFF2-40B4-BE49-F238E27FC236}">
                <a16:creationId xmlns:a16="http://schemas.microsoft.com/office/drawing/2014/main" id="{4EF66F1F-BA2D-4282-B3F8-3017FCE9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9550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Display</a:t>
            </a:r>
          </a:p>
        </p:txBody>
      </p:sp>
      <p:sp>
        <p:nvSpPr>
          <p:cNvPr id="6" name="product_form.html 顯示表單">
            <a:extLst xmlns:a="http://schemas.openxmlformats.org/drawingml/2006/main">
              <a:ext uri="{FF2B5EF4-FFF2-40B4-BE49-F238E27FC236}">
                <a16:creationId xmlns:a16="http://schemas.microsoft.com/office/drawing/2014/main" id="{5100EEA8-C7B2-4559-AF8A-6EBA2F2A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5270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product_form.html renders the form</a:t>
            </a:r>
          </a:p>
        </p:txBody>
      </p:sp>
      <p:sp>
        <p:nvSpPr>
          <p:cNvPr id="7" name="驗證">
            <a:extLst xmlns:a="http://schemas.openxmlformats.org/drawingml/2006/main">
              <a:ext uri="{FF2B5EF4-FFF2-40B4-BE49-F238E27FC236}">
                <a16:creationId xmlns:a16="http://schemas.microsoft.com/office/drawing/2014/main" id="{864B3BA5-58D8-45B0-B9C9-D0675A95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86125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8" name="ProductForm 檢查輸入">
            <a:extLst xmlns:a="http://schemas.openxmlformats.org/drawingml/2006/main">
              <a:ext uri="{FF2B5EF4-FFF2-40B4-BE49-F238E27FC236}">
                <a16:creationId xmlns:a16="http://schemas.microsoft.com/office/drawing/2014/main" id="{00B52655-DB39-4AE4-B320-694B7CF4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43325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ProductForm checks the input</a:t>
            </a:r>
          </a:p>
        </p:txBody>
      </p:sp>
      <p:sp>
        <p:nvSpPr>
          <p:cNvPr id="9" name="成功">
            <a:extLst xmlns:a="http://schemas.openxmlformats.org/drawingml/2006/main">
              <a:ext uri="{FF2B5EF4-FFF2-40B4-BE49-F238E27FC236}">
                <a16:creationId xmlns:a16="http://schemas.microsoft.com/office/drawing/2014/main" id="{2D8DB7F3-2820-48F9-AA8F-5D2680A8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7675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Success</a:t>
            </a:r>
          </a:p>
        </p:txBody>
      </p:sp>
      <p:sp>
        <p:nvSpPr>
          <p:cNvPr id="10" name="save() 儲存，再回到列表">
            <a:extLst xmlns:a="http://schemas.openxmlformats.org/drawingml/2006/main">
              <a:ext uri="{FF2B5EF4-FFF2-40B4-BE49-F238E27FC236}">
                <a16:creationId xmlns:a16="http://schemas.microsoft.com/office/drawing/2014/main" id="{CE4EEC3B-1A5E-4B2D-A5E8-C10E40D6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93395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save() stores it, then redirects</a:t>
            </a:r>
          </a:p>
        </p:txBody>
      </p:sp>
      <p:sp>
        <p:nvSpPr>
          <p:cNvPr id="11" name="可在本機輸入負價格，觀察錯誤訊息與資料未儲存的結果。">
            <a:extLst xmlns:a="http://schemas.openxmlformats.org/drawingml/2006/main">
              <a:ext uri="{FF2B5EF4-FFF2-40B4-BE49-F238E27FC236}">
                <a16:creationId xmlns:a16="http://schemas.microsoft.com/office/drawing/2014/main" id="{7D0CC0A7-AB88-4A13-BDC1-9D6B30F1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Try a negative price locally. Check the error message and confirm that no product was saved.</a:t>
            </a:r>
          </a:p>
        </p:txBody>
      </p:sp>
    </p:spTree>
    <p:extLst>
      <p:ext uri="{BB962C8B-B14F-4D97-AF65-F5344CB8AC3E}">
        <p14:creationId xmlns:p14="http://schemas.microsoft.com/office/powerpoint/2010/main" val="19896303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sts.py：可重複執行的網站檢查">
            <a:extLst xmlns:a="http://schemas.openxmlformats.org/drawingml/2006/main">
              <a:ext uri="{FF2B5EF4-FFF2-40B4-BE49-F238E27FC236}">
                <a16:creationId xmlns:a16="http://schemas.microsoft.com/office/drawing/2014/main" id="{F32D9371-6D42-4C02-902C-997A4984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4ED"/>
                </a:solidFill>
                <a:latin typeface="Arial"/>
                <a:ea typeface="Arial"/>
                <a:cs typeface="Arial"/>
              </a:rPr>
              <a:t>tests.py: repeatable website checks</a:t>
            </a:r>
          </a:p>
        </p:txBody>
      </p:sp>
      <p:sp>
        <p:nvSpPr>
          <p:cNvPr id="2" name="catalog/tests.py 節錄，測試使用獨立資料庫">
            <a:extLst xmlns:a="http://schemas.openxmlformats.org/drawingml/2006/main">
              <a:ext uri="{FF2B5EF4-FFF2-40B4-BE49-F238E27FC236}">
                <a16:creationId xmlns:a16="http://schemas.microsoft.com/office/drawing/2014/main" id="{6B261C05-5B7E-4771-9C2B-72300669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Excerpt from catalog/tests.py, using an isolated test database</a:t>
            </a:r>
          </a:p>
        </p:txBody>
      </p:sp>
      <p:sp>
        <p:nvSpPr>
          <p:cNvPr id="3" name="42">
            <a:extLst xmlns:a="http://schemas.openxmlformats.org/drawingml/2006/main">
              <a:ext uri="{FF2B5EF4-FFF2-40B4-BE49-F238E27FC236}">
                <a16:creationId xmlns:a16="http://schemas.microsoft.com/office/drawing/2014/main" id="{5E1C3A63-9562-4B74-B37B-DE1E6C05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EB8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4" name="from django.test import TestCase">
            <a:extLst xmlns:a="http://schemas.openxmlformats.org/drawingml/2006/main">
              <a:ext uri="{FF2B5EF4-FFF2-40B4-BE49-F238E27FC236}">
                <a16:creationId xmlns:a16="http://schemas.microsoft.com/office/drawing/2014/main" id="{05720474-D1DB-4E16-AFBD-4D380660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django.test import TestCase</a:t>
            </a:r>
          </a:p>
        </p:txBody>
      </p:sp>
      <p:sp>
        <p:nvSpPr>
          <p:cNvPr id="5" name="from django.urls import reverse">
            <a:extLst xmlns:a="http://schemas.openxmlformats.org/drawingml/2006/main">
              <a:ext uri="{FF2B5EF4-FFF2-40B4-BE49-F238E27FC236}">
                <a16:creationId xmlns:a16="http://schemas.microsoft.com/office/drawing/2014/main" id="{97A0F420-1FBE-421D-B998-0D08DADF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django.urls import reverse</a:t>
            </a:r>
          </a:p>
        </p:txBody>
      </p:sp>
      <p:sp>
        <p:nvSpPr>
          <p:cNvPr id="6" name="from .models import Product">
            <a:extLst xmlns:a="http://schemas.openxmlformats.org/drawingml/2006/main">
              <a:ext uri="{FF2B5EF4-FFF2-40B4-BE49-F238E27FC236}">
                <a16:creationId xmlns:a16="http://schemas.microsoft.com/office/drawing/2014/main" id="{C8712FF7-14D4-4356-B995-F95DFF68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.models import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5A4F1-8249-44AE-BA1A-BBFAE3FD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lass CatalogTests(TestCase):">
            <a:extLst xmlns:a="http://schemas.openxmlformats.org/drawingml/2006/main">
              <a:ext uri="{FF2B5EF4-FFF2-40B4-BE49-F238E27FC236}">
                <a16:creationId xmlns:a16="http://schemas.microsoft.com/office/drawing/2014/main" id="{F7195DB8-9655-4755-8A7B-FAE7E9EC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CatalogTests(TestCase):</a:t>
            </a:r>
          </a:p>
        </p:txBody>
      </p:sp>
      <p:sp>
        <p:nvSpPr>
          <p:cNvPr id="9" name="    def test_list(self):">
            <a:extLst xmlns:a="http://schemas.openxmlformats.org/drawingml/2006/main">
              <a:ext uri="{FF2B5EF4-FFF2-40B4-BE49-F238E27FC236}">
                <a16:creationId xmlns:a16="http://schemas.microsoft.com/office/drawing/2014/main" id="{3CD9F33F-1108-4BC0-AE5A-E8C031BD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test_list(self):</a:t>
            </a:r>
          </a:p>
        </p:txBody>
      </p:sp>
      <p:sp>
        <p:nvSpPr>
          <p:cNvPr id="10" name="        Product.objects.create(">
            <a:extLst xmlns:a="http://schemas.openxmlformats.org/drawingml/2006/main">
              <a:ext uri="{FF2B5EF4-FFF2-40B4-BE49-F238E27FC236}">
                <a16:creationId xmlns:a16="http://schemas.microsoft.com/office/drawing/2014/main" id="{C9DD1B49-E186-4F21-9CC6-8D7B707B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Product.objects.create(</a:t>
            </a:r>
          </a:p>
        </p:txBody>
      </p:sp>
      <p:sp>
        <p:nvSpPr>
          <p:cNvPr id="11" name="            name=&quot;Keyboard&quot;, price=&quot;1290&quot;, stock=8)">
            <a:extLst xmlns:a="http://schemas.openxmlformats.org/drawingml/2006/main">
              <a:ext uri="{FF2B5EF4-FFF2-40B4-BE49-F238E27FC236}">
                <a16:creationId xmlns:a16="http://schemas.microsoft.com/office/drawing/2014/main" id="{BC10B0E6-22C8-491F-B70D-F81455C5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name="Keyboard", price="1290", stock=8)</a:t>
            </a:r>
          </a:p>
        </p:txBody>
      </p:sp>
      <p:sp>
        <p:nvSpPr>
          <p:cNvPr id="12" name="        response = self.client.get(">
            <a:extLst xmlns:a="http://schemas.openxmlformats.org/drawingml/2006/main">
              <a:ext uri="{FF2B5EF4-FFF2-40B4-BE49-F238E27FC236}">
                <a16:creationId xmlns:a16="http://schemas.microsoft.com/office/drawing/2014/main" id="{CC837B13-5E65-4A71-90EF-7B3293E5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response = self.client.get(</a:t>
            </a:r>
          </a:p>
        </p:txBody>
      </p:sp>
      <p:sp>
        <p:nvSpPr>
          <p:cNvPr id="13" name="            reverse(&quot;catalog:product_list&quot;))">
            <a:extLst xmlns:a="http://schemas.openxmlformats.org/drawingml/2006/main">
              <a:ext uri="{FF2B5EF4-FFF2-40B4-BE49-F238E27FC236}">
                <a16:creationId xmlns:a16="http://schemas.microsoft.com/office/drawing/2014/main" id="{6EA351E1-78B7-4847-A0FF-81F00A0F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reverse("catalog:product_list"))</a:t>
            </a:r>
          </a:p>
        </p:txBody>
      </p:sp>
      <p:sp>
        <p:nvSpPr>
          <p:cNvPr id="14" name="        self.assertEqual(response.status_code, 200)">
            <a:extLst xmlns:a="http://schemas.openxmlformats.org/drawingml/2006/main">
              <a:ext uri="{FF2B5EF4-FFF2-40B4-BE49-F238E27FC236}">
                <a16:creationId xmlns:a16="http://schemas.microsoft.com/office/drawing/2014/main" id="{ED525608-B045-411B-82B8-6103E03D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self.assertEqual(response.status_code, 200)</a:t>
            </a:r>
          </a:p>
        </p:txBody>
      </p:sp>
      <p:sp>
        <p:nvSpPr>
          <p:cNvPr id="15" name="        self.assertContains(response, &quot;Keyboard&quot;)">
            <a:extLst xmlns:a="http://schemas.openxmlformats.org/drawingml/2006/main">
              <a:ext uri="{FF2B5EF4-FFF2-40B4-BE49-F238E27FC236}">
                <a16:creationId xmlns:a16="http://schemas.microsoft.com/office/drawing/2014/main" id="{AAA96D5F-8E55-4456-AD16-B18674F5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65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self.assertContains(response, "Keyboard")</a:t>
            </a:r>
          </a:p>
        </p:txBody>
      </p:sp>
      <p:sp>
        <p:nvSpPr>
          <p:cNvPr id="16" name="測試客戶端">
            <a:extLst xmlns:a="http://schemas.openxmlformats.org/drawingml/2006/main">
              <a:ext uri="{FF2B5EF4-FFF2-40B4-BE49-F238E27FC236}">
                <a16:creationId xmlns:a16="http://schemas.microsoft.com/office/drawing/2014/main" id="{12057FD3-206A-48BB-90CB-D3A22B34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192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Test client</a:t>
            </a:r>
          </a:p>
        </p:txBody>
      </p:sp>
      <p:sp>
        <p:nvSpPr>
          <p:cNvPr id="17" name="不用啟動 runserver， 也能呼叫路由並檢查回應。">
            <a:extLst xmlns:a="http://schemas.openxmlformats.org/drawingml/2006/main">
              <a:ext uri="{FF2B5EF4-FFF2-40B4-BE49-F238E27FC236}">
                <a16:creationId xmlns:a16="http://schemas.microsoft.com/office/drawing/2014/main" id="{AE58F27A-F911-43E4-B42F-9E80F09F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Calls routes and checks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responses without starting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runserver.</a:t>
            </a:r>
          </a:p>
        </p:txBody>
      </p:sp>
      <p:sp>
        <p:nvSpPr>
          <p:cNvPr id="18" name="執行命令">
            <a:extLst xmlns:a="http://schemas.openxmlformats.org/drawingml/2006/main">
              <a:ext uri="{FF2B5EF4-FFF2-40B4-BE49-F238E27FC236}">
                <a16:creationId xmlns:a16="http://schemas.microsoft.com/office/drawing/2014/main" id="{798E717E-4F14-4D24-AF87-CD1047B2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8D1C4"/>
                </a:solidFill>
                <a:latin typeface="Arial"/>
                <a:ea typeface="Arial"/>
                <a:cs typeface="Arial"/>
              </a:rPr>
              <a:t>Running tests</a:t>
            </a:r>
          </a:p>
        </p:txBody>
      </p:sp>
      <p:sp>
        <p:nvSpPr>
          <p:cNvPr id="19" name="在終端機執行下方命令。 預設測試結束後， Django 會移除測試資料庫。">
            <a:extLst xmlns:a="http://schemas.openxmlformats.org/drawingml/2006/main">
              <a:ext uri="{FF2B5EF4-FFF2-40B4-BE49-F238E27FC236}">
                <a16:creationId xmlns:a16="http://schemas.microsoft.com/office/drawing/2014/main" id="{78340CA9-4737-480E-8771-350196CA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3105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Use the command below.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Django normally removes the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4ED"/>
                </a:solidFill>
                <a:latin typeface="Arial"/>
                <a:ea typeface="Arial"/>
                <a:cs typeface="Arial"/>
              </a:rPr>
              <a:t>test database when finished.</a:t>
            </a:r>
          </a:p>
        </p:txBody>
      </p:sp>
      <p:sp>
        <p:nvSpPr>
          <p:cNvPr id="20" name="執行：python manage.py test catalog。配套另含表單、404、重新導向與 CSRF 測試。">
            <a:extLst xmlns:a="http://schemas.openxmlformats.org/drawingml/2006/main">
              <a:ext uri="{FF2B5EF4-FFF2-40B4-BE49-F238E27FC236}">
                <a16:creationId xmlns:a16="http://schemas.microsoft.com/office/drawing/2014/main" id="{9F65304A-8EBD-4798-B7AC-24EA1B07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8D1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8D1C4"/>
                </a:solidFill>
                <a:latin typeface="Arial"/>
                <a:ea typeface="Arial"/>
                <a:cs typeface="Arial"/>
              </a:rPr>
              <a:t>Run: python manage.py test catalog. More tests cover forms, 404s, redirects and CSRF.</a:t>
            </a:r>
          </a:p>
        </p:txBody>
      </p:sp>
    </p:spTree>
    <p:extLst>
      <p:ext uri="{BB962C8B-B14F-4D97-AF65-F5344CB8AC3E}">
        <p14:creationId xmlns:p14="http://schemas.microsoft.com/office/powerpoint/2010/main" val="46464433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IDDLEWARE：共用的請求處理">
            <a:extLst xmlns:a="http://schemas.openxmlformats.org/drawingml/2006/main">
              <a:ext uri="{FF2B5EF4-FFF2-40B4-BE49-F238E27FC236}">
                <a16:creationId xmlns:a16="http://schemas.microsoft.com/office/drawing/2014/main" id="{AF047BD8-87AB-4FAF-BFE7-CAEC9D39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MIDDLEWARE: shared request processing</a:t>
            </a:r>
          </a:p>
        </p:txBody>
      </p:sp>
      <p:sp>
        <p:nvSpPr>
          <p:cNvPr id="2" name="設定清單在 config/settings.py">
            <a:extLst xmlns:a="http://schemas.openxmlformats.org/drawingml/2006/main">
              <a:ext uri="{FF2B5EF4-FFF2-40B4-BE49-F238E27FC236}">
                <a16:creationId xmlns:a16="http://schemas.microsoft.com/office/drawing/2014/main" id="{396F6097-7AD1-4ACC-B82E-81C50303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The list lives in config/settings.py</a:t>
            </a:r>
          </a:p>
        </p:txBody>
      </p:sp>
      <p:sp>
        <p:nvSpPr>
          <p:cNvPr id="3" name="43">
            <a:extLst xmlns:a="http://schemas.openxmlformats.org/drawingml/2006/main">
              <a:ext uri="{FF2B5EF4-FFF2-40B4-BE49-F238E27FC236}">
                <a16:creationId xmlns:a16="http://schemas.microsoft.com/office/drawing/2014/main" id="{6E19FDA3-60A1-425B-8E76-673D2FC3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4" name="SessionMiddleware">
            <a:extLst xmlns:a="http://schemas.openxmlformats.org/drawingml/2006/main">
              <a:ext uri="{FF2B5EF4-FFF2-40B4-BE49-F238E27FC236}">
                <a16:creationId xmlns:a16="http://schemas.microsoft.com/office/drawing/2014/main" id="{AA499F6B-4269-4CCD-9598-1DCFF86D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SessionMiddleware</a:t>
            </a:r>
          </a:p>
        </p:txBody>
      </p:sp>
      <p:sp>
        <p:nvSpPr>
          <p:cNvPr id="5" name="讓請求可使用 session，保存跨請求的狀態。">
            <a:extLst xmlns:a="http://schemas.openxmlformats.org/drawingml/2006/main">
              <a:ext uri="{FF2B5EF4-FFF2-40B4-BE49-F238E27FC236}">
                <a16:creationId xmlns:a16="http://schemas.microsoft.com/office/drawing/2014/main" id="{8FD0012E-4D5B-4DCE-83A4-9475F744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Provides session access for state that persists across requests.</a:t>
            </a:r>
          </a:p>
        </p:txBody>
      </p:sp>
      <p:sp>
        <p:nvSpPr>
          <p:cNvPr id="6" name="使用者驗證">
            <a:extLst xmlns:a="http://schemas.openxmlformats.org/drawingml/2006/main">
              <a:ext uri="{FF2B5EF4-FFF2-40B4-BE49-F238E27FC236}">
                <a16:creationId xmlns:a16="http://schemas.microsoft.com/office/drawing/2014/main" id="{C3C4E65F-F3FA-4508-B4CB-DC2FBA6D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7" name="AuthenticationMiddleware 在 request 提供目前使用者資訊，依賴 session。">
            <a:extLst xmlns:a="http://schemas.openxmlformats.org/drawingml/2006/main">
              <a:ext uri="{FF2B5EF4-FFF2-40B4-BE49-F238E27FC236}">
                <a16:creationId xmlns:a16="http://schemas.microsoft.com/office/drawing/2014/main" id="{964E43EA-8A47-4189-9999-1A9C88EF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AuthenticationMiddleware adds the current user to request and depends on sessions.</a:t>
            </a:r>
          </a:p>
        </p:txBody>
      </p:sp>
      <p:sp>
        <p:nvSpPr>
          <p:cNvPr id="8" name="CsrfViewMiddleware">
            <a:extLst xmlns:a="http://schemas.openxmlformats.org/drawingml/2006/main">
              <a:ext uri="{FF2B5EF4-FFF2-40B4-BE49-F238E27FC236}">
                <a16:creationId xmlns:a16="http://schemas.microsoft.com/office/drawing/2014/main" id="{9CCC4407-8B63-4C1B-94FB-A90908BB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CsrfViewMiddleware</a:t>
            </a:r>
          </a:p>
        </p:txBody>
      </p:sp>
      <p:sp>
        <p:nvSpPr>
          <p:cNvPr id="9" name="在需要時檢查 CSRF，與模板中的 token 配合。">
            <a:extLst xmlns:a="http://schemas.openxmlformats.org/drawingml/2006/main">
              <a:ext uri="{FF2B5EF4-FFF2-40B4-BE49-F238E27FC236}">
                <a16:creationId xmlns:a16="http://schemas.microsoft.com/office/drawing/2014/main" id="{ABB8C506-0008-4D44-A1DA-1650C52D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Checks CSRF where required, together with the template token.</a:t>
            </a:r>
          </a:p>
        </p:txBody>
      </p:sp>
      <p:sp>
        <p:nvSpPr>
          <p:cNvPr id="10" name="其他預設項目">
            <a:extLst xmlns:a="http://schemas.openxmlformats.org/drawingml/2006/main">
              <a:ext uri="{FF2B5EF4-FFF2-40B4-BE49-F238E27FC236}">
                <a16:creationId xmlns:a16="http://schemas.microsoft.com/office/drawing/2014/main" id="{929FC58E-ADE2-4AF8-9A1D-0305FCD8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Other defaults</a:t>
            </a:r>
          </a:p>
        </p:txBody>
      </p:sp>
      <p:sp>
        <p:nvSpPr>
          <p:cNvPr id="11" name="Security、Common、Message、XFrameOptions 各負其責。">
            <a:extLst xmlns:a="http://schemas.openxmlformats.org/drawingml/2006/main">
              <a:ext uri="{FF2B5EF4-FFF2-40B4-BE49-F238E27FC236}">
                <a16:creationId xmlns:a16="http://schemas.microsoft.com/office/drawing/2014/main" id="{80D276C0-E3DE-40C0-B58B-8DC86CB7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Security, Common, Message and XFrameOptions each serve their own role.</a:t>
            </a:r>
          </a:p>
        </p:txBody>
      </p:sp>
      <p:sp>
        <p:nvSpPr>
          <p:cNvPr id="12" name="請求通常依清單順序進入，回應反向返回；中介軟體也可能提前產生回應。">
            <a:extLst xmlns:a="http://schemas.openxmlformats.org/drawingml/2006/main">
              <a:ext uri="{FF2B5EF4-FFF2-40B4-BE49-F238E27FC236}">
                <a16:creationId xmlns:a16="http://schemas.microsoft.com/office/drawing/2014/main" id="{68662142-2AED-433C-AC8C-800D6CD8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Requests follow list order and responses return in reverse. Middleware may return a response early.</a:t>
            </a:r>
          </a:p>
        </p:txBody>
      </p:sp>
    </p:spTree>
    <p:extLst>
      <p:ext uri="{BB962C8B-B14F-4D97-AF65-F5344CB8AC3E}">
        <p14:creationId xmlns:p14="http://schemas.microsoft.com/office/powerpoint/2010/main" val="12830243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完整檔案索引：Project">
            <a:extLst xmlns:a="http://schemas.openxmlformats.org/drawingml/2006/main">
              <a:ext uri="{FF2B5EF4-FFF2-40B4-BE49-F238E27FC236}">
                <a16:creationId xmlns:a16="http://schemas.microsoft.com/office/drawing/2014/main" id="{C2D00980-C77B-4DC0-969D-AC5946C9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File index: project</a:t>
            </a:r>
          </a:p>
        </p:txBody>
      </p:sp>
      <p:sp>
        <p:nvSpPr>
          <p:cNvPr id="2" name="由 startproject 產生，通常放在專案根目錄附近">
            <a:extLst xmlns:a="http://schemas.openxmlformats.org/drawingml/2006/main">
              <a:ext uri="{FF2B5EF4-FFF2-40B4-BE49-F238E27FC236}">
                <a16:creationId xmlns:a16="http://schemas.microsoft.com/office/drawing/2014/main" id="{7981F109-9912-4623-AA65-6F667305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startproject generates these files</a:t>
            </a:r>
          </a:p>
        </p:txBody>
      </p:sp>
      <p:sp>
        <p:nvSpPr>
          <p:cNvPr id="3" name="44">
            <a:extLst xmlns:a="http://schemas.openxmlformats.org/drawingml/2006/main">
              <a:ext uri="{FF2B5EF4-FFF2-40B4-BE49-F238E27FC236}">
                <a16:creationId xmlns:a16="http://schemas.microsoft.com/office/drawing/2014/main" id="{AF3E202B-AFDA-49D1-A53E-4166587F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19500"/>
                <a:gridCol w="4667250"/>
                <a:gridCol w="2686050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File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When to edit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manage.py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Run management commands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Usually unchanged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config/__init__.py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Python package marker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Usually empty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config/settings.py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Apps, database and environment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App or environment setup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config/urls.py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Root URL configuration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Connect apps or entry routes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config/wsgi.py, asgi.py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Server application entry points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Special deployment needs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ASGI 與 WSGI 檔案同時存在，不表示要同時啟動兩種伺服器。">
            <a:extLst xmlns:a="http://schemas.openxmlformats.org/drawingml/2006/main">
              <a:ext uri="{FF2B5EF4-FFF2-40B4-BE49-F238E27FC236}">
                <a16:creationId xmlns:a16="http://schemas.microsoft.com/office/drawing/2014/main" id="{1CC5DF9D-A183-4DB0-B427-1A878FD5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Having both entry-point files does not require running both types of server.</a:t>
            </a:r>
          </a:p>
        </p:txBody>
      </p:sp>
    </p:spTree>
    <p:extLst>
      <p:ext uri="{BB962C8B-B14F-4D97-AF65-F5344CB8AC3E}">
        <p14:creationId xmlns:p14="http://schemas.microsoft.com/office/powerpoint/2010/main" val="139145012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完整檔案索引：App 預設骨架">
            <a:extLst xmlns:a="http://schemas.openxmlformats.org/drawingml/2006/main">
              <a:ext uri="{FF2B5EF4-FFF2-40B4-BE49-F238E27FC236}">
                <a16:creationId xmlns:a16="http://schemas.microsoft.com/office/drawing/2014/main" id="{D5766D4D-D079-48A8-AD80-BD86994A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File index: generated app files</a:t>
            </a:r>
          </a:p>
        </p:txBody>
      </p:sp>
      <p:sp>
        <p:nvSpPr>
          <p:cNvPr id="2" name="由 startapp catalog 產生">
            <a:extLst xmlns:a="http://schemas.openxmlformats.org/drawingml/2006/main">
              <a:ext uri="{FF2B5EF4-FFF2-40B4-BE49-F238E27FC236}">
                <a16:creationId xmlns:a16="http://schemas.microsoft.com/office/drawing/2014/main" id="{4C341916-19D9-4A3A-8697-BB2E0ABD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startapp catalog generates this structure</a:t>
            </a:r>
          </a:p>
        </p:txBody>
      </p:sp>
      <p:sp>
        <p:nvSpPr>
          <p:cNvPr id="3" name="45">
            <a:extLst xmlns:a="http://schemas.openxmlformats.org/drawingml/2006/main">
              <a:ext uri="{FF2B5EF4-FFF2-40B4-BE49-F238E27FC236}">
                <a16:creationId xmlns:a16="http://schemas.microsoft.com/office/drawing/2014/main" id="{78E9F91F-8559-4DA8-9907-2BAA462B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810125"/>
                <a:gridCol w="6162675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File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catalog/__init__.py, apps.py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Package marker and AppConfig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catalog/models.py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Data models and object behavior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catalog/views.py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Handle requests and produce responses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catalog/admin.py, tests.py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Admin registration and automated tests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catalog/migrations/__init__.py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Migration package. makemigrations creates version files.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這些檔案的用途不同，請不要把所有功能都集中到 views.py。">
            <a:extLst xmlns:a="http://schemas.openxmlformats.org/drawingml/2006/main">
              <a:ext uri="{FF2B5EF4-FFF2-40B4-BE49-F238E27FC236}">
                <a16:creationId xmlns:a16="http://schemas.microsoft.com/office/drawing/2014/main" id="{16E379F0-911B-4332-93E6-858B3105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Keep responsibilities separate instead of putting all behavior in views.py.</a:t>
            </a:r>
          </a:p>
        </p:txBody>
      </p:sp>
    </p:spTree>
    <p:extLst>
      <p:ext uri="{BB962C8B-B14F-4D97-AF65-F5344CB8AC3E}">
        <p14:creationId xmlns:p14="http://schemas.microsoft.com/office/powerpoint/2010/main" val="36589723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完整檔案索引：自行加入的內容">
            <a:extLst xmlns:a="http://schemas.openxmlformats.org/drawingml/2006/main">
              <a:ext uri="{FF2B5EF4-FFF2-40B4-BE49-F238E27FC236}">
                <a16:creationId xmlns:a16="http://schemas.microsoft.com/office/drawing/2014/main" id="{DCD8C750-C26A-444F-99BC-C82E5415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File index: added files</a:t>
            </a:r>
          </a:p>
        </p:txBody>
      </p:sp>
      <p:sp>
        <p:nvSpPr>
          <p:cNvPr id="2" name="檔名或路徑慣例，協助 Django 與開發者找到內容">
            <a:extLst xmlns:a="http://schemas.openxmlformats.org/drawingml/2006/main">
              <a:ext uri="{FF2B5EF4-FFF2-40B4-BE49-F238E27FC236}">
                <a16:creationId xmlns:a16="http://schemas.microsoft.com/office/drawing/2014/main" id="{667B374B-15CD-480E-8198-76E67832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Conventional paths help Django and developers locate content</a:t>
            </a:r>
          </a:p>
        </p:txBody>
      </p:sp>
      <p:sp>
        <p:nvSpPr>
          <p:cNvPr id="3" name="46">
            <a:extLst xmlns:a="http://schemas.openxmlformats.org/drawingml/2006/main">
              <a:ext uri="{FF2B5EF4-FFF2-40B4-BE49-F238E27FC236}">
                <a16:creationId xmlns:a16="http://schemas.microsoft.com/office/drawing/2014/main" id="{C7064B9A-3828-4FC2-B626-41CCBF19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05250"/>
                <a:gridCol w="5095875"/>
                <a:gridCol w="1971675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Location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Origin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catalog/urls.py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App URL patterns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Added manually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catalog/forms.py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Forms and input validation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Added manually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templates/catalog/*.html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Base, list, detail and form templates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Added manually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static/catalog/site.css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Styles. This directory can also hold JS and images.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Added manually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migrations/0001_initial.py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Model change history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makemigrations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templates/ 與 static/ 在本例都位於 catalog/ app 內。">
            <a:extLst xmlns:a="http://schemas.openxmlformats.org/drawingml/2006/main">
              <a:ext uri="{FF2B5EF4-FFF2-40B4-BE49-F238E27FC236}">
                <a16:creationId xmlns:a16="http://schemas.microsoft.com/office/drawing/2014/main" id="{908489E3-21AE-4035-BCA0-F6832701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In this example, templates/ and static/ both live inside the catalog app.</a:t>
            </a:r>
          </a:p>
        </p:txBody>
      </p:sp>
    </p:spTree>
    <p:extLst>
      <p:ext uri="{BB962C8B-B14F-4D97-AF65-F5344CB8AC3E}">
        <p14:creationId xmlns:p14="http://schemas.microsoft.com/office/powerpoint/2010/main" val="199051299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環境、資料與版本控制檔案">
            <a:extLst xmlns:a="http://schemas.openxmlformats.org/drawingml/2006/main">
              <a:ext uri="{FF2B5EF4-FFF2-40B4-BE49-F238E27FC236}">
                <a16:creationId xmlns:a16="http://schemas.microsoft.com/office/drawing/2014/main" id="{D6C9551B-0034-4D56-A429-02B02F10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Environment and version control files</a:t>
            </a:r>
          </a:p>
        </p:txBody>
      </p:sp>
      <p:sp>
        <p:nvSpPr>
          <p:cNvPr id="2" name="這些檔案並非 Django 業務程式碼">
            <a:extLst xmlns:a="http://schemas.openxmlformats.org/drawingml/2006/main">
              <a:ext uri="{FF2B5EF4-FFF2-40B4-BE49-F238E27FC236}">
                <a16:creationId xmlns:a16="http://schemas.microsoft.com/office/drawing/2014/main" id="{92CBBB7F-6FD9-4439-86FC-E70A163F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These support development and runtime data</a:t>
            </a:r>
          </a:p>
        </p:txBody>
      </p:sp>
      <p:sp>
        <p:nvSpPr>
          <p:cNvPr id="3" name="47">
            <a:extLst xmlns:a="http://schemas.openxmlformats.org/drawingml/2006/main">
              <a:ext uri="{FF2B5EF4-FFF2-40B4-BE49-F238E27FC236}">
                <a16:creationId xmlns:a16="http://schemas.microsoft.com/office/drawing/2014/main" id="{9D73A160-19EF-48F2-8400-2205A443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810000"/>
                <a:gridCol w="5257800"/>
                <a:gridCol w="1905000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File / directory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Version control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requirements.txt, README.md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Dependencies and run instructions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Usually commit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.gitignore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Patterns for Git to ignore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Usually commit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.venv/, __pycache__/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Isolated packages and bytecode cache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Do not commit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db.sqlite3, media/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Local database and user uploads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Follow data policy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.env (optional)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Environment values. Django does not load it automatically.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Exclude real secrets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本範例未加入上傳功能，也不依賴 .env；不要把 media 與 static 混為一談。">
            <a:extLst xmlns:a="http://schemas.openxmlformats.org/drawingml/2006/main">
              <a:ext uri="{FF2B5EF4-FFF2-40B4-BE49-F238E27FC236}">
                <a16:creationId xmlns:a16="http://schemas.microsoft.com/office/drawing/2014/main" id="{0EF38DB6-01FB-49E3-B463-5DB0FEE6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This example has no uploads or .env dependency. media and static serve different purposes.</a:t>
            </a:r>
          </a:p>
        </p:txBody>
      </p:sp>
    </p:spTree>
    <p:extLst>
      <p:ext uri="{BB962C8B-B14F-4D97-AF65-F5344CB8AC3E}">
        <p14:creationId xmlns:p14="http://schemas.microsoft.com/office/powerpoint/2010/main" val="76166441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完成版範例的使用方式">
            <a:extLst xmlns:a="http://schemas.openxmlformats.org/drawingml/2006/main">
              <a:ext uri="{FF2B5EF4-FFF2-40B4-BE49-F238E27FC236}">
                <a16:creationId xmlns:a16="http://schemas.microsoft.com/office/drawing/2014/main" id="{AB7F6EB8-4362-4298-A76D-9E0426A6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Using the complete example</a:t>
            </a:r>
          </a:p>
        </p:txBody>
      </p:sp>
      <p:sp>
        <p:nvSpPr>
          <p:cNvPr id="2" name="解壓縮後，進入含 manage.py 的 django_shop 目錄">
            <a:extLst xmlns:a="http://schemas.openxmlformats.org/drawingml/2006/main">
              <a:ext uri="{FF2B5EF4-FFF2-40B4-BE49-F238E27FC236}">
                <a16:creationId xmlns:a16="http://schemas.microsoft.com/office/drawing/2014/main" id="{E53E0D2A-EA9F-4EA5-8D73-8F83ED84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Extract the ZIP and enter django_shop, which contains manage.py</a:t>
            </a:r>
          </a:p>
        </p:txBody>
      </p:sp>
      <p:sp>
        <p:nvSpPr>
          <p:cNvPr id="3" name="48">
            <a:extLst xmlns:a="http://schemas.openxmlformats.org/drawingml/2006/main">
              <a:ext uri="{FF2B5EF4-FFF2-40B4-BE49-F238E27FC236}">
                <a16:creationId xmlns:a16="http://schemas.microsoft.com/office/drawing/2014/main" id="{665A2901-0BFA-4A71-94A0-FA59AFCC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4" name="安裝套件">
            <a:extLst xmlns:a="http://schemas.openxmlformats.org/drawingml/2006/main">
              <a:ext uri="{FF2B5EF4-FFF2-40B4-BE49-F238E27FC236}">
                <a16:creationId xmlns:a16="http://schemas.microsoft.com/office/drawing/2014/main" id="{252A89FD-4F87-42E7-81E0-1BAE0AF8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Dependencies</a:t>
            </a:r>
          </a:p>
        </p:txBody>
      </p:sp>
      <p:sp>
        <p:nvSpPr>
          <p:cNvPr id="5" name="建立並啟用 .venv，執行 python -m pip install -r requirements.txt。">
            <a:extLst xmlns:a="http://schemas.openxmlformats.org/drawingml/2006/main">
              <a:ext uri="{FF2B5EF4-FFF2-40B4-BE49-F238E27FC236}">
                <a16:creationId xmlns:a16="http://schemas.microsoft.com/office/drawing/2014/main" id="{7305ADB7-9C0C-49EA-8FF2-4834859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Create and activate .venv, then run python -m pip install -r requirements.txt.</a:t>
            </a:r>
          </a:p>
        </p:txBody>
      </p:sp>
      <p:sp>
        <p:nvSpPr>
          <p:cNvPr id="6" name="建立資料表">
            <a:extLst xmlns:a="http://schemas.openxmlformats.org/drawingml/2006/main">
              <a:ext uri="{FF2B5EF4-FFF2-40B4-BE49-F238E27FC236}">
                <a16:creationId xmlns:a16="http://schemas.microsoft.com/office/drawing/2014/main" id="{1C1E3B63-AFE5-4006-BAA0-9BDE843E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7" name="執行 python manage.py migrate；範例已附 0001_initial.py。">
            <a:extLst xmlns:a="http://schemas.openxmlformats.org/drawingml/2006/main">
              <a:ext uri="{FF2B5EF4-FFF2-40B4-BE49-F238E27FC236}">
                <a16:creationId xmlns:a16="http://schemas.microsoft.com/office/drawing/2014/main" id="{2DA984F2-252F-4B36-B5A0-CB25E3E6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Run python manage.py migrate. The ZIP includes 0001_initial.py.</a:t>
            </a:r>
          </a:p>
        </p:txBody>
      </p:sp>
      <p:sp>
        <p:nvSpPr>
          <p:cNvPr id="8" name="加入資料">
            <a:extLst xmlns:a="http://schemas.openxmlformats.org/drawingml/2006/main">
              <a:ext uri="{FF2B5EF4-FFF2-40B4-BE49-F238E27FC236}">
                <a16:creationId xmlns:a16="http://schemas.microsoft.com/office/drawing/2014/main" id="{B581034F-DECB-4738-8FFF-BFA75D59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Products</a:t>
            </a:r>
          </a:p>
        </p:txBody>
      </p:sp>
      <p:sp>
        <p:nvSpPr>
          <p:cNvPr id="9" name="可用 admin 新增，或在網站 /products/new/ 提交表單。">
            <a:extLst xmlns:a="http://schemas.openxmlformats.org/drawingml/2006/main">
              <a:ext uri="{FF2B5EF4-FFF2-40B4-BE49-F238E27FC236}">
                <a16:creationId xmlns:a16="http://schemas.microsoft.com/office/drawing/2014/main" id="{C2EF465A-654C-44BF-B45A-145825CE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Add products in the admin or submit the form at /products/new/.</a:t>
            </a:r>
          </a:p>
        </p:txBody>
      </p:sp>
      <p:sp>
        <p:nvSpPr>
          <p:cNvPr id="10" name="啟動與檢查">
            <a:extLst xmlns:a="http://schemas.openxmlformats.org/drawingml/2006/main">
              <a:ext uri="{FF2B5EF4-FFF2-40B4-BE49-F238E27FC236}">
                <a16:creationId xmlns:a16="http://schemas.microsoft.com/office/drawing/2014/main" id="{802CB75D-44A3-4466-B9B5-3ED2C2CC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Run and check</a:t>
            </a:r>
          </a:p>
        </p:txBody>
      </p:sp>
      <p:sp>
        <p:nvSpPr>
          <p:cNvPr id="11" name="執行 runserver，開啟 /products/；test catalog 可執行測試。">
            <a:extLst xmlns:a="http://schemas.openxmlformats.org/drawingml/2006/main">
              <a:ext uri="{FF2B5EF4-FFF2-40B4-BE49-F238E27FC236}">
                <a16:creationId xmlns:a16="http://schemas.microsoft.com/office/drawing/2014/main" id="{E0EEAF3D-E878-4506-BCA3-8667E721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Run the server and open /products/. Run test catalog for automated tests.</a:t>
            </a:r>
          </a:p>
        </p:txBody>
      </p:sp>
      <p:sp>
        <p:nvSpPr>
          <p:cNvPr id="12" name="完成版已具備所有檔案，不需重新執行 startproject 或 startapp。">
            <a:extLst xmlns:a="http://schemas.openxmlformats.org/drawingml/2006/main">
              <a:ext uri="{FF2B5EF4-FFF2-40B4-BE49-F238E27FC236}">
                <a16:creationId xmlns:a16="http://schemas.microsoft.com/office/drawing/2014/main" id="{D8838C4B-FC6C-4D39-AE94-5458A419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The ZIP already contains the project. Do not run startproject or startapp again.</a:t>
            </a:r>
          </a:p>
        </p:txBody>
      </p:sp>
    </p:spTree>
    <p:extLst>
      <p:ext uri="{BB962C8B-B14F-4D97-AF65-F5344CB8AC3E}">
        <p14:creationId xmlns:p14="http://schemas.microsoft.com/office/powerpoint/2010/main" val="44742694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見問題與檢查位置">
            <a:extLst xmlns:a="http://schemas.openxmlformats.org/drawingml/2006/main">
              <a:ext uri="{FF2B5EF4-FFF2-40B4-BE49-F238E27FC236}">
                <a16:creationId xmlns:a16="http://schemas.microsoft.com/office/drawing/2014/main" id="{4D32DFF5-0F96-4FA7-AD99-9620EA2B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Common errors and where to look</a:t>
            </a:r>
          </a:p>
        </p:txBody>
      </p:sp>
      <p:sp>
        <p:nvSpPr>
          <p:cNvPr id="2" name="從錯誤訊息判斷應該查看哪個檔案">
            <a:extLst xmlns:a="http://schemas.openxmlformats.org/drawingml/2006/main">
              <a:ext uri="{FF2B5EF4-FFF2-40B4-BE49-F238E27FC236}">
                <a16:creationId xmlns:a16="http://schemas.microsoft.com/office/drawing/2014/main" id="{ECE46FBF-52EB-4292-8F9C-499F1458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Use the error message to identify the relevant file</a:t>
            </a:r>
          </a:p>
        </p:txBody>
      </p:sp>
      <p:sp>
        <p:nvSpPr>
          <p:cNvPr id="3" name="49">
            <a:extLst xmlns:a="http://schemas.openxmlformats.org/drawingml/2006/main">
              <a:ext uri="{FF2B5EF4-FFF2-40B4-BE49-F238E27FC236}">
                <a16:creationId xmlns:a16="http://schemas.microsoft.com/office/drawing/2014/main" id="{9FF8D3BF-FFEA-4C57-AB62-F9544D07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91000"/>
                <a:gridCol w="6781800"/>
              </a:tblGrid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Symptom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First checks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No module named django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Virtual environment, Python path and installed packages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404 / NoReverseMatch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Root and app URLs, name, app_name and parameters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TemplateDoesNotExist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Template paths, INSTALLED_APPS and APP_DIRS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no such table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Migration files and whether migrate has run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82625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Missing CSS / CSRF 403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Static path and tag / CSRF token and middleware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先保留完整錯誤訊息，再定位原因；不要用刪檔或關閉保護代替修正。">
            <a:extLst xmlns:a="http://schemas.openxmlformats.org/drawingml/2006/main">
              <a:ext uri="{FF2B5EF4-FFF2-40B4-BE49-F238E27FC236}">
                <a16:creationId xmlns:a16="http://schemas.microsoft.com/office/drawing/2014/main" id="{015FE630-9819-46FA-AA39-2A2A59C9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Keep the complete error message. Find the cause before changing files or disabling protections.</a:t>
            </a:r>
          </a:p>
        </p:txBody>
      </p:sp>
    </p:spTree>
    <p:extLst>
      <p:ext uri="{BB962C8B-B14F-4D97-AF65-F5344CB8AC3E}">
        <p14:creationId xmlns:p14="http://schemas.microsoft.com/office/powerpoint/2010/main" val="168361463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本機開發與正式部署">
            <a:extLst xmlns:a="http://schemas.openxmlformats.org/drawingml/2006/main">
              <a:ext uri="{FF2B5EF4-FFF2-40B4-BE49-F238E27FC236}">
                <a16:creationId xmlns:a16="http://schemas.microsoft.com/office/drawing/2014/main" id="{CB518BBE-31DE-4A72-A65E-B940A9B4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Local development and production</a:t>
            </a:r>
          </a:p>
        </p:txBody>
      </p:sp>
      <p:sp>
        <p:nvSpPr>
          <p:cNvPr id="2" name="上線時需要另外配置的項目">
            <a:extLst xmlns:a="http://schemas.openxmlformats.org/drawingml/2006/main">
              <a:ext uri="{FF2B5EF4-FFF2-40B4-BE49-F238E27FC236}">
                <a16:creationId xmlns:a16="http://schemas.microsoft.com/office/drawing/2014/main" id="{DF383CAD-1894-4A10-B968-EB9EAE6C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Production requires additional configuration</a:t>
            </a:r>
          </a:p>
        </p:txBody>
      </p:sp>
      <p:sp>
        <p:nvSpPr>
          <p:cNvPr id="3" name="50">
            <a:extLst xmlns:a="http://schemas.openxmlformats.org/drawingml/2006/main">
              <a:ext uri="{FF2B5EF4-FFF2-40B4-BE49-F238E27FC236}">
                <a16:creationId xmlns:a16="http://schemas.microsoft.com/office/drawing/2014/main" id="{16CBC60E-F3F8-404A-9456-F4629574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4" name="伺服器入口">
            <a:extLst xmlns:a="http://schemas.openxmlformats.org/drawingml/2006/main">
              <a:ext uri="{FF2B5EF4-FFF2-40B4-BE49-F238E27FC236}">
                <a16:creationId xmlns:a16="http://schemas.microsoft.com/office/drawing/2014/main" id="{EF0DA099-24BF-4649-ADB0-971F918D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Server entry point</a:t>
            </a:r>
          </a:p>
        </p:txBody>
      </p:sp>
      <p:sp>
        <p:nvSpPr>
          <p:cNvPr id="5" name="使用適合的 WSGI 或 ASGI 伺服器，載入對應 application。">
            <a:extLst xmlns:a="http://schemas.openxmlformats.org/drawingml/2006/main">
              <a:ext uri="{FF2B5EF4-FFF2-40B4-BE49-F238E27FC236}">
                <a16:creationId xmlns:a16="http://schemas.microsoft.com/office/drawing/2014/main" id="{0E405B5D-0A04-4AF6-BFEF-F4E0F3AB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Use a suitable WSGI or ASGI server to load the application.</a:t>
            </a:r>
          </a:p>
        </p:txBody>
      </p:sp>
      <p:sp>
        <p:nvSpPr>
          <p:cNvPr id="6" name="環境設定">
            <a:extLst xmlns:a="http://schemas.openxmlformats.org/drawingml/2006/main">
              <a:ext uri="{FF2B5EF4-FFF2-40B4-BE49-F238E27FC236}">
                <a16:creationId xmlns:a16="http://schemas.microsoft.com/office/drawing/2014/main" id="{43A92087-BBF9-43FE-A063-63B4F840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7" name="關閉 DEBUG，設定允許主機、祕密金鑰與資料庫連線。">
            <a:extLst xmlns:a="http://schemas.openxmlformats.org/drawingml/2006/main">
              <a:ext uri="{FF2B5EF4-FFF2-40B4-BE49-F238E27FC236}">
                <a16:creationId xmlns:a16="http://schemas.microsoft.com/office/drawing/2014/main" id="{A70C977C-E13E-4859-A86A-435356C2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Turn off DEBUG and configure allowed hosts, secrets and database connections.</a:t>
            </a:r>
          </a:p>
        </p:txBody>
      </p:sp>
      <p:sp>
        <p:nvSpPr>
          <p:cNvPr id="8" name="靜態檔案">
            <a:extLst xmlns:a="http://schemas.openxmlformats.org/drawingml/2006/main">
              <a:ext uri="{FF2B5EF4-FFF2-40B4-BE49-F238E27FC236}">
                <a16:creationId xmlns:a16="http://schemas.microsoft.com/office/drawing/2014/main" id="{2EABC479-876F-4FCB-9A66-7B795A7E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Static files</a:t>
            </a:r>
          </a:p>
        </p:txBody>
      </p:sp>
      <p:sp>
        <p:nvSpPr>
          <p:cNvPr id="9" name="配置 STATIC_ROOT，執行 collectstatic，再由適當服務提供檔案。">
            <a:extLst xmlns:a="http://schemas.openxmlformats.org/drawingml/2006/main">
              <a:ext uri="{FF2B5EF4-FFF2-40B4-BE49-F238E27FC236}">
                <a16:creationId xmlns:a16="http://schemas.microsoft.com/office/drawing/2014/main" id="{463512A7-0EFE-4B5B-9945-C633EF31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Configure STATIC_ROOT, run collectstatic and serve files through an appropriate service.</a:t>
            </a:r>
          </a:p>
        </p:txBody>
      </p:sp>
      <p:sp>
        <p:nvSpPr>
          <p:cNvPr id="10" name="資料與存取">
            <a:extLst xmlns:a="http://schemas.openxmlformats.org/drawingml/2006/main">
              <a:ext uri="{FF2B5EF4-FFF2-40B4-BE49-F238E27FC236}">
                <a16:creationId xmlns:a16="http://schemas.microsoft.com/office/drawing/2014/main" id="{82470E76-34D9-4882-B7BF-85F2D83A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Data and access</a:t>
            </a:r>
          </a:p>
        </p:txBody>
      </p:sp>
      <p:sp>
        <p:nvSpPr>
          <p:cNvPr id="11" name="安排 HTTPS、使用者權限、資料備份與上傳檔案的保存。">
            <a:extLst xmlns:a="http://schemas.openxmlformats.org/drawingml/2006/main">
              <a:ext uri="{FF2B5EF4-FFF2-40B4-BE49-F238E27FC236}">
                <a16:creationId xmlns:a16="http://schemas.microsoft.com/office/drawing/2014/main" id="{47C3D011-3836-45D7-B202-B434F3EA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Plan HTTPS, user permissions, backups and storage for uploaded files.</a:t>
            </a:r>
          </a:p>
        </p:txBody>
      </p:sp>
      <p:sp>
        <p:nvSpPr>
          <p:cNvPr id="12" name="runserver 用於開發。本教材先完成本機網站，正式部署須依平台另行設定。">
            <a:extLst xmlns:a="http://schemas.openxmlformats.org/drawingml/2006/main">
              <a:ext uri="{FF2B5EF4-FFF2-40B4-BE49-F238E27FC236}">
                <a16:creationId xmlns:a16="http://schemas.microsoft.com/office/drawing/2014/main" id="{37C0E02B-DB8A-4F6C-9B8A-E5A9A707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runserver is for development. Deployment configuration depends on the hosting platform.</a:t>
            </a:r>
          </a:p>
        </p:txBody>
      </p:sp>
    </p:spTree>
    <p:extLst>
      <p:ext uri="{BB962C8B-B14F-4D97-AF65-F5344CB8AC3E}">
        <p14:creationId xmlns:p14="http://schemas.microsoft.com/office/powerpoint/2010/main" val="84802908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用命令速查">
            <a:extLst xmlns:a="http://schemas.openxmlformats.org/drawingml/2006/main">
              <a:ext uri="{FF2B5EF4-FFF2-40B4-BE49-F238E27FC236}">
                <a16:creationId xmlns:a16="http://schemas.microsoft.com/office/drawing/2014/main" id="{1AB0237C-9915-449E-AE02-85727BF1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Command reference</a:t>
            </a:r>
          </a:p>
        </p:txBody>
      </p:sp>
      <p:sp>
        <p:nvSpPr>
          <p:cNvPr id="2" name="先確認目前位於包含 manage.py 的目錄">
            <a:extLst xmlns:a="http://schemas.openxmlformats.org/drawingml/2006/main">
              <a:ext uri="{FF2B5EF4-FFF2-40B4-BE49-F238E27FC236}">
                <a16:creationId xmlns:a16="http://schemas.microsoft.com/office/drawing/2014/main" id="{7C933D3E-4316-44B4-A6C6-6C3293A5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Run these in the directory containing manage.py</a:t>
            </a:r>
          </a:p>
        </p:txBody>
      </p:sp>
      <p:sp>
        <p:nvSpPr>
          <p:cNvPr id="3" name="51">
            <a:extLst xmlns:a="http://schemas.openxmlformats.org/drawingml/2006/main">
              <a:ext uri="{FF2B5EF4-FFF2-40B4-BE49-F238E27FC236}">
                <a16:creationId xmlns:a16="http://schemas.microsoft.com/office/drawing/2014/main" id="{742D84D1-2774-484E-ACA7-CD449124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191250"/>
                <a:gridCol w="4781550"/>
              </a:tblGrid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Command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4ED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python manage.py runserver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Start the development server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python manage.py makemigrations catalog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Record model structure changes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python manage.py migrate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Apply migrations to the database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python manage.py createsuperuser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Create an administrator account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python manage.py check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Run basic system checks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585107"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686C"/>
                          </a:solidFill>
                          <a:latin typeface="Arial"/>
                          <a:ea typeface="Arial"/>
                          <a:cs typeface="Arial"/>
                        </a:rPr>
                        <a:t>python manage.py test catalog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33350" tIns="76200" rIns="114300" bIns="762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Run the catalog tests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每列為一個完整命令；在已啟用的虛擬環境執行。">
            <a:extLst xmlns:a="http://schemas.openxmlformats.org/drawingml/2006/main">
              <a:ext uri="{FF2B5EF4-FFF2-40B4-BE49-F238E27FC236}">
                <a16:creationId xmlns:a16="http://schemas.microsoft.com/office/drawing/2014/main" id="{D922398E-9C02-4136-9642-0B81075D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Each row is one complete command. Use the active virtual environment.</a:t>
            </a:r>
          </a:p>
        </p:txBody>
      </p:sp>
    </p:spTree>
    <p:extLst>
      <p:ext uri="{BB962C8B-B14F-4D97-AF65-F5344CB8AC3E}">
        <p14:creationId xmlns:p14="http://schemas.microsoft.com/office/powerpoint/2010/main" val="75992216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檔案與網站功能的對照">
            <a:extLst xmlns:a="http://schemas.openxmlformats.org/drawingml/2006/main">
              <a:ext uri="{FF2B5EF4-FFF2-40B4-BE49-F238E27FC236}">
                <a16:creationId xmlns:a16="http://schemas.microsoft.com/office/drawing/2014/main" id="{A3CEEC74-2D4E-4F40-B179-5CC44001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Website features and their files</a:t>
            </a:r>
          </a:p>
        </p:txBody>
      </p:sp>
      <p:sp>
        <p:nvSpPr>
          <p:cNvPr id="2" name="讀懂專案後，就能判斷下一步該改哪裡">
            <a:extLst xmlns:a="http://schemas.openxmlformats.org/drawingml/2006/main">
              <a:ext uri="{FF2B5EF4-FFF2-40B4-BE49-F238E27FC236}">
                <a16:creationId xmlns:a16="http://schemas.microsoft.com/office/drawing/2014/main" id="{F389637F-EBC7-43AE-AF94-074FF79B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Knowing each responsibility helps you find the right edit</a:t>
            </a:r>
          </a:p>
        </p:txBody>
      </p:sp>
      <p:sp>
        <p:nvSpPr>
          <p:cNvPr id="3" name="52">
            <a:extLst xmlns:a="http://schemas.openxmlformats.org/drawingml/2006/main">
              <a:ext uri="{FF2B5EF4-FFF2-40B4-BE49-F238E27FC236}">
                <a16:creationId xmlns:a16="http://schemas.microsoft.com/office/drawing/2014/main" id="{F92DD6D0-9EAB-4829-B7F7-3216BBB2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4" name="新增網址">
            <a:extLst xmlns:a="http://schemas.openxmlformats.org/drawingml/2006/main">
              <a:ext uri="{FF2B5EF4-FFF2-40B4-BE49-F238E27FC236}">
                <a16:creationId xmlns:a16="http://schemas.microsoft.com/office/drawing/2014/main" id="{638EA866-8927-4FA9-987F-C28021C5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New URL</a:t>
            </a:r>
          </a:p>
        </p:txBody>
      </p:sp>
      <p:sp>
        <p:nvSpPr>
          <p:cNvPr id="5" name="修改 app 的 urls.py，必要時接入 config/urls.py。">
            <a:extLst xmlns:a="http://schemas.openxmlformats.org/drawingml/2006/main">
              <a:ext uri="{FF2B5EF4-FFF2-40B4-BE49-F238E27FC236}">
                <a16:creationId xmlns:a16="http://schemas.microsoft.com/office/drawing/2014/main" id="{80222815-BE02-4D52-8334-99225836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3832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Edit the app urls.py and connect it in config/urls.py if needed.</a:t>
            </a:r>
          </a:p>
        </p:txBody>
      </p:sp>
      <p:sp>
        <p:nvSpPr>
          <p:cNvPr id="6" name="新增資料欄位">
            <a:extLst xmlns:a="http://schemas.openxmlformats.org/drawingml/2006/main">
              <a:ext uri="{FF2B5EF4-FFF2-40B4-BE49-F238E27FC236}">
                <a16:creationId xmlns:a16="http://schemas.microsoft.com/office/drawing/2014/main" id="{FF7821A4-7132-4561-B9A7-33E909CC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05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New data field</a:t>
            </a:r>
          </a:p>
        </p:txBody>
      </p:sp>
      <p:sp>
        <p:nvSpPr>
          <p:cNvPr id="7" name="修改 models.py，再建立並套用 migration。">
            <a:extLst xmlns:a="http://schemas.openxmlformats.org/drawingml/2006/main">
              <a:ext uri="{FF2B5EF4-FFF2-40B4-BE49-F238E27FC236}">
                <a16:creationId xmlns:a16="http://schemas.microsoft.com/office/drawing/2014/main" id="{8CA9F7D8-D187-4E8E-909F-07279A95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Edit models.py, then create and apply a migration.</a:t>
            </a:r>
          </a:p>
        </p:txBody>
      </p:sp>
      <p:sp>
        <p:nvSpPr>
          <p:cNvPr id="8" name="修改畫面與輸入">
            <a:extLst xmlns:a="http://schemas.openxmlformats.org/drawingml/2006/main">
              <a:ext uri="{FF2B5EF4-FFF2-40B4-BE49-F238E27FC236}">
                <a16:creationId xmlns:a16="http://schemas.microsoft.com/office/drawing/2014/main" id="{656790E0-98FB-411A-AEBC-C68B0DBC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90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Pages and input</a:t>
            </a:r>
          </a:p>
        </p:txBody>
      </p:sp>
      <p:sp>
        <p:nvSpPr>
          <p:cNvPr id="9" name="調整 templates、static 或 forms.py，view 負責協調。">
            <a:extLst xmlns:a="http://schemas.openxmlformats.org/drawingml/2006/main">
              <a:ext uri="{FF2B5EF4-FFF2-40B4-BE49-F238E27FC236}">
                <a16:creationId xmlns:a16="http://schemas.microsoft.com/office/drawing/2014/main" id="{F70DBE85-E09C-402E-B0AF-6915CE50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9975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Adjust templates, static files or forms.py. Let the view coordinate them.</a:t>
            </a:r>
          </a:p>
        </p:txBody>
      </p:sp>
      <p:sp>
        <p:nvSpPr>
          <p:cNvPr id="10" name="確認行為">
            <a:extLst xmlns:a="http://schemas.openxmlformats.org/drawingml/2006/main">
              <a:ext uri="{FF2B5EF4-FFF2-40B4-BE49-F238E27FC236}">
                <a16:creationId xmlns:a16="http://schemas.microsoft.com/office/drawing/2014/main" id="{DE0ADD2D-FF39-4076-9391-2DC985FC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Behavior checks</a:t>
            </a:r>
          </a:p>
        </p:txBody>
      </p:sp>
      <p:sp>
        <p:nvSpPr>
          <p:cNvPr id="11" name="在 tests.py 建立可重複檢查，再執行測試。">
            <a:extLst xmlns:a="http://schemas.openxmlformats.org/drawingml/2006/main">
              <a:ext uri="{FF2B5EF4-FFF2-40B4-BE49-F238E27FC236}">
                <a16:creationId xmlns:a16="http://schemas.microsoft.com/office/drawing/2014/main" id="{676186A0-782E-4018-9398-B77D15EA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7877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Add repeatable checks in tests.py and run the tests.</a:t>
            </a:r>
          </a:p>
        </p:txBody>
      </p:sp>
      <p:sp>
        <p:nvSpPr>
          <p:cNvPr id="12" name="先理解檔案責任，再逐步加入 Django 與物件導向設計的進階能力。">
            <a:extLst xmlns:a="http://schemas.openxmlformats.org/drawingml/2006/main">
              <a:ext uri="{FF2B5EF4-FFF2-40B4-BE49-F238E27FC236}">
                <a16:creationId xmlns:a16="http://schemas.microsoft.com/office/drawing/2014/main" id="{CDA3E4B2-E17E-47DC-AD84-ED883FE3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Build on these responsibilities as you explore Django and object-oriented design.</a:t>
            </a:r>
          </a:p>
        </p:txBody>
      </p:sp>
    </p:spTree>
    <p:extLst>
      <p:ext uri="{BB962C8B-B14F-4D97-AF65-F5344CB8AC3E}">
        <p14:creationId xmlns:p14="http://schemas.microsoft.com/office/powerpoint/2010/main" val="56937714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參考資料與版本">
            <a:extLst xmlns:a="http://schemas.openxmlformats.org/drawingml/2006/main">
              <a:ext uri="{FF2B5EF4-FFF2-40B4-BE49-F238E27FC236}">
                <a16:creationId xmlns:a16="http://schemas.microsoft.com/office/drawing/2014/main" id="{3244B38B-2D18-412C-8E73-6296D3E1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References and versions</a:t>
            </a:r>
          </a:p>
        </p:txBody>
      </p:sp>
      <p:sp>
        <p:nvSpPr>
          <p:cNvPr id="2" name="Django 5.2 官方文件與本課程可執行專案">
            <a:extLst xmlns:a="http://schemas.openxmlformats.org/drawingml/2006/main">
              <a:ext uri="{FF2B5EF4-FFF2-40B4-BE49-F238E27FC236}">
                <a16:creationId xmlns:a16="http://schemas.microsoft.com/office/drawing/2014/main" id="{C99BD06F-6F54-4DF3-A6A0-C90375CB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28725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686C"/>
                </a:solidFill>
                <a:latin typeface="Arial"/>
                <a:ea typeface="Arial"/>
                <a:cs typeface="Arial"/>
              </a:rPr>
              <a:t>Official Django 5.2 documentation and the runnable project</a:t>
            </a:r>
          </a:p>
        </p:txBody>
      </p:sp>
      <p:sp>
        <p:nvSpPr>
          <p:cNvPr id="3" name="53">
            <a:extLst xmlns:a="http://schemas.openxmlformats.org/drawingml/2006/main">
              <a:ext uri="{FF2B5EF4-FFF2-40B4-BE49-F238E27FC236}">
                <a16:creationId xmlns:a16="http://schemas.microsoft.com/office/drawing/2014/main" id="{1CC23358-BB0C-4194-AE8E-4610F33E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F8D91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4" name="入門教學">
            <a:extLst xmlns:a="http://schemas.openxmlformats.org/drawingml/2006/main">
              <a:ext uri="{FF2B5EF4-FFF2-40B4-BE49-F238E27FC236}">
                <a16:creationId xmlns:a16="http://schemas.microsoft.com/office/drawing/2014/main" id="{AD0F31EE-C9B0-4536-A000-D1C27094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Getting started</a:t>
            </a:r>
          </a:p>
        </p:txBody>
      </p:sp>
      <p:sp>
        <p:nvSpPr>
          <p:cNvPr id="5" name="docs.djangoproject.com/en/5.2/intro/">
            <a:extLst xmlns:a="http://schemas.openxmlformats.org/drawingml/2006/main">
              <a:ext uri="{FF2B5EF4-FFF2-40B4-BE49-F238E27FC236}">
                <a16:creationId xmlns:a16="http://schemas.microsoft.com/office/drawing/2014/main" id="{A64FF0BA-674A-4672-95BE-C8EFD33E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5262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docs.djangoproject.com/en/5.2/intro/</a:t>
            </a:r>
          </a:p>
        </p:txBody>
      </p:sp>
      <p:sp>
        <p:nvSpPr>
          <p:cNvPr id="6" name="路由、模型、模板與表單">
            <a:extLst xmlns:a="http://schemas.openxmlformats.org/drawingml/2006/main">
              <a:ext uri="{FF2B5EF4-FFF2-40B4-BE49-F238E27FC236}">
                <a16:creationId xmlns:a16="http://schemas.microsoft.com/office/drawing/2014/main" id="{F2871F2E-6526-4ED3-9D92-20292DD4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384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URLs, models, templates and forms</a:t>
            </a:r>
          </a:p>
        </p:txBody>
      </p:sp>
      <p:sp>
        <p:nvSpPr>
          <p:cNvPr id="7" name="docs.djangoproject.com/en/5.2/topics/">
            <a:extLst xmlns:a="http://schemas.openxmlformats.org/drawingml/2006/main">
              <a:ext uri="{FF2B5EF4-FFF2-40B4-BE49-F238E27FC236}">
                <a16:creationId xmlns:a16="http://schemas.microsoft.com/office/drawing/2014/main" id="{EF6A264B-8993-4438-9BD0-A8BC8652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860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docs.djangoproject.com/en/5.2/topics/</a:t>
            </a:r>
          </a:p>
        </p:txBody>
      </p:sp>
      <p:sp>
        <p:nvSpPr>
          <p:cNvPr id="8" name="設定、App 與管理後台">
            <a:extLst xmlns:a="http://schemas.openxmlformats.org/drawingml/2006/main">
              <a:ext uri="{FF2B5EF4-FFF2-40B4-BE49-F238E27FC236}">
                <a16:creationId xmlns:a16="http://schemas.microsoft.com/office/drawing/2014/main" id="{209863E2-3D89-45E6-96F0-4995EE71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719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Settings, apps and admin</a:t>
            </a:r>
          </a:p>
        </p:txBody>
      </p:sp>
      <p:sp>
        <p:nvSpPr>
          <p:cNvPr id="9" name="docs.djangoproject.com/en/5.2/ref/">
            <a:extLst xmlns:a="http://schemas.openxmlformats.org/drawingml/2006/main">
              <a:ext uri="{FF2B5EF4-FFF2-40B4-BE49-F238E27FC236}">
                <a16:creationId xmlns:a16="http://schemas.microsoft.com/office/drawing/2014/main" id="{5C3B302B-F597-4371-99B9-222E460D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952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docs.djangoproject.com/en/5.2/ref/</a:t>
            </a:r>
          </a:p>
        </p:txBody>
      </p:sp>
      <p:sp>
        <p:nvSpPr>
          <p:cNvPr id="10" name="測試與部署">
            <a:extLst xmlns:a="http://schemas.openxmlformats.org/drawingml/2006/main">
              <a:ext uri="{FF2B5EF4-FFF2-40B4-BE49-F238E27FC236}">
                <a16:creationId xmlns:a16="http://schemas.microsoft.com/office/drawing/2014/main" id="{BD1DCDDA-A195-45F2-80AA-9700E08C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05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86C"/>
                </a:solidFill>
                <a:latin typeface="Arial"/>
                <a:ea typeface="Arial"/>
                <a:cs typeface="Arial"/>
              </a:rPr>
              <a:t>Testing and deployment</a:t>
            </a:r>
          </a:p>
        </p:txBody>
      </p:sp>
      <p:sp>
        <p:nvSpPr>
          <p:cNvPr id="11" name="docs.djangoproject.com/en/5.2/howto/">
            <a:extLst xmlns:a="http://schemas.openxmlformats.org/drawingml/2006/main">
              <a:ext uri="{FF2B5EF4-FFF2-40B4-BE49-F238E27FC236}">
                <a16:creationId xmlns:a16="http://schemas.microsoft.com/office/drawing/2014/main" id="{67232C8F-BA96-45D3-892B-B30581FF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529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docs.djangoproject.com/en/5.2/howto/</a:t>
            </a:r>
          </a:p>
        </p:txBody>
      </p:sp>
      <p:sp>
        <p:nvSpPr>
          <p:cNvPr id="12" name="各頁備註附對應來源。範例以 Python 3.12、Django 5.2.18 驗證。">
            <a:extLst xmlns:a="http://schemas.openxmlformats.org/drawingml/2006/main">
              <a:ext uri="{FF2B5EF4-FFF2-40B4-BE49-F238E27FC236}">
                <a16:creationId xmlns:a16="http://schemas.microsoft.com/office/drawing/2014/main" id="{4188180F-4187-45B9-94A6-72A566D3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864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D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D73"/>
                </a:solidFill>
                <a:latin typeface="Arial"/>
                <a:ea typeface="Arial"/>
                <a:cs typeface="Arial"/>
              </a:rPr>
              <a:t>Slide notes link to sources. The example was verified with Python 3.12 and Django 5.2.18.</a:t>
            </a:r>
          </a:p>
        </p:txBody>
      </p:sp>
    </p:spTree>
    <p:extLst>
      <p:ext uri="{BB962C8B-B14F-4D97-AF65-F5344CB8AC3E}">
        <p14:creationId xmlns:p14="http://schemas.microsoft.com/office/powerpoint/2010/main" val="2114526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2026-10-07T05:05:05.6680000Z</dcterms:created>
  <dcterms:modified xsi:type="dcterms:W3CDTF">2026-10-07T05:05:05.6680000Z</dcterms:modified>
</coreProperties>
</file>