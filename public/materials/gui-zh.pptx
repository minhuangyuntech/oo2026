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3be67e44445e6" /><Relationship Type="http://schemas.openxmlformats.org/officeDocument/2006/relationships/extended-properties" Target="/docProps/app.xml" Id="R5d03a40501fc46c0" /><Relationship Type="http://schemas.openxmlformats.org/officeDocument/2006/relationships/officeDocument" Target="/ppt/presentation.xml" Id="R96129632e820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3f08a59ad4edc"/>
  </p:sldMasterIdLst>
  <p:notesMasterIdLst>
    <p:notesMasterId xmlns:r="http://schemas.openxmlformats.org/officeDocument/2006/relationships" r:id="R9280ca695efc4591"/>
  </p:notesMasterIdLst>
  <p:sldIdLst>
    <p:sldId xmlns:r="http://schemas.openxmlformats.org/officeDocument/2006/relationships" id="256" r:id="R4e2f821ea996441e"/>
    <p:sldId xmlns:r="http://schemas.openxmlformats.org/officeDocument/2006/relationships" id="257" r:id="Rd1d89a075f9143b5"/>
    <p:sldId xmlns:r="http://schemas.openxmlformats.org/officeDocument/2006/relationships" id="258" r:id="R2367f00d74614e9e"/>
    <p:sldId xmlns:r="http://schemas.openxmlformats.org/officeDocument/2006/relationships" id="259" r:id="Re83688a125594baf"/>
    <p:sldId xmlns:r="http://schemas.openxmlformats.org/officeDocument/2006/relationships" id="260" r:id="Re7e0fa157e5f48b7"/>
    <p:sldId xmlns:r="http://schemas.openxmlformats.org/officeDocument/2006/relationships" id="261" r:id="Ref8fcfea9c7d415c"/>
    <p:sldId xmlns:r="http://schemas.openxmlformats.org/officeDocument/2006/relationships" id="262" r:id="R8c4d383922a34d7a"/>
    <p:sldId xmlns:r="http://schemas.openxmlformats.org/officeDocument/2006/relationships" id="263" r:id="R1c9f655f0aae4137"/>
    <p:sldId xmlns:r="http://schemas.openxmlformats.org/officeDocument/2006/relationships" id="264" r:id="R14ade8ae6a0f47a5"/>
    <p:sldId xmlns:r="http://schemas.openxmlformats.org/officeDocument/2006/relationships" id="265" r:id="R988221abd96a428e"/>
    <p:sldId xmlns:r="http://schemas.openxmlformats.org/officeDocument/2006/relationships" id="266" r:id="R02e7cc254e4b4adb"/>
    <p:sldId xmlns:r="http://schemas.openxmlformats.org/officeDocument/2006/relationships" id="267" r:id="R8edf94a2778c4be4"/>
    <p:sldId xmlns:r="http://schemas.openxmlformats.org/officeDocument/2006/relationships" id="268" r:id="Ra84bf22cff744245"/>
    <p:sldId xmlns:r="http://schemas.openxmlformats.org/officeDocument/2006/relationships" id="269" r:id="R01c472ef05004503"/>
    <p:sldId xmlns:r="http://schemas.openxmlformats.org/officeDocument/2006/relationships" id="270" r:id="R99f17932e1494b82"/>
    <p:sldId xmlns:r="http://schemas.openxmlformats.org/officeDocument/2006/relationships" id="271" r:id="R9949cd4425e24428"/>
    <p:sldId xmlns:r="http://schemas.openxmlformats.org/officeDocument/2006/relationships" id="272" r:id="R157f8be8f97a417f"/>
    <p:sldId xmlns:r="http://schemas.openxmlformats.org/officeDocument/2006/relationships" id="273" r:id="R6c42398438734b80"/>
    <p:sldId xmlns:r="http://schemas.openxmlformats.org/officeDocument/2006/relationships" id="274" r:id="R2bcdcbb0e8674aa0"/>
    <p:sldId xmlns:r="http://schemas.openxmlformats.org/officeDocument/2006/relationships" id="275" r:id="Refec3b44e9e049a5"/>
    <p:sldId xmlns:r="http://schemas.openxmlformats.org/officeDocument/2006/relationships" id="276" r:id="R68881a67da154983"/>
    <p:sldId xmlns:r="http://schemas.openxmlformats.org/officeDocument/2006/relationships" id="277" r:id="R4659abb3a5fd45f7"/>
    <p:sldId xmlns:r="http://schemas.openxmlformats.org/officeDocument/2006/relationships" id="278" r:id="R7c0fb3f9547440a0"/>
    <p:sldId xmlns:r="http://schemas.openxmlformats.org/officeDocument/2006/relationships" id="279" r:id="Rec1450c044be48f5"/>
    <p:sldId xmlns:r="http://schemas.openxmlformats.org/officeDocument/2006/relationships" id="280" r:id="R20a20bebcc894825"/>
    <p:sldId xmlns:r="http://schemas.openxmlformats.org/officeDocument/2006/relationships" id="281" r:id="R55016771f8fe4242"/>
    <p:sldId xmlns:r="http://schemas.openxmlformats.org/officeDocument/2006/relationships" id="282" r:id="R421303b1dc4642dd"/>
    <p:sldId xmlns:r="http://schemas.openxmlformats.org/officeDocument/2006/relationships" id="283" r:id="R92968367ae76416e"/>
    <p:sldId xmlns:r="http://schemas.openxmlformats.org/officeDocument/2006/relationships" id="284" r:id="Rbf560222c45d46e8"/>
    <p:sldId xmlns:r="http://schemas.openxmlformats.org/officeDocument/2006/relationships" id="285" r:id="Ra240df381ed8481d"/>
    <p:sldId xmlns:r="http://schemas.openxmlformats.org/officeDocument/2006/relationships" id="286" r:id="R959ced69e3234ec7"/>
    <p:sldId xmlns:r="http://schemas.openxmlformats.org/officeDocument/2006/relationships" id="287" r:id="R1ccd57a2f41a42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155cf3e6849ea" /><Relationship Type="http://schemas.openxmlformats.org/officeDocument/2006/relationships/slideMaster" Target="/ppt/slideMasters/slideMaster1.xml" Id="R6d43f08a59ad4edc" /><Relationship Type="http://schemas.openxmlformats.org/officeDocument/2006/relationships/notesMaster" Target="/ppt/notesMasters/notesMaster1.xml" Id="R9280ca695efc4591" /><Relationship Type="http://schemas.openxmlformats.org/officeDocument/2006/relationships/presProps" Target="/ppt/presProps.xml" Id="Rec043ec44cb344ab" /><Relationship Type="http://schemas.openxmlformats.org/officeDocument/2006/relationships/tableStyles" Target="/ppt/tableStyles.xml" Id="R97e1fc7f40f648c8" /><Relationship Type="http://schemas.openxmlformats.org/officeDocument/2006/relationships/slide" Target="/ppt/slides/slide1.xml" Id="R4e2f821ea996441e" /><Relationship Type="http://schemas.openxmlformats.org/officeDocument/2006/relationships/slide" Target="/ppt/slides/slide2.xml" Id="Rd1d89a075f9143b5" /><Relationship Type="http://schemas.openxmlformats.org/officeDocument/2006/relationships/slide" Target="/ppt/slides/slide3.xml" Id="R2367f00d74614e9e" /><Relationship Type="http://schemas.openxmlformats.org/officeDocument/2006/relationships/slide" Target="/ppt/slides/slide4.xml" Id="Re83688a125594baf" /><Relationship Type="http://schemas.openxmlformats.org/officeDocument/2006/relationships/slide" Target="/ppt/slides/slide5.xml" Id="Re7e0fa157e5f48b7" /><Relationship Type="http://schemas.openxmlformats.org/officeDocument/2006/relationships/slide" Target="/ppt/slides/slide6.xml" Id="Ref8fcfea9c7d415c" /><Relationship Type="http://schemas.openxmlformats.org/officeDocument/2006/relationships/slide" Target="/ppt/slides/slide7.xml" Id="R8c4d383922a34d7a" /><Relationship Type="http://schemas.openxmlformats.org/officeDocument/2006/relationships/slide" Target="/ppt/slides/slide8.xml" Id="R1c9f655f0aae4137" /><Relationship Type="http://schemas.openxmlformats.org/officeDocument/2006/relationships/slide" Target="/ppt/slides/slide9.xml" Id="R14ade8ae6a0f47a5" /><Relationship Type="http://schemas.openxmlformats.org/officeDocument/2006/relationships/slide" Target="/ppt/slides/slide10.xml" Id="R988221abd96a428e" /><Relationship Type="http://schemas.openxmlformats.org/officeDocument/2006/relationships/slide" Target="/ppt/slides/slide11.xml" Id="R02e7cc254e4b4adb" /><Relationship Type="http://schemas.openxmlformats.org/officeDocument/2006/relationships/slide" Target="/ppt/slides/slide12.xml" Id="R8edf94a2778c4be4" /><Relationship Type="http://schemas.openxmlformats.org/officeDocument/2006/relationships/slide" Target="/ppt/slides/slide13.xml" Id="Ra84bf22cff744245" /><Relationship Type="http://schemas.openxmlformats.org/officeDocument/2006/relationships/slide" Target="/ppt/slides/slide14.xml" Id="R01c472ef05004503" /><Relationship Type="http://schemas.openxmlformats.org/officeDocument/2006/relationships/slide" Target="/ppt/slides/slide15.xml" Id="R99f17932e1494b82" /><Relationship Type="http://schemas.openxmlformats.org/officeDocument/2006/relationships/slide" Target="/ppt/slides/slide16.xml" Id="R9949cd4425e24428" /><Relationship Type="http://schemas.openxmlformats.org/officeDocument/2006/relationships/slide" Target="/ppt/slides/slide17.xml" Id="R157f8be8f97a417f" /><Relationship Type="http://schemas.openxmlformats.org/officeDocument/2006/relationships/slide" Target="/ppt/slides/slide18.xml" Id="R6c42398438734b80" /><Relationship Type="http://schemas.openxmlformats.org/officeDocument/2006/relationships/slide" Target="/ppt/slides/slide19.xml" Id="R2bcdcbb0e8674aa0" /><Relationship Type="http://schemas.openxmlformats.org/officeDocument/2006/relationships/slide" Target="/ppt/slides/slide20.xml" Id="Refec3b44e9e049a5" /><Relationship Type="http://schemas.openxmlformats.org/officeDocument/2006/relationships/slide" Target="/ppt/slides/slide21.xml" Id="R68881a67da154983" /><Relationship Type="http://schemas.openxmlformats.org/officeDocument/2006/relationships/slide" Target="/ppt/slides/slide22.xml" Id="R4659abb3a5fd45f7" /><Relationship Type="http://schemas.openxmlformats.org/officeDocument/2006/relationships/slide" Target="/ppt/slides/slide23.xml" Id="R7c0fb3f9547440a0" /><Relationship Type="http://schemas.openxmlformats.org/officeDocument/2006/relationships/slide" Target="/ppt/slides/slide24.xml" Id="Rec1450c044be48f5" /><Relationship Type="http://schemas.openxmlformats.org/officeDocument/2006/relationships/slide" Target="/ppt/slides/slide25.xml" Id="R20a20bebcc894825" /><Relationship Type="http://schemas.openxmlformats.org/officeDocument/2006/relationships/slide" Target="/ppt/slides/slide26.xml" Id="R55016771f8fe4242" /><Relationship Type="http://schemas.openxmlformats.org/officeDocument/2006/relationships/slide" Target="/ppt/slides/slide27.xml" Id="R421303b1dc4642dd" /><Relationship Type="http://schemas.openxmlformats.org/officeDocument/2006/relationships/slide" Target="/ppt/slides/slide28.xml" Id="R92968367ae76416e" /><Relationship Type="http://schemas.openxmlformats.org/officeDocument/2006/relationships/slide" Target="/ppt/slides/slide29.xml" Id="Rbf560222c45d46e8" /><Relationship Type="http://schemas.openxmlformats.org/officeDocument/2006/relationships/slide" Target="/ppt/slides/slide30.xml" Id="Ra240df381ed8481d" /><Relationship Type="http://schemas.openxmlformats.org/officeDocument/2006/relationships/slide" Target="/ppt/slides/slide31.xml" Id="R959ced69e3234ec7" /><Relationship Type="http://schemas.openxmlformats.org/officeDocument/2006/relationships/slide" Target="/ppt/slides/slide32.xml" Id="R1ccd57a2f41a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f0aa25e0f54c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7b2c488c934d0c" /><Relationship Type="http://schemas.openxmlformats.org/officeDocument/2006/relationships/notesMaster" Target="/ppt/notesMasters/notesMaster1.xml" Id="R62ee78725d7d4c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9bf34c25f64c07" /><Relationship Type="http://schemas.openxmlformats.org/officeDocument/2006/relationships/notesMaster" Target="/ppt/notesMasters/notesMaster1.xml" Id="R279a203dc55443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64f855e8f4cc9" /><Relationship Type="http://schemas.openxmlformats.org/officeDocument/2006/relationships/notesMaster" Target="/ppt/notesMasters/notesMaster1.xml" Id="R097464a50f22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fc48bc1def4fff" /><Relationship Type="http://schemas.openxmlformats.org/officeDocument/2006/relationships/notesMaster" Target="/ppt/notesMasters/notesMaster1.xml" Id="R7f36df49afb94e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9083855e7e40cd" /><Relationship Type="http://schemas.openxmlformats.org/officeDocument/2006/relationships/notesMaster" Target="/ppt/notesMasters/notesMaster1.xml" Id="R744f2b171e2d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bc0256d8d4324" /><Relationship Type="http://schemas.openxmlformats.org/officeDocument/2006/relationships/notesMaster" Target="/ppt/notesMasters/notesMaster1.xml" Id="R39e3fb8305f248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908818191b4932" /><Relationship Type="http://schemas.openxmlformats.org/officeDocument/2006/relationships/notesMaster" Target="/ppt/notesMasters/notesMaster1.xml" Id="R6bc35748f83642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b13ced4dd4870" /><Relationship Type="http://schemas.openxmlformats.org/officeDocument/2006/relationships/notesMaster" Target="/ppt/notesMasters/notesMaster1.xml" Id="R44ac079b31ee4d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facc38cc164758" /><Relationship Type="http://schemas.openxmlformats.org/officeDocument/2006/relationships/notesMaster" Target="/ppt/notesMasters/notesMaster1.xml" Id="R03d464263a4142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1cea3d045942b7" /><Relationship Type="http://schemas.openxmlformats.org/officeDocument/2006/relationships/notesMaster" Target="/ppt/notesMasters/notesMaster1.xml" Id="Re9c62183fb3c46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10ab1e36f48a7" /><Relationship Type="http://schemas.openxmlformats.org/officeDocument/2006/relationships/notesMaster" Target="/ppt/notesMasters/notesMaster1.xml" Id="Recd71db664164d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f39205879047ef" /><Relationship Type="http://schemas.openxmlformats.org/officeDocument/2006/relationships/notesMaster" Target="/ppt/notesMasters/notesMaster1.xml" Id="R458a9da5b4b04f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dba664801c4a7f" /><Relationship Type="http://schemas.openxmlformats.org/officeDocument/2006/relationships/notesMaster" Target="/ppt/notesMasters/notesMaster1.xml" Id="Rdc2edb2c90934a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6cfd04e38945c7" /><Relationship Type="http://schemas.openxmlformats.org/officeDocument/2006/relationships/notesMaster" Target="/ppt/notesMasters/notesMaster1.xml" Id="R019050803b2e45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b2c2dc21e148e6" /><Relationship Type="http://schemas.openxmlformats.org/officeDocument/2006/relationships/notesMaster" Target="/ppt/notesMasters/notesMaster1.xml" Id="R85cc0f346aa340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c706a1a01a4ed9" /><Relationship Type="http://schemas.openxmlformats.org/officeDocument/2006/relationships/notesMaster" Target="/ppt/notesMasters/notesMaster1.xml" Id="R3f6f0cd1dccd43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18f63a7b364da3" /><Relationship Type="http://schemas.openxmlformats.org/officeDocument/2006/relationships/notesMaster" Target="/ppt/notesMasters/notesMaster1.xml" Id="R22fce0628fa14f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3bb5cc36734517" /><Relationship Type="http://schemas.openxmlformats.org/officeDocument/2006/relationships/notesMaster" Target="/ppt/notesMasters/notesMaster1.xml" Id="R1d9b802c35a74a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afc74f9ccd4070" /><Relationship Type="http://schemas.openxmlformats.org/officeDocument/2006/relationships/notesMaster" Target="/ppt/notesMasters/notesMaster1.xml" Id="Rca5005ad8dca48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8979d90974485c" /><Relationship Type="http://schemas.openxmlformats.org/officeDocument/2006/relationships/notesMaster" Target="/ppt/notesMasters/notesMaster1.xml" Id="Rc73f1fccd71545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90f172297c4991" /><Relationship Type="http://schemas.openxmlformats.org/officeDocument/2006/relationships/notesMaster" Target="/ppt/notesMasters/notesMaster1.xml" Id="R79e98290fcf342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b30d59f61b4663" /><Relationship Type="http://schemas.openxmlformats.org/officeDocument/2006/relationships/notesMaster" Target="/ppt/notesMasters/notesMaster1.xml" Id="R50fd9cc5b4c14a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ceb606e62640cf" /><Relationship Type="http://schemas.openxmlformats.org/officeDocument/2006/relationships/notesMaster" Target="/ppt/notesMasters/notesMaster1.xml" Id="R37e595eca3ca4e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5cff27746c48fc" /><Relationship Type="http://schemas.openxmlformats.org/officeDocument/2006/relationships/notesMaster" Target="/ppt/notesMasters/notesMaster1.xml" Id="Rca28a4f580964f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419f9a9ac94a4a" /><Relationship Type="http://schemas.openxmlformats.org/officeDocument/2006/relationships/notesMaster" Target="/ppt/notesMasters/notesMaster1.xml" Id="R3ddbb191c59441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f776e5174c4595" /><Relationship Type="http://schemas.openxmlformats.org/officeDocument/2006/relationships/notesMaster" Target="/ppt/notesMasters/notesMaster1.xml" Id="Rccd3e58959394e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72eb8fb00c4f66" /><Relationship Type="http://schemas.openxmlformats.org/officeDocument/2006/relationships/notesMaster" Target="/ppt/notesMasters/notesMaster1.xml" Id="R4ea2febaa90d43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bd4cb638ff4c71" /><Relationship Type="http://schemas.openxmlformats.org/officeDocument/2006/relationships/notesMaster" Target="/ppt/notesMasters/notesMaster1.xml" Id="Rec8b8f7338aa4f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8768d89c53480b" /><Relationship Type="http://schemas.openxmlformats.org/officeDocument/2006/relationships/notesMaster" Target="/ppt/notesMasters/notesMaster1.xml" Id="R9ba801bbd1bf41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262cc2dde848c6" /><Relationship Type="http://schemas.openxmlformats.org/officeDocument/2006/relationships/notesMaster" Target="/ppt/notesMasters/notesMaster1.xml" Id="R72e171e33d9a42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a58e69e06d24365" /><Relationship Type="http://schemas.openxmlformats.org/officeDocument/2006/relationships/notesMaster" Target="/ppt/notesMasters/notesMaster1.xml" Id="Re366dcf2cb354e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d6b12002654da1" /><Relationship Type="http://schemas.openxmlformats.org/officeDocument/2006/relationships/notesMaster" Target="/ppt/notesMasters/notesMaster1.xml" Id="Raf6bc28d2361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https://docs.python.org/3/faq/gui.html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https://www.riverbankcomputing.com/software/pyqt/intro</a:t>
            </a:r>
          </a:p>
          <a:p xmlns:a="http://schemas.openxmlformats.org/drawingml/2006/main">
            <a:r>
              <a:t>https://wxpython.org/pages/downloads/</a:t>
            </a:r>
          </a:p>
          <a:p xmlns:a="http://schemas.openxmlformats.org/drawingml/2006/main">
            <a:r>
              <a:t>https://kivy.org/doc/stable/gettingstarted/installation.html</a:t>
            </a:r>
          </a:p>
          <a:p xmlns:a="http://schemas.openxmlformats.org/drawingml/2006/main">
            <a:r>
              <a:t>https://dearpygui.readthedocs.io/en/latest/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https://docs.python.org/3.12/library/venv.html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https://docs.wxpython.org/wx.Button.html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https://www.riverbankcomputing.com/software/pyqt/intro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https://doc.qt.io/qtforpython-6/gettingstarted.html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https://www.riverbankcomputing.com/software/pyqt/intro</a:t>
            </a:r>
          </a:p>
          <a:p xmlns:a="http://schemas.openxmlformats.org/drawingml/2006/main">
            <a:r>
              <a:t>https://pypi.org/project/PyQt6/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https://wxpython.org/pages/downloads/</a:t>
            </a:r>
          </a:p>
          <a:p xmlns:a="http://schemas.openxmlformats.org/drawingml/2006/main">
            <a:r>
              <a:t>https://docs.wxpython.org/wx.Button.html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https://wxpython.org/pages/downloads/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https://docs.wxpython.org/wx.Button.html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https://docs.wxpython.org/wx.Button.html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https://kivy.org/doc/stable/gettingstarted/installation.html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https://kivy.org/doc/stable/api-kivy.uix.boxlayout.html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https://kivy.org/doc/stable/gettingstarted/installation.html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https://kivy.org/doc/stable/api-kivy.uix.boxlayout.html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https://kivy.org/doc/stable/api-kivy.uix.boxlayout.html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https://dearpygui.readthedocs.io/en/latest/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  <a:p xmlns:a="http://schemas.openxmlformats.org/drawingml/2006/main">
            <a:r>
              <a:t>https://dearpygui.readthedocs.io/en/latest/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https://docs.wxpython.org/wx.Button.html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https://wxpython.org/pages/downloads/</a:t>
            </a:r>
          </a:p>
          <a:p xmlns:a="http://schemas.openxmlformats.org/drawingml/2006/main">
            <a:r>
              <a:t>https://kivy.org/doc/stable/gettingstarted/installation.html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https://wxpython.org/pages/downloads/</a:t>
            </a:r>
          </a:p>
          <a:p xmlns:a="http://schemas.openxmlformats.org/drawingml/2006/main">
            <a:r>
              <a:t>https://kivy.org/doc/stable/gettingstarted/installation.html</a:t>
            </a:r>
          </a:p>
          <a:p xmlns:a="http://schemas.openxmlformats.org/drawingml/2006/main">
            <a:r>
              <a:t>https://dearpygui.readthedocs.io/en/latest/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https://docs.python.org/3.12/library/tkinter.html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>https://docs.python.org/3/faq/gui.html</a:t>
            </a:r>
          </a:p>
          <a:p xmlns:a="http://schemas.openxmlformats.org/drawingml/2006/main">
            <a:r>
              <a:t>https://doc.qt.io/qtforpython-6/gettingstarted.html</a:t>
            </a:r>
          </a:p>
          <a:p xmlns:a="http://schemas.openxmlformats.org/drawingml/2006/main">
            <a:r>
              <a:t>https://doc.qt.io/qtforpython-6/tutorials/basictutorial/clickablebutton.html</a:t>
            </a:r>
          </a:p>
          <a:p xmlns:a="http://schemas.openxmlformats.org/drawingml/2006/main">
            <a:r>
              <a:t>https://www.riverbankcomputing.com/software/pyqt/intro</a:t>
            </a:r>
          </a:p>
          <a:p xmlns:a="http://schemas.openxmlformats.org/drawingml/2006/main">
            <a:r>
              <a:t>https://pypi.org/project/PyQt6/</a:t>
            </a:r>
          </a:p>
          <a:p xmlns:a="http://schemas.openxmlformats.org/drawingml/2006/main">
            <a:r>
              <a:t>https://wxpython.org/pages/downloads/</a:t>
            </a:r>
          </a:p>
          <a:p xmlns:a="http://schemas.openxmlformats.org/drawingml/2006/main">
            <a:r>
              <a:t>https://docs.wxpython.org/wx.Button.html</a:t>
            </a:r>
          </a:p>
          <a:p xmlns:a="http://schemas.openxmlformats.org/drawingml/2006/main">
            <a:r>
              <a:t>https://kivy.org/doc/stable/gettingstarted/installation.html</a:t>
            </a:r>
          </a:p>
          <a:p xmlns:a="http://schemas.openxmlformats.org/drawingml/2006/main">
            <a:r>
              <a:t>https://kivy.org/doc/stable/api-kivy.app.html</a:t>
            </a:r>
          </a:p>
          <a:p xmlns:a="http://schemas.openxmlformats.org/drawingml/2006/main">
            <a:r>
              <a:t>https://kivy.org/doc/stable/api-kivy.uix.boxlayout.html</a:t>
            </a:r>
          </a:p>
          <a:p xmlns:a="http://schemas.openxmlformats.org/drawingml/2006/main">
            <a:r>
              <a:t>https://dearpygui.readthedocs.io/en/latest/tutorials/first-steps.html</a:t>
            </a:r>
          </a:p>
          <a:p xmlns:a="http://schemas.openxmlformats.org/drawingml/2006/main">
            <a:r>
              <a:t>https://dearpygui.readthedocs.io/en/latest/documentation/item-callbacks.html</a:t>
            </a:r>
          </a:p>
          <a:p xmlns:a="http://schemas.openxmlformats.org/drawingml/2006/main">
            <a:r>
              <a:t>https://dearpygui.readthedocs.io/en/latest/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866d4a6dc4b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bdfb7bbeb42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6eedb510749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7717d4c2b4b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ea61a404b4b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13b0b8e92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C57A16-B067-4B3B-9042-F7403BACD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398A76-B7F8-4907-B1CA-28DB8FB161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701909-E713-4DD1-B64C-B0EFDE124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61FF30-3179-4234-BA46-FA922FD51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013C96-9B5A-4053-BEFD-03ABE7AA13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47F435-0C14-4742-8FD9-146511C8C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7A2D91-5BA8-49B4-98EF-6C6D9B12C1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32BFC7-F907-4577-AC73-692156380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ED8BD-CDE9-4B04-B742-FB9A9E1AC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192B3F-4FF6-4685-9EF2-6C755DAD6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12d27b5284fb6" /><Relationship Type="http://schemas.openxmlformats.org/officeDocument/2006/relationships/slideLayout" Target="/ppt/slideLayouts/slideLayout1.xml" Id="R5f60ec6585d84e73" /><Relationship Type="http://schemas.openxmlformats.org/officeDocument/2006/relationships/slideLayout" Target="/ppt/slideLayouts/slideLayout2.xml" Id="R58a7df9bce5c41ee" /><Relationship Type="http://schemas.openxmlformats.org/officeDocument/2006/relationships/slideLayout" Target="/ppt/slideLayouts/slideLayout3.xml" Id="R97e0e0cec81542f9" /><Relationship Type="http://schemas.openxmlformats.org/officeDocument/2006/relationships/slideLayout" Target="/ppt/slideLayouts/slideLayout4.xml" Id="Rdfdb406649974cbe" /><Relationship Type="http://schemas.openxmlformats.org/officeDocument/2006/relationships/slideLayout" Target="/ppt/slideLayouts/slideLayout5.xml" Id="Rc5e7c83e75c442c3" /><Relationship Type="http://schemas.openxmlformats.org/officeDocument/2006/relationships/slideLayout" Target="/ppt/slideLayouts/slideLayout6.xml" Id="Ra14639b61e2f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0ec6585d84e73"/>
    <p:sldLayoutId xmlns:r="http://schemas.openxmlformats.org/officeDocument/2006/relationships" id="2147483650" r:id="R58a7df9bce5c41ee"/>
    <p:sldLayoutId xmlns:r="http://schemas.openxmlformats.org/officeDocument/2006/relationships" id="2147483651" r:id="R97e0e0cec81542f9"/>
    <p:sldLayoutId xmlns:r="http://schemas.openxmlformats.org/officeDocument/2006/relationships" id="2147483652" r:id="Rdfdb406649974cbe"/>
    <p:sldLayoutId xmlns:r="http://schemas.openxmlformats.org/officeDocument/2006/relationships" id="2147483653" r:id="Rc5e7c83e75c442c3"/>
    <p:sldLayoutId xmlns:r="http://schemas.openxmlformats.org/officeDocument/2006/relationships" id="2147483654" r:id="Ra14639b61e2f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0bb5ef39545e7" /><Relationship Type="http://schemas.openxmlformats.org/officeDocument/2006/relationships/image" Target="/ppt/media/image.png" Id="Rc6ac469637bc4cd4" /><Relationship Type="http://schemas.openxmlformats.org/officeDocument/2006/relationships/notesSlide" Target="/ppt/notesSlides/notesSlide1.xml" Id="R983d61ce52e0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10f72857a44bb" /><Relationship Type="http://schemas.openxmlformats.org/officeDocument/2006/relationships/notesSlide" Target="/ppt/notesSlides/notesSlide2.xml" Id="R98c3dfd7e264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daf55c8404fc6" /><Relationship Type="http://schemas.openxmlformats.org/officeDocument/2006/relationships/notesSlide" Target="/ppt/notesSlides/notesSlide3.xml" Id="Rd76e48ed31f7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f82e743604138" /><Relationship Type="http://schemas.openxmlformats.org/officeDocument/2006/relationships/notesSlide" Target="/ppt/notesSlides/notesSlide4.xml" Id="R4b0ddfe27c7646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86418ce1a4435" /><Relationship Type="http://schemas.openxmlformats.org/officeDocument/2006/relationships/notesSlide" Target="/ppt/notesSlides/notesSlide5.xml" Id="R333001d2e841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0b61ff0b044d5" /><Relationship Type="http://schemas.openxmlformats.org/officeDocument/2006/relationships/image" Target="/ppt/media/image.jpeg" Id="R4149d037d2e5437e" /><Relationship Type="http://schemas.openxmlformats.org/officeDocument/2006/relationships/notesSlide" Target="/ppt/notesSlides/notesSlide6.xml" Id="R6cea1f832d84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30994a7fe4267" /><Relationship Type="http://schemas.openxmlformats.org/officeDocument/2006/relationships/notesSlide" Target="/ppt/notesSlides/notesSlide7.xml" Id="Rbbac610514634d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a8308c2a84a18" /><Relationship Type="http://schemas.openxmlformats.org/officeDocument/2006/relationships/notesSlide" Target="/ppt/notesSlides/notesSlide8.xml" Id="Ra80318fd4c76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f1f95c540448b" /><Relationship Type="http://schemas.openxmlformats.org/officeDocument/2006/relationships/notesSlide" Target="/ppt/notesSlides/notesSlide9.xml" Id="Rc7ab2f32d97549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aaba3050d40d1" /><Relationship Type="http://schemas.openxmlformats.org/officeDocument/2006/relationships/image" Target="/ppt/media/image2.jpeg" Id="R14835af4d9ae4160" /><Relationship Type="http://schemas.openxmlformats.org/officeDocument/2006/relationships/notesSlide" Target="/ppt/notesSlides/notesSlide10.xml" Id="R1139410d71b8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b7ceb16db4cfc" /><Relationship Type="http://schemas.openxmlformats.org/officeDocument/2006/relationships/notesSlide" Target="/ppt/notesSlides/notesSlide11.xml" Id="R3874d3e5e16548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5a81e0fc54965" /><Relationship Type="http://schemas.openxmlformats.org/officeDocument/2006/relationships/notesSlide" Target="/ppt/notesSlides/notesSlide12.xml" Id="Rfd0d9a882d7448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441f7d77744ff" /><Relationship Type="http://schemas.openxmlformats.org/officeDocument/2006/relationships/notesSlide" Target="/ppt/notesSlides/notesSlide13.xml" Id="R5066822831ca47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279279b2a4bcc" /><Relationship Type="http://schemas.openxmlformats.org/officeDocument/2006/relationships/notesSlide" Target="/ppt/notesSlides/notesSlide14.xml" Id="R7a6da52b8f4f41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2ab5f74be448a" /><Relationship Type="http://schemas.openxmlformats.org/officeDocument/2006/relationships/image" Target="/ppt/media/image3.jpeg" Id="Rb7c11a814f2a40f1" /><Relationship Type="http://schemas.openxmlformats.org/officeDocument/2006/relationships/notesSlide" Target="/ppt/notesSlides/notesSlide15.xml" Id="R857226868ca642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addaa486f4e23" /><Relationship Type="http://schemas.openxmlformats.org/officeDocument/2006/relationships/notesSlide" Target="/ppt/notesSlides/notesSlide16.xml" Id="R543e509760cb4c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57c33c8da4bb8" /><Relationship Type="http://schemas.openxmlformats.org/officeDocument/2006/relationships/notesSlide" Target="/ppt/notesSlides/notesSlide17.xml" Id="R5d41f41d721d47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2d88f70fc48ed" /><Relationship Type="http://schemas.openxmlformats.org/officeDocument/2006/relationships/notesSlide" Target="/ppt/notesSlides/notesSlide18.xml" Id="R1e771c5513434d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55f48146c4687" /><Relationship Type="http://schemas.openxmlformats.org/officeDocument/2006/relationships/image" Target="/ppt/media/image4.jpeg" Id="Rc89daa085e614650" /><Relationship Type="http://schemas.openxmlformats.org/officeDocument/2006/relationships/notesSlide" Target="/ppt/notesSlides/notesSlide19.xml" Id="Rc74a54a13e6242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59d86881b481c" /><Relationship Type="http://schemas.openxmlformats.org/officeDocument/2006/relationships/notesSlide" Target="/ppt/notesSlides/notesSlide20.xml" Id="Re9df94577a0f45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7306ac99a40ae" /><Relationship Type="http://schemas.openxmlformats.org/officeDocument/2006/relationships/notesSlide" Target="/ppt/notesSlides/notesSlide21.xml" Id="R4bb3d49bbc7845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72de4b77442ee" /><Relationship Type="http://schemas.openxmlformats.org/officeDocument/2006/relationships/notesSlide" Target="/ppt/notesSlides/notesSlide22.xml" Id="R4ff6d4b6a6884e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b83a977da4a51" /><Relationship Type="http://schemas.openxmlformats.org/officeDocument/2006/relationships/image" Target="/ppt/media/image5.jpeg" Id="Rfd03338af9654a88" /><Relationship Type="http://schemas.openxmlformats.org/officeDocument/2006/relationships/notesSlide" Target="/ppt/notesSlides/notesSlide23.xml" Id="Rd640e44ba4ba44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24af9c6c64116" /><Relationship Type="http://schemas.openxmlformats.org/officeDocument/2006/relationships/notesSlide" Target="/ppt/notesSlides/notesSlide24.xml" Id="Rd3b3a62bcad64a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41b2ec19e404e" /><Relationship Type="http://schemas.openxmlformats.org/officeDocument/2006/relationships/notesSlide" Target="/ppt/notesSlides/notesSlide25.xml" Id="R06f6b99b708449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0a59e74464958" /><Relationship Type="http://schemas.openxmlformats.org/officeDocument/2006/relationships/notesSlide" Target="/ppt/notesSlides/notesSlide26.xml" Id="Rce6b6f9a316540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ab24dfa8045dc" /><Relationship Type="http://schemas.openxmlformats.org/officeDocument/2006/relationships/notesSlide" Target="/ppt/notesSlides/notesSlide27.xml" Id="R0d19f0c27f1242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0d6084c0e4482" /><Relationship Type="http://schemas.openxmlformats.org/officeDocument/2006/relationships/notesSlide" Target="/ppt/notesSlides/notesSlide28.xml" Id="R3a12c28e14044da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50bd453394553" /><Relationship Type="http://schemas.openxmlformats.org/officeDocument/2006/relationships/notesSlide" Target="/ppt/notesSlides/notesSlide29.xml" Id="R38a6d6c8dc7249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6e4fc23254df3" /><Relationship Type="http://schemas.openxmlformats.org/officeDocument/2006/relationships/notesSlide" Target="/ppt/notesSlides/notesSlide30.xml" Id="R926ebd5d7c424f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c5bb96c524038" /><Relationship Type="http://schemas.openxmlformats.org/officeDocument/2006/relationships/notesSlide" Target="/ppt/notesSlides/notesSlide31.xml" Id="R3b903cfb58094a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3b71c400847df" /><Relationship Type="http://schemas.openxmlformats.org/officeDocument/2006/relationships/hyperlink" Target="https://docs.python.org/3.12/library/tkinter.html" TargetMode="External" Id="R1db4800d62dd4008" /><Relationship Type="http://schemas.openxmlformats.org/officeDocument/2006/relationships/hyperlink" Target="https://doc.qt.io/qtforpython-6/gettingstarted.html" TargetMode="External" Id="R7e45b87c10f249c9" /><Relationship Type="http://schemas.openxmlformats.org/officeDocument/2006/relationships/hyperlink" Target="https://www.riverbankcomputing.com/software/pyqt/intro" TargetMode="External" Id="R73a6d4ec1adb459a" /><Relationship Type="http://schemas.openxmlformats.org/officeDocument/2006/relationships/hyperlink" Target="https://wxpython.org/pages/downloads/" TargetMode="External" Id="Re7f76731f99b402f" /><Relationship Type="http://schemas.openxmlformats.org/officeDocument/2006/relationships/hyperlink" Target="https://kivy.org/doc/stable/gettingstarted/installation.html" TargetMode="External" Id="R4e93ac76d66047fe" /><Relationship Type="http://schemas.openxmlformats.org/officeDocument/2006/relationships/hyperlink" Target="https://dearpygui.readthedocs.io/en/latest/tutorials/first-steps.html" TargetMode="External" Id="R660d92971b494c1e" /><Relationship Type="http://schemas.openxmlformats.org/officeDocument/2006/relationships/notesSlide" Target="/ppt/notesSlides/notesSlide32.xml" Id="R9b99a49095ae44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FEFDE-6DFD-477E-A5AD-63A0D2EBE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c469637bc4c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五種常見做法">
            <a:extLst xmlns:a="http://schemas.openxmlformats.org/drawingml/2006/main">
              <a:ext uri="{FF2B5EF4-FFF2-40B4-BE49-F238E27FC236}">
                <a16:creationId xmlns:a16="http://schemas.microsoft.com/office/drawing/2014/main" id="{D4255C77-8C2F-4DA5-936D-A5ACCEB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53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五種常見做法</a:t>
            </a:r>
          </a:p>
        </p:txBody>
      </p:sp>
      <p:sp>
        <p:nvSpPr>
          <p:cNvPr id="3" name="Python 桌面 視窗程式">
            <a:extLst xmlns:a="http://schemas.openxmlformats.org/drawingml/2006/main">
              <a:ext uri="{FF2B5EF4-FFF2-40B4-BE49-F238E27FC236}">
                <a16:creationId xmlns:a16="http://schemas.microsoft.com/office/drawing/2014/main" id="{0C60C9AD-8C3E-4EE7-8FFF-C22D4B9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7334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桌面</a:t>
            </a:r>
          </a:p>
          <a:p xmlns:a="http://schemas.openxmlformats.org/drawingml/2006/main">
            <a:pPr algn="l"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視窗程式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D6097AAE-D5F2-4C75-B8B6-6179152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物件導向程式設計</a:t>
            </a:r>
          </a:p>
        </p:txBody>
      </p:sp>
      <p:sp>
        <p:nvSpPr>
          <p:cNvPr id="5" name="Tkinter · Qt · wxPython · Kivy · Dear PyGui">
            <a:extLst xmlns:a="http://schemas.openxmlformats.org/drawingml/2006/main">
              <a:ext uri="{FF2B5EF4-FFF2-40B4-BE49-F238E27FC236}">
                <a16:creationId xmlns:a16="http://schemas.microsoft.com/office/drawing/2014/main" id="{2368E873-D5EA-4CA0-8521-91D1B1C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Tkinter · Qt · wxPython · Kivy · Dear PyGui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099870B4-4993-46C2-936B-FBFF9AF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8816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五種工具，各有不同的介面風格">
            <a:extLst xmlns:a="http://schemas.openxmlformats.org/drawingml/2006/main">
              <a:ext uri="{FF2B5EF4-FFF2-40B4-BE49-F238E27FC236}">
                <a16:creationId xmlns:a16="http://schemas.microsoft.com/office/drawing/2014/main" id="{D2E58FBE-45E4-4A76-9FEC-095B4505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五種工具，各有不同的介面風格</a:t>
            </a:r>
          </a:p>
        </p:txBody>
      </p:sp>
      <p:sp>
        <p:nvSpPr>
          <p:cNvPr id="2" name="以工具家族整理；Qt 的兩套 Python 綁定合併介紹。">
            <a:extLst xmlns:a="http://schemas.openxmlformats.org/drawingml/2006/main">
              <a:ext uri="{FF2B5EF4-FFF2-40B4-BE49-F238E27FC236}">
                <a16:creationId xmlns:a16="http://schemas.microsoft.com/office/drawing/2014/main" id="{95422BE9-B14A-4920-BD89-4BFF98B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以工具家族整理；Qt 的兩套 Python 綁定合併介紹。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72AD-E556-46A1-99C0-A1AAB6E2D456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05125"/>
                <a:gridCol w="4524375"/>
                <a:gridCol w="3543300"/>
              </a:tblGrid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介面特性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常見應用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Tkinter／ttk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標準 GUI 介面；元件簡潔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小型工具、表單、入門程式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Qt：PySide6／PyQt6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完整元件、版面管理與訊號機制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桌面軟體、資料管理工具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wxPython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多數標準元件採用系統原生外觀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傳統桌面工具、表單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Kivy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自繪介面；支援觸控與手勢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觸控介面、跨裝置應用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Dear PyGui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GPU 繪製；內建圖表與控制元件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工程工具、即時資料介面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這是五種常見做法；目前沒有涵蓋所有 GUI 工具的統一使用率排名。">
            <a:extLst xmlns:a="http://schemas.openxmlformats.org/drawingml/2006/main">
              <a:ext uri="{FF2B5EF4-FFF2-40B4-BE49-F238E27FC236}">
                <a16:creationId xmlns:a16="http://schemas.microsoft.com/office/drawing/2014/main" id="{9607745D-7611-48CA-B595-74109936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這是五種常見做法；目前沒有涵蓋所有 GUI 工具的統一使用率排名。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C3D1B7E-B92F-4466-AB13-65A7A076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258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視窗程式的四個核心">
            <a:extLst xmlns:a="http://schemas.openxmlformats.org/drawingml/2006/main">
              <a:ext uri="{FF2B5EF4-FFF2-40B4-BE49-F238E27FC236}">
                <a16:creationId xmlns:a16="http://schemas.microsoft.com/office/drawing/2014/main" id="{F00CF4A7-1F6D-4370-B20C-F23CF359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視窗程式的四個核心</a:t>
            </a:r>
          </a:p>
        </p:txBody>
      </p:sp>
      <p:sp>
        <p:nvSpPr>
          <p:cNvPr id="2" name="使用者操作元件，事件處理函式再更新資料與畫面。">
            <a:extLst xmlns:a="http://schemas.openxmlformats.org/drawingml/2006/main">
              <a:ext uri="{FF2B5EF4-FFF2-40B4-BE49-F238E27FC236}">
                <a16:creationId xmlns:a16="http://schemas.microsoft.com/office/drawing/2014/main" id="{820A84BD-5651-4DE1-AE6F-1848774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使用者操作元件，事件處理函式再更新資料與畫面。</a:t>
            </a:r>
          </a:p>
        </p:txBody>
      </p:sp>
      <p:sp>
        <p:nvSpPr>
          <p:cNvPr id="3" name="元件 Widget">
            <a:extLst xmlns:a="http://schemas.openxmlformats.org/drawingml/2006/main">
              <a:ext uri="{FF2B5EF4-FFF2-40B4-BE49-F238E27FC236}">
                <a16:creationId xmlns:a16="http://schemas.microsoft.com/office/drawing/2014/main" id="{08C7A659-15F8-49D8-89EE-DB5EE5A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元件 Widget</a:t>
            </a:r>
          </a:p>
        </p:txBody>
      </p:sp>
      <p:sp>
        <p:nvSpPr>
          <p:cNvPr id="4" name="視窗、標籤、按鈕、輸入框等介面物件。">
            <a:extLst xmlns:a="http://schemas.openxmlformats.org/drawingml/2006/main">
              <a:ext uri="{FF2B5EF4-FFF2-40B4-BE49-F238E27FC236}">
                <a16:creationId xmlns:a16="http://schemas.microsoft.com/office/drawing/2014/main" id="{49E091CF-400E-4059-AE6F-9DD02E9E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視窗、標籤、按鈕、輸入框等介面物件。</a:t>
            </a:r>
          </a:p>
        </p:txBody>
      </p:sp>
      <p:sp>
        <p:nvSpPr>
          <p:cNvPr id="5" name="版面 Layout">
            <a:extLst xmlns:a="http://schemas.openxmlformats.org/drawingml/2006/main">
              <a:ext uri="{FF2B5EF4-FFF2-40B4-BE49-F238E27FC236}">
                <a16:creationId xmlns:a16="http://schemas.microsoft.com/office/drawing/2014/main" id="{DE9F1C5F-03F0-4F6B-AC34-7D9C062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版面 Layout</a:t>
            </a:r>
          </a:p>
        </p:txBody>
      </p:sp>
      <p:sp>
        <p:nvSpPr>
          <p:cNvPr id="6" name="決定元件的排列、間距與視窗縮放方式。">
            <a:extLst xmlns:a="http://schemas.openxmlformats.org/drawingml/2006/main">
              <a:ext uri="{FF2B5EF4-FFF2-40B4-BE49-F238E27FC236}">
                <a16:creationId xmlns:a16="http://schemas.microsoft.com/office/drawing/2014/main" id="{BF387477-CCEE-401A-BA97-E06B9B5B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決定元件的排列、間距與視窗縮放方式。</a:t>
            </a:r>
          </a:p>
        </p:txBody>
      </p:sp>
      <p:sp>
        <p:nvSpPr>
          <p:cNvPr id="7" name="事件 Event">
            <a:extLst xmlns:a="http://schemas.openxmlformats.org/drawingml/2006/main">
              <a:ext uri="{FF2B5EF4-FFF2-40B4-BE49-F238E27FC236}">
                <a16:creationId xmlns:a16="http://schemas.microsoft.com/office/drawing/2014/main" id="{A6799FDD-E99D-4E25-9E6B-71AD55C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事件 Event</a:t>
            </a:r>
          </a:p>
        </p:txBody>
      </p:sp>
      <p:sp>
        <p:nvSpPr>
          <p:cNvPr id="8" name="滑鼠點擊、鍵盤輸入或視窗關閉等動作。">
            <a:extLst xmlns:a="http://schemas.openxmlformats.org/drawingml/2006/main">
              <a:ext uri="{FF2B5EF4-FFF2-40B4-BE49-F238E27FC236}">
                <a16:creationId xmlns:a16="http://schemas.microsoft.com/office/drawing/2014/main" id="{4002404F-8AFB-449D-9443-8182599D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滑鼠點擊、鍵盤輸入或視窗關閉等動作。</a:t>
            </a:r>
          </a:p>
        </p:txBody>
      </p:sp>
      <p:sp>
        <p:nvSpPr>
          <p:cNvPr id="9" name="事件迴圈 Event loop">
            <a:extLst xmlns:a="http://schemas.openxmlformats.org/drawingml/2006/main">
              <a:ext uri="{FF2B5EF4-FFF2-40B4-BE49-F238E27FC236}">
                <a16:creationId xmlns:a16="http://schemas.microsoft.com/office/drawing/2014/main" id="{44ACD81E-82D6-49F4-BEEC-755A0190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事件迴圈 Event loop</a:t>
            </a:r>
          </a:p>
        </p:txBody>
      </p:sp>
      <p:sp>
        <p:nvSpPr>
          <p:cNvPr id="10" name="持續處理事件，呼叫對應的 callback 並更新畫面。">
            <a:extLst xmlns:a="http://schemas.openxmlformats.org/drawingml/2006/main">
              <a:ext uri="{FF2B5EF4-FFF2-40B4-BE49-F238E27FC236}">
                <a16:creationId xmlns:a16="http://schemas.microsoft.com/office/drawing/2014/main" id="{9A7D3E90-8882-4A08-B44F-4E7FD92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24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持續處理事件，呼叫對應的 callback 並更新畫面。</a:t>
            </a:r>
          </a:p>
        </p:txBody>
      </p:sp>
      <p:sp>
        <p:nvSpPr>
          <p:cNvPr id="11" name="本教材以類別保存 count 與介面元件，讓狀態和行為集中在同一個物件。">
            <a:extLst xmlns:a="http://schemas.openxmlformats.org/drawingml/2006/main">
              <a:ext uri="{FF2B5EF4-FFF2-40B4-BE49-F238E27FC236}">
                <a16:creationId xmlns:a16="http://schemas.microsoft.com/office/drawing/2014/main" id="{27228646-CB75-4892-ABA4-1FE0E2C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本教材以類別保存 count 與介面元件，讓狀態和行為集中在同一個物件。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98EF9A5C-6DFC-4651-9CEB-8131022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602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先建立獨立的 Python 環境">
            <a:extLst xmlns:a="http://schemas.openxmlformats.org/drawingml/2006/main">
              <a:ext uri="{FF2B5EF4-FFF2-40B4-BE49-F238E27FC236}">
                <a16:creationId xmlns:a16="http://schemas.microsoft.com/office/drawing/2014/main" id="{454F82AA-05EE-4725-810B-B6C86FC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先建立獨立的 Python 環境</a:t>
            </a:r>
          </a:p>
        </p:txBody>
      </p:sp>
      <p:sp>
        <p:nvSpPr>
          <p:cNvPr id="2" name="Windows PowerShell　｜　Python 3.12，64 位元">
            <a:extLst xmlns:a="http://schemas.openxmlformats.org/drawingml/2006/main">
              <a:ext uri="{FF2B5EF4-FFF2-40B4-BE49-F238E27FC236}">
                <a16:creationId xmlns:a16="http://schemas.microsoft.com/office/drawing/2014/main" id="{F472C04F-F36A-438A-AA31-9C838E9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Windows PowerShell　｜　Python 3.12，64 位元</a:t>
            </a:r>
          </a:p>
        </p:txBody>
      </p:sp>
      <p:sp>
        <p:nvSpPr>
          <p:cNvPr id="3" name="py -3.12 -m venv .venv">
            <a:extLst xmlns:a="http://schemas.openxmlformats.org/drawingml/2006/main">
              <a:ext uri="{FF2B5EF4-FFF2-40B4-BE49-F238E27FC236}">
                <a16:creationId xmlns:a16="http://schemas.microsoft.com/office/drawing/2014/main" id="{C222928C-B8BC-4FF2-86E1-98ECAEAB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6918A-A8F7-44EF-AA90-DE204EF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-m pip install --upgrade pip">
            <a:extLst xmlns:a="http://schemas.openxmlformats.org/drawingml/2006/main">
              <a:ext uri="{FF2B5EF4-FFF2-40B4-BE49-F238E27FC236}">
                <a16:creationId xmlns:a16="http://schemas.microsoft.com/office/drawing/2014/main" id="{122011D8-3F85-4514-B151-A27D4A12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install --upgrade pip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94BAA-C0DE-45DC-A06B-9B698049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.\.venv\Scripts\python -c &quot;import sys; print(sys.executable)&quot;">
            <a:extLst xmlns:a="http://schemas.openxmlformats.org/drawingml/2006/main">
              <a:ext uri="{FF2B5EF4-FFF2-40B4-BE49-F238E27FC236}">
                <a16:creationId xmlns:a16="http://schemas.microsoft.com/office/drawing/2014/main" id="{256CEE88-5A34-45B8-9655-169B495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-c "import sys; print(sys.executable)"</a:t>
            </a:r>
          </a:p>
        </p:txBody>
      </p:sp>
      <p:sp>
        <p:nvSpPr>
          <p:cNvPr id="8" name="建立 .venv">
            <a:extLst xmlns:a="http://schemas.openxmlformats.org/drawingml/2006/main">
              <a:ext uri="{FF2B5EF4-FFF2-40B4-BE49-F238E27FC236}">
                <a16:creationId xmlns:a16="http://schemas.microsoft.com/office/drawing/2014/main" id="{289AD8F8-93E1-450B-83D4-9F633C46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 .venv</a:t>
            </a:r>
          </a:p>
        </p:txBody>
      </p:sp>
      <p:sp>
        <p:nvSpPr>
          <p:cNvPr id="9" name="在範例資料夾中開啟 PowerShell，依序執行命令。">
            <a:extLst xmlns:a="http://schemas.openxmlformats.org/drawingml/2006/main">
              <a:ext uri="{FF2B5EF4-FFF2-40B4-BE49-F238E27FC236}">
                <a16:creationId xmlns:a16="http://schemas.microsoft.com/office/drawing/2014/main" id="{085E4C28-B9D7-41AB-A67A-72757FE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在範例資料夾中開啟 PowerShell，依序執行命令。</a:t>
            </a:r>
          </a:p>
        </p:txBody>
      </p:sp>
      <p:sp>
        <p:nvSpPr>
          <p:cNvPr id="10" name="使用同一個直譯器">
            <a:extLst xmlns:a="http://schemas.openxmlformats.org/drawingml/2006/main">
              <a:ext uri="{FF2B5EF4-FFF2-40B4-BE49-F238E27FC236}">
                <a16:creationId xmlns:a16="http://schemas.microsoft.com/office/drawing/2014/main" id="{5B2530E1-2959-42B7-BF56-BF709D7D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使用同一個直譯器</a:t>
            </a:r>
          </a:p>
        </p:txBody>
      </p:sp>
      <p:sp>
        <p:nvSpPr>
          <p:cNvPr id="11" name="安裝與執行都使用 .venv 內的 python，避免套件裝錯環境。">
            <a:extLst xmlns:a="http://schemas.openxmlformats.org/drawingml/2006/main">
              <a:ext uri="{FF2B5EF4-FFF2-40B4-BE49-F238E27FC236}">
                <a16:creationId xmlns:a16="http://schemas.microsoft.com/office/drawing/2014/main" id="{01A8E88B-8EC1-4BB5-B8F5-F641695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安裝與執行都使用 .venv 內的 python，避免套件裝錯環境。</a:t>
            </a:r>
          </a:p>
        </p:txBody>
      </p:sp>
      <p:sp>
        <p:nvSpPr>
          <p:cNvPr id="12" name="下列安裝與執行命令皆假設目前位置是解壓縮後的範例資料夾。">
            <a:extLst xmlns:a="http://schemas.openxmlformats.org/drawingml/2006/main">
              <a:ext uri="{FF2B5EF4-FFF2-40B4-BE49-F238E27FC236}">
                <a16:creationId xmlns:a16="http://schemas.microsoft.com/office/drawing/2014/main" id="{66BFD28F-8ACB-4C0C-BFFC-879FBFB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下列安裝與執行命令皆假設目前位置是解壓縮後的範例資料夾。</a:t>
            </a:r>
          </a:p>
        </p:txBody>
      </p:sp>
      <p:sp>
        <p:nvSpPr>
          <p:cNvPr id="13" name="共用環境">
            <a:extLst xmlns:a="http://schemas.openxmlformats.org/drawingml/2006/main">
              <a:ext uri="{FF2B5EF4-FFF2-40B4-BE49-F238E27FC236}">
                <a16:creationId xmlns:a16="http://schemas.microsoft.com/office/drawing/2014/main" id="{798758C3-00B0-4C43-872F-F8E257BE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共用環境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39211212-1AF7-4FC8-943E-D9EEB95C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1735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共同範例：按鈕計數器">
            <a:extLst xmlns:a="http://schemas.openxmlformats.org/drawingml/2006/main">
              <a:ext uri="{FF2B5EF4-FFF2-40B4-BE49-F238E27FC236}">
                <a16:creationId xmlns:a16="http://schemas.microsoft.com/office/drawing/2014/main" id="{2D67DD05-3AEE-40E4-8021-0F6D463F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共同範例：按鈕計數器</a:t>
            </a:r>
          </a:p>
        </p:txBody>
      </p:sp>
      <p:sp>
        <p:nvSpPr>
          <p:cNvPr id="2" name="五種工具完成相同的功能。">
            <a:extLst xmlns:a="http://schemas.openxmlformats.org/drawingml/2006/main">
              <a:ext uri="{FF2B5EF4-FFF2-40B4-BE49-F238E27FC236}">
                <a16:creationId xmlns:a16="http://schemas.microsoft.com/office/drawing/2014/main" id="{B85A5D6F-A1CD-4633-BC8D-8FB3E88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五種工具完成相同的功能。</a:t>
            </a:r>
          </a:p>
        </p:txBody>
      </p:sp>
      <p:sp>
        <p:nvSpPr>
          <p:cNvPr id="3" name="初始狀態">
            <a:extLst xmlns:a="http://schemas.openxmlformats.org/drawingml/2006/main">
              <a:ext uri="{FF2B5EF4-FFF2-40B4-BE49-F238E27FC236}">
                <a16:creationId xmlns:a16="http://schemas.microsoft.com/office/drawing/2014/main" id="{9214D164-2D34-4573-9F5D-0E9B23AF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初始狀態</a:t>
            </a:r>
          </a:p>
        </p:txBody>
      </p:sp>
      <p:sp>
        <p:nvSpPr>
          <p:cNvPr id="4" name="開啟視窗，標籤顯示 Count: 0。">
            <a:extLst xmlns:a="http://schemas.openxmlformats.org/drawingml/2006/main">
              <a:ext uri="{FF2B5EF4-FFF2-40B4-BE49-F238E27FC236}">
                <a16:creationId xmlns:a16="http://schemas.microsoft.com/office/drawing/2014/main" id="{BC2012E6-F2D5-4F68-981C-73A141B4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開啟視窗，標籤顯示 Count: 0。</a:t>
            </a:r>
          </a:p>
        </p:txBody>
      </p:sp>
      <p:sp>
        <p:nvSpPr>
          <p:cNvPr id="5" name="使用者操作">
            <a:extLst xmlns:a="http://schemas.openxmlformats.org/drawingml/2006/main">
              <a:ext uri="{FF2B5EF4-FFF2-40B4-BE49-F238E27FC236}">
                <a16:creationId xmlns:a16="http://schemas.microsoft.com/office/drawing/2014/main" id="{C587C8C0-B16B-4620-95E0-5A7091D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使用者操作</a:t>
            </a:r>
          </a:p>
        </p:txBody>
      </p:sp>
      <p:sp>
        <p:nvSpPr>
          <p:cNvPr id="6" name="按下 Add 1，產生一次按鈕事件。">
            <a:extLst xmlns:a="http://schemas.openxmlformats.org/drawingml/2006/main">
              <a:ext uri="{FF2B5EF4-FFF2-40B4-BE49-F238E27FC236}">
                <a16:creationId xmlns:a16="http://schemas.microsoft.com/office/drawing/2014/main" id="{1F028A11-ACD7-4E23-8C88-5935FD4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按下 Add 1，產生一次按鈕事件。</a:t>
            </a:r>
          </a:p>
        </p:txBody>
      </p:sp>
      <p:sp>
        <p:nvSpPr>
          <p:cNvPr id="7" name="資料更新">
            <a:extLst xmlns:a="http://schemas.openxmlformats.org/drawingml/2006/main">
              <a:ext uri="{FF2B5EF4-FFF2-40B4-BE49-F238E27FC236}">
                <a16:creationId xmlns:a16="http://schemas.microsoft.com/office/drawing/2014/main" id="{5D856C6A-48BB-4B18-ADBA-49976003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資料更新</a:t>
            </a:r>
          </a:p>
        </p:txBody>
      </p:sp>
      <p:sp>
        <p:nvSpPr>
          <p:cNvPr id="8" name="事件處理方法將 self.count 增加 1。">
            <a:extLst xmlns:a="http://schemas.openxmlformats.org/drawingml/2006/main">
              <a:ext uri="{FF2B5EF4-FFF2-40B4-BE49-F238E27FC236}">
                <a16:creationId xmlns:a16="http://schemas.microsoft.com/office/drawing/2014/main" id="{2A5DE13C-9BFF-44BE-BE19-E2B97F8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事件處理方法將 self.count 增加 1。</a:t>
            </a:r>
          </a:p>
        </p:txBody>
      </p:sp>
      <p:sp>
        <p:nvSpPr>
          <p:cNvPr id="9" name="畫面更新">
            <a:extLst xmlns:a="http://schemas.openxmlformats.org/drawingml/2006/main">
              <a:ext uri="{FF2B5EF4-FFF2-40B4-BE49-F238E27FC236}">
                <a16:creationId xmlns:a16="http://schemas.microsoft.com/office/drawing/2014/main" id="{ACFB3292-88A2-4DB5-9DD3-CC9F0475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畫面更新</a:t>
            </a:r>
          </a:p>
        </p:txBody>
      </p:sp>
      <p:sp>
        <p:nvSpPr>
          <p:cNvPr id="10" name="連按兩次後，標籤顯示 Count: 2。">
            <a:extLst xmlns:a="http://schemas.openxmlformats.org/drawingml/2006/main">
              <a:ext uri="{FF2B5EF4-FFF2-40B4-BE49-F238E27FC236}">
                <a16:creationId xmlns:a16="http://schemas.microsoft.com/office/drawing/2014/main" id="{6E989B49-641B-4EC3-9A17-90F4841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24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連按兩次後，標籤顯示 Count: 2。</a:t>
            </a:r>
          </a:p>
        </p:txBody>
      </p:sp>
      <p:sp>
        <p:nvSpPr>
          <p:cNvPr id="11" name="範例介面使用英文標籤；若顯示中文，需確認工具所使用的字型包含中文字形。">
            <a:extLst xmlns:a="http://schemas.openxmlformats.org/drawingml/2006/main">
              <a:ext uri="{FF2B5EF4-FFF2-40B4-BE49-F238E27FC236}">
                <a16:creationId xmlns:a16="http://schemas.microsoft.com/office/drawing/2014/main" id="{3240FC96-B055-4057-9987-4C7453BE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範例介面使用英文標籤；若顯示中文，需確認工具所使用的字型包含中文字形。</a:t>
            </a:r>
          </a:p>
        </p:txBody>
      </p:sp>
      <p:sp>
        <p:nvSpPr>
          <p:cNvPr id="12" name="05">
            <a:extLst xmlns:a="http://schemas.openxmlformats.org/drawingml/2006/main">
              <a:ext uri="{FF2B5EF4-FFF2-40B4-BE49-F238E27FC236}">
                <a16:creationId xmlns:a16="http://schemas.microsoft.com/office/drawing/2014/main" id="{824DC237-932C-4AAD-8629-E2AE9ED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1412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kinter：用標準函式庫建立視窗">
            <a:extLst xmlns:a="http://schemas.openxmlformats.org/drawingml/2006/main">
              <a:ext uri="{FF2B5EF4-FFF2-40B4-BE49-F238E27FC236}">
                <a16:creationId xmlns:a16="http://schemas.microsoft.com/office/drawing/2014/main" id="{7B332B82-FBA1-4D9E-9425-5076603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Tkinter：用標準函式庫建立視窗</a:t>
            </a:r>
          </a:p>
        </p:txBody>
      </p:sp>
      <p:sp>
        <p:nvSpPr>
          <p:cNvPr id="2" name="Python 桌面 GUI　｜　01　Tkinter">
            <a:extLst xmlns:a="http://schemas.openxmlformats.org/drawingml/2006/main">
              <a:ext uri="{FF2B5EF4-FFF2-40B4-BE49-F238E27FC236}">
                <a16:creationId xmlns:a16="http://schemas.microsoft.com/office/drawing/2014/main" id="{4CA3C1A2-E06E-4402-AABC-D5DAA332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桌面 GUI　｜　01　Tkinter</a:t>
            </a:r>
          </a:p>
        </p:txBody>
      </p:sp>
      <p:sp>
        <p:nvSpPr>
          <p:cNvPr id="3" name="tk 與 ttk">
            <a:extLst xmlns:a="http://schemas.openxmlformats.org/drawingml/2006/main">
              <a:ext uri="{FF2B5EF4-FFF2-40B4-BE49-F238E27FC236}">
                <a16:creationId xmlns:a16="http://schemas.microsoft.com/office/drawing/2014/main" id="{0E5C21E7-E327-44EB-84BC-9AB053A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tk 與 ttk</a:t>
            </a:r>
          </a:p>
        </p:txBody>
      </p:sp>
      <p:sp>
        <p:nvSpPr>
          <p:cNvPr id="4" name="tkinter 連接 Tcl/Tk；ttk 提供主題式元件。">
            <a:extLst xmlns:a="http://schemas.openxmlformats.org/drawingml/2006/main">
              <a:ext uri="{FF2B5EF4-FFF2-40B4-BE49-F238E27FC236}">
                <a16:creationId xmlns:a16="http://schemas.microsoft.com/office/drawing/2014/main" id="{F6DE1ECD-A547-4D62-8134-6CE602A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tkinter 連接 Tcl/Tk；ttk 提供主題式元件。</a:t>
            </a:r>
          </a:p>
        </p:txBody>
      </p:sp>
      <p:sp>
        <p:nvSpPr>
          <p:cNvPr id="5" name="基本操作">
            <a:extLst xmlns:a="http://schemas.openxmlformats.org/drawingml/2006/main">
              <a:ext uri="{FF2B5EF4-FFF2-40B4-BE49-F238E27FC236}">
                <a16:creationId xmlns:a16="http://schemas.microsoft.com/office/drawing/2014/main" id="{51999898-1EB2-43D0-9C71-BB1EFE5E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基本操作</a:t>
            </a:r>
          </a:p>
        </p:txBody>
      </p:sp>
      <p:sp>
        <p:nvSpPr>
          <p:cNvPr id="6" name="Label 顯示文字，Button 觸發 command。">
            <a:extLst xmlns:a="http://schemas.openxmlformats.org/drawingml/2006/main">
              <a:ext uri="{FF2B5EF4-FFF2-40B4-BE49-F238E27FC236}">
                <a16:creationId xmlns:a16="http://schemas.microsoft.com/office/drawing/2014/main" id="{C124F49F-21FA-44CC-8E99-F5D2910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Label 顯示文字，Button 觸發 command。</a:t>
            </a:r>
          </a:p>
        </p:txBody>
      </p:sp>
      <p:sp>
        <p:nvSpPr>
          <p:cNvPr id="7" name="版面配置">
            <a:extLst xmlns:a="http://schemas.openxmlformats.org/drawingml/2006/main">
              <a:ext uri="{FF2B5EF4-FFF2-40B4-BE49-F238E27FC236}">
                <a16:creationId xmlns:a16="http://schemas.microsoft.com/office/drawing/2014/main" id="{271FD4C3-FE03-48B2-8A1F-C22B647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版面配置</a:t>
            </a:r>
          </a:p>
        </p:txBody>
      </p:sp>
      <p:sp>
        <p:nvSpPr>
          <p:cNvPr id="8" name="pack、grid、place 管理元件位置。">
            <a:extLst xmlns:a="http://schemas.openxmlformats.org/drawingml/2006/main">
              <a:ext uri="{FF2B5EF4-FFF2-40B4-BE49-F238E27FC236}">
                <a16:creationId xmlns:a16="http://schemas.microsoft.com/office/drawing/2014/main" id="{E6DD1ED4-0A88-448B-B45E-888F973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pack、grid、place 管理元件位置。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D799-DB1B-43D8-AA46-B446F4499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9d037d2e5437e"/>
          <a:stretch xmlns:a="http://schemas.openxmlformats.org/drawingml/2006/main"/>
        </p:blipFill>
        <p:spPr>
          <a:xfrm xmlns:a="http://schemas.openxmlformats.org/drawingml/2006/main">
            <a:off x="6838950" y="2124225"/>
            <a:ext cx="4743450" cy="3381075"/>
          </a:xfrm>
          <a:prstGeom xmlns:a="http://schemas.openxmlformats.org/drawingml/2006/main" prst="rect">
            <a:avLst/>
          </a:prstGeom>
        </p:spPr>
      </p:pic>
      <p:sp>
        <p:nvSpPr>
          <p:cNvPr id="10" name="實際執行：點擊 Add 1 兩次">
            <a:extLst xmlns:a="http://schemas.openxmlformats.org/drawingml/2006/main">
              <a:ext uri="{FF2B5EF4-FFF2-40B4-BE49-F238E27FC236}">
                <a16:creationId xmlns:a16="http://schemas.microsoft.com/office/drawing/2014/main" id="{71153A50-A4B7-4468-BA37-2F925F5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62600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實際執行：點擊 Add 1 兩次</a:t>
            </a:r>
          </a:p>
        </p:txBody>
      </p:sp>
      <p:sp>
        <p:nvSpPr>
          <p:cNvPr id="11" name="同一個父容器中的元件，避免混用 pack 與 grid。">
            <a:extLst xmlns:a="http://schemas.openxmlformats.org/drawingml/2006/main">
              <a:ext uri="{FF2B5EF4-FFF2-40B4-BE49-F238E27FC236}">
                <a16:creationId xmlns:a16="http://schemas.microsoft.com/office/drawing/2014/main" id="{C8E2F0CA-B7B3-44AA-928B-1BA32C48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同一個父容器中的元件，避免混用 pack 與 grid。</a:t>
            </a:r>
          </a:p>
        </p:txBody>
      </p:sp>
      <p:sp>
        <p:nvSpPr>
          <p:cNvPr id="12" name="06">
            <a:extLst xmlns:a="http://schemas.openxmlformats.org/drawingml/2006/main">
              <a:ext uri="{FF2B5EF4-FFF2-40B4-BE49-F238E27FC236}">
                <a16:creationId xmlns:a16="http://schemas.microsoft.com/office/drawing/2014/main" id="{4466482A-DEDE-4B3C-B23C-4EC4E74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0248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kinter：安裝確認與執行">
            <a:extLst xmlns:a="http://schemas.openxmlformats.org/drawingml/2006/main">
              <a:ext uri="{FF2B5EF4-FFF2-40B4-BE49-F238E27FC236}">
                <a16:creationId xmlns:a16="http://schemas.microsoft.com/office/drawing/2014/main" id="{603EE358-EDB3-4072-8782-59AAFB1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Tkinter：安裝確認與執行</a:t>
            </a:r>
          </a:p>
        </p:txBody>
      </p:sp>
      <p:sp>
        <p:nvSpPr>
          <p:cNvPr id="2" name="Python 桌面 GUI　｜　01　Tkinter">
            <a:extLst xmlns:a="http://schemas.openxmlformats.org/drawingml/2006/main">
              <a:ext uri="{FF2B5EF4-FFF2-40B4-BE49-F238E27FC236}">
                <a16:creationId xmlns:a16="http://schemas.microsoft.com/office/drawing/2014/main" id="{9EB5E1E2-1CFE-46F2-9AEE-0B7D5B8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01　Tkinter</a:t>
            </a:r>
          </a:p>
        </p:txBody>
      </p:sp>
      <p:sp>
        <p:nvSpPr>
          <p:cNvPr id="3" name=".\.venv\Scripts\python -m tkinter">
            <a:extLst xmlns:a="http://schemas.openxmlformats.org/drawingml/2006/main">
              <a:ext uri="{FF2B5EF4-FFF2-40B4-BE49-F238E27FC236}">
                <a16:creationId xmlns:a16="http://schemas.microsoft.com/office/drawing/2014/main" id="{053345E5-0450-452D-8D05-9EEE506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tkinter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D566-4C5F-41D4-AB07-F882EF88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01_tkinter_counter.py">
            <a:extLst xmlns:a="http://schemas.openxmlformats.org/drawingml/2006/main">
              <a:ext uri="{FF2B5EF4-FFF2-40B4-BE49-F238E27FC236}">
                <a16:creationId xmlns:a16="http://schemas.microsoft.com/office/drawing/2014/main" id="{56B27FD8-74A5-4015-9B22-3C6449F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01_tkinter_counter.py</a:t>
            </a:r>
          </a:p>
        </p:txBody>
      </p:sp>
      <p:sp>
        <p:nvSpPr>
          <p:cNvPr id="6" name="通常隨 Python 提供">
            <a:extLst xmlns:a="http://schemas.openxmlformats.org/drawingml/2006/main">
              <a:ext uri="{FF2B5EF4-FFF2-40B4-BE49-F238E27FC236}">
                <a16:creationId xmlns:a16="http://schemas.microsoft.com/office/drawing/2014/main" id="{434D157B-D618-49C0-A33F-7BE38C8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通常隨 Python 提供</a:t>
            </a:r>
          </a:p>
        </p:txBody>
      </p:sp>
      <p:sp>
        <p:nvSpPr>
          <p:cNvPr id="7" name="python.org 的 Windows 安裝程式可安裝 Tcl/Tk 與 IDLE。">
            <a:extLst xmlns:a="http://schemas.openxmlformats.org/drawingml/2006/main">
              <a:ext uri="{FF2B5EF4-FFF2-40B4-BE49-F238E27FC236}">
                <a16:creationId xmlns:a16="http://schemas.microsoft.com/office/drawing/2014/main" id="{D51D6649-F1D1-4659-95E5-0C5F92A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python.org 的 Windows 安裝程式可安裝 Tcl/Tk 與 IDLE。</a:t>
            </a:r>
          </a:p>
        </p:txBody>
      </p:sp>
      <p:sp>
        <p:nvSpPr>
          <p:cNvPr id="8" name="驗證成功">
            <a:extLst xmlns:a="http://schemas.openxmlformats.org/drawingml/2006/main">
              <a:ext uri="{FF2B5EF4-FFF2-40B4-BE49-F238E27FC236}">
                <a16:creationId xmlns:a16="http://schemas.microsoft.com/office/drawing/2014/main" id="{F1CD80F4-70CC-499E-B97F-324D8781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驗證成功</a:t>
            </a:r>
          </a:p>
        </p:txBody>
      </p:sp>
      <p:sp>
        <p:nvSpPr>
          <p:cNvPr id="9" name="第一個命令會開啟 Tk 測試視窗；關閉後再執行範例。">
            <a:extLst xmlns:a="http://schemas.openxmlformats.org/drawingml/2006/main">
              <a:ext uri="{FF2B5EF4-FFF2-40B4-BE49-F238E27FC236}">
                <a16:creationId xmlns:a16="http://schemas.microsoft.com/office/drawing/2014/main" id="{3C459B27-6692-4AD8-9F3B-C13E0A6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第一個命令會開啟 Tk 測試視窗；關閉後再執行範例。</a:t>
            </a:r>
          </a:p>
        </p:txBody>
      </p:sp>
      <p:sp>
        <p:nvSpPr>
          <p:cNvPr id="10" name="若出現 _tkinter 缺少，修改 Python 安裝並加入 Tcl/Tk 元件；不需 pip install tkinter。">
            <a:extLst xmlns:a="http://schemas.openxmlformats.org/drawingml/2006/main">
              <a:ext uri="{FF2B5EF4-FFF2-40B4-BE49-F238E27FC236}">
                <a16:creationId xmlns:a16="http://schemas.microsoft.com/office/drawing/2014/main" id="{30F18ED6-199F-4169-800D-2D136D16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若出現 _tkinter 缺少，修改 Python 安裝並加入 Tcl/Tk 元件；不需 pip install tkinter。</a:t>
            </a:r>
          </a:p>
        </p:txBody>
      </p:sp>
      <p:sp>
        <p:nvSpPr>
          <p:cNvPr id="11" name="01_tkinter_counter.py">
            <a:extLst xmlns:a="http://schemas.openxmlformats.org/drawingml/2006/main">
              <a:ext uri="{FF2B5EF4-FFF2-40B4-BE49-F238E27FC236}">
                <a16:creationId xmlns:a16="http://schemas.microsoft.com/office/drawing/2014/main" id="{AFC41775-CFB5-4A0D-B46B-B9785B8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01_tkinter_counter.py</a:t>
            </a:r>
          </a:p>
        </p:txBody>
      </p:sp>
      <p:sp>
        <p:nvSpPr>
          <p:cNvPr id="12" name="07">
            <a:extLst xmlns:a="http://schemas.openxmlformats.org/drawingml/2006/main">
              <a:ext uri="{FF2B5EF4-FFF2-40B4-BE49-F238E27FC236}">
                <a16:creationId xmlns:a16="http://schemas.microsoft.com/office/drawing/2014/main" id="{1F63C2A0-EA67-4402-83A5-3D3C69E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4724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kinter：建立元件與排列">
            <a:extLst xmlns:a="http://schemas.openxmlformats.org/drawingml/2006/main">
              <a:ext uri="{FF2B5EF4-FFF2-40B4-BE49-F238E27FC236}">
                <a16:creationId xmlns:a16="http://schemas.microsoft.com/office/drawing/2014/main" id="{480CE646-6099-48AF-A1F7-02E3F8C0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Tkinter：建立元件與排列</a:t>
            </a:r>
          </a:p>
        </p:txBody>
      </p:sp>
      <p:sp>
        <p:nvSpPr>
          <p:cNvPr id="2" name="Python 桌面 GUI　｜　01　Tkinter">
            <a:extLst xmlns:a="http://schemas.openxmlformats.org/drawingml/2006/main">
              <a:ext uri="{FF2B5EF4-FFF2-40B4-BE49-F238E27FC236}">
                <a16:creationId xmlns:a16="http://schemas.microsoft.com/office/drawing/2014/main" id="{0FEF06DB-FFBC-4EE0-BC66-D853B0F6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01　Tkinter</a:t>
            </a:r>
          </a:p>
        </p:txBody>
      </p:sp>
      <p:sp>
        <p:nvSpPr>
          <p:cNvPr id="3" name="import tkinter as tk">
            <a:extLst xmlns:a="http://schemas.openxmlformats.org/drawingml/2006/main">
              <a:ext uri="{FF2B5EF4-FFF2-40B4-BE49-F238E27FC236}">
                <a16:creationId xmlns:a16="http://schemas.microsoft.com/office/drawing/2014/main" id="{01C75463-FF38-46CE-8A4B-9B598E3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tkinter as tk</a:t>
            </a:r>
          </a:p>
        </p:txBody>
      </p:sp>
      <p:sp>
        <p:nvSpPr>
          <p:cNvPr id="4" name="from tkinter import ttk">
            <a:extLst xmlns:a="http://schemas.openxmlformats.org/drawingml/2006/main">
              <a:ext uri="{FF2B5EF4-FFF2-40B4-BE49-F238E27FC236}">
                <a16:creationId xmlns:a16="http://schemas.microsoft.com/office/drawing/2014/main" id="{479D08F9-3729-4EE9-8C0A-C0596E0C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58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tkinter import ttk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53F03-A293-4C00-9DE8-2CCB430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47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class CounterApp(tk.Tk):">
            <a:extLst xmlns:a="http://schemas.openxmlformats.org/drawingml/2006/main">
              <a:ext uri="{FF2B5EF4-FFF2-40B4-BE49-F238E27FC236}">
                <a16:creationId xmlns:a16="http://schemas.microsoft.com/office/drawing/2014/main" id="{4A638316-31F6-4938-917B-49D91A9F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36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CounterApp(tk.Tk):</a:t>
            </a:r>
          </a:p>
        </p:txBody>
      </p:sp>
      <p:sp>
        <p:nvSpPr>
          <p:cNvPr id="7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4DFEE87C-1D73-4C6A-AB69-1375D4FA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625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8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00317607-E371-42CC-823D-7D3E5BA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15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9" name="        self.title(&quot;Tkinter Counter&quot;)">
            <a:extLst xmlns:a="http://schemas.openxmlformats.org/drawingml/2006/main">
              <a:ext uri="{FF2B5EF4-FFF2-40B4-BE49-F238E27FC236}">
                <a16:creationId xmlns:a16="http://schemas.microsoft.com/office/drawing/2014/main" id="{B8C31415-D9E1-4652-BE1C-6D6206E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04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self.title("Tkinter Counter")</a:t>
            </a:r>
          </a:p>
        </p:txBody>
      </p:sp>
      <p:sp>
        <p:nvSpPr>
          <p:cNvPr id="10" name="        self.geometry(&quot;380x240&quot;)">
            <a:extLst xmlns:a="http://schemas.openxmlformats.org/drawingml/2006/main">
              <a:ext uri="{FF2B5EF4-FFF2-40B4-BE49-F238E27FC236}">
                <a16:creationId xmlns:a16="http://schemas.microsoft.com/office/drawing/2014/main" id="{3C3B98FF-B747-42EA-8594-FE7AA9A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3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self.geometry("380x240")</a:t>
            </a:r>
          </a:p>
        </p:txBody>
      </p:sp>
      <p:sp>
        <p:nvSpPr>
          <p:cNvPr id="11" name="        self.count = 0">
            <a:extLst xmlns:a="http://schemas.openxmlformats.org/drawingml/2006/main">
              <a:ext uri="{FF2B5EF4-FFF2-40B4-BE49-F238E27FC236}">
                <a16:creationId xmlns:a16="http://schemas.microsoft.com/office/drawing/2014/main" id="{1BBF42BA-A3A9-408D-B6EA-582A085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82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</p:txBody>
      </p:sp>
      <p:sp>
        <p:nvSpPr>
          <p:cNvPr id="12" name="        self.label = ttk.Label(">
            <a:extLst xmlns:a="http://schemas.openxmlformats.org/drawingml/2006/main">
              <a:ext uri="{FF2B5EF4-FFF2-40B4-BE49-F238E27FC236}">
                <a16:creationId xmlns:a16="http://schemas.microsoft.com/office/drawing/2014/main" id="{79601AC5-58E7-435D-AD45-5D047E98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71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 = ttk.Label(</a:t>
            </a:r>
          </a:p>
        </p:txBody>
      </p:sp>
      <p:sp>
        <p:nvSpPr>
          <p:cNvPr id="13" name="            self, text=&quot;Count: 0&quot;, font=(&quot;Segoe UI&quot;, 20))">
            <a:extLst xmlns:a="http://schemas.openxmlformats.org/drawingml/2006/main">
              <a:ext uri="{FF2B5EF4-FFF2-40B4-BE49-F238E27FC236}">
                <a16:creationId xmlns:a16="http://schemas.microsoft.com/office/drawing/2014/main" id="{3AB7D0F2-2080-4AA5-85DD-E86C91A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61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self, text="Count: 0", font=("Segoe UI", 20))</a:t>
            </a:r>
          </a:p>
        </p:txBody>
      </p:sp>
      <p:sp>
        <p:nvSpPr>
          <p:cNvPr id="14" name="        self.label.pack(pady=28)">
            <a:extLst xmlns:a="http://schemas.openxmlformats.org/drawingml/2006/main">
              <a:ext uri="{FF2B5EF4-FFF2-40B4-BE49-F238E27FC236}">
                <a16:creationId xmlns:a16="http://schemas.microsoft.com/office/drawing/2014/main" id="{D2828C37-D01A-47D2-AAE6-EF4764BC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050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self.label.pack(pady=28)</a:t>
            </a:r>
          </a:p>
        </p:txBody>
      </p:sp>
      <p:sp>
        <p:nvSpPr>
          <p:cNvPr id="15" name="        self.button = ttk.Button(">
            <a:extLst xmlns:a="http://schemas.openxmlformats.org/drawingml/2006/main">
              <a:ext uri="{FF2B5EF4-FFF2-40B4-BE49-F238E27FC236}">
                <a16:creationId xmlns:a16="http://schemas.microsoft.com/office/drawing/2014/main" id="{BD60F2C6-8169-46AB-B7AB-73A29ED5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39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 = ttk.Button(</a:t>
            </a:r>
          </a:p>
        </p:txBody>
      </p:sp>
      <p:sp>
        <p:nvSpPr>
          <p:cNvPr id="16" name="            self, text=&quot;Add 1&quot;, command=self.increment)">
            <a:extLst xmlns:a="http://schemas.openxmlformats.org/drawingml/2006/main">
              <a:ext uri="{FF2B5EF4-FFF2-40B4-BE49-F238E27FC236}">
                <a16:creationId xmlns:a16="http://schemas.microsoft.com/office/drawing/2014/main" id="{B265F497-0300-4DF4-93FF-236D184D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28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self, text="Add 1", command=self.increment)</a:t>
            </a:r>
          </a:p>
        </p:txBody>
      </p:sp>
      <p:sp>
        <p:nvSpPr>
          <p:cNvPr id="17" name="        self.button.pack(ipadx=20, ipady=10)">
            <a:extLst xmlns:a="http://schemas.openxmlformats.org/drawingml/2006/main">
              <a:ext uri="{FF2B5EF4-FFF2-40B4-BE49-F238E27FC236}">
                <a16:creationId xmlns:a16="http://schemas.microsoft.com/office/drawing/2014/main" id="{C990C620-CF6A-4B82-8F57-F297D720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17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self.button.pack(ipadx=20, ipady=10)</a:t>
            </a:r>
          </a:p>
        </p:txBody>
      </p:sp>
      <p:sp>
        <p:nvSpPr>
          <p:cNvPr id="18" name="繼承 tk.Tk">
            <a:extLst xmlns:a="http://schemas.openxmlformats.org/drawingml/2006/main">
              <a:ext uri="{FF2B5EF4-FFF2-40B4-BE49-F238E27FC236}">
                <a16:creationId xmlns:a16="http://schemas.microsoft.com/office/drawing/2014/main" id="{81664846-BBA8-4B67-BB04-053F8DE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繼承 tk.Tk</a:t>
            </a:r>
          </a:p>
        </p:txBody>
      </p:sp>
      <p:sp>
        <p:nvSpPr>
          <p:cNvPr id="19" name="CounterApp 同時是 應用程式物件與主視窗。">
            <a:extLst xmlns:a="http://schemas.openxmlformats.org/drawingml/2006/main">
              <a:ext uri="{FF2B5EF4-FFF2-40B4-BE49-F238E27FC236}">
                <a16:creationId xmlns:a16="http://schemas.microsoft.com/office/drawing/2014/main" id="{06BF8480-B757-4BCA-B5EC-AD9E1318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CounterApp 同時是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應用程式物件與主視窗。</a:t>
            </a:r>
          </a:p>
        </p:txBody>
      </p:sp>
      <p:sp>
        <p:nvSpPr>
          <p:cNvPr id="20" name="傳入方法">
            <a:extLst xmlns:a="http://schemas.openxmlformats.org/drawingml/2006/main">
              <a:ext uri="{FF2B5EF4-FFF2-40B4-BE49-F238E27FC236}">
                <a16:creationId xmlns:a16="http://schemas.microsoft.com/office/drawing/2014/main" id="{317A4FE2-0220-4711-952E-B661D25B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傳入方法</a:t>
            </a:r>
          </a:p>
        </p:txBody>
      </p:sp>
      <p:sp>
        <p:nvSpPr>
          <p:cNvPr id="21" name="command=self.increment 保存方法，點擊時才執行。">
            <a:extLst xmlns:a="http://schemas.openxmlformats.org/drawingml/2006/main">
              <a:ext uri="{FF2B5EF4-FFF2-40B4-BE49-F238E27FC236}">
                <a16:creationId xmlns:a16="http://schemas.microsoft.com/office/drawing/2014/main" id="{25F403ED-78FC-40B1-9970-C2CA5692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command=self.increment 保存方法，點擊時才執行。</a:t>
            </a:r>
          </a:p>
        </p:txBody>
      </p:sp>
      <p:sp>
        <p:nvSpPr>
          <p:cNvPr id="22" name="程式節錄；完整可執行版本見範例檔。">
            <a:extLst xmlns:a="http://schemas.openxmlformats.org/drawingml/2006/main">
              <a:ext uri="{FF2B5EF4-FFF2-40B4-BE49-F238E27FC236}">
                <a16:creationId xmlns:a16="http://schemas.microsoft.com/office/drawing/2014/main" id="{2ACB115B-95B2-4136-85CB-3D263492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程式節錄；完整可執行版本見範例檔。</a:t>
            </a:r>
          </a:p>
        </p:txBody>
      </p:sp>
      <p:sp>
        <p:nvSpPr>
          <p:cNvPr id="23" name="01_tkinter_counter.py">
            <a:extLst xmlns:a="http://schemas.openxmlformats.org/drawingml/2006/main">
              <a:ext uri="{FF2B5EF4-FFF2-40B4-BE49-F238E27FC236}">
                <a16:creationId xmlns:a16="http://schemas.microsoft.com/office/drawing/2014/main" id="{1DD8E07F-1A25-4B62-8A25-5594A95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01_tkinter_counter.py</a:t>
            </a:r>
          </a:p>
        </p:txBody>
      </p:sp>
      <p:sp>
        <p:nvSpPr>
          <p:cNvPr id="24" name="08">
            <a:extLst xmlns:a="http://schemas.openxmlformats.org/drawingml/2006/main">
              <a:ext uri="{FF2B5EF4-FFF2-40B4-BE49-F238E27FC236}">
                <a16:creationId xmlns:a16="http://schemas.microsoft.com/office/drawing/2014/main" id="{456DB28C-BF5B-4BF4-A317-8B7F4C6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0638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kinter：回應事件與啟動">
            <a:extLst xmlns:a="http://schemas.openxmlformats.org/drawingml/2006/main">
              <a:ext uri="{FF2B5EF4-FFF2-40B4-BE49-F238E27FC236}">
                <a16:creationId xmlns:a16="http://schemas.microsoft.com/office/drawing/2014/main" id="{780F7A93-C5B6-407E-9110-ACFCDFA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Tkinter：回應事件與啟動</a:t>
            </a:r>
          </a:p>
        </p:txBody>
      </p:sp>
      <p:sp>
        <p:nvSpPr>
          <p:cNvPr id="2" name="Python 桌面 GUI　｜　01　Tkinter">
            <a:extLst xmlns:a="http://schemas.openxmlformats.org/drawingml/2006/main">
              <a:ext uri="{FF2B5EF4-FFF2-40B4-BE49-F238E27FC236}">
                <a16:creationId xmlns:a16="http://schemas.microsoft.com/office/drawing/2014/main" id="{15E953C9-CD98-4B3F-BA8A-0EEE910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01　Tkinter</a:t>
            </a:r>
          </a:p>
        </p:txBody>
      </p:sp>
      <p:sp>
        <p:nvSpPr>
          <p:cNvPr id="3" name="    def increment(self):">
            <a:extLst xmlns:a="http://schemas.openxmlformats.org/drawingml/2006/main">
              <a:ext uri="{FF2B5EF4-FFF2-40B4-BE49-F238E27FC236}">
                <a16:creationId xmlns:a16="http://schemas.microsoft.com/office/drawing/2014/main" id="{E4AE1CB0-157F-40E2-A011-8753565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increment(self):</a:t>
            </a:r>
          </a:p>
        </p:txBody>
      </p:sp>
      <p:sp>
        <p:nvSpPr>
          <p:cNvPr id="4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0EEACB6D-374B-4134-AAF8-2930026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5" name="        self.label.config(text=f&quot;Count: {self.count}&quot;)">
            <a:extLst xmlns:a="http://schemas.openxmlformats.org/drawingml/2006/main">
              <a:ext uri="{FF2B5EF4-FFF2-40B4-BE49-F238E27FC236}">
                <a16:creationId xmlns:a16="http://schemas.microsoft.com/office/drawing/2014/main" id="{FB88AAF0-A518-414F-AF3F-086C304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self.label.config(text=f"Count: {self.count}")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4472A-5989-46D3-B2E9-B37428B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B0699ED6-59A9-4439-A094-A04AA92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8" name="    CounterApp().mainloop()">
            <a:extLst xmlns:a="http://schemas.openxmlformats.org/drawingml/2006/main">
              <a:ext uri="{FF2B5EF4-FFF2-40B4-BE49-F238E27FC236}">
                <a16:creationId xmlns:a16="http://schemas.microsoft.com/office/drawing/2014/main" id="{898E75FE-4E52-4890-80F2-C747223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CounterApp().mainloop()</a:t>
            </a:r>
          </a:p>
        </p:txBody>
      </p:sp>
      <p:sp>
        <p:nvSpPr>
          <p:cNvPr id="9" name="更新文字">
            <a:extLst xmlns:a="http://schemas.openxmlformats.org/drawingml/2006/main">
              <a:ext uri="{FF2B5EF4-FFF2-40B4-BE49-F238E27FC236}">
                <a16:creationId xmlns:a16="http://schemas.microsoft.com/office/drawing/2014/main" id="{F809437B-8AB0-48E0-B1F0-C2D97D13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更新文字</a:t>
            </a:r>
          </a:p>
        </p:txBody>
      </p:sp>
      <p:sp>
        <p:nvSpPr>
          <p:cNvPr id="10" name="config() 修改已存在的 Label。">
            <a:extLst xmlns:a="http://schemas.openxmlformats.org/drawingml/2006/main">
              <a:ext uri="{FF2B5EF4-FFF2-40B4-BE49-F238E27FC236}">
                <a16:creationId xmlns:a16="http://schemas.microsoft.com/office/drawing/2014/main" id="{72BA5A9E-F166-4CFC-BB62-67B22D6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config() 修改已存在的 Label。</a:t>
            </a:r>
          </a:p>
        </p:txBody>
      </p:sp>
      <p:sp>
        <p:nvSpPr>
          <p:cNvPr id="11" name="mainloop()">
            <a:extLst xmlns:a="http://schemas.openxmlformats.org/drawingml/2006/main">
              <a:ext uri="{FF2B5EF4-FFF2-40B4-BE49-F238E27FC236}">
                <a16:creationId xmlns:a16="http://schemas.microsoft.com/office/drawing/2014/main" id="{655B5E5F-90C0-4B57-BF78-0801430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mainloop()</a:t>
            </a:r>
          </a:p>
        </p:txBody>
      </p:sp>
      <p:sp>
        <p:nvSpPr>
          <p:cNvPr id="12" name="進入事件迴圈，等待按鈕與視窗事件。">
            <a:extLst xmlns:a="http://schemas.openxmlformats.org/drawingml/2006/main">
              <a:ext uri="{FF2B5EF4-FFF2-40B4-BE49-F238E27FC236}">
                <a16:creationId xmlns:a16="http://schemas.microsoft.com/office/drawing/2014/main" id="{F27FA273-3423-4E63-BE15-3203FF8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進入事件迴圈，等待按鈕與視窗事件。</a:t>
            </a:r>
          </a:p>
        </p:txBody>
      </p:sp>
      <p:sp>
        <p:nvSpPr>
          <p:cNvPr id="13" name="command callback 在本例不接收額外的事件參數。">
            <a:extLst xmlns:a="http://schemas.openxmlformats.org/drawingml/2006/main">
              <a:ext uri="{FF2B5EF4-FFF2-40B4-BE49-F238E27FC236}">
                <a16:creationId xmlns:a16="http://schemas.microsoft.com/office/drawing/2014/main" id="{9D33B00F-F824-435F-8A7A-F4E97450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command callback 在本例不接收額外的事件參數。</a:t>
            </a:r>
          </a:p>
        </p:txBody>
      </p:sp>
      <p:sp>
        <p:nvSpPr>
          <p:cNvPr id="14" name="01_tkinter_counter.py">
            <a:extLst xmlns:a="http://schemas.openxmlformats.org/drawingml/2006/main">
              <a:ext uri="{FF2B5EF4-FFF2-40B4-BE49-F238E27FC236}">
                <a16:creationId xmlns:a16="http://schemas.microsoft.com/office/drawing/2014/main" id="{E21215D1-D04F-4005-B5BF-AAD6B5B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01_tkinter_counter.py</a:t>
            </a:r>
          </a:p>
        </p:txBody>
      </p:sp>
      <p:sp>
        <p:nvSpPr>
          <p:cNvPr id="15" name="09">
            <a:extLst xmlns:a="http://schemas.openxmlformats.org/drawingml/2006/main">
              <a:ext uri="{FF2B5EF4-FFF2-40B4-BE49-F238E27FC236}">
                <a16:creationId xmlns:a16="http://schemas.microsoft.com/office/drawing/2014/main" id="{D589FC94-01FF-475F-AE1A-EF133878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3832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t：完整的桌面應用程式工具">
            <a:extLst xmlns:a="http://schemas.openxmlformats.org/drawingml/2006/main">
              <a:ext uri="{FF2B5EF4-FFF2-40B4-BE49-F238E27FC236}">
                <a16:creationId xmlns:a16="http://schemas.microsoft.com/office/drawing/2014/main" id="{94344DB6-0B34-4471-A88C-867B0EA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Qt：完整的桌面應用程式工具</a:t>
            </a:r>
          </a:p>
        </p:txBody>
      </p:sp>
      <p:sp>
        <p:nvSpPr>
          <p:cNvPr id="2" name="Python 桌面 GUI　｜　02　Qt／PySide6">
            <a:extLst xmlns:a="http://schemas.openxmlformats.org/drawingml/2006/main">
              <a:ext uri="{FF2B5EF4-FFF2-40B4-BE49-F238E27FC236}">
                <a16:creationId xmlns:a16="http://schemas.microsoft.com/office/drawing/2014/main" id="{6668EE3C-3299-4E52-AC21-B797EC82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桌面 GUI　｜　02　Qt／PySide6</a:t>
            </a:r>
          </a:p>
        </p:txBody>
      </p:sp>
      <p:sp>
        <p:nvSpPr>
          <p:cNvPr id="3" name="Qt Widgets">
            <a:extLst xmlns:a="http://schemas.openxmlformats.org/drawingml/2006/main">
              <a:ext uri="{FF2B5EF4-FFF2-40B4-BE49-F238E27FC236}">
                <a16:creationId xmlns:a16="http://schemas.microsoft.com/office/drawing/2014/main" id="{104E9212-A2ED-4F37-905A-1FCDB0C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Qt Widgets</a:t>
            </a:r>
          </a:p>
        </p:txBody>
      </p:sp>
      <p:sp>
        <p:nvSpPr>
          <p:cNvPr id="4" name="提供視窗、選單、表格、對話框與版面管理。">
            <a:extLst xmlns:a="http://schemas.openxmlformats.org/drawingml/2006/main">
              <a:ext uri="{FF2B5EF4-FFF2-40B4-BE49-F238E27FC236}">
                <a16:creationId xmlns:a16="http://schemas.microsoft.com/office/drawing/2014/main" id="{8FBB8FC1-F0C6-4A91-81CA-F8DF9214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提供視窗、選單、表格、對話框與版面管理。</a:t>
            </a:r>
          </a:p>
        </p:txBody>
      </p:sp>
      <p:sp>
        <p:nvSpPr>
          <p:cNvPr id="5" name="Signal／Slot">
            <a:extLst xmlns:a="http://schemas.openxmlformats.org/drawingml/2006/main">
              <a:ext uri="{FF2B5EF4-FFF2-40B4-BE49-F238E27FC236}">
                <a16:creationId xmlns:a16="http://schemas.microsoft.com/office/drawing/2014/main" id="{F95D997E-9896-4233-B271-DAB4095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Signal／Slot</a:t>
            </a:r>
          </a:p>
        </p:txBody>
      </p:sp>
      <p:sp>
        <p:nvSpPr>
          <p:cNvPr id="6" name="元件發出 signal，再呼叫已連接的處理方法。">
            <a:extLst xmlns:a="http://schemas.openxmlformats.org/drawingml/2006/main">
              <a:ext uri="{FF2B5EF4-FFF2-40B4-BE49-F238E27FC236}">
                <a16:creationId xmlns:a16="http://schemas.microsoft.com/office/drawing/2014/main" id="{0D156543-C96A-4A1F-A163-BCBC28A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元件發出 signal，再呼叫已連接的處理方法。</a:t>
            </a:r>
          </a:p>
        </p:txBody>
      </p:sp>
      <p:sp>
        <p:nvSpPr>
          <p:cNvPr id="7" name="Python 綁定">
            <a:extLst xmlns:a="http://schemas.openxmlformats.org/drawingml/2006/main">
              <a:ext uri="{FF2B5EF4-FFF2-40B4-BE49-F238E27FC236}">
                <a16:creationId xmlns:a16="http://schemas.microsoft.com/office/drawing/2014/main" id="{C1FE0BF5-0061-4583-8D41-04B7D5CF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綁定</a:t>
            </a:r>
          </a:p>
        </p:txBody>
      </p:sp>
      <p:sp>
        <p:nvSpPr>
          <p:cNvPr id="8" name="PySide6 與 PyQt6 都能使用 Qt 6；本例以 PySide6 為主。">
            <a:extLst xmlns:a="http://schemas.openxmlformats.org/drawingml/2006/main">
              <a:ext uri="{FF2B5EF4-FFF2-40B4-BE49-F238E27FC236}">
                <a16:creationId xmlns:a16="http://schemas.microsoft.com/office/drawing/2014/main" id="{995FA0E6-0925-4A8F-BCBA-64E09B6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PySide6 與 PyQt6 都能使用 Qt 6；本例以 PySide6 為主。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F1A2F-04CE-4FAE-BB1F-10B4BBBFD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35af4d9ae4160"/>
          <a:stretch xmlns:a="http://schemas.openxmlformats.org/drawingml/2006/main"/>
        </p:blipFill>
        <p:spPr>
          <a:xfrm xmlns:a="http://schemas.openxmlformats.org/drawingml/2006/main">
            <a:off x="6838950" y="2132204"/>
            <a:ext cx="4743450" cy="3365118"/>
          </a:xfrm>
          <a:prstGeom xmlns:a="http://schemas.openxmlformats.org/drawingml/2006/main" prst="rect">
            <a:avLst/>
          </a:prstGeom>
        </p:spPr>
      </p:pic>
      <p:sp>
        <p:nvSpPr>
          <p:cNvPr id="10" name="實際執行：點擊 Add 1 兩次">
            <a:extLst xmlns:a="http://schemas.openxmlformats.org/drawingml/2006/main">
              <a:ext uri="{FF2B5EF4-FFF2-40B4-BE49-F238E27FC236}">
                <a16:creationId xmlns:a16="http://schemas.microsoft.com/office/drawing/2014/main" id="{545C222A-9017-4E74-94C0-DE43CB6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62600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實際執行：點擊 Add 1 兩次</a:t>
            </a:r>
          </a:p>
        </p:txBody>
      </p:sp>
      <p:sp>
        <p:nvSpPr>
          <p:cNvPr id="11" name="本教材採用 Qt Widgets；Qt 另有使用 QML 的 Qt Quick。">
            <a:extLst xmlns:a="http://schemas.openxmlformats.org/drawingml/2006/main">
              <a:ext uri="{FF2B5EF4-FFF2-40B4-BE49-F238E27FC236}">
                <a16:creationId xmlns:a16="http://schemas.microsoft.com/office/drawing/2014/main" id="{3EFDE310-9C45-408B-94BB-7E9B00A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本教材採用 Qt Widgets；Qt 另有使用 QML 的 Qt Quick。</a:t>
            </a:r>
          </a:p>
        </p:txBody>
      </p:sp>
      <p:sp>
        <p:nvSpPr>
          <p:cNvPr id="12" name="10">
            <a:extLst xmlns:a="http://schemas.openxmlformats.org/drawingml/2006/main">
              <a:ext uri="{FF2B5EF4-FFF2-40B4-BE49-F238E27FC236}">
                <a16:creationId xmlns:a16="http://schemas.microsoft.com/office/drawing/2014/main" id="{7D138166-E268-4183-8024-353FA1F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8514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Qt：安裝 PySide6 與執行">
            <a:extLst xmlns:a="http://schemas.openxmlformats.org/drawingml/2006/main">
              <a:ext uri="{FF2B5EF4-FFF2-40B4-BE49-F238E27FC236}">
                <a16:creationId xmlns:a16="http://schemas.microsoft.com/office/drawing/2014/main" id="{D595FF54-8735-4EC6-A903-B7E5F3D1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Qt：安裝 PySide6 與執行</a:t>
            </a:r>
          </a:p>
        </p:txBody>
      </p:sp>
      <p:sp>
        <p:nvSpPr>
          <p:cNvPr id="2" name="Python 桌面 GUI　｜　02　Qt／PySide6">
            <a:extLst xmlns:a="http://schemas.openxmlformats.org/drawingml/2006/main">
              <a:ext uri="{FF2B5EF4-FFF2-40B4-BE49-F238E27FC236}">
                <a16:creationId xmlns:a16="http://schemas.microsoft.com/office/drawing/2014/main" id="{CC8DB1F7-3963-4A40-BBD0-8F56AE9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02　Qt／PySide6</a:t>
            </a:r>
          </a:p>
        </p:txBody>
      </p:sp>
      <p:sp>
        <p:nvSpPr>
          <p:cNvPr id="3" name=".\.venv\Scripts\python -m pip install PySide6">
            <a:extLst xmlns:a="http://schemas.openxmlformats.org/drawingml/2006/main">
              <a:ext uri="{FF2B5EF4-FFF2-40B4-BE49-F238E27FC236}">
                <a16:creationId xmlns:a16="http://schemas.microsoft.com/office/drawing/2014/main" id="{38946F18-48AD-4D55-9049-7136E4D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install PySide6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6DEC-D964-4B14-9004-3F0FA817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-c &quot;import PySide6; print(PySide6.__versio">
            <a:extLst xmlns:a="http://schemas.openxmlformats.org/drawingml/2006/main">
              <a:ext uri="{FF2B5EF4-FFF2-40B4-BE49-F238E27FC236}">
                <a16:creationId xmlns:a16="http://schemas.microsoft.com/office/drawing/2014/main" id="{BF441883-94D9-4D11-A0A2-39C0184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-c "import PySide6; print(PySide6.__version__)"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5B2A1-3860-4EEC-80C2-40572C4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.\.venv\Scripts\python 02_pyside6_counter.py">
            <a:extLst xmlns:a="http://schemas.openxmlformats.org/drawingml/2006/main">
              <a:ext uri="{FF2B5EF4-FFF2-40B4-BE49-F238E27FC236}">
                <a16:creationId xmlns:a16="http://schemas.microsoft.com/office/drawing/2014/main" id="{5FB54619-5B20-4B39-8B22-85CA102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02_pyside6_counter.py</a:t>
            </a:r>
          </a:p>
        </p:txBody>
      </p:sp>
      <p:sp>
        <p:nvSpPr>
          <p:cNvPr id="8" name="安裝套件">
            <a:extLst xmlns:a="http://schemas.openxmlformats.org/drawingml/2006/main">
              <a:ext uri="{FF2B5EF4-FFF2-40B4-BE49-F238E27FC236}">
                <a16:creationId xmlns:a16="http://schemas.microsoft.com/office/drawing/2014/main" id="{1E874CF7-C16F-4E90-9071-9BDEFD7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安裝套件</a:t>
            </a:r>
          </a:p>
        </p:txBody>
      </p:sp>
      <p:sp>
        <p:nvSpPr>
          <p:cNvPr id="9" name="pip 會一併安裝對應的 Qt 函式庫。">
            <a:extLst xmlns:a="http://schemas.openxmlformats.org/drawingml/2006/main">
              <a:ext uri="{FF2B5EF4-FFF2-40B4-BE49-F238E27FC236}">
                <a16:creationId xmlns:a16="http://schemas.microsoft.com/office/drawing/2014/main" id="{68410A46-BC37-44DC-AB90-927524DA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pip 會一併安裝對應的 Qt 函式庫。</a:t>
            </a:r>
          </a:p>
        </p:txBody>
      </p:sp>
      <p:sp>
        <p:nvSpPr>
          <p:cNvPr id="10" name="只用基本元件">
            <a:extLst xmlns:a="http://schemas.openxmlformats.org/drawingml/2006/main">
              <a:ext uri="{FF2B5EF4-FFF2-40B4-BE49-F238E27FC236}">
                <a16:creationId xmlns:a16="http://schemas.microsoft.com/office/drawing/2014/main" id="{6FF7B29A-6507-40C4-86B3-7E8EA4E1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只用基本元件</a:t>
            </a:r>
          </a:p>
        </p:txBody>
      </p:sp>
      <p:sp>
        <p:nvSpPr>
          <p:cNvPr id="11" name="本例只需要 Qt Widgets；也可安裝較精簡的 PySide6-Essentials。">
            <a:extLst xmlns:a="http://schemas.openxmlformats.org/drawingml/2006/main">
              <a:ext uri="{FF2B5EF4-FFF2-40B4-BE49-F238E27FC236}">
                <a16:creationId xmlns:a16="http://schemas.microsoft.com/office/drawing/2014/main" id="{DB9E575E-322E-48F8-9470-05AD5EFD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本例只需要 Qt Widgets；也可安裝較精簡的 PySide6-Essentials。</a:t>
            </a:r>
          </a:p>
        </p:txBody>
      </p:sp>
      <p:sp>
        <p:nvSpPr>
          <p:cNvPr id="12" name="套件較大；安裝完成後，先確認 import PySide6 可成功執行。">
            <a:extLst xmlns:a="http://schemas.openxmlformats.org/drawingml/2006/main">
              <a:ext uri="{FF2B5EF4-FFF2-40B4-BE49-F238E27FC236}">
                <a16:creationId xmlns:a16="http://schemas.microsoft.com/office/drawing/2014/main" id="{15F7EBA2-6753-4199-8366-454C3277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套件較大；安裝完成後，先確認 import PySide6 可成功執行。</a:t>
            </a:r>
          </a:p>
        </p:txBody>
      </p:sp>
      <p:sp>
        <p:nvSpPr>
          <p:cNvPr id="13" name="02_pyside6_counter.py">
            <a:extLst xmlns:a="http://schemas.openxmlformats.org/drawingml/2006/main">
              <a:ext uri="{FF2B5EF4-FFF2-40B4-BE49-F238E27FC236}">
                <a16:creationId xmlns:a16="http://schemas.microsoft.com/office/drawing/2014/main" id="{DC7D9EC6-BEE2-46A3-B269-7B3A9E33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02_pyside6_counter.py</a:t>
            </a:r>
          </a:p>
        </p:txBody>
      </p:sp>
      <p:sp>
        <p:nvSpPr>
          <p:cNvPr id="14" name="11">
            <a:extLst xmlns:a="http://schemas.openxmlformats.org/drawingml/2006/main">
              <a:ext uri="{FF2B5EF4-FFF2-40B4-BE49-F238E27FC236}">
                <a16:creationId xmlns:a16="http://schemas.microsoft.com/office/drawing/2014/main" id="{8C5E6485-9E33-4BAF-A349-FC3D7A33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51734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Qt：建立元件並連接 signal">
            <a:extLst xmlns:a="http://schemas.openxmlformats.org/drawingml/2006/main">
              <a:ext uri="{FF2B5EF4-FFF2-40B4-BE49-F238E27FC236}">
                <a16:creationId xmlns:a16="http://schemas.microsoft.com/office/drawing/2014/main" id="{CF757948-2C7A-4967-B60F-E30B37B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Qt：建立元件並連接 signal</a:t>
            </a:r>
          </a:p>
        </p:txBody>
      </p:sp>
      <p:sp>
        <p:nvSpPr>
          <p:cNvPr id="2" name="Python 桌面 GUI　｜　02　Qt／PySide6">
            <a:extLst xmlns:a="http://schemas.openxmlformats.org/drawingml/2006/main">
              <a:ext uri="{FF2B5EF4-FFF2-40B4-BE49-F238E27FC236}">
                <a16:creationId xmlns:a16="http://schemas.microsoft.com/office/drawing/2014/main" id="{B59D9A5E-3DE8-4D5C-95F3-B1A1DAD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02　Qt／PySide6</a:t>
            </a:r>
          </a:p>
        </p:txBody>
      </p:sp>
      <p:sp>
        <p:nvSpPr>
          <p:cNvPr id="3" name="from PySide6.QtWidgets import (">
            <a:extLst xmlns:a="http://schemas.openxmlformats.org/drawingml/2006/main">
              <a:ext uri="{FF2B5EF4-FFF2-40B4-BE49-F238E27FC236}">
                <a16:creationId xmlns:a16="http://schemas.microsoft.com/office/drawing/2014/main" id="{7CC16BB8-EA69-4491-BA06-3FC6A449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PySide6.QtWidgets import (</a:t>
            </a:r>
          </a:p>
        </p:txBody>
      </p:sp>
      <p:sp>
        <p:nvSpPr>
          <p:cNvPr id="4" name="    QApplication, QWidget, QVBoxLayout, QLabel, QPushButton,">
            <a:extLst xmlns:a="http://schemas.openxmlformats.org/drawingml/2006/main">
              <a:ext uri="{FF2B5EF4-FFF2-40B4-BE49-F238E27FC236}">
                <a16:creationId xmlns:a16="http://schemas.microsoft.com/office/drawing/2014/main" id="{12FB502E-C516-4B6C-B9A7-C3B787B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0263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QApplication, QWidget, QVBoxLayout, QLabel, QPushButton,</a:t>
            </a:r>
          </a:p>
        </p:txBody>
      </p:sp>
      <p:sp>
        <p:nvSpPr>
          <p:cNvPr id="5" name=")">
            <a:extLst xmlns:a="http://schemas.openxmlformats.org/drawingml/2006/main">
              <a:ext uri="{FF2B5EF4-FFF2-40B4-BE49-F238E27FC236}">
                <a16:creationId xmlns:a16="http://schemas.microsoft.com/office/drawing/2014/main" id="{B5AB2592-9023-4352-AFCB-CF1CE5C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AD980-98B6-4385-9FD7-77B87346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6988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class CounterWindow(QWidget):">
            <a:extLst xmlns:a="http://schemas.openxmlformats.org/drawingml/2006/main">
              <a:ext uri="{FF2B5EF4-FFF2-40B4-BE49-F238E27FC236}">
                <a16:creationId xmlns:a16="http://schemas.microsoft.com/office/drawing/2014/main" id="{98849D92-08FC-4B1A-BDB0-C0D3272C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CounterWindow(QWidget):</a:t>
            </a:r>
          </a:p>
        </p:txBody>
      </p:sp>
      <p:sp>
        <p:nvSpPr>
          <p:cNvPr id="8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D488B864-CA3B-455D-B7A6-4D342985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3713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9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914336F4-471B-4694-8976-58B3B70E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10" name="        self.setWindowTitle(&quot;PySide6 Counter&quot;)">
            <a:extLst xmlns:a="http://schemas.openxmlformats.org/drawingml/2006/main">
              <a:ext uri="{FF2B5EF4-FFF2-40B4-BE49-F238E27FC236}">
                <a16:creationId xmlns:a16="http://schemas.microsoft.com/office/drawing/2014/main" id="{92C4CE8F-38FE-412B-B044-2C0335E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00438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self.setWindowTitle("PySide6 Counter")</a:t>
            </a:r>
          </a:p>
        </p:txBody>
      </p:sp>
      <p:sp>
        <p:nvSpPr>
          <p:cNvPr id="11" name="        self.resize(380, 240)">
            <a:extLst xmlns:a="http://schemas.openxmlformats.org/drawingml/2006/main">
              <a:ext uri="{FF2B5EF4-FFF2-40B4-BE49-F238E27FC236}">
                <a16:creationId xmlns:a16="http://schemas.microsoft.com/office/drawing/2014/main" id="{FE421C75-E068-48C6-8E1C-94FCC8C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self.resize(380, 240)</a:t>
            </a:r>
          </a:p>
        </p:txBody>
      </p:sp>
      <p:sp>
        <p:nvSpPr>
          <p:cNvPr id="12" name="        self.count = 0">
            <a:extLst xmlns:a="http://schemas.openxmlformats.org/drawingml/2006/main">
              <a:ext uri="{FF2B5EF4-FFF2-40B4-BE49-F238E27FC236}">
                <a16:creationId xmlns:a16="http://schemas.microsoft.com/office/drawing/2014/main" id="{3011287C-1CF3-431E-BC67-7336C66D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7163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</p:txBody>
      </p:sp>
      <p:sp>
        <p:nvSpPr>
          <p:cNvPr id="13" name="        self.label = QLabel(&quot;Count: 0&quot;)">
            <a:extLst xmlns:a="http://schemas.openxmlformats.org/drawingml/2006/main">
              <a:ext uri="{FF2B5EF4-FFF2-40B4-BE49-F238E27FC236}">
                <a16:creationId xmlns:a16="http://schemas.microsoft.com/office/drawing/2014/main" id="{865A8C28-85BB-40D9-8ECC-FCCDEBC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 = QLabel("Count: 0")</a:t>
            </a:r>
          </a:p>
        </p:txBody>
      </p:sp>
      <p:sp>
        <p:nvSpPr>
          <p:cNvPr id="14" name="        self.button = QPushButton(&quot;Add 1&quot;)">
            <a:extLst xmlns:a="http://schemas.openxmlformats.org/drawingml/2006/main">
              <a:ext uri="{FF2B5EF4-FFF2-40B4-BE49-F238E27FC236}">
                <a16:creationId xmlns:a16="http://schemas.microsoft.com/office/drawing/2014/main" id="{02E2210D-1810-4214-9155-743BB94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3888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 = QPushButton("Add 1")</a:t>
            </a:r>
          </a:p>
        </p:txBody>
      </p:sp>
      <p:sp>
        <p:nvSpPr>
          <p:cNvPr id="15" name="        self.button.clicked.connect(self.increment)">
            <a:extLst xmlns:a="http://schemas.openxmlformats.org/drawingml/2006/main">
              <a:ext uri="{FF2B5EF4-FFF2-40B4-BE49-F238E27FC236}">
                <a16:creationId xmlns:a16="http://schemas.microsoft.com/office/drawing/2014/main" id="{78E5FC70-8446-4766-85B5-F22BA1A6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self.button.clicked.connect(self.increment)</a:t>
            </a:r>
          </a:p>
        </p:txBody>
      </p:sp>
      <p:sp>
        <p:nvSpPr>
          <p:cNvPr id="16" name="        layout = QVBoxLayout(self)">
            <a:extLst xmlns:a="http://schemas.openxmlformats.org/drawingml/2006/main">
              <a:ext uri="{FF2B5EF4-FFF2-40B4-BE49-F238E27FC236}">
                <a16:creationId xmlns:a16="http://schemas.microsoft.com/office/drawing/2014/main" id="{218CC84E-2DD0-454A-9F74-6CF6F1D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0613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 = QVBoxLayout(self)</a:t>
            </a:r>
          </a:p>
        </p:txBody>
      </p:sp>
      <p:sp>
        <p:nvSpPr>
          <p:cNvPr id="17" name="        layout.addWidget(self.label)">
            <a:extLst xmlns:a="http://schemas.openxmlformats.org/drawingml/2006/main">
              <a:ext uri="{FF2B5EF4-FFF2-40B4-BE49-F238E27FC236}">
                <a16:creationId xmlns:a16="http://schemas.microsoft.com/office/drawing/2014/main" id="{EA96A8B7-0CD8-46E1-9A03-DC94FE3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layout.addWidget(self.label)</a:t>
            </a:r>
          </a:p>
        </p:txBody>
      </p:sp>
      <p:sp>
        <p:nvSpPr>
          <p:cNvPr id="18" name="        layout.addWidget(self.button)">
            <a:extLst xmlns:a="http://schemas.openxmlformats.org/drawingml/2006/main">
              <a:ext uri="{FF2B5EF4-FFF2-40B4-BE49-F238E27FC236}">
                <a16:creationId xmlns:a16="http://schemas.microsoft.com/office/drawing/2014/main" id="{A3ECFE1F-FC79-4CB3-8CE4-0F0B610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67338"/>
            <a:ext cx="7781925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layout.addWidget(self.button)</a:t>
            </a:r>
          </a:p>
        </p:txBody>
      </p:sp>
      <p:sp>
        <p:nvSpPr>
          <p:cNvPr id="19" name="clicked signal">
            <a:extLst xmlns:a="http://schemas.openxmlformats.org/drawingml/2006/main">
              <a:ext uri="{FF2B5EF4-FFF2-40B4-BE49-F238E27FC236}">
                <a16:creationId xmlns:a16="http://schemas.microsoft.com/office/drawing/2014/main" id="{59D4C414-9DBA-46E0-8BDA-D4BAC26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clicked signal</a:t>
            </a:r>
          </a:p>
        </p:txBody>
      </p:sp>
      <p:sp>
        <p:nvSpPr>
          <p:cNvPr id="20" name="按鈕被點擊時，呼叫 increment。">
            <a:extLst xmlns:a="http://schemas.openxmlformats.org/drawingml/2006/main">
              <a:ext uri="{FF2B5EF4-FFF2-40B4-BE49-F238E27FC236}">
                <a16:creationId xmlns:a16="http://schemas.microsoft.com/office/drawing/2014/main" id="{8DB5442E-CD84-4F54-8E8D-B56BE119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按鈕被點擊時，呼叫 increment。</a:t>
            </a:r>
          </a:p>
        </p:txBody>
      </p:sp>
      <p:sp>
        <p:nvSpPr>
          <p:cNvPr id="21" name="QVBoxLayout">
            <a:extLst xmlns:a="http://schemas.openxmlformats.org/drawingml/2006/main">
              <a:ext uri="{FF2B5EF4-FFF2-40B4-BE49-F238E27FC236}">
                <a16:creationId xmlns:a16="http://schemas.microsoft.com/office/drawing/2014/main" id="{773D9E4A-DDC2-40D0-BCB0-F7C9C452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QVBoxLayout</a:t>
            </a:r>
          </a:p>
        </p:txBody>
      </p:sp>
      <p:sp>
        <p:nvSpPr>
          <p:cNvPr id="22" name="將元件垂直排列， 並配合視窗大小調整空間。">
            <a:extLst xmlns:a="http://schemas.openxmlformats.org/drawingml/2006/main">
              <a:ext uri="{FF2B5EF4-FFF2-40B4-BE49-F238E27FC236}">
                <a16:creationId xmlns:a16="http://schemas.microsoft.com/office/drawing/2014/main" id="{6CE9D758-D9E5-4F2B-A24E-DE052DCC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將元件垂直排列，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並配合視窗大小調整空間。</a:t>
            </a:r>
          </a:p>
        </p:txBody>
      </p:sp>
      <p:sp>
        <p:nvSpPr>
          <p:cNvPr id="23" name="程式節錄；完整範例另設定 Label 的字體大小。">
            <a:extLst xmlns:a="http://schemas.openxmlformats.org/drawingml/2006/main">
              <a:ext uri="{FF2B5EF4-FFF2-40B4-BE49-F238E27FC236}">
                <a16:creationId xmlns:a16="http://schemas.microsoft.com/office/drawing/2014/main" id="{32B9DFE2-F926-4998-8D7D-5D421C1B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程式節錄；完整範例另設定 Label 的字體大小。</a:t>
            </a:r>
          </a:p>
        </p:txBody>
      </p:sp>
      <p:sp>
        <p:nvSpPr>
          <p:cNvPr id="24" name="02_pyside6_counter.py">
            <a:extLst xmlns:a="http://schemas.openxmlformats.org/drawingml/2006/main">
              <a:ext uri="{FF2B5EF4-FFF2-40B4-BE49-F238E27FC236}">
                <a16:creationId xmlns:a16="http://schemas.microsoft.com/office/drawing/2014/main" id="{F16C5904-B993-4224-A4B9-D410090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02_pyside6_counter.py</a:t>
            </a:r>
          </a:p>
        </p:txBody>
      </p:sp>
      <p:sp>
        <p:nvSpPr>
          <p:cNvPr id="25" name="12">
            <a:extLst xmlns:a="http://schemas.openxmlformats.org/drawingml/2006/main">
              <a:ext uri="{FF2B5EF4-FFF2-40B4-BE49-F238E27FC236}">
                <a16:creationId xmlns:a16="http://schemas.microsoft.com/office/drawing/2014/main" id="{78B86813-301C-4ADD-928D-E699925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4983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Qt：更新畫面與啟動應用程式">
            <a:extLst xmlns:a="http://schemas.openxmlformats.org/drawingml/2006/main">
              <a:ext uri="{FF2B5EF4-FFF2-40B4-BE49-F238E27FC236}">
                <a16:creationId xmlns:a16="http://schemas.microsoft.com/office/drawing/2014/main" id="{52D55232-4ED0-4ECB-B5B3-38DAB2EB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Qt：更新畫面與啟動應用程式</a:t>
            </a:r>
          </a:p>
        </p:txBody>
      </p:sp>
      <p:sp>
        <p:nvSpPr>
          <p:cNvPr id="2" name="Python 桌面 GUI　｜　02　Qt／PySide6">
            <a:extLst xmlns:a="http://schemas.openxmlformats.org/drawingml/2006/main">
              <a:ext uri="{FF2B5EF4-FFF2-40B4-BE49-F238E27FC236}">
                <a16:creationId xmlns:a16="http://schemas.microsoft.com/office/drawing/2014/main" id="{45507879-2C75-4451-85B0-0F15627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02　Qt／PySide6</a:t>
            </a:r>
          </a:p>
        </p:txBody>
      </p:sp>
      <p:sp>
        <p:nvSpPr>
          <p:cNvPr id="3" name="    def increment(self):">
            <a:extLst xmlns:a="http://schemas.openxmlformats.org/drawingml/2006/main">
              <a:ext uri="{FF2B5EF4-FFF2-40B4-BE49-F238E27FC236}">
                <a16:creationId xmlns:a16="http://schemas.microsoft.com/office/drawing/2014/main" id="{6948B3F8-FCE4-4AA1-BF75-FEAE834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increment(self):</a:t>
            </a:r>
          </a:p>
        </p:txBody>
      </p:sp>
      <p:sp>
        <p:nvSpPr>
          <p:cNvPr id="4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F82C0D50-C772-4D52-9B73-8F65DD5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5" name="        self.label.setText(f&quot;Count: {self.count}&quot;)">
            <a:extLst xmlns:a="http://schemas.openxmlformats.org/drawingml/2006/main">
              <a:ext uri="{FF2B5EF4-FFF2-40B4-BE49-F238E27FC236}">
                <a16:creationId xmlns:a16="http://schemas.microsoft.com/office/drawing/2014/main" id="{D37E8FFA-72E7-40D9-A1F2-19B7E680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self.label.setText(f"Count: {self.count}")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9F5C-AF7D-4C26-8146-C35E782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6865A714-516C-402A-B1C6-4F52C1C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8" name="    app = QApplication([])">
            <a:extLst xmlns:a="http://schemas.openxmlformats.org/drawingml/2006/main">
              <a:ext uri="{FF2B5EF4-FFF2-40B4-BE49-F238E27FC236}">
                <a16:creationId xmlns:a16="http://schemas.microsoft.com/office/drawing/2014/main" id="{7E52F0D2-FF6E-4171-8DA6-8511312C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 = QApplication([])</a:t>
            </a:r>
          </a:p>
        </p:txBody>
      </p:sp>
      <p:sp>
        <p:nvSpPr>
          <p:cNvPr id="9" name="    window = CounterWindow()">
            <a:extLst xmlns:a="http://schemas.openxmlformats.org/drawingml/2006/main">
              <a:ext uri="{FF2B5EF4-FFF2-40B4-BE49-F238E27FC236}">
                <a16:creationId xmlns:a16="http://schemas.microsoft.com/office/drawing/2014/main" id="{66C09ABF-A911-4828-A79E-E79B58B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window = CounterWindow()</a:t>
            </a:r>
          </a:p>
        </p:txBody>
      </p:sp>
      <p:sp>
        <p:nvSpPr>
          <p:cNvPr id="10" name="    window.show()">
            <a:extLst xmlns:a="http://schemas.openxmlformats.org/drawingml/2006/main">
              <a:ext uri="{FF2B5EF4-FFF2-40B4-BE49-F238E27FC236}">
                <a16:creationId xmlns:a16="http://schemas.microsoft.com/office/drawing/2014/main" id="{FB2ADBF3-33B2-406B-9097-25BFC41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671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window.show()</a:t>
            </a:r>
          </a:p>
        </p:txBody>
      </p:sp>
      <p:sp>
        <p:nvSpPr>
          <p:cNvPr id="11" name="    app.exec()">
            <a:extLst xmlns:a="http://schemas.openxmlformats.org/drawingml/2006/main">
              <a:ext uri="{FF2B5EF4-FFF2-40B4-BE49-F238E27FC236}">
                <a16:creationId xmlns:a16="http://schemas.microsoft.com/office/drawing/2014/main" id="{83EF4369-A09A-4CB8-B53E-0191A82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app.exec()</a:t>
            </a:r>
          </a:p>
        </p:txBody>
      </p:sp>
      <p:sp>
        <p:nvSpPr>
          <p:cNvPr id="12" name="QApplication">
            <a:extLst xmlns:a="http://schemas.openxmlformats.org/drawingml/2006/main">
              <a:ext uri="{FF2B5EF4-FFF2-40B4-BE49-F238E27FC236}">
                <a16:creationId xmlns:a16="http://schemas.microsoft.com/office/drawing/2014/main" id="{8785A4F8-CB77-4135-B50D-F18573B8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QApplication</a:t>
            </a:r>
          </a:p>
        </p:txBody>
      </p:sp>
      <p:sp>
        <p:nvSpPr>
          <p:cNvPr id="13" name="先建立應用程式物件，再建立視窗與元件。">
            <a:extLst xmlns:a="http://schemas.openxmlformats.org/drawingml/2006/main">
              <a:ext uri="{FF2B5EF4-FFF2-40B4-BE49-F238E27FC236}">
                <a16:creationId xmlns:a16="http://schemas.microsoft.com/office/drawing/2014/main" id="{BB50C402-279F-4E6F-BD15-A6F0C60B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先建立應用程式物件，再建立視窗與元件。</a:t>
            </a:r>
          </a:p>
        </p:txBody>
      </p:sp>
      <p:sp>
        <p:nvSpPr>
          <p:cNvPr id="14" name="show() 與 exec()">
            <a:extLst xmlns:a="http://schemas.openxmlformats.org/drawingml/2006/main">
              <a:ext uri="{FF2B5EF4-FFF2-40B4-BE49-F238E27FC236}">
                <a16:creationId xmlns:a16="http://schemas.microsoft.com/office/drawing/2014/main" id="{0694209A-32B0-4FE1-A74B-A653DEC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show() 與 exec()</a:t>
            </a:r>
          </a:p>
        </p:txBody>
      </p:sp>
      <p:sp>
        <p:nvSpPr>
          <p:cNvPr id="15" name="show() 顯示視窗；exec() 啟動 Qt 事件迴圈。">
            <a:extLst xmlns:a="http://schemas.openxmlformats.org/drawingml/2006/main">
              <a:ext uri="{FF2B5EF4-FFF2-40B4-BE49-F238E27FC236}">
                <a16:creationId xmlns:a16="http://schemas.microsoft.com/office/drawing/2014/main" id="{8281464C-2176-4F48-AB9A-4DEEF0C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show() 顯示視窗；exec() 啟動 Qt 事件迴圈。</a:t>
            </a:r>
          </a:p>
        </p:txBody>
      </p:sp>
      <p:sp>
        <p:nvSpPr>
          <p:cNvPr id="16" name="單一 GUI 程式建立一個 QApplication，並保留主視窗的參照。">
            <a:extLst xmlns:a="http://schemas.openxmlformats.org/drawingml/2006/main">
              <a:ext uri="{FF2B5EF4-FFF2-40B4-BE49-F238E27FC236}">
                <a16:creationId xmlns:a16="http://schemas.microsoft.com/office/drawing/2014/main" id="{68B9A789-8396-490A-B657-C5CB352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單一 GUI 程式建立一個 QApplication，並保留主視窗的參照。</a:t>
            </a:r>
          </a:p>
        </p:txBody>
      </p:sp>
      <p:sp>
        <p:nvSpPr>
          <p:cNvPr id="17" name="02_pyside6_counter.py">
            <a:extLst xmlns:a="http://schemas.openxmlformats.org/drawingml/2006/main">
              <a:ext uri="{FF2B5EF4-FFF2-40B4-BE49-F238E27FC236}">
                <a16:creationId xmlns:a16="http://schemas.microsoft.com/office/drawing/2014/main" id="{3C4E7997-1EB1-4149-BBA5-EF024D5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02_pyside6_counter.py</a:t>
            </a:r>
          </a:p>
        </p:txBody>
      </p:sp>
      <p:sp>
        <p:nvSpPr>
          <p:cNvPr id="18" name="13">
            <a:extLst xmlns:a="http://schemas.openxmlformats.org/drawingml/2006/main">
              <a:ext uri="{FF2B5EF4-FFF2-40B4-BE49-F238E27FC236}">
                <a16:creationId xmlns:a16="http://schemas.microsoft.com/office/drawing/2014/main" id="{8A58CD45-A427-4A77-8AD6-8042B415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7306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Side6 與 PyQt6：同一個 Qt 家族">
            <a:extLst xmlns:a="http://schemas.openxmlformats.org/drawingml/2006/main">
              <a:ext uri="{FF2B5EF4-FFF2-40B4-BE49-F238E27FC236}">
                <a16:creationId xmlns:a16="http://schemas.microsoft.com/office/drawing/2014/main" id="{2F7E79E5-D346-46C3-B88F-A98C424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PySide6 與 PyQt6：同一個 Qt 家族</a:t>
            </a:r>
          </a:p>
        </p:txBody>
      </p:sp>
      <p:sp>
        <p:nvSpPr>
          <p:cNvPr id="2" name="本教材另附 PyQt6 的完整對照程式。">
            <a:extLst xmlns:a="http://schemas.openxmlformats.org/drawingml/2006/main">
              <a:ext uri="{FF2B5EF4-FFF2-40B4-BE49-F238E27FC236}">
                <a16:creationId xmlns:a16="http://schemas.microsoft.com/office/drawing/2014/main" id="{BE607AB6-DB0F-4F92-B1DE-5A51C0B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本教材另附 PyQt6 的完整對照程式。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4F5D6-6340-4036-9517-3FAFAA10AD3F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438650"/>
                <a:gridCol w="4438650"/>
              </a:tblGrid>
              <a:tr h="8001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PySide6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PyQt6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8001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維護者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 Project／Qt Company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Riverbank Computing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套件安裝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pip install PySide6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pip install PyQt6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8001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元件匯入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from PySide6.QtWidgets 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from PyQt6.QtWidgets 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本例的差異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套件名稱與視窗標題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其餘計數器寫法相同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兩套綁定的授權與部分 API 有差異；實際專案應查閱各自的官方文件。">
            <a:extLst xmlns:a="http://schemas.openxmlformats.org/drawingml/2006/main">
              <a:ext uri="{FF2B5EF4-FFF2-40B4-BE49-F238E27FC236}">
                <a16:creationId xmlns:a16="http://schemas.microsoft.com/office/drawing/2014/main" id="{9AFC9504-A0F8-495F-8192-720FD0ED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兩套綁定的授權與部分 API 有差異；實際專案應查閱各自的官方文件。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BCB18F22-E85B-4330-B978-01F4D70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837268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xPython：使用系統原生風格元件">
            <a:extLst xmlns:a="http://schemas.openxmlformats.org/drawingml/2006/main">
              <a:ext uri="{FF2B5EF4-FFF2-40B4-BE49-F238E27FC236}">
                <a16:creationId xmlns:a16="http://schemas.microsoft.com/office/drawing/2014/main" id="{C695DC1B-75AB-4B14-8CA4-62BCF6C4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wxPython：使用系統原生風格元件</a:t>
            </a:r>
          </a:p>
        </p:txBody>
      </p:sp>
      <p:sp>
        <p:nvSpPr>
          <p:cNvPr id="2" name="Python 桌面 GUI　｜　03　wxPython">
            <a:extLst xmlns:a="http://schemas.openxmlformats.org/drawingml/2006/main">
              <a:ext uri="{FF2B5EF4-FFF2-40B4-BE49-F238E27FC236}">
                <a16:creationId xmlns:a16="http://schemas.microsoft.com/office/drawing/2014/main" id="{94D55AF4-2394-4CF1-B292-85B2EB8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桌面 GUI　｜　03　wxPython</a:t>
            </a:r>
          </a:p>
        </p:txBody>
      </p:sp>
      <p:sp>
        <p:nvSpPr>
          <p:cNvPr id="3" name="wxWidgets 的 Python 綁定">
            <a:extLst xmlns:a="http://schemas.openxmlformats.org/drawingml/2006/main">
              <a:ext uri="{FF2B5EF4-FFF2-40B4-BE49-F238E27FC236}">
                <a16:creationId xmlns:a16="http://schemas.microsoft.com/office/drawing/2014/main" id="{12A0ED37-05D9-4868-9F28-BB9383B0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wxWidgets 的 Python 綁定</a:t>
            </a:r>
          </a:p>
        </p:txBody>
      </p:sp>
      <p:sp>
        <p:nvSpPr>
          <p:cNvPr id="4" name="在多個桌面作業系統使用相近的程式結構。">
            <a:extLst xmlns:a="http://schemas.openxmlformats.org/drawingml/2006/main">
              <a:ext uri="{FF2B5EF4-FFF2-40B4-BE49-F238E27FC236}">
                <a16:creationId xmlns:a16="http://schemas.microsoft.com/office/drawing/2014/main" id="{10381318-5D74-43DD-97B8-3439446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在多個桌面作業系統使用相近的程式結構。</a:t>
            </a:r>
          </a:p>
        </p:txBody>
      </p:sp>
      <p:sp>
        <p:nvSpPr>
          <p:cNvPr id="5" name="Frame 與 Panel">
            <a:extLst xmlns:a="http://schemas.openxmlformats.org/drawingml/2006/main">
              <a:ext uri="{FF2B5EF4-FFF2-40B4-BE49-F238E27FC236}">
                <a16:creationId xmlns:a16="http://schemas.microsoft.com/office/drawing/2014/main" id="{2E9005D5-CDEF-4B0E-B98B-4F5EEEA7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Frame 與 Panel</a:t>
            </a:r>
          </a:p>
        </p:txBody>
      </p:sp>
      <p:sp>
        <p:nvSpPr>
          <p:cNvPr id="6" name="Frame 是頂層視窗；Panel 承載內容元件。">
            <a:extLst xmlns:a="http://schemas.openxmlformats.org/drawingml/2006/main">
              <a:ext uri="{FF2B5EF4-FFF2-40B4-BE49-F238E27FC236}">
                <a16:creationId xmlns:a16="http://schemas.microsoft.com/office/drawing/2014/main" id="{2375D672-E113-4019-BF3F-50B3517B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Frame 是頂層視窗；Panel 承載內容元件。</a:t>
            </a:r>
          </a:p>
        </p:txBody>
      </p:sp>
      <p:sp>
        <p:nvSpPr>
          <p:cNvPr id="7" name="Bind 與 Sizer">
            <a:extLst xmlns:a="http://schemas.openxmlformats.org/drawingml/2006/main">
              <a:ext uri="{FF2B5EF4-FFF2-40B4-BE49-F238E27FC236}">
                <a16:creationId xmlns:a16="http://schemas.microsoft.com/office/drawing/2014/main" id="{52BC2CE3-4247-4ACE-AB75-2DC9AD7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Bind 與 Sizer</a:t>
            </a:r>
          </a:p>
        </p:txBody>
      </p:sp>
      <p:sp>
        <p:nvSpPr>
          <p:cNvPr id="8" name="Bind 綁定事件，Sizer 管理版面。">
            <a:extLst xmlns:a="http://schemas.openxmlformats.org/drawingml/2006/main">
              <a:ext uri="{FF2B5EF4-FFF2-40B4-BE49-F238E27FC236}">
                <a16:creationId xmlns:a16="http://schemas.microsoft.com/office/drawing/2014/main" id="{344906F8-A3A9-4703-A6EF-22EFAD6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Bind 綁定事件，Sizer 管理版面。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674A1-E4C9-4F26-B839-0DB17A8CD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11a814f2a40f1"/>
          <a:stretch xmlns:a="http://schemas.openxmlformats.org/drawingml/2006/main"/>
        </p:blipFill>
        <p:spPr>
          <a:xfrm xmlns:a="http://schemas.openxmlformats.org/drawingml/2006/main">
            <a:off x="6838950" y="2136841"/>
            <a:ext cx="4743450" cy="3355843"/>
          </a:xfrm>
          <a:prstGeom xmlns:a="http://schemas.openxmlformats.org/drawingml/2006/main" prst="rect">
            <a:avLst/>
          </a:prstGeom>
        </p:spPr>
      </p:pic>
      <p:sp>
        <p:nvSpPr>
          <p:cNvPr id="10" name="實際執行：點擊 Add 1 兩次">
            <a:extLst xmlns:a="http://schemas.openxmlformats.org/drawingml/2006/main">
              <a:ext uri="{FF2B5EF4-FFF2-40B4-BE49-F238E27FC236}">
                <a16:creationId xmlns:a16="http://schemas.microsoft.com/office/drawing/2014/main" id="{A87B999E-13D9-44C0-A57A-A6ECF74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62600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實際執行：點擊 Add 1 兩次</a:t>
            </a:r>
          </a:p>
        </p:txBody>
      </p:sp>
      <p:sp>
        <p:nvSpPr>
          <p:cNvPr id="11" name="標準元件的外觀可能隨 Windows、macOS 與 Linux 而不同。">
            <a:extLst xmlns:a="http://schemas.openxmlformats.org/drawingml/2006/main">
              <a:ext uri="{FF2B5EF4-FFF2-40B4-BE49-F238E27FC236}">
                <a16:creationId xmlns:a16="http://schemas.microsoft.com/office/drawing/2014/main" id="{1B9762DF-7A9B-44AD-8BDF-49ADF3E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標準元件的外觀可能隨 Windows、macOS 與 Linux 而不同。</a:t>
            </a:r>
          </a:p>
        </p:txBody>
      </p:sp>
      <p:sp>
        <p:nvSpPr>
          <p:cNvPr id="12" name="15">
            <a:extLst xmlns:a="http://schemas.openxmlformats.org/drawingml/2006/main">
              <a:ext uri="{FF2B5EF4-FFF2-40B4-BE49-F238E27FC236}">
                <a16:creationId xmlns:a16="http://schemas.microsoft.com/office/drawing/2014/main" id="{3AE93D7D-F652-4712-A560-B8E5337A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07170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wxPython：安裝確認與執行">
            <a:extLst xmlns:a="http://schemas.openxmlformats.org/drawingml/2006/main">
              <a:ext uri="{FF2B5EF4-FFF2-40B4-BE49-F238E27FC236}">
                <a16:creationId xmlns:a16="http://schemas.microsoft.com/office/drawing/2014/main" id="{EB6ACC12-D7BD-4EB7-AEE1-B68D729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wxPython：安裝確認與執行</a:t>
            </a:r>
          </a:p>
        </p:txBody>
      </p:sp>
      <p:sp>
        <p:nvSpPr>
          <p:cNvPr id="2" name="Python 桌面 GUI　｜　03　wxPython">
            <a:extLst xmlns:a="http://schemas.openxmlformats.org/drawingml/2006/main">
              <a:ext uri="{FF2B5EF4-FFF2-40B4-BE49-F238E27FC236}">
                <a16:creationId xmlns:a16="http://schemas.microsoft.com/office/drawing/2014/main" id="{C6DC70C3-FE5A-4578-92FD-4D3F9FC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03　wxPython</a:t>
            </a:r>
          </a:p>
        </p:txBody>
      </p:sp>
      <p:sp>
        <p:nvSpPr>
          <p:cNvPr id="3" name=".\.venv\Scripts\python -m pip install wxPython">
            <a:extLst xmlns:a="http://schemas.openxmlformats.org/drawingml/2006/main">
              <a:ext uri="{FF2B5EF4-FFF2-40B4-BE49-F238E27FC236}">
                <a16:creationId xmlns:a16="http://schemas.microsoft.com/office/drawing/2014/main" id="{CEA2E08E-AE05-4541-A681-7FF917C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install wxPython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7ADF8-1245-4688-A8C8-FEA722C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-c &quot;import wx; print(wx.version())&quot;">
            <a:extLst xmlns:a="http://schemas.openxmlformats.org/drawingml/2006/main">
              <a:ext uri="{FF2B5EF4-FFF2-40B4-BE49-F238E27FC236}">
                <a16:creationId xmlns:a16="http://schemas.microsoft.com/office/drawing/2014/main" id="{56D3CE23-6400-4531-8D0D-1B0902F5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-c "import wx; print(wx.version())"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96340-9ECA-4490-A873-A1D83C35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.\.venv\Scripts\python 03_wxpython_counter.py">
            <a:extLst xmlns:a="http://schemas.openxmlformats.org/drawingml/2006/main">
              <a:ext uri="{FF2B5EF4-FFF2-40B4-BE49-F238E27FC236}">
                <a16:creationId xmlns:a16="http://schemas.microsoft.com/office/drawing/2014/main" id="{06E14EF2-83EE-4720-ADCC-B3074E5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03_wxpython_counter.py</a:t>
            </a:r>
          </a:p>
        </p:txBody>
      </p:sp>
      <p:sp>
        <p:nvSpPr>
          <p:cNvPr id="8" name="Windows 安裝">
            <a:extLst xmlns:a="http://schemas.openxmlformats.org/drawingml/2006/main">
              <a:ext uri="{FF2B5EF4-FFF2-40B4-BE49-F238E27FC236}">
                <a16:creationId xmlns:a16="http://schemas.microsoft.com/office/drawing/2014/main" id="{55CC8C6C-908B-482E-9988-6784D99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Windows 安裝</a:t>
            </a:r>
          </a:p>
        </p:txBody>
      </p:sp>
      <p:sp>
        <p:nvSpPr>
          <p:cNvPr id="9" name="pip 會選擇符合 Python 版本與架構的 wheel。">
            <a:extLst xmlns:a="http://schemas.openxmlformats.org/drawingml/2006/main">
              <a:ext uri="{FF2B5EF4-FFF2-40B4-BE49-F238E27FC236}">
                <a16:creationId xmlns:a16="http://schemas.microsoft.com/office/drawing/2014/main" id="{AEE38405-D8D0-4D87-AD3F-F92AE2D2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pip 會選擇符合 Python 版本與架構的 wheel。</a:t>
            </a:r>
          </a:p>
        </p:txBody>
      </p:sp>
      <p:sp>
        <p:nvSpPr>
          <p:cNvPr id="10" name="環境相容性">
            <a:extLst xmlns:a="http://schemas.openxmlformats.org/drawingml/2006/main">
              <a:ext uri="{FF2B5EF4-FFF2-40B4-BE49-F238E27FC236}">
                <a16:creationId xmlns:a16="http://schemas.microsoft.com/office/drawing/2014/main" id="{A142F86B-9F20-4E19-A034-F9B5C50A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環境相容性</a:t>
            </a:r>
          </a:p>
        </p:txBody>
      </p:sp>
      <p:sp>
        <p:nvSpPr>
          <p:cNvPr id="11" name="若找不到相容 wheel，確認 Python 版本、位元數及 pip 是否更新。">
            <a:extLst xmlns:a="http://schemas.openxmlformats.org/drawingml/2006/main">
              <a:ext uri="{FF2B5EF4-FFF2-40B4-BE49-F238E27FC236}">
                <a16:creationId xmlns:a16="http://schemas.microsoft.com/office/drawing/2014/main" id="{50CC9107-1C42-432B-B9E2-32E55D3E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若找不到相容 wheel，確認 Python 版本、位元數及 pip 是否更新。</a:t>
            </a:r>
          </a:p>
        </p:txBody>
      </p:sp>
      <p:sp>
        <p:nvSpPr>
          <p:cNvPr id="12" name="Linux 的安裝方式可能依發行版而異；本教材安裝命令以 Windows 為準。">
            <a:extLst xmlns:a="http://schemas.openxmlformats.org/drawingml/2006/main">
              <a:ext uri="{FF2B5EF4-FFF2-40B4-BE49-F238E27FC236}">
                <a16:creationId xmlns:a16="http://schemas.microsoft.com/office/drawing/2014/main" id="{A5EEBA7A-97E8-4B29-96EB-D18A292B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Linux 的安裝方式可能依發行版而異；本教材安裝命令以 Windows 為準。</a:t>
            </a:r>
          </a:p>
        </p:txBody>
      </p:sp>
      <p:sp>
        <p:nvSpPr>
          <p:cNvPr id="13" name="03_wxpython_counter.py">
            <a:extLst xmlns:a="http://schemas.openxmlformats.org/drawingml/2006/main">
              <a:ext uri="{FF2B5EF4-FFF2-40B4-BE49-F238E27FC236}">
                <a16:creationId xmlns:a16="http://schemas.microsoft.com/office/drawing/2014/main" id="{8E2A98E7-6A89-472A-BD32-87840AF5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03_wxpython_counter.py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87EA6B8B-3440-47AB-A4A3-1BD6806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138046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wxPython：Frame、Panel 與 Sizer">
            <a:extLst xmlns:a="http://schemas.openxmlformats.org/drawingml/2006/main">
              <a:ext uri="{FF2B5EF4-FFF2-40B4-BE49-F238E27FC236}">
                <a16:creationId xmlns:a16="http://schemas.microsoft.com/office/drawing/2014/main" id="{98B7A9AF-E5A5-4BE1-8690-1E159446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wxPython：Frame、Panel 與 Sizer</a:t>
            </a:r>
          </a:p>
        </p:txBody>
      </p:sp>
      <p:sp>
        <p:nvSpPr>
          <p:cNvPr id="2" name="Python 桌面 GUI　｜　03　wxPython">
            <a:extLst xmlns:a="http://schemas.openxmlformats.org/drawingml/2006/main">
              <a:ext uri="{FF2B5EF4-FFF2-40B4-BE49-F238E27FC236}">
                <a16:creationId xmlns:a16="http://schemas.microsoft.com/office/drawing/2014/main" id="{F04F5DD3-499E-48F5-A3CD-95E7BE1F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03　wxPython</a:t>
            </a:r>
          </a:p>
        </p:txBody>
      </p:sp>
      <p:sp>
        <p:nvSpPr>
          <p:cNvPr id="3" name="import wx">
            <a:extLst xmlns:a="http://schemas.openxmlformats.org/drawingml/2006/main">
              <a:ext uri="{FF2B5EF4-FFF2-40B4-BE49-F238E27FC236}">
                <a16:creationId xmlns:a16="http://schemas.microsoft.com/office/drawing/2014/main" id="{99818462-3F65-4AE4-995E-5A4DC83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wx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395C1-093F-4C30-B800-5175D4F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58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CounterFrame(wx.Frame):">
            <a:extLst xmlns:a="http://schemas.openxmlformats.org/drawingml/2006/main">
              <a:ext uri="{FF2B5EF4-FFF2-40B4-BE49-F238E27FC236}">
                <a16:creationId xmlns:a16="http://schemas.microsoft.com/office/drawing/2014/main" id="{EBEB0669-0287-4C2C-B509-E599DE0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47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CounterFrame(wx.Frame):</a:t>
            </a:r>
          </a:p>
        </p:txBody>
      </p:sp>
      <p:sp>
        <p:nvSpPr>
          <p:cNvPr id="6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AB397BC0-6FD0-4D12-8B7B-7C698056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36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7" name="        super().__init__(None, title=&quot;wxPython Counter&quot;,">
            <a:extLst xmlns:a="http://schemas.openxmlformats.org/drawingml/2006/main">
              <a:ext uri="{FF2B5EF4-FFF2-40B4-BE49-F238E27FC236}">
                <a16:creationId xmlns:a16="http://schemas.microsoft.com/office/drawing/2014/main" id="{61FC0752-9AF5-48F7-9A63-0AC501D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625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super().__init__(None, title="wxPython Counter",</a:t>
            </a:r>
          </a:p>
        </p:txBody>
      </p:sp>
      <p:sp>
        <p:nvSpPr>
          <p:cNvPr id="8" name="                         size=(400, 280))">
            <a:extLst xmlns:a="http://schemas.openxmlformats.org/drawingml/2006/main">
              <a:ext uri="{FF2B5EF4-FFF2-40B4-BE49-F238E27FC236}">
                <a16:creationId xmlns:a16="http://schemas.microsoft.com/office/drawing/2014/main" id="{041D2E43-5E1B-48A0-8A68-7B7A472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15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         size=(400, 280))</a:t>
            </a:r>
          </a:p>
        </p:txBody>
      </p:sp>
      <p:sp>
        <p:nvSpPr>
          <p:cNvPr id="9" name="        self.count = 0">
            <a:extLst xmlns:a="http://schemas.openxmlformats.org/drawingml/2006/main">
              <a:ext uri="{FF2B5EF4-FFF2-40B4-BE49-F238E27FC236}">
                <a16:creationId xmlns:a16="http://schemas.microsoft.com/office/drawing/2014/main" id="{4B1C5199-6692-440E-88D3-28F1C149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04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</p:txBody>
      </p:sp>
      <p:sp>
        <p:nvSpPr>
          <p:cNvPr id="10" name="        panel = wx.Panel(self)">
            <a:extLst xmlns:a="http://schemas.openxmlformats.org/drawingml/2006/main">
              <a:ext uri="{FF2B5EF4-FFF2-40B4-BE49-F238E27FC236}">
                <a16:creationId xmlns:a16="http://schemas.microsoft.com/office/drawing/2014/main" id="{51E877BA-23FD-4AAC-B291-E8B32D1D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3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panel = wx.Panel(self)</a:t>
            </a:r>
          </a:p>
        </p:txBody>
      </p:sp>
      <p:sp>
        <p:nvSpPr>
          <p:cNvPr id="11" name="        self.label = wx.StaticText(panel, label=&quot;Count: 0&quot;)">
            <a:extLst xmlns:a="http://schemas.openxmlformats.org/drawingml/2006/main">
              <a:ext uri="{FF2B5EF4-FFF2-40B4-BE49-F238E27FC236}">
                <a16:creationId xmlns:a16="http://schemas.microsoft.com/office/drawing/2014/main" id="{A8E738F4-24F7-4B60-8F42-5E442A3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82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 = wx.StaticText(panel, label="Count: 0")</a:t>
            </a:r>
          </a:p>
        </p:txBody>
      </p:sp>
      <p:sp>
        <p:nvSpPr>
          <p:cNvPr id="12" name="        self.button = wx.Button(panel, label=&quot;Add 1&quot;)">
            <a:extLst xmlns:a="http://schemas.openxmlformats.org/drawingml/2006/main">
              <a:ext uri="{FF2B5EF4-FFF2-40B4-BE49-F238E27FC236}">
                <a16:creationId xmlns:a16="http://schemas.microsoft.com/office/drawing/2014/main" id="{E0305C3D-B478-465A-A1E4-04EAD12E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71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 = wx.Button(panel, label="Add 1")</a:t>
            </a:r>
          </a:p>
        </p:txBody>
      </p:sp>
      <p:sp>
        <p:nvSpPr>
          <p:cNvPr id="13" name="        self.button.Bind(wx.EVT_BUTTON, self.increment)">
            <a:extLst xmlns:a="http://schemas.openxmlformats.org/drawingml/2006/main">
              <a:ext uri="{FF2B5EF4-FFF2-40B4-BE49-F238E27FC236}">
                <a16:creationId xmlns:a16="http://schemas.microsoft.com/office/drawing/2014/main" id="{8E098007-7231-4521-95AA-FE3C2B0B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610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self.button.Bind(wx.EVT_BUTTON, self.increment)</a:t>
            </a:r>
          </a:p>
        </p:txBody>
      </p:sp>
      <p:sp>
        <p:nvSpPr>
          <p:cNvPr id="14" name="        layout = wx.BoxSizer(wx.VERTICAL)">
            <a:extLst xmlns:a="http://schemas.openxmlformats.org/drawingml/2006/main">
              <a:ext uri="{FF2B5EF4-FFF2-40B4-BE49-F238E27FC236}">
                <a16:creationId xmlns:a16="http://schemas.microsoft.com/office/drawing/2014/main" id="{F4566254-6C1E-4D97-859B-25769726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0502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 = wx.BoxSizer(wx.VERTICAL)</a:t>
            </a:r>
          </a:p>
        </p:txBody>
      </p:sp>
      <p:sp>
        <p:nvSpPr>
          <p:cNvPr id="15" name="        layout.Add(self.label, 0, wx.ALL | wx.ALIGN_CENTER, 28)">
            <a:extLst xmlns:a="http://schemas.openxmlformats.org/drawingml/2006/main">
              <a:ext uri="{FF2B5EF4-FFF2-40B4-BE49-F238E27FC236}">
                <a16:creationId xmlns:a16="http://schemas.microsoft.com/office/drawing/2014/main" id="{D0E730B4-9AEA-4CED-8686-151948CE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394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layout.Add(self.label, 0, wx.ALL | wx.ALIGN_CENTER, 28)</a:t>
            </a:r>
          </a:p>
        </p:txBody>
      </p:sp>
      <p:sp>
        <p:nvSpPr>
          <p:cNvPr id="16" name="        layout.Add(self.button, 0, wx.ALL | wx.ALIGN_CENTER, 12)">
            <a:extLst xmlns:a="http://schemas.openxmlformats.org/drawingml/2006/main">
              <a:ext uri="{FF2B5EF4-FFF2-40B4-BE49-F238E27FC236}">
                <a16:creationId xmlns:a16="http://schemas.microsoft.com/office/drawing/2014/main" id="{39FB97C4-8542-4C7A-BE1C-1AA8C602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286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layout.Add(self.button, 0, wx.ALL | wx.ALIGN_CENTER, 12)</a:t>
            </a:r>
          </a:p>
        </p:txBody>
      </p:sp>
      <p:sp>
        <p:nvSpPr>
          <p:cNvPr id="17" name="        panel.SetSizer(layout)">
            <a:extLst xmlns:a="http://schemas.openxmlformats.org/drawingml/2006/main">
              <a:ext uri="{FF2B5EF4-FFF2-40B4-BE49-F238E27FC236}">
                <a16:creationId xmlns:a16="http://schemas.microsoft.com/office/drawing/2014/main" id="{9940E5FD-088C-4C7D-A4E8-8449ED3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1780"/>
            <a:ext cx="7781925" cy="2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panel.SetSizer(layout)</a:t>
            </a:r>
          </a:p>
        </p:txBody>
      </p:sp>
      <p:sp>
        <p:nvSpPr>
          <p:cNvPr id="18" name="元件的父物件">
            <a:extLst xmlns:a="http://schemas.openxmlformats.org/drawingml/2006/main">
              <a:ext uri="{FF2B5EF4-FFF2-40B4-BE49-F238E27FC236}">
                <a16:creationId xmlns:a16="http://schemas.microsoft.com/office/drawing/2014/main" id="{B3A8DC15-F554-4F29-A5C6-DEB28C8E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元件的父物件</a:t>
            </a:r>
          </a:p>
        </p:txBody>
      </p:sp>
      <p:sp>
        <p:nvSpPr>
          <p:cNvPr id="19" name="Label 與 Button 都放在 panel 裡。">
            <a:extLst xmlns:a="http://schemas.openxmlformats.org/drawingml/2006/main">
              <a:ext uri="{FF2B5EF4-FFF2-40B4-BE49-F238E27FC236}">
                <a16:creationId xmlns:a16="http://schemas.microsoft.com/office/drawing/2014/main" id="{75459A12-B44E-44DD-8296-442549C5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Label 與 Button 都放在 panel 裡。</a:t>
            </a:r>
          </a:p>
        </p:txBody>
      </p:sp>
      <p:sp>
        <p:nvSpPr>
          <p:cNvPr id="20" name="wx.EVT_BUTTON">
            <a:extLst xmlns:a="http://schemas.openxmlformats.org/drawingml/2006/main">
              <a:ext uri="{FF2B5EF4-FFF2-40B4-BE49-F238E27FC236}">
                <a16:creationId xmlns:a16="http://schemas.microsoft.com/office/drawing/2014/main" id="{1D3F52D7-5C28-4E3E-A1B4-48734C5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wx.EVT_BUTTON</a:t>
            </a:r>
          </a:p>
        </p:txBody>
      </p:sp>
      <p:sp>
        <p:nvSpPr>
          <p:cNvPr id="21" name="把按鈕事件綁定到 increment 方法。">
            <a:extLst xmlns:a="http://schemas.openxmlformats.org/drawingml/2006/main">
              <a:ext uri="{FF2B5EF4-FFF2-40B4-BE49-F238E27FC236}">
                <a16:creationId xmlns:a16="http://schemas.microsoft.com/office/drawing/2014/main" id="{0282BAC6-2822-433A-A97B-0D4A317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把按鈕事件綁定到 increment 方法。</a:t>
            </a:r>
          </a:p>
        </p:txBody>
      </p:sp>
      <p:sp>
        <p:nvSpPr>
          <p:cNvPr id="22" name="程式節錄；完整範例另設定標籤字體。">
            <a:extLst xmlns:a="http://schemas.openxmlformats.org/drawingml/2006/main">
              <a:ext uri="{FF2B5EF4-FFF2-40B4-BE49-F238E27FC236}">
                <a16:creationId xmlns:a16="http://schemas.microsoft.com/office/drawing/2014/main" id="{D7767496-D223-4F7E-8FF2-B664A40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程式節錄；完整範例另設定標籤字體。</a:t>
            </a:r>
          </a:p>
        </p:txBody>
      </p:sp>
      <p:sp>
        <p:nvSpPr>
          <p:cNvPr id="23" name="03_wxpython_counter.py">
            <a:extLst xmlns:a="http://schemas.openxmlformats.org/drawingml/2006/main">
              <a:ext uri="{FF2B5EF4-FFF2-40B4-BE49-F238E27FC236}">
                <a16:creationId xmlns:a16="http://schemas.microsoft.com/office/drawing/2014/main" id="{2C1107A5-392A-4D34-9B35-7574CE81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03_wxpython_counter.py</a:t>
            </a:r>
          </a:p>
        </p:txBody>
      </p:sp>
      <p:sp>
        <p:nvSpPr>
          <p:cNvPr id="24" name="17">
            <a:extLst xmlns:a="http://schemas.openxmlformats.org/drawingml/2006/main">
              <a:ext uri="{FF2B5EF4-FFF2-40B4-BE49-F238E27FC236}">
                <a16:creationId xmlns:a16="http://schemas.microsoft.com/office/drawing/2014/main" id="{6102E144-1BAE-4913-9218-093611E2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96926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wxPython：接收事件物件">
            <a:extLst xmlns:a="http://schemas.openxmlformats.org/drawingml/2006/main">
              <a:ext uri="{FF2B5EF4-FFF2-40B4-BE49-F238E27FC236}">
                <a16:creationId xmlns:a16="http://schemas.microsoft.com/office/drawing/2014/main" id="{6E8796A7-1DF6-44E3-ABE4-54C3F4B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wxPython：接收事件物件</a:t>
            </a:r>
          </a:p>
        </p:txBody>
      </p:sp>
      <p:sp>
        <p:nvSpPr>
          <p:cNvPr id="2" name="Python 桌面 GUI　｜　03　wxPython">
            <a:extLst xmlns:a="http://schemas.openxmlformats.org/drawingml/2006/main">
              <a:ext uri="{FF2B5EF4-FFF2-40B4-BE49-F238E27FC236}">
                <a16:creationId xmlns:a16="http://schemas.microsoft.com/office/drawing/2014/main" id="{31B14337-D1F5-436C-9B0F-85162BAD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03　wxPython</a:t>
            </a:r>
          </a:p>
        </p:txBody>
      </p:sp>
      <p:sp>
        <p:nvSpPr>
          <p:cNvPr id="3" name="    def increment(self, event):">
            <a:extLst xmlns:a="http://schemas.openxmlformats.org/drawingml/2006/main">
              <a:ext uri="{FF2B5EF4-FFF2-40B4-BE49-F238E27FC236}">
                <a16:creationId xmlns:a16="http://schemas.microsoft.com/office/drawing/2014/main" id="{65386623-BE46-4BB4-A12C-C5CC4454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increment(self, event):</a:t>
            </a:r>
          </a:p>
        </p:txBody>
      </p:sp>
      <p:sp>
        <p:nvSpPr>
          <p:cNvPr id="4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387FC275-88F2-4026-822F-D24CFFF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5" name="        self.label.SetLabel(f&quot;Count: {self.count}&quot;)">
            <a:extLst xmlns:a="http://schemas.openxmlformats.org/drawingml/2006/main">
              <a:ext uri="{FF2B5EF4-FFF2-40B4-BE49-F238E27FC236}">
                <a16:creationId xmlns:a16="http://schemas.microsoft.com/office/drawing/2014/main" id="{8DB8CED0-5269-4F15-8792-BD5314C4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self.label.SetLabel(f"Count: {self.count}")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BAB5-ECB2-4AE7-A1BF-7B3B814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CACA7BA1-33FD-425F-ABAB-992044C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8" name="    app = wx.App(False)">
            <a:extLst xmlns:a="http://schemas.openxmlformats.org/drawingml/2006/main">
              <a:ext uri="{FF2B5EF4-FFF2-40B4-BE49-F238E27FC236}">
                <a16:creationId xmlns:a16="http://schemas.microsoft.com/office/drawing/2014/main" id="{B73A26B5-E147-4110-877A-8EFB903E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 = wx.App(False)</a:t>
            </a:r>
          </a:p>
        </p:txBody>
      </p:sp>
      <p:sp>
        <p:nvSpPr>
          <p:cNvPr id="9" name="    frame = CounterFrame()">
            <a:extLst xmlns:a="http://schemas.openxmlformats.org/drawingml/2006/main">
              <a:ext uri="{FF2B5EF4-FFF2-40B4-BE49-F238E27FC236}">
                <a16:creationId xmlns:a16="http://schemas.microsoft.com/office/drawing/2014/main" id="{5F600FB5-EE35-4EC4-86B2-AE0910E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frame = CounterFrame()</a:t>
            </a:r>
          </a:p>
        </p:txBody>
      </p:sp>
      <p:sp>
        <p:nvSpPr>
          <p:cNvPr id="10" name="    frame.Show()">
            <a:extLst xmlns:a="http://schemas.openxmlformats.org/drawingml/2006/main">
              <a:ext uri="{FF2B5EF4-FFF2-40B4-BE49-F238E27FC236}">
                <a16:creationId xmlns:a16="http://schemas.microsoft.com/office/drawing/2014/main" id="{999CDF72-33BD-49A9-BE1A-49F484E3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671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frame.Show()</a:t>
            </a:r>
          </a:p>
        </p:txBody>
      </p:sp>
      <p:sp>
        <p:nvSpPr>
          <p:cNvPr id="11" name="    app.MainLoop()">
            <a:extLst xmlns:a="http://schemas.openxmlformats.org/drawingml/2006/main">
              <a:ext uri="{FF2B5EF4-FFF2-40B4-BE49-F238E27FC236}">
                <a16:creationId xmlns:a16="http://schemas.microsoft.com/office/drawing/2014/main" id="{0F2AB099-481D-4993-B665-F235C5D0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app.MainLoop()</a:t>
            </a:r>
          </a:p>
        </p:txBody>
      </p:sp>
      <p:sp>
        <p:nvSpPr>
          <p:cNvPr id="12" name="event 參數">
            <a:extLst xmlns:a="http://schemas.openxmlformats.org/drawingml/2006/main">
              <a:ext uri="{FF2B5EF4-FFF2-40B4-BE49-F238E27FC236}">
                <a16:creationId xmlns:a16="http://schemas.microsoft.com/office/drawing/2014/main" id="{37348AFB-7FD4-4394-8B33-316EE196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event 參數</a:t>
            </a:r>
          </a:p>
        </p:txBody>
      </p:sp>
      <p:sp>
        <p:nvSpPr>
          <p:cNvPr id="13" name="事件處理方法會收到 一個 event 物件。">
            <a:extLst xmlns:a="http://schemas.openxmlformats.org/drawingml/2006/main">
              <a:ext uri="{FF2B5EF4-FFF2-40B4-BE49-F238E27FC236}">
                <a16:creationId xmlns:a16="http://schemas.microsoft.com/office/drawing/2014/main" id="{6087FF56-ADF8-454A-A992-09A41CE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事件處理方法會收到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一個 event 物件。</a:t>
            </a:r>
          </a:p>
        </p:txBody>
      </p:sp>
      <p:sp>
        <p:nvSpPr>
          <p:cNvPr id="14" name="MainLoop()">
            <a:extLst xmlns:a="http://schemas.openxmlformats.org/drawingml/2006/main">
              <a:ext uri="{FF2B5EF4-FFF2-40B4-BE49-F238E27FC236}">
                <a16:creationId xmlns:a16="http://schemas.microsoft.com/office/drawing/2014/main" id="{ED0C44D1-6DAA-4119-9B63-CC3F6E9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MainLoop()</a:t>
            </a:r>
          </a:p>
        </p:txBody>
      </p:sp>
      <p:sp>
        <p:nvSpPr>
          <p:cNvPr id="15" name="先建立 App，顯示 Frame，再開始處理事件。">
            <a:extLst xmlns:a="http://schemas.openxmlformats.org/drawingml/2006/main">
              <a:ext uri="{FF2B5EF4-FFF2-40B4-BE49-F238E27FC236}">
                <a16:creationId xmlns:a16="http://schemas.microsoft.com/office/drawing/2014/main" id="{CB3B6902-5000-4F0F-9B9C-20AFA9EA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先建立 App，顯示 Frame，再開始處理事件。</a:t>
            </a:r>
          </a:p>
        </p:txBody>
      </p:sp>
      <p:sp>
        <p:nvSpPr>
          <p:cNvPr id="16" name="本例不需讀取 event 的內容，但方法仍需接收這個參數。">
            <a:extLst xmlns:a="http://schemas.openxmlformats.org/drawingml/2006/main">
              <a:ext uri="{FF2B5EF4-FFF2-40B4-BE49-F238E27FC236}">
                <a16:creationId xmlns:a16="http://schemas.microsoft.com/office/drawing/2014/main" id="{3971C81C-2995-4268-A4B8-9399DF6C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本例不需讀取 event 的內容，但方法仍需接收這個參數。</a:t>
            </a:r>
          </a:p>
        </p:txBody>
      </p:sp>
      <p:sp>
        <p:nvSpPr>
          <p:cNvPr id="17" name="03_wxpython_counter.py">
            <a:extLst xmlns:a="http://schemas.openxmlformats.org/drawingml/2006/main">
              <a:ext uri="{FF2B5EF4-FFF2-40B4-BE49-F238E27FC236}">
                <a16:creationId xmlns:a16="http://schemas.microsoft.com/office/drawing/2014/main" id="{F3150D91-6D14-43DD-8678-045E5090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03_wxpython_counter.py</a:t>
            </a:r>
          </a:p>
        </p:txBody>
      </p:sp>
      <p:sp>
        <p:nvSpPr>
          <p:cNvPr id="18" name="18">
            <a:extLst xmlns:a="http://schemas.openxmlformats.org/drawingml/2006/main">
              <a:ext uri="{FF2B5EF4-FFF2-40B4-BE49-F238E27FC236}">
                <a16:creationId xmlns:a16="http://schemas.microsoft.com/office/drawing/2014/main" id="{23C28DD9-14AF-4872-96C6-C5B730B4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7594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vy：自繪介面與觸控操作">
            <a:extLst xmlns:a="http://schemas.openxmlformats.org/drawingml/2006/main">
              <a:ext uri="{FF2B5EF4-FFF2-40B4-BE49-F238E27FC236}">
                <a16:creationId xmlns:a16="http://schemas.microsoft.com/office/drawing/2014/main" id="{45E52216-B22D-48E0-BA3D-1F22F4C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Kivy：自繪介面與觸控操作</a:t>
            </a:r>
          </a:p>
        </p:txBody>
      </p:sp>
      <p:sp>
        <p:nvSpPr>
          <p:cNvPr id="2" name="Python 桌面 GUI　｜　04　Kivy">
            <a:extLst xmlns:a="http://schemas.openxmlformats.org/drawingml/2006/main">
              <a:ext uri="{FF2B5EF4-FFF2-40B4-BE49-F238E27FC236}">
                <a16:creationId xmlns:a16="http://schemas.microsoft.com/office/drawing/2014/main" id="{E2CC60B8-9DF4-4D49-A210-6221E2A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桌面 GUI　｜　04　Kivy</a:t>
            </a:r>
          </a:p>
        </p:txBody>
      </p:sp>
      <p:sp>
        <p:nvSpPr>
          <p:cNvPr id="3" name="跨平台介面">
            <a:extLst xmlns:a="http://schemas.openxmlformats.org/drawingml/2006/main">
              <a:ext uri="{FF2B5EF4-FFF2-40B4-BE49-F238E27FC236}">
                <a16:creationId xmlns:a16="http://schemas.microsoft.com/office/drawing/2014/main" id="{203F008C-4CCB-40B4-B7E4-A38F686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跨平台介面</a:t>
            </a:r>
          </a:p>
        </p:txBody>
      </p:sp>
      <p:sp>
        <p:nvSpPr>
          <p:cNvPr id="4" name="元件由 Kivy 繪製，可建立一致的自訂外觀。">
            <a:extLst xmlns:a="http://schemas.openxmlformats.org/drawingml/2006/main">
              <a:ext uri="{FF2B5EF4-FFF2-40B4-BE49-F238E27FC236}">
                <a16:creationId xmlns:a16="http://schemas.microsoft.com/office/drawing/2014/main" id="{1490D885-8E5C-4212-A332-4E0B5B4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元件由 Kivy 繪製，可建立一致的自訂外觀。</a:t>
            </a:r>
          </a:p>
        </p:txBody>
      </p:sp>
      <p:sp>
        <p:nvSpPr>
          <p:cNvPr id="5" name="桌面與行動裝置">
            <a:extLst xmlns:a="http://schemas.openxmlformats.org/drawingml/2006/main">
              <a:ext uri="{FF2B5EF4-FFF2-40B4-BE49-F238E27FC236}">
                <a16:creationId xmlns:a16="http://schemas.microsoft.com/office/drawing/2014/main" id="{BA71F725-370E-47D0-A808-9595055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桌面與行動裝置</a:t>
            </a:r>
          </a:p>
        </p:txBody>
      </p:sp>
      <p:sp>
        <p:nvSpPr>
          <p:cNvPr id="6" name="支援觸控、手勢及不同螢幕大小。">
            <a:extLst xmlns:a="http://schemas.openxmlformats.org/drawingml/2006/main">
              <a:ext uri="{FF2B5EF4-FFF2-40B4-BE49-F238E27FC236}">
                <a16:creationId xmlns:a16="http://schemas.microsoft.com/office/drawing/2014/main" id="{53FA8B87-2417-429C-ABDC-3445DE74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支援觸控、手勢及不同螢幕大小。</a:t>
            </a:r>
          </a:p>
        </p:txBody>
      </p:sp>
      <p:sp>
        <p:nvSpPr>
          <p:cNvPr id="7" name="App 與 Layout">
            <a:extLst xmlns:a="http://schemas.openxmlformats.org/drawingml/2006/main">
              <a:ext uri="{FF2B5EF4-FFF2-40B4-BE49-F238E27FC236}">
                <a16:creationId xmlns:a16="http://schemas.microsoft.com/office/drawing/2014/main" id="{49AB86C9-327E-4F19-BAD3-C2AB3F5C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App 與 Layout</a:t>
            </a:r>
          </a:p>
        </p:txBody>
      </p:sp>
      <p:sp>
        <p:nvSpPr>
          <p:cNvPr id="8" name="App.build() 回傳根元件，組成整個介面。">
            <a:extLst xmlns:a="http://schemas.openxmlformats.org/drawingml/2006/main">
              <a:ext uri="{FF2B5EF4-FFF2-40B4-BE49-F238E27FC236}">
                <a16:creationId xmlns:a16="http://schemas.microsoft.com/office/drawing/2014/main" id="{5E5D8228-3BE4-44D2-9008-1FE69235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App.build() 回傳根元件，組成整個介面。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F7665-4B59-4878-8D85-D8BEA6137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daa085e614650"/>
          <a:stretch xmlns:a="http://schemas.openxmlformats.org/drawingml/2006/main"/>
        </p:blipFill>
        <p:spPr>
          <a:xfrm xmlns:a="http://schemas.openxmlformats.org/drawingml/2006/main">
            <a:off x="6838950" y="2132204"/>
            <a:ext cx="4743450" cy="3365118"/>
          </a:xfrm>
          <a:prstGeom xmlns:a="http://schemas.openxmlformats.org/drawingml/2006/main" prst="rect">
            <a:avLst/>
          </a:prstGeom>
        </p:spPr>
      </p:pic>
      <p:sp>
        <p:nvSpPr>
          <p:cNvPr id="10" name="實際執行：點擊 Add 1 兩次">
            <a:extLst xmlns:a="http://schemas.openxmlformats.org/drawingml/2006/main">
              <a:ext uri="{FF2B5EF4-FFF2-40B4-BE49-F238E27FC236}">
                <a16:creationId xmlns:a16="http://schemas.microsoft.com/office/drawing/2014/main" id="{3FEF6055-B23B-4670-BD36-C93980B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62600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實際執行：點擊 Add 1 兩次</a:t>
            </a:r>
          </a:p>
        </p:txBody>
      </p:sp>
      <p:sp>
        <p:nvSpPr>
          <p:cNvPr id="11" name="本教材執行桌面版；Android 與 iOS 需要額外的打包工具與平台設定。">
            <a:extLst xmlns:a="http://schemas.openxmlformats.org/drawingml/2006/main">
              <a:ext uri="{FF2B5EF4-FFF2-40B4-BE49-F238E27FC236}">
                <a16:creationId xmlns:a16="http://schemas.microsoft.com/office/drawing/2014/main" id="{726E70F8-9191-4D6C-A372-8E6FC7D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本教材執行桌面版；Android 與 iOS 需要額外的打包工具與平台設定。</a:t>
            </a:r>
          </a:p>
        </p:txBody>
      </p:sp>
      <p:sp>
        <p:nvSpPr>
          <p:cNvPr id="12" name="19">
            <a:extLst xmlns:a="http://schemas.openxmlformats.org/drawingml/2006/main">
              <a:ext uri="{FF2B5EF4-FFF2-40B4-BE49-F238E27FC236}">
                <a16:creationId xmlns:a16="http://schemas.microsoft.com/office/drawing/2014/main" id="{9B629499-AC4A-4841-8C2B-AA61FCF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627285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vy：安裝確認與執行">
            <a:extLst xmlns:a="http://schemas.openxmlformats.org/drawingml/2006/main">
              <a:ext uri="{FF2B5EF4-FFF2-40B4-BE49-F238E27FC236}">
                <a16:creationId xmlns:a16="http://schemas.microsoft.com/office/drawing/2014/main" id="{6D783869-CDFF-4706-8985-4826C0C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Kivy：安裝確認與執行</a:t>
            </a:r>
          </a:p>
        </p:txBody>
      </p:sp>
      <p:sp>
        <p:nvSpPr>
          <p:cNvPr id="2" name="Python 桌面 GUI　｜　04　Kivy">
            <a:extLst xmlns:a="http://schemas.openxmlformats.org/drawingml/2006/main">
              <a:ext uri="{FF2B5EF4-FFF2-40B4-BE49-F238E27FC236}">
                <a16:creationId xmlns:a16="http://schemas.microsoft.com/office/drawing/2014/main" id="{715AEF7F-B617-4516-8B69-F09A26E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04　Kivy</a:t>
            </a:r>
          </a:p>
        </p:txBody>
      </p:sp>
      <p:sp>
        <p:nvSpPr>
          <p:cNvPr id="3" name=".\.venv\Scripts\python -m pip install &quot;Kivy[base]&quot;">
            <a:extLst xmlns:a="http://schemas.openxmlformats.org/drawingml/2006/main">
              <a:ext uri="{FF2B5EF4-FFF2-40B4-BE49-F238E27FC236}">
                <a16:creationId xmlns:a16="http://schemas.microsoft.com/office/drawing/2014/main" id="{97B7AEA8-654F-4529-9FE3-431DBCC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install "Kivy[base]"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D5E19-E3B2-46F6-B86B-CEEA405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-c &quot;import kivy; print(kivy.__version__)&quot;">
            <a:extLst xmlns:a="http://schemas.openxmlformats.org/drawingml/2006/main">
              <a:ext uri="{FF2B5EF4-FFF2-40B4-BE49-F238E27FC236}">
                <a16:creationId xmlns:a16="http://schemas.microsoft.com/office/drawing/2014/main" id="{286ACFBE-4D86-49C6-B15C-74A5E1A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-c "import kivy; print(kivy.__version__)"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59ACC-BA8D-4788-AC62-5D8AFF4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.\.venv\Scripts\python 04_kivy_counter.py">
            <a:extLst xmlns:a="http://schemas.openxmlformats.org/drawingml/2006/main">
              <a:ext uri="{FF2B5EF4-FFF2-40B4-BE49-F238E27FC236}">
                <a16:creationId xmlns:a16="http://schemas.microsoft.com/office/drawing/2014/main" id="{0445B42C-9FEB-44DA-AAA7-3D935CD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04_kivy_counter.py</a:t>
            </a:r>
          </a:p>
        </p:txBody>
      </p:sp>
      <p:sp>
        <p:nvSpPr>
          <p:cNvPr id="8" name="base 安裝選項">
            <a:extLst xmlns:a="http://schemas.openxmlformats.org/drawingml/2006/main">
              <a:ext uri="{FF2B5EF4-FFF2-40B4-BE49-F238E27FC236}">
                <a16:creationId xmlns:a16="http://schemas.microsoft.com/office/drawing/2014/main" id="{39D9ED2A-6517-44AC-8E60-E01E27D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base 安裝選項</a:t>
            </a:r>
          </a:p>
        </p:txBody>
      </p:sp>
      <p:sp>
        <p:nvSpPr>
          <p:cNvPr id="9" name="取得 Kivy 與基本執行所需的相依套件。">
            <a:extLst xmlns:a="http://schemas.openxmlformats.org/drawingml/2006/main">
              <a:ext uri="{FF2B5EF4-FFF2-40B4-BE49-F238E27FC236}">
                <a16:creationId xmlns:a16="http://schemas.microsoft.com/office/drawing/2014/main" id="{5B9B37C5-CA31-4541-B0CE-9B65900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取得 Kivy 與基本執行所需的相依套件。</a:t>
            </a:r>
          </a:p>
        </p:txBody>
      </p:sp>
      <p:sp>
        <p:nvSpPr>
          <p:cNvPr id="10" name="圖形環境">
            <a:extLst xmlns:a="http://schemas.openxmlformats.org/drawingml/2006/main">
              <a:ext uri="{FF2B5EF4-FFF2-40B4-BE49-F238E27FC236}">
                <a16:creationId xmlns:a16="http://schemas.microsoft.com/office/drawing/2014/main" id="{AA5CC67D-6862-482F-B8A1-0D59330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圖形環境</a:t>
            </a:r>
          </a:p>
        </p:txBody>
      </p:sp>
      <p:sp>
        <p:nvSpPr>
          <p:cNvPr id="11" name="需要能建立 OpenGL 圖形環境；顯示卡驅動會影響啟動。">
            <a:extLst xmlns:a="http://schemas.openxmlformats.org/drawingml/2006/main">
              <a:ext uri="{FF2B5EF4-FFF2-40B4-BE49-F238E27FC236}">
                <a16:creationId xmlns:a16="http://schemas.microsoft.com/office/drawing/2014/main" id="{32753789-A044-4158-9FBD-4AE8149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需要能建立 OpenGL 圖形環境；顯示卡驅動會影響啟動。</a:t>
            </a:r>
          </a:p>
        </p:txBody>
      </p:sp>
      <p:sp>
        <p:nvSpPr>
          <p:cNvPr id="12" name="Kivy 預設字型未必含中文；中文介面需另外指定支援中文字形的字型。">
            <a:extLst xmlns:a="http://schemas.openxmlformats.org/drawingml/2006/main">
              <a:ext uri="{FF2B5EF4-FFF2-40B4-BE49-F238E27FC236}">
                <a16:creationId xmlns:a16="http://schemas.microsoft.com/office/drawing/2014/main" id="{AB423F8C-A3E4-4DD1-8DE7-772E9F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Kivy 預設字型未必含中文；中文介面需另外指定支援中文字形的字型。</a:t>
            </a:r>
          </a:p>
        </p:txBody>
      </p:sp>
      <p:sp>
        <p:nvSpPr>
          <p:cNvPr id="13" name="04_kivy_counter.py">
            <a:extLst xmlns:a="http://schemas.openxmlformats.org/drawingml/2006/main">
              <a:ext uri="{FF2B5EF4-FFF2-40B4-BE49-F238E27FC236}">
                <a16:creationId xmlns:a16="http://schemas.microsoft.com/office/drawing/2014/main" id="{84FB07D9-E528-41C9-9460-EB2D5A7A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04_kivy_counter.py</a:t>
            </a:r>
          </a:p>
        </p:txBody>
      </p:sp>
      <p:sp>
        <p:nvSpPr>
          <p:cNvPr id="14" name="20">
            <a:extLst xmlns:a="http://schemas.openxmlformats.org/drawingml/2006/main">
              <a:ext uri="{FF2B5EF4-FFF2-40B4-BE49-F238E27FC236}">
                <a16:creationId xmlns:a16="http://schemas.microsoft.com/office/drawing/2014/main" id="{899F0E35-71FF-4ECA-8204-56E6E064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007079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vy：build() 回傳根元件">
            <a:extLst xmlns:a="http://schemas.openxmlformats.org/drawingml/2006/main">
              <a:ext uri="{FF2B5EF4-FFF2-40B4-BE49-F238E27FC236}">
                <a16:creationId xmlns:a16="http://schemas.microsoft.com/office/drawing/2014/main" id="{BACD4844-33C9-4CDC-B9C3-F5EFB68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Kivy：build() 回傳根元件</a:t>
            </a:r>
          </a:p>
        </p:txBody>
      </p:sp>
      <p:sp>
        <p:nvSpPr>
          <p:cNvPr id="2" name="Python 桌面 GUI　｜　04　Kivy">
            <a:extLst xmlns:a="http://schemas.openxmlformats.org/drawingml/2006/main">
              <a:ext uri="{FF2B5EF4-FFF2-40B4-BE49-F238E27FC236}">
                <a16:creationId xmlns:a16="http://schemas.microsoft.com/office/drawing/2014/main" id="{55A8D9AB-94AA-44C6-AF2D-A4B8E6C4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04　Kivy</a:t>
            </a:r>
          </a:p>
        </p:txBody>
      </p:sp>
      <p:sp>
        <p:nvSpPr>
          <p:cNvPr id="3" name="class CounterApp(App):">
            <a:extLst xmlns:a="http://schemas.openxmlformats.org/drawingml/2006/main">
              <a:ext uri="{FF2B5EF4-FFF2-40B4-BE49-F238E27FC236}">
                <a16:creationId xmlns:a16="http://schemas.microsoft.com/office/drawing/2014/main" id="{AC2E3E5F-15B0-470D-BD8F-C0C06B5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CounterApp(App):</a:t>
            </a:r>
          </a:p>
        </p:txBody>
      </p:sp>
      <p:sp>
        <p:nvSpPr>
          <p:cNvPr id="4" name="    def build(self):">
            <a:extLst xmlns:a="http://schemas.openxmlformats.org/drawingml/2006/main">
              <a:ext uri="{FF2B5EF4-FFF2-40B4-BE49-F238E27FC236}">
                <a16:creationId xmlns:a16="http://schemas.microsoft.com/office/drawing/2014/main" id="{5D8895CB-30CA-4F80-A852-0A723AF3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4115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build(self):</a:t>
            </a:r>
          </a:p>
        </p:txBody>
      </p:sp>
      <p:sp>
        <p:nvSpPr>
          <p:cNvPr id="5" name="        Window.size = (380, 240)">
            <a:extLst xmlns:a="http://schemas.openxmlformats.org/drawingml/2006/main">
              <a:ext uri="{FF2B5EF4-FFF2-40B4-BE49-F238E27FC236}">
                <a16:creationId xmlns:a16="http://schemas.microsoft.com/office/drawing/2014/main" id="{B0107C37-AA83-497C-86FE-DD36A04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1331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Window.size = (380, 240)</a:t>
            </a:r>
          </a:p>
        </p:txBody>
      </p:sp>
      <p:sp>
        <p:nvSpPr>
          <p:cNvPr id="6" name="        self.title = &quot;Kivy Counter&quot;">
            <a:extLst xmlns:a="http://schemas.openxmlformats.org/drawingml/2006/main">
              <a:ext uri="{FF2B5EF4-FFF2-40B4-BE49-F238E27FC236}">
                <a16:creationId xmlns:a16="http://schemas.microsoft.com/office/drawing/2014/main" id="{F86DD40D-45A3-42E5-A7CA-D5A3940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8546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self.title = "Kivy Counter"</a:t>
            </a:r>
          </a:p>
        </p:txBody>
      </p:sp>
      <p:sp>
        <p:nvSpPr>
          <p:cNvPr id="7" name="        self.count = 0">
            <a:extLst xmlns:a="http://schemas.openxmlformats.org/drawingml/2006/main">
              <a:ext uri="{FF2B5EF4-FFF2-40B4-BE49-F238E27FC236}">
                <a16:creationId xmlns:a16="http://schemas.microsoft.com/office/drawing/2014/main" id="{78A744A8-BA69-48FE-AB32-36DC693D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5762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</p:txBody>
      </p:sp>
      <p:sp>
        <p:nvSpPr>
          <p:cNvPr id="8" name="        self.label = Label(text=&quot;Count: 0&quot;, font_size=30)">
            <a:extLst xmlns:a="http://schemas.openxmlformats.org/drawingml/2006/main">
              <a:ext uri="{FF2B5EF4-FFF2-40B4-BE49-F238E27FC236}">
                <a16:creationId xmlns:a16="http://schemas.microsoft.com/office/drawing/2014/main" id="{87592A75-D988-47F3-9BD5-7C13B17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2977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 = Label(text="Count: 0", font_size=30)</a:t>
            </a:r>
          </a:p>
        </p:txBody>
      </p:sp>
      <p:sp>
        <p:nvSpPr>
          <p:cNvPr id="9" name="        self.button = Button(text=&quot;Add 1&quot;, font_size=24)">
            <a:extLst xmlns:a="http://schemas.openxmlformats.org/drawingml/2006/main">
              <a:ext uri="{FF2B5EF4-FFF2-40B4-BE49-F238E27FC236}">
                <a16:creationId xmlns:a16="http://schemas.microsoft.com/office/drawing/2014/main" id="{666229A9-18E7-4E0A-8C28-C8FF5A8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192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 = Button(text="Add 1", font_size=24)</a:t>
            </a:r>
          </a:p>
        </p:txBody>
      </p:sp>
      <p:sp>
        <p:nvSpPr>
          <p:cNvPr id="10" name="        self.button.bind(on_press=self.increment)">
            <a:extLst xmlns:a="http://schemas.openxmlformats.org/drawingml/2006/main">
              <a:ext uri="{FF2B5EF4-FFF2-40B4-BE49-F238E27FC236}">
                <a16:creationId xmlns:a16="http://schemas.microsoft.com/office/drawing/2014/main" id="{889F36C4-D564-4069-9239-CBF9FFCC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7408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self.button.bind(on_press=self.increment)</a:t>
            </a:r>
          </a:p>
        </p:txBody>
      </p:sp>
      <p:sp>
        <p:nvSpPr>
          <p:cNvPr id="11" name="        layout = BoxLayout(orientation=&quot;vertical&quot;,">
            <a:extLst xmlns:a="http://schemas.openxmlformats.org/drawingml/2006/main">
              <a:ext uri="{FF2B5EF4-FFF2-40B4-BE49-F238E27FC236}">
                <a16:creationId xmlns:a16="http://schemas.microsoft.com/office/drawing/2014/main" id="{C688D08F-CE70-4D49-B0B1-587FFEA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4623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 = BoxLayout(orientation="vertical",</a:t>
            </a:r>
          </a:p>
        </p:txBody>
      </p:sp>
      <p:sp>
        <p:nvSpPr>
          <p:cNvPr id="12" name="                           padding=20, spacing=16)">
            <a:extLst xmlns:a="http://schemas.openxmlformats.org/drawingml/2006/main">
              <a:ext uri="{FF2B5EF4-FFF2-40B4-BE49-F238E27FC236}">
                <a16:creationId xmlns:a16="http://schemas.microsoft.com/office/drawing/2014/main" id="{FF36BC82-11E8-449B-8923-D07C468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1838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           padding=20, spacing=16)</a:t>
            </a:r>
          </a:p>
        </p:txBody>
      </p:sp>
      <p:sp>
        <p:nvSpPr>
          <p:cNvPr id="13" name="        layout.add_widget(self.label)">
            <a:extLst xmlns:a="http://schemas.openxmlformats.org/drawingml/2006/main">
              <a:ext uri="{FF2B5EF4-FFF2-40B4-BE49-F238E27FC236}">
                <a16:creationId xmlns:a16="http://schemas.microsoft.com/office/drawing/2014/main" id="{A585CCB8-3818-4E60-BA0D-D7C8034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9054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layout.add_widget(self.label)</a:t>
            </a:r>
          </a:p>
        </p:txBody>
      </p:sp>
      <p:sp>
        <p:nvSpPr>
          <p:cNvPr id="14" name="        layout.add_widget(self.button)">
            <a:extLst xmlns:a="http://schemas.openxmlformats.org/drawingml/2006/main">
              <a:ext uri="{FF2B5EF4-FFF2-40B4-BE49-F238E27FC236}">
                <a16:creationId xmlns:a16="http://schemas.microsoft.com/office/drawing/2014/main" id="{695175AA-4421-4F3C-9B61-FD35CB50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6269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layout.add_widget(self.button)</a:t>
            </a:r>
          </a:p>
        </p:txBody>
      </p:sp>
      <p:sp>
        <p:nvSpPr>
          <p:cNvPr id="15" name="        return layout">
            <a:extLst xmlns:a="http://schemas.openxmlformats.org/drawingml/2006/main">
              <a:ext uri="{FF2B5EF4-FFF2-40B4-BE49-F238E27FC236}">
                <a16:creationId xmlns:a16="http://schemas.microsoft.com/office/drawing/2014/main" id="{E7FD34CF-68B6-4EBB-96D5-FC71825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3485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layout</a:t>
            </a:r>
          </a:p>
        </p:txBody>
      </p:sp>
      <p:sp>
        <p:nvSpPr>
          <p:cNvPr id="16" name="on_press 事件">
            <a:extLst xmlns:a="http://schemas.openxmlformats.org/drawingml/2006/main">
              <a:ext uri="{FF2B5EF4-FFF2-40B4-BE49-F238E27FC236}">
                <a16:creationId xmlns:a16="http://schemas.microsoft.com/office/drawing/2014/main" id="{A713C9EE-0E79-4CDB-B03C-01396FB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on_press 事件</a:t>
            </a:r>
          </a:p>
        </p:txBody>
      </p:sp>
      <p:sp>
        <p:nvSpPr>
          <p:cNvPr id="17" name="按下按鈕時，觸發 increment。">
            <a:extLst xmlns:a="http://schemas.openxmlformats.org/drawingml/2006/main">
              <a:ext uri="{FF2B5EF4-FFF2-40B4-BE49-F238E27FC236}">
                <a16:creationId xmlns:a16="http://schemas.microsoft.com/office/drawing/2014/main" id="{88E0D1F3-69D2-411F-93E1-F45FBEB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按下按鈕時，觸發 increment。</a:t>
            </a:r>
          </a:p>
        </p:txBody>
      </p:sp>
      <p:sp>
        <p:nvSpPr>
          <p:cNvPr id="18" name="BoxLayout">
            <a:extLst xmlns:a="http://schemas.openxmlformats.org/drawingml/2006/main">
              <a:ext uri="{FF2B5EF4-FFF2-40B4-BE49-F238E27FC236}">
                <a16:creationId xmlns:a16="http://schemas.microsoft.com/office/drawing/2014/main" id="{E27CE631-1C13-40B1-BE44-078A78CB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BoxLayout</a:t>
            </a:r>
          </a:p>
        </p:txBody>
      </p:sp>
      <p:sp>
        <p:nvSpPr>
          <p:cNvPr id="19" name="orientation 決定排列方向；padding 與 spacing 控制留白。">
            <a:extLst xmlns:a="http://schemas.openxmlformats.org/drawingml/2006/main">
              <a:ext uri="{FF2B5EF4-FFF2-40B4-BE49-F238E27FC236}">
                <a16:creationId xmlns:a16="http://schemas.microsoft.com/office/drawing/2014/main" id="{033E24D0-3727-4D91-8749-B901759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orientation 決定排列方向；padding 與 spacing 控制留白。</a:t>
            </a:r>
          </a:p>
        </p:txBody>
      </p:sp>
      <p:sp>
        <p:nvSpPr>
          <p:cNvPr id="20" name="此頁省略匯入段；完整檔案包含 App、Window、BoxLayout、Button 與 Label。">
            <a:extLst xmlns:a="http://schemas.openxmlformats.org/drawingml/2006/main">
              <a:ext uri="{FF2B5EF4-FFF2-40B4-BE49-F238E27FC236}">
                <a16:creationId xmlns:a16="http://schemas.microsoft.com/office/drawing/2014/main" id="{2386F43E-0EC8-4241-9E43-D851609F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此頁省略匯入段；完整檔案包含 App、Window、BoxLayout、Button 與 Label。</a:t>
            </a:r>
          </a:p>
        </p:txBody>
      </p:sp>
      <p:sp>
        <p:nvSpPr>
          <p:cNvPr id="21" name="04_kivy_counter.py">
            <a:extLst xmlns:a="http://schemas.openxmlformats.org/drawingml/2006/main">
              <a:ext uri="{FF2B5EF4-FFF2-40B4-BE49-F238E27FC236}">
                <a16:creationId xmlns:a16="http://schemas.microsoft.com/office/drawing/2014/main" id="{52711B5C-9506-4DE6-94CE-F2D248B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04_kivy_counter.py</a:t>
            </a:r>
          </a:p>
        </p:txBody>
      </p:sp>
      <p:sp>
        <p:nvSpPr>
          <p:cNvPr id="22" name="21">
            <a:extLst xmlns:a="http://schemas.openxmlformats.org/drawingml/2006/main">
              <a:ext uri="{FF2B5EF4-FFF2-40B4-BE49-F238E27FC236}">
                <a16:creationId xmlns:a16="http://schemas.microsoft.com/office/drawing/2014/main" id="{4752A22A-64C6-4AB0-9014-3A288D6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85690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vy：更新元件屬性">
            <a:extLst xmlns:a="http://schemas.openxmlformats.org/drawingml/2006/main">
              <a:ext uri="{FF2B5EF4-FFF2-40B4-BE49-F238E27FC236}">
                <a16:creationId xmlns:a16="http://schemas.microsoft.com/office/drawing/2014/main" id="{522869C3-E3F5-4036-B159-050BBA3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Kivy：更新元件屬性</a:t>
            </a:r>
          </a:p>
        </p:txBody>
      </p:sp>
      <p:sp>
        <p:nvSpPr>
          <p:cNvPr id="2" name="Python 桌面 GUI　｜　04　Kivy">
            <a:extLst xmlns:a="http://schemas.openxmlformats.org/drawingml/2006/main">
              <a:ext uri="{FF2B5EF4-FFF2-40B4-BE49-F238E27FC236}">
                <a16:creationId xmlns:a16="http://schemas.microsoft.com/office/drawing/2014/main" id="{9F92B20E-21F6-4167-8B47-A7ACDC9B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04　Kivy</a:t>
            </a:r>
          </a:p>
        </p:txBody>
      </p:sp>
      <p:sp>
        <p:nvSpPr>
          <p:cNvPr id="3" name="    def increment(self, button):">
            <a:extLst xmlns:a="http://schemas.openxmlformats.org/drawingml/2006/main">
              <a:ext uri="{FF2B5EF4-FFF2-40B4-BE49-F238E27FC236}">
                <a16:creationId xmlns:a16="http://schemas.microsoft.com/office/drawing/2014/main" id="{335F61E4-4E68-472C-B75A-7C6BFB99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increment(self, button):</a:t>
            </a:r>
          </a:p>
        </p:txBody>
      </p:sp>
      <p:sp>
        <p:nvSpPr>
          <p:cNvPr id="4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917421AE-26DC-4A8E-94C9-C96E3B88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5" name="        self.label.text = f&quot;Count: {self.count}&quot;">
            <a:extLst xmlns:a="http://schemas.openxmlformats.org/drawingml/2006/main">
              <a:ext uri="{FF2B5EF4-FFF2-40B4-BE49-F238E27FC236}">
                <a16:creationId xmlns:a16="http://schemas.microsoft.com/office/drawing/2014/main" id="{5A9985BD-56DE-4D59-93CD-E5E3BDE8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self.label.text = f"Count: {self.count}"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23A61-6E1B-48EB-9119-2E82614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A9FEEFAB-FAF1-4328-A83D-B3DBAFB3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8" name="    CounterApp().run()">
            <a:extLst xmlns:a="http://schemas.openxmlformats.org/drawingml/2006/main">
              <a:ext uri="{FF2B5EF4-FFF2-40B4-BE49-F238E27FC236}">
                <a16:creationId xmlns:a16="http://schemas.microsoft.com/office/drawing/2014/main" id="{46CCD1BC-AF3E-40C8-B64D-AD4DD61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778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CounterApp().run()</a:t>
            </a:r>
          </a:p>
        </p:txBody>
      </p:sp>
      <p:sp>
        <p:nvSpPr>
          <p:cNvPr id="9" name="接收觸發元件">
            <a:extLst xmlns:a="http://schemas.openxmlformats.org/drawingml/2006/main">
              <a:ext uri="{FF2B5EF4-FFF2-40B4-BE49-F238E27FC236}">
                <a16:creationId xmlns:a16="http://schemas.microsoft.com/office/drawing/2014/main" id="{E0CF0FCA-BB8D-4D77-9A3E-691918C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接收觸發元件</a:t>
            </a:r>
          </a:p>
        </p:txBody>
      </p:sp>
      <p:sp>
        <p:nvSpPr>
          <p:cNvPr id="10" name="on_press callback 的 button 是發出事件的按鈕實例。">
            <a:extLst xmlns:a="http://schemas.openxmlformats.org/drawingml/2006/main">
              <a:ext uri="{FF2B5EF4-FFF2-40B4-BE49-F238E27FC236}">
                <a16:creationId xmlns:a16="http://schemas.microsoft.com/office/drawing/2014/main" id="{B9D40A54-4417-447D-B6FF-D27A2B96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on_press callback 的 button 是發出事件的按鈕實例。</a:t>
            </a:r>
          </a:p>
        </p:txBody>
      </p:sp>
      <p:sp>
        <p:nvSpPr>
          <p:cNvPr id="11" name="屬性更新畫面">
            <a:extLst xmlns:a="http://schemas.openxmlformats.org/drawingml/2006/main">
              <a:ext uri="{FF2B5EF4-FFF2-40B4-BE49-F238E27FC236}">
                <a16:creationId xmlns:a16="http://schemas.microsoft.com/office/drawing/2014/main" id="{B434C26E-3C5C-4BA4-8B5B-69FDFEA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屬性更新畫面</a:t>
            </a:r>
          </a:p>
        </p:txBody>
      </p:sp>
      <p:sp>
        <p:nvSpPr>
          <p:cNvPr id="12" name="修改 Label.text 後，Kivy 會更新顯示內容。">
            <a:extLst xmlns:a="http://schemas.openxmlformats.org/drawingml/2006/main">
              <a:ext uri="{FF2B5EF4-FFF2-40B4-BE49-F238E27FC236}">
                <a16:creationId xmlns:a16="http://schemas.microsoft.com/office/drawing/2014/main" id="{3A6BFFFC-5F21-4E9C-94B7-59B38C35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 Label.text 後，Kivy 會更新顯示內容。</a:t>
            </a:r>
          </a:p>
        </p:txBody>
      </p:sp>
      <p:sp>
        <p:nvSpPr>
          <p:cNvPr id="13" name="run() 建立應用程式生命週期並開始處理介面事件。">
            <a:extLst xmlns:a="http://schemas.openxmlformats.org/drawingml/2006/main">
              <a:ext uri="{FF2B5EF4-FFF2-40B4-BE49-F238E27FC236}">
                <a16:creationId xmlns:a16="http://schemas.microsoft.com/office/drawing/2014/main" id="{00F2849A-D62B-4AA9-96FC-B80E5A1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run() 建立應用程式生命週期並開始處理介面事件。</a:t>
            </a:r>
          </a:p>
        </p:txBody>
      </p:sp>
      <p:sp>
        <p:nvSpPr>
          <p:cNvPr id="14" name="04_kivy_counter.py">
            <a:extLst xmlns:a="http://schemas.openxmlformats.org/drawingml/2006/main">
              <a:ext uri="{FF2B5EF4-FFF2-40B4-BE49-F238E27FC236}">
                <a16:creationId xmlns:a16="http://schemas.microsoft.com/office/drawing/2014/main" id="{5586982C-CCD4-4F54-A720-18628C46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04_kivy_counter.py</a:t>
            </a:r>
          </a:p>
        </p:txBody>
      </p:sp>
      <p:sp>
        <p:nvSpPr>
          <p:cNvPr id="15" name="22">
            <a:extLst xmlns:a="http://schemas.openxmlformats.org/drawingml/2006/main">
              <a:ext uri="{FF2B5EF4-FFF2-40B4-BE49-F238E27FC236}">
                <a16:creationId xmlns:a16="http://schemas.microsoft.com/office/drawing/2014/main" id="{01AB12A9-EE20-4112-99D2-69078FFA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98637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ar PyGui：資料工具與即時介面">
            <a:extLst xmlns:a="http://schemas.openxmlformats.org/drawingml/2006/main">
              <a:ext uri="{FF2B5EF4-FFF2-40B4-BE49-F238E27FC236}">
                <a16:creationId xmlns:a16="http://schemas.microsoft.com/office/drawing/2014/main" id="{5C25917B-F606-4ED3-9F83-0B2B228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Dear PyGui：資料工具與即時介面</a:t>
            </a:r>
          </a:p>
        </p:txBody>
      </p:sp>
      <p:sp>
        <p:nvSpPr>
          <p:cNvPr id="2" name="Python 桌面 GUI　｜　05　Dear PyGui">
            <a:extLst xmlns:a="http://schemas.openxmlformats.org/drawingml/2006/main">
              <a:ext uri="{FF2B5EF4-FFF2-40B4-BE49-F238E27FC236}">
                <a16:creationId xmlns:a16="http://schemas.microsoft.com/office/drawing/2014/main" id="{1676EA77-2681-4AAA-BD49-99D97AC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桌面 GUI　｜　05　Dear PyGui</a:t>
            </a:r>
          </a:p>
        </p:txBody>
      </p:sp>
      <p:sp>
        <p:nvSpPr>
          <p:cNvPr id="3" name="GPU 加速繪製">
            <a:extLst xmlns:a="http://schemas.openxmlformats.org/drawingml/2006/main">
              <a:ext uri="{FF2B5EF4-FFF2-40B4-BE49-F238E27FC236}">
                <a16:creationId xmlns:a16="http://schemas.microsoft.com/office/drawing/2014/main" id="{1408B4BF-3B04-4714-A026-BD90499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GPU 加速繪製</a:t>
            </a:r>
          </a:p>
        </p:txBody>
      </p:sp>
      <p:sp>
        <p:nvSpPr>
          <p:cNvPr id="4" name="提供按鈕、滑桿、表格、繪圖及圖表等元件。">
            <a:extLst xmlns:a="http://schemas.openxmlformats.org/drawingml/2006/main">
              <a:ext uri="{FF2B5EF4-FFF2-40B4-BE49-F238E27FC236}">
                <a16:creationId xmlns:a16="http://schemas.microsoft.com/office/drawing/2014/main" id="{A0494710-B729-44D7-B32B-C57C74D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提供按鈕、滑桿、表格、繪圖及圖表等元件。</a:t>
            </a:r>
          </a:p>
        </p:txBody>
      </p:sp>
      <p:sp>
        <p:nvSpPr>
          <p:cNvPr id="5" name="以 tag 識別元件">
            <a:extLst xmlns:a="http://schemas.openxmlformats.org/drawingml/2006/main">
              <a:ext uri="{FF2B5EF4-FFF2-40B4-BE49-F238E27FC236}">
                <a16:creationId xmlns:a16="http://schemas.microsoft.com/office/drawing/2014/main" id="{9ABD0862-11CB-4C13-885E-E635D62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以 tag 識別元件</a:t>
            </a:r>
          </a:p>
        </p:txBody>
      </p:sp>
      <p:sp>
        <p:nvSpPr>
          <p:cNvPr id="6" name="指定文字或數字識別碼，再讀取或更新元件。">
            <a:extLst xmlns:a="http://schemas.openxmlformats.org/drawingml/2006/main">
              <a:ext uri="{FF2B5EF4-FFF2-40B4-BE49-F238E27FC236}">
                <a16:creationId xmlns:a16="http://schemas.microsoft.com/office/drawing/2014/main" id="{9568D4D2-FFB2-4664-A44B-DFBAAFC3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指定文字或數字識別碼，再讀取或更新元件。</a:t>
            </a:r>
          </a:p>
        </p:txBody>
      </p:sp>
      <p:sp>
        <p:nvSpPr>
          <p:cNvPr id="7" name="callback 處理事件">
            <a:extLst xmlns:a="http://schemas.openxmlformats.org/drawingml/2006/main">
              <a:ext uri="{FF2B5EF4-FFF2-40B4-BE49-F238E27FC236}">
                <a16:creationId xmlns:a16="http://schemas.microsoft.com/office/drawing/2014/main" id="{A9B83D68-C1F7-494B-916C-182755F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callback 處理事件</a:t>
            </a:r>
          </a:p>
        </p:txBody>
      </p:sp>
      <p:sp>
        <p:nvSpPr>
          <p:cNvPr id="8" name="元件建立時即可指定事件處理函式。">
            <a:extLst xmlns:a="http://schemas.openxmlformats.org/drawingml/2006/main">
              <a:ext uri="{FF2B5EF4-FFF2-40B4-BE49-F238E27FC236}">
                <a16:creationId xmlns:a16="http://schemas.microsoft.com/office/drawing/2014/main" id="{5F7E55D5-A62B-48EE-B6B8-0D87E44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元件建立時即可指定事件處理函式。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D7526-75AB-413B-A831-339F909010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3338af9654a88"/>
          <a:stretch xmlns:a="http://schemas.openxmlformats.org/drawingml/2006/main"/>
        </p:blipFill>
        <p:spPr>
          <a:xfrm xmlns:a="http://schemas.openxmlformats.org/drawingml/2006/main">
            <a:off x="6838950" y="2136841"/>
            <a:ext cx="4743450" cy="3355843"/>
          </a:xfrm>
          <a:prstGeom xmlns:a="http://schemas.openxmlformats.org/drawingml/2006/main" prst="rect">
            <a:avLst/>
          </a:prstGeom>
        </p:spPr>
      </p:pic>
      <p:sp>
        <p:nvSpPr>
          <p:cNvPr id="10" name="實際執行：點擊 Add 1 兩次">
            <a:extLst xmlns:a="http://schemas.openxmlformats.org/drawingml/2006/main">
              <a:ext uri="{FF2B5EF4-FFF2-40B4-BE49-F238E27FC236}">
                <a16:creationId xmlns:a16="http://schemas.microsoft.com/office/drawing/2014/main" id="{4C3C0297-648A-4EDA-B34E-EC93256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62600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實際執行：點擊 Add 1 兩次</a:t>
            </a:r>
          </a:p>
        </p:txBody>
      </p:sp>
      <p:sp>
        <p:nvSpPr>
          <p:cNvPr id="11" name="Dear PyGui 使用自繪元件；外觀與系統原生控制項不同。">
            <a:extLst xmlns:a="http://schemas.openxmlformats.org/drawingml/2006/main">
              <a:ext uri="{FF2B5EF4-FFF2-40B4-BE49-F238E27FC236}">
                <a16:creationId xmlns:a16="http://schemas.microsoft.com/office/drawing/2014/main" id="{97FA8A96-E350-4557-ABA7-C1593FD9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Dear PyGui 使用自繪元件；外觀與系統原生控制項不同。</a:t>
            </a:r>
          </a:p>
        </p:txBody>
      </p:sp>
      <p:sp>
        <p:nvSpPr>
          <p:cNvPr id="12" name="23">
            <a:extLst xmlns:a="http://schemas.openxmlformats.org/drawingml/2006/main">
              <a:ext uri="{FF2B5EF4-FFF2-40B4-BE49-F238E27FC236}">
                <a16:creationId xmlns:a16="http://schemas.microsoft.com/office/drawing/2014/main" id="{91D2E610-3A6A-4BF5-B7A1-2EABC20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117188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ar PyGui：安裝確認與執行">
            <a:extLst xmlns:a="http://schemas.openxmlformats.org/drawingml/2006/main">
              <a:ext uri="{FF2B5EF4-FFF2-40B4-BE49-F238E27FC236}">
                <a16:creationId xmlns:a16="http://schemas.microsoft.com/office/drawing/2014/main" id="{CFA723AE-478C-41EA-AF51-FF0EAF05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Dear PyGui：安裝確認與執行</a:t>
            </a:r>
          </a:p>
        </p:txBody>
      </p:sp>
      <p:sp>
        <p:nvSpPr>
          <p:cNvPr id="2" name="Python 桌面 GUI　｜　05　Dear PyGui">
            <a:extLst xmlns:a="http://schemas.openxmlformats.org/drawingml/2006/main">
              <a:ext uri="{FF2B5EF4-FFF2-40B4-BE49-F238E27FC236}">
                <a16:creationId xmlns:a16="http://schemas.microsoft.com/office/drawing/2014/main" id="{95C9F012-88F3-489B-8DA5-589B506B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05　Dear PyGui</a:t>
            </a:r>
          </a:p>
        </p:txBody>
      </p:sp>
      <p:sp>
        <p:nvSpPr>
          <p:cNvPr id="3" name=".\.venv\Scripts\python -m pip install dearpygui">
            <a:extLst xmlns:a="http://schemas.openxmlformats.org/drawingml/2006/main">
              <a:ext uri="{FF2B5EF4-FFF2-40B4-BE49-F238E27FC236}">
                <a16:creationId xmlns:a16="http://schemas.microsoft.com/office/drawing/2014/main" id="{09D6C9A0-ED91-4C7D-A3AB-6110AFD8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install dearpygui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1B27B-E2E3-4F68-A7C2-DF93638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.\.venv\Scripts\python -m pip show dearpygui">
            <a:extLst xmlns:a="http://schemas.openxmlformats.org/drawingml/2006/main">
              <a:ext uri="{FF2B5EF4-FFF2-40B4-BE49-F238E27FC236}">
                <a16:creationId xmlns:a16="http://schemas.microsoft.com/office/drawing/2014/main" id="{8A257FB1-651D-47C3-B31B-19AD4419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-m pip show dearpygui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0827C-525A-464B-B5B5-3294B1F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.\.venv\Scripts\python 05_dearpygui_counter.py">
            <a:extLst xmlns:a="http://schemas.openxmlformats.org/drawingml/2006/main">
              <a:ext uri="{FF2B5EF4-FFF2-40B4-BE49-F238E27FC236}">
                <a16:creationId xmlns:a16="http://schemas.microsoft.com/office/drawing/2014/main" id="{C1AC82E2-7C29-42F1-A101-09EFC46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.\.venv\Scripts\python 05_dearpygui_counter.py</a:t>
            </a:r>
          </a:p>
        </p:txBody>
      </p:sp>
      <p:sp>
        <p:nvSpPr>
          <p:cNvPr id="8" name="套件與匯入名稱">
            <a:extLst xmlns:a="http://schemas.openxmlformats.org/drawingml/2006/main">
              <a:ext uri="{FF2B5EF4-FFF2-40B4-BE49-F238E27FC236}">
                <a16:creationId xmlns:a16="http://schemas.microsoft.com/office/drawing/2014/main" id="{F65651D8-B6D1-4A61-967B-22CE9AED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套件與匯入名稱</a:t>
            </a:r>
          </a:p>
        </p:txBody>
      </p:sp>
      <p:sp>
        <p:nvSpPr>
          <p:cNvPr id="9" name="安裝 dearpygui，使用 dearpygui.dearpygui API。">
            <a:extLst xmlns:a="http://schemas.openxmlformats.org/drawingml/2006/main">
              <a:ext uri="{FF2B5EF4-FFF2-40B4-BE49-F238E27FC236}">
                <a16:creationId xmlns:a16="http://schemas.microsoft.com/office/drawing/2014/main" id="{FA06B606-5125-46DB-938D-0AD14B5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安裝 dearpygui，使用 dearpygui.dearpygui API。</a:t>
            </a:r>
          </a:p>
        </p:txBody>
      </p:sp>
      <p:sp>
        <p:nvSpPr>
          <p:cNvPr id="10" name="桌面圖形環境">
            <a:extLst xmlns:a="http://schemas.openxmlformats.org/drawingml/2006/main">
              <a:ext uri="{FF2B5EF4-FFF2-40B4-BE49-F238E27FC236}">
                <a16:creationId xmlns:a16="http://schemas.microsoft.com/office/drawing/2014/main" id="{0540EEBA-97BF-4FA9-BE96-8E7EE9C6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桌面圖形環境</a:t>
            </a:r>
          </a:p>
        </p:txBody>
      </p:sp>
      <p:sp>
        <p:nvSpPr>
          <p:cNvPr id="11" name="Windows 使用 DirectX 11； 需有相容的 GPU 與圖形驅動。">
            <a:extLst xmlns:a="http://schemas.openxmlformats.org/drawingml/2006/main">
              <a:ext uri="{FF2B5EF4-FFF2-40B4-BE49-F238E27FC236}">
                <a16:creationId xmlns:a16="http://schemas.microsoft.com/office/drawing/2014/main" id="{54D56C53-99E9-4F8D-9F1F-8440859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Windows 使用 DirectX 11；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需有相容的 GPU 與圖形驅動。</a:t>
            </a:r>
          </a:p>
        </p:txBody>
      </p:sp>
      <p:sp>
        <p:nvSpPr>
          <p:cNvPr id="12" name="套件版本、作業系統與圖形驅動都會影響相容性。">
            <a:extLst xmlns:a="http://schemas.openxmlformats.org/drawingml/2006/main">
              <a:ext uri="{FF2B5EF4-FFF2-40B4-BE49-F238E27FC236}">
                <a16:creationId xmlns:a16="http://schemas.microsoft.com/office/drawing/2014/main" id="{789907B9-690A-43AB-AF50-EAC03802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套件版本、作業系統與圖形驅動都會影響相容性。</a:t>
            </a:r>
          </a:p>
        </p:txBody>
      </p:sp>
      <p:sp>
        <p:nvSpPr>
          <p:cNvPr id="13" name="05_dearpygui_counter.py">
            <a:extLst xmlns:a="http://schemas.openxmlformats.org/drawingml/2006/main">
              <a:ext uri="{FF2B5EF4-FFF2-40B4-BE49-F238E27FC236}">
                <a16:creationId xmlns:a16="http://schemas.microsoft.com/office/drawing/2014/main" id="{A0094CAF-4B80-4695-96FD-57F724F3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05_dearpygui_counter.py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168AEE13-0A0D-4D34-BDEC-7800DC82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38659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ear PyGui：建立 context 與元件">
            <a:extLst xmlns:a="http://schemas.openxmlformats.org/drawingml/2006/main">
              <a:ext uri="{FF2B5EF4-FFF2-40B4-BE49-F238E27FC236}">
                <a16:creationId xmlns:a16="http://schemas.microsoft.com/office/drawing/2014/main" id="{2EBA8112-FB6F-4AB1-8154-92E76614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Dear PyGui：建立 context 與元件</a:t>
            </a:r>
          </a:p>
        </p:txBody>
      </p:sp>
      <p:sp>
        <p:nvSpPr>
          <p:cNvPr id="2" name="Python 桌面 GUI　｜　05　Dear PyGui">
            <a:extLst xmlns:a="http://schemas.openxmlformats.org/drawingml/2006/main">
              <a:ext uri="{FF2B5EF4-FFF2-40B4-BE49-F238E27FC236}">
                <a16:creationId xmlns:a16="http://schemas.microsoft.com/office/drawing/2014/main" id="{41DED345-2F76-4035-9ED5-73975CE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05　Dear PyGui</a:t>
            </a:r>
          </a:p>
        </p:txBody>
      </p:sp>
      <p:sp>
        <p:nvSpPr>
          <p:cNvPr id="3" name="    def build(self):">
            <a:extLst xmlns:a="http://schemas.openxmlformats.org/drawingml/2006/main">
              <a:ext uri="{FF2B5EF4-FFF2-40B4-BE49-F238E27FC236}">
                <a16:creationId xmlns:a16="http://schemas.microsoft.com/office/drawing/2014/main" id="{026FD289-E8F1-4254-B963-725536D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build(self):</a:t>
            </a:r>
          </a:p>
        </p:txBody>
      </p:sp>
      <p:sp>
        <p:nvSpPr>
          <p:cNvPr id="4" name="        dpg.create_context()">
            <a:extLst xmlns:a="http://schemas.openxmlformats.org/drawingml/2006/main">
              <a:ext uri="{FF2B5EF4-FFF2-40B4-BE49-F238E27FC236}">
                <a16:creationId xmlns:a16="http://schemas.microsoft.com/office/drawing/2014/main" id="{762A1A52-22B8-45CB-BB25-555834C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4115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dpg.create_context()</a:t>
            </a:r>
          </a:p>
        </p:txBody>
      </p:sp>
      <p:sp>
        <p:nvSpPr>
          <p:cNvPr id="5" name="        dpg.create_viewport(title=&quot;Dear PyGui Counter&quot;,">
            <a:extLst xmlns:a="http://schemas.openxmlformats.org/drawingml/2006/main">
              <a:ext uri="{FF2B5EF4-FFF2-40B4-BE49-F238E27FC236}">
                <a16:creationId xmlns:a16="http://schemas.microsoft.com/office/drawing/2014/main" id="{9C22DADF-A3E0-4166-9A4E-D83E2F5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1331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dpg.create_viewport(title="Dear PyGui Counter",</a:t>
            </a:r>
          </a:p>
        </p:txBody>
      </p:sp>
      <p:sp>
        <p:nvSpPr>
          <p:cNvPr id="6" name="                            width=400, height=280)">
            <a:extLst xmlns:a="http://schemas.openxmlformats.org/drawingml/2006/main">
              <a:ext uri="{FF2B5EF4-FFF2-40B4-BE49-F238E27FC236}">
                <a16:creationId xmlns:a16="http://schemas.microsoft.com/office/drawing/2014/main" id="{345A06A5-9248-4020-B98A-13C4B280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8546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            width=400, height=280)</a:t>
            </a:r>
          </a:p>
        </p:txBody>
      </p:sp>
      <p:sp>
        <p:nvSpPr>
          <p:cNvPr id="7" name="        with dpg.window(tag=&quot;main_window&quot;):">
            <a:extLst xmlns:a="http://schemas.openxmlformats.org/drawingml/2006/main">
              <a:ext uri="{FF2B5EF4-FFF2-40B4-BE49-F238E27FC236}">
                <a16:creationId xmlns:a16="http://schemas.microsoft.com/office/drawing/2014/main" id="{3F01A089-CD55-478A-A39B-79A2820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5762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with dpg.window(tag="main_window"):</a:t>
            </a:r>
          </a:p>
        </p:txBody>
      </p:sp>
      <p:sp>
        <p:nvSpPr>
          <p:cNvPr id="8" name="            dpg.add_text(&quot;Count: 0&quot;, tag=&quot;count_text&quot;)">
            <a:extLst xmlns:a="http://schemas.openxmlformats.org/drawingml/2006/main">
              <a:ext uri="{FF2B5EF4-FFF2-40B4-BE49-F238E27FC236}">
                <a16:creationId xmlns:a16="http://schemas.microsoft.com/office/drawing/2014/main" id="{F23E8E91-296B-4C17-B1C1-8E2282E8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2977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dpg.add_text("Count: 0", tag="count_text")</a:t>
            </a:r>
          </a:p>
        </p:txBody>
      </p:sp>
      <p:sp>
        <p:nvSpPr>
          <p:cNvPr id="9" name="            self.button = dpg.add_button(">
            <a:extLst xmlns:a="http://schemas.openxmlformats.org/drawingml/2006/main">
              <a:ext uri="{FF2B5EF4-FFF2-40B4-BE49-F238E27FC236}">
                <a16:creationId xmlns:a16="http://schemas.microsoft.com/office/drawing/2014/main" id="{DD998505-8342-473F-9053-76924D4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192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self.button = dpg.add_button(</a:t>
            </a:r>
          </a:p>
        </p:txBody>
      </p:sp>
      <p:sp>
        <p:nvSpPr>
          <p:cNvPr id="10" name="                label=&quot;Add 1&quot;, callback=self.increment,">
            <a:extLst xmlns:a="http://schemas.openxmlformats.org/drawingml/2006/main">
              <a:ext uri="{FF2B5EF4-FFF2-40B4-BE49-F238E27FC236}">
                <a16:creationId xmlns:a16="http://schemas.microsoft.com/office/drawing/2014/main" id="{DC17800C-54A4-4DE8-8B31-9C94AD8C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7408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label="Add 1", callback=self.increment,</a:t>
            </a:r>
          </a:p>
        </p:txBody>
      </p:sp>
      <p:sp>
        <p:nvSpPr>
          <p:cNvPr id="11" name="                width=160, height=45,">
            <a:extLst xmlns:a="http://schemas.openxmlformats.org/drawingml/2006/main">
              <a:ext uri="{FF2B5EF4-FFF2-40B4-BE49-F238E27FC236}">
                <a16:creationId xmlns:a16="http://schemas.microsoft.com/office/drawing/2014/main" id="{E7BB5C34-42E7-49BF-80C0-75175A7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4623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width=160, height=45,</a:t>
            </a:r>
          </a:p>
        </p:txBody>
      </p:sp>
      <p:sp>
        <p:nvSpPr>
          <p:cNvPr id="12" name="            )">
            <a:extLst xmlns:a="http://schemas.openxmlformats.org/drawingml/2006/main">
              <a:ext uri="{FF2B5EF4-FFF2-40B4-BE49-F238E27FC236}">
                <a16:creationId xmlns:a16="http://schemas.microsoft.com/office/drawing/2014/main" id="{96C0A7AB-DD1E-46F0-87BC-CA9492B2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1838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)</a:t>
            </a:r>
          </a:p>
        </p:txBody>
      </p:sp>
      <p:sp>
        <p:nvSpPr>
          <p:cNvPr id="13" name="        dpg.setup_dearpygui()">
            <a:extLst xmlns:a="http://schemas.openxmlformats.org/drawingml/2006/main">
              <a:ext uri="{FF2B5EF4-FFF2-40B4-BE49-F238E27FC236}">
                <a16:creationId xmlns:a16="http://schemas.microsoft.com/office/drawing/2014/main" id="{5F3CF4CA-7D17-44AB-A66C-F1908016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9054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dpg.setup_dearpygui()</a:t>
            </a:r>
          </a:p>
        </p:txBody>
      </p:sp>
      <p:sp>
        <p:nvSpPr>
          <p:cNvPr id="14" name="        dpg.show_viewport()">
            <a:extLst xmlns:a="http://schemas.openxmlformats.org/drawingml/2006/main">
              <a:ext uri="{FF2B5EF4-FFF2-40B4-BE49-F238E27FC236}">
                <a16:creationId xmlns:a16="http://schemas.microsoft.com/office/drawing/2014/main" id="{941AE772-DA17-4227-AF53-6512D2A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6269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dpg.show_viewport()</a:t>
            </a:r>
          </a:p>
        </p:txBody>
      </p:sp>
      <p:sp>
        <p:nvSpPr>
          <p:cNvPr id="15" name="        dpg.set_primary_window(&quot;main_window&quot;, True)">
            <a:extLst xmlns:a="http://schemas.openxmlformats.org/drawingml/2006/main">
              <a:ext uri="{FF2B5EF4-FFF2-40B4-BE49-F238E27FC236}">
                <a16:creationId xmlns:a16="http://schemas.microsoft.com/office/drawing/2014/main" id="{1CEC4B8C-CCA5-4695-8B55-A505FCA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3485"/>
            <a:ext cx="7781925" cy="32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dpg.set_primary_window("main_window", True)</a:t>
            </a:r>
          </a:p>
        </p:txBody>
      </p:sp>
      <p:sp>
        <p:nvSpPr>
          <p:cNvPr id="16" name="context 與 viewport">
            <a:extLst xmlns:a="http://schemas.openxmlformats.org/drawingml/2006/main">
              <a:ext uri="{FF2B5EF4-FFF2-40B4-BE49-F238E27FC236}">
                <a16:creationId xmlns:a16="http://schemas.microsoft.com/office/drawing/2014/main" id="{EEF13C19-4804-4444-8DE6-2C0E622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context 與 viewport</a:t>
            </a:r>
          </a:p>
        </p:txBody>
      </p:sp>
      <p:sp>
        <p:nvSpPr>
          <p:cNvPr id="17" name="context 保存 GUI 狀態；viewport 是作業系統中的視窗。">
            <a:extLst xmlns:a="http://schemas.openxmlformats.org/drawingml/2006/main">
              <a:ext uri="{FF2B5EF4-FFF2-40B4-BE49-F238E27FC236}">
                <a16:creationId xmlns:a16="http://schemas.microsoft.com/office/drawing/2014/main" id="{15FAA7A7-520E-4F5B-B4A9-B2B9A97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context 保存 GUI 狀態；viewport 是作業系統中的視窗。</a:t>
            </a:r>
          </a:p>
        </p:txBody>
      </p:sp>
      <p:sp>
        <p:nvSpPr>
          <p:cNvPr id="18" name="tag 與 with">
            <a:extLst xmlns:a="http://schemas.openxmlformats.org/drawingml/2006/main">
              <a:ext uri="{FF2B5EF4-FFF2-40B4-BE49-F238E27FC236}">
                <a16:creationId xmlns:a16="http://schemas.microsoft.com/office/drawing/2014/main" id="{AA96751B-71F6-42D5-94E0-8D99095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tag 與 with</a:t>
            </a:r>
          </a:p>
        </p:txBody>
      </p:sp>
      <p:sp>
        <p:nvSpPr>
          <p:cNvPr id="19" name="tag 為元件命名；with 區塊內的元件加入該視窗。">
            <a:extLst xmlns:a="http://schemas.openxmlformats.org/drawingml/2006/main">
              <a:ext uri="{FF2B5EF4-FFF2-40B4-BE49-F238E27FC236}">
                <a16:creationId xmlns:a16="http://schemas.microsoft.com/office/drawing/2014/main" id="{5571A26E-F051-43BC-AA8F-CF915F2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tag 為元件命名；with 區塊內的元件加入該視窗。</a:t>
            </a:r>
          </a:p>
        </p:txBody>
      </p:sp>
      <p:sp>
        <p:nvSpPr>
          <p:cNvPr id="20" name="程式節錄；完整範例另以 Spacer 設定垂直間距。">
            <a:extLst xmlns:a="http://schemas.openxmlformats.org/drawingml/2006/main">
              <a:ext uri="{FF2B5EF4-FFF2-40B4-BE49-F238E27FC236}">
                <a16:creationId xmlns:a16="http://schemas.microsoft.com/office/drawing/2014/main" id="{065CB10D-0D5D-4549-960F-A2D746A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程式節錄；完整範例另以 Spacer 設定垂直間距。</a:t>
            </a:r>
          </a:p>
        </p:txBody>
      </p:sp>
      <p:sp>
        <p:nvSpPr>
          <p:cNvPr id="21" name="05_dearpygui_counter.py">
            <a:extLst xmlns:a="http://schemas.openxmlformats.org/drawingml/2006/main">
              <a:ext uri="{FF2B5EF4-FFF2-40B4-BE49-F238E27FC236}">
                <a16:creationId xmlns:a16="http://schemas.microsoft.com/office/drawing/2014/main" id="{61F7BFF3-6BB4-4E64-A91D-DAC803B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05_dearpygui_counter.py</a:t>
            </a:r>
          </a:p>
        </p:txBody>
      </p:sp>
      <p:sp>
        <p:nvSpPr>
          <p:cNvPr id="22" name="25">
            <a:extLst xmlns:a="http://schemas.openxmlformats.org/drawingml/2006/main">
              <a:ext uri="{FF2B5EF4-FFF2-40B4-BE49-F238E27FC236}">
                <a16:creationId xmlns:a16="http://schemas.microsoft.com/office/drawing/2014/main" id="{4BC6E47C-7A52-4A3B-9036-6149A5B7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333385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ar PyGui：callback 與生命週期">
            <a:extLst xmlns:a="http://schemas.openxmlformats.org/drawingml/2006/main">
              <a:ext uri="{FF2B5EF4-FFF2-40B4-BE49-F238E27FC236}">
                <a16:creationId xmlns:a16="http://schemas.microsoft.com/office/drawing/2014/main" id="{FA8EBDCF-ADBF-4B56-8535-F98AAF32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Dear PyGui：callback 與生命週期</a:t>
            </a:r>
          </a:p>
        </p:txBody>
      </p:sp>
      <p:sp>
        <p:nvSpPr>
          <p:cNvPr id="2" name="Python 桌面 GUI　｜　05　Dear PyGui">
            <a:extLst xmlns:a="http://schemas.openxmlformats.org/drawingml/2006/main">
              <a:ext uri="{FF2B5EF4-FFF2-40B4-BE49-F238E27FC236}">
                <a16:creationId xmlns:a16="http://schemas.microsoft.com/office/drawing/2014/main" id="{46925D65-C7FA-4BF2-9FB8-813D082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Python 桌面 GUI　｜　05　Dear PyGui</a:t>
            </a:r>
          </a:p>
        </p:txBody>
      </p:sp>
      <p:sp>
        <p:nvSpPr>
          <p:cNvPr id="3" name="    def increment(self, sender=None,">
            <a:extLst xmlns:a="http://schemas.openxmlformats.org/drawingml/2006/main">
              <a:ext uri="{FF2B5EF4-FFF2-40B4-BE49-F238E27FC236}">
                <a16:creationId xmlns:a16="http://schemas.microsoft.com/office/drawing/2014/main" id="{03F790EF-8B7E-4375-8090-4ECC0203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increment(self, sender=None,</a:t>
            </a:r>
          </a:p>
        </p:txBody>
      </p:sp>
      <p:sp>
        <p:nvSpPr>
          <p:cNvPr id="4" name="                  app_data=None, user_data=None):">
            <a:extLst xmlns:a="http://schemas.openxmlformats.org/drawingml/2006/main">
              <a:ext uri="{FF2B5EF4-FFF2-40B4-BE49-F238E27FC236}">
                <a16:creationId xmlns:a16="http://schemas.microsoft.com/office/drawing/2014/main" id="{651EC8A0-BD72-4A09-839E-DE65EF55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      app_data=None, user_data=None):</a:t>
            </a:r>
          </a:p>
        </p:txBody>
      </p:sp>
      <p:sp>
        <p:nvSpPr>
          <p:cNvPr id="5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B843866A-F1F4-46BC-91F8-AF8146C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6" name="        dpg.set_value(&quot;count_text&quot;, f&quot;Count: {self.count}&quot;)">
            <a:extLst xmlns:a="http://schemas.openxmlformats.org/drawingml/2006/main">
              <a:ext uri="{FF2B5EF4-FFF2-40B4-BE49-F238E27FC236}">
                <a16:creationId xmlns:a16="http://schemas.microsoft.com/office/drawing/2014/main" id="{E3A24950-F959-45B6-8318-4F92515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dpg.set_value("count_text", f"Count: {self.count}")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2DC03-6166-48B6-9E3D-9182E77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run(self):">
            <a:extLst xmlns:a="http://schemas.openxmlformats.org/drawingml/2006/main">
              <a:ext uri="{FF2B5EF4-FFF2-40B4-BE49-F238E27FC236}">
                <a16:creationId xmlns:a16="http://schemas.microsoft.com/office/drawing/2014/main" id="{5BBB7301-88AC-4E7C-ADAF-87DBC9FB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run(self):</a:t>
            </a:r>
          </a:p>
        </p:txBody>
      </p:sp>
      <p:sp>
        <p:nvSpPr>
          <p:cNvPr id="9" name="        self.build()">
            <a:extLst xmlns:a="http://schemas.openxmlformats.org/drawingml/2006/main">
              <a:ext uri="{FF2B5EF4-FFF2-40B4-BE49-F238E27FC236}">
                <a16:creationId xmlns:a16="http://schemas.microsoft.com/office/drawing/2014/main" id="{8704B24F-4EE3-4BA3-9926-9D7B144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self.build()</a:t>
            </a:r>
          </a:p>
        </p:txBody>
      </p:sp>
      <p:sp>
        <p:nvSpPr>
          <p:cNvPr id="10" name="        try:">
            <a:extLst xmlns:a="http://schemas.openxmlformats.org/drawingml/2006/main">
              <a:ext uri="{FF2B5EF4-FFF2-40B4-BE49-F238E27FC236}">
                <a16:creationId xmlns:a16="http://schemas.microsoft.com/office/drawing/2014/main" id="{7A2AB59B-FE66-4885-9095-73F1A13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try:</a:t>
            </a:r>
          </a:p>
        </p:txBody>
      </p:sp>
      <p:sp>
        <p:nvSpPr>
          <p:cNvPr id="11" name="            dpg.start_dearpygui()">
            <a:extLst xmlns:a="http://schemas.openxmlformats.org/drawingml/2006/main">
              <a:ext uri="{FF2B5EF4-FFF2-40B4-BE49-F238E27FC236}">
                <a16:creationId xmlns:a16="http://schemas.microsoft.com/office/drawing/2014/main" id="{420E0AF8-2D21-4F4D-A72B-96D754A2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dpg.start_dearpygui()</a:t>
            </a:r>
          </a:p>
        </p:txBody>
      </p:sp>
      <p:sp>
        <p:nvSpPr>
          <p:cNvPr id="12" name="        finally:">
            <a:extLst xmlns:a="http://schemas.openxmlformats.org/drawingml/2006/main">
              <a:ext uri="{FF2B5EF4-FFF2-40B4-BE49-F238E27FC236}">
                <a16:creationId xmlns:a16="http://schemas.microsoft.com/office/drawing/2014/main" id="{C28B4F54-F556-40E1-B8BF-C21DC2C7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finally:</a:t>
            </a:r>
          </a:p>
        </p:txBody>
      </p:sp>
      <p:sp>
        <p:nvSpPr>
          <p:cNvPr id="13" name="            dpg.destroy_context()">
            <a:extLst xmlns:a="http://schemas.openxmlformats.org/drawingml/2006/main">
              <a:ext uri="{FF2B5EF4-FFF2-40B4-BE49-F238E27FC236}">
                <a16:creationId xmlns:a16="http://schemas.microsoft.com/office/drawing/2014/main" id="{AE91395B-6EA5-4F45-B59A-E259214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dpg.destroy_context()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2556F-4D69-4A1B-A69E-C69F82D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3F8A154B-2D8F-4614-862A-56603AC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16" name="    CounterApp().run()">
            <a:extLst xmlns:a="http://schemas.openxmlformats.org/drawingml/2006/main">
              <a:ext uri="{FF2B5EF4-FFF2-40B4-BE49-F238E27FC236}">
                <a16:creationId xmlns:a16="http://schemas.microsoft.com/office/drawing/2014/main" id="{440912B8-45E0-4AD3-9AB0-B30FE44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7781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CounterApp().run()</a:t>
            </a:r>
          </a:p>
        </p:txBody>
      </p:sp>
      <p:sp>
        <p:nvSpPr>
          <p:cNvPr id="17" name="callback 參數">
            <a:extLst xmlns:a="http://schemas.openxmlformats.org/drawingml/2006/main">
              <a:ext uri="{FF2B5EF4-FFF2-40B4-BE49-F238E27FC236}">
                <a16:creationId xmlns:a16="http://schemas.microsoft.com/office/drawing/2014/main" id="{F8E4488E-8E2A-4062-A066-21CFC798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145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callback 參數</a:t>
            </a:r>
          </a:p>
        </p:txBody>
      </p:sp>
      <p:sp>
        <p:nvSpPr>
          <p:cNvPr id="18" name="sender：觸發元件 app_data：事件資料 user_data：自訂資料">
            <a:extLst xmlns:a="http://schemas.openxmlformats.org/drawingml/2006/main">
              <a:ext uri="{FF2B5EF4-FFF2-40B4-BE49-F238E27FC236}">
                <a16:creationId xmlns:a16="http://schemas.microsoft.com/office/drawing/2014/main" id="{27299494-1CA1-448F-A5B9-61D8E57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sender：觸發元件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app_data：事件資料</a:t>
            </a:r>
          </a:p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user_data：自訂資料</a:t>
            </a:r>
          </a:p>
        </p:txBody>
      </p:sp>
      <p:sp>
        <p:nvSpPr>
          <p:cNvPr id="19" name="結束時清理">
            <a:extLst xmlns:a="http://schemas.openxmlformats.org/drawingml/2006/main">
              <a:ext uri="{FF2B5EF4-FFF2-40B4-BE49-F238E27FC236}">
                <a16:creationId xmlns:a16="http://schemas.microsoft.com/office/drawing/2014/main" id="{62426D2A-AA9E-43BF-A89D-2ACE5704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結束時清理</a:t>
            </a:r>
          </a:p>
        </p:txBody>
      </p:sp>
      <p:sp>
        <p:nvSpPr>
          <p:cNvPr id="20" name="destroy_context() 釋放 Dear PyGui 保存的 GUI 資源。">
            <a:extLst xmlns:a="http://schemas.openxmlformats.org/drawingml/2006/main">
              <a:ext uri="{FF2B5EF4-FFF2-40B4-BE49-F238E27FC236}">
                <a16:creationId xmlns:a16="http://schemas.microsoft.com/office/drawing/2014/main" id="{45F92D95-2E23-4997-A8AA-973616C0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destroy_context() 釋放 Dear PyGui 保存的 GUI 資源。</a:t>
            </a:r>
          </a:p>
        </p:txBody>
      </p:sp>
      <p:sp>
        <p:nvSpPr>
          <p:cNvPr id="21" name="CounterApp.__init__() 將 self.count 設為 0；完整檔案另有 dpg 的匯入段。">
            <a:extLst xmlns:a="http://schemas.openxmlformats.org/drawingml/2006/main">
              <a:ext uri="{FF2B5EF4-FFF2-40B4-BE49-F238E27FC236}">
                <a16:creationId xmlns:a16="http://schemas.microsoft.com/office/drawing/2014/main" id="{7AF0EE69-9821-42A8-90A5-14D9C9F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CounterApp.__init__() 將 self.count 設為 0；完整檔案另有 dpg 的匯入段。</a:t>
            </a:r>
          </a:p>
        </p:txBody>
      </p:sp>
      <p:sp>
        <p:nvSpPr>
          <p:cNvPr id="22" name="05_dearpygui_counter.py">
            <a:extLst xmlns:a="http://schemas.openxmlformats.org/drawingml/2006/main">
              <a:ext uri="{FF2B5EF4-FFF2-40B4-BE49-F238E27FC236}">
                <a16:creationId xmlns:a16="http://schemas.microsoft.com/office/drawing/2014/main" id="{9861B0C9-CD0B-4C81-9159-D45E2B7A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923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AAEB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AAEB8"/>
                </a:solidFill>
                <a:latin typeface="Consolas"/>
                <a:ea typeface="Consolas"/>
                <a:cs typeface="Consolas"/>
              </a:rPr>
              <a:t>05_dearpygui_counter.py</a:t>
            </a:r>
          </a:p>
        </p:txBody>
      </p:sp>
      <p:sp>
        <p:nvSpPr>
          <p:cNvPr id="23" name="26">
            <a:extLst xmlns:a="http://schemas.openxmlformats.org/drawingml/2006/main">
              <a:ext uri="{FF2B5EF4-FFF2-40B4-BE49-F238E27FC236}">
                <a16:creationId xmlns:a16="http://schemas.microsoft.com/office/drawing/2014/main" id="{D4251C1A-E7A6-4857-AE98-C29DA33E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013619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相同流程，不同 API 名稱">
            <a:extLst xmlns:a="http://schemas.openxmlformats.org/drawingml/2006/main">
              <a:ext uri="{FF2B5EF4-FFF2-40B4-BE49-F238E27FC236}">
                <a16:creationId xmlns:a16="http://schemas.microsoft.com/office/drawing/2014/main" id="{BB722DA3-E77A-4ED5-AAC0-56CD6FB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相同流程，不同 API 名稱</a:t>
            </a:r>
          </a:p>
        </p:txBody>
      </p:sp>
      <p:sp>
        <p:nvSpPr>
          <p:cNvPr id="2" name="建立介面 → 綁定事件 → 更新資料 → 更新畫面。">
            <a:extLst xmlns:a="http://schemas.openxmlformats.org/drawingml/2006/main">
              <a:ext uri="{FF2B5EF4-FFF2-40B4-BE49-F238E27FC236}">
                <a16:creationId xmlns:a16="http://schemas.microsoft.com/office/drawing/2014/main" id="{419F8073-303D-48E1-997F-84BB708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建立介面 → 綁定事件 → 更新資料 → 更新畫面。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7C00F-BD18-4DA0-B17B-3CB380B3801B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476625"/>
                <a:gridCol w="3019425"/>
                <a:gridCol w="2667000"/>
              </a:tblGrid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事件綁定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啟動迴圈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Tkinter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command=方法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label.config(...)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mainloop()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clicked.connect(方法)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label.setText(...)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app.exec()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wxPython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Bind(EVT_BUTTON, 方法)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label.SetLabel(...)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app.MainLoop()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Kivy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bind(on_press=方法)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label.text = ...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App().run()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Dear PyGui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callback=方法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set_value(tag, ...)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start_dearpygui()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方法的拼字與大小寫不同；事件 callback 接收的參數也需依工具規定。">
            <a:extLst xmlns:a="http://schemas.openxmlformats.org/drawingml/2006/main">
              <a:ext uri="{FF2B5EF4-FFF2-40B4-BE49-F238E27FC236}">
                <a16:creationId xmlns:a16="http://schemas.microsoft.com/office/drawing/2014/main" id="{049F39A0-910E-4AA4-96D5-B22B99D1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方法的拼字與大小寫不同；事件 callback 接收的參數也需依工具規定。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547B771D-49FD-4F57-8910-AFAF92D8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929279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讓視窗持續回應操作">
            <a:extLst xmlns:a="http://schemas.openxmlformats.org/drawingml/2006/main">
              <a:ext uri="{FF2B5EF4-FFF2-40B4-BE49-F238E27FC236}">
                <a16:creationId xmlns:a16="http://schemas.microsoft.com/office/drawing/2014/main" id="{B4BF263D-6F58-42AF-BA6D-D9387FB0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讓視窗持續回應操作</a:t>
            </a:r>
          </a:p>
        </p:txBody>
      </p:sp>
      <p:sp>
        <p:nvSpPr>
          <p:cNvPr id="2" name="事件處理函式應盡快結束，讓系統能處理下一個事件。">
            <a:extLst xmlns:a="http://schemas.openxmlformats.org/drawingml/2006/main">
              <a:ext uri="{FF2B5EF4-FFF2-40B4-BE49-F238E27FC236}">
                <a16:creationId xmlns:a16="http://schemas.microsoft.com/office/drawing/2014/main" id="{FE389FF7-E762-48CA-A107-BED4AB9B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事件處理函式應盡快結束，讓系統能處理下一個事件。</a:t>
            </a:r>
          </a:p>
        </p:txBody>
      </p:sp>
      <p:sp>
        <p:nvSpPr>
          <p:cNvPr id="3" name="傳入函式本身">
            <a:extLst xmlns:a="http://schemas.openxmlformats.org/drawingml/2006/main">
              <a:ext uri="{FF2B5EF4-FFF2-40B4-BE49-F238E27FC236}">
                <a16:creationId xmlns:a16="http://schemas.microsoft.com/office/drawing/2014/main" id="{A987D6D3-C1CC-400A-922D-B091D6F0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傳入函式本身</a:t>
            </a:r>
          </a:p>
        </p:txBody>
      </p:sp>
      <p:sp>
        <p:nvSpPr>
          <p:cNvPr id="4" name="command=self.increment；加上 () 會在建立按鈕時立刻呼叫。">
            <a:extLst xmlns:a="http://schemas.openxmlformats.org/drawingml/2006/main">
              <a:ext uri="{FF2B5EF4-FFF2-40B4-BE49-F238E27FC236}">
                <a16:creationId xmlns:a16="http://schemas.microsoft.com/office/drawing/2014/main" id="{CD7A7F1E-8BFD-4779-BF59-6A2C4A75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command=self.increment；加上 () 會在建立按鈕時立刻呼叫。</a:t>
            </a:r>
          </a:p>
        </p:txBody>
      </p:sp>
      <p:sp>
        <p:nvSpPr>
          <p:cNvPr id="5" name="避免長時間阻塞">
            <a:extLst xmlns:a="http://schemas.openxmlformats.org/drawingml/2006/main">
              <a:ext uri="{FF2B5EF4-FFF2-40B4-BE49-F238E27FC236}">
                <a16:creationId xmlns:a16="http://schemas.microsoft.com/office/drawing/2014/main" id="{9B884E8E-5C7C-40E8-8BEE-8389006F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避免長時間阻塞</a:t>
            </a:r>
          </a:p>
        </p:txBody>
      </p:sp>
      <p:sp>
        <p:nvSpPr>
          <p:cNvPr id="6" name="大型迴圈、下載或 time.sleep() 可能讓依賴 GUI 執行緒的介面停住。">
            <a:extLst xmlns:a="http://schemas.openxmlformats.org/drawingml/2006/main">
              <a:ext uri="{FF2B5EF4-FFF2-40B4-BE49-F238E27FC236}">
                <a16:creationId xmlns:a16="http://schemas.microsoft.com/office/drawing/2014/main" id="{C965FDD7-B515-4E70-8848-7EFD4471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大型迴圈、下載或 time.sleep() 可能讓依賴 GUI 執行緒的介面停住。</a:t>
            </a:r>
          </a:p>
        </p:txBody>
      </p:sp>
      <p:sp>
        <p:nvSpPr>
          <p:cNvPr id="7" name="分段或背景執行">
            <a:extLst xmlns:a="http://schemas.openxmlformats.org/drawingml/2006/main">
              <a:ext uri="{FF2B5EF4-FFF2-40B4-BE49-F238E27FC236}">
                <a16:creationId xmlns:a16="http://schemas.microsoft.com/office/drawing/2014/main" id="{3DE56985-6383-40BB-871C-F009E2FF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分段或背景執行</a:t>
            </a:r>
          </a:p>
        </p:txBody>
      </p:sp>
      <p:sp>
        <p:nvSpPr>
          <p:cNvPr id="8" name="耗時工作可交給排程或工作執行緒，再依工具規定更新 UI。">
            <a:extLst xmlns:a="http://schemas.openxmlformats.org/drawingml/2006/main">
              <a:ext uri="{FF2B5EF4-FFF2-40B4-BE49-F238E27FC236}">
                <a16:creationId xmlns:a16="http://schemas.microsoft.com/office/drawing/2014/main" id="{C97BF540-E368-4E21-B7CE-094CBB62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耗時工作可交給排程或工作執行緒，再依工具規定更新 UI。</a:t>
            </a:r>
          </a:p>
        </p:txBody>
      </p:sp>
      <p:sp>
        <p:nvSpPr>
          <p:cNvPr id="9" name="先改資料，再改畫面">
            <a:extLst xmlns:a="http://schemas.openxmlformats.org/drawingml/2006/main">
              <a:ext uri="{FF2B5EF4-FFF2-40B4-BE49-F238E27FC236}">
                <a16:creationId xmlns:a16="http://schemas.microsoft.com/office/drawing/2014/main" id="{F0D0E335-91AE-4B4B-A53D-8D27E19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先改資料，再改畫面</a:t>
            </a:r>
          </a:p>
        </p:txBody>
      </p:sp>
      <p:sp>
        <p:nvSpPr>
          <p:cNvPr id="10" name="self.count 保存狀態，Label 只負責呈現目前數值。">
            <a:extLst xmlns:a="http://schemas.openxmlformats.org/drawingml/2006/main">
              <a:ext uri="{FF2B5EF4-FFF2-40B4-BE49-F238E27FC236}">
                <a16:creationId xmlns:a16="http://schemas.microsoft.com/office/drawing/2014/main" id="{DDC23116-D63A-4D26-B7DD-7169929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24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self.count 保存狀態，Label 只負責呈現目前數值。</a:t>
            </a:r>
          </a:p>
        </p:txBody>
      </p:sp>
      <p:sp>
        <p:nvSpPr>
          <p:cNvPr id="11" name="GUI 元件的執行緒限制因工具而異；不要直接套用其他工具的更新方式。">
            <a:extLst xmlns:a="http://schemas.openxmlformats.org/drawingml/2006/main">
              <a:ext uri="{FF2B5EF4-FFF2-40B4-BE49-F238E27FC236}">
                <a16:creationId xmlns:a16="http://schemas.microsoft.com/office/drawing/2014/main" id="{ECFD174B-3CFE-45E5-B0CC-8450565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GUI 元件的執行緒限制因工具而異；不要直接套用其他工具的更新方式。</a:t>
            </a:r>
          </a:p>
        </p:txBody>
      </p:sp>
      <p:sp>
        <p:nvSpPr>
          <p:cNvPr id="12" name="28">
            <a:extLst xmlns:a="http://schemas.openxmlformats.org/drawingml/2006/main">
              <a:ext uri="{FF2B5EF4-FFF2-40B4-BE49-F238E27FC236}">
                <a16:creationId xmlns:a16="http://schemas.microsoft.com/office/drawing/2014/main" id="{6549AC8A-4DA1-4F3B-8F66-5FE8411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005566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錯誤與檢查方向">
            <a:extLst xmlns:a="http://schemas.openxmlformats.org/drawingml/2006/main">
              <a:ext uri="{FF2B5EF4-FFF2-40B4-BE49-F238E27FC236}">
                <a16:creationId xmlns:a16="http://schemas.microsoft.com/office/drawing/2014/main" id="{2EA171A9-8AE3-4FCF-9604-36DDCB7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常見錯誤與檢查方向</a:t>
            </a:r>
          </a:p>
        </p:txBody>
      </p:sp>
      <p:sp>
        <p:nvSpPr>
          <p:cNvPr id="2" name="先確認環境與錯誤訊息，再檢查事件和元件。">
            <a:extLst xmlns:a="http://schemas.openxmlformats.org/drawingml/2006/main">
              <a:ext uri="{FF2B5EF4-FFF2-40B4-BE49-F238E27FC236}">
                <a16:creationId xmlns:a16="http://schemas.microsoft.com/office/drawing/2014/main" id="{3EB2E519-771E-4342-9E61-22C479C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先確認環境與錯誤訊息，再檢查事件和元件。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DFB5F-C6C4-47D7-A9AD-765FDCC52A34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3952875"/>
                <a:gridCol w="4305300"/>
              </a:tblGrid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可能原因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ModuleNotFoundError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套件未安裝，或使用不同的 Python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 .venv 的 python 執行與安裝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matching distribution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版本或架構沒有相容套件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 64 位元、版本與官方 wheel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一開啟就加了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綁定時寫成 self.increment()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改為傳入 self.increment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callback 出現 TypeError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接收參數不符合工具的呼叫方式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對照本教材各工具的事件方法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中文變成方框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目前字型缺少中文字形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設定支援中文的字型並重新載入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啟動時的完整 traceback 會指出失敗的檔案與行號。">
            <a:extLst xmlns:a="http://schemas.openxmlformats.org/drawingml/2006/main">
              <a:ext uri="{FF2B5EF4-FFF2-40B4-BE49-F238E27FC236}">
                <a16:creationId xmlns:a16="http://schemas.microsoft.com/office/drawing/2014/main" id="{4151ED32-303B-4A92-A963-F772AFD6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啟動時的完整 traceback 會指出失敗的檔案與行號。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3F617309-153D-4BF4-8123-BA4AA5F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237782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從應用需求比較工具">
            <a:extLst xmlns:a="http://schemas.openxmlformats.org/drawingml/2006/main">
              <a:ext uri="{FF2B5EF4-FFF2-40B4-BE49-F238E27FC236}">
                <a16:creationId xmlns:a16="http://schemas.microsoft.com/office/drawing/2014/main" id="{1A34FD22-4A2B-4294-AD8E-88B6BC89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從應用需求比較工具</a:t>
            </a:r>
          </a:p>
        </p:txBody>
      </p:sp>
      <p:sp>
        <p:nvSpPr>
          <p:cNvPr id="2" name="每種工具都能處理事件與狀態，差別在元件、外觀與部署方式。">
            <a:extLst xmlns:a="http://schemas.openxmlformats.org/drawingml/2006/main">
              <a:ext uri="{FF2B5EF4-FFF2-40B4-BE49-F238E27FC236}">
                <a16:creationId xmlns:a16="http://schemas.microsoft.com/office/drawing/2014/main" id="{041285BC-1236-43F9-A321-5DF943F4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每種工具都能處理事件與狀態，差別在元件、外觀與部署方式。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22B2-C473-4138-BB7C-701FE916680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2571750"/>
                <a:gridCol w="5019675"/>
              </a:tblGrid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常見選擇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小型表單與自動化工具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Tkinter／ttk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標準函式庫介面；程式結構簡單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功能完整的桌面應用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豐富元件與設計工具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傳統桌面系統外觀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wxPython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許多元件使用原生控制項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觸控與自訂介面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Kivy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手勢支援與自繪版面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圖表、控制面板與工程工具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Dear PyGui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GPU 繪製與內建資料元件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安裝 Python 套件與打包成獨立執行檔是不同步驟；發佈前需在目標系統測試。">
            <a:extLst xmlns:a="http://schemas.openxmlformats.org/drawingml/2006/main">
              <a:ext uri="{FF2B5EF4-FFF2-40B4-BE49-F238E27FC236}">
                <a16:creationId xmlns:a16="http://schemas.microsoft.com/office/drawing/2014/main" id="{DAFAA745-3750-4AF7-9F3A-8ED5E5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安裝 Python 套件與打包成獨立執行檔是不同步驟；發佈前需在目標系統測試。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100AD1F5-A5E8-4553-B861-9BD35B8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575550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範例檔案">
            <a:extLst xmlns:a="http://schemas.openxmlformats.org/drawingml/2006/main">
              <a:ext uri="{FF2B5EF4-FFF2-40B4-BE49-F238E27FC236}">
                <a16:creationId xmlns:a16="http://schemas.microsoft.com/office/drawing/2014/main" id="{05610532-14C0-4681-8901-D3482FF9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完整範例檔案</a:t>
            </a:r>
          </a:p>
        </p:txBody>
      </p:sp>
      <p:sp>
        <p:nvSpPr>
          <p:cNvPr id="2" name="每個 .py 檔都能獨立執行，無需先執行其他範例。">
            <a:extLst xmlns:a="http://schemas.openxmlformats.org/drawingml/2006/main">
              <a:ext uri="{FF2B5EF4-FFF2-40B4-BE49-F238E27FC236}">
                <a16:creationId xmlns:a16="http://schemas.microsoft.com/office/drawing/2014/main" id="{451348D7-265C-49E5-B9DE-C0617998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每個 .py 檔都能獨立執行，無需先執行其他範例。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CA1C-A93D-49C1-8DF2-D7EC52E69E3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286500"/>
                <a:gridCol w="4686300"/>
              </a:tblGrid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工具／用途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01_tkinter_counter.py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Tkinter／ttk 計數器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02_pyside6_counter.py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Qt／PySide6 計數器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02_pyqt6_counter.py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Qt／PyQt6 對照版本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03_wxpython_counter.py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wxPython 計數器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04_kivy_counter.py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Kivy 計數器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571500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05_dearpygui_counter.py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Dear PyGui 計數器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範例壓縮檔另附 README 與固定版本的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4B5BC62E-AFAA-47E3-9198-87F2026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範例壓縮檔另附 README 與固定版本的 requirements.txt。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FEB39416-E6E1-410D-9F11-DEACFE9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366062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官方文件與延伸閱讀">
            <a:extLst xmlns:a="http://schemas.openxmlformats.org/drawingml/2006/main">
              <a:ext uri="{FF2B5EF4-FFF2-40B4-BE49-F238E27FC236}">
                <a16:creationId xmlns:a16="http://schemas.microsoft.com/office/drawing/2014/main" id="{B51E8815-6333-4126-872B-8BE4A242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官方文件與延伸閱讀</a:t>
            </a:r>
          </a:p>
        </p:txBody>
      </p:sp>
      <p:sp>
        <p:nvSpPr>
          <p:cNvPr id="2" name="版本與平台支援可能更新；安裝時以官方文件為準。">
            <a:extLst xmlns:a="http://schemas.openxmlformats.org/drawingml/2006/main">
              <a:ext uri="{FF2B5EF4-FFF2-40B4-BE49-F238E27FC236}">
                <a16:creationId xmlns:a16="http://schemas.microsoft.com/office/drawing/2014/main" id="{98DC78ED-036F-4972-B67A-B1C4084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版本與平台支援可能更新；安裝時以官方文件為準。</a:t>
            </a:r>
          </a:p>
        </p:txBody>
      </p:sp>
      <p:sp>
        <p:nvSpPr>
          <p:cNvPr id="3" name="Tkinter／ttk">
            <a:extLst xmlns:a="http://schemas.openxmlformats.org/drawingml/2006/main">
              <a:ext uri="{FF2B5EF4-FFF2-40B4-BE49-F238E27FC236}">
                <a16:creationId xmlns:a16="http://schemas.microsoft.com/office/drawing/2014/main" id="{0FE00E81-43FC-41C2-803F-C8DBCFF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Tkinter／ttk</a:t>
            </a:r>
          </a:p>
        </p:txBody>
      </p:sp>
      <p:sp>
        <p:nvSpPr>
          <p:cNvPr id="4" name="Python 3.12 的 tkinter 文件">
            <a:extLst xmlns:a="http://schemas.openxmlformats.org/drawingml/2006/main">
              <a:ext uri="{FF2B5EF4-FFF2-40B4-BE49-F238E27FC236}">
                <a16:creationId xmlns:a16="http://schemas.microsoft.com/office/drawing/2014/main" id="{2D61B0A5-DC4F-47FA-AD7E-57EB564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db4800d62dd4008"/>
              </a:rPr>
              <a:t>Python 3.12 的 tkinter 文件</a:t>
            </a:r>
          </a:p>
        </p:txBody>
      </p:sp>
      <p:sp>
        <p:nvSpPr>
          <p:cNvPr id="5" name="Qt／PySide6">
            <a:extLst xmlns:a="http://schemas.openxmlformats.org/drawingml/2006/main">
              <a:ext uri="{FF2B5EF4-FFF2-40B4-BE49-F238E27FC236}">
                <a16:creationId xmlns:a16="http://schemas.microsoft.com/office/drawing/2014/main" id="{FC44C027-933D-4A2B-B33C-3F9E668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Qt／PySide6</a:t>
            </a:r>
          </a:p>
        </p:txBody>
      </p:sp>
      <p:sp>
        <p:nvSpPr>
          <p:cNvPr id="6" name="Qt for Python：Getting Started">
            <a:extLst xmlns:a="http://schemas.openxmlformats.org/drawingml/2006/main">
              <a:ext uri="{FF2B5EF4-FFF2-40B4-BE49-F238E27FC236}">
                <a16:creationId xmlns:a16="http://schemas.microsoft.com/office/drawing/2014/main" id="{5949492A-57CC-457E-A3ED-0AF3ED2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47925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e45b87c10f249c9"/>
              </a:rPr>
              <a:t>Qt for Python：Getting Started</a:t>
            </a:r>
          </a:p>
        </p:txBody>
      </p:sp>
      <p:sp>
        <p:nvSpPr>
          <p:cNvPr id="7" name="Qt／PyQt6">
            <a:extLst xmlns:a="http://schemas.openxmlformats.org/drawingml/2006/main">
              <a:ext uri="{FF2B5EF4-FFF2-40B4-BE49-F238E27FC236}">
                <a16:creationId xmlns:a16="http://schemas.microsoft.com/office/drawing/2014/main" id="{E6C90D7C-0B58-4281-9018-77D0B86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Qt／PyQt6</a:t>
            </a:r>
          </a:p>
        </p:txBody>
      </p:sp>
      <p:sp>
        <p:nvSpPr>
          <p:cNvPr id="8" name="Riverbank：PyQt 介紹與套件">
            <a:extLst xmlns:a="http://schemas.openxmlformats.org/drawingml/2006/main">
              <a:ext uri="{FF2B5EF4-FFF2-40B4-BE49-F238E27FC236}">
                <a16:creationId xmlns:a16="http://schemas.microsoft.com/office/drawing/2014/main" id="{11D728D6-F675-4C84-8081-2482FAD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86100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3a6d4ec1adb459a"/>
              </a:rPr>
              <a:t>Riverbank：PyQt 介紹與套件</a:t>
            </a:r>
          </a:p>
        </p:txBody>
      </p:sp>
      <p:sp>
        <p:nvSpPr>
          <p:cNvPr id="9" name="wxPython">
            <a:extLst xmlns:a="http://schemas.openxmlformats.org/drawingml/2006/main">
              <a:ext uri="{FF2B5EF4-FFF2-40B4-BE49-F238E27FC236}">
                <a16:creationId xmlns:a16="http://schemas.microsoft.com/office/drawing/2014/main" id="{0C82592B-9255-4B97-AE57-57D0404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wxPython</a:t>
            </a:r>
          </a:p>
        </p:txBody>
      </p:sp>
      <p:sp>
        <p:nvSpPr>
          <p:cNvPr id="10" name="官方下載與安裝說明">
            <a:extLst xmlns:a="http://schemas.openxmlformats.org/drawingml/2006/main">
              <a:ext uri="{FF2B5EF4-FFF2-40B4-BE49-F238E27FC236}">
                <a16:creationId xmlns:a16="http://schemas.microsoft.com/office/drawing/2014/main" id="{2AEC94B7-F1CA-4E95-81FC-D844E8D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24275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7f76731f99b402f"/>
              </a:rPr>
              <a:t>官方下載與安裝說明</a:t>
            </a:r>
          </a:p>
        </p:txBody>
      </p:sp>
      <p:sp>
        <p:nvSpPr>
          <p:cNvPr id="11" name="Kivy">
            <a:extLst xmlns:a="http://schemas.openxmlformats.org/drawingml/2006/main">
              <a:ext uri="{FF2B5EF4-FFF2-40B4-BE49-F238E27FC236}">
                <a16:creationId xmlns:a16="http://schemas.microsoft.com/office/drawing/2014/main" id="{35A8A569-20CD-4950-8E96-B2C06522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Kivy</a:t>
            </a:r>
          </a:p>
        </p:txBody>
      </p:sp>
      <p:sp>
        <p:nvSpPr>
          <p:cNvPr id="12" name="Getting Started：Installation">
            <a:extLst xmlns:a="http://schemas.openxmlformats.org/drawingml/2006/main">
              <a:ext uri="{FF2B5EF4-FFF2-40B4-BE49-F238E27FC236}">
                <a16:creationId xmlns:a16="http://schemas.microsoft.com/office/drawing/2014/main" id="{37275CE6-EDC8-4B70-9E2A-D00AA7A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4e93ac76d66047fe"/>
              </a:rPr>
              <a:t>Getting Started：Installation</a:t>
            </a:r>
          </a:p>
        </p:txBody>
      </p:sp>
      <p:sp>
        <p:nvSpPr>
          <p:cNvPr id="13" name="Dear PyGui">
            <a:extLst xmlns:a="http://schemas.openxmlformats.org/drawingml/2006/main">
              <a:ext uri="{FF2B5EF4-FFF2-40B4-BE49-F238E27FC236}">
                <a16:creationId xmlns:a16="http://schemas.microsoft.com/office/drawing/2014/main" id="{A601FBEE-3A8B-41E7-8561-C6C23FD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Dear PyGui</a:t>
            </a:r>
          </a:p>
        </p:txBody>
      </p:sp>
      <p:sp>
        <p:nvSpPr>
          <p:cNvPr id="14" name="First Steps 與 callback 說明">
            <a:extLst xmlns:a="http://schemas.openxmlformats.org/drawingml/2006/main">
              <a:ext uri="{FF2B5EF4-FFF2-40B4-BE49-F238E27FC236}">
                <a16:creationId xmlns:a16="http://schemas.microsoft.com/office/drawing/2014/main" id="{DC616EE8-DD7E-4514-B701-1BA8EBB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00625"/>
            <a:ext cx="785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60d92971b494c1e"/>
              </a:rPr>
              <a:t>First Steps 與 callback 說明</a:t>
            </a:r>
          </a:p>
        </p:txBody>
      </p:sp>
      <p:sp>
        <p:nvSpPr>
          <p:cNvPr id="15" name="資料查核：2026-10-14。">
            <a:extLst xmlns:a="http://schemas.openxmlformats.org/drawingml/2006/main">
              <a:ext uri="{FF2B5EF4-FFF2-40B4-BE49-F238E27FC236}">
                <a16:creationId xmlns:a16="http://schemas.microsoft.com/office/drawing/2014/main" id="{95CE0772-16DB-4676-9496-1840FA7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資料查核：2026-10-14。</a:t>
            </a:r>
          </a:p>
        </p:txBody>
      </p:sp>
      <p:sp>
        <p:nvSpPr>
          <p:cNvPr id="16" name="32">
            <a:extLst xmlns:a="http://schemas.openxmlformats.org/drawingml/2006/main">
              <a:ext uri="{FF2B5EF4-FFF2-40B4-BE49-F238E27FC236}">
                <a16:creationId xmlns:a16="http://schemas.microsoft.com/office/drawing/2014/main" id="{7DCF443C-D557-4D6B-BE3A-2D3D220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151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36181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2026-10-14T04:43:54.3350000Z</dcterms:created>
  <dcterms:modified xsi:type="dcterms:W3CDTF">2026-10-14T04:43:54.3350000Z</dcterms:modified>
</coreProperties>
</file>