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3cd05976c94d6d" /><Relationship Type="http://schemas.openxmlformats.org/officeDocument/2006/relationships/extended-properties" Target="/docProps/app.xml" Id="Re5d872c153494ba7" /><Relationship Type="http://schemas.openxmlformats.org/officeDocument/2006/relationships/officeDocument" Target="/ppt/presentation.xml" Id="Rb2846ae25cba49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5e73223e1d4f63"/>
  </p:sldMasterIdLst>
  <p:notesMasterIdLst>
    <p:notesMasterId xmlns:r="http://schemas.openxmlformats.org/officeDocument/2006/relationships" r:id="Rc92a366d63c542cd"/>
  </p:notesMasterIdLst>
  <p:sldIdLst>
    <p:sldId xmlns:r="http://schemas.openxmlformats.org/officeDocument/2006/relationships" id="256" r:id="Rfcee341ae42b4ab1"/>
    <p:sldId xmlns:r="http://schemas.openxmlformats.org/officeDocument/2006/relationships" id="257" r:id="R6e186ab61a2b4bd2"/>
    <p:sldId xmlns:r="http://schemas.openxmlformats.org/officeDocument/2006/relationships" id="258" r:id="R7d4a7c8a4d474c38"/>
    <p:sldId xmlns:r="http://schemas.openxmlformats.org/officeDocument/2006/relationships" id="259" r:id="R0b464dddd30b405f"/>
    <p:sldId xmlns:r="http://schemas.openxmlformats.org/officeDocument/2006/relationships" id="260" r:id="R1b3a5cd565614b4a"/>
    <p:sldId xmlns:r="http://schemas.openxmlformats.org/officeDocument/2006/relationships" id="261" r:id="R286b5be440e741bf"/>
    <p:sldId xmlns:r="http://schemas.openxmlformats.org/officeDocument/2006/relationships" id="262" r:id="R386b6d78ae854ac2"/>
    <p:sldId xmlns:r="http://schemas.openxmlformats.org/officeDocument/2006/relationships" id="263" r:id="R71da1d261700498f"/>
    <p:sldId xmlns:r="http://schemas.openxmlformats.org/officeDocument/2006/relationships" id="264" r:id="R5e27d2222c234bcd"/>
    <p:sldId xmlns:r="http://schemas.openxmlformats.org/officeDocument/2006/relationships" id="265" r:id="R8dea894d2bad4dea"/>
    <p:sldId xmlns:r="http://schemas.openxmlformats.org/officeDocument/2006/relationships" id="266" r:id="R2e05bf9f1c4f4a99"/>
    <p:sldId xmlns:r="http://schemas.openxmlformats.org/officeDocument/2006/relationships" id="267" r:id="R1f8f2e4ac58a4855"/>
    <p:sldId xmlns:r="http://schemas.openxmlformats.org/officeDocument/2006/relationships" id="268" r:id="R1fa03ccfe64e4eeb"/>
    <p:sldId xmlns:r="http://schemas.openxmlformats.org/officeDocument/2006/relationships" id="269" r:id="R26f4c08621664c87"/>
    <p:sldId xmlns:r="http://schemas.openxmlformats.org/officeDocument/2006/relationships" id="270" r:id="R2f05bcf1f9904637"/>
    <p:sldId xmlns:r="http://schemas.openxmlformats.org/officeDocument/2006/relationships" id="271" r:id="Ra98c294c146b48f8"/>
    <p:sldId xmlns:r="http://schemas.openxmlformats.org/officeDocument/2006/relationships" id="272" r:id="R050a91afe6714672"/>
    <p:sldId xmlns:r="http://schemas.openxmlformats.org/officeDocument/2006/relationships" id="273" r:id="R4ce29a9b9a73428a"/>
    <p:sldId xmlns:r="http://schemas.openxmlformats.org/officeDocument/2006/relationships" id="274" r:id="R81d0d7fa311b4895"/>
    <p:sldId xmlns:r="http://schemas.openxmlformats.org/officeDocument/2006/relationships" id="275" r:id="R7139bef141a443dd"/>
    <p:sldId xmlns:r="http://schemas.openxmlformats.org/officeDocument/2006/relationships" id="276" r:id="R1f492d980af44e9a"/>
    <p:sldId xmlns:r="http://schemas.openxmlformats.org/officeDocument/2006/relationships" id="277" r:id="R66a70e8020c04ca2"/>
    <p:sldId xmlns:r="http://schemas.openxmlformats.org/officeDocument/2006/relationships" id="278" r:id="R5c0c9a2c13084ef3"/>
    <p:sldId xmlns:r="http://schemas.openxmlformats.org/officeDocument/2006/relationships" id="279" r:id="R237a6b1179cf4490"/>
    <p:sldId xmlns:r="http://schemas.openxmlformats.org/officeDocument/2006/relationships" id="280" r:id="R61fecf57e8004eaf"/>
    <p:sldId xmlns:r="http://schemas.openxmlformats.org/officeDocument/2006/relationships" id="281" r:id="Re4bd9999fe4245fd"/>
    <p:sldId xmlns:r="http://schemas.openxmlformats.org/officeDocument/2006/relationships" id="282" r:id="Red5fc6bca9ab4f81"/>
    <p:sldId xmlns:r="http://schemas.openxmlformats.org/officeDocument/2006/relationships" id="283" r:id="R3ee800e7d8ec4d20"/>
    <p:sldId xmlns:r="http://schemas.openxmlformats.org/officeDocument/2006/relationships" id="284" r:id="R1a63a52e5c81404c"/>
    <p:sldId xmlns:r="http://schemas.openxmlformats.org/officeDocument/2006/relationships" id="285" r:id="R16f3032859c94112"/>
    <p:sldId xmlns:r="http://schemas.openxmlformats.org/officeDocument/2006/relationships" id="286" r:id="R72f99e24f2be4287"/>
    <p:sldId xmlns:r="http://schemas.openxmlformats.org/officeDocument/2006/relationships" id="287" r:id="R398b3a0fc93041d0"/>
    <p:sldId xmlns:r="http://schemas.openxmlformats.org/officeDocument/2006/relationships" id="288" r:id="Rfe4ce14f2cea49b5"/>
    <p:sldId xmlns:r="http://schemas.openxmlformats.org/officeDocument/2006/relationships" id="289" r:id="R1633cd5ca9e043e8"/>
    <p:sldId xmlns:r="http://schemas.openxmlformats.org/officeDocument/2006/relationships" id="290" r:id="R7adc8ac3ad1a4389"/>
    <p:sldId xmlns:r="http://schemas.openxmlformats.org/officeDocument/2006/relationships" id="291" r:id="R68fa4a3232314929"/>
    <p:sldId xmlns:r="http://schemas.openxmlformats.org/officeDocument/2006/relationships" id="292" r:id="R573c6c900aa444ba"/>
    <p:sldId xmlns:r="http://schemas.openxmlformats.org/officeDocument/2006/relationships" id="293" r:id="R5f1d73f63dff46e9"/>
    <p:sldId xmlns:r="http://schemas.openxmlformats.org/officeDocument/2006/relationships" id="294" r:id="Rf589ca73165a4038"/>
    <p:sldId xmlns:r="http://schemas.openxmlformats.org/officeDocument/2006/relationships" id="295" r:id="R3598030cd4d047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ef122d3aa347eb" /><Relationship Type="http://schemas.openxmlformats.org/officeDocument/2006/relationships/slideMaster" Target="/ppt/slideMasters/slideMaster1.xml" Id="R815e73223e1d4f63" /><Relationship Type="http://schemas.openxmlformats.org/officeDocument/2006/relationships/notesMaster" Target="/ppt/notesMasters/notesMaster1.xml" Id="Rc92a366d63c542cd" /><Relationship Type="http://schemas.openxmlformats.org/officeDocument/2006/relationships/presProps" Target="/ppt/presProps.xml" Id="Rf5591a59207f4e9d" /><Relationship Type="http://schemas.openxmlformats.org/officeDocument/2006/relationships/tableStyles" Target="/ppt/tableStyles.xml" Id="Rf49766b3a8f14068" /><Relationship Type="http://schemas.openxmlformats.org/officeDocument/2006/relationships/slide" Target="/ppt/slides/slide1.xml" Id="Rfcee341ae42b4ab1" /><Relationship Type="http://schemas.openxmlformats.org/officeDocument/2006/relationships/slide" Target="/ppt/slides/slide2.xml" Id="R6e186ab61a2b4bd2" /><Relationship Type="http://schemas.openxmlformats.org/officeDocument/2006/relationships/slide" Target="/ppt/slides/slide3.xml" Id="R7d4a7c8a4d474c38" /><Relationship Type="http://schemas.openxmlformats.org/officeDocument/2006/relationships/slide" Target="/ppt/slides/slide4.xml" Id="R0b464dddd30b405f" /><Relationship Type="http://schemas.openxmlformats.org/officeDocument/2006/relationships/slide" Target="/ppt/slides/slide5.xml" Id="R1b3a5cd565614b4a" /><Relationship Type="http://schemas.openxmlformats.org/officeDocument/2006/relationships/slide" Target="/ppt/slides/slide6.xml" Id="R286b5be440e741bf" /><Relationship Type="http://schemas.openxmlformats.org/officeDocument/2006/relationships/slide" Target="/ppt/slides/slide7.xml" Id="R386b6d78ae854ac2" /><Relationship Type="http://schemas.openxmlformats.org/officeDocument/2006/relationships/slide" Target="/ppt/slides/slide8.xml" Id="R71da1d261700498f" /><Relationship Type="http://schemas.openxmlformats.org/officeDocument/2006/relationships/slide" Target="/ppt/slides/slide9.xml" Id="R5e27d2222c234bcd" /><Relationship Type="http://schemas.openxmlformats.org/officeDocument/2006/relationships/slide" Target="/ppt/slides/slide10.xml" Id="R8dea894d2bad4dea" /><Relationship Type="http://schemas.openxmlformats.org/officeDocument/2006/relationships/slide" Target="/ppt/slides/slide11.xml" Id="R2e05bf9f1c4f4a99" /><Relationship Type="http://schemas.openxmlformats.org/officeDocument/2006/relationships/slide" Target="/ppt/slides/slide12.xml" Id="R1f8f2e4ac58a4855" /><Relationship Type="http://schemas.openxmlformats.org/officeDocument/2006/relationships/slide" Target="/ppt/slides/slide13.xml" Id="R1fa03ccfe64e4eeb" /><Relationship Type="http://schemas.openxmlformats.org/officeDocument/2006/relationships/slide" Target="/ppt/slides/slide14.xml" Id="R26f4c08621664c87" /><Relationship Type="http://schemas.openxmlformats.org/officeDocument/2006/relationships/slide" Target="/ppt/slides/slide15.xml" Id="R2f05bcf1f9904637" /><Relationship Type="http://schemas.openxmlformats.org/officeDocument/2006/relationships/slide" Target="/ppt/slides/slide16.xml" Id="Ra98c294c146b48f8" /><Relationship Type="http://schemas.openxmlformats.org/officeDocument/2006/relationships/slide" Target="/ppt/slides/slide17.xml" Id="R050a91afe6714672" /><Relationship Type="http://schemas.openxmlformats.org/officeDocument/2006/relationships/slide" Target="/ppt/slides/slide18.xml" Id="R4ce29a9b9a73428a" /><Relationship Type="http://schemas.openxmlformats.org/officeDocument/2006/relationships/slide" Target="/ppt/slides/slide19.xml" Id="R81d0d7fa311b4895" /><Relationship Type="http://schemas.openxmlformats.org/officeDocument/2006/relationships/slide" Target="/ppt/slides/slide20.xml" Id="R7139bef141a443dd" /><Relationship Type="http://schemas.openxmlformats.org/officeDocument/2006/relationships/slide" Target="/ppt/slides/slide21.xml" Id="R1f492d980af44e9a" /><Relationship Type="http://schemas.openxmlformats.org/officeDocument/2006/relationships/slide" Target="/ppt/slides/slide22.xml" Id="R66a70e8020c04ca2" /><Relationship Type="http://schemas.openxmlformats.org/officeDocument/2006/relationships/slide" Target="/ppt/slides/slide23.xml" Id="R5c0c9a2c13084ef3" /><Relationship Type="http://schemas.openxmlformats.org/officeDocument/2006/relationships/slide" Target="/ppt/slides/slide24.xml" Id="R237a6b1179cf4490" /><Relationship Type="http://schemas.openxmlformats.org/officeDocument/2006/relationships/slide" Target="/ppt/slides/slide25.xml" Id="R61fecf57e8004eaf" /><Relationship Type="http://schemas.openxmlformats.org/officeDocument/2006/relationships/slide" Target="/ppt/slides/slide26.xml" Id="Re4bd9999fe4245fd" /><Relationship Type="http://schemas.openxmlformats.org/officeDocument/2006/relationships/slide" Target="/ppt/slides/slide27.xml" Id="Red5fc6bca9ab4f81" /><Relationship Type="http://schemas.openxmlformats.org/officeDocument/2006/relationships/slide" Target="/ppt/slides/slide28.xml" Id="R3ee800e7d8ec4d20" /><Relationship Type="http://schemas.openxmlformats.org/officeDocument/2006/relationships/slide" Target="/ppt/slides/slide29.xml" Id="R1a63a52e5c81404c" /><Relationship Type="http://schemas.openxmlformats.org/officeDocument/2006/relationships/slide" Target="/ppt/slides/slide30.xml" Id="R16f3032859c94112" /><Relationship Type="http://schemas.openxmlformats.org/officeDocument/2006/relationships/slide" Target="/ppt/slides/slide31.xml" Id="R72f99e24f2be4287" /><Relationship Type="http://schemas.openxmlformats.org/officeDocument/2006/relationships/slide" Target="/ppt/slides/slide32.xml" Id="R398b3a0fc93041d0" /><Relationship Type="http://schemas.openxmlformats.org/officeDocument/2006/relationships/slide" Target="/ppt/slides/slide33.xml" Id="Rfe4ce14f2cea49b5" /><Relationship Type="http://schemas.openxmlformats.org/officeDocument/2006/relationships/slide" Target="/ppt/slides/slide34.xml" Id="R1633cd5ca9e043e8" /><Relationship Type="http://schemas.openxmlformats.org/officeDocument/2006/relationships/slide" Target="/ppt/slides/slide35.xml" Id="R7adc8ac3ad1a4389" /><Relationship Type="http://schemas.openxmlformats.org/officeDocument/2006/relationships/slide" Target="/ppt/slides/slide36.xml" Id="R68fa4a3232314929" /><Relationship Type="http://schemas.openxmlformats.org/officeDocument/2006/relationships/slide" Target="/ppt/slides/slide37.xml" Id="R573c6c900aa444ba" /><Relationship Type="http://schemas.openxmlformats.org/officeDocument/2006/relationships/slide" Target="/ppt/slides/slide38.xml" Id="R5f1d73f63dff46e9" /><Relationship Type="http://schemas.openxmlformats.org/officeDocument/2006/relationships/slide" Target="/ppt/slides/slide39.xml" Id="Rf589ca73165a4038" /><Relationship Type="http://schemas.openxmlformats.org/officeDocument/2006/relationships/slide" Target="/ppt/slides/slide40.xml" Id="R3598030cd4d047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11c8b493a340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c5a37b4f044ddf" /><Relationship Type="http://schemas.openxmlformats.org/officeDocument/2006/relationships/notesMaster" Target="/ppt/notesMasters/notesMaster1.xml" Id="R47caf6ff142a4d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955d28dba74490" /><Relationship Type="http://schemas.openxmlformats.org/officeDocument/2006/relationships/notesMaster" Target="/ppt/notesMasters/notesMaster1.xml" Id="R14fdcbc1599f49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fc0a1a86a9420a" /><Relationship Type="http://schemas.openxmlformats.org/officeDocument/2006/relationships/notesMaster" Target="/ppt/notesMasters/notesMaster1.xml" Id="R72591a9446ab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ca7d6b688b47b0" /><Relationship Type="http://schemas.openxmlformats.org/officeDocument/2006/relationships/notesMaster" Target="/ppt/notesMasters/notesMaster1.xml" Id="R836a8d17cb6248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3d0daa71347ea" /><Relationship Type="http://schemas.openxmlformats.org/officeDocument/2006/relationships/notesMaster" Target="/ppt/notesMasters/notesMaster1.xml" Id="R2447388a379e4e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d30729df9a491d" /><Relationship Type="http://schemas.openxmlformats.org/officeDocument/2006/relationships/notesMaster" Target="/ppt/notesMasters/notesMaster1.xml" Id="R791a9026e42044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16bb4874924844" /><Relationship Type="http://schemas.openxmlformats.org/officeDocument/2006/relationships/notesMaster" Target="/ppt/notesMasters/notesMaster1.xml" Id="R8a4b59cc821745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22f429a17f4cea" /><Relationship Type="http://schemas.openxmlformats.org/officeDocument/2006/relationships/notesMaster" Target="/ppt/notesMasters/notesMaster1.xml" Id="R2a0e97cc3fb344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52279cdb5640ef" /><Relationship Type="http://schemas.openxmlformats.org/officeDocument/2006/relationships/notesMaster" Target="/ppt/notesMasters/notesMaster1.xml" Id="Rb6d95b08050541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60261b64f34f26" /><Relationship Type="http://schemas.openxmlformats.org/officeDocument/2006/relationships/notesMaster" Target="/ppt/notesMasters/notesMaster1.xml" Id="R5eda5150a5a643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5c171789ac4e47" /><Relationship Type="http://schemas.openxmlformats.org/officeDocument/2006/relationships/notesMaster" Target="/ppt/notesMasters/notesMaster1.xml" Id="R3b19d850233946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8f733e10184bd3" /><Relationship Type="http://schemas.openxmlformats.org/officeDocument/2006/relationships/notesMaster" Target="/ppt/notesMasters/notesMaster1.xml" Id="Rdb9b7b5d5fd74d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7c87935f0a49ef" /><Relationship Type="http://schemas.openxmlformats.org/officeDocument/2006/relationships/notesMaster" Target="/ppt/notesMasters/notesMaster1.xml" Id="Rd4ce0e19758c4e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933fdfdd4f64054" /><Relationship Type="http://schemas.openxmlformats.org/officeDocument/2006/relationships/notesMaster" Target="/ppt/notesMasters/notesMaster1.xml" Id="Re4a5687c802543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36357c6210473e" /><Relationship Type="http://schemas.openxmlformats.org/officeDocument/2006/relationships/notesMaster" Target="/ppt/notesMasters/notesMaster1.xml" Id="R9f42c96f0e8440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cb89aaaa4c4d7c" /><Relationship Type="http://schemas.openxmlformats.org/officeDocument/2006/relationships/notesMaster" Target="/ppt/notesMasters/notesMaster1.xml" Id="Rcb0a35a4e08e4b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80e22653464f1d" /><Relationship Type="http://schemas.openxmlformats.org/officeDocument/2006/relationships/notesMaster" Target="/ppt/notesMasters/notesMaster1.xml" Id="R07ee75c5888841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c742d2eba9496c" /><Relationship Type="http://schemas.openxmlformats.org/officeDocument/2006/relationships/notesMaster" Target="/ppt/notesMasters/notesMaster1.xml" Id="R0eb41bce0226471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ab845cabb743ad" /><Relationship Type="http://schemas.openxmlformats.org/officeDocument/2006/relationships/notesMaster" Target="/ppt/notesMasters/notesMaster1.xml" Id="R3ec1d69114de4e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03155d6131493b" /><Relationship Type="http://schemas.openxmlformats.org/officeDocument/2006/relationships/notesMaster" Target="/ppt/notesMasters/notesMaster1.xml" Id="R87aa920c924546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e35a8410f5c49f1" /><Relationship Type="http://schemas.openxmlformats.org/officeDocument/2006/relationships/notesMaster" Target="/ppt/notesMasters/notesMaster1.xml" Id="Rb9001d8e6f6e4c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ff8cabaa2f4e7c" /><Relationship Type="http://schemas.openxmlformats.org/officeDocument/2006/relationships/notesMaster" Target="/ppt/notesMasters/notesMaster1.xml" Id="R397738361e7940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b0708feb024286" /><Relationship Type="http://schemas.openxmlformats.org/officeDocument/2006/relationships/notesMaster" Target="/ppt/notesMasters/notesMaster1.xml" Id="R429be9bed3194e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12a0a34bfb438a" /><Relationship Type="http://schemas.openxmlformats.org/officeDocument/2006/relationships/notesMaster" Target="/ppt/notesMasters/notesMaster1.xml" Id="R09d8988ee659433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4532774615942af" /><Relationship Type="http://schemas.openxmlformats.org/officeDocument/2006/relationships/notesMaster" Target="/ppt/notesMasters/notesMaster1.xml" Id="R8eb15f6600274bb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7f7085e6184b39" /><Relationship Type="http://schemas.openxmlformats.org/officeDocument/2006/relationships/notesMaster" Target="/ppt/notesMasters/notesMaster1.xml" Id="R4ffa27106f46428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bf5a8822b4447dc" /><Relationship Type="http://schemas.openxmlformats.org/officeDocument/2006/relationships/notesMaster" Target="/ppt/notesMasters/notesMaster1.xml" Id="R66d449f2b6c9485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82d1cc97cd64b9b" /><Relationship Type="http://schemas.openxmlformats.org/officeDocument/2006/relationships/notesMaster" Target="/ppt/notesMasters/notesMaster1.xml" Id="R475f03b6ec00456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37bc3287bb34f62" /><Relationship Type="http://schemas.openxmlformats.org/officeDocument/2006/relationships/notesMaster" Target="/ppt/notesMasters/notesMaster1.xml" Id="R4ce6dbbada7f4eb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0c777122b45460b" /><Relationship Type="http://schemas.openxmlformats.org/officeDocument/2006/relationships/notesMaster" Target="/ppt/notesMasters/notesMaster1.xml" Id="Rb8df73dd427d4a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a649a43b7b54589" /><Relationship Type="http://schemas.openxmlformats.org/officeDocument/2006/relationships/notesMaster" Target="/ppt/notesMasters/notesMaster1.xml" Id="Rad68fbc4c04c425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3ad3cb730ef40b8" /><Relationship Type="http://schemas.openxmlformats.org/officeDocument/2006/relationships/notesMaster" Target="/ppt/notesMasters/notesMaster1.xml" Id="R278a28342d604b7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60184b8e0fd4286" /><Relationship Type="http://schemas.openxmlformats.org/officeDocument/2006/relationships/notesMaster" Target="/ppt/notesMasters/notesMaster1.xml" Id="Rbb5b0e69e5f4406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ed924b4c2834edd" /><Relationship Type="http://schemas.openxmlformats.org/officeDocument/2006/relationships/notesMaster" Target="/ppt/notesMasters/notesMaster1.xml" Id="Rce87322a54ab4d1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318f4ff3174fe2" /><Relationship Type="http://schemas.openxmlformats.org/officeDocument/2006/relationships/notesMaster" Target="/ppt/notesMasters/notesMaster1.xml" Id="R7324427a101c4f4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6d4b0c8224b43ca" /><Relationship Type="http://schemas.openxmlformats.org/officeDocument/2006/relationships/notesMaster" Target="/ppt/notesMasters/notesMaster1.xml" Id="R070c8d5074234ae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430933910e14045" /><Relationship Type="http://schemas.openxmlformats.org/officeDocument/2006/relationships/notesMaster" Target="/ppt/notesMasters/notesMaster1.xml" Id="Rda48c0400e61494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5efd420a2fc45eb" /><Relationship Type="http://schemas.openxmlformats.org/officeDocument/2006/relationships/notesMaster" Target="/ppt/notesMasters/notesMaster1.xml" Id="R6dfcf503912d4a6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a07a05760344f1c" /><Relationship Type="http://schemas.openxmlformats.org/officeDocument/2006/relationships/notesMaster" Target="/ppt/notesMasters/notesMaster1.xml" Id="Rc853c8a02cd2425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fe7a8f06f9645e2" /><Relationship Type="http://schemas.openxmlformats.org/officeDocument/2006/relationships/notesMaster" Target="/ppt/notesMasters/notesMaster1.xml" Id="Rb07ada65febf4a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插圖：沿用前兩週教材的原始概念插圖。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參考資料：https://docs.python.org/3/reference/datamodel.html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插圖：沿用前兩週教材的原始概念插圖。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參考資料：https://docs.python.org/3/tutorial/classes.html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參考資料：https://minhuangyuntech.github.io/oo2026/week/3/</a:t>
            </a:r>
          </a:p>
          <a:p xmlns:a="http://schemas.openxmlformats.org/drawingml/2006/main">
            <a:r>
              <a:t>https://minhuangyuntech.github.io/oo2026/week/3/</a:t>
            </a:r>
          </a:p>
          <a:p xmlns:a="http://schemas.openxmlformats.org/drawingml/2006/main">
            <a:r>
              <a:t>語法範例採 Python 3.12+。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8010e4f9848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c3dd3cb37a4597" /><Relationship Type="http://schemas.openxmlformats.org/officeDocument/2006/relationships/slideLayout" Target="/ppt/slideLayouts/slideLayout1.xml" Id="Rce837d9de97a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837d9de97a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6ba274b164747" /><Relationship Type="http://schemas.openxmlformats.org/officeDocument/2006/relationships/image" Target="/ppt/media/image.png" Id="R4987c27785154f0e" /><Relationship Type="http://schemas.openxmlformats.org/officeDocument/2006/relationships/notesSlide" Target="/ppt/notesSlides/notesSlide1.xml" Id="R81fbb019074143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8e4c006034d68" /><Relationship Type="http://schemas.openxmlformats.org/officeDocument/2006/relationships/notesSlide" Target="/ppt/notesSlides/notesSlide2.xml" Id="R8ba651190bcc48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064a3d5644a90" /><Relationship Type="http://schemas.openxmlformats.org/officeDocument/2006/relationships/notesSlide" Target="/ppt/notesSlides/notesSlide3.xml" Id="R0e8d29d3bb0b41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ea5065fc74006" /><Relationship Type="http://schemas.openxmlformats.org/officeDocument/2006/relationships/notesSlide" Target="/ppt/notesSlides/notesSlide4.xml" Id="R14fe51af491d42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1bea1382541ad" /><Relationship Type="http://schemas.openxmlformats.org/officeDocument/2006/relationships/image" Target="/ppt/media/image2.png" Id="R0b85a1fe608740c4" /><Relationship Type="http://schemas.openxmlformats.org/officeDocument/2006/relationships/notesSlide" Target="/ppt/notesSlides/notesSlide5.xml" Id="R55c729cd49644d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eab453df54ac3" /><Relationship Type="http://schemas.openxmlformats.org/officeDocument/2006/relationships/notesSlide" Target="/ppt/notesSlides/notesSlide6.xml" Id="R39ad834c865f41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4149ff6904e5d" /><Relationship Type="http://schemas.openxmlformats.org/officeDocument/2006/relationships/notesSlide" Target="/ppt/notesSlides/notesSlide7.xml" Id="Ra36f355ec80b44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40c8ba2a14934" /><Relationship Type="http://schemas.openxmlformats.org/officeDocument/2006/relationships/notesSlide" Target="/ppt/notesSlides/notesSlide8.xml" Id="R264a88e5d54f46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57a506d0948b8" /><Relationship Type="http://schemas.openxmlformats.org/officeDocument/2006/relationships/notesSlide" Target="/ppt/notesSlides/notesSlide9.xml" Id="R28ab71c6e3134f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2d6063a0440aa" /><Relationship Type="http://schemas.openxmlformats.org/officeDocument/2006/relationships/notesSlide" Target="/ppt/notesSlides/notesSlide10.xml" Id="R2746747fe41b47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d3f499e3d4879" /><Relationship Type="http://schemas.openxmlformats.org/officeDocument/2006/relationships/notesSlide" Target="/ppt/notesSlides/notesSlide11.xml" Id="R84c37f773d3044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9be7caa4645c2" /><Relationship Type="http://schemas.openxmlformats.org/officeDocument/2006/relationships/notesSlide" Target="/ppt/notesSlides/notesSlide12.xml" Id="R586bbdf8f47146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8183fa8e14f72" /><Relationship Type="http://schemas.openxmlformats.org/officeDocument/2006/relationships/notesSlide" Target="/ppt/notesSlides/notesSlide13.xml" Id="R61594f0e13894a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ab6d0ed6f4e89" /><Relationship Type="http://schemas.openxmlformats.org/officeDocument/2006/relationships/notesSlide" Target="/ppt/notesSlides/notesSlide14.xml" Id="Rc4ad4534bc2f4f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3814cb1fe4214" /><Relationship Type="http://schemas.openxmlformats.org/officeDocument/2006/relationships/notesSlide" Target="/ppt/notesSlides/notesSlide15.xml" Id="R2a7cebc6121548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dbcdd4c6c4a6c" /><Relationship Type="http://schemas.openxmlformats.org/officeDocument/2006/relationships/notesSlide" Target="/ppt/notesSlides/notesSlide16.xml" Id="Rd39d88d81ae541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dc5172bba4601" /><Relationship Type="http://schemas.openxmlformats.org/officeDocument/2006/relationships/notesSlide" Target="/ppt/notesSlides/notesSlide17.xml" Id="R484bcfd6e14e4c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7bafb54134c03" /><Relationship Type="http://schemas.openxmlformats.org/officeDocument/2006/relationships/notesSlide" Target="/ppt/notesSlides/notesSlide18.xml" Id="R411baae22e6741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f556d715a4c21" /><Relationship Type="http://schemas.openxmlformats.org/officeDocument/2006/relationships/notesSlide" Target="/ppt/notesSlides/notesSlide19.xml" Id="Rcf10d741c44d44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643cd9b894a31" /><Relationship Type="http://schemas.openxmlformats.org/officeDocument/2006/relationships/notesSlide" Target="/ppt/notesSlides/notesSlide20.xml" Id="R12349e20e127491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3ffcad0a54ee2" /><Relationship Type="http://schemas.openxmlformats.org/officeDocument/2006/relationships/notesSlide" Target="/ppt/notesSlides/notesSlide21.xml" Id="R968862dbb39348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d0228806c4647" /><Relationship Type="http://schemas.openxmlformats.org/officeDocument/2006/relationships/notesSlide" Target="/ppt/notesSlides/notesSlide22.xml" Id="Rbbc53a189ed34ad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b60f5fc33447e" /><Relationship Type="http://schemas.openxmlformats.org/officeDocument/2006/relationships/notesSlide" Target="/ppt/notesSlides/notesSlide23.xml" Id="Rdb299bcd1b9b433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70b2f2e4c4869" /><Relationship Type="http://schemas.openxmlformats.org/officeDocument/2006/relationships/notesSlide" Target="/ppt/notesSlides/notesSlide24.xml" Id="Rcbf7a3358cd44e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919ecc4b24b96" /><Relationship Type="http://schemas.openxmlformats.org/officeDocument/2006/relationships/notesSlide" Target="/ppt/notesSlides/notesSlide25.xml" Id="R9745c297c03b43d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ad7d321ec4a1e" /><Relationship Type="http://schemas.openxmlformats.org/officeDocument/2006/relationships/notesSlide" Target="/ppt/notesSlides/notesSlide26.xml" Id="R8d02bfe155614df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284b82dce4b19" /><Relationship Type="http://schemas.openxmlformats.org/officeDocument/2006/relationships/notesSlide" Target="/ppt/notesSlides/notesSlide27.xml" Id="R411a3bfbbee6496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20c508f4a4417" /><Relationship Type="http://schemas.openxmlformats.org/officeDocument/2006/relationships/notesSlide" Target="/ppt/notesSlides/notesSlide28.xml" Id="R1f292f9a2af0411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aecd84be94373" /><Relationship Type="http://schemas.openxmlformats.org/officeDocument/2006/relationships/notesSlide" Target="/ppt/notesSlides/notesSlide29.xml" Id="R0a4d19fb4a7c4c5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e5f3da1e1493c" /><Relationship Type="http://schemas.openxmlformats.org/officeDocument/2006/relationships/notesSlide" Target="/ppt/notesSlides/notesSlide30.xml" Id="R0be203037bd44d6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ed883a661404c" /><Relationship Type="http://schemas.openxmlformats.org/officeDocument/2006/relationships/notesSlide" Target="/ppt/notesSlides/notesSlide31.xml" Id="R589db00336d74c8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0363e8d414bcb" /><Relationship Type="http://schemas.openxmlformats.org/officeDocument/2006/relationships/notesSlide" Target="/ppt/notesSlides/notesSlide32.xml" Id="Rb1efff7b40634a6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d2b08e14d45f1" /><Relationship Type="http://schemas.openxmlformats.org/officeDocument/2006/relationships/notesSlide" Target="/ppt/notesSlides/notesSlide33.xml" Id="R932cc70c10374af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2ecf2bf974666" /><Relationship Type="http://schemas.openxmlformats.org/officeDocument/2006/relationships/notesSlide" Target="/ppt/notesSlides/notesSlide34.xml" Id="Rb8e9fe2e54e840a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e737af1d84111" /><Relationship Type="http://schemas.openxmlformats.org/officeDocument/2006/relationships/notesSlide" Target="/ppt/notesSlides/notesSlide35.xml" Id="R83b0e7e21f80450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2c8b560214581" /><Relationship Type="http://schemas.openxmlformats.org/officeDocument/2006/relationships/notesSlide" Target="/ppt/notesSlides/notesSlide36.xml" Id="Rf2d81ab8c73f41c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3bbe9e0174dc8" /><Relationship Type="http://schemas.openxmlformats.org/officeDocument/2006/relationships/notesSlide" Target="/ppt/notesSlides/notesSlide37.xml" Id="R4ea35563580e431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be13772a0448b" /><Relationship Type="http://schemas.openxmlformats.org/officeDocument/2006/relationships/notesSlide" Target="/ppt/notesSlides/notesSlide38.xml" Id="R7ef61410a684419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1dd8622c84faa" /><Relationship Type="http://schemas.openxmlformats.org/officeDocument/2006/relationships/notesSlide" Target="/ppt/notesSlides/notesSlide39.xml" Id="Rd2bc546de0c2474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b921c72d3437f" /><Relationship Type="http://schemas.openxmlformats.org/officeDocument/2006/relationships/notesSlide" Target="/ppt/notesSlides/notesSlide40.xml" Id="R9b55881130194b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7c27785154f0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EEK 03">
            <a:extLst xmlns:a="http://schemas.openxmlformats.org/drawingml/2006/main">
              <a:ext uri="{FF2B5EF4-FFF2-40B4-BE49-F238E27FC236}">
                <a16:creationId xmlns:a16="http://schemas.microsoft.com/office/drawing/2014/main" id="{EB23B9A5-7A1C-4B5B-861C-ACA74A49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WEEK 03</a:t>
            </a:r>
          </a:p>
        </p:txBody>
      </p:sp>
      <p:sp>
        <p:nvSpPr>
          <p:cNvPr id="3" name="類別、物件 與物件模型">
            <a:extLst xmlns:a="http://schemas.openxmlformats.org/drawingml/2006/main">
              <a:ext uri="{FF2B5EF4-FFF2-40B4-BE49-F238E27FC236}">
                <a16:creationId xmlns:a16="http://schemas.microsoft.com/office/drawing/2014/main" id="{9939FB3E-25BB-45B6-9FD1-C15D63CF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704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類別、物件</a:t>
            </a:r>
          </a:p>
          <a:p xmlns:a="http://schemas.openxmlformats.org/drawingml/2006/main">
            <a:pPr algn="l">
              <a:def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4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與物件模型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62C085F4-E1EE-4D38-AE11-BC459A7C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物件導向程式設計</a:t>
            </a:r>
          </a:p>
        </p:txBody>
      </p:sp>
      <p:sp>
        <p:nvSpPr>
          <p:cNvPr id="5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2F8E129C-2D3C-4F2D-80F3-F9A98068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國立雲林科技大學 電子工程系</a:t>
            </a:r>
          </a:p>
          <a:p xmlns:a="http://schemas.openxmlformats.org/drawingml/2006/main">
            <a:pPr algn="l">
              <a:def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BDC7CD"/>
                </a:solidFill>
                <a:latin typeface="Microsoft JhengHei"/>
                <a:ea typeface="Microsoft JhengHei"/>
                <a:cs typeface="Microsoft JhengHei"/>
              </a:rPr>
              <a:t>115 學年度第 1 學期　何敏煌</a:t>
            </a:r>
          </a:p>
        </p:txBody>
      </p:sp>
    </p:spTree>
    <p:extLst>
      <p:ext uri="{BB962C8B-B14F-4D97-AF65-F5344CB8AC3E}">
        <p14:creationId xmlns:p14="http://schemas.microsoft.com/office/powerpoint/2010/main" val="809092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第三週的核心內容">
            <a:extLst xmlns:a="http://schemas.openxmlformats.org/drawingml/2006/main">
              <a:ext uri="{FF2B5EF4-FFF2-40B4-BE49-F238E27FC236}">
                <a16:creationId xmlns:a16="http://schemas.microsoft.com/office/drawing/2014/main" id="{48A070FD-5CB2-443F-B094-B8F2BD13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第三週的核心內容</a:t>
            </a:r>
          </a:p>
        </p:txBody>
      </p:sp>
      <p:sp>
        <p:nvSpPr>
          <p:cNvPr id="2" name="課程範圍">
            <a:extLst xmlns:a="http://schemas.openxmlformats.org/drawingml/2006/main">
              <a:ext uri="{FF2B5EF4-FFF2-40B4-BE49-F238E27FC236}">
                <a16:creationId xmlns:a16="http://schemas.microsoft.com/office/drawing/2014/main" id="{DA469F36-83FB-431D-A19D-109502C3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課程範圍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0116AC92-4E21-4F14-8963-6E3B7FA0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FC4C2F9B-BB59-436D-AA25-B0E84274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物件模型</a:t>
            </a:r>
          </a:p>
        </p:txBody>
      </p:sp>
      <p:sp>
        <p:nvSpPr>
          <p:cNvPr id="5" name="類別、實體、身分、狀態與行為">
            <a:extLst xmlns:a="http://schemas.openxmlformats.org/drawingml/2006/main">
              <a:ext uri="{FF2B5EF4-FFF2-40B4-BE49-F238E27FC236}">
                <a16:creationId xmlns:a16="http://schemas.microsoft.com/office/drawing/2014/main" id="{09BC28C3-6E74-475F-9BDA-1480E1B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類別、實體、身分、狀態與行為</a:t>
            </a:r>
          </a:p>
        </p:txBody>
      </p:sp>
      <p:sp>
        <p:nvSpPr>
          <p:cNvPr id="6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B57F8361-DFAC-4219-935E-C2D1DA4A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建立物件</a:t>
            </a:r>
          </a:p>
        </p:txBody>
      </p:sp>
      <p:sp>
        <p:nvSpPr>
          <p:cNvPr id="7" name="__new__、__init__、self 與有效狀態">
            <a:extLst xmlns:a="http://schemas.openxmlformats.org/drawingml/2006/main">
              <a:ext uri="{FF2B5EF4-FFF2-40B4-BE49-F238E27FC236}">
                <a16:creationId xmlns:a16="http://schemas.microsoft.com/office/drawing/2014/main" id="{6B6C3190-995B-4567-8B13-EF07776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__new__、__init__、self 與有效狀態</a:t>
            </a:r>
          </a:p>
        </p:txBody>
      </p:sp>
      <p:sp>
        <p:nvSpPr>
          <p:cNvPr id="8" name="資料歸屬">
            <a:extLst xmlns:a="http://schemas.openxmlformats.org/drawingml/2006/main">
              <a:ext uri="{FF2B5EF4-FFF2-40B4-BE49-F238E27FC236}">
                <a16:creationId xmlns:a16="http://schemas.microsoft.com/office/drawing/2014/main" id="{6E5B3433-E060-4172-B9ED-5A8ADF19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資料歸屬</a:t>
            </a:r>
          </a:p>
        </p:txBody>
      </p:sp>
      <p:sp>
        <p:nvSpPr>
          <p:cNvPr id="9" name="實體屬性、類別屬性、共享與遮蔽">
            <a:extLst xmlns:a="http://schemas.openxmlformats.org/drawingml/2006/main">
              <a:ext uri="{FF2B5EF4-FFF2-40B4-BE49-F238E27FC236}">
                <a16:creationId xmlns:a16="http://schemas.microsoft.com/office/drawing/2014/main" id="{35A2B344-E2A1-4068-85A1-95DD9F8D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實體屬性、類別屬性、共享與遮蔽</a:t>
            </a:r>
          </a:p>
        </p:txBody>
      </p:sp>
      <p:sp>
        <p:nvSpPr>
          <p:cNvPr id="10" name="方法選擇">
            <a:extLst xmlns:a="http://schemas.openxmlformats.org/drawingml/2006/main">
              <a:ext uri="{FF2B5EF4-FFF2-40B4-BE49-F238E27FC236}">
                <a16:creationId xmlns:a16="http://schemas.microsoft.com/office/drawing/2014/main" id="{8B878B3F-1B3D-4F09-B24C-1DCDFEE1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方法選擇</a:t>
            </a:r>
          </a:p>
        </p:txBody>
      </p:sp>
      <p:sp>
        <p:nvSpPr>
          <p:cNvPr id="11" name="實體方法、classmethod、staticmethod">
            <a:extLst xmlns:a="http://schemas.openxmlformats.org/drawingml/2006/main">
              <a:ext uri="{FF2B5EF4-FFF2-40B4-BE49-F238E27FC236}">
                <a16:creationId xmlns:a16="http://schemas.microsoft.com/office/drawing/2014/main" id="{640362B0-8BCF-48A6-AFF2-18157380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實體方法、classmethod、staticmethod</a:t>
            </a:r>
          </a:p>
        </p:txBody>
      </p:sp>
      <p:sp>
        <p:nvSpPr>
          <p:cNvPr id="12" name="範例採 Python 3.12+。附檔中的每個範例均可獨立執行。">
            <a:extLst xmlns:a="http://schemas.openxmlformats.org/drawingml/2006/main">
              <a:ext uri="{FF2B5EF4-FFF2-40B4-BE49-F238E27FC236}">
                <a16:creationId xmlns:a16="http://schemas.microsoft.com/office/drawing/2014/main" id="{AC6465E1-4B8F-4619-AD4E-FA64644F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範例採 Python 3.12+。附檔中的每個範例均可獨立執行。</a:t>
            </a:r>
          </a:p>
        </p:txBody>
      </p:sp>
    </p:spTree>
    <p:extLst>
      <p:ext uri="{BB962C8B-B14F-4D97-AF65-F5344CB8AC3E}">
        <p14:creationId xmlns:p14="http://schemas.microsoft.com/office/powerpoint/2010/main" val="607875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OA、OOD 與 OOP 的位置">
            <a:extLst xmlns:a="http://schemas.openxmlformats.org/drawingml/2006/main">
              <a:ext uri="{FF2B5EF4-FFF2-40B4-BE49-F238E27FC236}">
                <a16:creationId xmlns:a16="http://schemas.microsoft.com/office/drawing/2014/main" id="{B9D23E24-9605-4094-A3E7-9592517E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OOA、OOD 與 OOP 的位置</a:t>
            </a:r>
          </a:p>
        </p:txBody>
      </p:sp>
      <p:sp>
        <p:nvSpPr>
          <p:cNvPr id="2" name="物件導向的基本觀念">
            <a:extLst xmlns:a="http://schemas.openxmlformats.org/drawingml/2006/main">
              <a:ext uri="{FF2B5EF4-FFF2-40B4-BE49-F238E27FC236}">
                <a16:creationId xmlns:a16="http://schemas.microsoft.com/office/drawing/2014/main" id="{D7234CED-F2BE-48DE-A7AB-8D0484F5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物件導向的基本觀念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163775DA-7F0C-425B-B7C8-19833421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905250"/>
                <a:gridCol w="48768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核心問題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學生資料的例子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OOA 分析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需求中有哪些概念與規則？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學生有學號、姓名與修課紀錄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OOD 設計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資料與責任如何分配？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 管理學生狀態與相關行為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OOP 實作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如何以程式實現設計？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class Student、屬性與方法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分析、設計與實作會反覆修正。本週聚焦 Python 物件模型。">
            <a:extLst xmlns:a="http://schemas.openxmlformats.org/drawingml/2006/main">
              <a:ext uri="{FF2B5EF4-FFF2-40B4-BE49-F238E27FC236}">
                <a16:creationId xmlns:a16="http://schemas.microsoft.com/office/drawing/2014/main" id="{DB2B78C4-7E8D-431C-8D61-0CBA9AF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分析、設計與實作會反覆修正。本週聚焦 Python 物件模型。</a:t>
            </a:r>
          </a:p>
        </p:txBody>
      </p:sp>
    </p:spTree>
    <p:extLst>
      <p:ext uri="{BB962C8B-B14F-4D97-AF65-F5344CB8AC3E}">
        <p14:creationId xmlns:p14="http://schemas.microsoft.com/office/powerpoint/2010/main" val="12589116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傳統 OOP 的四個常見核心概念">
            <a:extLst xmlns:a="http://schemas.openxmlformats.org/drawingml/2006/main">
              <a:ext uri="{FF2B5EF4-FFF2-40B4-BE49-F238E27FC236}">
                <a16:creationId xmlns:a16="http://schemas.microsoft.com/office/drawing/2014/main" id="{5D30A0C5-3622-4FAF-8EBD-D36B8B7C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傳統 OOP 的四個常見核心概念</a:t>
            </a:r>
          </a:p>
        </p:txBody>
      </p:sp>
      <p:sp>
        <p:nvSpPr>
          <p:cNvPr id="2" name="物件導向的基本觀念">
            <a:extLst xmlns:a="http://schemas.openxmlformats.org/drawingml/2006/main">
              <a:ext uri="{FF2B5EF4-FFF2-40B4-BE49-F238E27FC236}">
                <a16:creationId xmlns:a16="http://schemas.microsoft.com/office/drawing/2014/main" id="{73B60D7E-E0FB-4ABE-AB9B-3F355F93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物件導向的基本觀念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72D73289-842B-428F-A203-3D155D9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305300"/>
                <a:gridCol w="47625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關注的問題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與本週的關係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抽象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只保留任務所需的特性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 表達學生的相關資料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封裝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把狀態與操作集中管理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先建立方法，第四週深入資訊隱藏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繼承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以既有型別定義衍生型別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本週僅用簡短例子說明 cls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同一操作可有不同實作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後續配合介面與繼承深入討論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本週重點是建立與使用物件，先掌握資料歸屬與方法呼叫。">
            <a:extLst xmlns:a="http://schemas.openxmlformats.org/drawingml/2006/main">
              <a:ext uri="{FF2B5EF4-FFF2-40B4-BE49-F238E27FC236}">
                <a16:creationId xmlns:a16="http://schemas.microsoft.com/office/drawing/2014/main" id="{EE77F235-C349-47BF-9E75-D36DDC14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本週重點是建立與使用物件，先掌握資料歸屬與方法呼叫。</a:t>
            </a:r>
          </a:p>
        </p:txBody>
      </p:sp>
    </p:spTree>
    <p:extLst>
      <p:ext uri="{BB962C8B-B14F-4D97-AF65-F5344CB8AC3E}">
        <p14:creationId xmlns:p14="http://schemas.microsoft.com/office/powerpoint/2010/main" val="1594949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物件的身分、狀態與行為">
            <a:extLst xmlns:a="http://schemas.openxmlformats.org/drawingml/2006/main">
              <a:ext uri="{FF2B5EF4-FFF2-40B4-BE49-F238E27FC236}">
                <a16:creationId xmlns:a16="http://schemas.microsoft.com/office/drawing/2014/main" id="{E84DF4A5-8087-4907-ACB7-7211E3D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物件的身分、狀態與行為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FD2E1FF4-4243-4F81-9799-A33E019F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物件模型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520BB53-D039-4A1C-9BCE-956BE1F2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5a1fe608740c4"/>
          <a:srcRect xmlns:a="http://schemas.openxmlformats.org/drawingml/2006/main" l="3608" t="0" r="3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7525" y="1790700"/>
            <a:ext cx="4572000" cy="3695700"/>
          </a:xfrm>
          <a:prstGeom xmlns:a="http://schemas.openxmlformats.org/drawingml/2006/main" prst="rect">
            <a:avLst/>
          </a:prstGeom>
        </p:spPr>
      </p:pic>
      <p:sp>
        <p:nvSpPr>
          <p:cNvPr id="5" name="身分 identity">
            <a:extLst xmlns:a="http://schemas.openxmlformats.org/drawingml/2006/main">
              <a:ext uri="{FF2B5EF4-FFF2-40B4-BE49-F238E27FC236}">
                <a16:creationId xmlns:a16="http://schemas.microsoft.com/office/drawing/2014/main" id="{3E064095-6330-4CD6-950B-291316C6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身分 identity</a:t>
            </a:r>
          </a:p>
        </p:txBody>
      </p:sp>
      <p:sp>
        <p:nvSpPr>
          <p:cNvPr id="6" name="是否為同一個物件：is">
            <a:extLst xmlns:a="http://schemas.openxmlformats.org/drawingml/2006/main">
              <a:ext uri="{FF2B5EF4-FFF2-40B4-BE49-F238E27FC236}">
                <a16:creationId xmlns:a16="http://schemas.microsoft.com/office/drawing/2014/main" id="{84E9CB93-4B4F-4738-8FC2-E068D069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是否為同一個物件：is</a:t>
            </a:r>
          </a:p>
        </p:txBody>
      </p:sp>
      <p:sp>
        <p:nvSpPr>
          <p:cNvPr id="7" name="狀態 state">
            <a:extLst xmlns:a="http://schemas.openxmlformats.org/drawingml/2006/main">
              <a:ext uri="{FF2B5EF4-FFF2-40B4-BE49-F238E27FC236}">
                <a16:creationId xmlns:a16="http://schemas.microsoft.com/office/drawing/2014/main" id="{BD416492-6088-4C33-9C8E-35BD2F0D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狀態 state</a:t>
            </a:r>
          </a:p>
        </p:txBody>
      </p:sp>
      <p:sp>
        <p:nvSpPr>
          <p:cNvPr id="8" name="目前保存的資料：name、balance">
            <a:extLst xmlns:a="http://schemas.openxmlformats.org/drawingml/2006/main">
              <a:ext uri="{FF2B5EF4-FFF2-40B4-BE49-F238E27FC236}">
                <a16:creationId xmlns:a16="http://schemas.microsoft.com/office/drawing/2014/main" id="{82E02DB9-F25B-43C2-B596-5F5C977B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目前保存的資料：name、balance</a:t>
            </a:r>
          </a:p>
        </p:txBody>
      </p:sp>
      <p:sp>
        <p:nvSpPr>
          <p:cNvPr id="9" name="行為 behavior">
            <a:extLst xmlns:a="http://schemas.openxmlformats.org/drawingml/2006/main">
              <a:ext uri="{FF2B5EF4-FFF2-40B4-BE49-F238E27FC236}">
                <a16:creationId xmlns:a16="http://schemas.microsoft.com/office/drawing/2014/main" id="{26BB7A6B-AEFB-4580-9AC2-CD470421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行為 behavior</a:t>
            </a:r>
          </a:p>
        </p:txBody>
      </p:sp>
      <p:sp>
        <p:nvSpPr>
          <p:cNvPr id="10" name="物件提供的操作：rename、deposit">
            <a:extLst xmlns:a="http://schemas.openxmlformats.org/drawingml/2006/main">
              <a:ext uri="{FF2B5EF4-FFF2-40B4-BE49-F238E27FC236}">
                <a16:creationId xmlns:a16="http://schemas.microsoft.com/office/drawing/2014/main" id="{F9155B2A-0CA1-4F3B-9926-3F879432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物件提供的操作：rename、deposit</a:t>
            </a:r>
          </a:p>
        </p:txBody>
      </p:sp>
      <p:sp>
        <p:nvSpPr>
          <p:cNvPr id="11" name="兩個物件可以有相同狀態，仍然擁有不同身分。">
            <a:extLst xmlns:a="http://schemas.openxmlformats.org/drawingml/2006/main">
              <a:ext uri="{FF2B5EF4-FFF2-40B4-BE49-F238E27FC236}">
                <a16:creationId xmlns:a16="http://schemas.microsoft.com/office/drawing/2014/main" id="{6BBFB62B-25E2-4912-8379-F73362F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兩個物件可以有相同狀態，仍然擁有不同身分。</a:t>
            </a:r>
          </a:p>
        </p:txBody>
      </p:sp>
    </p:spTree>
    <p:extLst>
      <p:ext uri="{BB962C8B-B14F-4D97-AF65-F5344CB8AC3E}">
        <p14:creationId xmlns:p14="http://schemas.microsoft.com/office/powerpoint/2010/main" val="19405024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類別與實體的差異">
            <a:extLst xmlns:a="http://schemas.openxmlformats.org/drawingml/2006/main">
              <a:ext uri="{FF2B5EF4-FFF2-40B4-BE49-F238E27FC236}">
                <a16:creationId xmlns:a16="http://schemas.microsoft.com/office/drawing/2014/main" id="{AC9AED8D-9DF4-4093-8E1B-8C31A102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類別與實體的差異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9EB41DD7-920F-42E7-8A17-C04A1157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物件模型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A99B4B2F-359D-4512-A01E-1201A2E5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05000"/>
                <a:gridCol w="4533900"/>
                <a:gridCol w="45339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 class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實體 instance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定義型別與共同行為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代表一個具體對象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amy、bob 所參照的物件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school 等類別屬性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name 等實體屬性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建立方式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 class 敘述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呼叫 Student(...)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Python 中，類別本身也是物件。">
            <a:extLst xmlns:a="http://schemas.openxmlformats.org/drawingml/2006/main">
              <a:ext uri="{FF2B5EF4-FFF2-40B4-BE49-F238E27FC236}">
                <a16:creationId xmlns:a16="http://schemas.microsoft.com/office/drawing/2014/main" id="{308FE1F7-E4C5-4811-8DFB-44EA9D8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Python 中，類別本身也是物件。</a:t>
            </a:r>
          </a:p>
        </p:txBody>
      </p:sp>
    </p:spTree>
    <p:extLst>
      <p:ext uri="{BB962C8B-B14F-4D97-AF65-F5344CB8AC3E}">
        <p14:creationId xmlns:p14="http://schemas.microsoft.com/office/powerpoint/2010/main" val="11056386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ython 中的型別與物件">
            <a:extLst xmlns:a="http://schemas.openxmlformats.org/drawingml/2006/main">
              <a:ext uri="{FF2B5EF4-FFF2-40B4-BE49-F238E27FC236}">
                <a16:creationId xmlns:a16="http://schemas.microsoft.com/office/drawing/2014/main" id="{EFCDD2F4-2D63-4AF4-8EE0-543526A0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Python 中的型別與物件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0CC2CF2D-8905-48C6-8694-6CB470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物件模型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99800AC0-E4A5-4BE1-9973-81630118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BFFA977-77B8-4A09-8BAE-19C960A3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pass">
            <a:extLst xmlns:a="http://schemas.openxmlformats.org/drawingml/2006/main">
              <a:ext uri="{FF2B5EF4-FFF2-40B4-BE49-F238E27FC236}">
                <a16:creationId xmlns:a16="http://schemas.microsoft.com/office/drawing/2014/main" id="{D7C0D401-8013-4037-A084-8E067C6A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4E734-475A-4B7F-8348-FE6D4C0E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my = Student()">
            <a:extLst xmlns:a="http://schemas.openxmlformats.org/drawingml/2006/main">
              <a:ext uri="{FF2B5EF4-FFF2-40B4-BE49-F238E27FC236}">
                <a16:creationId xmlns:a16="http://schemas.microsoft.com/office/drawing/2014/main" id="{850A0184-C44A-4443-87C7-FCAE3F80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0225D-30C6-453E-BE27-B5920B5C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type(amy).__name__)">
            <a:extLst xmlns:a="http://schemas.openxmlformats.org/drawingml/2006/main">
              <a:ext uri="{FF2B5EF4-FFF2-40B4-BE49-F238E27FC236}">
                <a16:creationId xmlns:a16="http://schemas.microsoft.com/office/drawing/2014/main" id="{20342CDB-2A1D-4B4B-B335-5C774D3C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print(type(amy).__name__)</a:t>
            </a:r>
          </a:p>
        </p:txBody>
      </p:sp>
      <p:sp>
        <p:nvSpPr>
          <p:cNvPr id="10" name="print(isinstance(amy, Student))">
            <a:extLst xmlns:a="http://schemas.openxmlformats.org/drawingml/2006/main">
              <a:ext uri="{FF2B5EF4-FFF2-40B4-BE49-F238E27FC236}">
                <a16:creationId xmlns:a16="http://schemas.microsoft.com/office/drawing/2014/main" id="{E6716A50-5B77-4510-8272-E99F278C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print(isinstance(amy, Student))</a:t>
            </a:r>
          </a:p>
        </p:txBody>
      </p:sp>
      <p:sp>
        <p:nvSpPr>
          <p:cNvPr id="11" name="print(type(Student).__name__)">
            <a:extLst xmlns:a="http://schemas.openxmlformats.org/drawingml/2006/main">
              <a:ext uri="{FF2B5EF4-FFF2-40B4-BE49-F238E27FC236}">
                <a16:creationId xmlns:a16="http://schemas.microsoft.com/office/drawing/2014/main" id="{D1715514-19B7-4B1E-ACF1-2F3A6D8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print(type(Student).__name__)</a:t>
            </a:r>
          </a:p>
        </p:txBody>
      </p:sp>
      <p:sp>
        <p:nvSpPr>
          <p:cNvPr id="12" name="print(isinstance(Student, type))">
            <a:extLst xmlns:a="http://schemas.openxmlformats.org/drawingml/2006/main">
              <a:ext uri="{FF2B5EF4-FFF2-40B4-BE49-F238E27FC236}">
                <a16:creationId xmlns:a16="http://schemas.microsoft.com/office/drawing/2014/main" id="{87908A45-38B5-4393-A4C7-6855899E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print(isinstance(Student, type))</a:t>
            </a:r>
          </a:p>
        </p:txBody>
      </p:sp>
      <p:sp>
        <p:nvSpPr>
          <p:cNvPr id="13" name="Student 也是物件">
            <a:extLst xmlns:a="http://schemas.openxmlformats.org/drawingml/2006/main">
              <a:ext uri="{FF2B5EF4-FFF2-40B4-BE49-F238E27FC236}">
                <a16:creationId xmlns:a16="http://schemas.microsoft.com/office/drawing/2014/main" id="{58DD25F3-3206-439B-843D-DCDC7EE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Student 也是物件</a:t>
            </a:r>
          </a:p>
        </p:txBody>
      </p:sp>
      <p:sp>
        <p:nvSpPr>
          <p:cNvPr id="14" name="在一般類別定義中， Student 的型別是 type。">
            <a:extLst xmlns:a="http://schemas.openxmlformats.org/drawingml/2006/main">
              <a:ext uri="{FF2B5EF4-FFF2-40B4-BE49-F238E27FC236}">
                <a16:creationId xmlns:a16="http://schemas.microsoft.com/office/drawing/2014/main" id="{5FE8D106-D1FD-4A1A-995B-FAED7A6A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在一般類別定義中，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Student 的型別是 type。</a:t>
            </a:r>
          </a:p>
        </p:txBody>
      </p:sp>
      <p:sp>
        <p:nvSpPr>
          <p:cNvPr id="15" name="型別決定可用操作">
            <a:extLst xmlns:a="http://schemas.openxmlformats.org/drawingml/2006/main">
              <a:ext uri="{FF2B5EF4-FFF2-40B4-BE49-F238E27FC236}">
                <a16:creationId xmlns:a16="http://schemas.microsoft.com/office/drawing/2014/main" id="{9702DC08-7C42-4699-932F-926751C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型別決定可用操作</a:t>
            </a:r>
          </a:p>
        </p:txBody>
      </p:sp>
      <p:sp>
        <p:nvSpPr>
          <p:cNvPr id="16" name="type 取得實際型別。 isinstance 也考慮繼承關係。">
            <a:extLst xmlns:a="http://schemas.openxmlformats.org/drawingml/2006/main">
              <a:ext uri="{FF2B5EF4-FFF2-40B4-BE49-F238E27FC236}">
                <a16:creationId xmlns:a16="http://schemas.microsoft.com/office/drawing/2014/main" id="{8ADFED43-8F02-4DB4-9CCB-77284BAB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type 取得實際型別。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isinstance 也考慮繼承關係。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7EB54C0-68D7-4E9A-BA8D-B8BB12AC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Student    True    type    True">
            <a:extLst xmlns:a="http://schemas.openxmlformats.org/drawingml/2006/main">
              <a:ext uri="{FF2B5EF4-FFF2-40B4-BE49-F238E27FC236}">
                <a16:creationId xmlns:a16="http://schemas.microsoft.com/office/drawing/2014/main" id="{6E87FA0D-3AD6-4198-BDF1-B0AA4973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    True    type    True</a:t>
            </a:r>
          </a:p>
        </p:txBody>
      </p:sp>
    </p:spTree>
    <p:extLst>
      <p:ext uri="{BB962C8B-B14F-4D97-AF65-F5344CB8AC3E}">
        <p14:creationId xmlns:p14="http://schemas.microsoft.com/office/powerpoint/2010/main" val="879024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資料與行為的責任歸屬">
            <a:extLst xmlns:a="http://schemas.openxmlformats.org/drawingml/2006/main">
              <a:ext uri="{FF2B5EF4-FFF2-40B4-BE49-F238E27FC236}">
                <a16:creationId xmlns:a16="http://schemas.microsoft.com/office/drawing/2014/main" id="{F75D47BD-CC47-433E-9903-A1A029C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資料與行為的責任歸屬</a:t>
            </a:r>
          </a:p>
        </p:txBody>
      </p:sp>
      <p:sp>
        <p:nvSpPr>
          <p:cNvPr id="2" name="物件模型">
            <a:extLst xmlns:a="http://schemas.openxmlformats.org/drawingml/2006/main">
              <a:ext uri="{FF2B5EF4-FFF2-40B4-BE49-F238E27FC236}">
                <a16:creationId xmlns:a16="http://schemas.microsoft.com/office/drawing/2014/main" id="{D0062EC0-B9BC-4B49-A625-96B23EA6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物件模型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2C3CF6B0-2DCC-44B4-B2F6-9E5FB4D7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字典與函式">
            <a:extLst xmlns:a="http://schemas.openxmlformats.org/drawingml/2006/main">
              <a:ext uri="{FF2B5EF4-FFF2-40B4-BE49-F238E27FC236}">
                <a16:creationId xmlns:a16="http://schemas.microsoft.com/office/drawing/2014/main" id="{08C7D678-6EB7-4C16-86C6-11BE25EA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字典與函式</a:t>
            </a:r>
          </a:p>
        </p:txBody>
      </p:sp>
      <p:sp>
        <p:nvSpPr>
          <p:cNvPr id="5" name="適合簡單資料與獨立轉換">
            <a:extLst xmlns:a="http://schemas.openxmlformats.org/drawingml/2006/main">
              <a:ext uri="{FF2B5EF4-FFF2-40B4-BE49-F238E27FC236}">
                <a16:creationId xmlns:a16="http://schemas.microsoft.com/office/drawing/2014/main" id="{B9D8096A-F9AA-4DF8-B811-3256DDC2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適合簡單資料與獨立轉換</a:t>
            </a:r>
          </a:p>
        </p:txBody>
      </p:sp>
      <p:sp>
        <p:nvSpPr>
          <p:cNvPr id="6" name="類別與方法">
            <a:extLst xmlns:a="http://schemas.openxmlformats.org/drawingml/2006/main">
              <a:ext uri="{FF2B5EF4-FFF2-40B4-BE49-F238E27FC236}">
                <a16:creationId xmlns:a16="http://schemas.microsoft.com/office/drawing/2014/main" id="{5E129534-8953-4A67-8D95-E6F795F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類別與方法</a:t>
            </a:r>
          </a:p>
        </p:txBody>
      </p:sp>
      <p:sp>
        <p:nvSpPr>
          <p:cNvPr id="7" name="適合需要持續狀態與相關操作的對象">
            <a:extLst xmlns:a="http://schemas.openxmlformats.org/drawingml/2006/main">
              <a:ext uri="{FF2B5EF4-FFF2-40B4-BE49-F238E27FC236}">
                <a16:creationId xmlns:a16="http://schemas.microsoft.com/office/drawing/2014/main" id="{7DFF640D-ED12-452B-A6C3-0C1E8BF6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適合需要持續狀態與相關操作的對象</a:t>
            </a:r>
          </a:p>
        </p:txBody>
      </p:sp>
      <p:sp>
        <p:nvSpPr>
          <p:cNvPr id="8" name="Student 範例">
            <a:extLst xmlns:a="http://schemas.openxmlformats.org/drawingml/2006/main">
              <a:ext uri="{FF2B5EF4-FFF2-40B4-BE49-F238E27FC236}">
                <a16:creationId xmlns:a16="http://schemas.microsoft.com/office/drawing/2014/main" id="{2DD97482-B8E1-4DA3-A3F8-5B6E1B62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Student 範例</a:t>
            </a:r>
          </a:p>
        </p:txBody>
      </p:sp>
      <p:sp>
        <p:nvSpPr>
          <p:cNvPr id="9" name="學號與姓名屬於學生，rename 更新姓名">
            <a:extLst xmlns:a="http://schemas.openxmlformats.org/drawingml/2006/main">
              <a:ext uri="{FF2B5EF4-FFF2-40B4-BE49-F238E27FC236}">
                <a16:creationId xmlns:a16="http://schemas.microsoft.com/office/drawing/2014/main" id="{C76FE531-4647-4F44-8BD0-8A069728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學號與姓名屬於學生，rename 更新姓名</a:t>
            </a:r>
          </a:p>
        </p:txBody>
      </p:sp>
      <p:sp>
        <p:nvSpPr>
          <p:cNvPr id="10" name="設計判斷">
            <a:extLst xmlns:a="http://schemas.openxmlformats.org/drawingml/2006/main">
              <a:ext uri="{FF2B5EF4-FFF2-40B4-BE49-F238E27FC236}">
                <a16:creationId xmlns:a16="http://schemas.microsoft.com/office/drawing/2014/main" id="{62C5740D-2EC6-4946-BC06-90F1CE72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設計判斷</a:t>
            </a:r>
          </a:p>
        </p:txBody>
      </p:sp>
      <p:sp>
        <p:nvSpPr>
          <p:cNvPr id="11" name="同一份狀態的規則是否散落在不同地方？">
            <a:extLst xmlns:a="http://schemas.openxmlformats.org/drawingml/2006/main">
              <a:ext uri="{FF2B5EF4-FFF2-40B4-BE49-F238E27FC236}">
                <a16:creationId xmlns:a16="http://schemas.microsoft.com/office/drawing/2014/main" id="{8D23748B-33DF-4105-8C3C-6BA76048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同一份狀態的規則是否散落在不同地方？</a:t>
            </a:r>
          </a:p>
        </p:txBody>
      </p:sp>
      <p:sp>
        <p:nvSpPr>
          <p:cNvPr id="12" name="選擇類別應有具體需求，不必把所有函式包進 class。">
            <a:extLst xmlns:a="http://schemas.openxmlformats.org/drawingml/2006/main">
              <a:ext uri="{FF2B5EF4-FFF2-40B4-BE49-F238E27FC236}">
                <a16:creationId xmlns:a16="http://schemas.microsoft.com/office/drawing/2014/main" id="{7FDDFECC-6D0F-406C-A851-22730D4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選擇類別應有具體需求，不必把所有函式包進 class。</a:t>
            </a:r>
          </a:p>
        </p:txBody>
      </p:sp>
    </p:spTree>
    <p:extLst>
      <p:ext uri="{BB962C8B-B14F-4D97-AF65-F5344CB8AC3E}">
        <p14:creationId xmlns:p14="http://schemas.microsoft.com/office/powerpoint/2010/main" val="5121466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第一個 Student 類別">
            <a:extLst xmlns:a="http://schemas.openxmlformats.org/drawingml/2006/main">
              <a:ext uri="{FF2B5EF4-FFF2-40B4-BE49-F238E27FC236}">
                <a16:creationId xmlns:a16="http://schemas.microsoft.com/office/drawing/2014/main" id="{4D34682A-59F8-4E7F-9A8A-47877A96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第一個 Student 類別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16B13020-D061-4D35-96EB-E90CE0F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建立物件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A76A8B06-A749-4879-A859-2632806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687B3C5-2928-40EC-8E5E-C8327542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D3F21134-3C77-4F19-8BD1-41FE8FA2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B17F251F-691E-408A-82C6-F1BB101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D36F583D-804B-4A9C-8C7A-89B56A3C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824CB-C81A-409D-AFD7-FBE9CFB2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rename(self, new_name):">
            <a:extLst xmlns:a="http://schemas.openxmlformats.org/drawingml/2006/main">
              <a:ext uri="{FF2B5EF4-FFF2-40B4-BE49-F238E27FC236}">
                <a16:creationId xmlns:a16="http://schemas.microsoft.com/office/drawing/2014/main" id="{44A523F5-DB0C-4913-8188-806633AA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rename(self, new_name):</a:t>
            </a:r>
          </a:p>
        </p:txBody>
      </p:sp>
      <p:sp>
        <p:nvSpPr>
          <p:cNvPr id="10" name="        self.name = new_name">
            <a:extLst xmlns:a="http://schemas.openxmlformats.org/drawingml/2006/main">
              <a:ext uri="{FF2B5EF4-FFF2-40B4-BE49-F238E27FC236}">
                <a16:creationId xmlns:a16="http://schemas.microsoft.com/office/drawing/2014/main" id="{75B47104-EBBC-42CB-AC73-570235DF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new_name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3C7D4-1B8F-43EF-8691-C56E1C28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my = Student(&quot;B11501&quot;, &quot;Amy&quot;)">
            <a:extLst xmlns:a="http://schemas.openxmlformats.org/drawingml/2006/main">
              <a:ext uri="{FF2B5EF4-FFF2-40B4-BE49-F238E27FC236}">
                <a16:creationId xmlns:a16="http://schemas.microsoft.com/office/drawing/2014/main" id="{5972E56D-E6DE-4FF2-9C7E-57A127B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Student("B11501", "Amy")</a:t>
            </a:r>
          </a:p>
        </p:txBody>
      </p:sp>
      <p:sp>
        <p:nvSpPr>
          <p:cNvPr id="13" name="amy.rename(&quot;Amy Chen&quot;)">
            <a:extLst xmlns:a="http://schemas.openxmlformats.org/drawingml/2006/main">
              <a:ext uri="{FF2B5EF4-FFF2-40B4-BE49-F238E27FC236}">
                <a16:creationId xmlns:a16="http://schemas.microsoft.com/office/drawing/2014/main" id="{B2BFB5CC-5DDC-428D-ABD3-70256EFD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amy.rename("Amy Chen")</a:t>
            </a:r>
          </a:p>
        </p:txBody>
      </p:sp>
      <p:sp>
        <p:nvSpPr>
          <p:cNvPr id="14" name="print(amy.student_id, amy.name)">
            <a:extLst xmlns:a="http://schemas.openxmlformats.org/drawingml/2006/main">
              <a:ext uri="{FF2B5EF4-FFF2-40B4-BE49-F238E27FC236}">
                <a16:creationId xmlns:a16="http://schemas.microsoft.com/office/drawing/2014/main" id="{27114B3C-CC4F-4EF9-B355-7CAC4183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print(amy.student_id, amy.name)</a:t>
            </a:r>
          </a:p>
        </p:txBody>
      </p:sp>
      <p:sp>
        <p:nvSpPr>
          <p:cNvPr id="15" name="初始化實體資料">
            <a:extLst xmlns:a="http://schemas.openxmlformats.org/drawingml/2006/main">
              <a:ext uri="{FF2B5EF4-FFF2-40B4-BE49-F238E27FC236}">
                <a16:creationId xmlns:a16="http://schemas.microsoft.com/office/drawing/2014/main" id="{2E2E997D-2CAA-4F6F-8E65-0CA7D8EC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初始化實體資料</a:t>
            </a:r>
          </a:p>
        </p:txBody>
      </p:sp>
      <p:sp>
        <p:nvSpPr>
          <p:cNvPr id="16" name="每次建立學生時， 設定學號與姓名。">
            <a:extLst xmlns:a="http://schemas.openxmlformats.org/drawingml/2006/main">
              <a:ext uri="{FF2B5EF4-FFF2-40B4-BE49-F238E27FC236}">
                <a16:creationId xmlns:a16="http://schemas.microsoft.com/office/drawing/2014/main" id="{B6D9D391-41C4-4A81-B1F2-1D3FA1F7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每次建立學生時，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設定學號與姓名。</a:t>
            </a:r>
          </a:p>
        </p:txBody>
      </p:sp>
      <p:sp>
        <p:nvSpPr>
          <p:cNvPr id="17" name="方法操作實體狀態">
            <a:extLst xmlns:a="http://schemas.openxmlformats.org/drawingml/2006/main">
              <a:ext uri="{FF2B5EF4-FFF2-40B4-BE49-F238E27FC236}">
                <a16:creationId xmlns:a16="http://schemas.microsoft.com/office/drawing/2014/main" id="{99945FFB-45C0-43F1-98BD-50BFB421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方法操作實體狀態</a:t>
            </a:r>
          </a:p>
        </p:txBody>
      </p:sp>
      <p:sp>
        <p:nvSpPr>
          <p:cNvPr id="18" name="rename 修改接收呼叫的學生。 此例尚未加入姓名驗證。">
            <a:extLst xmlns:a="http://schemas.openxmlformats.org/drawingml/2006/main">
              <a:ext uri="{FF2B5EF4-FFF2-40B4-BE49-F238E27FC236}">
                <a16:creationId xmlns:a16="http://schemas.microsoft.com/office/drawing/2014/main" id="{BEEE688F-E1FC-4618-9792-67871036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rename 修改接收呼叫的學生。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此例尚未加入姓名驗證。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25BDDFF-8048-49E9-A8AA-08FF42A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B11501 Amy Chen">
            <a:extLst xmlns:a="http://schemas.openxmlformats.org/drawingml/2006/main">
              <a:ext uri="{FF2B5EF4-FFF2-40B4-BE49-F238E27FC236}">
                <a16:creationId xmlns:a16="http://schemas.microsoft.com/office/drawing/2014/main" id="{7029C693-D549-42A3-9B8C-5AADAF3F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B11501 Amy Chen</a:t>
            </a:r>
          </a:p>
        </p:txBody>
      </p:sp>
    </p:spTree>
    <p:extLst>
      <p:ext uri="{BB962C8B-B14F-4D97-AF65-F5344CB8AC3E}">
        <p14:creationId xmlns:p14="http://schemas.microsoft.com/office/powerpoint/2010/main" val="1482819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建立與初始化是不同階段">
            <a:extLst xmlns:a="http://schemas.openxmlformats.org/drawingml/2006/main">
              <a:ext uri="{FF2B5EF4-FFF2-40B4-BE49-F238E27FC236}">
                <a16:creationId xmlns:a16="http://schemas.microsoft.com/office/drawing/2014/main" id="{081F039C-67D7-4866-825F-762261AB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建立與初始化是不同階段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68326492-C61A-4010-9604-5B855032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建立物件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8523D436-6F1B-4C55-B5E2-7D586EFA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3667125"/>
                <a:gridCol w="5114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常見機制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責任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呼叫類別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Student(...)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啟動一般的實體建立流程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建立物件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__new__(cls, ...)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回傳建立的物件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初始化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__init__(self, ...)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設定已建立物件的初始狀態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取得實體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amy = Student(...)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將結果綁定給外部名稱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一般業務類別通常只需要定義 __init__，不必自訂 __new__。">
            <a:extLst xmlns:a="http://schemas.openxmlformats.org/drawingml/2006/main">
              <a:ext uri="{FF2B5EF4-FFF2-40B4-BE49-F238E27FC236}">
                <a16:creationId xmlns:a16="http://schemas.microsoft.com/office/drawing/2014/main" id="{97228CCD-03A4-46AD-80AD-C16F54F6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一般業務類別通常只需要定義 __init__，不必自訂 __new__。</a:t>
            </a:r>
          </a:p>
        </p:txBody>
      </p:sp>
    </p:spTree>
    <p:extLst>
      <p:ext uri="{BB962C8B-B14F-4D97-AF65-F5344CB8AC3E}">
        <p14:creationId xmlns:p14="http://schemas.microsoft.com/office/powerpoint/2010/main" val="7080473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__new__ 與 __init__ 的執行順序">
            <a:extLst xmlns:a="http://schemas.openxmlformats.org/drawingml/2006/main">
              <a:ext uri="{FF2B5EF4-FFF2-40B4-BE49-F238E27FC236}">
                <a16:creationId xmlns:a16="http://schemas.microsoft.com/office/drawing/2014/main" id="{864022E0-57C3-4CA1-8924-09004DEA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__new__ 與 __init__ 的執行順序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EBB253C3-F5F8-4267-B3A2-0E1CCD9C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建立物件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04393ED2-576C-4E4C-B5FC-C43787C5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class Item:">
            <a:extLst xmlns:a="http://schemas.openxmlformats.org/drawingml/2006/main">
              <a:ext uri="{FF2B5EF4-FFF2-40B4-BE49-F238E27FC236}">
                <a16:creationId xmlns:a16="http://schemas.microsoft.com/office/drawing/2014/main" id="{8F472490-77CE-44BB-912A-08779FBF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Item:</a:t>
            </a:r>
          </a:p>
        </p:txBody>
      </p:sp>
      <p:sp>
        <p:nvSpPr>
          <p:cNvPr id="5" name="    def __new__(cls, name):">
            <a:extLst xmlns:a="http://schemas.openxmlformats.org/drawingml/2006/main">
              <a:ext uri="{FF2B5EF4-FFF2-40B4-BE49-F238E27FC236}">
                <a16:creationId xmlns:a16="http://schemas.microsoft.com/office/drawing/2014/main" id="{905C1389-1814-44E2-A1E6-14DFCF05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__new__(cls, name):</a:t>
            </a:r>
          </a:p>
        </p:txBody>
      </p:sp>
      <p:sp>
        <p:nvSpPr>
          <p:cNvPr id="6" name="        print(&quot;new&quot;)">
            <a:extLst xmlns:a="http://schemas.openxmlformats.org/drawingml/2006/main">
              <a:ext uri="{FF2B5EF4-FFF2-40B4-BE49-F238E27FC236}">
                <a16:creationId xmlns:a16="http://schemas.microsoft.com/office/drawing/2014/main" id="{3A73F1BF-67BA-45A9-8005-7EBFF912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print("new")</a:t>
            </a:r>
          </a:p>
        </p:txBody>
      </p:sp>
      <p:sp>
        <p:nvSpPr>
          <p:cNvPr id="7" name="        return super().__new__(cls)">
            <a:extLst xmlns:a="http://schemas.openxmlformats.org/drawingml/2006/main">
              <a:ext uri="{FF2B5EF4-FFF2-40B4-BE49-F238E27FC236}">
                <a16:creationId xmlns:a16="http://schemas.microsoft.com/office/drawing/2014/main" id="{57EB91F7-44EE-495D-91F2-47AA295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super().__new__(cls)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5345E-228C-4EC8-A8E0-94C47A96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06531BE3-FA3D-4699-B7CD-8A8824E6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10" name="        print(&quot;init&quot;)">
            <a:extLst xmlns:a="http://schemas.openxmlformats.org/drawingml/2006/main">
              <a:ext uri="{FF2B5EF4-FFF2-40B4-BE49-F238E27FC236}">
                <a16:creationId xmlns:a16="http://schemas.microsoft.com/office/drawing/2014/main" id="{A167A3F2-812F-4B7F-B6A0-E02FF57B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print("init")</a:t>
            </a:r>
          </a:p>
        </p:txBody>
      </p:sp>
      <p:sp>
        <p:nvSpPr>
          <p:cNvPr id="11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3240605F-B424-43B8-B89D-2E7B4924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B36B9-2869-4983-8204-E572788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item = Item(&quot;Book&quot;)">
            <a:extLst xmlns:a="http://schemas.openxmlformats.org/drawingml/2006/main">
              <a:ext uri="{FF2B5EF4-FFF2-40B4-BE49-F238E27FC236}">
                <a16:creationId xmlns:a16="http://schemas.microsoft.com/office/drawing/2014/main" id="{87A1A9AF-6451-437C-8826-2DB084F5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 = Item("Book")</a:t>
            </a:r>
          </a:p>
        </p:txBody>
      </p:sp>
      <p:sp>
        <p:nvSpPr>
          <p:cNvPr id="14" name="print(item.name)">
            <a:extLst xmlns:a="http://schemas.openxmlformats.org/drawingml/2006/main">
              <a:ext uri="{FF2B5EF4-FFF2-40B4-BE49-F238E27FC236}">
                <a16:creationId xmlns:a16="http://schemas.microsoft.com/office/drawing/2014/main" id="{B3871BE0-9D73-4ABE-B481-E1C52127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print(item.name)</a:t>
            </a:r>
          </a:p>
        </p:txBody>
      </p:sp>
      <p:sp>
        <p:nvSpPr>
          <p:cNvPr id="15" name="先建立，再初始化">
            <a:extLst xmlns:a="http://schemas.openxmlformats.org/drawingml/2006/main">
              <a:ext uri="{FF2B5EF4-FFF2-40B4-BE49-F238E27FC236}">
                <a16:creationId xmlns:a16="http://schemas.microsoft.com/office/drawing/2014/main" id="{6F565872-24C4-4826-9E66-3AE5CF5F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先建立，再初始化</a:t>
            </a:r>
          </a:p>
        </p:txBody>
      </p:sp>
      <p:sp>
        <p:nvSpPr>
          <p:cNvPr id="16" name="__new__ 收到類別 cls。 __init__ 收到實體 self。">
            <a:extLst xmlns:a="http://schemas.openxmlformats.org/drawingml/2006/main">
              <a:ext uri="{FF2B5EF4-FFF2-40B4-BE49-F238E27FC236}">
                <a16:creationId xmlns:a16="http://schemas.microsoft.com/office/drawing/2014/main" id="{0F7D5CEA-31EE-40E0-A79C-D923AEB2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__new__ 收到類別 cls。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__init__ 收到實體 self。</a:t>
            </a:r>
          </a:p>
        </p:txBody>
      </p:sp>
      <p:sp>
        <p:nvSpPr>
          <p:cNvPr id="17" name="示範執行流程">
            <a:extLst xmlns:a="http://schemas.openxmlformats.org/drawingml/2006/main">
              <a:ext uri="{FF2B5EF4-FFF2-40B4-BE49-F238E27FC236}">
                <a16:creationId xmlns:a16="http://schemas.microsoft.com/office/drawing/2014/main" id="{02707221-5495-4924-ABE6-C6CBC149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示範執行流程</a:t>
            </a:r>
          </a:p>
        </p:txBody>
      </p:sp>
      <p:sp>
        <p:nvSpPr>
          <p:cNvPr id="18" name="super().__new__ 建立實體。 一般情況不需要覆寫此方法。">
            <a:extLst xmlns:a="http://schemas.openxmlformats.org/drawingml/2006/main">
              <a:ext uri="{FF2B5EF4-FFF2-40B4-BE49-F238E27FC236}">
                <a16:creationId xmlns:a16="http://schemas.microsoft.com/office/drawing/2014/main" id="{44BBE579-7D19-42FE-B872-BCC5FBDA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super().__new__ 建立實體。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一般情況不需要覆寫此方法。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9040C52-A97E-4D89-BFE1-619F539F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new    init    Book">
            <a:extLst xmlns:a="http://schemas.openxmlformats.org/drawingml/2006/main">
              <a:ext uri="{FF2B5EF4-FFF2-40B4-BE49-F238E27FC236}">
                <a16:creationId xmlns:a16="http://schemas.microsoft.com/office/drawing/2014/main" id="{46D43FA4-C962-47D8-91DC-A8FE83FE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new    init    Book</a:t>
            </a:r>
          </a:p>
        </p:txBody>
      </p:sp>
    </p:spTree>
    <p:extLst>
      <p:ext uri="{BB962C8B-B14F-4D97-AF65-F5344CB8AC3E}">
        <p14:creationId xmlns:p14="http://schemas.microsoft.com/office/powerpoint/2010/main" val="15357899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lf 與繫結方法">
            <a:extLst xmlns:a="http://schemas.openxmlformats.org/drawingml/2006/main">
              <a:ext uri="{FF2B5EF4-FFF2-40B4-BE49-F238E27FC236}">
                <a16:creationId xmlns:a16="http://schemas.microsoft.com/office/drawing/2014/main" id="{0E24B6FE-9F81-4116-BC17-B3590570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 與繫結方法</a:t>
            </a:r>
          </a:p>
        </p:txBody>
      </p:sp>
      <p:sp>
        <p:nvSpPr>
          <p:cNvPr id="2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DE44B708-D97C-438E-A44C-114EC4D0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建立物件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D624CE8A-993C-434C-894F-9C669D10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class Counter:">
            <a:extLst xmlns:a="http://schemas.openxmlformats.org/drawingml/2006/main">
              <a:ext uri="{FF2B5EF4-FFF2-40B4-BE49-F238E27FC236}">
                <a16:creationId xmlns:a16="http://schemas.microsoft.com/office/drawing/2014/main" id="{76AA4D44-C8A9-41BA-BF84-A34C7FB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Counter:</a:t>
            </a:r>
          </a:p>
        </p:txBody>
      </p:sp>
      <p:sp>
        <p:nvSpPr>
          <p:cNvPr id="5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F5730EEF-3C9A-4224-A1B6-A97EA07D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6" name="        self.value = 0">
            <a:extLst xmlns:a="http://schemas.openxmlformats.org/drawingml/2006/main">
              <a:ext uri="{FF2B5EF4-FFF2-40B4-BE49-F238E27FC236}">
                <a16:creationId xmlns:a16="http://schemas.microsoft.com/office/drawing/2014/main" id="{C4DB2B9D-5BB1-43EC-BF0C-421842D4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self.value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EF9F85-C4F1-4449-AA01-7C972443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add(self, amount):">
            <a:extLst xmlns:a="http://schemas.openxmlformats.org/drawingml/2006/main">
              <a:ext uri="{FF2B5EF4-FFF2-40B4-BE49-F238E27FC236}">
                <a16:creationId xmlns:a16="http://schemas.microsoft.com/office/drawing/2014/main" id="{2E75C16A-BFA0-4DC5-9590-4986357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add(self, amount):</a:t>
            </a:r>
          </a:p>
        </p:txBody>
      </p:sp>
      <p:sp>
        <p:nvSpPr>
          <p:cNvPr id="9" name="        self.value += amount">
            <a:extLst xmlns:a="http://schemas.openxmlformats.org/drawingml/2006/main">
              <a:ext uri="{FF2B5EF4-FFF2-40B4-BE49-F238E27FC236}">
                <a16:creationId xmlns:a16="http://schemas.microsoft.com/office/drawing/2014/main" id="{0FEF82E2-1284-4C20-A2FE-95E33E6A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self.value += amount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848A4-5C7D-44F9-93D9-19DD882A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c = Counter()">
            <a:extLst xmlns:a="http://schemas.openxmlformats.org/drawingml/2006/main">
              <a:ext uri="{FF2B5EF4-FFF2-40B4-BE49-F238E27FC236}">
                <a16:creationId xmlns:a16="http://schemas.microsoft.com/office/drawing/2014/main" id="{78D066AF-6F45-44C1-A2DD-22BE8674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 = Counter()</a:t>
            </a:r>
          </a:p>
        </p:txBody>
      </p:sp>
      <p:sp>
        <p:nvSpPr>
          <p:cNvPr id="12" name="c.add(2)">
            <a:extLst xmlns:a="http://schemas.openxmlformats.org/drawingml/2006/main">
              <a:ext uri="{FF2B5EF4-FFF2-40B4-BE49-F238E27FC236}">
                <a16:creationId xmlns:a16="http://schemas.microsoft.com/office/drawing/2014/main" id="{FC371BA6-4E19-4544-8C55-787D5A72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c.add(2)</a:t>
            </a:r>
          </a:p>
        </p:txBody>
      </p:sp>
      <p:sp>
        <p:nvSpPr>
          <p:cNvPr id="13" name="Counter.add(c, 3)">
            <a:extLst xmlns:a="http://schemas.openxmlformats.org/drawingml/2006/main">
              <a:ext uri="{FF2B5EF4-FFF2-40B4-BE49-F238E27FC236}">
                <a16:creationId xmlns:a16="http://schemas.microsoft.com/office/drawing/2014/main" id="{C07B49B0-61F1-4072-B7E3-E165B20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Counter.add(c, 3)</a:t>
            </a:r>
          </a:p>
        </p:txBody>
      </p:sp>
      <p:sp>
        <p:nvSpPr>
          <p:cNvPr id="14" name="print(c.value)">
            <a:extLst xmlns:a="http://schemas.openxmlformats.org/drawingml/2006/main">
              <a:ext uri="{FF2B5EF4-FFF2-40B4-BE49-F238E27FC236}">
                <a16:creationId xmlns:a16="http://schemas.microsoft.com/office/drawing/2014/main" id="{7C81927C-CFF9-48BC-9B02-26821CB5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print(c.value)</a:t>
            </a:r>
          </a:p>
        </p:txBody>
      </p:sp>
      <p:sp>
        <p:nvSpPr>
          <p:cNvPr id="15" name="print(c.add.__self__ is c)">
            <a:extLst xmlns:a="http://schemas.openxmlformats.org/drawingml/2006/main">
              <a:ext uri="{FF2B5EF4-FFF2-40B4-BE49-F238E27FC236}">
                <a16:creationId xmlns:a16="http://schemas.microsoft.com/office/drawing/2014/main" id="{326CD91C-773B-42C0-B623-761424F2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print(c.add.__self__ is c)</a:t>
            </a:r>
          </a:p>
        </p:txBody>
      </p:sp>
      <p:sp>
        <p:nvSpPr>
          <p:cNvPr id="16" name="實體呼叫自動傳入 self">
            <a:extLst xmlns:a="http://schemas.openxmlformats.org/drawingml/2006/main">
              <a:ext uri="{FF2B5EF4-FFF2-40B4-BE49-F238E27FC236}">
                <a16:creationId xmlns:a16="http://schemas.microsoft.com/office/drawing/2014/main" id="{180313DD-7066-46CE-8E20-8573F20C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實體呼叫自動傳入 self</a:t>
            </a:r>
          </a:p>
        </p:txBody>
      </p:sp>
      <p:sp>
        <p:nvSpPr>
          <p:cNvPr id="17" name="c.add(2) 將 c 當作 方法的第一個參數。">
            <a:extLst xmlns:a="http://schemas.openxmlformats.org/drawingml/2006/main">
              <a:ext uri="{FF2B5EF4-FFF2-40B4-BE49-F238E27FC236}">
                <a16:creationId xmlns:a16="http://schemas.microsoft.com/office/drawing/2014/main" id="{BA34D003-6D6D-488D-94D1-6DF70380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c.add(2) 將 c 當作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方法的第一個參數。</a:t>
            </a:r>
          </a:p>
        </p:txBody>
      </p:sp>
      <p:sp>
        <p:nvSpPr>
          <p:cNvPr id="18" name="self 是慣用參數名稱">
            <a:extLst xmlns:a="http://schemas.openxmlformats.org/drawingml/2006/main">
              <a:ext uri="{FF2B5EF4-FFF2-40B4-BE49-F238E27FC236}">
                <a16:creationId xmlns:a16="http://schemas.microsoft.com/office/drawing/2014/main" id="{ACAA1AA4-BF31-47D1-92AB-C3D489DD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self 是慣用參數名稱</a:t>
            </a:r>
          </a:p>
        </p:txBody>
      </p:sp>
      <p:sp>
        <p:nvSpPr>
          <p:cNvPr id="19" name="它不是 Python 關鍵字。 統一命名可提高可讀性。">
            <a:extLst xmlns:a="http://schemas.openxmlformats.org/drawingml/2006/main">
              <a:ext uri="{FF2B5EF4-FFF2-40B4-BE49-F238E27FC236}">
                <a16:creationId xmlns:a16="http://schemas.microsoft.com/office/drawing/2014/main" id="{87DD43D9-99FC-4496-B1FC-C6CB968B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它不是 Python 關鍵字。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統一命名可提高可讀性。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FD50965-7D91-4BE6-B97A-FE6136E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5    True">
            <a:extLst xmlns:a="http://schemas.openxmlformats.org/drawingml/2006/main">
              <a:ext uri="{FF2B5EF4-FFF2-40B4-BE49-F238E27FC236}">
                <a16:creationId xmlns:a16="http://schemas.microsoft.com/office/drawing/2014/main" id="{3FEC0920-D047-4E47-87FE-A09B082F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5    True</a:t>
            </a:r>
          </a:p>
        </p:txBody>
      </p:sp>
    </p:spTree>
    <p:extLst>
      <p:ext uri="{BB962C8B-B14F-4D97-AF65-F5344CB8AC3E}">
        <p14:creationId xmlns:p14="http://schemas.microsoft.com/office/powerpoint/2010/main" val="347645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區域變數與 self 屬性">
            <a:extLst xmlns:a="http://schemas.openxmlformats.org/drawingml/2006/main">
              <a:ext uri="{FF2B5EF4-FFF2-40B4-BE49-F238E27FC236}">
                <a16:creationId xmlns:a16="http://schemas.microsoft.com/office/drawing/2014/main" id="{EFCF0D30-F083-410B-929E-CEAB77B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區域變數與 self 屬性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4672DA3B-801F-488D-9A88-539E9555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實體資料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B43935F6-2816-4E70-A1CE-F44061BF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7D43116D-976A-4644-AD34-B36D8B8D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D40BAEE4-B620-4E8F-859D-C947987F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9EE96265-62D7-4121-B462-55A88BE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15EF5-BF20-4C92-91E2-9FD2FABD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rename(self, name):">
            <a:extLst xmlns:a="http://schemas.openxmlformats.org/drawingml/2006/main">
              <a:ext uri="{FF2B5EF4-FFF2-40B4-BE49-F238E27FC236}">
                <a16:creationId xmlns:a16="http://schemas.microsoft.com/office/drawing/2014/main" id="{4B2508AE-9AE1-413B-9EE8-927AEC84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rename(self, name):</a:t>
            </a:r>
          </a:p>
        </p:txBody>
      </p:sp>
      <p:sp>
        <p:nvSpPr>
          <p:cNvPr id="9" name="        old_name = self.name">
            <a:extLst xmlns:a="http://schemas.openxmlformats.org/drawingml/2006/main">
              <a:ext uri="{FF2B5EF4-FFF2-40B4-BE49-F238E27FC236}">
                <a16:creationId xmlns:a16="http://schemas.microsoft.com/office/drawing/2014/main" id="{BE73E65A-B34A-4B91-B0FC-0B06D8B9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old_name = self.name</a:t>
            </a:r>
          </a:p>
        </p:txBody>
      </p:sp>
      <p:sp>
        <p:nvSpPr>
          <p:cNvPr id="10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7A3281D9-3B6C-4205-AB36-E02C3DB7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1" name="        return old_name">
            <a:extLst xmlns:a="http://schemas.openxmlformats.org/drawingml/2006/main">
              <a:ext uri="{FF2B5EF4-FFF2-40B4-BE49-F238E27FC236}">
                <a16:creationId xmlns:a16="http://schemas.microsoft.com/office/drawing/2014/main" id="{C4B25016-7B77-439A-A478-C2A43FC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old_name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53672-9E74-4268-988E-54FF034B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5FA8F045-7EC6-4187-BE7D-24DAF83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4" name="print(amy.rename(&quot;Ann&quot;))">
            <a:extLst xmlns:a="http://schemas.openxmlformats.org/drawingml/2006/main">
              <a:ext uri="{FF2B5EF4-FFF2-40B4-BE49-F238E27FC236}">
                <a16:creationId xmlns:a16="http://schemas.microsoft.com/office/drawing/2014/main" id="{1794E2DD-BE7B-4F2B-B052-635BC515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print(amy.rename("Ann"))</a:t>
            </a:r>
          </a:p>
        </p:txBody>
      </p:sp>
      <p:sp>
        <p:nvSpPr>
          <p:cNvPr id="15" name="print(amy.name)">
            <a:extLst xmlns:a="http://schemas.openxmlformats.org/drawingml/2006/main">
              <a:ext uri="{FF2B5EF4-FFF2-40B4-BE49-F238E27FC236}">
                <a16:creationId xmlns:a16="http://schemas.microsoft.com/office/drawing/2014/main" id="{242287DE-E4FB-43F9-85D9-0B1F59DF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print(amy.name)</a:t>
            </a:r>
          </a:p>
        </p:txBody>
      </p:sp>
      <p:sp>
        <p:nvSpPr>
          <p:cNvPr id="16" name="print(hasattr(amy, &quot;old_name&quot;))">
            <a:extLst xmlns:a="http://schemas.openxmlformats.org/drawingml/2006/main">
              <a:ext uri="{FF2B5EF4-FFF2-40B4-BE49-F238E27FC236}">
                <a16:creationId xmlns:a16="http://schemas.microsoft.com/office/drawing/2014/main" id="{F002DC37-54FC-4B57-B23E-D3630EC5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print(hasattr(amy, "old_name"))</a:t>
            </a:r>
          </a:p>
        </p:txBody>
      </p:sp>
      <p:sp>
        <p:nvSpPr>
          <p:cNvPr id="17" name="name 是呼叫的區域名稱">
            <a:extLst xmlns:a="http://schemas.openxmlformats.org/drawingml/2006/main">
              <a:ext uri="{FF2B5EF4-FFF2-40B4-BE49-F238E27FC236}">
                <a16:creationId xmlns:a16="http://schemas.microsoft.com/office/drawing/2014/main" id="{41228F2C-6CDB-4BB2-8F56-419FACF9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name 是呼叫的區域名稱</a:t>
            </a:r>
          </a:p>
        </p:txBody>
      </p:sp>
      <p:sp>
        <p:nvSpPr>
          <p:cNvPr id="18" name="參數 name 與 self.name 位於不同的名稱空間。">
            <a:extLst xmlns:a="http://schemas.openxmlformats.org/drawingml/2006/main">
              <a:ext uri="{FF2B5EF4-FFF2-40B4-BE49-F238E27FC236}">
                <a16:creationId xmlns:a16="http://schemas.microsoft.com/office/drawing/2014/main" id="{FDA226C8-12CE-4D31-A40E-25C6D3B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參數 name 與 self.name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位於不同的名稱空間。</a:t>
            </a:r>
          </a:p>
        </p:txBody>
      </p:sp>
      <p:sp>
        <p:nvSpPr>
          <p:cNvPr id="19" name="self.name 保存實體狀態">
            <a:extLst xmlns:a="http://schemas.openxmlformats.org/drawingml/2006/main">
              <a:ext uri="{FF2B5EF4-FFF2-40B4-BE49-F238E27FC236}">
                <a16:creationId xmlns:a16="http://schemas.microsoft.com/office/drawing/2014/main" id="{CDE9D2AC-EE84-4452-A820-95C0E28F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self.name 保存實體狀態</a:t>
            </a:r>
          </a:p>
        </p:txBody>
      </p:sp>
      <p:sp>
        <p:nvSpPr>
          <p:cNvPr id="20" name="old_name 只是區域變數。 它不會自動成為物件屬性。">
            <a:extLst xmlns:a="http://schemas.openxmlformats.org/drawingml/2006/main">
              <a:ext uri="{FF2B5EF4-FFF2-40B4-BE49-F238E27FC236}">
                <a16:creationId xmlns:a16="http://schemas.microsoft.com/office/drawing/2014/main" id="{EB919345-3467-4EAC-8493-637D01CF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old_name 只是區域變數。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它不會自動成為物件屬性。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51CE3C7-8523-4548-8AE0-19D9DC1A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Amy    Ann    False">
            <a:extLst xmlns:a="http://schemas.openxmlformats.org/drawingml/2006/main">
              <a:ext uri="{FF2B5EF4-FFF2-40B4-BE49-F238E27FC236}">
                <a16:creationId xmlns:a16="http://schemas.microsoft.com/office/drawing/2014/main" id="{AB68D1D4-C79A-450B-BA0D-34EDC07D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   Ann    False</a:t>
            </a:r>
          </a:p>
        </p:txBody>
      </p:sp>
    </p:spTree>
    <p:extLst>
      <p:ext uri="{BB962C8B-B14F-4D97-AF65-F5344CB8AC3E}">
        <p14:creationId xmlns:p14="http://schemas.microsoft.com/office/powerpoint/2010/main" val="19344221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兩個實體，各自保存狀態">
            <a:extLst xmlns:a="http://schemas.openxmlformats.org/drawingml/2006/main">
              <a:ext uri="{FF2B5EF4-FFF2-40B4-BE49-F238E27FC236}">
                <a16:creationId xmlns:a16="http://schemas.microsoft.com/office/drawing/2014/main" id="{AC655911-9826-465F-9075-B491B36C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兩個實體，各自保存狀態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A40B83FD-2761-4D60-AE0E-C92680B5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實體資料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4F0FCDD7-CA8C-4E7C-ACCF-98CA4127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8BB3DDB9-1552-497E-825C-8C86874C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12F0428D-4754-46E6-90F4-77425661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8BACC78D-F1E7-4B26-B23E-A55678C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[]">
            <a:extLst xmlns:a="http://schemas.openxmlformats.org/drawingml/2006/main">
              <a:ext uri="{FF2B5EF4-FFF2-40B4-BE49-F238E27FC236}">
                <a16:creationId xmlns:a16="http://schemas.microsoft.com/office/drawing/2014/main" id="{B606BD5F-AC7B-4631-92BB-15F58895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1CF90-D13E-45B7-9FF5-A40B1B1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6577729F-85FA-4617-A02B-595C2238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0" name="bo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F2358275-B7B8-478D-99CC-7BC07F3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bob = Student("Bob")</a:t>
            </a:r>
          </a:p>
        </p:txBody>
      </p:sp>
      <p:sp>
        <p:nvSpPr>
          <p:cNvPr id="11" name="amy.course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CB39B9D5-8834-4505-9A9B-0B129DE4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amy.courses.append("Python")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A600A-07F3-4E11-9BA3-696602E3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amy.courses)">
            <a:extLst xmlns:a="http://schemas.openxmlformats.org/drawingml/2006/main">
              <a:ext uri="{FF2B5EF4-FFF2-40B4-BE49-F238E27FC236}">
                <a16:creationId xmlns:a16="http://schemas.microsoft.com/office/drawing/2014/main" id="{B4AA3E0E-8366-4E8E-892C-007BD7A7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print(amy.courses)</a:t>
            </a:r>
          </a:p>
        </p:txBody>
      </p:sp>
      <p:sp>
        <p:nvSpPr>
          <p:cNvPr id="14" name="print(bob.courses)">
            <a:extLst xmlns:a="http://schemas.openxmlformats.org/drawingml/2006/main">
              <a:ext uri="{FF2B5EF4-FFF2-40B4-BE49-F238E27FC236}">
                <a16:creationId xmlns:a16="http://schemas.microsoft.com/office/drawing/2014/main" id="{2EEFB410-7C58-4B56-8175-AC738E3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print(bob.courses)</a:t>
            </a:r>
          </a:p>
        </p:txBody>
      </p:sp>
      <p:sp>
        <p:nvSpPr>
          <p:cNvPr id="15" name="print(amy.courses is bob.courses)">
            <a:extLst xmlns:a="http://schemas.openxmlformats.org/drawingml/2006/main">
              <a:ext uri="{FF2B5EF4-FFF2-40B4-BE49-F238E27FC236}">
                <a16:creationId xmlns:a16="http://schemas.microsoft.com/office/drawing/2014/main" id="{D81AB0E7-EFEC-426A-9CD3-C072F671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 is bob.courses)</a:t>
            </a:r>
          </a:p>
        </p:txBody>
      </p:sp>
      <p:sp>
        <p:nvSpPr>
          <p:cNvPr id="16" name="每次初始化建立新 list">
            <a:extLst xmlns:a="http://schemas.openxmlformats.org/drawingml/2006/main">
              <a:ext uri="{FF2B5EF4-FFF2-40B4-BE49-F238E27FC236}">
                <a16:creationId xmlns:a16="http://schemas.microsoft.com/office/drawing/2014/main" id="{983F395B-5244-4C0F-8FCB-25FB178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每次初始化建立新 list</a:t>
            </a:r>
          </a:p>
        </p:txBody>
      </p:sp>
      <p:sp>
        <p:nvSpPr>
          <p:cNvPr id="17" name="[] 在每次呼叫 __init__ 時分別執行。">
            <a:extLst xmlns:a="http://schemas.openxmlformats.org/drawingml/2006/main">
              <a:ext uri="{FF2B5EF4-FFF2-40B4-BE49-F238E27FC236}">
                <a16:creationId xmlns:a16="http://schemas.microsoft.com/office/drawing/2014/main" id="{162A2CE6-FECF-4236-BACA-F074C0A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[] 在每次呼叫 __init__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時分別執行。</a:t>
            </a:r>
          </a:p>
        </p:txBody>
      </p:sp>
      <p:sp>
        <p:nvSpPr>
          <p:cNvPr id="18" name="狀態互不影響">
            <a:extLst xmlns:a="http://schemas.openxmlformats.org/drawingml/2006/main">
              <a:ext uri="{FF2B5EF4-FFF2-40B4-BE49-F238E27FC236}">
                <a16:creationId xmlns:a16="http://schemas.microsoft.com/office/drawing/2014/main" id="{D79F5CFD-A3F7-4768-9337-6BDFA5BD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狀態互不影響</a:t>
            </a:r>
          </a:p>
        </p:txBody>
      </p:sp>
      <p:sp>
        <p:nvSpPr>
          <p:cNvPr id="19" name="修改 Amy 的 courses， 不會修改 Bob 的 courses。">
            <a:extLst xmlns:a="http://schemas.openxmlformats.org/drawingml/2006/main">
              <a:ext uri="{FF2B5EF4-FFF2-40B4-BE49-F238E27FC236}">
                <a16:creationId xmlns:a16="http://schemas.microsoft.com/office/drawing/2014/main" id="{34B581E6-B42F-49DD-902B-50222BD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修改 Amy 的 courses，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不會修改 Bob 的 courses。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9CA895B-954A-4F53-A1C4-60B1A08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['Python']    []    False">
            <a:extLst xmlns:a="http://schemas.openxmlformats.org/drawingml/2006/main">
              <a:ext uri="{FF2B5EF4-FFF2-40B4-BE49-F238E27FC236}">
                <a16:creationId xmlns:a16="http://schemas.microsoft.com/office/drawing/2014/main" id="{9B278AE4-30D1-4DEB-9348-07533CB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['Python']    []    False</a:t>
            </a:r>
          </a:p>
        </p:txBody>
      </p:sp>
    </p:spTree>
    <p:extLst>
      <p:ext uri="{BB962C8B-B14F-4D97-AF65-F5344CB8AC3E}">
        <p14:creationId xmlns:p14="http://schemas.microsoft.com/office/powerpoint/2010/main" val="531338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相同狀態與相同身分">
            <a:extLst xmlns:a="http://schemas.openxmlformats.org/drawingml/2006/main">
              <a:ext uri="{FF2B5EF4-FFF2-40B4-BE49-F238E27FC236}">
                <a16:creationId xmlns:a16="http://schemas.microsoft.com/office/drawing/2014/main" id="{5183275D-9D3B-48DC-9802-3DA6D275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相同狀態與相同身分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227B0BBB-E822-4BC7-B7C1-68952195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實體資料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C2592F5D-C8D8-4BC0-82AC-B2920E06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8186F85-1CBC-4845-9E36-9D0498D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5FFFCD9A-CA60-47D6-A9B1-91946C04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D333FDB8-7750-48B8-81E3-335C467E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F0CB5-C538-41B1-89B1-6640DBA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A2B1B1D1-E30B-44B6-B7BD-4F2A070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9" name="b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A381026E-FF47-4B2A-85A9-3EA6761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Student("Amy")</a:t>
            </a:r>
          </a:p>
        </p:txBody>
      </p:sp>
      <p:sp>
        <p:nvSpPr>
          <p:cNvPr id="10" name="alias = a">
            <a:extLst xmlns:a="http://schemas.openxmlformats.org/drawingml/2006/main">
              <a:ext uri="{FF2B5EF4-FFF2-40B4-BE49-F238E27FC236}">
                <a16:creationId xmlns:a16="http://schemas.microsoft.com/office/drawing/2014/main" id="{5A6C0AA5-0007-4144-9339-2E5BE3BF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alias =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60964-4C6C-4966-8A3B-03D8532B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a.name == b.name)">
            <a:extLst xmlns:a="http://schemas.openxmlformats.org/drawingml/2006/main">
              <a:ext uri="{FF2B5EF4-FFF2-40B4-BE49-F238E27FC236}">
                <a16:creationId xmlns:a16="http://schemas.microsoft.com/office/drawing/2014/main" id="{2FD19A41-7ADC-4784-A7C2-4B637D58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 == b.name)</a:t>
            </a:r>
          </a:p>
        </p:txBody>
      </p:sp>
      <p:sp>
        <p:nvSpPr>
          <p:cNvPr id="13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E511356C-72F4-4C81-ABB7-6634C793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4" name="print(a == b)">
            <a:extLst xmlns:a="http://schemas.openxmlformats.org/drawingml/2006/main">
              <a:ext uri="{FF2B5EF4-FFF2-40B4-BE49-F238E27FC236}">
                <a16:creationId xmlns:a16="http://schemas.microsoft.com/office/drawing/2014/main" id="{D293BB78-D26A-42A9-BB97-2663615A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== b)</a:t>
            </a:r>
          </a:p>
        </p:txBody>
      </p:sp>
      <p:sp>
        <p:nvSpPr>
          <p:cNvPr id="15" name="print(alias is a)">
            <a:extLst xmlns:a="http://schemas.openxmlformats.org/drawingml/2006/main">
              <a:ext uri="{FF2B5EF4-FFF2-40B4-BE49-F238E27FC236}">
                <a16:creationId xmlns:a16="http://schemas.microsoft.com/office/drawing/2014/main" id="{EC692211-7832-41AD-80B3-BE2E8A1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print(alias is a)</a:t>
            </a:r>
          </a:p>
        </p:txBody>
      </p:sp>
      <p:sp>
        <p:nvSpPr>
          <p:cNvPr id="16" name="姓名相同，實體不同">
            <a:extLst xmlns:a="http://schemas.openxmlformats.org/drawingml/2006/main">
              <a:ext uri="{FF2B5EF4-FFF2-40B4-BE49-F238E27FC236}">
                <a16:creationId xmlns:a16="http://schemas.microsoft.com/office/drawing/2014/main" id="{12BAAE95-2BAC-4774-864F-374D9695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姓名相同，實體不同</a:t>
            </a:r>
          </a:p>
        </p:txBody>
      </p:sp>
      <p:sp>
        <p:nvSpPr>
          <p:cNvPr id="17" name="a 與 b 各自建立。 alias = a 不會複製物件。">
            <a:extLst xmlns:a="http://schemas.openxmlformats.org/drawingml/2006/main">
              <a:ext uri="{FF2B5EF4-FFF2-40B4-BE49-F238E27FC236}">
                <a16:creationId xmlns:a16="http://schemas.microsoft.com/office/drawing/2014/main" id="{3F5518D7-F3FD-49BB-889B-4E0D3F0E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與 b 各自建立。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alias = a 不會複製物件。</a:t>
            </a:r>
          </a:p>
        </p:txBody>
      </p:sp>
      <p:sp>
        <p:nvSpPr>
          <p:cNvPr id="18" name="== 由型別規則決定">
            <a:extLst xmlns:a="http://schemas.openxmlformats.org/drawingml/2006/main">
              <a:ext uri="{FF2B5EF4-FFF2-40B4-BE49-F238E27FC236}">
                <a16:creationId xmlns:a16="http://schemas.microsoft.com/office/drawing/2014/main" id="{A63D5F3C-470D-4666-8A32-CD929D58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== 由型別規則決定</a:t>
            </a:r>
          </a:p>
        </p:txBody>
      </p:sp>
      <p:sp>
        <p:nvSpPr>
          <p:cNvPr id="19" name="本例未自訂 __eq__。 不同實體不會因欄位相同而相等。">
            <a:extLst xmlns:a="http://schemas.openxmlformats.org/drawingml/2006/main">
              <a:ext uri="{FF2B5EF4-FFF2-40B4-BE49-F238E27FC236}">
                <a16:creationId xmlns:a16="http://schemas.microsoft.com/office/drawing/2014/main" id="{AA6BAAFC-4A9E-4561-A208-1580B0A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本例未自訂 __eq__。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不同實體不會因欄位相同而相等。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3E3FF79-201F-4757-8CAE-51434D04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True    False    False    True">
            <a:extLst xmlns:a="http://schemas.openxmlformats.org/drawingml/2006/main">
              <a:ext uri="{FF2B5EF4-FFF2-40B4-BE49-F238E27FC236}">
                <a16:creationId xmlns:a16="http://schemas.microsoft.com/office/drawing/2014/main" id="{8238EFC4-C06D-46BD-97F2-F0AEE63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    False    False    True</a:t>
            </a:r>
          </a:p>
        </p:txBody>
      </p:sp>
    </p:spTree>
    <p:extLst>
      <p:ext uri="{BB962C8B-B14F-4D97-AF65-F5344CB8AC3E}">
        <p14:creationId xmlns:p14="http://schemas.microsoft.com/office/powerpoint/2010/main" val="9315831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共用參照與重新綁定">
            <a:extLst xmlns:a="http://schemas.openxmlformats.org/drawingml/2006/main">
              <a:ext uri="{FF2B5EF4-FFF2-40B4-BE49-F238E27FC236}">
                <a16:creationId xmlns:a16="http://schemas.microsoft.com/office/drawing/2014/main" id="{31CAF0E5-19D5-45D4-B3C0-34314471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共用參照與重新綁定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36B3117D-B943-45D2-A4C3-EBAEA68A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實體資料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7D1A095B-36A2-4488-ACB4-108F8CB6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78868DB-4AFB-4403-8B50-3A6722FF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221E7CEF-CA72-4EB6-BE47-E760A1AE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0169B156-A994-4583-B93F-1C0DBBA5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136B7-64D4-49E7-A55B-F61D70D9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25B3F7D5-11BD-43E3-BD0F-1ABC6304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9" name="b = a">
            <a:extLst xmlns:a="http://schemas.openxmlformats.org/drawingml/2006/main">
              <a:ext uri="{FF2B5EF4-FFF2-40B4-BE49-F238E27FC236}">
                <a16:creationId xmlns:a16="http://schemas.microsoft.com/office/drawing/2014/main" id="{5CA6D8B7-CC3E-4A6E-8131-D6D7BD62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</a:t>
            </a:r>
          </a:p>
        </p:txBody>
      </p:sp>
      <p:sp>
        <p:nvSpPr>
          <p:cNvPr id="10" name="b.name = &quot;Ann&quot;">
            <a:extLst xmlns:a="http://schemas.openxmlformats.org/drawingml/2006/main">
              <a:ext uri="{FF2B5EF4-FFF2-40B4-BE49-F238E27FC236}">
                <a16:creationId xmlns:a16="http://schemas.microsoft.com/office/drawing/2014/main" id="{ED52167E-D997-4A80-88E5-3AD0D00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b.name = "Ann"</a:t>
            </a:r>
          </a:p>
        </p:txBody>
      </p:sp>
      <p:sp>
        <p:nvSpPr>
          <p:cNvPr id="11" name="print(a.name)">
            <a:extLst xmlns:a="http://schemas.openxmlformats.org/drawingml/2006/main">
              <a:ext uri="{FF2B5EF4-FFF2-40B4-BE49-F238E27FC236}">
                <a16:creationId xmlns:a16="http://schemas.microsoft.com/office/drawing/2014/main" id="{18A119A1-1FBE-40ED-919D-11F8E648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61785-8ADA-42D1-B4AB-591755E0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5C7C38E9-7680-492D-900F-0BE9C565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4" name="print(a.name, b.name)">
            <a:extLst xmlns:a="http://schemas.openxmlformats.org/drawingml/2006/main">
              <a:ext uri="{FF2B5EF4-FFF2-40B4-BE49-F238E27FC236}">
                <a16:creationId xmlns:a16="http://schemas.microsoft.com/office/drawing/2014/main" id="{80C122F3-710A-45EC-B896-AFEFEC11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print(a.name, b.name)</a:t>
            </a:r>
          </a:p>
        </p:txBody>
      </p:sp>
      <p:sp>
        <p:nvSpPr>
          <p:cNvPr id="15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62051142-B51A-41B0-8799-D37271FB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6" name="修改共用物件">
            <a:extLst xmlns:a="http://schemas.openxmlformats.org/drawingml/2006/main">
              <a:ext uri="{FF2B5EF4-FFF2-40B4-BE49-F238E27FC236}">
                <a16:creationId xmlns:a16="http://schemas.microsoft.com/office/drawing/2014/main" id="{19B80055-3A5A-47FE-9C9F-13FF2B4A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修改共用物件</a:t>
            </a:r>
          </a:p>
        </p:txBody>
      </p:sp>
      <p:sp>
        <p:nvSpPr>
          <p:cNvPr id="17" name="b.name = &quot;Ann&quot; 修改 a 與 b 共同參照的實體。">
            <a:extLst xmlns:a="http://schemas.openxmlformats.org/drawingml/2006/main">
              <a:ext uri="{FF2B5EF4-FFF2-40B4-BE49-F238E27FC236}">
                <a16:creationId xmlns:a16="http://schemas.microsoft.com/office/drawing/2014/main" id="{C04BBB21-C3C2-4777-9AAD-EE7AF6BE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b.name = "Ann" 修改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與 b 共同參照的實體。</a:t>
            </a:r>
          </a:p>
        </p:txBody>
      </p:sp>
      <p:sp>
        <p:nvSpPr>
          <p:cNvPr id="18" name="指定新物件給 b">
            <a:extLst xmlns:a="http://schemas.openxmlformats.org/drawingml/2006/main">
              <a:ext uri="{FF2B5EF4-FFF2-40B4-BE49-F238E27FC236}">
                <a16:creationId xmlns:a16="http://schemas.microsoft.com/office/drawing/2014/main" id="{BADE6BE4-BA13-42F5-BD5A-5CE78500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指定新物件給 b</a:t>
            </a:r>
          </a:p>
        </p:txBody>
      </p:sp>
      <p:sp>
        <p:nvSpPr>
          <p:cNvPr id="19" name="重新綁定 b 不會改變 a。 兩個名稱此時指向不同物件。">
            <a:extLst xmlns:a="http://schemas.openxmlformats.org/drawingml/2006/main">
              <a:ext uri="{FF2B5EF4-FFF2-40B4-BE49-F238E27FC236}">
                <a16:creationId xmlns:a16="http://schemas.microsoft.com/office/drawing/2014/main" id="{64FE0D4D-FD94-45E8-8359-2C6214F7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重新綁定 b 不會改變 a。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兩個名稱此時指向不同物件。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959AD1D-BAB2-4C04-923E-CEE70C06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Ann    Ann Bob    False">
            <a:extLst xmlns:a="http://schemas.openxmlformats.org/drawingml/2006/main">
              <a:ext uri="{FF2B5EF4-FFF2-40B4-BE49-F238E27FC236}">
                <a16:creationId xmlns:a16="http://schemas.microsoft.com/office/drawing/2014/main" id="{62538F0A-19B0-41D4-8142-A4B373CD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Ann    Ann Bob    False</a:t>
            </a:r>
          </a:p>
        </p:txBody>
      </p:sp>
    </p:spTree>
    <p:extLst>
      <p:ext uri="{BB962C8B-B14F-4D97-AF65-F5344CB8AC3E}">
        <p14:creationId xmlns:p14="http://schemas.microsoft.com/office/powerpoint/2010/main" val="14599822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觀察實體的 __dict__">
            <a:extLst xmlns:a="http://schemas.openxmlformats.org/drawingml/2006/main">
              <a:ext uri="{FF2B5EF4-FFF2-40B4-BE49-F238E27FC236}">
                <a16:creationId xmlns:a16="http://schemas.microsoft.com/office/drawing/2014/main" id="{49F4EEA3-CF7B-47D3-B4EF-34E07415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觀察實體的 __dict__</a:t>
            </a:r>
          </a:p>
        </p:txBody>
      </p:sp>
      <p:sp>
        <p:nvSpPr>
          <p:cNvPr id="2" name="實體資料">
            <a:extLst xmlns:a="http://schemas.openxmlformats.org/drawingml/2006/main">
              <a:ext uri="{FF2B5EF4-FFF2-40B4-BE49-F238E27FC236}">
                <a16:creationId xmlns:a16="http://schemas.microsoft.com/office/drawing/2014/main" id="{E4A0EAF7-148B-46E7-BCC1-0C7013E8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實體資料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2E7BD150-C42D-4698-95B0-391F4EA0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639CB90-CAA4-4217-B265-EE19945F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89217AFF-E998-4E0E-990B-DC1DB58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AD8A2-782C-4E22-BA3A-64B076E1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73DC9A7F-76AE-42C7-A621-8339C79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7D2D3A14-0DD3-4650-BB02-A5E4CAB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CDB92-60C8-4E71-A747-91F5F06B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my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90629C69-477F-4E59-A987-4A1D59D8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Student("Amy")</a:t>
            </a:r>
          </a:p>
        </p:txBody>
      </p:sp>
      <p:sp>
        <p:nvSpPr>
          <p:cNvPr id="11" name="print(vars(amy))">
            <a:extLst xmlns:a="http://schemas.openxmlformats.org/drawingml/2006/main">
              <a:ext uri="{FF2B5EF4-FFF2-40B4-BE49-F238E27FC236}">
                <a16:creationId xmlns:a16="http://schemas.microsoft.com/office/drawing/2014/main" id="{C3CA8AFA-F173-47DE-9A12-61642F5F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print(vars(amy))</a:t>
            </a:r>
          </a:p>
        </p:txBody>
      </p:sp>
      <p:sp>
        <p:nvSpPr>
          <p:cNvPr id="12" name="print(&quot;school&quot; in vars(amy))">
            <a:extLst xmlns:a="http://schemas.openxmlformats.org/drawingml/2006/main">
              <a:ext uri="{FF2B5EF4-FFF2-40B4-BE49-F238E27FC236}">
                <a16:creationId xmlns:a16="http://schemas.microsoft.com/office/drawing/2014/main" id="{E9B103F9-C11D-49A0-9559-93380151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print("school" in vars(amy))</a:t>
            </a:r>
          </a:p>
        </p:txBody>
      </p:sp>
      <p:sp>
        <p:nvSpPr>
          <p:cNvPr id="13" name="print(&quot;school&quot; in vars(Student))">
            <a:extLst xmlns:a="http://schemas.openxmlformats.org/drawingml/2006/main">
              <a:ext uri="{FF2B5EF4-FFF2-40B4-BE49-F238E27FC236}">
                <a16:creationId xmlns:a16="http://schemas.microsoft.com/office/drawing/2014/main" id="{2DF88FB2-99F8-4C29-B601-F1200A14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print("school" in vars(Student))</a:t>
            </a:r>
          </a:p>
        </p:txBody>
      </p:sp>
      <p:sp>
        <p:nvSpPr>
          <p:cNvPr id="14" name="print(amy.school)">
            <a:extLst xmlns:a="http://schemas.openxmlformats.org/drawingml/2006/main">
              <a:ext uri="{FF2B5EF4-FFF2-40B4-BE49-F238E27FC236}">
                <a16:creationId xmlns:a16="http://schemas.microsoft.com/office/drawing/2014/main" id="{360DC138-3F58-468A-950F-74673491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print(amy.school)</a:t>
            </a:r>
          </a:p>
        </p:txBody>
      </p:sp>
      <p:sp>
        <p:nvSpPr>
          <p:cNvPr id="15" name="vars 顯示名稱與值">
            <a:extLst xmlns:a="http://schemas.openxmlformats.org/drawingml/2006/main">
              <a:ext uri="{FF2B5EF4-FFF2-40B4-BE49-F238E27FC236}">
                <a16:creationId xmlns:a16="http://schemas.microsoft.com/office/drawing/2014/main" id="{6F839C68-7445-41C6-8A74-68ED151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vars 顯示名稱與值</a:t>
            </a:r>
          </a:p>
        </p:txBody>
      </p:sp>
      <p:sp>
        <p:nvSpPr>
          <p:cNvPr id="16" name="本例的 vars(amy) 對應 amy.__dict__。">
            <a:extLst xmlns:a="http://schemas.openxmlformats.org/drawingml/2006/main">
              <a:ext uri="{FF2B5EF4-FFF2-40B4-BE49-F238E27FC236}">
                <a16:creationId xmlns:a16="http://schemas.microsoft.com/office/drawing/2014/main" id="{1AAD5039-0A66-4450-AA3F-600CAB1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本例的 vars(amy)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對應 amy.__dict__。</a:t>
            </a:r>
          </a:p>
        </p:txBody>
      </p:sp>
      <p:sp>
        <p:nvSpPr>
          <p:cNvPr id="17" name="屬性可來自類別">
            <a:extLst xmlns:a="http://schemas.openxmlformats.org/drawingml/2006/main">
              <a:ext uri="{FF2B5EF4-FFF2-40B4-BE49-F238E27FC236}">
                <a16:creationId xmlns:a16="http://schemas.microsoft.com/office/drawing/2014/main" id="{D2FE631F-CDC3-4380-895A-A166A93B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屬性可來自類別</a:t>
            </a:r>
          </a:p>
        </p:txBody>
      </p:sp>
      <p:sp>
        <p:nvSpPr>
          <p:cNvPr id="18" name="school 不在實體字典中， 仍可透過 amy.school 讀取。">
            <a:extLst xmlns:a="http://schemas.openxmlformats.org/drawingml/2006/main">
              <a:ext uri="{FF2B5EF4-FFF2-40B4-BE49-F238E27FC236}">
                <a16:creationId xmlns:a16="http://schemas.microsoft.com/office/drawing/2014/main" id="{19A7747B-7A70-4A72-9964-0564DF82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school 不在實體字典中，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仍可透過 amy.school 讀取。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BD14249-E54D-421D-821E-2CC6A9AF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{'name': 'Amy'}    False    True    YunTech">
            <a:extLst xmlns:a="http://schemas.openxmlformats.org/drawingml/2006/main">
              <a:ext uri="{FF2B5EF4-FFF2-40B4-BE49-F238E27FC236}">
                <a16:creationId xmlns:a16="http://schemas.microsoft.com/office/drawing/2014/main" id="{71944A82-D690-4A1E-8C79-7FC35EBA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{'name': 'Amy'}    False    True    YunTech</a:t>
            </a:r>
          </a:p>
        </p:txBody>
      </p:sp>
    </p:spTree>
    <p:extLst>
      <p:ext uri="{BB962C8B-B14F-4D97-AF65-F5344CB8AC3E}">
        <p14:creationId xmlns:p14="http://schemas.microsoft.com/office/powerpoint/2010/main" val="13719023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般資料屬性的查找與指定">
            <a:extLst xmlns:a="http://schemas.openxmlformats.org/drawingml/2006/main">
              <a:ext uri="{FF2B5EF4-FFF2-40B4-BE49-F238E27FC236}">
                <a16:creationId xmlns:a16="http://schemas.microsoft.com/office/drawing/2014/main" id="{525D2F85-6C1E-426B-9E45-4F63312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一般資料屬性的查找與指定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6B145CBB-2772-401F-8D7D-020E9768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類別屬性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229B9396-52F9-45C0-B2AF-04421220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14625"/>
                <a:gridCol w="4524375"/>
                <a:gridCol w="37338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本週的一般情況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 obj.x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先看實體，再沿類別繼承鏈查找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找到後回傳屬性值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指定 obj.x = value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設定實體上的 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可能遮蔽同名類別屬性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指定 Class.x = value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設定類別上的 x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影響仍從類別讀取的實體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刪除 del obj.x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移除實體上的 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之後可能再次讀到類別屬性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這是普通資料屬性的簡化模型。property 等描述器會影響查找與指定。">
            <a:extLst xmlns:a="http://schemas.openxmlformats.org/drawingml/2006/main">
              <a:ext uri="{FF2B5EF4-FFF2-40B4-BE49-F238E27FC236}">
                <a16:creationId xmlns:a16="http://schemas.microsoft.com/office/drawing/2014/main" id="{41122BAD-3B12-42EF-9C03-54F7F82F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這是普通資料屬性的簡化模型。property 等描述器會影響查找與指定。</a:t>
            </a:r>
          </a:p>
        </p:txBody>
      </p:sp>
    </p:spTree>
    <p:extLst>
      <p:ext uri="{BB962C8B-B14F-4D97-AF65-F5344CB8AC3E}">
        <p14:creationId xmlns:p14="http://schemas.microsoft.com/office/powerpoint/2010/main" val="15385832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類別屬性作為共同預設值">
            <a:extLst xmlns:a="http://schemas.openxmlformats.org/drawingml/2006/main">
              <a:ext uri="{FF2B5EF4-FFF2-40B4-BE49-F238E27FC236}">
                <a16:creationId xmlns:a16="http://schemas.microsoft.com/office/drawing/2014/main" id="{1F5BBAC5-14E2-4B09-A719-B0780BC8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類別屬性作為共同預設值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BF4620CB-01B0-44FF-982D-9A4EB9E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類別屬性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BE5CEEB6-780E-46A4-A2BA-9E5BDB1D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33F69ED-ADD2-4426-97CB-8E5E4B32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15CFD6F2-9BFF-4E43-B662-098052E2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60027-2E30-4C4B-A9FA-D4F557D2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3D959F3C-11B9-4131-86A0-DA896112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8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4C1206D9-AAFF-4FF0-82D8-B4F9B56A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ACA70-9232-4485-84A7-7EA94B9A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0621871A-E908-4DCF-BF88-56D5AF37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1" name="Student.school = &quot;New Campus&quot;">
            <a:extLst xmlns:a="http://schemas.openxmlformats.org/drawingml/2006/main">
              <a:ext uri="{FF2B5EF4-FFF2-40B4-BE49-F238E27FC236}">
                <a16:creationId xmlns:a16="http://schemas.microsoft.com/office/drawing/2014/main" id="{AD5BDEF8-346A-4F4C-B3BA-5168AC1A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Student.school = "New Campus"</a:t>
            </a:r>
          </a:p>
        </p:txBody>
      </p:sp>
      <p:sp>
        <p:nvSpPr>
          <p:cNvPr id="12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D9386ED4-E9BB-4133-8C27-384658A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3" name="共同預設值放在類別">
            <a:extLst xmlns:a="http://schemas.openxmlformats.org/drawingml/2006/main">
              <a:ext uri="{FF2B5EF4-FFF2-40B4-BE49-F238E27FC236}">
                <a16:creationId xmlns:a16="http://schemas.microsoft.com/office/drawing/2014/main" id="{64EB1F45-D478-4240-B2B2-284D4BED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共同預設值放在類別</a:t>
            </a:r>
          </a:p>
        </p:txBody>
      </p:sp>
      <p:sp>
        <p:nvSpPr>
          <p:cNvPr id="14" name="兩個實體都沒有自己的 school 屬性。">
            <a:extLst xmlns:a="http://schemas.openxmlformats.org/drawingml/2006/main">
              <a:ext uri="{FF2B5EF4-FFF2-40B4-BE49-F238E27FC236}">
                <a16:creationId xmlns:a16="http://schemas.microsoft.com/office/drawing/2014/main" id="{093FC725-632C-404E-AA0A-D47C1C4B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兩個實體都沒有自己的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school 屬性。</a:t>
            </a:r>
          </a:p>
        </p:txBody>
      </p:sp>
      <p:sp>
        <p:nvSpPr>
          <p:cNvPr id="15" name="更新類別上的名稱">
            <a:extLst xmlns:a="http://schemas.openxmlformats.org/drawingml/2006/main">
              <a:ext uri="{FF2B5EF4-FFF2-40B4-BE49-F238E27FC236}">
                <a16:creationId xmlns:a16="http://schemas.microsoft.com/office/drawing/2014/main" id="{B3C87137-D5B6-4CF0-B467-C314A9E5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更新類別上的名稱</a:t>
            </a:r>
          </a:p>
        </p:txBody>
      </p:sp>
      <p:sp>
        <p:nvSpPr>
          <p:cNvPr id="16" name="兩者仍從 Student 查找， 因此讀到更新後的值。">
            <a:extLst xmlns:a="http://schemas.openxmlformats.org/drawingml/2006/main">
              <a:ext uri="{FF2B5EF4-FFF2-40B4-BE49-F238E27FC236}">
                <a16:creationId xmlns:a16="http://schemas.microsoft.com/office/drawing/2014/main" id="{1BE8A611-B8F1-41F5-80EA-00FCF588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兩者仍從 Student 查找，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因此讀到更新後的值。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E62B268-97EE-47CE-AFE5-C94C74B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YunTech YunTech    New Campus New Campus">
            <a:extLst xmlns:a="http://schemas.openxmlformats.org/drawingml/2006/main">
              <a:ext uri="{FF2B5EF4-FFF2-40B4-BE49-F238E27FC236}">
                <a16:creationId xmlns:a16="http://schemas.microsoft.com/office/drawing/2014/main" id="{50D5892D-2E14-49B6-930A-72D3EEE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YunTech YunTech    New Campus New Campus</a:t>
            </a:r>
          </a:p>
        </p:txBody>
      </p:sp>
    </p:spTree>
    <p:extLst>
      <p:ext uri="{BB962C8B-B14F-4D97-AF65-F5344CB8AC3E}">
        <p14:creationId xmlns:p14="http://schemas.microsoft.com/office/powerpoint/2010/main" val="11186402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實體屬性遮蔽類別屬性">
            <a:extLst xmlns:a="http://schemas.openxmlformats.org/drawingml/2006/main">
              <a:ext uri="{FF2B5EF4-FFF2-40B4-BE49-F238E27FC236}">
                <a16:creationId xmlns:a16="http://schemas.microsoft.com/office/drawing/2014/main" id="{72B0B00E-24AD-43B3-BCF1-22A177AE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實體屬性遮蔽類別屬性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5216BFC1-577D-4157-8CA5-CF5F286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類別屬性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6F1AD1D9-7DEA-4311-BD94-78EEFE0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8FEB5C1D-D5B4-4016-87E2-52E3C00F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EC768291-6D83-4672-B810-DB15B9A3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6AF2D-5458-4286-9FC3-E551060A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F3AAE32C-7EF7-4B9C-8820-8E310E6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8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26448991-66C9-4DA3-B0BA-2A8E6AC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9" name="a.school = &quot;Exchange&quot;">
            <a:extLst xmlns:a="http://schemas.openxmlformats.org/drawingml/2006/main">
              <a:ext uri="{FF2B5EF4-FFF2-40B4-BE49-F238E27FC236}">
                <a16:creationId xmlns:a16="http://schemas.microsoft.com/office/drawing/2014/main" id="{D98FB15A-658D-4E0E-A91B-3520518E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a.school = "Exchange"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BCF90-4A86-4272-BA91-FE2EE321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08C6D5BB-C4F0-45F3-BB9D-7A0F53C6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2" name="print(Student.school)">
            <a:extLst xmlns:a="http://schemas.openxmlformats.org/drawingml/2006/main">
              <a:ext uri="{FF2B5EF4-FFF2-40B4-BE49-F238E27FC236}">
                <a16:creationId xmlns:a16="http://schemas.microsoft.com/office/drawing/2014/main" id="{2CEC519E-0411-4D92-A1D2-AE3044E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print(Student.school)</a:t>
            </a:r>
          </a:p>
        </p:txBody>
      </p:sp>
      <p:sp>
        <p:nvSpPr>
          <p:cNvPr id="13" name="del a.school">
            <a:extLst xmlns:a="http://schemas.openxmlformats.org/drawingml/2006/main">
              <a:ext uri="{FF2B5EF4-FFF2-40B4-BE49-F238E27FC236}">
                <a16:creationId xmlns:a16="http://schemas.microsoft.com/office/drawing/2014/main" id="{3DD56AFD-4A75-496C-AAFB-BC73D947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a.school</a:t>
            </a:r>
          </a:p>
        </p:txBody>
      </p:sp>
      <p:sp>
        <p:nvSpPr>
          <p:cNvPr id="14" name="print(a.school)">
            <a:extLst xmlns:a="http://schemas.openxmlformats.org/drawingml/2006/main">
              <a:ext uri="{FF2B5EF4-FFF2-40B4-BE49-F238E27FC236}">
                <a16:creationId xmlns:a16="http://schemas.microsoft.com/office/drawing/2014/main" id="{CEE94C09-CF54-4CCA-B22B-175245B6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print(a.school)</a:t>
            </a:r>
          </a:p>
        </p:txBody>
      </p:sp>
      <p:sp>
        <p:nvSpPr>
          <p:cNvPr id="15" name="a.school 指定在實體上">
            <a:extLst xmlns:a="http://schemas.openxmlformats.org/drawingml/2006/main">
              <a:ext uri="{FF2B5EF4-FFF2-40B4-BE49-F238E27FC236}">
                <a16:creationId xmlns:a16="http://schemas.microsoft.com/office/drawing/2014/main" id="{D7D925B0-6860-48F8-9CA9-9DEA4BD5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a.school 指定在實體上</a:t>
            </a:r>
          </a:p>
        </p:txBody>
      </p:sp>
      <p:sp>
        <p:nvSpPr>
          <p:cNvPr id="16" name="a 新增自己的 school， 不會改寫 Student.school。">
            <a:extLst xmlns:a="http://schemas.openxmlformats.org/drawingml/2006/main">
              <a:ext uri="{FF2B5EF4-FFF2-40B4-BE49-F238E27FC236}">
                <a16:creationId xmlns:a16="http://schemas.microsoft.com/office/drawing/2014/main" id="{6148C6AD-E3F2-4F49-8E9A-030FC30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新增自己的 school，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不會改寫 Student.school。</a:t>
            </a:r>
          </a:p>
        </p:txBody>
      </p:sp>
      <p:sp>
        <p:nvSpPr>
          <p:cNvPr id="17" name="刪除後恢復類別查找">
            <a:extLst xmlns:a="http://schemas.openxmlformats.org/drawingml/2006/main">
              <a:ext uri="{FF2B5EF4-FFF2-40B4-BE49-F238E27FC236}">
                <a16:creationId xmlns:a16="http://schemas.microsoft.com/office/drawing/2014/main" id="{CB8AC233-94C0-4415-84CE-9D0832B7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刪除後恢復類別查找</a:t>
            </a:r>
          </a:p>
        </p:txBody>
      </p:sp>
      <p:sp>
        <p:nvSpPr>
          <p:cNvPr id="18" name="del a.school 移除遮蔽。 a 再次讀到 YunTech。">
            <a:extLst xmlns:a="http://schemas.openxmlformats.org/drawingml/2006/main">
              <a:ext uri="{FF2B5EF4-FFF2-40B4-BE49-F238E27FC236}">
                <a16:creationId xmlns:a16="http://schemas.microsoft.com/office/drawing/2014/main" id="{4E6649F4-EED9-47A9-BDBA-10D25E7F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del a.school 移除遮蔽。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a 再次讀到 YunTech。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A376260-57A7-4A79-9AC8-79466955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Exchange YunTech    YunTech    YunTech">
            <a:extLst xmlns:a="http://schemas.openxmlformats.org/drawingml/2006/main">
              <a:ext uri="{FF2B5EF4-FFF2-40B4-BE49-F238E27FC236}">
                <a16:creationId xmlns:a16="http://schemas.microsoft.com/office/drawing/2014/main" id="{65056643-3E19-4344-AE86-F9B000EE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Exchange YunTech    YunTech    YunTech</a:t>
            </a:r>
          </a:p>
        </p:txBody>
      </p:sp>
    </p:spTree>
    <p:extLst>
      <p:ext uri="{BB962C8B-B14F-4D97-AF65-F5344CB8AC3E}">
        <p14:creationId xmlns:p14="http://schemas.microsoft.com/office/powerpoint/2010/main" val="1879903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錯誤案例：共用可變類別屬性">
            <a:extLst xmlns:a="http://schemas.openxmlformats.org/drawingml/2006/main">
              <a:ext uri="{FF2B5EF4-FFF2-40B4-BE49-F238E27FC236}">
                <a16:creationId xmlns:a16="http://schemas.microsoft.com/office/drawing/2014/main" id="{511A5F4C-8366-4AF5-BFBF-282B2007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錯誤案例：共用可變類別屬性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570654EF-882E-44D1-BCD9-B91E5C62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類別屬性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049FD23A-2D1C-4993-815B-A096324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AA42CE8-424B-4739-8F10-B88BA9FA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rses = []">
            <a:extLst xmlns:a="http://schemas.openxmlformats.org/drawingml/2006/main">
              <a:ext uri="{FF2B5EF4-FFF2-40B4-BE49-F238E27FC236}">
                <a16:creationId xmlns:a16="http://schemas.microsoft.com/office/drawing/2014/main" id="{F267C69A-7986-440B-A599-543F025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courses = []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9818F-EC4A-4D2C-925B-FE1D3EE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332BEDF9-7BF5-427C-8E14-C17A7C3E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61AFADD6-E54B-42CF-9DBE-41CC482B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7F4BA-3F50-4083-A436-4BAAB96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BBC97A6-CC88-46C1-8EFF-FF542340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1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7693E873-A889-4579-ABC6-2B770D4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2" name="a.course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10D9D461-BCD8-4E34-A442-A4D9DE1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a.courses.append("Python")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1A717-7842-4DDE-94DD-00445F48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b.courses)">
            <a:extLst xmlns:a="http://schemas.openxmlformats.org/drawingml/2006/main">
              <a:ext uri="{FF2B5EF4-FFF2-40B4-BE49-F238E27FC236}">
                <a16:creationId xmlns:a16="http://schemas.microsoft.com/office/drawing/2014/main" id="{E868B00F-A8E6-4527-9869-4F3D44A1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print(b.courses)</a:t>
            </a:r>
          </a:p>
        </p:txBody>
      </p:sp>
      <p:sp>
        <p:nvSpPr>
          <p:cNvPr id="15" name="print(a.courses is b.courses)">
            <a:extLst xmlns:a="http://schemas.openxmlformats.org/drawingml/2006/main">
              <a:ext uri="{FF2B5EF4-FFF2-40B4-BE49-F238E27FC236}">
                <a16:creationId xmlns:a16="http://schemas.microsoft.com/office/drawing/2014/main" id="{405AA06E-6904-4A09-BA07-DEBB3D10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print(a.courses is b.courses)</a:t>
            </a:r>
          </a:p>
        </p:txBody>
      </p:sp>
      <p:sp>
        <p:nvSpPr>
          <p:cNvPr id="16" name="courses 只有一份">
            <a:extLst xmlns:a="http://schemas.openxmlformats.org/drawingml/2006/main">
              <a:ext uri="{FF2B5EF4-FFF2-40B4-BE49-F238E27FC236}">
                <a16:creationId xmlns:a16="http://schemas.microsoft.com/office/drawing/2014/main" id="{BE696E43-7A9B-4192-81FA-B5CD7E1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courses 只有一份</a:t>
            </a:r>
          </a:p>
        </p:txBody>
      </p:sp>
      <p:sp>
        <p:nvSpPr>
          <p:cNvPr id="17" name="串列在執行 class 定義時 建立，放在類別上。">
            <a:extLst xmlns:a="http://schemas.openxmlformats.org/drawingml/2006/main">
              <a:ext uri="{FF2B5EF4-FFF2-40B4-BE49-F238E27FC236}">
                <a16:creationId xmlns:a16="http://schemas.microsoft.com/office/drawing/2014/main" id="{FE118ED9-42A9-45DF-8BFB-FB98ACD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串列在執行 class 定義時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建立，放在類別上。</a:t>
            </a:r>
          </a:p>
        </p:txBody>
      </p:sp>
      <p:sp>
        <p:nvSpPr>
          <p:cNvPr id="18" name="append 修改既有串列">
            <a:extLst xmlns:a="http://schemas.openxmlformats.org/drawingml/2006/main">
              <a:ext uri="{FF2B5EF4-FFF2-40B4-BE49-F238E27FC236}">
                <a16:creationId xmlns:a16="http://schemas.microsoft.com/office/drawing/2014/main" id="{B69B3D21-9EFB-4A88-9F9E-A6E0B71A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append 修改既有串列</a:t>
            </a:r>
          </a:p>
        </p:txBody>
      </p:sp>
      <p:sp>
        <p:nvSpPr>
          <p:cNvPr id="19" name="它沒有指定 a.courses。 所有參照者都看到修改。">
            <a:extLst xmlns:a="http://schemas.openxmlformats.org/drawingml/2006/main">
              <a:ext uri="{FF2B5EF4-FFF2-40B4-BE49-F238E27FC236}">
                <a16:creationId xmlns:a16="http://schemas.microsoft.com/office/drawing/2014/main" id="{AC054111-A6B6-4BFF-BA8A-922103CD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它沒有指定 a.courses。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所有參照者都看到修改。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A04928D-223B-4280-B6B9-1756857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['Python']    True">
            <a:extLst xmlns:a="http://schemas.openxmlformats.org/drawingml/2006/main">
              <a:ext uri="{FF2B5EF4-FFF2-40B4-BE49-F238E27FC236}">
                <a16:creationId xmlns:a16="http://schemas.microsoft.com/office/drawing/2014/main" id="{E54CD1BE-E599-4B65-AD01-A50149E4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['Python']    True</a:t>
            </a:r>
          </a:p>
        </p:txBody>
      </p:sp>
    </p:spTree>
    <p:extLst>
      <p:ext uri="{BB962C8B-B14F-4D97-AF65-F5344CB8AC3E}">
        <p14:creationId xmlns:p14="http://schemas.microsoft.com/office/powerpoint/2010/main" val="1340074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修正：每個實體建立自己的容器">
            <a:extLst xmlns:a="http://schemas.openxmlformats.org/drawingml/2006/main">
              <a:ext uri="{FF2B5EF4-FFF2-40B4-BE49-F238E27FC236}">
                <a16:creationId xmlns:a16="http://schemas.microsoft.com/office/drawing/2014/main" id="{AA509D23-EA94-43CC-BE45-3863D075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修正：每個實體建立自己的容器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0A920B8B-0170-484C-9F24-557A110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類別屬性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36BE7E3E-DA30-40A3-8E07-3EC96487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FA62600-2B77-4074-82B2-9DFE3151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99967962-454C-4E26-9C8B-A11E5AE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1246F33D-A527-4A8C-85DB-B5151D51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[]">
            <a:extLst xmlns:a="http://schemas.openxmlformats.org/drawingml/2006/main">
              <a:ext uri="{FF2B5EF4-FFF2-40B4-BE49-F238E27FC236}">
                <a16:creationId xmlns:a16="http://schemas.microsoft.com/office/drawing/2014/main" id="{6742541C-0706-4C61-A6E2-A5DF9F25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[]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83563-3A3D-4717-9DD5-D6F840DA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enroll(self, course):">
            <a:extLst xmlns:a="http://schemas.openxmlformats.org/drawingml/2006/main">
              <a:ext uri="{FF2B5EF4-FFF2-40B4-BE49-F238E27FC236}">
                <a16:creationId xmlns:a16="http://schemas.microsoft.com/office/drawing/2014/main" id="{1F9ED29F-0A77-4244-A454-12D99D22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enroll(self, course):</a:t>
            </a:r>
          </a:p>
        </p:txBody>
      </p:sp>
      <p:sp>
        <p:nvSpPr>
          <p:cNvPr id="10" name="        self.courses.append(course)">
            <a:extLst xmlns:a="http://schemas.openxmlformats.org/drawingml/2006/main">
              <a:ext uri="{FF2B5EF4-FFF2-40B4-BE49-F238E27FC236}">
                <a16:creationId xmlns:a16="http://schemas.microsoft.com/office/drawing/2014/main" id="{7C620DE3-D919-4686-BCBA-46566018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self.courses.append(course)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8E65E-8457-4799-8141-AA60E733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8C17F0A4-12E2-4FB5-883F-780C5778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3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4BE1829F-19B7-4EDF-A8D6-B04A9D34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4" name="a.enroll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8862F4A9-B473-4B14-B66F-BCA5B147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a.enroll("Python")</a:t>
            </a:r>
          </a:p>
        </p:txBody>
      </p:sp>
      <p:sp>
        <p:nvSpPr>
          <p:cNvPr id="15" name="print(a.courses, b.courses)">
            <a:extLst xmlns:a="http://schemas.openxmlformats.org/drawingml/2006/main">
              <a:ext uri="{FF2B5EF4-FFF2-40B4-BE49-F238E27FC236}">
                <a16:creationId xmlns:a16="http://schemas.microsoft.com/office/drawing/2014/main" id="{D5DC17D7-F154-4F68-B48B-8D5E22FE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print(a.courses, b.courses)</a:t>
            </a:r>
          </a:p>
        </p:txBody>
      </p:sp>
      <p:sp>
        <p:nvSpPr>
          <p:cNvPr id="16" name="個人資料放在實體">
            <a:extLst xmlns:a="http://schemas.openxmlformats.org/drawingml/2006/main">
              <a:ext uri="{FF2B5EF4-FFF2-40B4-BE49-F238E27FC236}">
                <a16:creationId xmlns:a16="http://schemas.microsoft.com/office/drawing/2014/main" id="{D129D622-D4F9-405A-944D-4F5A30E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個人資料放在實體</a:t>
            </a:r>
          </a:p>
        </p:txBody>
      </p:sp>
      <p:sp>
        <p:nvSpPr>
          <p:cNvPr id="17" name="self.courses = [] 每次建立獨立串列。">
            <a:extLst xmlns:a="http://schemas.openxmlformats.org/drawingml/2006/main">
              <a:ext uri="{FF2B5EF4-FFF2-40B4-BE49-F238E27FC236}">
                <a16:creationId xmlns:a16="http://schemas.microsoft.com/office/drawing/2014/main" id="{60CC10F0-08A1-4293-A7D1-25A29811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self.courses = []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每次建立獨立串列。</a:t>
            </a:r>
          </a:p>
        </p:txBody>
      </p:sp>
      <p:sp>
        <p:nvSpPr>
          <p:cNvPr id="18" name="行為靠近相關狀態">
            <a:extLst xmlns:a="http://schemas.openxmlformats.org/drawingml/2006/main">
              <a:ext uri="{FF2B5EF4-FFF2-40B4-BE49-F238E27FC236}">
                <a16:creationId xmlns:a16="http://schemas.microsoft.com/office/drawing/2014/main" id="{C812F072-2598-47DC-96BB-72264093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行為靠近相關狀態</a:t>
            </a:r>
          </a:p>
        </p:txBody>
      </p:sp>
      <p:sp>
        <p:nvSpPr>
          <p:cNvPr id="19" name="enroll 操作接收者的課程。 後續可集中處理選課規則。">
            <a:extLst xmlns:a="http://schemas.openxmlformats.org/drawingml/2006/main">
              <a:ext uri="{FF2B5EF4-FFF2-40B4-BE49-F238E27FC236}">
                <a16:creationId xmlns:a16="http://schemas.microsoft.com/office/drawing/2014/main" id="{56A7528D-FF25-458E-A00A-CDFC1E7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enroll 操作接收者的課程。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後續可集中處理選課規則。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37C21DD-5DE7-4B8B-A1BA-78C9135D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['Python'] []">
            <a:extLst xmlns:a="http://schemas.openxmlformats.org/drawingml/2006/main">
              <a:ext uri="{FF2B5EF4-FFF2-40B4-BE49-F238E27FC236}">
                <a16:creationId xmlns:a16="http://schemas.microsoft.com/office/drawing/2014/main" id="{A0E3E795-C4EF-4CB4-BB49-CFC8C0E9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['Python'] []</a:t>
            </a:r>
          </a:p>
        </p:txBody>
      </p:sp>
    </p:spTree>
    <p:extLst>
      <p:ext uri="{BB962C8B-B14F-4D97-AF65-F5344CB8AC3E}">
        <p14:creationId xmlns:p14="http://schemas.microsoft.com/office/powerpoint/2010/main" val="14876538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類別屬性統計建立次數">
            <a:extLst xmlns:a="http://schemas.openxmlformats.org/drawingml/2006/main">
              <a:ext uri="{FF2B5EF4-FFF2-40B4-BE49-F238E27FC236}">
                <a16:creationId xmlns:a16="http://schemas.microsoft.com/office/drawing/2014/main" id="{72E5CDDC-E372-46E1-8015-44D2CF5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類別屬性統計建立次數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EDE702B7-D6C3-48A9-9515-2F0DB6B6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類別屬性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DD5CD3B9-9184-4AA5-9A0C-B4E7C47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53F55C9-BA69-4BD0-90ED-C6A9E39F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9E8C1C0B-95DF-4559-896F-CB0F149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1FAEE-123D-45C5-8674-458C4AD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F4457922-244D-4343-8B33-20E8D5E4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8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F3976442-E172-4D88-917B-08965E26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9" name="        Student.count += 1">
            <a:extLst xmlns:a="http://schemas.openxmlformats.org/drawingml/2006/main">
              <a:ext uri="{FF2B5EF4-FFF2-40B4-BE49-F238E27FC236}">
                <a16:creationId xmlns:a16="http://schemas.microsoft.com/office/drawing/2014/main" id="{E8B50762-566E-48A9-B4D3-ADB28344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Student.count +=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DAFF5-E6EC-4EFB-9B1A-FA86CBA9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B41BEBE-01AB-44DF-A40B-D6882F17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2" name="b = Student(&quot;Bob&quot;)">
            <a:extLst xmlns:a="http://schemas.openxmlformats.org/drawingml/2006/main">
              <a:ext uri="{FF2B5EF4-FFF2-40B4-BE49-F238E27FC236}">
                <a16:creationId xmlns:a16="http://schemas.microsoft.com/office/drawing/2014/main" id="{61F14636-A03E-4E08-A423-D5A85C36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Student("Bob")</a:t>
            </a:r>
          </a:p>
        </p:txBody>
      </p:sp>
      <p:sp>
        <p:nvSpPr>
          <p:cNvPr id="13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8D513622-7F32-43E1-B053-4485A696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4" name="del a">
            <a:extLst xmlns:a="http://schemas.openxmlformats.org/drawingml/2006/main">
              <a:ext uri="{FF2B5EF4-FFF2-40B4-BE49-F238E27FC236}">
                <a16:creationId xmlns:a16="http://schemas.microsoft.com/office/drawing/2014/main" id="{66FCBFF5-6D62-4C8D-A02D-D226FC42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a</a:t>
            </a:r>
          </a:p>
        </p:txBody>
      </p:sp>
      <p:sp>
        <p:nvSpPr>
          <p:cNvPr id="15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836DD5A0-000D-451D-8E40-D7AA4C6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6" name="明確更新類別屬性">
            <a:extLst xmlns:a="http://schemas.openxmlformats.org/drawingml/2006/main">
              <a:ext uri="{FF2B5EF4-FFF2-40B4-BE49-F238E27FC236}">
                <a16:creationId xmlns:a16="http://schemas.microsoft.com/office/drawing/2014/main" id="{1C293817-0D3E-4C37-BA37-00C5367A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明確更新類別屬性</a:t>
            </a:r>
          </a:p>
        </p:txBody>
      </p:sp>
      <p:sp>
        <p:nvSpPr>
          <p:cNvPr id="17" name="Student.count += 1 更新同一個累計值。">
            <a:extLst xmlns:a="http://schemas.openxmlformats.org/drawingml/2006/main">
              <a:ext uri="{FF2B5EF4-FFF2-40B4-BE49-F238E27FC236}">
                <a16:creationId xmlns:a16="http://schemas.microsoft.com/office/drawing/2014/main" id="{EF094524-D5DC-4AB4-8BC6-9A9053D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Student.count += 1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更新同一個累計值。</a:t>
            </a:r>
          </a:p>
        </p:txBody>
      </p:sp>
      <p:sp>
        <p:nvSpPr>
          <p:cNvPr id="18" name="累計建立次數">
            <a:extLst xmlns:a="http://schemas.openxmlformats.org/drawingml/2006/main">
              <a:ext uri="{FF2B5EF4-FFF2-40B4-BE49-F238E27FC236}">
                <a16:creationId xmlns:a16="http://schemas.microsoft.com/office/drawing/2014/main" id="{18A6AA38-94E6-465B-966C-5E2213D9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累計建立次數</a:t>
            </a:r>
          </a:p>
        </p:txBody>
      </p:sp>
      <p:sp>
        <p:nvSpPr>
          <p:cNvPr id="19" name="del a 只移除名稱綁定。 本例沒有減少 count 的邏輯。">
            <a:extLst xmlns:a="http://schemas.openxmlformats.org/drawingml/2006/main">
              <a:ext uri="{FF2B5EF4-FFF2-40B4-BE49-F238E27FC236}">
                <a16:creationId xmlns:a16="http://schemas.microsoft.com/office/drawing/2014/main" id="{1C4C8EBE-E942-4830-BB9C-D4D8EE09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del a 只移除名稱綁定。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本例沒有減少 count 的邏輯。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C7EF500-F314-4820-9E6F-6CCC9A5D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2    2">
            <a:extLst xmlns:a="http://schemas.openxmlformats.org/drawingml/2006/main">
              <a:ext uri="{FF2B5EF4-FFF2-40B4-BE49-F238E27FC236}">
                <a16:creationId xmlns:a16="http://schemas.microsoft.com/office/drawing/2014/main" id="{9EEFE68A-2A2D-4601-9C7F-62E25EF3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2    2</a:t>
            </a:r>
          </a:p>
        </p:txBody>
      </p:sp>
    </p:spTree>
    <p:extLst>
      <p:ext uri="{BB962C8B-B14F-4D97-AF65-F5344CB8AC3E}">
        <p14:creationId xmlns:p14="http://schemas.microsoft.com/office/powerpoint/2010/main" val="15824988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lf.count += 1 的遮蔽陷阱">
            <a:extLst xmlns:a="http://schemas.openxmlformats.org/drawingml/2006/main">
              <a:ext uri="{FF2B5EF4-FFF2-40B4-BE49-F238E27FC236}">
                <a16:creationId xmlns:a16="http://schemas.microsoft.com/office/drawing/2014/main" id="{4CD23372-1D8A-403D-A0CF-831B8436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self.count += 1 的遮蔽陷阱</a:t>
            </a:r>
          </a:p>
        </p:txBody>
      </p:sp>
      <p:sp>
        <p:nvSpPr>
          <p:cNvPr id="2" name="類別屬性">
            <a:extLst xmlns:a="http://schemas.openxmlformats.org/drawingml/2006/main">
              <a:ext uri="{FF2B5EF4-FFF2-40B4-BE49-F238E27FC236}">
                <a16:creationId xmlns:a16="http://schemas.microsoft.com/office/drawing/2014/main" id="{9F998BD4-75E7-46CA-981B-57B77181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類別屬性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64E3BED9-21F3-4A27-80CE-D687C875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F370050-981A-4EFA-8208-D75A05CF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865E8644-7CBE-4BB8-8CF0-3A05224C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C5C2D-9D9F-462E-9AB4-1779AB07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    def __init__(self):">
            <a:extLst xmlns:a="http://schemas.openxmlformats.org/drawingml/2006/main">
              <a:ext uri="{FF2B5EF4-FFF2-40B4-BE49-F238E27FC236}">
                <a16:creationId xmlns:a16="http://schemas.microsoft.com/office/drawing/2014/main" id="{6381AC9C-3234-480D-B25B-730225D8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</p:txBody>
      </p:sp>
      <p:sp>
        <p:nvSpPr>
          <p:cNvPr id="8" name="        self.count += 1">
            <a:extLst xmlns:a="http://schemas.openxmlformats.org/drawingml/2006/main">
              <a:ext uri="{FF2B5EF4-FFF2-40B4-BE49-F238E27FC236}">
                <a16:creationId xmlns:a16="http://schemas.microsoft.com/office/drawing/2014/main" id="{5F3DE9A3-E11B-4A6A-8FC1-CAED9341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16ECA-3C55-4EFC-832B-279869DF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)">
            <a:extLst xmlns:a="http://schemas.openxmlformats.org/drawingml/2006/main">
              <a:ext uri="{FF2B5EF4-FFF2-40B4-BE49-F238E27FC236}">
                <a16:creationId xmlns:a16="http://schemas.microsoft.com/office/drawing/2014/main" id="{5ED2E62B-DA81-480E-876F-8E376DC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Student()</a:t>
            </a:r>
          </a:p>
        </p:txBody>
      </p:sp>
      <p:sp>
        <p:nvSpPr>
          <p:cNvPr id="11" name="b = Student()">
            <a:extLst xmlns:a="http://schemas.openxmlformats.org/drawingml/2006/main">
              <a:ext uri="{FF2B5EF4-FFF2-40B4-BE49-F238E27FC236}">
                <a16:creationId xmlns:a16="http://schemas.microsoft.com/office/drawing/2014/main" id="{9117B055-CD85-499B-AC90-3C20BAC4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C7A06-DCEB-4EB4-8CD1-5810CDE8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Student.count)">
            <a:extLst xmlns:a="http://schemas.openxmlformats.org/drawingml/2006/main">
              <a:ext uri="{FF2B5EF4-FFF2-40B4-BE49-F238E27FC236}">
                <a16:creationId xmlns:a16="http://schemas.microsoft.com/office/drawing/2014/main" id="{9ADBFAC8-38F9-48A2-8DD4-E6A77737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print(Student.count)</a:t>
            </a:r>
          </a:p>
        </p:txBody>
      </p:sp>
      <p:sp>
        <p:nvSpPr>
          <p:cNvPr id="14" name="print(a.count, b.count)">
            <a:extLst xmlns:a="http://schemas.openxmlformats.org/drawingml/2006/main">
              <a:ext uri="{FF2B5EF4-FFF2-40B4-BE49-F238E27FC236}">
                <a16:creationId xmlns:a16="http://schemas.microsoft.com/office/drawing/2014/main" id="{17337AC2-0C49-459B-81C3-2C6BDED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print(a.count, b.count)</a:t>
            </a:r>
          </a:p>
        </p:txBody>
      </p:sp>
      <p:sp>
        <p:nvSpPr>
          <p:cNvPr id="15" name="print(vars(a))">
            <a:extLst xmlns:a="http://schemas.openxmlformats.org/drawingml/2006/main">
              <a:ext uri="{FF2B5EF4-FFF2-40B4-BE49-F238E27FC236}">
                <a16:creationId xmlns:a16="http://schemas.microsoft.com/office/drawing/2014/main" id="{0D334A2E-8702-42C7-A180-8E62302F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print(vars(a))</a:t>
            </a:r>
          </a:p>
        </p:txBody>
      </p:sp>
      <p:sp>
        <p:nvSpPr>
          <p:cNvPr id="16" name="先讀，再指定">
            <a:extLst xmlns:a="http://schemas.openxmlformats.org/drawingml/2006/main">
              <a:ext uri="{FF2B5EF4-FFF2-40B4-BE49-F238E27FC236}">
                <a16:creationId xmlns:a16="http://schemas.microsoft.com/office/drawing/2014/main" id="{FCD6394E-976C-4BC5-B594-F754406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先讀，再指定</a:t>
            </a:r>
          </a:p>
        </p:txBody>
      </p:sp>
      <p:sp>
        <p:nvSpPr>
          <p:cNvPr id="17" name="先從類別讀到整數 0。 加一後指定到實體 count。">
            <a:extLst xmlns:a="http://schemas.openxmlformats.org/drawingml/2006/main">
              <a:ext uri="{FF2B5EF4-FFF2-40B4-BE49-F238E27FC236}">
                <a16:creationId xmlns:a16="http://schemas.microsoft.com/office/drawing/2014/main" id="{5EAAC2E6-620A-48C4-A98D-373DCE07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先從類別讀到整數 0。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加一後指定到實體 count。</a:t>
            </a:r>
          </a:p>
        </p:txBody>
      </p:sp>
      <p:sp>
        <p:nvSpPr>
          <p:cNvPr id="18" name="沒有更新共同計數器">
            <a:extLst xmlns:a="http://schemas.openxmlformats.org/drawingml/2006/main">
              <a:ext uri="{FF2B5EF4-FFF2-40B4-BE49-F238E27FC236}">
                <a16:creationId xmlns:a16="http://schemas.microsoft.com/office/drawing/2014/main" id="{EB3C13D8-3ED9-4839-8804-7BDE851D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沒有更新共同計數器</a:t>
            </a:r>
          </a:p>
        </p:txBody>
      </p:sp>
      <p:sp>
        <p:nvSpPr>
          <p:cNvPr id="19" name="每個實體都得到自己的 1。 Student.count 仍是 0。">
            <a:extLst xmlns:a="http://schemas.openxmlformats.org/drawingml/2006/main">
              <a:ext uri="{FF2B5EF4-FFF2-40B4-BE49-F238E27FC236}">
                <a16:creationId xmlns:a16="http://schemas.microsoft.com/office/drawing/2014/main" id="{61E9D6DE-0680-4EDE-BCE7-2052D3FC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每個實體都得到自己的 1。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Student.count 仍是 0。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FA23AFB-3B1A-4256-89C8-4901CE5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0    1 1    {'count': 1}">
            <a:extLst xmlns:a="http://schemas.openxmlformats.org/drawingml/2006/main">
              <a:ext uri="{FF2B5EF4-FFF2-40B4-BE49-F238E27FC236}">
                <a16:creationId xmlns:a16="http://schemas.microsoft.com/office/drawing/2014/main" id="{2B088724-FA0B-4D14-A8CC-F841D71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0    1 1    {'count': 1}</a:t>
            </a:r>
          </a:p>
        </p:txBody>
      </p:sp>
    </p:spTree>
    <p:extLst>
      <p:ext uri="{BB962C8B-B14F-4D97-AF65-F5344CB8AC3E}">
        <p14:creationId xmlns:p14="http://schemas.microsoft.com/office/powerpoint/2010/main" val="21287938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種方法接收的對象">
            <a:extLst xmlns:a="http://schemas.openxmlformats.org/drawingml/2006/main">
              <a:ext uri="{FF2B5EF4-FFF2-40B4-BE49-F238E27FC236}">
                <a16:creationId xmlns:a16="http://schemas.microsoft.com/office/drawing/2014/main" id="{2637E995-690B-47E1-A479-861983A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三種方法接收的對象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D5C95863-D841-4414-9B65-DFC409B3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方法與建構方式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A275C2A2-E0CF-4C84-B205-E6838F89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762375"/>
                <a:gridCol w="3971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自動接收的參數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實體方法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self：呼叫的實體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讀寫個別學生的狀態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@classmethod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cls：呼叫所對應的類別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替代建構子、類別相關行為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@staticmethod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沒有自動加入的 self 或 cls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與類別相關的純工具操作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差異在自動繫結的對象，不只是裝飾器名稱。">
            <a:extLst xmlns:a="http://schemas.openxmlformats.org/drawingml/2006/main">
              <a:ext uri="{FF2B5EF4-FFF2-40B4-BE49-F238E27FC236}">
                <a16:creationId xmlns:a16="http://schemas.microsoft.com/office/drawing/2014/main" id="{BA56E4A3-E4F3-4718-B22A-D6771B4E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差異在自動繫結的對象，不只是裝飾器名稱。</a:t>
            </a:r>
          </a:p>
        </p:txBody>
      </p:sp>
    </p:spTree>
    <p:extLst>
      <p:ext uri="{BB962C8B-B14F-4D97-AF65-F5344CB8AC3E}">
        <p14:creationId xmlns:p14="http://schemas.microsoft.com/office/powerpoint/2010/main" val="761050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lassmethod 與替代建構子">
            <a:extLst xmlns:a="http://schemas.openxmlformats.org/drawingml/2006/main">
              <a:ext uri="{FF2B5EF4-FFF2-40B4-BE49-F238E27FC236}">
                <a16:creationId xmlns:a16="http://schemas.microsoft.com/office/drawing/2014/main" id="{E9941B34-CD43-41A8-BC91-C1282572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classmethod 與替代建構子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6444EDAC-094D-454F-A46C-E1F4C1BF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方法與建構方式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564BAD31-BD05-4B23-80F3-33524789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0E2E3A8A-7882-4902-8045-E0C4403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1EA3508A-0638-4C4A-98EE-DC0780FE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B808D6D1-E810-4D56-863A-0943F8E8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5B439ABE-4992-447A-A9F4-F48DF0C2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BA67A-74A6-4937-9C8A-46C4CAE5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F8D925FA-B538-43B1-83F8-3C810951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0" name="    def from_csv(cls, row):">
            <a:extLst xmlns:a="http://schemas.openxmlformats.org/drawingml/2006/main">
              <a:ext uri="{FF2B5EF4-FFF2-40B4-BE49-F238E27FC236}">
                <a16:creationId xmlns:a16="http://schemas.microsoft.com/office/drawing/2014/main" id="{103F2092-4A4B-401F-8E2B-E7E57F23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from_csv(cls, row):</a:t>
            </a:r>
          </a:p>
        </p:txBody>
      </p:sp>
      <p:sp>
        <p:nvSpPr>
          <p:cNvPr id="11" name="        student_id, name = row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C46A63F7-021E-4DD8-9149-AB922FEE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student_id, name = row.split(",")</a:t>
            </a:r>
          </a:p>
        </p:txBody>
      </p:sp>
      <p:sp>
        <p:nvSpPr>
          <p:cNvPr id="12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A47F1830-C7CA-48FE-97C9-A6A5C0CB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CF729-5A4A-486B-895A-2DD55137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my = Student.from_csv(&quot;B11501, Amy&quot;)">
            <a:extLst xmlns:a="http://schemas.openxmlformats.org/drawingml/2006/main">
              <a:ext uri="{FF2B5EF4-FFF2-40B4-BE49-F238E27FC236}">
                <a16:creationId xmlns:a16="http://schemas.microsoft.com/office/drawing/2014/main" id="{60E1F48F-7CA1-413D-88A0-4D76C29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Student.from_csv("B11501, Amy")</a:t>
            </a:r>
          </a:p>
        </p:txBody>
      </p:sp>
      <p:sp>
        <p:nvSpPr>
          <p:cNvPr id="15" name="print(amy.student_id, amy.name)">
            <a:extLst xmlns:a="http://schemas.openxmlformats.org/drawingml/2006/main">
              <a:ext uri="{FF2B5EF4-FFF2-40B4-BE49-F238E27FC236}">
                <a16:creationId xmlns:a16="http://schemas.microsoft.com/office/drawing/2014/main" id="{832B2B6D-EEDB-4DE4-86D7-4C81C79D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print(amy.student_id, amy.name)</a:t>
            </a:r>
          </a:p>
        </p:txBody>
      </p:sp>
      <p:sp>
        <p:nvSpPr>
          <p:cNvPr id="16" name="from_csv 提供具名入口">
            <a:extLst xmlns:a="http://schemas.openxmlformats.org/drawingml/2006/main">
              <a:ext uri="{FF2B5EF4-FFF2-40B4-BE49-F238E27FC236}">
                <a16:creationId xmlns:a16="http://schemas.microsoft.com/office/drawing/2014/main" id="{E53B1727-F849-48AB-AB17-A3295AD4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from_csv 提供具名入口</a:t>
            </a:r>
          </a:p>
        </p:txBody>
      </p:sp>
      <p:sp>
        <p:nvSpPr>
          <p:cNvPr id="17" name="把一列文字轉成建立物件 所需的學號與姓名。">
            <a:extLst xmlns:a="http://schemas.openxmlformats.org/drawingml/2006/main">
              <a:ext uri="{FF2B5EF4-FFF2-40B4-BE49-F238E27FC236}">
                <a16:creationId xmlns:a16="http://schemas.microsoft.com/office/drawing/2014/main" id="{1C0DE406-A07B-40BA-B728-B2C3DCE3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把一列文字轉成建立物件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所需的學號與姓名。</a:t>
            </a:r>
          </a:p>
        </p:txBody>
      </p:sp>
      <p:sp>
        <p:nvSpPr>
          <p:cNvPr id="18" name="cls(...) 建立對應型別">
            <a:extLst xmlns:a="http://schemas.openxmlformats.org/drawingml/2006/main">
              <a:ext uri="{FF2B5EF4-FFF2-40B4-BE49-F238E27FC236}">
                <a16:creationId xmlns:a16="http://schemas.microsoft.com/office/drawing/2014/main" id="{C1445463-2931-43C0-85EF-124C2B2F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cls(...) 建立對應型別</a:t>
            </a:r>
          </a:p>
        </p:txBody>
      </p:sp>
      <p:sp>
        <p:nvSpPr>
          <p:cNvPr id="19" name="沿用 __init__ 的初始化。 本例只接受簡單雙欄文字。">
            <a:extLst xmlns:a="http://schemas.openxmlformats.org/drawingml/2006/main">
              <a:ext uri="{FF2B5EF4-FFF2-40B4-BE49-F238E27FC236}">
                <a16:creationId xmlns:a16="http://schemas.microsoft.com/office/drawing/2014/main" id="{C2D4D3B2-0F09-494D-ADAD-79FAF53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沿用 __init__ 的初始化。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本例只接受簡單雙欄文字。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015F3AF-540E-443F-9E53-2BF7A92B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B11501 Amy">
            <a:extLst xmlns:a="http://schemas.openxmlformats.org/drawingml/2006/main">
              <a:ext uri="{FF2B5EF4-FFF2-40B4-BE49-F238E27FC236}">
                <a16:creationId xmlns:a16="http://schemas.microsoft.com/office/drawing/2014/main" id="{4594F659-27BD-4C75-8CDC-8C91ACEB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B11501 Amy</a:t>
            </a:r>
          </a:p>
        </p:txBody>
      </p:sp>
    </p:spTree>
    <p:extLst>
      <p:ext uri="{BB962C8B-B14F-4D97-AF65-F5344CB8AC3E}">
        <p14:creationId xmlns:p14="http://schemas.microsoft.com/office/powerpoint/2010/main" val="4173083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含引號的 CSV 欄位">
            <a:extLst xmlns:a="http://schemas.openxmlformats.org/drawingml/2006/main">
              <a:ext uri="{FF2B5EF4-FFF2-40B4-BE49-F238E27FC236}">
                <a16:creationId xmlns:a16="http://schemas.microsoft.com/office/drawing/2014/main" id="{59521666-21A8-45D7-B830-413224FB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含引號的 CSV 欄位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16A1FA38-0C22-434C-9DDA-73EFED2E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方法與建構方式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1F9E5EB6-6A9D-4CAE-95AB-DFE887F0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4" name="import csv">
            <a:extLst xmlns:a="http://schemas.openxmlformats.org/drawingml/2006/main">
              <a:ext uri="{FF2B5EF4-FFF2-40B4-BE49-F238E27FC236}">
                <a16:creationId xmlns:a16="http://schemas.microsoft.com/office/drawing/2014/main" id="{797471BE-6B6D-43B1-98F6-5EAEEBA0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CBE0A-D3EF-4E1A-95EF-EF017B6F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69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65E9289-6046-4C8E-98F4-65746290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07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7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2AF1A2F0-BDC9-494A-8CBB-967C669C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45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8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050174E4-C508-47F0-A1D0-B55169D8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84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9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CB393139-93D0-459B-B10C-50AB6269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5E68-D80D-44FF-AF83-A1E4BEAA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61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1239C489-EFF2-4667-A4F5-E2B05D8C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99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2" name="    def from_csv(cls, row):">
            <a:extLst xmlns:a="http://schemas.openxmlformats.org/drawingml/2006/main">
              <a:ext uri="{FF2B5EF4-FFF2-40B4-BE49-F238E27FC236}">
                <a16:creationId xmlns:a16="http://schemas.microsoft.com/office/drawing/2014/main" id="{8B7A4F03-5A25-45C3-B752-8D06351B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37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from_csv(cls, row):</a:t>
            </a:r>
          </a:p>
        </p:txBody>
      </p:sp>
      <p:sp>
        <p:nvSpPr>
          <p:cNvPr id="13" name="        fields = next(csv.reader([row]))">
            <a:extLst xmlns:a="http://schemas.openxmlformats.org/drawingml/2006/main">
              <a:ext uri="{FF2B5EF4-FFF2-40B4-BE49-F238E27FC236}">
                <a16:creationId xmlns:a16="http://schemas.microsoft.com/office/drawing/2014/main" id="{499B64F9-CE21-409A-85DD-89E9465D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76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fields = next(csv.reader([row]))</a:t>
            </a:r>
          </a:p>
        </p:txBody>
      </p:sp>
      <p:sp>
        <p:nvSpPr>
          <p:cNvPr id="14" name="        student_id, name = fields">
            <a:extLst xmlns:a="http://schemas.openxmlformats.org/drawingml/2006/main">
              <a:ext uri="{FF2B5EF4-FFF2-40B4-BE49-F238E27FC236}">
                <a16:creationId xmlns:a16="http://schemas.microsoft.com/office/drawing/2014/main" id="{E81FBD27-B37C-4451-8E87-4C882EE7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student_id, name = fields</a:t>
            </a:r>
          </a:p>
        </p:txBody>
      </p:sp>
      <p:sp>
        <p:nvSpPr>
          <p:cNvPr id="15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B417096D-0C25-4B2D-AD65-78166F09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531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24C3A-D04C-44C5-B638-D2019B0B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915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s = Student.from_csv('B11501,&quot;Chen, Amy&quot;')">
            <a:extLst xmlns:a="http://schemas.openxmlformats.org/drawingml/2006/main">
              <a:ext uri="{FF2B5EF4-FFF2-40B4-BE49-F238E27FC236}">
                <a16:creationId xmlns:a16="http://schemas.microsoft.com/office/drawing/2014/main" id="{A35ED99D-6F98-4A95-B13C-7D752B7E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299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 = Student.from_csv('B11501,"Chen, Amy"')</a:t>
            </a:r>
          </a:p>
        </p:txBody>
      </p:sp>
      <p:sp>
        <p:nvSpPr>
          <p:cNvPr id="18" name="print(s.name)">
            <a:extLst xmlns:a="http://schemas.openxmlformats.org/drawingml/2006/main">
              <a:ext uri="{FF2B5EF4-FFF2-40B4-BE49-F238E27FC236}">
                <a16:creationId xmlns:a16="http://schemas.microsoft.com/office/drawing/2014/main" id="{C64FD9D9-C0AF-47BB-A8C2-37A63F78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6835"/>
            <a:ext cx="7391400" cy="300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print(s.name)</a:t>
            </a:r>
          </a:p>
        </p:txBody>
      </p:sp>
      <p:sp>
        <p:nvSpPr>
          <p:cNvPr id="19" name="CSV 有自己的欄位規則">
            <a:extLst xmlns:a="http://schemas.openxmlformats.org/drawingml/2006/main">
              <a:ext uri="{FF2B5EF4-FFF2-40B4-BE49-F238E27FC236}">
                <a16:creationId xmlns:a16="http://schemas.microsoft.com/office/drawing/2014/main" id="{C9578FAD-B753-4F93-A5A3-4A239C03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CSV 有自己的欄位規則</a:t>
            </a:r>
          </a:p>
        </p:txBody>
      </p:sp>
      <p:sp>
        <p:nvSpPr>
          <p:cNvPr id="20" name="引號內的逗號屬於姓名， 不是新的欄位。">
            <a:extLst xmlns:a="http://schemas.openxmlformats.org/drawingml/2006/main">
              <a:ext uri="{FF2B5EF4-FFF2-40B4-BE49-F238E27FC236}">
                <a16:creationId xmlns:a16="http://schemas.microsoft.com/office/drawing/2014/main" id="{E3EC5BFB-F3C3-48C8-BFF8-DAE8C237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引號內的逗號屬於姓名，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不是新的欄位。</a:t>
            </a:r>
          </a:p>
        </p:txBody>
      </p:sp>
      <p:sp>
        <p:nvSpPr>
          <p:cNvPr id="21" name="解析與建立各有責任">
            <a:extLst xmlns:a="http://schemas.openxmlformats.org/drawingml/2006/main">
              <a:ext uri="{FF2B5EF4-FFF2-40B4-BE49-F238E27FC236}">
                <a16:creationId xmlns:a16="http://schemas.microsoft.com/office/drawing/2014/main" id="{E0321A05-42D9-45B7-A7A6-83BF2054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解析與建立各有責任</a:t>
            </a:r>
          </a:p>
        </p:txBody>
      </p:sp>
      <p:sp>
        <p:nvSpPr>
          <p:cNvPr id="22" name="csv.reader 處理格式。 __init__ 處理物件初始狀態。">
            <a:extLst xmlns:a="http://schemas.openxmlformats.org/drawingml/2006/main">
              <a:ext uri="{FF2B5EF4-FFF2-40B4-BE49-F238E27FC236}">
                <a16:creationId xmlns:a16="http://schemas.microsoft.com/office/drawing/2014/main" id="{98BA86B4-80F9-4EA3-9912-95E0B162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csv.reader 處理格式。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__init__ 處理物件初始狀態。</a:t>
            </a:r>
          </a:p>
        </p:txBody>
      </p:sp>
      <p:sp>
        <p:nvSpPr>
          <p:cNvPr id="23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7A3DCB9-DF33-41DD-AD5D-43C727F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4" name="Chen, Amy">
            <a:extLst xmlns:a="http://schemas.openxmlformats.org/drawingml/2006/main">
              <a:ext uri="{FF2B5EF4-FFF2-40B4-BE49-F238E27FC236}">
                <a16:creationId xmlns:a16="http://schemas.microsoft.com/office/drawing/2014/main" id="{62F30DB9-E6A8-4AD9-9551-4B9318CB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Chen, Amy</a:t>
            </a:r>
          </a:p>
        </p:txBody>
      </p:sp>
    </p:spTree>
    <p:extLst>
      <p:ext uri="{BB962C8B-B14F-4D97-AF65-F5344CB8AC3E}">
        <p14:creationId xmlns:p14="http://schemas.microsoft.com/office/powerpoint/2010/main" val="19261751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ls 保留衍生類別的建立能力">
            <a:extLst xmlns:a="http://schemas.openxmlformats.org/drawingml/2006/main">
              <a:ext uri="{FF2B5EF4-FFF2-40B4-BE49-F238E27FC236}">
                <a16:creationId xmlns:a16="http://schemas.microsoft.com/office/drawing/2014/main" id="{6EF43FB3-5DF3-4FE3-A255-D2ADEAE4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cls 保留衍生類別的建立能力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9FF86A64-006F-4755-AE71-7050B9F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方法與建構方式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7102FEE3-0538-4236-95F3-7A56DDDA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E63471E0-458D-4D53-A00C-9864C0CE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CFCEB476-BBDB-40BC-8ED8-1610695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3F1A3AD2-2EF5-4C80-9B52-B5E1B2E3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F697F-B162-4A82-A89A-7351786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3F6D7942-E1F4-4D7B-84BA-7BEB95F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9" name="    def from_name(cls, name):">
            <a:extLst xmlns:a="http://schemas.openxmlformats.org/drawingml/2006/main">
              <a:ext uri="{FF2B5EF4-FFF2-40B4-BE49-F238E27FC236}">
                <a16:creationId xmlns:a16="http://schemas.microsoft.com/office/drawing/2014/main" id="{4336E3F2-FCE8-4F9B-B5AA-350ADB11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from_name(cls, name):</a:t>
            </a:r>
          </a:p>
        </p:txBody>
      </p:sp>
      <p:sp>
        <p:nvSpPr>
          <p:cNvPr id="10" name="        return cls(name)">
            <a:extLst xmlns:a="http://schemas.openxmlformats.org/drawingml/2006/main">
              <a:ext uri="{FF2B5EF4-FFF2-40B4-BE49-F238E27FC236}">
                <a16:creationId xmlns:a16="http://schemas.microsoft.com/office/drawing/2014/main" id="{04FBF42D-258F-452B-9955-87AAD2DE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cls(name)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E346A-A9B5-476B-8498-04378B0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lass GraduateStudent(Student):">
            <a:extLst xmlns:a="http://schemas.openxmlformats.org/drawingml/2006/main">
              <a:ext uri="{FF2B5EF4-FFF2-40B4-BE49-F238E27FC236}">
                <a16:creationId xmlns:a16="http://schemas.microsoft.com/office/drawing/2014/main" id="{3BF51AF5-E8B3-41B0-A874-09FBDE1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GraduateStudent(Student):</a:t>
            </a:r>
          </a:p>
        </p:txBody>
      </p:sp>
      <p:sp>
        <p:nvSpPr>
          <p:cNvPr id="13" name="    pass">
            <a:extLst xmlns:a="http://schemas.openxmlformats.org/drawingml/2006/main">
              <a:ext uri="{FF2B5EF4-FFF2-40B4-BE49-F238E27FC236}">
                <a16:creationId xmlns:a16="http://schemas.microsoft.com/office/drawing/2014/main" id="{D0E2D1D3-CA4C-4364-BEF9-43A4EF77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F1CA1-3E30-4860-B0B7-86EF7318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 = GraduateStudent.from_name(&quot;Amy&quot;)">
            <a:extLst xmlns:a="http://schemas.openxmlformats.org/drawingml/2006/main">
              <a:ext uri="{FF2B5EF4-FFF2-40B4-BE49-F238E27FC236}">
                <a16:creationId xmlns:a16="http://schemas.microsoft.com/office/drawing/2014/main" id="{E154B59A-2866-4A65-9E38-EA1BAF03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 = GraduateStudent.from_name("Amy")</a:t>
            </a:r>
          </a:p>
        </p:txBody>
      </p:sp>
      <p:sp>
        <p:nvSpPr>
          <p:cNvPr id="16" name="print(type(s).__name__)">
            <a:extLst xmlns:a="http://schemas.openxmlformats.org/drawingml/2006/main">
              <a:ext uri="{FF2B5EF4-FFF2-40B4-BE49-F238E27FC236}">
                <a16:creationId xmlns:a16="http://schemas.microsoft.com/office/drawing/2014/main" id="{50A412D5-5E69-4851-A825-8A3F63D1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print(type(s).__name__)</a:t>
            </a:r>
          </a:p>
        </p:txBody>
      </p:sp>
      <p:sp>
        <p:nvSpPr>
          <p:cNvPr id="17" name="cls 由實際呼叫決定">
            <a:extLst xmlns:a="http://schemas.openxmlformats.org/drawingml/2006/main">
              <a:ext uri="{FF2B5EF4-FFF2-40B4-BE49-F238E27FC236}">
                <a16:creationId xmlns:a16="http://schemas.microsoft.com/office/drawing/2014/main" id="{815C62AB-74A8-41C0-B5D2-98BFDE24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cls 由實際呼叫決定</a:t>
            </a:r>
          </a:p>
        </p:txBody>
      </p:sp>
      <p:sp>
        <p:nvSpPr>
          <p:cNvPr id="18" name="經由 GraduateStudent 呼叫， cls 就是 GraduateStudent。">
            <a:extLst xmlns:a="http://schemas.openxmlformats.org/drawingml/2006/main">
              <a:ext uri="{FF2B5EF4-FFF2-40B4-BE49-F238E27FC236}">
                <a16:creationId xmlns:a16="http://schemas.microsoft.com/office/drawing/2014/main" id="{3DD2DE72-39D7-4B46-9A97-701A46A3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經由 GraduateStudent 呼叫，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cls 就是 GraduateStudent。</a:t>
            </a:r>
          </a:p>
        </p:txBody>
      </p:sp>
      <p:sp>
        <p:nvSpPr>
          <p:cNvPr id="19" name="避免寫死 Student(...)">
            <a:extLst xmlns:a="http://schemas.openxmlformats.org/drawingml/2006/main">
              <a:ext uri="{FF2B5EF4-FFF2-40B4-BE49-F238E27FC236}">
                <a16:creationId xmlns:a16="http://schemas.microsoft.com/office/drawing/2014/main" id="{10EBEEA1-CBAB-480B-9853-3516FE6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避免寫死 Student(...)</a:t>
            </a:r>
          </a:p>
        </p:txBody>
      </p:sp>
      <p:sp>
        <p:nvSpPr>
          <p:cNvPr id="20" name="本例沿用相容的 __init__。 繼承細節於後續週次展開。">
            <a:extLst xmlns:a="http://schemas.openxmlformats.org/drawingml/2006/main">
              <a:ext uri="{FF2B5EF4-FFF2-40B4-BE49-F238E27FC236}">
                <a16:creationId xmlns:a16="http://schemas.microsoft.com/office/drawing/2014/main" id="{9AE63DD3-6EE6-4F50-A35B-43F91DB3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本例沿用相容的 __init__。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繼承細節於後續週次展開。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8870EEA-9980-45B1-81A9-543C2EFD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GraduateStudent">
            <a:extLst xmlns:a="http://schemas.openxmlformats.org/drawingml/2006/main">
              <a:ext uri="{FF2B5EF4-FFF2-40B4-BE49-F238E27FC236}">
                <a16:creationId xmlns:a16="http://schemas.microsoft.com/office/drawing/2014/main" id="{516969DE-9443-473A-84A9-25DBB968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GraduateStudent</a:t>
            </a:r>
          </a:p>
        </p:txBody>
      </p:sp>
    </p:spTree>
    <p:extLst>
      <p:ext uri="{BB962C8B-B14F-4D97-AF65-F5344CB8AC3E}">
        <p14:creationId xmlns:p14="http://schemas.microsoft.com/office/powerpoint/2010/main" val="211260420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taticmethod 與純工具操作">
            <a:extLst xmlns:a="http://schemas.openxmlformats.org/drawingml/2006/main">
              <a:ext uri="{FF2B5EF4-FFF2-40B4-BE49-F238E27FC236}">
                <a16:creationId xmlns:a16="http://schemas.microsoft.com/office/drawing/2014/main" id="{FF9676BF-577E-490D-BC7E-1576DFAB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staticmethod 與純工具操作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F5054F46-7F91-4995-BABA-28C23238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方法與建構方式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AF522CE7-6756-4F18-A5EF-36D0D27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2A438830-3A13-49AF-893C-28330F77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@staticmethod">
            <a:extLst xmlns:a="http://schemas.openxmlformats.org/drawingml/2006/main">
              <a:ext uri="{FF2B5EF4-FFF2-40B4-BE49-F238E27FC236}">
                <a16:creationId xmlns:a16="http://schemas.microsoft.com/office/drawing/2014/main" id="{6B71806F-1105-4A8E-A8CF-ADC19551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</p:txBody>
      </p:sp>
      <p:sp>
        <p:nvSpPr>
          <p:cNvPr id="6" name="    def normalize_name(name):">
            <a:extLst xmlns:a="http://schemas.openxmlformats.org/drawingml/2006/main">
              <a:ext uri="{FF2B5EF4-FFF2-40B4-BE49-F238E27FC236}">
                <a16:creationId xmlns:a16="http://schemas.microsoft.com/office/drawing/2014/main" id="{FF9100B3-3BAF-49A3-84D3-C861354D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normalize_name(name):</a:t>
            </a:r>
          </a:p>
        </p:txBody>
      </p:sp>
      <p:sp>
        <p:nvSpPr>
          <p:cNvPr id="7" name="        return &quot; &quot;.join(name.split())">
            <a:extLst xmlns:a="http://schemas.openxmlformats.org/drawingml/2006/main">
              <a:ext uri="{FF2B5EF4-FFF2-40B4-BE49-F238E27FC236}">
                <a16:creationId xmlns:a16="http://schemas.microsoft.com/office/drawing/2014/main" id="{C12687E6-6FE9-4E51-A8A9-E8AA0E1F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" ".join(name.split())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23F4E-3CCC-4A9B-9E0D-7D204C65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Student.normalize_name(&quot;  Amy   Chen  &quot;))">
            <a:extLst xmlns:a="http://schemas.openxmlformats.org/drawingml/2006/main">
              <a:ext uri="{FF2B5EF4-FFF2-40B4-BE49-F238E27FC236}">
                <a16:creationId xmlns:a16="http://schemas.microsoft.com/office/drawing/2014/main" id="{D68DF171-821C-4DB6-8123-FFC7EC08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print(Student.normalize_name("  Amy   Chen  "))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C13FD-B787-4964-9E26-2812472B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 = Student()">
            <a:extLst xmlns:a="http://schemas.openxmlformats.org/drawingml/2006/main">
              <a:ext uri="{FF2B5EF4-FFF2-40B4-BE49-F238E27FC236}">
                <a16:creationId xmlns:a16="http://schemas.microsoft.com/office/drawing/2014/main" id="{E87D36BA-B63F-453C-812C-CA1A8FD3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 = Student()</a:t>
            </a:r>
          </a:p>
        </p:txBody>
      </p:sp>
      <p:sp>
        <p:nvSpPr>
          <p:cNvPr id="12" name="print(s.normalize_name(&quot;  Bob  &quot;))">
            <a:extLst xmlns:a="http://schemas.openxmlformats.org/drawingml/2006/main">
              <a:ext uri="{FF2B5EF4-FFF2-40B4-BE49-F238E27FC236}">
                <a16:creationId xmlns:a16="http://schemas.microsoft.com/office/drawing/2014/main" id="{0FAE334C-9E93-451D-878F-F5A2F86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print(s.normalize_name("  Bob  "))</a:t>
            </a:r>
          </a:p>
        </p:txBody>
      </p:sp>
      <p:sp>
        <p:nvSpPr>
          <p:cNvPr id="13" name="不自動傳入 self 或 cls">
            <a:extLst xmlns:a="http://schemas.openxmlformats.org/drawingml/2006/main">
              <a:ext uri="{FF2B5EF4-FFF2-40B4-BE49-F238E27FC236}">
                <a16:creationId xmlns:a16="http://schemas.microsoft.com/office/drawing/2014/main" id="{B53E6D3B-BEDC-4323-BFEA-F01E7CCE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不自動傳入 self 或 cls</a:t>
            </a:r>
          </a:p>
        </p:txBody>
      </p:sp>
      <p:sp>
        <p:nvSpPr>
          <p:cNvPr id="14" name="結果完全取決於傳入的 name。 此方法沒有使用實體狀態。">
            <a:extLst xmlns:a="http://schemas.openxmlformats.org/drawingml/2006/main">
              <a:ext uri="{FF2B5EF4-FFF2-40B4-BE49-F238E27FC236}">
                <a16:creationId xmlns:a16="http://schemas.microsoft.com/office/drawing/2014/main" id="{A1544428-31DE-47E7-B31E-060385E1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結果完全取決於傳入的 name。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此方法沒有使用實體狀態。</a:t>
            </a:r>
          </a:p>
        </p:txBody>
      </p:sp>
      <p:sp>
        <p:nvSpPr>
          <p:cNvPr id="15" name="也可考慮模組函式">
            <a:extLst xmlns:a="http://schemas.openxmlformats.org/drawingml/2006/main">
              <a:ext uri="{FF2B5EF4-FFF2-40B4-BE49-F238E27FC236}">
                <a16:creationId xmlns:a16="http://schemas.microsoft.com/office/drawing/2014/main" id="{26D71E19-3322-444E-AF66-B14EFAC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也可考慮模組函式</a:t>
            </a:r>
          </a:p>
        </p:txBody>
      </p:sp>
      <p:sp>
        <p:nvSpPr>
          <p:cNvPr id="16" name="若工具與 Student 關係不大， 放在模組層級可能更清楚。">
            <a:extLst xmlns:a="http://schemas.openxmlformats.org/drawingml/2006/main">
              <a:ext uri="{FF2B5EF4-FFF2-40B4-BE49-F238E27FC236}">
                <a16:creationId xmlns:a16="http://schemas.microsoft.com/office/drawing/2014/main" id="{C34C44A2-785E-4F8F-8530-0D023272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若工具與 Student 關係不大，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放在模組層級可能更清楚。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CE7BDC-D57E-47D6-8F6C-6F7F23E2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8" name="Amy Chen    Bob">
            <a:extLst xmlns:a="http://schemas.openxmlformats.org/drawingml/2006/main">
              <a:ext uri="{FF2B5EF4-FFF2-40B4-BE49-F238E27FC236}">
                <a16:creationId xmlns:a16="http://schemas.microsoft.com/office/drawing/2014/main" id="{D31FC3E3-A0BE-45F2-81EB-99A83B20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Chen    Bob</a:t>
            </a:r>
          </a:p>
        </p:txBody>
      </p:sp>
    </p:spTree>
    <p:extLst>
      <p:ext uri="{BB962C8B-B14F-4D97-AF65-F5344CB8AC3E}">
        <p14:creationId xmlns:p14="http://schemas.microsoft.com/office/powerpoint/2010/main" val="17404904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方法應放在哪裡？">
            <a:extLst xmlns:a="http://schemas.openxmlformats.org/drawingml/2006/main">
              <a:ext uri="{FF2B5EF4-FFF2-40B4-BE49-F238E27FC236}">
                <a16:creationId xmlns:a16="http://schemas.microsoft.com/office/drawing/2014/main" id="{A700FF3B-51C3-4C00-B568-5B9D0F4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方法應放在哪裡？</a:t>
            </a:r>
          </a:p>
        </p:txBody>
      </p:sp>
      <p:sp>
        <p:nvSpPr>
          <p:cNvPr id="2" name="方法與建構方式">
            <a:extLst xmlns:a="http://schemas.openxmlformats.org/drawingml/2006/main">
              <a:ext uri="{FF2B5EF4-FFF2-40B4-BE49-F238E27FC236}">
                <a16:creationId xmlns:a16="http://schemas.microsoft.com/office/drawing/2014/main" id="{58E67FEC-8B86-4F85-9CCD-9BFFB293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方法與建構方式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E7F80E34-82DE-4AA1-B39C-D79203E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95750"/>
                <a:gridCol w="2476500"/>
                <a:gridCol w="44005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適合的選擇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例子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依賴某個物件的目前狀態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實體方法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amy.rename("Ann")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依賴呼叫的類別或建立型別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類別方法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Student.from_csv(row)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與類別相關，但不依賴其狀態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靜態方法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Student.normalize_name(text)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跨多種型別使用的一般工具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模組函式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normalize_whitespace(text)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先看資料依賴與責任，再選裝飾器。">
            <a:extLst xmlns:a="http://schemas.openxmlformats.org/drawingml/2006/main">
              <a:ext uri="{FF2B5EF4-FFF2-40B4-BE49-F238E27FC236}">
                <a16:creationId xmlns:a16="http://schemas.microsoft.com/office/drawing/2014/main" id="{794F15AF-400C-4168-B204-0BE4C76C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先看資料依賴與責任，再選裝飾器。</a:t>
            </a:r>
          </a:p>
        </p:txBody>
      </p:sp>
    </p:spTree>
    <p:extLst>
      <p:ext uri="{BB962C8B-B14F-4D97-AF65-F5344CB8AC3E}">
        <p14:creationId xmlns:p14="http://schemas.microsoft.com/office/powerpoint/2010/main" val="13888969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初始化時建立有效狀態">
            <a:extLst xmlns:a="http://schemas.openxmlformats.org/drawingml/2006/main">
              <a:ext uri="{FF2B5EF4-FFF2-40B4-BE49-F238E27FC236}">
                <a16:creationId xmlns:a16="http://schemas.microsoft.com/office/drawing/2014/main" id="{7525AE94-C972-4561-844B-00617B0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初始化時建立有效狀態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24D46079-C940-4730-BAAB-EA2D1A35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狀態與行為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D14ECBC4-DA51-4966-A777-7F22D015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必備資料">
            <a:extLst xmlns:a="http://schemas.openxmlformats.org/drawingml/2006/main">
              <a:ext uri="{FF2B5EF4-FFF2-40B4-BE49-F238E27FC236}">
                <a16:creationId xmlns:a16="http://schemas.microsoft.com/office/drawing/2014/main" id="{923C8220-2FE7-448B-8D65-82AEB1FC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必備資料</a:t>
            </a:r>
          </a:p>
        </p:txBody>
      </p:sp>
      <p:sp>
        <p:nvSpPr>
          <p:cNvPr id="5" name="建立物件後就具備所需屬性">
            <a:extLst xmlns:a="http://schemas.openxmlformats.org/drawingml/2006/main">
              <a:ext uri="{FF2B5EF4-FFF2-40B4-BE49-F238E27FC236}">
                <a16:creationId xmlns:a16="http://schemas.microsoft.com/office/drawing/2014/main" id="{95C01524-E2A1-4B97-A139-2E7621F0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建立物件後就具備所需屬性</a:t>
            </a:r>
          </a:p>
        </p:txBody>
      </p:sp>
      <p:sp>
        <p:nvSpPr>
          <p:cNvPr id="6" name="合理數值">
            <a:extLst xmlns:a="http://schemas.openxmlformats.org/drawingml/2006/main">
              <a:ext uri="{FF2B5EF4-FFF2-40B4-BE49-F238E27FC236}">
                <a16:creationId xmlns:a16="http://schemas.microsoft.com/office/drawing/2014/main" id="{692327B8-5087-4348-855C-8DD22B7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合理數值</a:t>
            </a:r>
          </a:p>
        </p:txBody>
      </p:sp>
      <p:sp>
        <p:nvSpPr>
          <p:cNvPr id="7" name="餘額不得為負，金額採整數單位">
            <a:extLst xmlns:a="http://schemas.openxmlformats.org/drawingml/2006/main">
              <a:ext uri="{FF2B5EF4-FFF2-40B4-BE49-F238E27FC236}">
                <a16:creationId xmlns:a16="http://schemas.microsoft.com/office/drawing/2014/main" id="{21FEB4DB-CC3C-4A64-9155-60A4FF71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餘額不得為負，金額採整數單位</a:t>
            </a:r>
          </a:p>
        </p:txBody>
      </p:sp>
      <p:sp>
        <p:nvSpPr>
          <p:cNvPr id="8" name="失敗方式">
            <a:extLst xmlns:a="http://schemas.openxmlformats.org/drawingml/2006/main">
              <a:ext uri="{FF2B5EF4-FFF2-40B4-BE49-F238E27FC236}">
                <a16:creationId xmlns:a16="http://schemas.microsoft.com/office/drawing/2014/main" id="{DCDDD016-F4B4-4D9C-8B23-DEAA39FD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失敗方式</a:t>
            </a:r>
          </a:p>
        </p:txBody>
      </p:sp>
      <p:sp>
        <p:nvSpPr>
          <p:cNvPr id="9" name="無效輸入以例外拒絕建立">
            <a:extLst xmlns:a="http://schemas.openxmlformats.org/drawingml/2006/main">
              <a:ext uri="{FF2B5EF4-FFF2-40B4-BE49-F238E27FC236}">
                <a16:creationId xmlns:a16="http://schemas.microsoft.com/office/drawing/2014/main" id="{BE1864E2-019F-406F-83B0-2102EA38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無效輸入以例外拒絕建立</a:t>
            </a:r>
          </a:p>
        </p:txBody>
      </p:sp>
      <p:sp>
        <p:nvSpPr>
          <p:cNvPr id="10" name="操作順序">
            <a:extLst xmlns:a="http://schemas.openxmlformats.org/drawingml/2006/main">
              <a:ext uri="{FF2B5EF4-FFF2-40B4-BE49-F238E27FC236}">
                <a16:creationId xmlns:a16="http://schemas.microsoft.com/office/drawing/2014/main" id="{58CFE663-E180-4B52-A120-130B6FB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操作順序</a:t>
            </a:r>
          </a:p>
        </p:txBody>
      </p:sp>
      <p:sp>
        <p:nvSpPr>
          <p:cNvPr id="11" name="先檢查條件，再修改狀態">
            <a:extLst xmlns:a="http://schemas.openxmlformats.org/drawingml/2006/main">
              <a:ext uri="{FF2B5EF4-FFF2-40B4-BE49-F238E27FC236}">
                <a16:creationId xmlns:a16="http://schemas.microsoft.com/office/drawing/2014/main" id="{B39EE4D3-FA13-4586-B1EC-8D34A33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先檢查條件，再修改狀態</a:t>
            </a:r>
          </a:p>
        </p:txBody>
      </p:sp>
      <p:sp>
        <p:nvSpPr>
          <p:cNvPr id="12" name="BankAccount 是簡化的課堂模型，用來觀察狀態驗證與方法責任。">
            <a:extLst xmlns:a="http://schemas.openxmlformats.org/drawingml/2006/main">
              <a:ext uri="{FF2B5EF4-FFF2-40B4-BE49-F238E27FC236}">
                <a16:creationId xmlns:a16="http://schemas.microsoft.com/office/drawing/2014/main" id="{C38DA748-FDF3-4FC8-A8CB-1094DC2F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BankAccount 是簡化的課堂模型，用來觀察狀態驗證與方法責任。</a:t>
            </a:r>
          </a:p>
        </p:txBody>
      </p:sp>
    </p:spTree>
    <p:extLst>
      <p:ext uri="{BB962C8B-B14F-4D97-AF65-F5344CB8AC3E}">
        <p14:creationId xmlns:p14="http://schemas.microsoft.com/office/powerpoint/2010/main" val="14571706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nkAccount：建立時驗證資料">
            <a:extLst xmlns:a="http://schemas.openxmlformats.org/drawingml/2006/main">
              <a:ext uri="{FF2B5EF4-FFF2-40B4-BE49-F238E27FC236}">
                <a16:creationId xmlns:a16="http://schemas.microsoft.com/office/drawing/2014/main" id="{980340DC-98D0-4007-9E82-8A94E84D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BankAccount：建立時驗證資料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35FBEBE1-4AF9-4F60-85A1-2BF6245B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狀態與行為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B0D35730-5F01-4E8C-B749-0CCA9D9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class BankAccount:">
            <a:extLst xmlns:a="http://schemas.openxmlformats.org/drawingml/2006/main">
              <a:ext uri="{FF2B5EF4-FFF2-40B4-BE49-F238E27FC236}">
                <a16:creationId xmlns:a16="http://schemas.microsoft.com/office/drawing/2014/main" id="{CEBD5CDE-EC3A-4186-B94C-C4D40AB4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BankAccount:</a:t>
            </a:r>
          </a:p>
        </p:txBody>
      </p:sp>
      <p:sp>
        <p:nvSpPr>
          <p:cNvPr id="5" name="    def __init__(self, owner: str, balance: int = 0):">
            <a:extLst xmlns:a="http://schemas.openxmlformats.org/drawingml/2006/main">
              <a:ext uri="{FF2B5EF4-FFF2-40B4-BE49-F238E27FC236}">
                <a16:creationId xmlns:a16="http://schemas.microsoft.com/office/drawing/2014/main" id="{BD6BA17B-9BC1-4EE4-B55D-9C8474E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owner: str, balance: int = 0):</a:t>
            </a:r>
          </a:p>
        </p:txBody>
      </p:sp>
      <p:sp>
        <p:nvSpPr>
          <p:cNvPr id="6" name="        if not isinstance(owner, str) or not owner.stri">
            <a:extLst xmlns:a="http://schemas.openxmlformats.org/drawingml/2006/main">
              <a:ext uri="{FF2B5EF4-FFF2-40B4-BE49-F238E27FC236}">
                <a16:creationId xmlns:a16="http://schemas.microsoft.com/office/drawing/2014/main" id="{E387765E-CAE9-4421-818A-7593693A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not isinstance(owner, str) or not owner.strip():</a:t>
            </a:r>
          </a:p>
        </p:txBody>
      </p:sp>
      <p:sp>
        <p:nvSpPr>
          <p:cNvPr id="7" name="            raise ValueError(&quot;owner required&quot;)">
            <a:extLst xmlns:a="http://schemas.openxmlformats.org/drawingml/2006/main">
              <a:ext uri="{FF2B5EF4-FFF2-40B4-BE49-F238E27FC236}">
                <a16:creationId xmlns:a16="http://schemas.microsoft.com/office/drawing/2014/main" id="{796B0670-D081-4ACB-A240-1C037C11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ValueError("owner required")</a:t>
            </a:r>
          </a:p>
        </p:txBody>
      </p:sp>
      <p:sp>
        <p:nvSpPr>
          <p:cNvPr id="8" name="        if type(balance) is not int or balance &lt; 0:">
            <a:extLst xmlns:a="http://schemas.openxmlformats.org/drawingml/2006/main">
              <a:ext uri="{FF2B5EF4-FFF2-40B4-BE49-F238E27FC236}">
                <a16:creationId xmlns:a16="http://schemas.microsoft.com/office/drawing/2014/main" id="{EA93654D-4B47-47D2-BB15-A4C916BB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type(balance) is not int or balance &lt; 0:</a:t>
            </a:r>
          </a:p>
        </p:txBody>
      </p:sp>
      <p:sp>
        <p:nvSpPr>
          <p:cNvPr id="9" name="            raise ValueError(&quot;invalid balance&quot;)">
            <a:extLst xmlns:a="http://schemas.openxmlformats.org/drawingml/2006/main">
              <a:ext uri="{FF2B5EF4-FFF2-40B4-BE49-F238E27FC236}">
                <a16:creationId xmlns:a16="http://schemas.microsoft.com/office/drawing/2014/main" id="{F87E7E73-662C-4A82-86EE-BC84EFC5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ValueError("invalid balance")</a:t>
            </a:r>
          </a:p>
        </p:txBody>
      </p:sp>
      <p:sp>
        <p:nvSpPr>
          <p:cNvPr id="10" name="        self.owner = owner.strip()">
            <a:extLst xmlns:a="http://schemas.openxmlformats.org/drawingml/2006/main">
              <a:ext uri="{FF2B5EF4-FFF2-40B4-BE49-F238E27FC236}">
                <a16:creationId xmlns:a16="http://schemas.microsoft.com/office/drawing/2014/main" id="{4ADF32D3-642A-48B7-AC3A-6BF329BE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self.owner = owner.strip()</a:t>
            </a:r>
          </a:p>
        </p:txBody>
      </p:sp>
      <p:sp>
        <p:nvSpPr>
          <p:cNvPr id="11" name="        self.balance = balance">
            <a:extLst xmlns:a="http://schemas.openxmlformats.org/drawingml/2006/main">
              <a:ext uri="{FF2B5EF4-FFF2-40B4-BE49-F238E27FC236}">
                <a16:creationId xmlns:a16="http://schemas.microsoft.com/office/drawing/2014/main" id="{1F3EA77F-24D4-464B-8E54-DC17660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self.balance = 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B095E-98D5-4845-B7D8-70629A3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8524C454-5C76-4BC3-8560-3EA3D90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14" name="print(account.owner, account.balance)">
            <a:extLst xmlns:a="http://schemas.openxmlformats.org/drawingml/2006/main">
              <a:ext uri="{FF2B5EF4-FFF2-40B4-BE49-F238E27FC236}">
                <a16:creationId xmlns:a16="http://schemas.microsoft.com/office/drawing/2014/main" id="{408FFB4D-4E57-4070-9C6C-0395033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print(account.owner, account.balance)</a:t>
            </a:r>
          </a:p>
        </p:txBody>
      </p:sp>
      <p:sp>
        <p:nvSpPr>
          <p:cNvPr id="15" name="條件通過後保存屬性">
            <a:extLst xmlns:a="http://schemas.openxmlformats.org/drawingml/2006/main">
              <a:ext uri="{FF2B5EF4-FFF2-40B4-BE49-F238E27FC236}">
                <a16:creationId xmlns:a16="http://schemas.microsoft.com/office/drawing/2014/main" id="{AF4E14EF-52BF-40FF-9A8E-04288383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條件通過後保存屬性</a:t>
            </a:r>
          </a:p>
        </p:txBody>
      </p:sp>
      <p:sp>
        <p:nvSpPr>
          <p:cNvPr id="16" name="拒絕空姓名與無效餘額。 成功建立就有完整的必要狀態。">
            <a:extLst xmlns:a="http://schemas.openxmlformats.org/drawingml/2006/main">
              <a:ext uri="{FF2B5EF4-FFF2-40B4-BE49-F238E27FC236}">
                <a16:creationId xmlns:a16="http://schemas.microsoft.com/office/drawing/2014/main" id="{6787418F-4FFB-40B6-A13B-8C0AD0E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拒絕空姓名與無效餘額。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成功建立就有完整的必要狀態。</a:t>
            </a:r>
          </a:p>
        </p:txBody>
      </p:sp>
      <p:sp>
        <p:nvSpPr>
          <p:cNvPr id="17" name="型別提示不自動驗證">
            <a:extLst xmlns:a="http://schemas.openxmlformats.org/drawingml/2006/main">
              <a:ext uri="{FF2B5EF4-FFF2-40B4-BE49-F238E27FC236}">
                <a16:creationId xmlns:a16="http://schemas.microsoft.com/office/drawing/2014/main" id="{CC2C2039-7ED2-4C88-8E93-3BF7DC66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型別提示不自動驗證</a:t>
            </a:r>
          </a:p>
        </p:txBody>
      </p:sp>
      <p:sp>
        <p:nvSpPr>
          <p:cNvPr id="18" name="本例明確檢查執行期輸入。 type(...) is int 也排除 bool。">
            <a:extLst xmlns:a="http://schemas.openxmlformats.org/drawingml/2006/main">
              <a:ext uri="{FF2B5EF4-FFF2-40B4-BE49-F238E27FC236}">
                <a16:creationId xmlns:a16="http://schemas.microsoft.com/office/drawing/2014/main" id="{2B9B9694-9EC0-4AAA-A648-F24D8373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本例明確檢查執行期輸入。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type(...) is int 也排除 bool。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DBFE24E-3A1B-4F98-9830-379DB3A3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0" name="Amy 100">
            <a:extLst xmlns:a="http://schemas.openxmlformats.org/drawingml/2006/main">
              <a:ext uri="{FF2B5EF4-FFF2-40B4-BE49-F238E27FC236}">
                <a16:creationId xmlns:a16="http://schemas.microsoft.com/office/drawing/2014/main" id="{51973CB2-353F-4C62-9B5C-569C82DD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Amy 100</a:t>
            </a:r>
          </a:p>
        </p:txBody>
      </p:sp>
    </p:spTree>
    <p:extLst>
      <p:ext uri="{BB962C8B-B14F-4D97-AF65-F5344CB8AC3E}">
        <p14:creationId xmlns:p14="http://schemas.microsoft.com/office/powerpoint/2010/main" val="12272743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ankAccount：方法維持狀態規則">
            <a:extLst xmlns:a="http://schemas.openxmlformats.org/drawingml/2006/main">
              <a:ext uri="{FF2B5EF4-FFF2-40B4-BE49-F238E27FC236}">
                <a16:creationId xmlns:a16="http://schemas.microsoft.com/office/drawing/2014/main" id="{F05EC641-BE8F-4A0B-9337-01E5F6C6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BankAccount：方法維持狀態規則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3376D963-DB17-421A-BD46-1B0F0EFB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狀態與行為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CCFC4F3A-4F57-4EE5-865F-B782D391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# Method inside BankAccount">
            <a:extLst xmlns:a="http://schemas.openxmlformats.org/drawingml/2006/main">
              <a:ext uri="{FF2B5EF4-FFF2-40B4-BE49-F238E27FC236}">
                <a16:creationId xmlns:a16="http://schemas.microsoft.com/office/drawing/2014/main" id="{C1ABCC15-0309-4920-A611-BBADE1C5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D7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5B6D73"/>
                </a:solidFill>
                <a:latin typeface="Consolas"/>
                <a:ea typeface="Consolas"/>
                <a:cs typeface="Consolas"/>
              </a:rPr>
              <a:t># Method inside BankAccount</a:t>
            </a:r>
          </a:p>
        </p:txBody>
      </p:sp>
      <p:sp>
        <p:nvSpPr>
          <p:cNvPr id="5" name="def deposit(self, amount: int) -&gt; None:">
            <a:extLst xmlns:a="http://schemas.openxmlformats.org/drawingml/2006/main">
              <a:ext uri="{FF2B5EF4-FFF2-40B4-BE49-F238E27FC236}">
                <a16:creationId xmlns:a16="http://schemas.microsoft.com/office/drawing/2014/main" id="{FC2567E8-7B4F-47ED-9500-68DDB92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deposit(self, amount: int) -&gt; None:</a:t>
            </a:r>
          </a:p>
        </p:txBody>
      </p:sp>
      <p:sp>
        <p:nvSpPr>
          <p:cNvPr id="6" name="    if type(amount) is not int or amount &lt;= 0:">
            <a:extLst xmlns:a="http://schemas.openxmlformats.org/drawingml/2006/main">
              <a:ext uri="{FF2B5EF4-FFF2-40B4-BE49-F238E27FC236}">
                <a16:creationId xmlns:a16="http://schemas.microsoft.com/office/drawing/2014/main" id="{DAA43578-0885-4A58-A21D-958C84C1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if type(amount) is not int or amount &lt;= 0:</a:t>
            </a:r>
          </a:p>
        </p:txBody>
      </p:sp>
      <p:sp>
        <p:nvSpPr>
          <p:cNvPr id="7" name="        raise ValueError(&quot;positive integer required&quot;)">
            <a:extLst xmlns:a="http://schemas.openxmlformats.org/drawingml/2006/main">
              <a:ext uri="{FF2B5EF4-FFF2-40B4-BE49-F238E27FC236}">
                <a16:creationId xmlns:a16="http://schemas.microsoft.com/office/drawing/2014/main" id="{1D020FE1-90D0-4270-8486-F4473F0D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raise ValueError("positive integer required")</a:t>
            </a:r>
          </a:p>
        </p:txBody>
      </p:sp>
      <p:sp>
        <p:nvSpPr>
          <p:cNvPr id="8" name="    self.balance += amount">
            <a:extLst xmlns:a="http://schemas.openxmlformats.org/drawingml/2006/main">
              <a:ext uri="{FF2B5EF4-FFF2-40B4-BE49-F238E27FC236}">
                <a16:creationId xmlns:a16="http://schemas.microsoft.com/office/drawing/2014/main" id="{86C96A4A-AF3C-4A77-BBFF-015D6B0E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self.balance += amount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D8011-FF4C-46FA-AE7F-5106AEAF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7F28D05D-9FF3-4A25-AC24-A806C135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11" name="account.deposit(20)">
            <a:extLst xmlns:a="http://schemas.openxmlformats.org/drawingml/2006/main">
              <a:ext uri="{FF2B5EF4-FFF2-40B4-BE49-F238E27FC236}">
                <a16:creationId xmlns:a16="http://schemas.microsoft.com/office/drawing/2014/main" id="{D65E14A1-FCC9-4558-9BC4-2B8607F4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account.deposit(20)</a:t>
            </a:r>
          </a:p>
        </p:txBody>
      </p:sp>
      <p:sp>
        <p:nvSpPr>
          <p:cNvPr id="12" name="try:">
            <a:extLst xmlns:a="http://schemas.openxmlformats.org/drawingml/2006/main">
              <a:ext uri="{FF2B5EF4-FFF2-40B4-BE49-F238E27FC236}">
                <a16:creationId xmlns:a16="http://schemas.microsoft.com/office/drawing/2014/main" id="{6770A108-D556-4EA8-BFD3-D92FC3AC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3" name="    account.deposit(-5)">
            <a:extLst xmlns:a="http://schemas.openxmlformats.org/drawingml/2006/main">
              <a:ext uri="{FF2B5EF4-FFF2-40B4-BE49-F238E27FC236}">
                <a16:creationId xmlns:a16="http://schemas.microsoft.com/office/drawing/2014/main" id="{9506F68C-F4F8-4796-85DA-D2F27E4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account.deposit(-5)</a:t>
            </a:r>
          </a:p>
        </p:txBody>
      </p:sp>
      <p:sp>
        <p:nvSpPr>
          <p:cNvPr id="14" name="except ValueError:">
            <a:extLst xmlns:a="http://schemas.openxmlformats.org/drawingml/2006/main">
              <a:ext uri="{FF2B5EF4-FFF2-40B4-BE49-F238E27FC236}">
                <a16:creationId xmlns:a16="http://schemas.microsoft.com/office/drawing/2014/main" id="{AA46F192-0F38-407F-A398-22994F5D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except ValueError:</a:t>
            </a:r>
          </a:p>
        </p:txBody>
      </p:sp>
      <p:sp>
        <p:nvSpPr>
          <p:cNvPr id="15" name="    print(&quot;rejected&quot;)">
            <a:extLst xmlns:a="http://schemas.openxmlformats.org/drawingml/2006/main">
              <a:ext uri="{FF2B5EF4-FFF2-40B4-BE49-F238E27FC236}">
                <a16:creationId xmlns:a16="http://schemas.microsoft.com/office/drawing/2014/main" id="{4F04ED2C-89E1-4D87-865B-E93765C3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print("rejected")</a:t>
            </a:r>
          </a:p>
        </p:txBody>
      </p:sp>
      <p:sp>
        <p:nvSpPr>
          <p:cNvPr id="16" name="print(account.balance)">
            <a:extLst xmlns:a="http://schemas.openxmlformats.org/drawingml/2006/main">
              <a:ext uri="{FF2B5EF4-FFF2-40B4-BE49-F238E27FC236}">
                <a16:creationId xmlns:a16="http://schemas.microsoft.com/office/drawing/2014/main" id="{1794F22B-D5D5-47EB-9A86-BBAAE387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print(account.balance)</a:t>
            </a:r>
          </a:p>
        </p:txBody>
      </p:sp>
      <p:sp>
        <p:nvSpPr>
          <p:cNvPr id="17" name="deposit 屬於帳戶的行為">
            <a:extLst xmlns:a="http://schemas.openxmlformats.org/drawingml/2006/main">
              <a:ext uri="{FF2B5EF4-FFF2-40B4-BE49-F238E27FC236}">
                <a16:creationId xmlns:a16="http://schemas.microsoft.com/office/drawing/2014/main" id="{3F6D75C9-4321-49A8-8A19-2044098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deposit 屬於帳戶的行為</a:t>
            </a:r>
          </a:p>
        </p:txBody>
      </p:sp>
      <p:sp>
        <p:nvSpPr>
          <p:cNvPr id="18" name="操作接收者的 balance。 驗證失敗時不修改餘額。">
            <a:extLst xmlns:a="http://schemas.openxmlformats.org/drawingml/2006/main">
              <a:ext uri="{FF2B5EF4-FFF2-40B4-BE49-F238E27FC236}">
                <a16:creationId xmlns:a16="http://schemas.microsoft.com/office/drawing/2014/main" id="{3BB0D6BB-C437-45AB-8C94-9031007E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操作接收者的 balance。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驗證失敗時不修改餘額。</a:t>
            </a:r>
          </a:p>
        </p:txBody>
      </p:sp>
      <p:sp>
        <p:nvSpPr>
          <p:cNvPr id="19" name="沿用前頁的初始化">
            <a:extLst xmlns:a="http://schemas.openxmlformats.org/drawingml/2006/main">
              <a:ext uri="{FF2B5EF4-FFF2-40B4-BE49-F238E27FC236}">
                <a16:creationId xmlns:a16="http://schemas.microsoft.com/office/drawing/2014/main" id="{A758DFBF-39FA-4434-9C70-FE71C72E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沿用前頁的初始化</a:t>
            </a:r>
          </a:p>
        </p:txBody>
      </p:sp>
      <p:sp>
        <p:nvSpPr>
          <p:cNvPr id="20" name="此頁上方展示類別內的方法。 附檔包含完整 BankAccount。">
            <a:extLst xmlns:a="http://schemas.openxmlformats.org/drawingml/2006/main">
              <a:ext uri="{FF2B5EF4-FFF2-40B4-BE49-F238E27FC236}">
                <a16:creationId xmlns:a16="http://schemas.microsoft.com/office/drawing/2014/main" id="{05ECD1B7-24EA-4AC1-B082-77B67BF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此頁上方展示類別內的方法。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附檔包含完整 BankAccount。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950EC21-87BB-4B1A-A2E5-589102BB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rejected    120">
            <a:extLst xmlns:a="http://schemas.openxmlformats.org/drawingml/2006/main">
              <a:ext uri="{FF2B5EF4-FFF2-40B4-BE49-F238E27FC236}">
                <a16:creationId xmlns:a16="http://schemas.microsoft.com/office/drawing/2014/main" id="{AEA832BF-9DFA-4434-B9F3-6FA33FCF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rejected    120</a:t>
            </a:r>
          </a:p>
        </p:txBody>
      </p:sp>
    </p:spTree>
    <p:extLst>
      <p:ext uri="{BB962C8B-B14F-4D97-AF65-F5344CB8AC3E}">
        <p14:creationId xmlns:p14="http://schemas.microsoft.com/office/powerpoint/2010/main" val="47026227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公有屬性與規則的邊界">
            <a:extLst xmlns:a="http://schemas.openxmlformats.org/drawingml/2006/main">
              <a:ext uri="{FF2B5EF4-FFF2-40B4-BE49-F238E27FC236}">
                <a16:creationId xmlns:a16="http://schemas.microsoft.com/office/drawing/2014/main" id="{78787AA4-40D9-4968-B677-9FB594CA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公有屬性與規則的邊界</a:t>
            </a:r>
          </a:p>
        </p:txBody>
      </p:sp>
      <p:sp>
        <p:nvSpPr>
          <p:cNvPr id="2" name="狀態與行為">
            <a:extLst xmlns:a="http://schemas.openxmlformats.org/drawingml/2006/main">
              <a:ext uri="{FF2B5EF4-FFF2-40B4-BE49-F238E27FC236}">
                <a16:creationId xmlns:a16="http://schemas.microsoft.com/office/drawing/2014/main" id="{A1C8E329-FAB0-421F-AA63-BC8BC8F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狀態與行為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997276CA-B715-4BA4-94D2-2EB5C8B4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# BankAccount from the previous slide">
            <a:extLst xmlns:a="http://schemas.openxmlformats.org/drawingml/2006/main">
              <a:ext uri="{FF2B5EF4-FFF2-40B4-BE49-F238E27FC236}">
                <a16:creationId xmlns:a16="http://schemas.microsoft.com/office/drawing/2014/main" id="{600DAFC6-6615-4942-9FE1-FBEB8644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BankAccount from the previous slide</a:t>
            </a:r>
          </a:p>
        </p:txBody>
      </p:sp>
      <p:sp>
        <p:nvSpPr>
          <p:cNvPr id="5" name="account = BankAccount(&quot;Amy&quot;, 100)">
            <a:extLst xmlns:a="http://schemas.openxmlformats.org/drawingml/2006/main">
              <a:ext uri="{FF2B5EF4-FFF2-40B4-BE49-F238E27FC236}">
                <a16:creationId xmlns:a16="http://schemas.microsoft.com/office/drawing/2014/main" id="{90280E9A-FEDB-458A-95A9-29AC420E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 = BankAccount("Amy", 100)</a:t>
            </a:r>
          </a:p>
        </p:txBody>
      </p:sp>
      <p:sp>
        <p:nvSpPr>
          <p:cNvPr id="6" name="account.balance = -999">
            <a:extLst xmlns:a="http://schemas.openxmlformats.org/drawingml/2006/main">
              <a:ext uri="{FF2B5EF4-FFF2-40B4-BE49-F238E27FC236}">
                <a16:creationId xmlns:a16="http://schemas.microsoft.com/office/drawing/2014/main" id="{27B52DFF-08DB-46E7-9490-5E29AD74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account.balance = -999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3F0C8-5BAA-4D62-AF38-3F140748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account.balance)">
            <a:extLst xmlns:a="http://schemas.openxmlformats.org/drawingml/2006/main">
              <a:ext uri="{FF2B5EF4-FFF2-40B4-BE49-F238E27FC236}">
                <a16:creationId xmlns:a16="http://schemas.microsoft.com/office/drawing/2014/main" id="{E5EAC920-7191-40CF-A97A-41D9555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print(account.balance)</a:t>
            </a:r>
          </a:p>
        </p:txBody>
      </p:sp>
      <p:sp>
        <p:nvSpPr>
          <p:cNvPr id="9" name="方法驗證有適用範圍">
            <a:extLst xmlns:a="http://schemas.openxmlformats.org/drawingml/2006/main">
              <a:ext uri="{FF2B5EF4-FFF2-40B4-BE49-F238E27FC236}">
                <a16:creationId xmlns:a16="http://schemas.microsoft.com/office/drawing/2014/main" id="{5C4CFCCF-499A-449B-8F29-58E0E32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方法驗證有適用範圍</a:t>
            </a:r>
          </a:p>
        </p:txBody>
      </p:sp>
      <p:sp>
        <p:nvSpPr>
          <p:cNvPr id="10" name="deposit 只驗證經由 該方法進行的操作。">
            <a:extLst xmlns:a="http://schemas.openxmlformats.org/drawingml/2006/main">
              <a:ext uri="{FF2B5EF4-FFF2-40B4-BE49-F238E27FC236}">
                <a16:creationId xmlns:a16="http://schemas.microsoft.com/office/drawing/2014/main" id="{E33B7547-822F-43F8-9C49-78B4545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deposit 只驗證經由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該方法進行的操作。</a:t>
            </a:r>
          </a:p>
        </p:txBody>
      </p:sp>
      <p:sp>
        <p:nvSpPr>
          <p:cNvPr id="11" name="直接指定仍可繞過規則">
            <a:extLst xmlns:a="http://schemas.openxmlformats.org/drawingml/2006/main">
              <a:ext uri="{FF2B5EF4-FFF2-40B4-BE49-F238E27FC236}">
                <a16:creationId xmlns:a16="http://schemas.microsoft.com/office/drawing/2014/main" id="{2EAB5BA6-130C-4001-AD35-5E5C82B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直接指定仍可繞過規則</a:t>
            </a:r>
          </a:p>
        </p:txBody>
      </p:sp>
      <p:sp>
        <p:nvSpPr>
          <p:cNvPr id="12" name="本週的 balance 是公有屬性。 第四週以封裝與 property 深入。">
            <a:extLst xmlns:a="http://schemas.openxmlformats.org/drawingml/2006/main">
              <a:ext uri="{FF2B5EF4-FFF2-40B4-BE49-F238E27FC236}">
                <a16:creationId xmlns:a16="http://schemas.microsoft.com/office/drawing/2014/main" id="{59696EC2-3954-453A-AD45-0E1BE84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本週的 balance 是公有屬性。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第四週以封裝與 property 深入。</a:t>
            </a:r>
          </a:p>
        </p:txBody>
      </p:sp>
      <p:sp>
        <p:nvSpPr>
          <p:cNvPr id="13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861841AE-B8D4-4941-990E-0E7402CA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14" name="-999">
            <a:extLst xmlns:a="http://schemas.openxmlformats.org/drawingml/2006/main">
              <a:ext uri="{FF2B5EF4-FFF2-40B4-BE49-F238E27FC236}">
                <a16:creationId xmlns:a16="http://schemas.microsoft.com/office/drawing/2014/main" id="{D1448278-08C2-48D6-A028-4D60160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-999</a:t>
            </a:r>
          </a:p>
        </p:txBody>
      </p:sp>
    </p:spTree>
    <p:extLst>
      <p:ext uri="{BB962C8B-B14F-4D97-AF65-F5344CB8AC3E}">
        <p14:creationId xmlns:p14="http://schemas.microsoft.com/office/powerpoint/2010/main" val="626635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__repr__ 提供可讀的物件表示">
            <a:extLst xmlns:a="http://schemas.openxmlformats.org/drawingml/2006/main">
              <a:ext uri="{FF2B5EF4-FFF2-40B4-BE49-F238E27FC236}">
                <a16:creationId xmlns:a16="http://schemas.microsoft.com/office/drawing/2014/main" id="{5AAC011F-3C58-427F-9E95-6B6FF95B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__repr__ 提供可讀的物件表示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1E8AC2AE-E6A0-45B9-9309-5F6B94C7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觀察與診斷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F265AE6F-8B11-456D-BCB3-6861F263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31DF2798-4289-43C8-B7D3-D77CFA6D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student_id, name):">
            <a:extLst xmlns:a="http://schemas.openxmlformats.org/drawingml/2006/main">
              <a:ext uri="{FF2B5EF4-FFF2-40B4-BE49-F238E27FC236}">
                <a16:creationId xmlns:a16="http://schemas.microsoft.com/office/drawing/2014/main" id="{5A2C093C-E974-4C58-8431-A0B47ED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4429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student_id, name):</a:t>
            </a:r>
          </a:p>
        </p:txBody>
      </p:sp>
      <p:sp>
        <p:nvSpPr>
          <p:cNvPr id="6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CC83E4DE-5689-4C90-A04B-0256DF49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78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9051A0F7-063A-41AB-801B-2B822A9D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713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C8CB8-853D-4E21-971C-B79EB68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849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    def __repr__(self):">
            <a:extLst xmlns:a="http://schemas.openxmlformats.org/drawingml/2006/main">
              <a:ext uri="{FF2B5EF4-FFF2-40B4-BE49-F238E27FC236}">
                <a16:creationId xmlns:a16="http://schemas.microsoft.com/office/drawing/2014/main" id="{5752C9E4-D08B-4A03-9F5F-487B782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9844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__repr__(self):</a:t>
            </a:r>
          </a:p>
        </p:txBody>
      </p:sp>
      <p:sp>
        <p:nvSpPr>
          <p:cNvPr id="10" name="        return (">
            <a:extLst xmlns:a="http://schemas.openxmlformats.org/drawingml/2006/main">
              <a:ext uri="{FF2B5EF4-FFF2-40B4-BE49-F238E27FC236}">
                <a16:creationId xmlns:a16="http://schemas.microsoft.com/office/drawing/2014/main" id="{EB68F943-7EBC-4887-A0EB-4769123C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198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(</a:t>
            </a:r>
          </a:p>
        </p:txBody>
      </p:sp>
      <p:sp>
        <p:nvSpPr>
          <p:cNvPr id="11" name="            f&quot;Student({self.student_id!r}, &quot;">
            <a:extLst xmlns:a="http://schemas.openxmlformats.org/drawingml/2006/main">
              <a:ext uri="{FF2B5EF4-FFF2-40B4-BE49-F238E27FC236}">
                <a16:creationId xmlns:a16="http://schemas.microsoft.com/office/drawing/2014/main" id="{BE64F147-F2E4-4787-BB60-8A91FC8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2552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f"Student({self.student_id!r}, "</a:t>
            </a:r>
          </a:p>
        </p:txBody>
      </p:sp>
      <p:sp>
        <p:nvSpPr>
          <p:cNvPr id="12" name="            f&quot;{self.name!r})&quot;">
            <a:extLst xmlns:a="http://schemas.openxmlformats.org/drawingml/2006/main">
              <a:ext uri="{FF2B5EF4-FFF2-40B4-BE49-F238E27FC236}">
                <a16:creationId xmlns:a16="http://schemas.microsoft.com/office/drawing/2014/main" id="{970E408F-2B3F-43F9-BDD1-0C3DFD6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3906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f"{self.name!r})"</a:t>
            </a:r>
          </a:p>
        </p:txBody>
      </p:sp>
      <p:sp>
        <p:nvSpPr>
          <p:cNvPr id="13" name="        )">
            <a:extLst xmlns:a="http://schemas.openxmlformats.org/drawingml/2006/main">
              <a:ext uri="{FF2B5EF4-FFF2-40B4-BE49-F238E27FC236}">
                <a16:creationId xmlns:a16="http://schemas.microsoft.com/office/drawing/2014/main" id="{325AE00A-7B09-4FE5-832D-C937827A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5260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EF6E2-7637-40B1-AC07-B533A3F5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6613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my = Student(&quot;B11501&quot;, &quot;Amy&quot;)">
            <a:extLst xmlns:a="http://schemas.openxmlformats.org/drawingml/2006/main">
              <a:ext uri="{FF2B5EF4-FFF2-40B4-BE49-F238E27FC236}">
                <a16:creationId xmlns:a16="http://schemas.microsoft.com/office/drawing/2014/main" id="{0FE6E86F-2532-415F-A018-3FCC4566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7967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Student("B11501", "Amy")</a:t>
            </a:r>
          </a:p>
        </p:txBody>
      </p:sp>
      <p:sp>
        <p:nvSpPr>
          <p:cNvPr id="16" name="print(repr(amy))">
            <a:extLst xmlns:a="http://schemas.openxmlformats.org/drawingml/2006/main">
              <a:ext uri="{FF2B5EF4-FFF2-40B4-BE49-F238E27FC236}">
                <a16:creationId xmlns:a16="http://schemas.microsoft.com/office/drawing/2014/main" id="{57BEE46F-7B69-499F-BC52-5B4D3458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9321"/>
            <a:ext cx="7391400" cy="338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print(repr(amy))</a:t>
            </a:r>
          </a:p>
        </p:txBody>
      </p:sp>
      <p:sp>
        <p:nvSpPr>
          <p:cNvPr id="17" name="顯示有助診斷的狀態">
            <a:extLst xmlns:a="http://schemas.openxmlformats.org/drawingml/2006/main">
              <a:ext uri="{FF2B5EF4-FFF2-40B4-BE49-F238E27FC236}">
                <a16:creationId xmlns:a16="http://schemas.microsoft.com/office/drawing/2014/main" id="{97245187-A407-4228-8A06-8C7B5CED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顯示有助診斷的狀態</a:t>
            </a:r>
          </a:p>
        </p:txBody>
      </p:sp>
      <p:sp>
        <p:nvSpPr>
          <p:cNvPr id="18" name="repr 用於互動觀察與除錯。 !r 對欄位使用 repr 格式。">
            <a:extLst xmlns:a="http://schemas.openxmlformats.org/drawingml/2006/main">
              <a:ext uri="{FF2B5EF4-FFF2-40B4-BE49-F238E27FC236}">
                <a16:creationId xmlns:a16="http://schemas.microsoft.com/office/drawing/2014/main" id="{36242CB6-9422-4DED-8D95-FFC9B64E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repr 用於互動觀察與除錯。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!r 對欄位使用 repr 格式。</a:t>
            </a:r>
          </a:p>
        </p:txBody>
      </p:sp>
      <p:sp>
        <p:nvSpPr>
          <p:cNvPr id="19" name="必須回傳字串">
            <a:extLst xmlns:a="http://schemas.openxmlformats.org/drawingml/2006/main">
              <a:ext uri="{FF2B5EF4-FFF2-40B4-BE49-F238E27FC236}">
                <a16:creationId xmlns:a16="http://schemas.microsoft.com/office/drawing/2014/main" id="{5C08A70D-6D42-4DE9-93F5-031F258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必須回傳字串</a:t>
            </a:r>
          </a:p>
        </p:txBody>
      </p:sp>
      <p:sp>
        <p:nvSpPr>
          <p:cNvPr id="20" name="不要在 __repr__ 中只 print。 顯示哪些欄位應依需求決定。">
            <a:extLst xmlns:a="http://schemas.openxmlformats.org/drawingml/2006/main">
              <a:ext uri="{FF2B5EF4-FFF2-40B4-BE49-F238E27FC236}">
                <a16:creationId xmlns:a16="http://schemas.microsoft.com/office/drawing/2014/main" id="{1DCF3C27-BE77-4CF8-96E7-3A5CA623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不要在 __repr__ 中只 print。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顯示哪些欄位應依需求決定。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0DFE9C4-9FBA-4988-9BB0-505B45D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2" name="Student('B11501', 'Amy')">
            <a:extLst xmlns:a="http://schemas.openxmlformats.org/drawingml/2006/main">
              <a:ext uri="{FF2B5EF4-FFF2-40B4-BE49-F238E27FC236}">
                <a16:creationId xmlns:a16="http://schemas.microsoft.com/office/drawing/2014/main" id="{32509BD4-B8CC-46F5-994D-0F1105AE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Student('B11501', 'Amy')</a:t>
            </a:r>
          </a:p>
        </p:txBody>
      </p:sp>
    </p:spTree>
    <p:extLst>
      <p:ext uri="{BB962C8B-B14F-4D97-AF65-F5344CB8AC3E}">
        <p14:creationId xmlns:p14="http://schemas.microsoft.com/office/powerpoint/2010/main" val="178536266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外部可變資料的歸屬">
            <a:extLst xmlns:a="http://schemas.openxmlformats.org/drawingml/2006/main">
              <a:ext uri="{FF2B5EF4-FFF2-40B4-BE49-F238E27FC236}">
                <a16:creationId xmlns:a16="http://schemas.microsoft.com/office/drawing/2014/main" id="{EA637CDE-59E0-4BB8-8547-6E4B0747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外部可變資料的歸屬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222524D3-BAE2-4B4E-8540-DB95225C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觀察與診斷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7F769E7C-7399-466F-96FE-FD9324A1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C526F816-A510-425D-8DCB-3383B52C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def __init__(self, name, courses=None):">
            <a:extLst xmlns:a="http://schemas.openxmlformats.org/drawingml/2006/main">
              <a:ext uri="{FF2B5EF4-FFF2-40B4-BE49-F238E27FC236}">
                <a16:creationId xmlns:a16="http://schemas.microsoft.com/office/drawing/2014/main" id="{5F1C3F3A-0969-4E39-A72D-5D3CD01A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name, courses=None):</a:t>
            </a:r>
          </a:p>
        </p:txBody>
      </p:sp>
      <p:sp>
        <p:nvSpPr>
          <p:cNvPr id="6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0A959A5F-5C61-4685-95A7-6045D805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7" name="        self.courses = (">
            <a:extLst xmlns:a="http://schemas.openxmlformats.org/drawingml/2006/main">
              <a:ext uri="{FF2B5EF4-FFF2-40B4-BE49-F238E27FC236}">
                <a16:creationId xmlns:a16="http://schemas.microsoft.com/office/drawing/2014/main" id="{4130F9B9-1984-4C0D-A917-B76A434A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self.courses = (</a:t>
            </a:r>
          </a:p>
        </p:txBody>
      </p:sp>
      <p:sp>
        <p:nvSpPr>
          <p:cNvPr id="8" name="            [] if courses is None else list(courses)">
            <a:extLst xmlns:a="http://schemas.openxmlformats.org/drawingml/2006/main">
              <a:ext uri="{FF2B5EF4-FFF2-40B4-BE49-F238E27FC236}">
                <a16:creationId xmlns:a16="http://schemas.microsoft.com/office/drawing/2014/main" id="{8BC0F5C0-4D24-45BB-B7E0-7061E16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[] if courses is None else list(courses)</a:t>
            </a:r>
          </a:p>
        </p:txBody>
      </p:sp>
      <p:sp>
        <p:nvSpPr>
          <p:cNvPr id="9" name="        )">
            <a:extLst xmlns:a="http://schemas.openxmlformats.org/drawingml/2006/main">
              <a:ext uri="{FF2B5EF4-FFF2-40B4-BE49-F238E27FC236}">
                <a16:creationId xmlns:a16="http://schemas.microsoft.com/office/drawing/2014/main" id="{E09666A2-6539-4817-85E6-D98688D8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75803-E063-4527-B37C-19D1077C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source = [&quot;Python&quot;]">
            <a:extLst xmlns:a="http://schemas.openxmlformats.org/drawingml/2006/main">
              <a:ext uri="{FF2B5EF4-FFF2-40B4-BE49-F238E27FC236}">
                <a16:creationId xmlns:a16="http://schemas.microsoft.com/office/drawing/2014/main" id="{65F7534C-1C2C-4CA8-B9DC-5B764B31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source = ["Python"]</a:t>
            </a:r>
          </a:p>
        </p:txBody>
      </p:sp>
      <p:sp>
        <p:nvSpPr>
          <p:cNvPr id="12" name="amy = Student(&quot;Amy&quot;, source)">
            <a:extLst xmlns:a="http://schemas.openxmlformats.org/drawingml/2006/main">
              <a:ext uri="{FF2B5EF4-FFF2-40B4-BE49-F238E27FC236}">
                <a16:creationId xmlns:a16="http://schemas.microsoft.com/office/drawing/2014/main" id="{076B61E4-37F7-4A93-9003-1783833B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amy = Student("Amy", source)</a:t>
            </a:r>
          </a:p>
        </p:txBody>
      </p:sp>
      <p:sp>
        <p:nvSpPr>
          <p:cNvPr id="13" name="source.append(&quot;Java&quot;)">
            <a:extLst xmlns:a="http://schemas.openxmlformats.org/drawingml/2006/main">
              <a:ext uri="{FF2B5EF4-FFF2-40B4-BE49-F238E27FC236}">
                <a16:creationId xmlns:a16="http://schemas.microsoft.com/office/drawing/2014/main" id="{90ED5B75-3AE2-46DB-BAC2-43EFD96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source.append("Java")</a:t>
            </a:r>
          </a:p>
        </p:txBody>
      </p:sp>
      <p:sp>
        <p:nvSpPr>
          <p:cNvPr id="14" name="print(source)">
            <a:extLst xmlns:a="http://schemas.openxmlformats.org/drawingml/2006/main">
              <a:ext uri="{FF2B5EF4-FFF2-40B4-BE49-F238E27FC236}">
                <a16:creationId xmlns:a16="http://schemas.microsoft.com/office/drawing/2014/main" id="{1136D588-053F-4260-9F06-628395B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print(source)</a:t>
            </a:r>
          </a:p>
        </p:txBody>
      </p:sp>
      <p:sp>
        <p:nvSpPr>
          <p:cNvPr id="15" name="print(amy.courses)">
            <a:extLst xmlns:a="http://schemas.openxmlformats.org/drawingml/2006/main">
              <a:ext uri="{FF2B5EF4-FFF2-40B4-BE49-F238E27FC236}">
                <a16:creationId xmlns:a16="http://schemas.microsoft.com/office/drawing/2014/main" id="{53CE33CB-71BD-461C-8E3D-90C0922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7391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print(amy.courses)</a:t>
            </a:r>
          </a:p>
        </p:txBody>
      </p:sp>
      <p:sp>
        <p:nvSpPr>
          <p:cNvPr id="16" name="明確決定複製或共用">
            <a:extLst xmlns:a="http://schemas.openxmlformats.org/drawingml/2006/main">
              <a:ext uri="{FF2B5EF4-FFF2-40B4-BE49-F238E27FC236}">
                <a16:creationId xmlns:a16="http://schemas.microsoft.com/office/drawing/2014/main" id="{10419E40-93BD-4586-8E32-463A1C25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明確決定複製或共用</a:t>
            </a:r>
          </a:p>
        </p:txBody>
      </p:sp>
      <p:sp>
        <p:nvSpPr>
          <p:cNvPr id="17" name="list(courses) 建立新外層容器。 外部新增元素不影響學生清單。">
            <a:extLst xmlns:a="http://schemas.openxmlformats.org/drawingml/2006/main">
              <a:ext uri="{FF2B5EF4-FFF2-40B4-BE49-F238E27FC236}">
                <a16:creationId xmlns:a16="http://schemas.microsoft.com/office/drawing/2014/main" id="{AE4B7B2E-0ABC-4E1E-AADD-D343426D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list(courses) 建立新外層容器。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外部新增元素不影響學生清單。</a:t>
            </a:r>
          </a:p>
        </p:txBody>
      </p:sp>
      <p:sp>
        <p:nvSpPr>
          <p:cNvPr id="18" name="本例元素是不可變字串">
            <a:extLst xmlns:a="http://schemas.openxmlformats.org/drawingml/2006/main">
              <a:ext uri="{FF2B5EF4-FFF2-40B4-BE49-F238E27FC236}">
                <a16:creationId xmlns:a16="http://schemas.microsoft.com/office/drawing/2014/main" id="{0A263509-DFE8-43D2-B772-94DC560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本例元素是不可變字串</a:t>
            </a:r>
          </a:p>
        </p:txBody>
      </p:sp>
      <p:sp>
        <p:nvSpPr>
          <p:cNvPr id="19" name="若元素是可變巢狀物件， 淺層複製仍可能共用內層。">
            <a:extLst xmlns:a="http://schemas.openxmlformats.org/drawingml/2006/main">
              <a:ext uri="{FF2B5EF4-FFF2-40B4-BE49-F238E27FC236}">
                <a16:creationId xmlns:a16="http://schemas.microsoft.com/office/drawing/2014/main" id="{C3EEDB57-0B43-4879-8F28-787D685B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若元素是可變巢狀物件，</a:t>
            </a:r>
          </a:p>
          <a:p xmlns:a="http://schemas.openxmlformats.org/drawingml/2006/main">
            <a:pPr algn="l">
              <a:def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7F4ED"/>
                </a:solidFill>
                <a:latin typeface="Microsoft JhengHei"/>
                <a:ea typeface="Microsoft JhengHei"/>
                <a:cs typeface="Microsoft JhengHei"/>
              </a:rPr>
              <a:t>淺層複製仍可能共用內層。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586BDC4-E8F2-4B0A-93B1-FF61F780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88D1C4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1" name="['Python', 'Java']    ['Python']">
            <a:extLst xmlns:a="http://schemas.openxmlformats.org/drawingml/2006/main">
              <a:ext uri="{FF2B5EF4-FFF2-40B4-BE49-F238E27FC236}">
                <a16:creationId xmlns:a16="http://schemas.microsoft.com/office/drawing/2014/main" id="{E4622BE1-1E57-4ABA-B8E2-0BF4D156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['Python', 'Java']    ['Python']</a:t>
            </a:r>
          </a:p>
        </p:txBody>
      </p:sp>
    </p:spTree>
    <p:extLst>
      <p:ext uri="{BB962C8B-B14F-4D97-AF65-F5344CB8AC3E}">
        <p14:creationId xmlns:p14="http://schemas.microsoft.com/office/powerpoint/2010/main" val="119708066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網站範例：Student 的完整串接">
            <a:extLst xmlns:a="http://schemas.openxmlformats.org/drawingml/2006/main">
              <a:ext uri="{FF2B5EF4-FFF2-40B4-BE49-F238E27FC236}">
                <a16:creationId xmlns:a16="http://schemas.microsoft.com/office/drawing/2014/main" id="{BCADE730-FCBF-44D4-AC4F-E64183FB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網站範例：Student 的完整串接</a:t>
            </a:r>
          </a:p>
        </p:txBody>
      </p:sp>
      <p:sp>
        <p:nvSpPr>
          <p:cNvPr id="2" name="課綱範例">
            <a:extLst xmlns:a="http://schemas.openxmlformats.org/drawingml/2006/main">
              <a:ext uri="{FF2B5EF4-FFF2-40B4-BE49-F238E27FC236}">
                <a16:creationId xmlns:a16="http://schemas.microsoft.com/office/drawing/2014/main" id="{25F32955-3D3B-433F-BF75-421332D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課綱範例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919FCC6C-CF66-4C16-BD1F-F62D9409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BD6CA5A0-D900-44F8-BB9D-ED8ABB6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9BE3AD03-9F1D-48C8-8407-461031B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8228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AFBC550A-B9A8-416F-BC4C-DCABD430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338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0D0C6-BF72-4019-93EB-D22CEB1C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853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__init__(self, student_id: str, name: str):">
            <a:extLst xmlns:a="http://schemas.openxmlformats.org/drawingml/2006/main">
              <a:ext uri="{FF2B5EF4-FFF2-40B4-BE49-F238E27FC236}">
                <a16:creationId xmlns:a16="http://schemas.microsoft.com/office/drawing/2014/main" id="{229C52D2-3376-4B2A-A71C-44B0F760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368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student_id: str, name: str):</a:t>
            </a:r>
          </a:p>
        </p:txBody>
      </p:sp>
      <p:sp>
        <p:nvSpPr>
          <p:cNvPr id="9" name="        self.student_id = student_id">
            <a:extLst xmlns:a="http://schemas.openxmlformats.org/drawingml/2006/main">
              <a:ext uri="{FF2B5EF4-FFF2-40B4-BE49-F238E27FC236}">
                <a16:creationId xmlns:a16="http://schemas.microsoft.com/office/drawing/2014/main" id="{C21BEABF-7940-45A7-8FE8-1D0453A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884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self.student_id = student_id</a:t>
            </a:r>
          </a:p>
        </p:txBody>
      </p:sp>
      <p:sp>
        <p:nvSpPr>
          <p:cNvPr id="10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2AADFE82-706A-4963-AE10-3EF14D21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399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11" name="        Student.count += 1">
            <a:extLst xmlns:a="http://schemas.openxmlformats.org/drawingml/2006/main">
              <a:ext uri="{FF2B5EF4-FFF2-40B4-BE49-F238E27FC236}">
                <a16:creationId xmlns:a16="http://schemas.microsoft.com/office/drawing/2014/main" id="{B6A4183F-CE16-46F2-89C4-E3416BD4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914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Student.count +=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6C7B1-9903-4923-A5FA-982C9B74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29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44B70168-7873-4DD2-807A-20A21A6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9451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14" name="    def from_csv(cls, row: str) -&gt; &quot;Student&quot;:">
            <a:extLst xmlns:a="http://schemas.openxmlformats.org/drawingml/2006/main">
              <a:ext uri="{FF2B5EF4-FFF2-40B4-BE49-F238E27FC236}">
                <a16:creationId xmlns:a16="http://schemas.microsoft.com/office/drawing/2014/main" id="{A7389DCB-DB87-4443-BD1F-56EEC223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4604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from_csv(cls, row: str) -&gt; "Student":</a:t>
            </a:r>
          </a:p>
        </p:txBody>
      </p:sp>
      <p:sp>
        <p:nvSpPr>
          <p:cNvPr id="15" name="        student_id, name = row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811D57DE-F6F0-47EC-AD2D-B7AE8A32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9757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student_id, name = row.split(",")</a:t>
            </a:r>
          </a:p>
        </p:txBody>
      </p:sp>
      <p:sp>
        <p:nvSpPr>
          <p:cNvPr id="16" name="        return cls(student_id.strip(), name.strip())">
            <a:extLst xmlns:a="http://schemas.openxmlformats.org/drawingml/2006/main">
              <a:ext uri="{FF2B5EF4-FFF2-40B4-BE49-F238E27FC236}">
                <a16:creationId xmlns:a16="http://schemas.microsoft.com/office/drawing/2014/main" id="{7657BF1E-F2C5-45C1-8CE1-EC7EA978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910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cls(student_id.strip(), name.strip())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498B0-D6F1-40BB-B760-4E6F2676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0063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amy = Student.from_csv(&quot;B11301, Amy&quot;)">
            <a:extLst xmlns:a="http://schemas.openxmlformats.org/drawingml/2006/main">
              <a:ext uri="{FF2B5EF4-FFF2-40B4-BE49-F238E27FC236}">
                <a16:creationId xmlns:a16="http://schemas.microsoft.com/office/drawing/2014/main" id="{C49AF7BC-1784-4291-9A01-5909687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5216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amy = Student.from_csv("B11301, Amy")</a:t>
            </a:r>
          </a:p>
        </p:txBody>
      </p:sp>
      <p:sp>
        <p:nvSpPr>
          <p:cNvPr id="19" name="bob = Student(&quot;B11302&quot;, &quot;Bob&quot;)">
            <a:extLst xmlns:a="http://schemas.openxmlformats.org/drawingml/2006/main">
              <a:ext uri="{FF2B5EF4-FFF2-40B4-BE49-F238E27FC236}">
                <a16:creationId xmlns:a16="http://schemas.microsoft.com/office/drawing/2014/main" id="{3559BE34-9D35-4690-89BF-46D2C5B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0369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bob = Student("B11302", "Bob")</a:t>
            </a:r>
          </a:p>
        </p:txBody>
      </p:sp>
      <p:sp>
        <p:nvSpPr>
          <p:cNvPr id="20" name="print(amy.name, amy.school, Student.count)">
            <a:extLst xmlns:a="http://schemas.openxmlformats.org/drawingml/2006/main">
              <a:ext uri="{FF2B5EF4-FFF2-40B4-BE49-F238E27FC236}">
                <a16:creationId xmlns:a16="http://schemas.microsoft.com/office/drawing/2014/main" id="{F8AE5105-9677-4A1E-963D-7294454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5522"/>
            <a:ext cx="7391400" cy="272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print(amy.name, amy.school, Student.count)</a:t>
            </a:r>
          </a:p>
        </p:txBody>
      </p:sp>
      <p:sp>
        <p:nvSpPr>
          <p:cNvPr id="21" name="兩種入口，共用初始化">
            <a:extLst xmlns:a="http://schemas.openxmlformats.org/drawingml/2006/main">
              <a:ext uri="{FF2B5EF4-FFF2-40B4-BE49-F238E27FC236}">
                <a16:creationId xmlns:a16="http://schemas.microsoft.com/office/drawing/2014/main" id="{3EC1E4A4-7AC7-4109-AF9F-6DCD8A6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兩種入口，共用初始化</a:t>
            </a:r>
          </a:p>
        </p:txBody>
      </p:sp>
      <p:sp>
        <p:nvSpPr>
          <p:cNvPr id="22" name="直接呼叫與 from_csv 都會執行 __init__。">
            <a:extLst xmlns:a="http://schemas.openxmlformats.org/drawingml/2006/main">
              <a:ext uri="{FF2B5EF4-FFF2-40B4-BE49-F238E27FC236}">
                <a16:creationId xmlns:a16="http://schemas.microsoft.com/office/drawing/2014/main" id="{197B20DF-3F81-4C35-9949-7CC4E3EC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直接呼叫與 from_csv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都會執行 __init__。</a:t>
            </a:r>
          </a:p>
        </p:txBody>
      </p:sp>
      <p:sp>
        <p:nvSpPr>
          <p:cNvPr id="23" name="資料歸屬不同">
            <a:extLst xmlns:a="http://schemas.openxmlformats.org/drawingml/2006/main">
              <a:ext uri="{FF2B5EF4-FFF2-40B4-BE49-F238E27FC236}">
                <a16:creationId xmlns:a16="http://schemas.microsoft.com/office/drawing/2014/main" id="{424C7D8F-0153-40EC-B803-027E8AC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57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資料歸屬不同</a:t>
            </a:r>
          </a:p>
        </p:txBody>
      </p:sp>
      <p:sp>
        <p:nvSpPr>
          <p:cNvPr id="24" name="name 屬於個別實體。 school 與 count 放在類別。">
            <a:extLst xmlns:a="http://schemas.openxmlformats.org/drawingml/2006/main">
              <a:ext uri="{FF2B5EF4-FFF2-40B4-BE49-F238E27FC236}">
                <a16:creationId xmlns:a16="http://schemas.microsoft.com/office/drawing/2014/main" id="{05E21BA6-EA5E-4DA9-9C3B-8069ED7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43400"/>
            <a:ext cx="342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name 屬於個別實體。</a:t>
            </a:r>
          </a:p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school 與 count 放在類別。</a:t>
            </a:r>
          </a:p>
        </p:txBody>
      </p:sp>
      <p:sp>
        <p:nvSpPr>
          <p:cNvPr id="25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EBDF544-0C74-4E85-9338-B041C00B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輸出值（依序排列）</a:t>
            </a:r>
          </a:p>
        </p:txBody>
      </p:sp>
      <p:sp>
        <p:nvSpPr>
          <p:cNvPr id="26" name="Amy YunTech 2">
            <a:extLst xmlns:a="http://schemas.openxmlformats.org/drawingml/2006/main">
              <a:ext uri="{FF2B5EF4-FFF2-40B4-BE49-F238E27FC236}">
                <a16:creationId xmlns:a16="http://schemas.microsoft.com/office/drawing/2014/main" id="{B65975A5-A7C6-4D8E-8CB6-9F4DD117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Amy YunTech 2</a:t>
            </a:r>
          </a:p>
        </p:txBody>
      </p:sp>
    </p:spTree>
    <p:extLst>
      <p:ext uri="{BB962C8B-B14F-4D97-AF65-F5344CB8AC3E}">
        <p14:creationId xmlns:p14="http://schemas.microsoft.com/office/powerpoint/2010/main" val="173096769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錯誤與診斷方式">
            <a:extLst xmlns:a="http://schemas.openxmlformats.org/drawingml/2006/main">
              <a:ext uri="{FF2B5EF4-FFF2-40B4-BE49-F238E27FC236}">
                <a16:creationId xmlns:a16="http://schemas.microsoft.com/office/drawing/2014/main" id="{D6B99A32-C478-45AF-813C-C740722F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常見錯誤與診斷方式</a:t>
            </a:r>
          </a:p>
        </p:txBody>
      </p:sp>
      <p:sp>
        <p:nvSpPr>
          <p:cNvPr id="2" name="觀察與診斷">
            <a:extLst xmlns:a="http://schemas.openxmlformats.org/drawingml/2006/main">
              <a:ext uri="{FF2B5EF4-FFF2-40B4-BE49-F238E27FC236}">
                <a16:creationId xmlns:a16="http://schemas.microsoft.com/office/drawing/2014/main" id="{292677D6-AF4A-438A-A5C7-468BEA5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觀察與診斷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7416DD1E-68F3-4FB0-93ED-86599B8A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810000"/>
                <a:gridCol w="3381375"/>
                <a:gridCol w="37814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現象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常見原因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檢查方向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方法呼叫參數數量不符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忘記定義 self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確認方法種類與第一個參數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另一位學生的清單也改變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共用可變類別屬性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 is 比較，查看屬性歸屬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共同計數器始終是 0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self.count 遮蔽類別名稱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 vars(obj) 與 Class.count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AttributeError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必要屬性未在所有路徑建立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 __init__ 的分支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工廠回傳基底型別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建立時寫死類別名稱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檢查是否應使用 cls(...)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先確認物件身分、屬性來源與呼叫對象，再修改程式。">
            <a:extLst xmlns:a="http://schemas.openxmlformats.org/drawingml/2006/main">
              <a:ext uri="{FF2B5EF4-FFF2-40B4-BE49-F238E27FC236}">
                <a16:creationId xmlns:a16="http://schemas.microsoft.com/office/drawing/2014/main" id="{C7ECDBE5-BE36-4BC0-A4E6-38B0457E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70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先確認物件身分、屬性來源與呼叫對象，再修改程式。</a:t>
            </a:r>
          </a:p>
        </p:txBody>
      </p:sp>
    </p:spTree>
    <p:extLst>
      <p:ext uri="{BB962C8B-B14F-4D97-AF65-F5344CB8AC3E}">
        <p14:creationId xmlns:p14="http://schemas.microsoft.com/office/powerpoint/2010/main" val="12677435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本週觀念整理">
            <a:extLst xmlns:a="http://schemas.openxmlformats.org/drawingml/2006/main">
              <a:ext uri="{FF2B5EF4-FFF2-40B4-BE49-F238E27FC236}">
                <a16:creationId xmlns:a16="http://schemas.microsoft.com/office/drawing/2014/main" id="{E3D73EDE-E63D-45F1-A94B-2368C03F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本週觀念整理</a:t>
            </a:r>
          </a:p>
        </p:txBody>
      </p:sp>
      <p:sp>
        <p:nvSpPr>
          <p:cNvPr id="2" name="第三週">
            <a:extLst xmlns:a="http://schemas.openxmlformats.org/drawingml/2006/main">
              <a:ext uri="{FF2B5EF4-FFF2-40B4-BE49-F238E27FC236}">
                <a16:creationId xmlns:a16="http://schemas.microsoft.com/office/drawing/2014/main" id="{594536A4-5EBB-408C-B3CA-DADC9E4E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第三週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56CF8B09-1B4A-47AB-97DA-7227A4C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4" name="建立物件">
            <a:extLst xmlns:a="http://schemas.openxmlformats.org/drawingml/2006/main">
              <a:ext uri="{FF2B5EF4-FFF2-40B4-BE49-F238E27FC236}">
                <a16:creationId xmlns:a16="http://schemas.microsoft.com/office/drawing/2014/main" id="{2C949272-5C6D-47CF-9413-A4B461AC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建立物件</a:t>
            </a:r>
          </a:p>
        </p:txBody>
      </p:sp>
      <p:sp>
        <p:nvSpPr>
          <p:cNvPr id="5" name="__new__ 建立，__init__ 設定初始狀態">
            <a:extLst xmlns:a="http://schemas.openxmlformats.org/drawingml/2006/main">
              <a:ext uri="{FF2B5EF4-FFF2-40B4-BE49-F238E27FC236}">
                <a16:creationId xmlns:a16="http://schemas.microsoft.com/office/drawing/2014/main" id="{E4A3EED8-C061-469B-A8E2-3823D1F3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__new__ 建立，__init__ 設定初始狀態</a:t>
            </a:r>
          </a:p>
        </p:txBody>
      </p:sp>
      <p:sp>
        <p:nvSpPr>
          <p:cNvPr id="6" name="操作狀態">
            <a:extLst xmlns:a="http://schemas.openxmlformats.org/drawingml/2006/main">
              <a:ext uri="{FF2B5EF4-FFF2-40B4-BE49-F238E27FC236}">
                <a16:creationId xmlns:a16="http://schemas.microsoft.com/office/drawing/2014/main" id="{3E031336-34C9-4519-BAA2-D74727BA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操作狀態</a:t>
            </a:r>
          </a:p>
        </p:txBody>
      </p:sp>
      <p:sp>
        <p:nvSpPr>
          <p:cNvPr id="7" name="self 指向接收者，方法處理其資料">
            <a:extLst xmlns:a="http://schemas.openxmlformats.org/drawingml/2006/main">
              <a:ext uri="{FF2B5EF4-FFF2-40B4-BE49-F238E27FC236}">
                <a16:creationId xmlns:a16="http://schemas.microsoft.com/office/drawing/2014/main" id="{099C6004-02D2-43B4-8A55-9931148B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self 指向接收者，方法處理其資料</a:t>
            </a:r>
          </a:p>
        </p:txBody>
      </p:sp>
      <p:sp>
        <p:nvSpPr>
          <p:cNvPr id="8" name="判斷共享">
            <a:extLst xmlns:a="http://schemas.openxmlformats.org/drawingml/2006/main">
              <a:ext uri="{FF2B5EF4-FFF2-40B4-BE49-F238E27FC236}">
                <a16:creationId xmlns:a16="http://schemas.microsoft.com/office/drawing/2014/main" id="{9B69D31B-6F37-470A-99B6-B43ED89A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判斷共享</a:t>
            </a:r>
          </a:p>
        </p:txBody>
      </p:sp>
      <p:sp>
        <p:nvSpPr>
          <p:cNvPr id="9" name="分清實體屬性、類別屬性與共用物件">
            <a:extLst xmlns:a="http://schemas.openxmlformats.org/drawingml/2006/main">
              <a:ext uri="{FF2B5EF4-FFF2-40B4-BE49-F238E27FC236}">
                <a16:creationId xmlns:a16="http://schemas.microsoft.com/office/drawing/2014/main" id="{773C1E99-9D93-43C2-B22E-31B9B428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分清實體屬性、類別屬性與共用物件</a:t>
            </a:r>
          </a:p>
        </p:txBody>
      </p:sp>
      <p:sp>
        <p:nvSpPr>
          <p:cNvPr id="10" name="選擇方法">
            <a:extLst xmlns:a="http://schemas.openxmlformats.org/drawingml/2006/main">
              <a:ext uri="{FF2B5EF4-FFF2-40B4-BE49-F238E27FC236}">
                <a16:creationId xmlns:a16="http://schemas.microsoft.com/office/drawing/2014/main" id="{E9AB06E3-7D63-48EE-97CC-2DC99CA0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選擇方法</a:t>
            </a:r>
          </a:p>
        </p:txBody>
      </p:sp>
      <p:sp>
        <p:nvSpPr>
          <p:cNvPr id="11" name="依賴實體用 self，依賴類別用 cls">
            <a:extLst xmlns:a="http://schemas.openxmlformats.org/drawingml/2006/main">
              <a:ext uri="{FF2B5EF4-FFF2-40B4-BE49-F238E27FC236}">
                <a16:creationId xmlns:a16="http://schemas.microsoft.com/office/drawing/2014/main" id="{E6DE932E-19BF-469A-9E11-99FB9E3F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依賴實體用 self，依賴類別用 cls</a:t>
            </a:r>
          </a:p>
        </p:txBody>
      </p:sp>
      <p:sp>
        <p:nvSpPr>
          <p:cNvPr id="12" name="下一週：封裝與資訊隱藏，進一步管理外部如何存取與修改狀態。">
            <a:extLst xmlns:a="http://schemas.openxmlformats.org/drawingml/2006/main">
              <a:ext uri="{FF2B5EF4-FFF2-40B4-BE49-F238E27FC236}">
                <a16:creationId xmlns:a16="http://schemas.microsoft.com/office/drawing/2014/main" id="{92CE3250-42BF-455C-A7A4-EA44205D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下一週：封裝與資訊隱藏，進一步管理外部如何存取與修改狀態。</a:t>
            </a:r>
          </a:p>
        </p:txBody>
      </p:sp>
    </p:spTree>
    <p:extLst>
      <p:ext uri="{BB962C8B-B14F-4D97-AF65-F5344CB8AC3E}">
        <p14:creationId xmlns:p14="http://schemas.microsoft.com/office/powerpoint/2010/main" val="2255097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課程與技術參考資料">
            <a:extLst xmlns:a="http://schemas.openxmlformats.org/drawingml/2006/main">
              <a:ext uri="{FF2B5EF4-FFF2-40B4-BE49-F238E27FC236}">
                <a16:creationId xmlns:a16="http://schemas.microsoft.com/office/drawing/2014/main" id="{A2F043BA-9AFB-428C-87C7-C46EA993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300" b="1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課程與技術參考資料</a:t>
            </a:r>
          </a:p>
        </p:txBody>
      </p:sp>
      <p:sp>
        <p:nvSpPr>
          <p:cNvPr id="2" name="40">
            <a:extLst xmlns:a="http://schemas.openxmlformats.org/drawingml/2006/main">
              <a:ext uri="{FF2B5EF4-FFF2-40B4-BE49-F238E27FC236}">
                <a16:creationId xmlns:a16="http://schemas.microsoft.com/office/drawing/2014/main" id="{7FDA3CA7-82E0-4562-ADE4-35856B4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3" name="第三週課程網站">
            <a:extLst xmlns:a="http://schemas.openxmlformats.org/drawingml/2006/main">
              <a:ext uri="{FF2B5EF4-FFF2-40B4-BE49-F238E27FC236}">
                <a16:creationId xmlns:a16="http://schemas.microsoft.com/office/drawing/2014/main" id="{CDDFBD1D-A58A-42C8-9B12-F52B0BAC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第三週課程網站</a:t>
            </a:r>
          </a:p>
        </p:txBody>
      </p:sp>
      <p:sp>
        <p:nvSpPr>
          <p:cNvPr id="4" name="minhuangyuntech.github.io/oo2026/week/3/">
            <a:extLst xmlns:a="http://schemas.openxmlformats.org/drawingml/2006/main">
              <a:ext uri="{FF2B5EF4-FFF2-40B4-BE49-F238E27FC236}">
                <a16:creationId xmlns:a16="http://schemas.microsoft.com/office/drawing/2014/main" id="{51038C4E-4363-4430-9332-E848A27C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minhuangyuntech.github.io/oo2026/week/3/</a:t>
            </a:r>
          </a:p>
        </p:txBody>
      </p:sp>
      <p:sp>
        <p:nvSpPr>
          <p:cNvPr id="5" name="Python 類別教學">
            <a:extLst xmlns:a="http://schemas.openxmlformats.org/drawingml/2006/main">
              <a:ext uri="{FF2B5EF4-FFF2-40B4-BE49-F238E27FC236}">
                <a16:creationId xmlns:a16="http://schemas.microsoft.com/office/drawing/2014/main" id="{D2A63514-232D-4F60-898F-56C3D196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類別教學</a:t>
            </a:r>
          </a:p>
        </p:txBody>
      </p:sp>
      <p:sp>
        <p:nvSpPr>
          <p:cNvPr id="6" name="docs.python.org/3/tutorial/classes.html">
            <a:extLst xmlns:a="http://schemas.openxmlformats.org/drawingml/2006/main">
              <a:ext uri="{FF2B5EF4-FFF2-40B4-BE49-F238E27FC236}">
                <a16:creationId xmlns:a16="http://schemas.microsoft.com/office/drawing/2014/main" id="{A64E2968-2094-44EC-A01D-1501B37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docs.python.org/3/tutorial/classes.html</a:t>
            </a:r>
          </a:p>
        </p:txBody>
      </p:sp>
      <p:sp>
        <p:nvSpPr>
          <p:cNvPr id="7" name="Python 資料模型">
            <a:extLst xmlns:a="http://schemas.openxmlformats.org/drawingml/2006/main">
              <a:ext uri="{FF2B5EF4-FFF2-40B4-BE49-F238E27FC236}">
                <a16:creationId xmlns:a16="http://schemas.microsoft.com/office/drawing/2014/main" id="{F03025AB-0D09-4A71-A0B1-ECCA6509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Python 資料模型</a:t>
            </a:r>
          </a:p>
        </p:txBody>
      </p:sp>
      <p:sp>
        <p:nvSpPr>
          <p:cNvPr id="8" name="docs.python.org/3/reference/datamodel.html">
            <a:extLst xmlns:a="http://schemas.openxmlformats.org/drawingml/2006/main">
              <a:ext uri="{FF2B5EF4-FFF2-40B4-BE49-F238E27FC236}">
                <a16:creationId xmlns:a16="http://schemas.microsoft.com/office/drawing/2014/main" id="{DB10D917-9DE5-40C8-B36B-8DB71C68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909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docs.python.org/3/reference/datamodel.html</a:t>
            </a:r>
          </a:p>
        </p:txBody>
      </p:sp>
      <p:sp>
        <p:nvSpPr>
          <p:cNvPr id="9" name="CSV 標準函式庫">
            <a:extLst xmlns:a="http://schemas.openxmlformats.org/drawingml/2006/main">
              <a:ext uri="{FF2B5EF4-FFF2-40B4-BE49-F238E27FC236}">
                <a16:creationId xmlns:a16="http://schemas.microsoft.com/office/drawing/2014/main" id="{FC61BA0F-A5D4-4F93-A429-9C21240D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6686C"/>
                </a:solidFill>
                <a:latin typeface="Microsoft JhengHei"/>
                <a:ea typeface="Microsoft JhengHei"/>
                <a:cs typeface="Microsoft JhengHei"/>
              </a:rPr>
              <a:t>CSV 標準函式庫</a:t>
            </a:r>
          </a:p>
        </p:txBody>
      </p:sp>
      <p:sp>
        <p:nvSpPr>
          <p:cNvPr id="10" name="docs.python.org/3/library/csv.html">
            <a:extLst xmlns:a="http://schemas.openxmlformats.org/drawingml/2006/main">
              <a:ext uri="{FF2B5EF4-FFF2-40B4-BE49-F238E27FC236}">
                <a16:creationId xmlns:a16="http://schemas.microsoft.com/office/drawing/2014/main" id="{45EB72E3-8497-41B8-BC17-857AA761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43450"/>
            <a:ext cx="6534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32B3A"/>
                </a:solidFill>
                <a:latin typeface="Microsoft JhengHei"/>
                <a:ea typeface="Microsoft JhengHei"/>
                <a:cs typeface="Microsoft JhengHei"/>
              </a:rPr>
              <a:t>docs.python.org/3/library/csv.html</a:t>
            </a:r>
          </a:p>
        </p:txBody>
      </p:sp>
      <p:sp>
        <p:nvSpPr>
          <p:cNvPr id="11" name="教材與範例採 Python 3.12+。完整來源列於各頁備註與教材說明。">
            <a:extLst xmlns:a="http://schemas.openxmlformats.org/drawingml/2006/main">
              <a:ext uri="{FF2B5EF4-FFF2-40B4-BE49-F238E27FC236}">
                <a16:creationId xmlns:a16="http://schemas.microsoft.com/office/drawing/2014/main" id="{E643EE6B-BD3E-4446-BB30-DB017A29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579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B6D73"/>
                </a:solidFill>
                <a:latin typeface="Microsoft JhengHei"/>
                <a:ea typeface="Microsoft JhengHei"/>
                <a:cs typeface="Microsoft JhengHei"/>
              </a:rPr>
              <a:t>教材與範例採 Python 3.12+。完整來源列於各頁備註與教材說明。</a:t>
            </a:r>
          </a:p>
        </p:txBody>
      </p:sp>
    </p:spTree>
    <p:extLst>
      <p:ext uri="{BB962C8B-B14F-4D97-AF65-F5344CB8AC3E}">
        <p14:creationId xmlns:p14="http://schemas.microsoft.com/office/powerpoint/2010/main" val="1913419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2026-09-23T04:41:57.7980000Z</dcterms:created>
  <dcterms:modified xsi:type="dcterms:W3CDTF">2026-09-23T04:41:57.7980000Z</dcterms:modified>
</coreProperties>
</file>