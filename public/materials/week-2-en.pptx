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4febe06deb4066" /><Relationship Type="http://schemas.openxmlformats.org/officeDocument/2006/relationships/extended-properties" Target="/docProps/app.xml" Id="R1ed4faab05b34bc3" /><Relationship Type="http://schemas.openxmlformats.org/officeDocument/2006/relationships/officeDocument" Target="/ppt/presentation.xml" Id="R89e57b892e75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f5a9922ed4185"/>
  </p:sldMasterIdLst>
  <p:notesMasterIdLst>
    <p:notesMasterId xmlns:r="http://schemas.openxmlformats.org/officeDocument/2006/relationships" r:id="Re0e5787df8a44f1a"/>
  </p:notesMasterIdLst>
  <p:sldIdLst>
    <p:sldId xmlns:r="http://schemas.openxmlformats.org/officeDocument/2006/relationships" id="256" r:id="R8b4fd1ad9b544ad1"/>
    <p:sldId xmlns:r="http://schemas.openxmlformats.org/officeDocument/2006/relationships" id="257" r:id="R8c10399963d64817"/>
    <p:sldId xmlns:r="http://schemas.openxmlformats.org/officeDocument/2006/relationships" id="258" r:id="R10a3a23397d442f1"/>
    <p:sldId xmlns:r="http://schemas.openxmlformats.org/officeDocument/2006/relationships" id="259" r:id="Rf85884ba24ab464f"/>
    <p:sldId xmlns:r="http://schemas.openxmlformats.org/officeDocument/2006/relationships" id="260" r:id="Rd295c8cd39294511"/>
    <p:sldId xmlns:r="http://schemas.openxmlformats.org/officeDocument/2006/relationships" id="261" r:id="Rfda682d936a54986"/>
    <p:sldId xmlns:r="http://schemas.openxmlformats.org/officeDocument/2006/relationships" id="262" r:id="Rf9b201b732544416"/>
    <p:sldId xmlns:r="http://schemas.openxmlformats.org/officeDocument/2006/relationships" id="263" r:id="R9e760ccf514948b0"/>
    <p:sldId xmlns:r="http://schemas.openxmlformats.org/officeDocument/2006/relationships" id="264" r:id="R440501cd40c94c15"/>
    <p:sldId xmlns:r="http://schemas.openxmlformats.org/officeDocument/2006/relationships" id="265" r:id="R237918d2b109403d"/>
    <p:sldId xmlns:r="http://schemas.openxmlformats.org/officeDocument/2006/relationships" id="266" r:id="R43dc1092060548fa"/>
    <p:sldId xmlns:r="http://schemas.openxmlformats.org/officeDocument/2006/relationships" id="267" r:id="Rf2ed54b17ec3425f"/>
    <p:sldId xmlns:r="http://schemas.openxmlformats.org/officeDocument/2006/relationships" id="268" r:id="Re1e5c762f5a84eb7"/>
    <p:sldId xmlns:r="http://schemas.openxmlformats.org/officeDocument/2006/relationships" id="269" r:id="R6c0058dc1ad6474b"/>
    <p:sldId xmlns:r="http://schemas.openxmlformats.org/officeDocument/2006/relationships" id="270" r:id="Rc9368baf5706413a"/>
    <p:sldId xmlns:r="http://schemas.openxmlformats.org/officeDocument/2006/relationships" id="271" r:id="Rd7443c40608940fd"/>
    <p:sldId xmlns:r="http://schemas.openxmlformats.org/officeDocument/2006/relationships" id="272" r:id="Rffea5214b1974d8e"/>
    <p:sldId xmlns:r="http://schemas.openxmlformats.org/officeDocument/2006/relationships" id="273" r:id="R53fd524be3574d90"/>
    <p:sldId xmlns:r="http://schemas.openxmlformats.org/officeDocument/2006/relationships" id="274" r:id="R4c0a10989d704889"/>
    <p:sldId xmlns:r="http://schemas.openxmlformats.org/officeDocument/2006/relationships" id="275" r:id="Rdc8b4099d5cd4e2d"/>
    <p:sldId xmlns:r="http://schemas.openxmlformats.org/officeDocument/2006/relationships" id="276" r:id="R9314fa18867a4fa2"/>
    <p:sldId xmlns:r="http://schemas.openxmlformats.org/officeDocument/2006/relationships" id="277" r:id="Rc0a171c73dc743a3"/>
    <p:sldId xmlns:r="http://schemas.openxmlformats.org/officeDocument/2006/relationships" id="278" r:id="R4df4e1d445e5412f"/>
    <p:sldId xmlns:r="http://schemas.openxmlformats.org/officeDocument/2006/relationships" id="279" r:id="R39fbf78e9e4b4843"/>
    <p:sldId xmlns:r="http://schemas.openxmlformats.org/officeDocument/2006/relationships" id="280" r:id="Rcf556ba3772f4897"/>
    <p:sldId xmlns:r="http://schemas.openxmlformats.org/officeDocument/2006/relationships" id="281" r:id="R613bb63d41844566"/>
    <p:sldId xmlns:r="http://schemas.openxmlformats.org/officeDocument/2006/relationships" id="282" r:id="Rf0ed5ff0d9bd4882"/>
    <p:sldId xmlns:r="http://schemas.openxmlformats.org/officeDocument/2006/relationships" id="283" r:id="R076dc3e27ab34ef3"/>
    <p:sldId xmlns:r="http://schemas.openxmlformats.org/officeDocument/2006/relationships" id="284" r:id="Rf03480aa52cd4fc4"/>
    <p:sldId xmlns:r="http://schemas.openxmlformats.org/officeDocument/2006/relationships" id="285" r:id="Rc5208f38e85d4e8e"/>
    <p:sldId xmlns:r="http://schemas.openxmlformats.org/officeDocument/2006/relationships" id="286" r:id="R4f463a3295604131"/>
    <p:sldId xmlns:r="http://schemas.openxmlformats.org/officeDocument/2006/relationships" id="287" r:id="R060d5ada532a457e"/>
    <p:sldId xmlns:r="http://schemas.openxmlformats.org/officeDocument/2006/relationships" id="288" r:id="R537b7fa15dd94aa0"/>
    <p:sldId xmlns:r="http://schemas.openxmlformats.org/officeDocument/2006/relationships" id="289" r:id="R39ebcddf863542cf"/>
    <p:sldId xmlns:r="http://schemas.openxmlformats.org/officeDocument/2006/relationships" id="290" r:id="R7f7047f814814628"/>
    <p:sldId xmlns:r="http://schemas.openxmlformats.org/officeDocument/2006/relationships" id="291" r:id="R6221ae63520a4384"/>
    <p:sldId xmlns:r="http://schemas.openxmlformats.org/officeDocument/2006/relationships" id="292" r:id="R90abfda792bf4e63"/>
    <p:sldId xmlns:r="http://schemas.openxmlformats.org/officeDocument/2006/relationships" id="293" r:id="R00c68b3b05104eee"/>
    <p:sldId xmlns:r="http://schemas.openxmlformats.org/officeDocument/2006/relationships" id="294" r:id="R1acaa3c69f01426b"/>
    <p:sldId xmlns:r="http://schemas.openxmlformats.org/officeDocument/2006/relationships" id="295" r:id="Re3666ca1ea7f4942"/>
    <p:sldId xmlns:r="http://schemas.openxmlformats.org/officeDocument/2006/relationships" id="296" r:id="R691ba373ea284e56"/>
    <p:sldId xmlns:r="http://schemas.openxmlformats.org/officeDocument/2006/relationships" id="297" r:id="R5a2130067a0843cd"/>
    <p:sldId xmlns:r="http://schemas.openxmlformats.org/officeDocument/2006/relationships" id="298" r:id="R86f57dac10c34372"/>
    <p:sldId xmlns:r="http://schemas.openxmlformats.org/officeDocument/2006/relationships" id="299" r:id="R6a0b2bc4b26f4f99"/>
    <p:sldId xmlns:r="http://schemas.openxmlformats.org/officeDocument/2006/relationships" id="300" r:id="R765f37d2250a41ae"/>
    <p:sldId xmlns:r="http://schemas.openxmlformats.org/officeDocument/2006/relationships" id="301" r:id="R581f11f911774074"/>
    <p:sldId xmlns:r="http://schemas.openxmlformats.org/officeDocument/2006/relationships" id="302" r:id="Ra321a50e7cb241db"/>
    <p:sldId xmlns:r="http://schemas.openxmlformats.org/officeDocument/2006/relationships" id="303" r:id="Rd343cccd5a8e4127"/>
    <p:sldId xmlns:r="http://schemas.openxmlformats.org/officeDocument/2006/relationships" id="304" r:id="R3ee110969a564f27"/>
    <p:sldId xmlns:r="http://schemas.openxmlformats.org/officeDocument/2006/relationships" id="305" r:id="R66ba8fe0a6ac4c32"/>
    <p:sldId xmlns:r="http://schemas.openxmlformats.org/officeDocument/2006/relationships" id="306" r:id="Rf8d616b6c0294bc6"/>
    <p:sldId xmlns:r="http://schemas.openxmlformats.org/officeDocument/2006/relationships" id="307" r:id="R2e3e59faf42440d4"/>
    <p:sldId xmlns:r="http://schemas.openxmlformats.org/officeDocument/2006/relationships" id="308" r:id="R43f96b2df25340b5"/>
    <p:sldId xmlns:r="http://schemas.openxmlformats.org/officeDocument/2006/relationships" id="309" r:id="R67b39f789e294320"/>
    <p:sldId xmlns:r="http://schemas.openxmlformats.org/officeDocument/2006/relationships" id="310" r:id="Rd4deb2423e474634"/>
    <p:sldId xmlns:r="http://schemas.openxmlformats.org/officeDocument/2006/relationships" id="311" r:id="Rd67e30b32b5848b9"/>
    <p:sldId xmlns:r="http://schemas.openxmlformats.org/officeDocument/2006/relationships" id="312" r:id="R9f57dfc157b441d3"/>
    <p:sldId xmlns:r="http://schemas.openxmlformats.org/officeDocument/2006/relationships" id="313" r:id="R3adfa262b8054d93"/>
    <p:sldId xmlns:r="http://schemas.openxmlformats.org/officeDocument/2006/relationships" id="314" r:id="R07bd82b4cb2244a2"/>
    <p:sldId xmlns:r="http://schemas.openxmlformats.org/officeDocument/2006/relationships" id="315" r:id="R1c0c357758a241a2"/>
    <p:sldId xmlns:r="http://schemas.openxmlformats.org/officeDocument/2006/relationships" id="316" r:id="R625f694bc27243f7"/>
    <p:sldId xmlns:r="http://schemas.openxmlformats.org/officeDocument/2006/relationships" id="317" r:id="R8ea4c8c93309477e"/>
    <p:sldId xmlns:r="http://schemas.openxmlformats.org/officeDocument/2006/relationships" id="318" r:id="Rc82bcb2aaacd40ef"/>
    <p:sldId xmlns:r="http://schemas.openxmlformats.org/officeDocument/2006/relationships" id="319" r:id="R7f5d7ec258fd407a"/>
    <p:sldId xmlns:r="http://schemas.openxmlformats.org/officeDocument/2006/relationships" id="320" r:id="Rdcccf8e6e2a74743"/>
    <p:sldId xmlns:r="http://schemas.openxmlformats.org/officeDocument/2006/relationships" id="321" r:id="R6a334d418bf34d9d"/>
    <p:sldId xmlns:r="http://schemas.openxmlformats.org/officeDocument/2006/relationships" id="322" r:id="Rd32cb1cda68e4c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ec457b5a2f40a9" /><Relationship Type="http://schemas.openxmlformats.org/officeDocument/2006/relationships/slideMaster" Target="/ppt/slideMasters/slideMaster1.xml" Id="Re30f5a9922ed4185" /><Relationship Type="http://schemas.openxmlformats.org/officeDocument/2006/relationships/notesMaster" Target="/ppt/notesMasters/notesMaster1.xml" Id="Re0e5787df8a44f1a" /><Relationship Type="http://schemas.openxmlformats.org/officeDocument/2006/relationships/presProps" Target="/ppt/presProps.xml" Id="R95d78213e07446cc" /><Relationship Type="http://schemas.openxmlformats.org/officeDocument/2006/relationships/tableStyles" Target="/ppt/tableStyles.xml" Id="R1f6f58f60e8f4784" /><Relationship Type="http://schemas.openxmlformats.org/officeDocument/2006/relationships/slide" Target="/ppt/slides/slide1.xml" Id="R8b4fd1ad9b544ad1" /><Relationship Type="http://schemas.openxmlformats.org/officeDocument/2006/relationships/slide" Target="/ppt/slides/slide2.xml" Id="R8c10399963d64817" /><Relationship Type="http://schemas.openxmlformats.org/officeDocument/2006/relationships/slide" Target="/ppt/slides/slide3.xml" Id="R10a3a23397d442f1" /><Relationship Type="http://schemas.openxmlformats.org/officeDocument/2006/relationships/slide" Target="/ppt/slides/slide4.xml" Id="Rf85884ba24ab464f" /><Relationship Type="http://schemas.openxmlformats.org/officeDocument/2006/relationships/slide" Target="/ppt/slides/slide5.xml" Id="Rd295c8cd39294511" /><Relationship Type="http://schemas.openxmlformats.org/officeDocument/2006/relationships/slide" Target="/ppt/slides/slide6.xml" Id="Rfda682d936a54986" /><Relationship Type="http://schemas.openxmlformats.org/officeDocument/2006/relationships/slide" Target="/ppt/slides/slide7.xml" Id="Rf9b201b732544416" /><Relationship Type="http://schemas.openxmlformats.org/officeDocument/2006/relationships/slide" Target="/ppt/slides/slide8.xml" Id="R9e760ccf514948b0" /><Relationship Type="http://schemas.openxmlformats.org/officeDocument/2006/relationships/slide" Target="/ppt/slides/slide9.xml" Id="R440501cd40c94c15" /><Relationship Type="http://schemas.openxmlformats.org/officeDocument/2006/relationships/slide" Target="/ppt/slides/slide10.xml" Id="R237918d2b109403d" /><Relationship Type="http://schemas.openxmlformats.org/officeDocument/2006/relationships/slide" Target="/ppt/slides/slide11.xml" Id="R43dc1092060548fa" /><Relationship Type="http://schemas.openxmlformats.org/officeDocument/2006/relationships/slide" Target="/ppt/slides/slide12.xml" Id="Rf2ed54b17ec3425f" /><Relationship Type="http://schemas.openxmlformats.org/officeDocument/2006/relationships/slide" Target="/ppt/slides/slide13.xml" Id="Re1e5c762f5a84eb7" /><Relationship Type="http://schemas.openxmlformats.org/officeDocument/2006/relationships/slide" Target="/ppt/slides/slide14.xml" Id="R6c0058dc1ad6474b" /><Relationship Type="http://schemas.openxmlformats.org/officeDocument/2006/relationships/slide" Target="/ppt/slides/slide15.xml" Id="Rc9368baf5706413a" /><Relationship Type="http://schemas.openxmlformats.org/officeDocument/2006/relationships/slide" Target="/ppt/slides/slide16.xml" Id="Rd7443c40608940fd" /><Relationship Type="http://schemas.openxmlformats.org/officeDocument/2006/relationships/slide" Target="/ppt/slides/slide17.xml" Id="Rffea5214b1974d8e" /><Relationship Type="http://schemas.openxmlformats.org/officeDocument/2006/relationships/slide" Target="/ppt/slides/slide18.xml" Id="R53fd524be3574d90" /><Relationship Type="http://schemas.openxmlformats.org/officeDocument/2006/relationships/slide" Target="/ppt/slides/slide19.xml" Id="R4c0a10989d704889" /><Relationship Type="http://schemas.openxmlformats.org/officeDocument/2006/relationships/slide" Target="/ppt/slides/slide20.xml" Id="Rdc8b4099d5cd4e2d" /><Relationship Type="http://schemas.openxmlformats.org/officeDocument/2006/relationships/slide" Target="/ppt/slides/slide21.xml" Id="R9314fa18867a4fa2" /><Relationship Type="http://schemas.openxmlformats.org/officeDocument/2006/relationships/slide" Target="/ppt/slides/slide22.xml" Id="Rc0a171c73dc743a3" /><Relationship Type="http://schemas.openxmlformats.org/officeDocument/2006/relationships/slide" Target="/ppt/slides/slide23.xml" Id="R4df4e1d445e5412f" /><Relationship Type="http://schemas.openxmlformats.org/officeDocument/2006/relationships/slide" Target="/ppt/slides/slide24.xml" Id="R39fbf78e9e4b4843" /><Relationship Type="http://schemas.openxmlformats.org/officeDocument/2006/relationships/slide" Target="/ppt/slides/slide25.xml" Id="Rcf556ba3772f4897" /><Relationship Type="http://schemas.openxmlformats.org/officeDocument/2006/relationships/slide" Target="/ppt/slides/slide26.xml" Id="R613bb63d41844566" /><Relationship Type="http://schemas.openxmlformats.org/officeDocument/2006/relationships/slide" Target="/ppt/slides/slide27.xml" Id="Rf0ed5ff0d9bd4882" /><Relationship Type="http://schemas.openxmlformats.org/officeDocument/2006/relationships/slide" Target="/ppt/slides/slide28.xml" Id="R076dc3e27ab34ef3" /><Relationship Type="http://schemas.openxmlformats.org/officeDocument/2006/relationships/slide" Target="/ppt/slides/slide29.xml" Id="Rf03480aa52cd4fc4" /><Relationship Type="http://schemas.openxmlformats.org/officeDocument/2006/relationships/slide" Target="/ppt/slides/slide30.xml" Id="Rc5208f38e85d4e8e" /><Relationship Type="http://schemas.openxmlformats.org/officeDocument/2006/relationships/slide" Target="/ppt/slides/slide31.xml" Id="R4f463a3295604131" /><Relationship Type="http://schemas.openxmlformats.org/officeDocument/2006/relationships/slide" Target="/ppt/slides/slide32.xml" Id="R060d5ada532a457e" /><Relationship Type="http://schemas.openxmlformats.org/officeDocument/2006/relationships/slide" Target="/ppt/slides/slide33.xml" Id="R537b7fa15dd94aa0" /><Relationship Type="http://schemas.openxmlformats.org/officeDocument/2006/relationships/slide" Target="/ppt/slides/slide34.xml" Id="R39ebcddf863542cf" /><Relationship Type="http://schemas.openxmlformats.org/officeDocument/2006/relationships/slide" Target="/ppt/slides/slide35.xml" Id="R7f7047f814814628" /><Relationship Type="http://schemas.openxmlformats.org/officeDocument/2006/relationships/slide" Target="/ppt/slides/slide36.xml" Id="R6221ae63520a4384" /><Relationship Type="http://schemas.openxmlformats.org/officeDocument/2006/relationships/slide" Target="/ppt/slides/slide37.xml" Id="R90abfda792bf4e63" /><Relationship Type="http://schemas.openxmlformats.org/officeDocument/2006/relationships/slide" Target="/ppt/slides/slide38.xml" Id="R00c68b3b05104eee" /><Relationship Type="http://schemas.openxmlformats.org/officeDocument/2006/relationships/slide" Target="/ppt/slides/slide39.xml" Id="R1acaa3c69f01426b" /><Relationship Type="http://schemas.openxmlformats.org/officeDocument/2006/relationships/slide" Target="/ppt/slides/slide40.xml" Id="Re3666ca1ea7f4942" /><Relationship Type="http://schemas.openxmlformats.org/officeDocument/2006/relationships/slide" Target="/ppt/slides/slide41.xml" Id="R691ba373ea284e56" /><Relationship Type="http://schemas.openxmlformats.org/officeDocument/2006/relationships/slide" Target="/ppt/slides/slide42.xml" Id="R5a2130067a0843cd" /><Relationship Type="http://schemas.openxmlformats.org/officeDocument/2006/relationships/slide" Target="/ppt/slides/slide43.xml" Id="R86f57dac10c34372" /><Relationship Type="http://schemas.openxmlformats.org/officeDocument/2006/relationships/slide" Target="/ppt/slides/slide44.xml" Id="R6a0b2bc4b26f4f99" /><Relationship Type="http://schemas.openxmlformats.org/officeDocument/2006/relationships/slide" Target="/ppt/slides/slide45.xml" Id="R765f37d2250a41ae" /><Relationship Type="http://schemas.openxmlformats.org/officeDocument/2006/relationships/slide" Target="/ppt/slides/slide46.xml" Id="R581f11f911774074" /><Relationship Type="http://schemas.openxmlformats.org/officeDocument/2006/relationships/slide" Target="/ppt/slides/slide47.xml" Id="Ra321a50e7cb241db" /><Relationship Type="http://schemas.openxmlformats.org/officeDocument/2006/relationships/slide" Target="/ppt/slides/slide48.xml" Id="Rd343cccd5a8e4127" /><Relationship Type="http://schemas.openxmlformats.org/officeDocument/2006/relationships/slide" Target="/ppt/slides/slide49.xml" Id="R3ee110969a564f27" /><Relationship Type="http://schemas.openxmlformats.org/officeDocument/2006/relationships/slide" Target="/ppt/slides/slide50.xml" Id="R66ba8fe0a6ac4c32" /><Relationship Type="http://schemas.openxmlformats.org/officeDocument/2006/relationships/slide" Target="/ppt/slides/slide51.xml" Id="Rf8d616b6c0294bc6" /><Relationship Type="http://schemas.openxmlformats.org/officeDocument/2006/relationships/slide" Target="/ppt/slides/slide52.xml" Id="R2e3e59faf42440d4" /><Relationship Type="http://schemas.openxmlformats.org/officeDocument/2006/relationships/slide" Target="/ppt/slides/slide53.xml" Id="R43f96b2df25340b5" /><Relationship Type="http://schemas.openxmlformats.org/officeDocument/2006/relationships/slide" Target="/ppt/slides/slide54.xml" Id="R67b39f789e294320" /><Relationship Type="http://schemas.openxmlformats.org/officeDocument/2006/relationships/slide" Target="/ppt/slides/slide55.xml" Id="Rd4deb2423e474634" /><Relationship Type="http://schemas.openxmlformats.org/officeDocument/2006/relationships/slide" Target="/ppt/slides/slide56.xml" Id="Rd67e30b32b5848b9" /><Relationship Type="http://schemas.openxmlformats.org/officeDocument/2006/relationships/slide" Target="/ppt/slides/slide57.xml" Id="R9f57dfc157b441d3" /><Relationship Type="http://schemas.openxmlformats.org/officeDocument/2006/relationships/slide" Target="/ppt/slides/slide58.xml" Id="R3adfa262b8054d93" /><Relationship Type="http://schemas.openxmlformats.org/officeDocument/2006/relationships/slide" Target="/ppt/slides/slide59.xml" Id="R07bd82b4cb2244a2" /><Relationship Type="http://schemas.openxmlformats.org/officeDocument/2006/relationships/slide" Target="/ppt/slides/slide60.xml" Id="R1c0c357758a241a2" /><Relationship Type="http://schemas.openxmlformats.org/officeDocument/2006/relationships/slide" Target="/ppt/slides/slide61.xml" Id="R625f694bc27243f7" /><Relationship Type="http://schemas.openxmlformats.org/officeDocument/2006/relationships/slide" Target="/ppt/slides/slide62.xml" Id="R8ea4c8c93309477e" /><Relationship Type="http://schemas.openxmlformats.org/officeDocument/2006/relationships/slide" Target="/ppt/slides/slide63.xml" Id="Rc82bcb2aaacd40ef" /><Relationship Type="http://schemas.openxmlformats.org/officeDocument/2006/relationships/slide" Target="/ppt/slides/slide64.xml" Id="R7f5d7ec258fd407a" /><Relationship Type="http://schemas.openxmlformats.org/officeDocument/2006/relationships/slide" Target="/ppt/slides/slide65.xml" Id="Rdcccf8e6e2a74743" /><Relationship Type="http://schemas.openxmlformats.org/officeDocument/2006/relationships/slide" Target="/ppt/slides/slide66.xml" Id="R6a334d418bf34d9d" /><Relationship Type="http://schemas.openxmlformats.org/officeDocument/2006/relationships/slide" Target="/ppt/slides/slide67.xml" Id="Rd32cb1cda68e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a4ee406494d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9cbcbbd4844f7" /><Relationship Type="http://schemas.openxmlformats.org/officeDocument/2006/relationships/notesMaster" Target="/ppt/notesMasters/notesMaster1.xml" Id="R46786475bbd6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4764dd9bca4b82" /><Relationship Type="http://schemas.openxmlformats.org/officeDocument/2006/relationships/notesMaster" Target="/ppt/notesMasters/notesMaster1.xml" Id="R37eadb34a77240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4a2043d7974294" /><Relationship Type="http://schemas.openxmlformats.org/officeDocument/2006/relationships/notesMaster" Target="/ppt/notesMasters/notesMaster1.xml" Id="R20cf759aa2a147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32c50a7ac4c64" /><Relationship Type="http://schemas.openxmlformats.org/officeDocument/2006/relationships/notesMaster" Target="/ppt/notesMasters/notesMaster1.xml" Id="R44747fca0d8147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e1f8d24aa44f7" /><Relationship Type="http://schemas.openxmlformats.org/officeDocument/2006/relationships/notesMaster" Target="/ppt/notesMasters/notesMaster1.xml" Id="R5a956d594c734c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939064d5f40fa" /><Relationship Type="http://schemas.openxmlformats.org/officeDocument/2006/relationships/notesMaster" Target="/ppt/notesMasters/notesMaster1.xml" Id="Rff5681630a60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29ce2100f44a1f" /><Relationship Type="http://schemas.openxmlformats.org/officeDocument/2006/relationships/notesMaster" Target="/ppt/notesMasters/notesMaster1.xml" Id="Rd6057d8edbaf4f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e97c3e97e8483c" /><Relationship Type="http://schemas.openxmlformats.org/officeDocument/2006/relationships/notesMaster" Target="/ppt/notesMasters/notesMaster1.xml" Id="R8eb4073a328347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749686e6448f5" /><Relationship Type="http://schemas.openxmlformats.org/officeDocument/2006/relationships/notesMaster" Target="/ppt/notesMasters/notesMaster1.xml" Id="Ra4d14813adae42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39343346544944" /><Relationship Type="http://schemas.openxmlformats.org/officeDocument/2006/relationships/notesMaster" Target="/ppt/notesMasters/notesMaster1.xml" Id="R6b745a66068b48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3f7da9216c4a19" /><Relationship Type="http://schemas.openxmlformats.org/officeDocument/2006/relationships/notesMaster" Target="/ppt/notesMasters/notesMaster1.xml" Id="Rf4fb9516c65f41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e469edcec04775" /><Relationship Type="http://schemas.openxmlformats.org/officeDocument/2006/relationships/notesMaster" Target="/ppt/notesMasters/notesMaster1.xml" Id="Rb13146b1d4b149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101f61d3354e3a" /><Relationship Type="http://schemas.openxmlformats.org/officeDocument/2006/relationships/notesMaster" Target="/ppt/notesMasters/notesMaster1.xml" Id="Reebdb285df4b4d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e49b82ceba4af2" /><Relationship Type="http://schemas.openxmlformats.org/officeDocument/2006/relationships/notesMaster" Target="/ppt/notesMasters/notesMaster1.xml" Id="Rfd959c99809943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91630f6c664c49" /><Relationship Type="http://schemas.openxmlformats.org/officeDocument/2006/relationships/notesMaster" Target="/ppt/notesMasters/notesMaster1.xml" Id="R7734f0118da644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39b450949947af" /><Relationship Type="http://schemas.openxmlformats.org/officeDocument/2006/relationships/notesMaster" Target="/ppt/notesMasters/notesMaster1.xml" Id="Ra7875f5e86844d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18a4d5f4be4c61" /><Relationship Type="http://schemas.openxmlformats.org/officeDocument/2006/relationships/notesMaster" Target="/ppt/notesMasters/notesMaster1.xml" Id="Re6f7eca3b4254f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a3dc9d898142e9" /><Relationship Type="http://schemas.openxmlformats.org/officeDocument/2006/relationships/notesMaster" Target="/ppt/notesMasters/notesMaster1.xml" Id="R63befe3480aa49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7e6332247d45d4" /><Relationship Type="http://schemas.openxmlformats.org/officeDocument/2006/relationships/notesMaster" Target="/ppt/notesMasters/notesMaster1.xml" Id="R0630cc0102674e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3e7d41bc06466c" /><Relationship Type="http://schemas.openxmlformats.org/officeDocument/2006/relationships/notesMaster" Target="/ppt/notesMasters/notesMaster1.xml" Id="Rd2aba4d1907743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f10b0f53d748d4" /><Relationship Type="http://schemas.openxmlformats.org/officeDocument/2006/relationships/notesMaster" Target="/ppt/notesMasters/notesMaster1.xml" Id="R69de82bc4d6b42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973ef8da21431e" /><Relationship Type="http://schemas.openxmlformats.org/officeDocument/2006/relationships/notesMaster" Target="/ppt/notesMasters/notesMaster1.xml" Id="R038121d2a02e4d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12ff7929474dca" /><Relationship Type="http://schemas.openxmlformats.org/officeDocument/2006/relationships/notesMaster" Target="/ppt/notesMasters/notesMaster1.xml" Id="Rd79ee40e763d43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ae02cdc53f4fa9" /><Relationship Type="http://schemas.openxmlformats.org/officeDocument/2006/relationships/notesMaster" Target="/ppt/notesMasters/notesMaster1.xml" Id="R2040c7db9c214c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83699ac3874040" /><Relationship Type="http://schemas.openxmlformats.org/officeDocument/2006/relationships/notesMaster" Target="/ppt/notesMasters/notesMaster1.xml" Id="R9c1c3f51df0248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9e72e607904667" /><Relationship Type="http://schemas.openxmlformats.org/officeDocument/2006/relationships/notesMaster" Target="/ppt/notesMasters/notesMaster1.xml" Id="R8536ecdc53ad4c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3f2fb72a6e478a" /><Relationship Type="http://schemas.openxmlformats.org/officeDocument/2006/relationships/notesMaster" Target="/ppt/notesMasters/notesMaster1.xml" Id="Rd14e026337764e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6d5eb2233c437c" /><Relationship Type="http://schemas.openxmlformats.org/officeDocument/2006/relationships/notesMaster" Target="/ppt/notesMasters/notesMaster1.xml" Id="R50183370dd5443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f9f7c1f7b24dd7" /><Relationship Type="http://schemas.openxmlformats.org/officeDocument/2006/relationships/notesMaster" Target="/ppt/notesMasters/notesMaster1.xml" Id="Ra714cfdab36849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79da87e8764733" /><Relationship Type="http://schemas.openxmlformats.org/officeDocument/2006/relationships/notesMaster" Target="/ppt/notesMasters/notesMaster1.xml" Id="R522618f7c214493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f9165f00b44d6f" /><Relationship Type="http://schemas.openxmlformats.org/officeDocument/2006/relationships/notesMaster" Target="/ppt/notesMasters/notesMaster1.xml" Id="R7a8a21c2c2b54e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6121afc49946e5" /><Relationship Type="http://schemas.openxmlformats.org/officeDocument/2006/relationships/notesMaster" Target="/ppt/notesMasters/notesMaster1.xml" Id="Rb5798180a01c456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5cea299ca94432" /><Relationship Type="http://schemas.openxmlformats.org/officeDocument/2006/relationships/notesMaster" Target="/ppt/notesMasters/notesMaster1.xml" Id="R27ed677366434fe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00528bfec1403d" /><Relationship Type="http://schemas.openxmlformats.org/officeDocument/2006/relationships/notesMaster" Target="/ppt/notesMasters/notesMaster1.xml" Id="R1dcb52a819bd42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76ee2d1c1049e3" /><Relationship Type="http://schemas.openxmlformats.org/officeDocument/2006/relationships/notesMaster" Target="/ppt/notesMasters/notesMaster1.xml" Id="R06c03424315a41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317798d0d24bea" /><Relationship Type="http://schemas.openxmlformats.org/officeDocument/2006/relationships/notesMaster" Target="/ppt/notesMasters/notesMaster1.xml" Id="Rcc8947c6385e4e7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e2b10dc724b4c90" /><Relationship Type="http://schemas.openxmlformats.org/officeDocument/2006/relationships/notesMaster" Target="/ppt/notesMasters/notesMaster1.xml" Id="R8697de3e83fd47c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831e44f4b64006" /><Relationship Type="http://schemas.openxmlformats.org/officeDocument/2006/relationships/notesMaster" Target="/ppt/notesMasters/notesMaster1.xml" Id="R0c19846172ee479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754ba06b2e14750" /><Relationship Type="http://schemas.openxmlformats.org/officeDocument/2006/relationships/notesMaster" Target="/ppt/notesMasters/notesMaster1.xml" Id="Re265533a74a2465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44f4c58c6884950" /><Relationship Type="http://schemas.openxmlformats.org/officeDocument/2006/relationships/notesMaster" Target="/ppt/notesMasters/notesMaster1.xml" Id="R3651bced80e8421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03dcfa4fe184580" /><Relationship Type="http://schemas.openxmlformats.org/officeDocument/2006/relationships/notesMaster" Target="/ppt/notesMasters/notesMaster1.xml" Id="R8fee7382f8cc427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72aab4418844f43" /><Relationship Type="http://schemas.openxmlformats.org/officeDocument/2006/relationships/notesMaster" Target="/ppt/notesMasters/notesMaster1.xml" Id="R7ab7fae9ca714b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439827156e94794" /><Relationship Type="http://schemas.openxmlformats.org/officeDocument/2006/relationships/notesMaster" Target="/ppt/notesMasters/notesMaster1.xml" Id="R5a7d4b1b1a19454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6190bc907c042c2" /><Relationship Type="http://schemas.openxmlformats.org/officeDocument/2006/relationships/notesMaster" Target="/ppt/notesMasters/notesMaster1.xml" Id="R1592f6c10f7b463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5de45e9e6274c7a" /><Relationship Type="http://schemas.openxmlformats.org/officeDocument/2006/relationships/notesMaster" Target="/ppt/notesMasters/notesMaster1.xml" Id="Rd6bd5d5e3b4b4c7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92e75bf82d74f4a" /><Relationship Type="http://schemas.openxmlformats.org/officeDocument/2006/relationships/notesMaster" Target="/ppt/notesMasters/notesMaster1.xml" Id="Raa02c68a46ce4cd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b1fc7c6e3e64d43" /><Relationship Type="http://schemas.openxmlformats.org/officeDocument/2006/relationships/notesMaster" Target="/ppt/notesMasters/notesMaster1.xml" Id="R8ee7ca7eed07453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fe964a4ef1c4ef3" /><Relationship Type="http://schemas.openxmlformats.org/officeDocument/2006/relationships/notesMaster" Target="/ppt/notesMasters/notesMaster1.xml" Id="Ra1f26bb99fdd422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7d113794d204c9e" /><Relationship Type="http://schemas.openxmlformats.org/officeDocument/2006/relationships/notesMaster" Target="/ppt/notesMasters/notesMaster1.xml" Id="R26c278c9c172450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a549db5ec16489d" /><Relationship Type="http://schemas.openxmlformats.org/officeDocument/2006/relationships/notesMaster" Target="/ppt/notesMasters/notesMaster1.xml" Id="R7f83b74e92354fd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fb1a9a0010642ce" /><Relationship Type="http://schemas.openxmlformats.org/officeDocument/2006/relationships/notesMaster" Target="/ppt/notesMasters/notesMaster1.xml" Id="Rd4772a7b00f94dd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50b19b824f148ad" /><Relationship Type="http://schemas.openxmlformats.org/officeDocument/2006/relationships/notesMaster" Target="/ppt/notesMasters/notesMaster1.xml" Id="R2e7d7772eb984e5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606ebd32e8b4dbd" /><Relationship Type="http://schemas.openxmlformats.org/officeDocument/2006/relationships/notesMaster" Target="/ppt/notesMasters/notesMaster1.xml" Id="R991a66c593a54ea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ea1e5a425894af7" /><Relationship Type="http://schemas.openxmlformats.org/officeDocument/2006/relationships/notesMaster" Target="/ppt/notesMasters/notesMaster1.xml" Id="R571d85e22f894ae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73bd44ee84c4c59" /><Relationship Type="http://schemas.openxmlformats.org/officeDocument/2006/relationships/notesMaster" Target="/ppt/notesMasters/notesMaster1.xml" Id="Rb94fd1db1b7e416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bec76f87da94d7e" /><Relationship Type="http://schemas.openxmlformats.org/officeDocument/2006/relationships/notesMaster" Target="/ppt/notesMasters/notesMaster1.xml" Id="Re5c57eae2abf426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7482aaea3244307" /><Relationship Type="http://schemas.openxmlformats.org/officeDocument/2006/relationships/notesMaster" Target="/ppt/notesMasters/notesMaster1.xml" Id="R85285916b1c14aa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366adae61634473" /><Relationship Type="http://schemas.openxmlformats.org/officeDocument/2006/relationships/notesMaster" Target="/ppt/notesMasters/notesMaster1.xml" Id="R277aada32d62419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c35ff45413a4098" /><Relationship Type="http://schemas.openxmlformats.org/officeDocument/2006/relationships/notesMaster" Target="/ppt/notesMasters/notesMaster1.xml" Id="Re4e5df310b084aa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743037be64b4fb7" /><Relationship Type="http://schemas.openxmlformats.org/officeDocument/2006/relationships/notesMaster" Target="/ppt/notesMasters/notesMaster1.xml" Id="R588ea8773b51498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710db41739b4f5d" /><Relationship Type="http://schemas.openxmlformats.org/officeDocument/2006/relationships/notesMaster" Target="/ppt/notesMasters/notesMaster1.xml" Id="Rdef7ded53d6b4ee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6c48206c9e04fa8" /><Relationship Type="http://schemas.openxmlformats.org/officeDocument/2006/relationships/notesMaster" Target="/ppt/notesMasters/notesMaster1.xml" Id="Ra2ab348e87834bb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ba306fe4a074994" /><Relationship Type="http://schemas.openxmlformats.org/officeDocument/2006/relationships/notesMaster" Target="/ppt/notesMasters/notesMaster1.xml" Id="R3cb7637279264dc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b61ff36bac04d41" /><Relationship Type="http://schemas.openxmlformats.org/officeDocument/2006/relationships/notesMaster" Target="/ppt/notesMasters/notesMaster1.xml" Id="R8086f643ac57415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cd92d06574043a4" /><Relationship Type="http://schemas.openxmlformats.org/officeDocument/2006/relationships/notesMaster" Target="/ppt/notesMasters/notesMaster1.xml" Id="Rbf82290ef268445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5fd5161a74f45b3" /><Relationship Type="http://schemas.openxmlformats.org/officeDocument/2006/relationships/notesMaster" Target="/ppt/notesMasters/notesMaster1.xml" Id="R9a6f355b6b614d9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3769e9f38ee47bf" /><Relationship Type="http://schemas.openxmlformats.org/officeDocument/2006/relationships/notesMaster" Target="/ppt/notesMasters/notesMaster1.xml" Id="Rae0d3bd3e1f547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</a:t>
            </a:r>
          </a:p>
          <a:p xmlns:a="http://schemas.openxmlformats.org/drawingml/2006/main">
            <a:r>
              <a:t>Syntax examples use Python 3.12+.</a:t>
            </a:r>
          </a:p>
          <a:p xmlns:a="http://schemas.openxmlformats.org/drawingml/2006/main">
            <a:r>
              <a:t>Illustration reused from the original Week 1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https://docs.python.org/3/library/functions.html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https://docs.python.org/3/tutorial/introduction.html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https://docs.python.org/3/tutorial/introduction.html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https://docs.python.org/3/reference/compound_stmts.html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https://docs.python.org/3/tutorial/datastructures.html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https://docs.python.org/3/library/copy.html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https://docs.python.org/3/tutorial/controlflow.html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https://docs.python.org/3/reference/compound_stmts.html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https://docs.python.org/3/library/functions.html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https://docs.python.org/3/tutorial/modules.html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https://docs.python.org/3/tutorial/modules.html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https://docs.python.org/3/tutorial/venv.html</a:t>
            </a:r>
          </a:p>
          <a:p xmlns:a="http://schemas.openxmlformats.org/drawingml/2006/main">
            <a:r>
              <a:t>Syntax examples use Python 3.12+.</a:t>
            </a:r>
          </a:p>
          <a:p xmlns:a="http://schemas.openxmlformats.org/drawingml/2006/main">
            <a:r>
              <a:t>Illustration reused from the original Week 1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https://docs.python.org/3/library/pathlib.html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https://docs.python.org/3/tutorial/inputoutput.html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https://docs.python.org/3/tutorial/inputoutput.html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https://docs.python.org/3/library/csv.html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https://docs.python.org/3/library/json.html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https://docs.python.org/3/tutorial/errors.html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https://docs.python.org/3/tutorial/errors.html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https://docs.python.org/3/tutorial/errors.html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https://docs.python.org/3/tutorial/errors.html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https://docs.python.org/3/library/functions.html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https://docs.python.org/3/library/functions.html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https://docs.python.org/3/reference/datamodel.html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https://docs.python.org/3/library/dataclasses.html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https://docs.python.org/3/library/typing.html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https://docs.python.org/3/library/typing.html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https://docs.python.org/3/library/asyncio-task.html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https://docs.python.org/3/reference/compound_stmts.html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https://docs.python.org/3/reference/compound_stmts.html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https://docs.python.org/3/library/stdtypes.html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https://docs.python.org/3/tutorial/classes.html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https://docs.python.org/3/tutorial/</a:t>
            </a:r>
          </a:p>
          <a:p xmlns:a="http://schemas.openxmlformats.org/drawingml/2006/main">
            <a:r>
              <a:t>Syntax 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8edf6bd9c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01ff9d54d4c0f" /><Relationship Type="http://schemas.openxmlformats.org/officeDocument/2006/relationships/slideLayout" Target="/ppt/slideLayouts/slideLayout1.xml" Id="R3549ddda75d449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9ddda75d449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42ea7f2ae4ada" /><Relationship Type="http://schemas.openxmlformats.org/officeDocument/2006/relationships/image" Target="/ppt/media/image.png" Id="R604eb52dbb624283" /><Relationship Type="http://schemas.openxmlformats.org/officeDocument/2006/relationships/notesSlide" Target="/ppt/notesSlides/notesSlide1.xml" Id="R9f73483c15d6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a9e6f9b44b7f" /><Relationship Type="http://schemas.openxmlformats.org/officeDocument/2006/relationships/notesSlide" Target="/ppt/notesSlides/notesSlide2.xml" Id="R28f76b85250c4c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00142930942b3" /><Relationship Type="http://schemas.openxmlformats.org/officeDocument/2006/relationships/notesSlide" Target="/ppt/notesSlides/notesSlide3.xml" Id="Ra85ffdd791d9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7f17cbbaf4b26" /><Relationship Type="http://schemas.openxmlformats.org/officeDocument/2006/relationships/notesSlide" Target="/ppt/notesSlides/notesSlide4.xml" Id="Rfcb48fbef1644a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e88ce94741fe" /><Relationship Type="http://schemas.openxmlformats.org/officeDocument/2006/relationships/notesSlide" Target="/ppt/notesSlides/notesSlide5.xml" Id="R3c0cd1c885c7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5f9503a094968" /><Relationship Type="http://schemas.openxmlformats.org/officeDocument/2006/relationships/notesSlide" Target="/ppt/notesSlides/notesSlide6.xml" Id="Rb76dacf43542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aab9540324ed1" /><Relationship Type="http://schemas.openxmlformats.org/officeDocument/2006/relationships/notesSlide" Target="/ppt/notesSlides/notesSlide7.xml" Id="Rbbd3abfb26d6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4e53045c848a4" /><Relationship Type="http://schemas.openxmlformats.org/officeDocument/2006/relationships/notesSlide" Target="/ppt/notesSlides/notesSlide8.xml" Id="R7a2203ac708f44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7cb5a494b40a1" /><Relationship Type="http://schemas.openxmlformats.org/officeDocument/2006/relationships/notesSlide" Target="/ppt/notesSlides/notesSlide9.xml" Id="R6641805df37f40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311212fa493c" /><Relationship Type="http://schemas.openxmlformats.org/officeDocument/2006/relationships/notesSlide" Target="/ppt/notesSlides/notesSlide10.xml" Id="R0ff9a9f14fdd4c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849a3a878426e" /><Relationship Type="http://schemas.openxmlformats.org/officeDocument/2006/relationships/notesSlide" Target="/ppt/notesSlides/notesSlide11.xml" Id="R5c07b2b173514a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cbe407f104762" /><Relationship Type="http://schemas.openxmlformats.org/officeDocument/2006/relationships/notesSlide" Target="/ppt/notesSlides/notesSlide12.xml" Id="R37bb85aa981744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d9261de3c4d52" /><Relationship Type="http://schemas.openxmlformats.org/officeDocument/2006/relationships/notesSlide" Target="/ppt/notesSlides/notesSlide13.xml" Id="R124e60c308d949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ba0abba4a4b49" /><Relationship Type="http://schemas.openxmlformats.org/officeDocument/2006/relationships/notesSlide" Target="/ppt/notesSlides/notesSlide14.xml" Id="R65de2d31bcca49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61e3ae8e34fab" /><Relationship Type="http://schemas.openxmlformats.org/officeDocument/2006/relationships/notesSlide" Target="/ppt/notesSlides/notesSlide15.xml" Id="Rc15946106c4e4d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bf4466ce48f2" /><Relationship Type="http://schemas.openxmlformats.org/officeDocument/2006/relationships/notesSlide" Target="/ppt/notesSlides/notesSlide16.xml" Id="Rf1dd521ed15145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ace49038c44dc" /><Relationship Type="http://schemas.openxmlformats.org/officeDocument/2006/relationships/notesSlide" Target="/ppt/notesSlides/notesSlide17.xml" Id="R00cc10dd0dd442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a9693af804191" /><Relationship Type="http://schemas.openxmlformats.org/officeDocument/2006/relationships/notesSlide" Target="/ppt/notesSlides/notesSlide18.xml" Id="R2e29a5b133c147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370e1c924f39" /><Relationship Type="http://schemas.openxmlformats.org/officeDocument/2006/relationships/notesSlide" Target="/ppt/notesSlides/notesSlide19.xml" Id="R76e204ed7e8e4a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52c8cfae04ac3" /><Relationship Type="http://schemas.openxmlformats.org/officeDocument/2006/relationships/notesSlide" Target="/ppt/notesSlides/notesSlide20.xml" Id="R410b3543913b47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a5bc1e4134f52" /><Relationship Type="http://schemas.openxmlformats.org/officeDocument/2006/relationships/notesSlide" Target="/ppt/notesSlides/notesSlide21.xml" Id="R991dc94ff98346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8962e846c4fcf" /><Relationship Type="http://schemas.openxmlformats.org/officeDocument/2006/relationships/notesSlide" Target="/ppt/notesSlides/notesSlide22.xml" Id="Rcf0c3ed0e2e045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47305e5e4f14" /><Relationship Type="http://schemas.openxmlformats.org/officeDocument/2006/relationships/notesSlide" Target="/ppt/notesSlides/notesSlide23.xml" Id="R51defa640cd641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651db42634a83" /><Relationship Type="http://schemas.openxmlformats.org/officeDocument/2006/relationships/notesSlide" Target="/ppt/notesSlides/notesSlide24.xml" Id="Re118764d0a2649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e737e5ebf4547" /><Relationship Type="http://schemas.openxmlformats.org/officeDocument/2006/relationships/notesSlide" Target="/ppt/notesSlides/notesSlide25.xml" Id="Re41b17b8d9d844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6cdf8b5964ee5" /><Relationship Type="http://schemas.openxmlformats.org/officeDocument/2006/relationships/notesSlide" Target="/ppt/notesSlides/notesSlide26.xml" Id="R577808abb67740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5fd2c87fd406d" /><Relationship Type="http://schemas.openxmlformats.org/officeDocument/2006/relationships/notesSlide" Target="/ppt/notesSlides/notesSlide27.xml" Id="Rc19aff838b4b48e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ee5412c534db3" /><Relationship Type="http://schemas.openxmlformats.org/officeDocument/2006/relationships/notesSlide" Target="/ppt/notesSlides/notesSlide28.xml" Id="R721b9a60817941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52ba890144126" /><Relationship Type="http://schemas.openxmlformats.org/officeDocument/2006/relationships/notesSlide" Target="/ppt/notesSlides/notesSlide29.xml" Id="R6c3212c051ab42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e9635aa124ba1" /><Relationship Type="http://schemas.openxmlformats.org/officeDocument/2006/relationships/notesSlide" Target="/ppt/notesSlides/notesSlide30.xml" Id="R8c9c0bb3bd3f4a2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7bb21372944c6" /><Relationship Type="http://schemas.openxmlformats.org/officeDocument/2006/relationships/notesSlide" Target="/ppt/notesSlides/notesSlide31.xml" Id="R3179afd00f2c421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7b94b35dc4f31" /><Relationship Type="http://schemas.openxmlformats.org/officeDocument/2006/relationships/notesSlide" Target="/ppt/notesSlides/notesSlide32.xml" Id="R7c101d65cc5f4f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2086eb49442e" /><Relationship Type="http://schemas.openxmlformats.org/officeDocument/2006/relationships/notesSlide" Target="/ppt/notesSlides/notesSlide33.xml" Id="R5fd039e23d7e4c8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ccf9c502b4a88" /><Relationship Type="http://schemas.openxmlformats.org/officeDocument/2006/relationships/notesSlide" Target="/ppt/notesSlides/notesSlide34.xml" Id="Rb377cdbff50e44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fa9f4ad541a4" /><Relationship Type="http://schemas.openxmlformats.org/officeDocument/2006/relationships/notesSlide" Target="/ppt/notesSlides/notesSlide35.xml" Id="R040c74f3e402431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ec63b9fd4752" /><Relationship Type="http://schemas.openxmlformats.org/officeDocument/2006/relationships/notesSlide" Target="/ppt/notesSlides/notesSlide36.xml" Id="R87d08d26b47c4e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c9b34c2f14d5f" /><Relationship Type="http://schemas.openxmlformats.org/officeDocument/2006/relationships/notesSlide" Target="/ppt/notesSlides/notesSlide37.xml" Id="R70901e3242a54b8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315d3b6ad49be" /><Relationship Type="http://schemas.openxmlformats.org/officeDocument/2006/relationships/notesSlide" Target="/ppt/notesSlides/notesSlide38.xml" Id="R87b60208b249401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89101635a4216" /><Relationship Type="http://schemas.openxmlformats.org/officeDocument/2006/relationships/notesSlide" Target="/ppt/notesSlides/notesSlide39.xml" Id="R8dad6fba16534c7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69f335e7541f2" /><Relationship Type="http://schemas.openxmlformats.org/officeDocument/2006/relationships/notesSlide" Target="/ppt/notesSlides/notesSlide40.xml" Id="Rbcefe14ddca1489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c7668e1d54019" /><Relationship Type="http://schemas.openxmlformats.org/officeDocument/2006/relationships/notesSlide" Target="/ppt/notesSlides/notesSlide41.xml" Id="R0ecdcde82db14c7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d6aa23674bd9" /><Relationship Type="http://schemas.openxmlformats.org/officeDocument/2006/relationships/notesSlide" Target="/ppt/notesSlides/notesSlide42.xml" Id="Rec5794cba2e24f6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d34e8dc734e9a" /><Relationship Type="http://schemas.openxmlformats.org/officeDocument/2006/relationships/image" Target="/ppt/media/image2.png" Id="Re3de7920d53a44df" /><Relationship Type="http://schemas.openxmlformats.org/officeDocument/2006/relationships/notesSlide" Target="/ppt/notesSlides/notesSlide43.xml" Id="R6fadf3e701664fd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bc8e8796a4a93" /><Relationship Type="http://schemas.openxmlformats.org/officeDocument/2006/relationships/notesSlide" Target="/ppt/notesSlides/notesSlide44.xml" Id="R11a0e8677abd43d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1929a5bca4cc2" /><Relationship Type="http://schemas.openxmlformats.org/officeDocument/2006/relationships/notesSlide" Target="/ppt/notesSlides/notesSlide45.xml" Id="R6b6ece989a0c4ba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8ac3e57264110" /><Relationship Type="http://schemas.openxmlformats.org/officeDocument/2006/relationships/notesSlide" Target="/ppt/notesSlides/notesSlide46.xml" Id="R8ae3e75e170f424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539d38fb14ae9" /><Relationship Type="http://schemas.openxmlformats.org/officeDocument/2006/relationships/notesSlide" Target="/ppt/notesSlides/notesSlide47.xml" Id="R3ab2d8182fd04fa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067083adc476e" /><Relationship Type="http://schemas.openxmlformats.org/officeDocument/2006/relationships/notesSlide" Target="/ppt/notesSlides/notesSlide48.xml" Id="Rf918a9505aba4a5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f15dbe35c429e" /><Relationship Type="http://schemas.openxmlformats.org/officeDocument/2006/relationships/notesSlide" Target="/ppt/notesSlides/notesSlide49.xml" Id="R4de22725bbb0447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a6f82d323495f" /><Relationship Type="http://schemas.openxmlformats.org/officeDocument/2006/relationships/notesSlide" Target="/ppt/notesSlides/notesSlide50.xml" Id="Rbf7774cfe50044d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7e7b29a39413e" /><Relationship Type="http://schemas.openxmlformats.org/officeDocument/2006/relationships/notesSlide" Target="/ppt/notesSlides/notesSlide51.xml" Id="R37dcf50963214e2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cb4064cb45d3" /><Relationship Type="http://schemas.openxmlformats.org/officeDocument/2006/relationships/notesSlide" Target="/ppt/notesSlides/notesSlide52.xml" Id="R71f779f8412b455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6ca177d84068" /><Relationship Type="http://schemas.openxmlformats.org/officeDocument/2006/relationships/notesSlide" Target="/ppt/notesSlides/notesSlide53.xml" Id="Re0eb5730d91a4b8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50c6d06447ef" /><Relationship Type="http://schemas.openxmlformats.org/officeDocument/2006/relationships/notesSlide" Target="/ppt/notesSlides/notesSlide54.xml" Id="Rcb237697b2214c8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45c8142bf4ac1" /><Relationship Type="http://schemas.openxmlformats.org/officeDocument/2006/relationships/notesSlide" Target="/ppt/notesSlides/notesSlide55.xml" Id="R0a344f16f6b94f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f72c74d744f88" /><Relationship Type="http://schemas.openxmlformats.org/officeDocument/2006/relationships/notesSlide" Target="/ppt/notesSlides/notesSlide56.xml" Id="R9ce66a96e23d4c0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57ab3392a4b48" /><Relationship Type="http://schemas.openxmlformats.org/officeDocument/2006/relationships/notesSlide" Target="/ppt/notesSlides/notesSlide57.xml" Id="R312a0ef189af421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3bac48897410c" /><Relationship Type="http://schemas.openxmlformats.org/officeDocument/2006/relationships/notesSlide" Target="/ppt/notesSlides/notesSlide58.xml" Id="R0babc348fbc944c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901bd2616441e" /><Relationship Type="http://schemas.openxmlformats.org/officeDocument/2006/relationships/notesSlide" Target="/ppt/notesSlides/notesSlide59.xml" Id="R7a0f428f35f7451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afaab42b4581" /><Relationship Type="http://schemas.openxmlformats.org/officeDocument/2006/relationships/notesSlide" Target="/ppt/notesSlides/notesSlide60.xml" Id="Rcfa2ec9a9eb74d5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8eb8969e43f9" /><Relationship Type="http://schemas.openxmlformats.org/officeDocument/2006/relationships/notesSlide" Target="/ppt/notesSlides/notesSlide61.xml" Id="Rfc2eecfef09145a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b226b474d4e4f" /><Relationship Type="http://schemas.openxmlformats.org/officeDocument/2006/relationships/notesSlide" Target="/ppt/notesSlides/notesSlide62.xml" Id="R72a751ca604b4ed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d998e4fa7405e" /><Relationship Type="http://schemas.openxmlformats.org/officeDocument/2006/relationships/notesSlide" Target="/ppt/notesSlides/notesSlide63.xml" Id="Rb86fd57456ee4ab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4c99e8b704289" /><Relationship Type="http://schemas.openxmlformats.org/officeDocument/2006/relationships/notesSlide" Target="/ppt/notesSlides/notesSlide64.xml" Id="Rd3475756a4804ab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90198d36b4b8e" /><Relationship Type="http://schemas.openxmlformats.org/officeDocument/2006/relationships/notesSlide" Target="/ppt/notesSlides/notesSlide65.xml" Id="R79e46c22e3f6466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27e1cb684182" /><Relationship Type="http://schemas.openxmlformats.org/officeDocument/2006/relationships/notesSlide" Target="/ppt/notesSlides/notesSlide66.xml" Id="R506dbe7b38d84cc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35fbfaf974c09" /><Relationship Type="http://schemas.openxmlformats.org/officeDocument/2006/relationships/notesSlide" Target="/ppt/notesSlides/notesSlide67.xml" Id="Ra68df5fc34c8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eb52dbb6242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2">
            <a:extLst xmlns:a="http://schemas.openxmlformats.org/drawingml/2006/main">
              <a:ext uri="{FF2B5EF4-FFF2-40B4-BE49-F238E27FC236}">
                <a16:creationId xmlns:a16="http://schemas.microsoft.com/office/drawing/2014/main" id="{EFD110C7-5B13-431D-9A07-CBCBC1E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02</a:t>
            </a:r>
          </a:p>
        </p:txBody>
      </p:sp>
      <p:sp>
        <p:nvSpPr>
          <p:cNvPr id="3" name="Python 語法 完整複習">
            <a:extLst xmlns:a="http://schemas.openxmlformats.org/drawingml/2006/main">
              <a:ext uri="{FF2B5EF4-FFF2-40B4-BE49-F238E27FC236}">
                <a16:creationId xmlns:a16="http://schemas.microsoft.com/office/drawing/2014/main" id="{FD9A0E45-D6E9-4F1D-A8E5-F9C2443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Syntax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Complete Review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1D08CAC0-8258-4893-AD88-7A679E3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Object-Oriented Programming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570B8A0B-A16C-4BE8-A67D-4E70159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66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National Yunlin University of Science and Technology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Department of Electronic Engineering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Academic Year 115, Semester 1   Min-Huang Ho</a:t>
            </a:r>
          </a:p>
        </p:txBody>
      </p:sp>
    </p:spTree>
    <p:extLst>
      <p:ext uri="{BB962C8B-B14F-4D97-AF65-F5344CB8AC3E}">
        <p14:creationId xmlns:p14="http://schemas.microsoft.com/office/powerpoint/2010/main" val="1068028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週語法範圍">
            <a:extLst xmlns:a="http://schemas.openxmlformats.org/drawingml/2006/main">
              <a:ext uri="{FF2B5EF4-FFF2-40B4-BE49-F238E27FC236}">
                <a16:creationId xmlns:a16="http://schemas.microsoft.com/office/drawing/2014/main" id="{50BAEAE7-861C-49F1-822B-081768B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Topics for this week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EFC4A20-5215-4279-B6A0-6B6D363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基礎與文字">
            <a:extLst xmlns:a="http://schemas.openxmlformats.org/drawingml/2006/main">
              <a:ext uri="{FF2B5EF4-FFF2-40B4-BE49-F238E27FC236}">
                <a16:creationId xmlns:a16="http://schemas.microsoft.com/office/drawing/2014/main" id="{406374B9-0B18-48E1-9DD2-C898C88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Basics and text</a:t>
            </a:r>
          </a:p>
        </p:txBody>
      </p:sp>
      <p:sp>
        <p:nvSpPr>
          <p:cNvPr id="4" name="程式結構、型別、運算子、字串">
            <a:extLst xmlns:a="http://schemas.openxmlformats.org/drawingml/2006/main">
              <a:ext uri="{FF2B5EF4-FFF2-40B4-BE49-F238E27FC236}">
                <a16:creationId xmlns:a16="http://schemas.microsoft.com/office/drawing/2014/main" id="{97932DE5-7901-4E1F-A228-DA5D542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Program structure, types, operators, strings</a:t>
            </a:r>
          </a:p>
        </p:txBody>
      </p:sp>
      <p:sp>
        <p:nvSpPr>
          <p:cNvPr id="5" name="流程與資料">
            <a:extLst xmlns:a="http://schemas.openxmlformats.org/drawingml/2006/main">
              <a:ext uri="{FF2B5EF4-FFF2-40B4-BE49-F238E27FC236}">
                <a16:creationId xmlns:a16="http://schemas.microsoft.com/office/drawing/2014/main" id="{5B0B7B6B-2F77-4EF5-981D-CDA3C3E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Flow and data</a:t>
            </a:r>
          </a:p>
        </p:txBody>
      </p:sp>
      <p:sp>
        <p:nvSpPr>
          <p:cNvPr id="6" name="條件、迴圈、容器、推導式">
            <a:extLst xmlns:a="http://schemas.openxmlformats.org/drawingml/2006/main">
              <a:ext uri="{FF2B5EF4-FFF2-40B4-BE49-F238E27FC236}">
                <a16:creationId xmlns:a16="http://schemas.microsoft.com/office/drawing/2014/main" id="{58EA66F2-B5C2-4140-BFF6-349449E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Conditions, loops, containers, comprehensions</a:t>
            </a:r>
          </a:p>
        </p:txBody>
      </p:sp>
      <p:sp>
        <p:nvSpPr>
          <p:cNvPr id="7" name="函式與組織">
            <a:extLst xmlns:a="http://schemas.openxmlformats.org/drawingml/2006/main">
              <a:ext uri="{FF2B5EF4-FFF2-40B4-BE49-F238E27FC236}">
                <a16:creationId xmlns:a16="http://schemas.microsoft.com/office/drawing/2014/main" id="{EB6DA0DF-0332-4BFD-93FC-D7386FD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Functions and modules</a:t>
            </a:r>
          </a:p>
        </p:txBody>
      </p:sp>
      <p:sp>
        <p:nvSpPr>
          <p:cNvPr id="8" name="參數、作用域、生成器、模組">
            <a:extLst xmlns:a="http://schemas.openxmlformats.org/drawingml/2006/main">
              <a:ext uri="{FF2B5EF4-FFF2-40B4-BE49-F238E27FC236}">
                <a16:creationId xmlns:a16="http://schemas.microsoft.com/office/drawing/2014/main" id="{42B2D027-9CDC-4CB0-A030-B9CCA7D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Parameters, scope, generators, modules</a:t>
            </a:r>
          </a:p>
        </p:txBody>
      </p:sp>
      <p:sp>
        <p:nvSpPr>
          <p:cNvPr id="9" name="輸入輸出">
            <a:extLst xmlns:a="http://schemas.openxmlformats.org/drawingml/2006/main">
              <a:ext uri="{FF2B5EF4-FFF2-40B4-BE49-F238E27FC236}">
                <a16:creationId xmlns:a16="http://schemas.microsoft.com/office/drawing/2014/main" id="{92AD70A0-03F1-4076-8168-0391421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Input and output</a:t>
            </a:r>
          </a:p>
        </p:txBody>
      </p:sp>
      <p:sp>
        <p:nvSpPr>
          <p:cNvPr id="10" name="路徑、檔案、CSV、JSON、例外">
            <a:extLst xmlns:a="http://schemas.openxmlformats.org/drawingml/2006/main">
              <a:ext uri="{FF2B5EF4-FFF2-40B4-BE49-F238E27FC236}">
                <a16:creationId xmlns:a16="http://schemas.microsoft.com/office/drawing/2014/main" id="{6F20B36C-AACF-4718-8FB5-1C244A6A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Paths, files, CSV, JSON, exceptions</a:t>
            </a:r>
          </a:p>
        </p:txBody>
      </p:sp>
      <p:sp>
        <p:nvSpPr>
          <p:cNvPr id="11" name="物件與進階">
            <a:extLst xmlns:a="http://schemas.openxmlformats.org/drawingml/2006/main">
              <a:ext uri="{FF2B5EF4-FFF2-40B4-BE49-F238E27FC236}">
                <a16:creationId xmlns:a16="http://schemas.microsoft.com/office/drawing/2014/main" id="{8873D13A-5FD8-456A-910D-4C01D1F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Objects and beyond</a:t>
            </a:r>
          </a:p>
        </p:txBody>
      </p:sp>
      <p:sp>
        <p:nvSpPr>
          <p:cNvPr id="12" name="類別、型別提示、非同步語法">
            <a:extLst xmlns:a="http://schemas.openxmlformats.org/drawingml/2006/main">
              <a:ext uri="{FF2B5EF4-FFF2-40B4-BE49-F238E27FC236}">
                <a16:creationId xmlns:a16="http://schemas.microsoft.com/office/drawing/2014/main" id="{467D3914-F884-484F-91F7-C3A13AA0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053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Classes, type hints, asynchronous syntax</a:t>
            </a:r>
          </a:p>
        </p:txBody>
      </p:sp>
      <p:sp>
        <p:nvSpPr>
          <p:cNvPr id="13" name="範例採 Python 3.12+ 語法。每段程式獨立閱讀，特殊環境另行註明。">
            <a:extLst xmlns:a="http://schemas.openxmlformats.org/drawingml/2006/main">
              <a:ext uri="{FF2B5EF4-FFF2-40B4-BE49-F238E27FC236}">
                <a16:creationId xmlns:a16="http://schemas.microsoft.com/office/drawing/2014/main" id="{D3900457-EB94-4969-8239-8039EFC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Examples use Python 3.12+. Each snippet stands alone unless a special environment is noted.</a:t>
            </a:r>
          </a:p>
        </p:txBody>
      </p:sp>
    </p:spTree>
    <p:extLst>
      <p:ext uri="{BB962C8B-B14F-4D97-AF65-F5344CB8AC3E}">
        <p14:creationId xmlns:p14="http://schemas.microsoft.com/office/powerpoint/2010/main" val="596376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縮排與程式區塊">
            <a:extLst xmlns:a="http://schemas.openxmlformats.org/drawingml/2006/main">
              <a:ext uri="{FF2B5EF4-FFF2-40B4-BE49-F238E27FC236}">
                <a16:creationId xmlns:a16="http://schemas.microsoft.com/office/drawing/2014/main" id="{13453933-E9AF-4EFE-AB4F-DEAFD50A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Indentation and code blocks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22A539B9-891B-48D0-8308-208F80B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83188B3-867F-4B14-BF49-71E2C83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84CD09F0-DB04-4DD2-B376-0609E41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if score &gt;= 60:">
            <a:extLst xmlns:a="http://schemas.openxmlformats.org/drawingml/2006/main">
              <a:ext uri="{FF2B5EF4-FFF2-40B4-BE49-F238E27FC236}">
                <a16:creationId xmlns:a16="http://schemas.microsoft.com/office/drawing/2014/main" id="{14DADD96-C00B-4095-B0F8-DD5D260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score &gt;= 60:</a:t>
            </a:r>
          </a:p>
        </p:txBody>
      </p:sp>
      <p:sp>
        <p:nvSpPr>
          <p:cNvPr id="6" name="    print(&quot;Pass&quot;)">
            <a:extLst xmlns:a="http://schemas.openxmlformats.org/drawingml/2006/main">
              <a:ext uri="{FF2B5EF4-FFF2-40B4-BE49-F238E27FC236}">
                <a16:creationId xmlns:a16="http://schemas.microsoft.com/office/drawing/2014/main" id="{F5FAD2F9-CF10-4543-AD39-2C8A0F6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print("Pass")</a:t>
            </a:r>
          </a:p>
        </p:txBody>
      </p:sp>
      <p:sp>
        <p:nvSpPr>
          <p:cNvPr id="7" name="    print(&quot;Next course&quot;)">
            <a:extLst xmlns:a="http://schemas.openxmlformats.org/drawingml/2006/main">
              <a:ext uri="{FF2B5EF4-FFF2-40B4-BE49-F238E27FC236}">
                <a16:creationId xmlns:a16="http://schemas.microsoft.com/office/drawing/2014/main" id="{C65F91BE-97B4-4F19-BBEB-A42732E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print("Next course")</a:t>
            </a:r>
          </a:p>
        </p:txBody>
      </p:sp>
      <p:sp>
        <p:nvSpPr>
          <p:cNvPr id="8" name="print(&quot;Done&quot;)">
            <a:extLst xmlns:a="http://schemas.openxmlformats.org/drawingml/2006/main">
              <a:ext uri="{FF2B5EF4-FFF2-40B4-BE49-F238E27FC236}">
                <a16:creationId xmlns:a16="http://schemas.microsoft.com/office/drawing/2014/main" id="{2D4D6740-5721-4648-8FB3-2A9B3B61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print("Done")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93AD-8CF6-4C19-B8C0-5299FFD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otal = (">
            <a:extLst xmlns:a="http://schemas.openxmlformats.org/drawingml/2006/main">
              <a:ext uri="{FF2B5EF4-FFF2-40B4-BE49-F238E27FC236}">
                <a16:creationId xmlns:a16="http://schemas.microsoft.com/office/drawing/2014/main" id="{AFF66B81-B3E5-41D2-A523-9334E0A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total = (</a:t>
            </a:r>
          </a:p>
        </p:txBody>
      </p:sp>
      <p:sp>
        <p:nvSpPr>
          <p:cNvPr id="11" name="    10 + 20">
            <a:extLst xmlns:a="http://schemas.openxmlformats.org/drawingml/2006/main">
              <a:ext uri="{FF2B5EF4-FFF2-40B4-BE49-F238E27FC236}">
                <a16:creationId xmlns:a16="http://schemas.microsoft.com/office/drawing/2014/main" id="{A4AD3A20-2191-41BF-9BB0-5765F54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10 + 20</a:t>
            </a:r>
          </a:p>
        </p:txBody>
      </p:sp>
      <p:sp>
        <p:nvSpPr>
          <p:cNvPr id="12" name="    + 30">
            <a:extLst xmlns:a="http://schemas.openxmlformats.org/drawingml/2006/main">
              <a:ext uri="{FF2B5EF4-FFF2-40B4-BE49-F238E27FC236}">
                <a16:creationId xmlns:a16="http://schemas.microsoft.com/office/drawing/2014/main" id="{1CE9F959-B796-4809-B4C6-5282F66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+ 30</a:t>
            </a:r>
          </a:p>
        </p:txBody>
      </p:sp>
      <p:sp>
        <p:nvSpPr>
          <p:cNvPr id="13" name=")">
            <a:extLst xmlns:a="http://schemas.openxmlformats.org/drawingml/2006/main">
              <a:ext uri="{FF2B5EF4-FFF2-40B4-BE49-F238E27FC236}">
                <a16:creationId xmlns:a16="http://schemas.microsoft.com/office/drawing/2014/main" id="{20191340-28AE-4106-953C-07F6705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4" name="print(total)">
            <a:extLst xmlns:a="http://schemas.openxmlformats.org/drawingml/2006/main">
              <a:ext uri="{FF2B5EF4-FFF2-40B4-BE49-F238E27FC236}">
                <a16:creationId xmlns:a16="http://schemas.microsoft.com/office/drawing/2014/main" id="{A8B6A356-0AEB-47BA-9682-EF065A5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sp>
        <p:nvSpPr>
          <p:cNvPr id="15" name="縮排具有語法意義">
            <a:extLst xmlns:a="http://schemas.openxmlformats.org/drawingml/2006/main">
              <a:ext uri="{FF2B5EF4-FFF2-40B4-BE49-F238E27FC236}">
                <a16:creationId xmlns:a16="http://schemas.microsoft.com/office/drawing/2014/main" id="{4EDA400F-C78F-419C-979D-0108AD0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Indentation defines blocks</a:t>
            </a:r>
          </a:p>
        </p:txBody>
      </p:sp>
      <p:sp>
        <p:nvSpPr>
          <p:cNvPr id="16" name="同一區塊保持一致縮排。 慣例使用四個空白。">
            <a:extLst xmlns:a="http://schemas.openxmlformats.org/drawingml/2006/main">
              <a:ext uri="{FF2B5EF4-FFF2-40B4-BE49-F238E27FC236}">
                <a16:creationId xmlns:a16="http://schemas.microsoft.com/office/drawing/2014/main" id="{24271E90-1CB6-4EC2-8B51-993FD4C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 consistent indentation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within each block.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Four spaces are conventional.</a:t>
            </a:r>
          </a:p>
        </p:txBody>
      </p:sp>
      <p:sp>
        <p:nvSpPr>
          <p:cNvPr id="17" name="括號內可以換行">
            <a:extLst xmlns:a="http://schemas.openxmlformats.org/drawingml/2006/main">
              <a:ext uri="{FF2B5EF4-FFF2-40B4-BE49-F238E27FC236}">
                <a16:creationId xmlns:a16="http://schemas.microsoft.com/office/drawing/2014/main" id="{91A5F980-B71C-4EB9-BD86-A9ED47B3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Lines inside brackets</a:t>
            </a:r>
          </a:p>
        </p:txBody>
      </p:sp>
      <p:sp>
        <p:nvSpPr>
          <p:cNvPr id="18" name="註解以 # 開始。 pass 是不執行工作的佔位敘述。">
            <a:extLst xmlns:a="http://schemas.openxmlformats.org/drawingml/2006/main">
              <a:ext uri="{FF2B5EF4-FFF2-40B4-BE49-F238E27FC236}">
                <a16:creationId xmlns:a16="http://schemas.microsoft.com/office/drawing/2014/main" id="{CBBAFB08-31AF-48F1-845F-C6740F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Comments begin with #.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pass is a placeholder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statement that does nothing.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4449E5-CDD9-4AB4-8D61-AFEAC7A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Pass    Next course    Done    60">
            <a:extLst xmlns:a="http://schemas.openxmlformats.org/drawingml/2006/main">
              <a:ext uri="{FF2B5EF4-FFF2-40B4-BE49-F238E27FC236}">
                <a16:creationId xmlns:a16="http://schemas.microsoft.com/office/drawing/2014/main" id="{85899F3D-7E7A-4C91-9202-199ED78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Pass    Next course    Done    60</a:t>
            </a:r>
          </a:p>
        </p:txBody>
      </p:sp>
    </p:spTree>
    <p:extLst>
      <p:ext uri="{BB962C8B-B14F-4D97-AF65-F5344CB8AC3E}">
        <p14:creationId xmlns:p14="http://schemas.microsoft.com/office/powerpoint/2010/main" val="455491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命名、關鍵字與基本輸入輸出">
            <a:extLst xmlns:a="http://schemas.openxmlformats.org/drawingml/2006/main">
              <a:ext uri="{FF2B5EF4-FFF2-40B4-BE49-F238E27FC236}">
                <a16:creationId xmlns:a16="http://schemas.microsoft.com/office/drawing/2014/main" id="{AA98F750-C1CF-4D9B-9E4B-3E244AC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Names, keywords, input and output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B8904AAE-4F46-4CAF-B620-46E498C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1945A3FD-54F1-4380-978F-6FF9D643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667250"/>
                <a:gridCol w="4305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Syntax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Names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student_name, MAX_SIZE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Case-sensitive. Cannot start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 a digit.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Keywords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if, for, def, class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Reserved for language syntax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Empty statement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Placeholder where a statement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is required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raw = input("Name: 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Returns str. Convert numbers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explicitly.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Output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print("A", "B", sep=",")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sep sets the separator.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end sets the ending.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使用 Unicode。函式與變數慣用 snake_case，類別慣用 PascalCase。">
            <a:extLst xmlns:a="http://schemas.openxmlformats.org/drawingml/2006/main">
              <a:ext uri="{FF2B5EF4-FFF2-40B4-BE49-F238E27FC236}">
                <a16:creationId xmlns:a16="http://schemas.microsoft.com/office/drawing/2014/main" id="{6204CD69-F56A-496D-9A9E-3C9A7A2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Unicode names are allowed. Use snake_case for functions and variables, PascalCase for classes.</a:t>
            </a:r>
          </a:p>
        </p:txBody>
      </p:sp>
    </p:spTree>
    <p:extLst>
      <p:ext uri="{BB962C8B-B14F-4D97-AF65-F5344CB8AC3E}">
        <p14:creationId xmlns:p14="http://schemas.microsoft.com/office/powerpoint/2010/main" val="2428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名稱、值與基本型別">
            <a:extLst xmlns:a="http://schemas.openxmlformats.org/drawingml/2006/main">
              <a:ext uri="{FF2B5EF4-FFF2-40B4-BE49-F238E27FC236}">
                <a16:creationId xmlns:a16="http://schemas.microsoft.com/office/drawing/2014/main" id="{597E8B57-A554-48F6-B7A6-424925C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Names, values and basic types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7A5EEB78-BA46-42E0-A3A9-FED7246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3ADD9C10-294E-468D-8603-FF3CB7B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3476625"/>
                <a:gridCol w="5210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42, 0b1010, 0xFF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Integers. Precision is limited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by available memory.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float / complex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3.14, 2 + 3j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Floating-point / complex numbers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bool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True, False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Boolean values. bool subclasses int.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"Python"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Immutable Unicode text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single object for no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重新繫結到不同型別。type(x) 觀察型別，isinstance(x, T) 考量繼承。">
            <a:extLst xmlns:a="http://schemas.openxmlformats.org/drawingml/2006/main">
              <a:ext uri="{FF2B5EF4-FFF2-40B4-BE49-F238E27FC236}">
                <a16:creationId xmlns:a16="http://schemas.microsoft.com/office/drawing/2014/main" id="{D982830D-646E-4058-A4CF-8FD3E7F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Names can bind to a different type. type(x) shows the type. isinstance(x, T) considers inheritance.</a:t>
            </a:r>
          </a:p>
        </p:txBody>
      </p:sp>
    </p:spTree>
    <p:extLst>
      <p:ext uri="{BB962C8B-B14F-4D97-AF65-F5344CB8AC3E}">
        <p14:creationId xmlns:p14="http://schemas.microsoft.com/office/powerpoint/2010/main" val="1229894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數值運算與明確轉型">
            <a:extLst xmlns:a="http://schemas.openxmlformats.org/drawingml/2006/main">
              <a:ext uri="{FF2B5EF4-FFF2-40B4-BE49-F238E27FC236}">
                <a16:creationId xmlns:a16="http://schemas.microsoft.com/office/drawing/2014/main" id="{F059950F-917E-419C-9771-BD3564D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Arithmetic and explicit conversion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39F1524F-FBE5-46F3-9C7D-9AA2080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E35134-638F-42EF-8EF2-9BE1874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print(7 / 2, 7 // 2)">
            <a:extLst xmlns:a="http://schemas.openxmlformats.org/drawingml/2006/main">
              <a:ext uri="{FF2B5EF4-FFF2-40B4-BE49-F238E27FC236}">
                <a16:creationId xmlns:a16="http://schemas.microsoft.com/office/drawing/2014/main" id="{E692A68E-AE25-4BCC-89C8-E607F59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print(7 / 2, 7 // 2)</a:t>
            </a:r>
          </a:p>
        </p:txBody>
      </p:sp>
      <p:sp>
        <p:nvSpPr>
          <p:cNvPr id="5" name="print(-7 // 2, -7 % 2)">
            <a:extLst xmlns:a="http://schemas.openxmlformats.org/drawingml/2006/main">
              <a:ext uri="{FF2B5EF4-FFF2-40B4-BE49-F238E27FC236}">
                <a16:creationId xmlns:a16="http://schemas.microsoft.com/office/drawing/2014/main" id="{159EDAB9-8D2A-4F4B-B12C-936CDAA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print(-7 // 2, -7 % 2)</a:t>
            </a:r>
          </a:p>
        </p:txBody>
      </p:sp>
      <p:sp>
        <p:nvSpPr>
          <p:cNvPr id="6" name="print(2 ** 3)">
            <a:extLst xmlns:a="http://schemas.openxmlformats.org/drawingml/2006/main">
              <a:ext uri="{FF2B5EF4-FFF2-40B4-BE49-F238E27FC236}">
                <a16:creationId xmlns:a16="http://schemas.microsoft.com/office/drawing/2014/main" id="{FA8B2D3B-8E57-44C0-8FDE-1FB021F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print(2 ** 3)</a:t>
            </a:r>
          </a:p>
        </p:txBody>
      </p:sp>
      <p:sp>
        <p:nvSpPr>
          <p:cNvPr id="7" name="print(int(&quot;12&quot;) + 3)">
            <a:extLst xmlns:a="http://schemas.openxmlformats.org/drawingml/2006/main">
              <a:ext uri="{FF2B5EF4-FFF2-40B4-BE49-F238E27FC236}">
                <a16:creationId xmlns:a16="http://schemas.microsoft.com/office/drawing/2014/main" id="{9FFE97AC-0ED9-4138-9CF7-AA5AED5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print(int("12") + 3)</a:t>
            </a:r>
          </a:p>
        </p:txBody>
      </p:sp>
      <p:sp>
        <p:nvSpPr>
          <p:cNvPr id="8" name="print(int(3.9))">
            <a:extLst xmlns:a="http://schemas.openxmlformats.org/drawingml/2006/main">
              <a:ext uri="{FF2B5EF4-FFF2-40B4-BE49-F238E27FC236}">
                <a16:creationId xmlns:a16="http://schemas.microsoft.com/office/drawing/2014/main" id="{2ADB6302-3D29-45AE-8083-7846DD1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print(int(3.9))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728F-9F22-4CC7-ADD8-B24AA56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rom math import isclose">
            <a:extLst xmlns:a="http://schemas.openxmlformats.org/drawingml/2006/main">
              <a:ext uri="{FF2B5EF4-FFF2-40B4-BE49-F238E27FC236}">
                <a16:creationId xmlns:a16="http://schemas.microsoft.com/office/drawing/2014/main" id="{774CFCA0-CE47-4FD6-B1E3-8F23DB0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math import isclose</a:t>
            </a:r>
          </a:p>
        </p:txBody>
      </p:sp>
      <p:sp>
        <p:nvSpPr>
          <p:cNvPr id="11" name="print(0.1 + 0.2 == 0.3)">
            <a:extLst xmlns:a="http://schemas.openxmlformats.org/drawingml/2006/main">
              <a:ext uri="{FF2B5EF4-FFF2-40B4-BE49-F238E27FC236}">
                <a16:creationId xmlns:a16="http://schemas.microsoft.com/office/drawing/2014/main" id="{998EF373-464C-4AC9-8CB8-FAB806A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print(0.1 + 0.2 == 0.3)</a:t>
            </a:r>
          </a:p>
        </p:txBody>
      </p:sp>
      <p:sp>
        <p:nvSpPr>
          <p:cNvPr id="12" name="print(isclose(0.1 + 0.2, 0.3))">
            <a:extLst xmlns:a="http://schemas.openxmlformats.org/drawingml/2006/main">
              <a:ext uri="{FF2B5EF4-FFF2-40B4-BE49-F238E27FC236}">
                <a16:creationId xmlns:a16="http://schemas.microsoft.com/office/drawing/2014/main" id="{C6005101-283C-4617-9FC0-2C32ABF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print(isclose(0.1 + 0.2, 0.3))</a:t>
            </a:r>
          </a:p>
        </p:txBody>
      </p:sp>
      <p:sp>
        <p:nvSpPr>
          <p:cNvPr id="13" name="除法的差異">
            <a:extLst xmlns:a="http://schemas.openxmlformats.org/drawingml/2006/main">
              <a:ext uri="{FF2B5EF4-FFF2-40B4-BE49-F238E27FC236}">
                <a16:creationId xmlns:a16="http://schemas.microsoft.com/office/drawing/2014/main" id="{21BE6887-0710-4E06-810A-1324391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Two kinds of division</a:t>
            </a:r>
          </a:p>
        </p:txBody>
      </p:sp>
      <p:sp>
        <p:nvSpPr>
          <p:cNvPr id="14" name="整數 / 整數得到 float。 // 向負無限方向取整。">
            <a:extLst xmlns:a="http://schemas.openxmlformats.org/drawingml/2006/main">
              <a:ext uri="{FF2B5EF4-FFF2-40B4-BE49-F238E27FC236}">
                <a16:creationId xmlns:a16="http://schemas.microsoft.com/office/drawing/2014/main" id="{0B32C0EA-5566-4B1A-888A-EC47A4E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Integer / integer gives float.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// rounds down toward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negative infinity.</a:t>
            </a:r>
          </a:p>
        </p:txBody>
      </p:sp>
      <p:sp>
        <p:nvSpPr>
          <p:cNvPr id="15" name="浮點數是近似值">
            <a:extLst xmlns:a="http://schemas.openxmlformats.org/drawingml/2006/main">
              <a:ext uri="{FF2B5EF4-FFF2-40B4-BE49-F238E27FC236}">
                <a16:creationId xmlns:a16="http://schemas.microsoft.com/office/drawing/2014/main" id="{EC894A78-0E07-4DD9-AAC1-2AA17B75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Floats are approximate</a:t>
            </a:r>
          </a:p>
        </p:txBody>
      </p:sp>
      <p:sp>
        <p:nvSpPr>
          <p:cNvPr id="16" name="int(float) 向零截斷。 近似比較需選合適容許誤差。">
            <a:extLst xmlns:a="http://schemas.openxmlformats.org/drawingml/2006/main">
              <a:ext uri="{FF2B5EF4-FFF2-40B4-BE49-F238E27FC236}">
                <a16:creationId xmlns:a16="http://schemas.microsoft.com/office/drawing/2014/main" id="{4714326D-6911-4BDB-9A33-787B888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int(float) truncates toward zero.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Choose a suitable tolerance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 approximate comparisons.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38E994F-3FF8-47F0-8A08-404EECD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3.5 3    -4 1    8    15    3    False    True">
            <a:extLst xmlns:a="http://schemas.openxmlformats.org/drawingml/2006/main">
              <a:ext uri="{FF2B5EF4-FFF2-40B4-BE49-F238E27FC236}">
                <a16:creationId xmlns:a16="http://schemas.microsoft.com/office/drawing/2014/main" id="{098402D5-1C22-4049-8E80-9996E4D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3.5 3    -4 1    8    15    3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1357351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運算子與優先順序">
            <a:extLst xmlns:a="http://schemas.openxmlformats.org/drawingml/2006/main">
              <a:ext uri="{FF2B5EF4-FFF2-40B4-BE49-F238E27FC236}">
                <a16:creationId xmlns:a16="http://schemas.microsoft.com/office/drawing/2014/main" id="{4203F1CC-7CC6-463F-8B7C-1173631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Operators and precedence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691EADF0-D4D5-4B69-AD08-00F821B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DB69AF2C-8190-4F6F-97D0-B6AD94F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286250"/>
                <a:gridCol w="4352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Syntax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Arithmetic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  -  *  /  //  %  **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+ 3 * 4 gives 14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==  !=  &lt;  &lt;=  &gt;  &gt;=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&lt;= score &lt;= 100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Logical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  and  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ready and valid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Bitwise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&amp;  |  ^  ~  &lt;&lt;  &gt;&gt;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&amp; 3 gives 1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Membership / identity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  /  not in  /  is  /  is not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"a" in "cat", x is 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常見順序：算術先於比較，接著 not、and、or。複雜運算以括號明確分組。">
            <a:extLst xmlns:a="http://schemas.openxmlformats.org/drawingml/2006/main">
              <a:ext uri="{FF2B5EF4-FFF2-40B4-BE49-F238E27FC236}">
                <a16:creationId xmlns:a16="http://schemas.microsoft.com/office/drawing/2014/main" id="{073CBEE0-120F-4CBD-8F5A-0745DFC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Common order: arithmetic, comparisons, not, and, or. Use parentheses to make grouping explicit.</a:t>
            </a:r>
          </a:p>
        </p:txBody>
      </p:sp>
    </p:spTree>
    <p:extLst>
      <p:ext uri="{BB962C8B-B14F-4D97-AF65-F5344CB8AC3E}">
        <p14:creationId xmlns:p14="http://schemas.microsoft.com/office/powerpoint/2010/main" val="1219212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真值判斷與短路求值">
            <a:extLst xmlns:a="http://schemas.openxmlformats.org/drawingml/2006/main">
              <a:ext uri="{FF2B5EF4-FFF2-40B4-BE49-F238E27FC236}">
                <a16:creationId xmlns:a16="http://schemas.microsoft.com/office/drawing/2014/main" id="{D2903D96-2627-4694-B66C-BC08BFA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Truth values and short-circuit evaluation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590265BB-7D0A-41D4-9402-960E2484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F075078-BF3D-4D83-ADA5-17C3383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print(bool(0), bool([]))">
            <a:extLst xmlns:a="http://schemas.openxmlformats.org/drawingml/2006/main">
              <a:ext uri="{FF2B5EF4-FFF2-40B4-BE49-F238E27FC236}">
                <a16:creationId xmlns:a16="http://schemas.microsoft.com/office/drawing/2014/main" id="{EC3D85AB-DB11-4D90-AC2A-B788CA1D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print(bool(0), bool([]))</a:t>
            </a:r>
          </a:p>
        </p:txBody>
      </p:sp>
      <p:sp>
        <p:nvSpPr>
          <p:cNvPr id="5" name="print(bool(&quot;False&quot;))">
            <a:extLst xmlns:a="http://schemas.openxmlformats.org/drawingml/2006/main">
              <a:ext uri="{FF2B5EF4-FFF2-40B4-BE49-F238E27FC236}">
                <a16:creationId xmlns:a16="http://schemas.microsoft.com/office/drawing/2014/main" id="{16B0A14E-714C-4902-AEDA-15525F2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print(bool("False"))</a:t>
            </a:r>
          </a:p>
        </p:txBody>
      </p:sp>
      <p:sp>
        <p:nvSpPr>
          <p:cNvPr id="6" name="print(&quot;&quot; or &quot;Guest&quot;)">
            <a:extLst xmlns:a="http://schemas.openxmlformats.org/drawingml/2006/main">
              <a:ext uri="{FF2B5EF4-FFF2-40B4-BE49-F238E27FC236}">
                <a16:creationId xmlns:a16="http://schemas.microsoft.com/office/drawing/2014/main" id="{7095D8D0-40A6-48C3-855F-7C03B86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print("" or "Guest")</a:t>
            </a:r>
          </a:p>
        </p:txBody>
      </p:sp>
      <p:sp>
        <p:nvSpPr>
          <p:cNvPr id="7" name="print(&quot;Amy&quot; and 7)">
            <a:extLst xmlns:a="http://schemas.openxmlformats.org/drawingml/2006/main">
              <a:ext uri="{FF2B5EF4-FFF2-40B4-BE49-F238E27FC236}">
                <a16:creationId xmlns:a16="http://schemas.microsoft.com/office/drawing/2014/main" id="{C17CA8D9-C606-4F23-8145-B941F0C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print("Amy" and 7)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981B3-A252-4A91-9533-4DD84B9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items = []">
            <a:extLst xmlns:a="http://schemas.openxmlformats.org/drawingml/2006/main">
              <a:ext uri="{FF2B5EF4-FFF2-40B4-BE49-F238E27FC236}">
                <a16:creationId xmlns:a16="http://schemas.microsoft.com/office/drawing/2014/main" id="{7D496ADE-6872-4EED-BD0A-AA73EC4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[]</a:t>
            </a:r>
          </a:p>
        </p:txBody>
      </p:sp>
      <p:sp>
        <p:nvSpPr>
          <p:cNvPr id="10" name="print(bool(items) and items[0] &gt; 0)">
            <a:extLst xmlns:a="http://schemas.openxmlformats.org/drawingml/2006/main">
              <a:ext uri="{FF2B5EF4-FFF2-40B4-BE49-F238E27FC236}">
                <a16:creationId xmlns:a16="http://schemas.microsoft.com/office/drawing/2014/main" id="{AA8371FD-0963-4A3E-841B-595B7AD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print(bool(items) and items[0] &gt;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92376-EB02-467A-A50B-944AB3C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value = 0">
            <a:extLst xmlns:a="http://schemas.openxmlformats.org/drawingml/2006/main">
              <a:ext uri="{FF2B5EF4-FFF2-40B4-BE49-F238E27FC236}">
                <a16:creationId xmlns:a16="http://schemas.microsoft.com/office/drawing/2014/main" id="{8597B388-F86C-4284-98AB-589871F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 = 0</a:t>
            </a:r>
          </a:p>
        </p:txBody>
      </p:sp>
      <p:sp>
        <p:nvSpPr>
          <p:cNvPr id="13" name="print(value is None)">
            <a:extLst xmlns:a="http://schemas.openxmlformats.org/drawingml/2006/main">
              <a:ext uri="{FF2B5EF4-FFF2-40B4-BE49-F238E27FC236}">
                <a16:creationId xmlns:a16="http://schemas.microsoft.com/office/drawing/2014/main" id="{3B9AD9E1-17B2-489F-BE61-E749B65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 is None)</a:t>
            </a:r>
          </a:p>
        </p:txBody>
      </p:sp>
      <p:sp>
        <p:nvSpPr>
          <p:cNvPr id="14" name="常見假值">
            <a:extLst xmlns:a="http://schemas.openxmlformats.org/drawingml/2006/main">
              <a:ext uri="{FF2B5EF4-FFF2-40B4-BE49-F238E27FC236}">
                <a16:creationId xmlns:a16="http://schemas.microsoft.com/office/drawing/2014/main" id="{B9B88199-5899-415B-9B72-7B267D8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Common false values</a:t>
            </a:r>
          </a:p>
        </p:txBody>
      </p:sp>
      <p:sp>
        <p:nvSpPr>
          <p:cNvPr id="15" name="None、False、數值 0， 以及空字串與空容器。">
            <a:extLst xmlns:a="http://schemas.openxmlformats.org/drawingml/2006/main">
              <a:ext uri="{FF2B5EF4-FFF2-40B4-BE49-F238E27FC236}">
                <a16:creationId xmlns:a16="http://schemas.microsoft.com/office/drawing/2014/main" id="{75FB7B8A-46BC-42F7-8BDF-A037D8B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None, False, numeric zero,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empty strings and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empty containers.</a:t>
            </a:r>
          </a:p>
        </p:txBody>
      </p:sp>
      <p:sp>
        <p:nvSpPr>
          <p:cNvPr id="16" name="and / or 回傳運算元">
            <a:extLst xmlns:a="http://schemas.openxmlformats.org/drawingml/2006/main">
              <a:ext uri="{FF2B5EF4-FFF2-40B4-BE49-F238E27FC236}">
                <a16:creationId xmlns:a16="http://schemas.microsoft.com/office/drawing/2014/main" id="{25CBA962-EFEF-4CA7-888D-36A7645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and / or return operands</a:t>
            </a:r>
          </a:p>
        </p:txBody>
      </p:sp>
      <p:sp>
        <p:nvSpPr>
          <p:cNvPr id="17" name="結果可確定時，跳過右側。 數值 0 與 None 的語意不同。">
            <a:extLst xmlns:a="http://schemas.openxmlformats.org/drawingml/2006/main">
              <a:ext uri="{FF2B5EF4-FFF2-40B4-BE49-F238E27FC236}">
                <a16:creationId xmlns:a16="http://schemas.microsoft.com/office/drawing/2014/main" id="{7833264C-F3EF-49D7-8FEA-6E3F62D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They skip the right operand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when the result is known.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Zero and None differ in meaning.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018E29E-2BBD-46A1-A356-83FFA25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False False    True    Guest    7    False    False">
            <a:extLst xmlns:a="http://schemas.openxmlformats.org/drawingml/2006/main">
              <a:ext uri="{FF2B5EF4-FFF2-40B4-BE49-F238E27FC236}">
                <a16:creationId xmlns:a16="http://schemas.microsoft.com/office/drawing/2014/main" id="{030F2DE5-0F51-4EF8-AFF9-5FD868A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 False    True    Guest    7    False    False</a:t>
            </a:r>
          </a:p>
        </p:txBody>
      </p:sp>
    </p:spTree>
    <p:extLst>
      <p:ext uri="{BB962C8B-B14F-4D97-AF65-F5344CB8AC3E}">
        <p14:creationId xmlns:p14="http://schemas.microsoft.com/office/powerpoint/2010/main" val="259808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值相等與物件身分">
            <a:extLst xmlns:a="http://schemas.openxmlformats.org/drawingml/2006/main">
              <a:ext uri="{FF2B5EF4-FFF2-40B4-BE49-F238E27FC236}">
                <a16:creationId xmlns:a16="http://schemas.microsoft.com/office/drawing/2014/main" id="{06EF67CF-B648-43BD-97B1-176F171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Value equality and object identity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FA79E111-27A3-416D-AE0B-CE5BADA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102D69EF-619F-4124-9807-A328FAC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a = [1, 2]">
            <a:extLst xmlns:a="http://schemas.openxmlformats.org/drawingml/2006/main">
              <a:ext uri="{FF2B5EF4-FFF2-40B4-BE49-F238E27FC236}">
                <a16:creationId xmlns:a16="http://schemas.microsoft.com/office/drawing/2014/main" id="{57937342-2DBC-4A29-A4BF-5080E0B2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5" name="b = [1, 2]">
            <a:extLst xmlns:a="http://schemas.openxmlformats.org/drawingml/2006/main">
              <a:ext uri="{FF2B5EF4-FFF2-40B4-BE49-F238E27FC236}">
                <a16:creationId xmlns:a16="http://schemas.microsoft.com/office/drawing/2014/main" id="{3936EEB0-6C93-4792-871E-3164E5D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[1, 2]</a:t>
            </a:r>
          </a:p>
        </p:txBody>
      </p:sp>
      <p:sp>
        <p:nvSpPr>
          <p:cNvPr id="6" name="c = a">
            <a:extLst xmlns:a="http://schemas.openxmlformats.org/drawingml/2006/main">
              <a:ext uri="{FF2B5EF4-FFF2-40B4-BE49-F238E27FC236}">
                <a16:creationId xmlns:a16="http://schemas.microsoft.com/office/drawing/2014/main" id="{429C3EC8-698B-4E36-A3EA-1FAE7C7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 =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EA4D4-EDD7-4FE6-95D9-60E9850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2938F211-E5E8-4C8A-9B52-DB203D3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9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1F464BB8-794B-46AF-85AB-85CF67E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0" name="print(a is c)">
            <a:extLst xmlns:a="http://schemas.openxmlformats.org/drawingml/2006/main">
              <a:ext uri="{FF2B5EF4-FFF2-40B4-BE49-F238E27FC236}">
                <a16:creationId xmlns:a16="http://schemas.microsoft.com/office/drawing/2014/main" id="{9EA62CC7-BDE0-44DA-96AC-5F42E85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8740-7131-4BCF-ACF5-20A38924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result = None">
            <a:extLst xmlns:a="http://schemas.openxmlformats.org/drawingml/2006/main">
              <a:ext uri="{FF2B5EF4-FFF2-40B4-BE49-F238E27FC236}">
                <a16:creationId xmlns:a16="http://schemas.microsoft.com/office/drawing/2014/main" id="{62CD4455-85AD-4DE5-93E7-F4357BA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result = None</a:t>
            </a:r>
          </a:p>
        </p:txBody>
      </p:sp>
      <p:sp>
        <p:nvSpPr>
          <p:cNvPr id="13" name="print(result is None)">
            <a:extLst xmlns:a="http://schemas.openxmlformats.org/drawingml/2006/main">
              <a:ext uri="{FF2B5EF4-FFF2-40B4-BE49-F238E27FC236}">
                <a16:creationId xmlns:a16="http://schemas.microsoft.com/office/drawing/2014/main" id="{C2DB881D-B89C-4864-8C82-0E708BE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print(result is None)</a:t>
            </a:r>
          </a:p>
        </p:txBody>
      </p:sp>
      <p:sp>
        <p:nvSpPr>
          <p:cNvPr id="14" name="== 比較值">
            <a:extLst xmlns:a="http://schemas.openxmlformats.org/drawingml/2006/main">
              <a:ext uri="{FF2B5EF4-FFF2-40B4-BE49-F238E27FC236}">
                <a16:creationId xmlns:a16="http://schemas.microsoft.com/office/drawing/2014/main" id="{9D8D8481-E755-4AB5-A0AA-58AAE52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== compares values</a:t>
            </a:r>
          </a:p>
        </p:txBody>
      </p:sp>
      <p:sp>
        <p:nvSpPr>
          <p:cNvPr id="15" name="兩個不同的 list 可以具有相等內容。">
            <a:extLst xmlns:a="http://schemas.openxmlformats.org/drawingml/2006/main">
              <a:ext uri="{FF2B5EF4-FFF2-40B4-BE49-F238E27FC236}">
                <a16:creationId xmlns:a16="http://schemas.microsoft.com/office/drawing/2014/main" id="{F881F1F9-7B19-4A16-80CF-87AD04D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Two distinct lists can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have equal contents.</a:t>
            </a:r>
          </a:p>
        </p:txBody>
      </p:sp>
      <p:sp>
        <p:nvSpPr>
          <p:cNvPr id="16" name="is 比較身分">
            <a:extLst xmlns:a="http://schemas.openxmlformats.org/drawingml/2006/main">
              <a:ext uri="{FF2B5EF4-FFF2-40B4-BE49-F238E27FC236}">
                <a16:creationId xmlns:a16="http://schemas.microsoft.com/office/drawing/2014/main" id="{104445D3-6337-4533-A52D-76FB4A28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is compares identity</a:t>
            </a:r>
          </a:p>
        </p:txBody>
      </p:sp>
      <p:sp>
        <p:nvSpPr>
          <p:cNvPr id="17" name="c 與 a 參照同一物件。 None 常用 is 判斷。">
            <a:extLst xmlns:a="http://schemas.openxmlformats.org/drawingml/2006/main">
              <a:ext uri="{FF2B5EF4-FFF2-40B4-BE49-F238E27FC236}">
                <a16:creationId xmlns:a16="http://schemas.microsoft.com/office/drawing/2014/main" id="{F663F714-0566-44E5-88B6-1B87ABC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 and a refer to one object.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 is to check for None.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0A984-708D-47E0-9EB4-F854ED7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True    False    True    True">
            <a:extLst xmlns:a="http://schemas.openxmlformats.org/drawingml/2006/main">
              <a:ext uri="{FF2B5EF4-FFF2-40B4-BE49-F238E27FC236}">
                <a16:creationId xmlns:a16="http://schemas.microsoft.com/office/drawing/2014/main" id="{2C1281DA-C29C-4F80-8722-AD8EED6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False    True    True</a:t>
            </a:r>
          </a:p>
        </p:txBody>
      </p:sp>
    </p:spTree>
    <p:extLst>
      <p:ext uri="{BB962C8B-B14F-4D97-AF65-F5344CB8AC3E}">
        <p14:creationId xmlns:p14="http://schemas.microsoft.com/office/powerpoint/2010/main" val="596963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指定、條件運算式與 :=">
            <a:extLst xmlns:a="http://schemas.openxmlformats.org/drawingml/2006/main">
              <a:ext uri="{FF2B5EF4-FFF2-40B4-BE49-F238E27FC236}">
                <a16:creationId xmlns:a16="http://schemas.microsoft.com/office/drawing/2014/main" id="{0EC385FA-6969-4A51-A94D-C75CDE3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Assignment, conditional expressions and :=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48C3ACFD-8753-4354-89BC-3AD3D7A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Basic syntax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4A4751A7-D6F4-417A-AA42-55F48C8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x, y = 10, 20">
            <a:extLst xmlns:a="http://schemas.openxmlformats.org/drawingml/2006/main">
              <a:ext uri="{FF2B5EF4-FFF2-40B4-BE49-F238E27FC236}">
                <a16:creationId xmlns:a16="http://schemas.microsoft.com/office/drawing/2014/main" id="{9A898A28-A075-4463-87E5-27AF71C9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10, 20</a:t>
            </a:r>
          </a:p>
        </p:txBody>
      </p:sp>
      <p:sp>
        <p:nvSpPr>
          <p:cNvPr id="5" name="x, y = y, x">
            <a:extLst xmlns:a="http://schemas.openxmlformats.org/drawingml/2006/main">
              <a:ext uri="{FF2B5EF4-FFF2-40B4-BE49-F238E27FC236}">
                <a16:creationId xmlns:a16="http://schemas.microsoft.com/office/drawing/2014/main" id="{6345A8BA-74BF-434B-8589-B387ABBB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y, x</a:t>
            </a:r>
          </a:p>
        </p:txBody>
      </p:sp>
      <p:sp>
        <p:nvSpPr>
          <p:cNvPr id="6" name="x += 5">
            <a:extLst xmlns:a="http://schemas.openxmlformats.org/drawingml/2006/main">
              <a:ext uri="{FF2B5EF4-FFF2-40B4-BE49-F238E27FC236}">
                <a16:creationId xmlns:a16="http://schemas.microsoft.com/office/drawing/2014/main" id="{2C252F4C-C60B-4C90-B262-BA388ED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 += 5</a:t>
            </a:r>
          </a:p>
        </p:txBody>
      </p:sp>
      <p:sp>
        <p:nvSpPr>
          <p:cNvPr id="7" name="print(x, y)">
            <a:extLst xmlns:a="http://schemas.openxmlformats.org/drawingml/2006/main">
              <a:ext uri="{FF2B5EF4-FFF2-40B4-BE49-F238E27FC236}">
                <a16:creationId xmlns:a16="http://schemas.microsoft.com/office/drawing/2014/main" id="{832BEF6F-64DB-444D-A93E-EEF7D80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F2279-52F7-4FE5-9BAA-61D4573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score = 75">
            <a:extLst xmlns:a="http://schemas.openxmlformats.org/drawingml/2006/main">
              <a:ext uri="{FF2B5EF4-FFF2-40B4-BE49-F238E27FC236}">
                <a16:creationId xmlns:a16="http://schemas.microsoft.com/office/drawing/2014/main" id="{A1A2216D-676E-4178-B984-3F1E616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75</a:t>
            </a:r>
          </a:p>
        </p:txBody>
      </p:sp>
      <p:sp>
        <p:nvSpPr>
          <p:cNvPr id="10" name="label = &quot;Pass&quot; if score &gt;= 60 else &quot;Fail&quot;">
            <a:extLst xmlns:a="http://schemas.openxmlformats.org/drawingml/2006/main">
              <a:ext uri="{FF2B5EF4-FFF2-40B4-BE49-F238E27FC236}">
                <a16:creationId xmlns:a16="http://schemas.microsoft.com/office/drawing/2014/main" id="{27574925-F452-4B41-A304-69D5319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label = "Pass" if score &gt;= 60 else "Fail"</a:t>
            </a:r>
          </a:p>
        </p:txBody>
      </p:sp>
      <p:sp>
        <p:nvSpPr>
          <p:cNvPr id="11" name="print(label)">
            <a:extLst xmlns:a="http://schemas.openxmlformats.org/drawingml/2006/main">
              <a:ext uri="{FF2B5EF4-FFF2-40B4-BE49-F238E27FC236}">
                <a16:creationId xmlns:a16="http://schemas.microsoft.com/office/drawing/2014/main" id="{BB5C212D-82F1-42BA-9963-AE18313C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print(label)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4D246-9E49-4B30-A1BC-676DEB8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1A0A0425-7E46-475C-BFDD-7856725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14" name="if (length := len(text)) &gt; 5:">
            <a:extLst xmlns:a="http://schemas.openxmlformats.org/drawingml/2006/main">
              <a:ext uri="{FF2B5EF4-FFF2-40B4-BE49-F238E27FC236}">
                <a16:creationId xmlns:a16="http://schemas.microsoft.com/office/drawing/2014/main" id="{981A3F45-EE4D-4C5C-86D9-4EEA600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(length := len(text)) &gt; 5:</a:t>
            </a:r>
          </a:p>
        </p:txBody>
      </p:sp>
      <p:sp>
        <p:nvSpPr>
          <p:cNvPr id="15" name="    print(length)">
            <a:extLst xmlns:a="http://schemas.openxmlformats.org/drawingml/2006/main">
              <a:ext uri="{FF2B5EF4-FFF2-40B4-BE49-F238E27FC236}">
                <a16:creationId xmlns:a16="http://schemas.microsoft.com/office/drawing/2014/main" id="{35B67227-2096-4D5C-918D-81001C6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print(length)</a:t>
            </a:r>
          </a:p>
        </p:txBody>
      </p:sp>
      <p:sp>
        <p:nvSpPr>
          <p:cNvPr id="16" name="指定可以解包">
            <a:extLst xmlns:a="http://schemas.openxmlformats.org/drawingml/2006/main">
              <a:ext uri="{FF2B5EF4-FFF2-40B4-BE49-F238E27FC236}">
                <a16:creationId xmlns:a16="http://schemas.microsoft.com/office/drawing/2014/main" id="{E71C2D66-1832-4B16-898D-7F69DE0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Assignment can unpack</a:t>
            </a:r>
          </a:p>
        </p:txBody>
      </p:sp>
      <p:sp>
        <p:nvSpPr>
          <p:cNvPr id="17" name="交換名稱不需要暫存名稱。 += 的行為也取決於物件型別。">
            <a:extLst xmlns:a="http://schemas.openxmlformats.org/drawingml/2006/main">
              <a:ext uri="{FF2B5EF4-FFF2-40B4-BE49-F238E27FC236}">
                <a16:creationId xmlns:a16="http://schemas.microsoft.com/office/drawing/2014/main" id="{EF8CA2AD-CF8A-445A-BEE6-752141F0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Swapping needs no temporary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name. The behavior of +=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also depends on the type.</a:t>
            </a:r>
          </a:p>
        </p:txBody>
      </p:sp>
      <p:sp>
        <p:nvSpPr>
          <p:cNvPr id="18" name="運算式也能產生值">
            <a:extLst xmlns:a="http://schemas.openxmlformats.org/drawingml/2006/main">
              <a:ext uri="{FF2B5EF4-FFF2-40B4-BE49-F238E27FC236}">
                <a16:creationId xmlns:a16="http://schemas.microsoft.com/office/drawing/2014/main" id="{FBBEE6A0-1999-4DD1-9776-B518E0E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Expressions produce values</a:t>
            </a:r>
          </a:p>
        </p:txBody>
      </p:sp>
      <p:sp>
        <p:nvSpPr>
          <p:cNvPr id="19" name=":= 指定名稱並回傳該值。 條件運算式只計算選中的分支。">
            <a:extLst xmlns:a="http://schemas.openxmlformats.org/drawingml/2006/main">
              <a:ext uri="{FF2B5EF4-FFF2-40B4-BE49-F238E27FC236}">
                <a16:creationId xmlns:a16="http://schemas.microsoft.com/office/drawing/2014/main" id="{904E4623-F188-47AB-A099-9454056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:= binds a name and returns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value. A conditional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expression evaluates one branch.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22D0C4C-3446-4D91-A384-ABA93805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25 10    Pass    6">
            <a:extLst xmlns:a="http://schemas.openxmlformats.org/drawingml/2006/main">
              <a:ext uri="{FF2B5EF4-FFF2-40B4-BE49-F238E27FC236}">
                <a16:creationId xmlns:a16="http://schemas.microsoft.com/office/drawing/2014/main" id="{FFECA565-4015-44A3-B621-4F6751E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25 10    Pass    6</a:t>
            </a:r>
          </a:p>
        </p:txBody>
      </p:sp>
    </p:spTree>
    <p:extLst>
      <p:ext uri="{BB962C8B-B14F-4D97-AF65-F5344CB8AC3E}">
        <p14:creationId xmlns:p14="http://schemas.microsoft.com/office/powerpoint/2010/main" val="89754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字串常值、索引與切片">
            <a:extLst xmlns:a="http://schemas.openxmlformats.org/drawingml/2006/main">
              <a:ext uri="{FF2B5EF4-FFF2-40B4-BE49-F238E27FC236}">
                <a16:creationId xmlns:a16="http://schemas.microsoft.com/office/drawing/2014/main" id="{B9A11E8C-9407-487D-865F-BA341C2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String literals, indexing and slicing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BBAE3938-B59D-42E8-AF6C-6024D583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Strings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2D46B32-6C7C-42D3-8371-75EE7757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A4ED761C-D468-4E95-8928-92B10045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5" name="print(text[0], text[-1])">
            <a:extLst xmlns:a="http://schemas.openxmlformats.org/drawingml/2006/main">
              <a:ext uri="{FF2B5EF4-FFF2-40B4-BE49-F238E27FC236}">
                <a16:creationId xmlns:a16="http://schemas.microsoft.com/office/drawing/2014/main" id="{4F11C11B-BDED-4524-ACD7-759E219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print(text[0], text[-1])</a:t>
            </a:r>
          </a:p>
        </p:txBody>
      </p:sp>
      <p:sp>
        <p:nvSpPr>
          <p:cNvPr id="6" name="print(text[1:4])">
            <a:extLst xmlns:a="http://schemas.openxmlformats.org/drawingml/2006/main">
              <a:ext uri="{FF2B5EF4-FFF2-40B4-BE49-F238E27FC236}">
                <a16:creationId xmlns:a16="http://schemas.microsoft.com/office/drawing/2014/main" id="{5B263D70-48DD-42FA-8A47-70163EF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print(text[1:4])</a:t>
            </a:r>
          </a:p>
        </p:txBody>
      </p:sp>
      <p:sp>
        <p:nvSpPr>
          <p:cNvPr id="7" name="print(text[::2])">
            <a:extLst xmlns:a="http://schemas.openxmlformats.org/drawingml/2006/main">
              <a:ext uri="{FF2B5EF4-FFF2-40B4-BE49-F238E27FC236}">
                <a16:creationId xmlns:a16="http://schemas.microsoft.com/office/drawing/2014/main" id="{75A2CFEF-B106-435D-A691-8AEA564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print(text[::2])</a:t>
            </a:r>
          </a:p>
        </p:txBody>
      </p:sp>
      <p:sp>
        <p:nvSpPr>
          <p:cNvPr id="8" name="print(text[::-1])">
            <a:extLst xmlns:a="http://schemas.openxmlformats.org/drawingml/2006/main">
              <a:ext uri="{FF2B5EF4-FFF2-40B4-BE49-F238E27FC236}">
                <a16:creationId xmlns:a16="http://schemas.microsoft.com/office/drawing/2014/main" id="{616EDFDA-2FBD-4678-8F74-23C85AF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print(text[::-1])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7000F-0056-498D-95D3-5DCE2F2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&quot;A\nB&quot;)">
            <a:extLst xmlns:a="http://schemas.openxmlformats.org/drawingml/2006/main">
              <a:ext uri="{FF2B5EF4-FFF2-40B4-BE49-F238E27FC236}">
                <a16:creationId xmlns:a16="http://schemas.microsoft.com/office/drawing/2014/main" id="{BED82E03-7F3E-4B04-A741-014F1AF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print("A\nB")</a:t>
            </a:r>
          </a:p>
        </p:txBody>
      </p:sp>
      <p:sp>
        <p:nvSpPr>
          <p:cNvPr id="11" name="print(r&quot;C:\temp\new&quot;)">
            <a:extLst xmlns:a="http://schemas.openxmlformats.org/drawingml/2006/main">
              <a:ext uri="{FF2B5EF4-FFF2-40B4-BE49-F238E27FC236}">
                <a16:creationId xmlns:a16="http://schemas.microsoft.com/office/drawing/2014/main" id="{B41B419D-8318-42BD-942D-81DAFD6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print(r"C:\temp\new")</a:t>
            </a:r>
          </a:p>
        </p:txBody>
      </p:sp>
      <p:sp>
        <p:nvSpPr>
          <p:cNvPr id="12" name="切片不包含終點">
            <a:extLst xmlns:a="http://schemas.openxmlformats.org/drawingml/2006/main">
              <a:ext uri="{FF2B5EF4-FFF2-40B4-BE49-F238E27FC236}">
                <a16:creationId xmlns:a16="http://schemas.microsoft.com/office/drawing/2014/main" id="{6E402BE5-162D-4E38-A97D-DCF33F4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Slices exclude the stop</a:t>
            </a:r>
          </a:p>
        </p:txBody>
      </p:sp>
      <p:sp>
        <p:nvSpPr>
          <p:cNvPr id="13" name="s[start:stop:step] 負索引從尾端計算。">
            <a:extLst xmlns:a="http://schemas.openxmlformats.org/drawingml/2006/main">
              <a:ext uri="{FF2B5EF4-FFF2-40B4-BE49-F238E27FC236}">
                <a16:creationId xmlns:a16="http://schemas.microsoft.com/office/drawing/2014/main" id="{EBCB0C19-551A-4F2C-AB52-2B75A3D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s[start:stop:step]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Negative indices count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from the end.</a:t>
            </a:r>
          </a:p>
        </p:txBody>
      </p:sp>
      <p:sp>
        <p:nvSpPr>
          <p:cNvPr id="14" name="字串不可變">
            <a:extLst xmlns:a="http://schemas.openxmlformats.org/drawingml/2006/main">
              <a:ext uri="{FF2B5EF4-FFF2-40B4-BE49-F238E27FC236}">
                <a16:creationId xmlns:a16="http://schemas.microsoft.com/office/drawing/2014/main" id="{9675A28D-054C-4F69-8588-BEDF49A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Strings are immutable</a:t>
            </a:r>
          </a:p>
        </p:txBody>
      </p:sp>
      <p:sp>
        <p:nvSpPr>
          <p:cNvPr id="15" name="單引號與雙引號都可使用。 三引號可表示多行字串。">
            <a:extLst xmlns:a="http://schemas.openxmlformats.org/drawingml/2006/main">
              <a:ext uri="{FF2B5EF4-FFF2-40B4-BE49-F238E27FC236}">
                <a16:creationId xmlns:a16="http://schemas.microsoft.com/office/drawing/2014/main" id="{42FA5837-F755-4530-9B73-5C486997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 single or double quotes.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Triple quotes allow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multiline strings.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AE71BB5-0C49-47FC-86F5-491FECB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P n    yth    Pto    nohtyP    A    B    C:\temp\new">
            <a:extLst xmlns:a="http://schemas.openxmlformats.org/drawingml/2006/main">
              <a:ext uri="{FF2B5EF4-FFF2-40B4-BE49-F238E27FC236}">
                <a16:creationId xmlns:a16="http://schemas.microsoft.com/office/drawing/2014/main" id="{75152D02-132F-412E-9364-377EC96D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 n    yth    Pto    nohtyP    A    B    C:\temp\new</a:t>
            </a:r>
          </a:p>
        </p:txBody>
      </p:sp>
    </p:spTree>
    <p:extLst>
      <p:ext uri="{BB962C8B-B14F-4D97-AF65-F5344CB8AC3E}">
        <p14:creationId xmlns:p14="http://schemas.microsoft.com/office/powerpoint/2010/main" val="1351316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清理、分割與組合字串">
            <a:extLst xmlns:a="http://schemas.openxmlformats.org/drawingml/2006/main">
              <a:ext uri="{FF2B5EF4-FFF2-40B4-BE49-F238E27FC236}">
                <a16:creationId xmlns:a16="http://schemas.microsoft.com/office/drawing/2014/main" id="{F6F02121-2998-4186-A986-104750E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Cleaning, splitting and joining strings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70852567-06D6-44AA-B1F5-626284B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Strings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B680390-DC5B-45DB-A55B-0D8B6B0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raw = &quot;  Amy, Ben, Cindy  &quot;">
            <a:extLst xmlns:a="http://schemas.openxmlformats.org/drawingml/2006/main">
              <a:ext uri="{FF2B5EF4-FFF2-40B4-BE49-F238E27FC236}">
                <a16:creationId xmlns:a16="http://schemas.microsoft.com/office/drawing/2014/main" id="{91E36943-0D82-46D9-8293-F7640E6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raw = "  Amy, Ben, Cindy  "</a:t>
            </a:r>
          </a:p>
        </p:txBody>
      </p:sp>
      <p:sp>
        <p:nvSpPr>
          <p:cNvPr id="5" name="names = [">
            <a:extLst xmlns:a="http://schemas.openxmlformats.org/drawingml/2006/main">
              <a:ext uri="{FF2B5EF4-FFF2-40B4-BE49-F238E27FC236}">
                <a16:creationId xmlns:a16="http://schemas.microsoft.com/office/drawing/2014/main" id="{7AB389A6-04A2-4439-B21E-9C99506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names = [</a:t>
            </a:r>
          </a:p>
        </p:txBody>
      </p:sp>
      <p:sp>
        <p:nvSpPr>
          <p:cNvPr id="6" name="    part.strip()">
            <a:extLst xmlns:a="http://schemas.openxmlformats.org/drawingml/2006/main">
              <a:ext uri="{FF2B5EF4-FFF2-40B4-BE49-F238E27FC236}">
                <a16:creationId xmlns:a16="http://schemas.microsoft.com/office/drawing/2014/main" id="{3975BF5F-12C3-4F28-8446-CD289B1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part.strip()</a:t>
            </a:r>
          </a:p>
        </p:txBody>
      </p:sp>
      <p:sp>
        <p:nvSpPr>
          <p:cNvPr id="7" name="    for part in raw.strip()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2DF2FF61-2A3F-48D1-ABBC-6B19074B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part in raw.strip().split(",")</a:t>
            </a:r>
          </a:p>
        </p:txBody>
      </p:sp>
      <p:sp>
        <p:nvSpPr>
          <p:cNvPr id="8" name="]">
            <a:extLst xmlns:a="http://schemas.openxmlformats.org/drawingml/2006/main">
              <a:ext uri="{FF2B5EF4-FFF2-40B4-BE49-F238E27FC236}">
                <a16:creationId xmlns:a16="http://schemas.microsoft.com/office/drawing/2014/main" id="{210DF7CE-A5D9-4247-A2BA-0AD211E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9" name="print(names)">
            <a:extLst xmlns:a="http://schemas.openxmlformats.org/drawingml/2006/main">
              <a:ext uri="{FF2B5EF4-FFF2-40B4-BE49-F238E27FC236}">
                <a16:creationId xmlns:a16="http://schemas.microsoft.com/office/drawing/2014/main" id="{8B6DD233-BB5F-473C-8D04-3C2529F3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print(names)</a:t>
            </a:r>
          </a:p>
        </p:txBody>
      </p:sp>
      <p:sp>
        <p:nvSpPr>
          <p:cNvPr id="10" name="print(&quot; / &quot;.join(names))">
            <a:extLst xmlns:a="http://schemas.openxmlformats.org/drawingml/2006/main">
              <a:ext uri="{FF2B5EF4-FFF2-40B4-BE49-F238E27FC236}">
                <a16:creationId xmlns:a16="http://schemas.microsoft.com/office/drawing/2014/main" id="{37FC796E-E6F3-45ED-B81C-C5AA3C4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 / ".join(names))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23B03-E032-428D-A2DA-CC096037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&quot;A   B&quot;.split())">
            <a:extLst xmlns:a="http://schemas.openxmlformats.org/drawingml/2006/main">
              <a:ext uri="{FF2B5EF4-FFF2-40B4-BE49-F238E27FC236}">
                <a16:creationId xmlns:a16="http://schemas.microsoft.com/office/drawing/2014/main" id="{8ED09607-A20B-4437-B3F3-55699BC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B".split())</a:t>
            </a:r>
          </a:p>
        </p:txBody>
      </p:sp>
      <p:sp>
        <p:nvSpPr>
          <p:cNvPr id="13" name="print(&quot;A   B&quot;.split(&quot; &quot;))">
            <a:extLst xmlns:a="http://schemas.openxmlformats.org/drawingml/2006/main">
              <a:ext uri="{FF2B5EF4-FFF2-40B4-BE49-F238E27FC236}">
                <a16:creationId xmlns:a16="http://schemas.microsoft.com/office/drawing/2014/main" id="{5E271C58-75AC-49F1-ACB1-DC87CF3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B".split(" "))</a:t>
            </a:r>
          </a:p>
        </p:txBody>
      </p:sp>
      <p:sp>
        <p:nvSpPr>
          <p:cNvPr id="14" name="strip 只處理兩端">
            <a:extLst xmlns:a="http://schemas.openxmlformats.org/drawingml/2006/main">
              <a:ext uri="{FF2B5EF4-FFF2-40B4-BE49-F238E27FC236}">
                <a16:creationId xmlns:a16="http://schemas.microsoft.com/office/drawing/2014/main" id="{04B5FF03-8255-4DDB-9293-4F42F11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strip works at both ends</a:t>
            </a:r>
          </a:p>
        </p:txBody>
      </p:sp>
      <p:sp>
        <p:nvSpPr>
          <p:cNvPr id="15" name="沒有傳入參數時去除空白。 strip(&quot;ab&quot;) 移除兩端的 a、b 字元。">
            <a:extLst xmlns:a="http://schemas.openxmlformats.org/drawingml/2006/main">
              <a:ext uri="{FF2B5EF4-FFF2-40B4-BE49-F238E27FC236}">
                <a16:creationId xmlns:a16="http://schemas.microsoft.com/office/drawing/2014/main" id="{12993B8E-0D35-44D2-9E97-6BA2CE2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With no argument, it removes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whitespace. strip("ab") strips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and b characters at the ends.</a:t>
            </a:r>
          </a:p>
        </p:txBody>
      </p:sp>
      <p:sp>
        <p:nvSpPr>
          <p:cNvPr id="16" name="split 的分隔方式">
            <a:extLst xmlns:a="http://schemas.openxmlformats.org/drawingml/2006/main">
              <a:ext uri="{FF2B5EF4-FFF2-40B4-BE49-F238E27FC236}">
                <a16:creationId xmlns:a16="http://schemas.microsoft.com/office/drawing/2014/main" id="{8B76CAC4-7643-4C1C-B34D-A99EA94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How split separates text</a:t>
            </a:r>
          </a:p>
        </p:txBody>
      </p:sp>
      <p:sp>
        <p:nvSpPr>
          <p:cNvPr id="17" name="省略分隔符會合併連續空白。 join 接受字串元素的 iterable。">
            <a:extLst xmlns:a="http://schemas.openxmlformats.org/drawingml/2006/main">
              <a:ext uri="{FF2B5EF4-FFF2-40B4-BE49-F238E27FC236}">
                <a16:creationId xmlns:a16="http://schemas.microsoft.com/office/drawing/2014/main" id="{1BD82336-B77D-46BE-BE83-4F2B0CB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 separator merges runs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of whitespace. join accepts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 iterable of strings.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1FCF83C-A8E0-4908-9848-740FEFA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['Amy', 'Ben', 'Cindy']    Amy / Ben / Cindy    ['A', '">
            <a:extLst xmlns:a="http://schemas.openxmlformats.org/drawingml/2006/main">
              <a:ext uri="{FF2B5EF4-FFF2-40B4-BE49-F238E27FC236}">
                <a16:creationId xmlns:a16="http://schemas.microsoft.com/office/drawing/2014/main" id="{8A050675-3DC8-42D3-9F3D-FFF7EB5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['Amy', 'Ben', 'Cindy']    Amy / Ben / Cindy    ['A', 'B']    ['A', '', '', 'B']</a:t>
            </a:r>
          </a:p>
        </p:txBody>
      </p:sp>
    </p:spTree>
    <p:extLst>
      <p:ext uri="{BB962C8B-B14F-4D97-AF65-F5344CB8AC3E}">
        <p14:creationId xmlns:p14="http://schemas.microsoft.com/office/powerpoint/2010/main" val="4772162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搜尋、替換與字串格式化">
            <a:extLst xmlns:a="http://schemas.openxmlformats.org/drawingml/2006/main">
              <a:ext uri="{FF2B5EF4-FFF2-40B4-BE49-F238E27FC236}">
                <a16:creationId xmlns:a16="http://schemas.microsoft.com/office/drawing/2014/main" id="{F2BDB9B1-B62E-4672-839B-8BC93944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Searching, replacing and formatting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0DC2EF68-B019-4243-897C-6356AB8E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Strings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2E5B66E5-874B-4F36-9653-38B748D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name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3F248350-92F3-45F3-B887-B76F3BA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 = "Python"</a:t>
            </a:r>
          </a:p>
        </p:txBody>
      </p:sp>
      <p:sp>
        <p:nvSpPr>
          <p:cNvPr id="5" name="print(&quot;th&quot; in name)">
            <a:extLst xmlns:a="http://schemas.openxmlformats.org/drawingml/2006/main">
              <a:ext uri="{FF2B5EF4-FFF2-40B4-BE49-F238E27FC236}">
                <a16:creationId xmlns:a16="http://schemas.microsoft.com/office/drawing/2014/main" id="{E96E1EEA-9DB7-4BDA-9375-68FB1F4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print("th" in name)</a:t>
            </a:r>
          </a:p>
        </p:txBody>
      </p:sp>
      <p:sp>
        <p:nvSpPr>
          <p:cNvPr id="6" name="print(name.find(&quot;z&quot;))">
            <a:extLst xmlns:a="http://schemas.openxmlformats.org/drawingml/2006/main">
              <a:ext uri="{FF2B5EF4-FFF2-40B4-BE49-F238E27FC236}">
                <a16:creationId xmlns:a16="http://schemas.microsoft.com/office/drawing/2014/main" id="{F4870F08-1ED8-410A-A226-EA042AD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print(name.find("z"))</a:t>
            </a:r>
          </a:p>
        </p:txBody>
      </p:sp>
      <p:sp>
        <p:nvSpPr>
          <p:cNvPr id="7" name="print(name.startswith(&quot;Py&quot;))">
            <a:extLst xmlns:a="http://schemas.openxmlformats.org/drawingml/2006/main">
              <a:ext uri="{FF2B5EF4-FFF2-40B4-BE49-F238E27FC236}">
                <a16:creationId xmlns:a16="http://schemas.microsoft.com/office/drawing/2014/main" id="{1B53DE60-D911-47AE-A261-AC72A31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print(name.startswith("Py"))</a:t>
            </a:r>
          </a:p>
        </p:txBody>
      </p:sp>
      <p:sp>
        <p:nvSpPr>
          <p:cNvPr id="8" name="print(name.replace(&quot;Py&quot;, &quot;J&quot;))">
            <a:extLst xmlns:a="http://schemas.openxmlformats.org/drawingml/2006/main">
              <a:ext uri="{FF2B5EF4-FFF2-40B4-BE49-F238E27FC236}">
                <a16:creationId xmlns:a16="http://schemas.microsoft.com/office/drawing/2014/main" id="{1332CE09-6603-4AEA-B255-CCF5740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print(name.replace("Py", "J"))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784C-47BC-4D8D-821C-2B3DDAC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core = 85.678">
            <a:extLst xmlns:a="http://schemas.openxmlformats.org/drawingml/2006/main">
              <a:ext uri="{FF2B5EF4-FFF2-40B4-BE49-F238E27FC236}">
                <a16:creationId xmlns:a16="http://schemas.microsoft.com/office/drawing/2014/main" id="{527F4A72-B053-48FC-92E7-8980A0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 = 85.678</a:t>
            </a:r>
          </a:p>
        </p:txBody>
      </p:sp>
      <p:sp>
        <p:nvSpPr>
          <p:cNvPr id="11" name="print(f&quot;{name:&gt;8}: {score:.2f}&quot;)">
            <a:extLst xmlns:a="http://schemas.openxmlformats.org/drawingml/2006/main">
              <a:ext uri="{FF2B5EF4-FFF2-40B4-BE49-F238E27FC236}">
                <a16:creationId xmlns:a16="http://schemas.microsoft.com/office/drawing/2014/main" id="{47F7781B-3201-4A78-A623-70F20A9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print(f"{name:&gt;8}: {score:.2f}")</a:t>
            </a:r>
          </a:p>
        </p:txBody>
      </p:sp>
      <p:sp>
        <p:nvSpPr>
          <p:cNvPr id="12" name="print(f&quot;{42:04d}&quot;)">
            <a:extLst xmlns:a="http://schemas.openxmlformats.org/drawingml/2006/main">
              <a:ext uri="{FF2B5EF4-FFF2-40B4-BE49-F238E27FC236}">
                <a16:creationId xmlns:a16="http://schemas.microsoft.com/office/drawing/2014/main" id="{28D0FB0A-DC81-42F3-B6FD-86F7CDB6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print(f"{42:04d}")</a:t>
            </a:r>
          </a:p>
        </p:txBody>
      </p:sp>
      <p:sp>
        <p:nvSpPr>
          <p:cNvPr id="13" name="print(&quot;{} / {}&quot;.format(&quot;A&quot;, &quot;B&quot;))">
            <a:extLst xmlns:a="http://schemas.openxmlformats.org/drawingml/2006/main">
              <a:ext uri="{FF2B5EF4-FFF2-40B4-BE49-F238E27FC236}">
                <a16:creationId xmlns:a16="http://schemas.microsoft.com/office/drawing/2014/main" id="{751F2879-8DBD-4F9C-B64C-D677FED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print("{} / {}".format("A", "B"))</a:t>
            </a:r>
          </a:p>
        </p:txBody>
      </p:sp>
      <p:sp>
        <p:nvSpPr>
          <p:cNvPr id="14" name="搜尋與替換">
            <a:extLst xmlns:a="http://schemas.openxmlformats.org/drawingml/2006/main">
              <a:ext uri="{FF2B5EF4-FFF2-40B4-BE49-F238E27FC236}">
                <a16:creationId xmlns:a16="http://schemas.microsoft.com/office/drawing/2014/main" id="{8AB432A5-477F-47CC-BE16-4CE8D25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Search and replacement</a:t>
            </a:r>
          </a:p>
        </p:txBody>
      </p:sp>
      <p:sp>
        <p:nvSpPr>
          <p:cNvPr id="15" name="find 找不到時回傳 -1。 replace 回傳新字串。">
            <a:extLst xmlns:a="http://schemas.openxmlformats.org/drawingml/2006/main">
              <a:ext uri="{FF2B5EF4-FFF2-40B4-BE49-F238E27FC236}">
                <a16:creationId xmlns:a16="http://schemas.microsoft.com/office/drawing/2014/main" id="{92C9C861-2716-4D00-959E-A6BCC65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find returns -1 if absent.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replace returns a new string.</a:t>
            </a:r>
          </a:p>
        </p:txBody>
      </p:sp>
      <p:sp>
        <p:nvSpPr>
          <p:cNvPr id="16" name="格式規格">
            <a:extLst xmlns:a="http://schemas.openxmlformats.org/drawingml/2006/main">
              <a:ext uri="{FF2B5EF4-FFF2-40B4-BE49-F238E27FC236}">
                <a16:creationId xmlns:a16="http://schemas.microsoft.com/office/drawing/2014/main" id="{AAAC5B60-B1DF-405D-B814-9FD19AF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Format specifications</a:t>
            </a:r>
          </a:p>
        </p:txBody>
      </p:sp>
      <p:sp>
        <p:nvSpPr>
          <p:cNvPr id="17" name="&gt;8 靠右、.2f 兩位小數。 04d 以零補足四位整數。">
            <a:extLst xmlns:a="http://schemas.openxmlformats.org/drawingml/2006/main">
              <a:ext uri="{FF2B5EF4-FFF2-40B4-BE49-F238E27FC236}">
                <a16:creationId xmlns:a16="http://schemas.microsoft.com/office/drawing/2014/main" id="{2BC2014B-4FC0-4770-BD3F-2116B8D9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&gt;8 aligns right.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.2f gives two decimal places.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04d pads integers to four digits.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D0F7F6E-D5B9-4FDC-8882-725E80A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True    -1    True    Jthon      Python: 85.68    0042 ">
            <a:extLst xmlns:a="http://schemas.openxmlformats.org/drawingml/2006/main">
              <a:ext uri="{FF2B5EF4-FFF2-40B4-BE49-F238E27FC236}">
                <a16:creationId xmlns:a16="http://schemas.microsoft.com/office/drawing/2014/main" id="{45473644-E0C4-40AB-BAB3-F676D0D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-1    True    Jthon      Python: 85.68    0042    A / B</a:t>
            </a:r>
          </a:p>
        </p:txBody>
      </p:sp>
    </p:spTree>
    <p:extLst>
      <p:ext uri="{BB962C8B-B14F-4D97-AF65-F5344CB8AC3E}">
        <p14:creationId xmlns:p14="http://schemas.microsoft.com/office/powerpoint/2010/main" val="1943865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字串方法">
            <a:extLst xmlns:a="http://schemas.openxmlformats.org/drawingml/2006/main">
              <a:ext uri="{FF2B5EF4-FFF2-40B4-BE49-F238E27FC236}">
                <a16:creationId xmlns:a16="http://schemas.microsoft.com/office/drawing/2014/main" id="{257DD0FF-7823-4129-9D28-DD799D21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Common string methods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F469707D-7447-401A-B0C9-4016C31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Strings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7B96E9F-2C9A-4D70-9CDB-47455D5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905375"/>
                <a:gridCol w="4067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Syntax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Letter case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"Py".lower() / "Py".upper()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"py" / "PY"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Prefix / suffix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"a.py".endswith(".py")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Count matches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"banana".count("an")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Split into lines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"A\nB".splitlines()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["A", "B"]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Find position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"banana".index("na")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 Raises ValueError if absent.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字串方法回傳結果。若要保留改變，需將結果繫結到名稱。">
            <a:extLst xmlns:a="http://schemas.openxmlformats.org/drawingml/2006/main">
              <a:ext uri="{FF2B5EF4-FFF2-40B4-BE49-F238E27FC236}">
                <a16:creationId xmlns:a16="http://schemas.microsoft.com/office/drawing/2014/main" id="{EDF6052E-5766-47EA-90AB-80AB217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String methods return results. Bind the result to a name to retain a change.</a:t>
            </a:r>
          </a:p>
        </p:txBody>
      </p:sp>
    </p:spTree>
    <p:extLst>
      <p:ext uri="{BB962C8B-B14F-4D97-AF65-F5344CB8AC3E}">
        <p14:creationId xmlns:p14="http://schemas.microsoft.com/office/powerpoint/2010/main" val="20362752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Unicode、str 與 bytes">
            <a:extLst xmlns:a="http://schemas.openxmlformats.org/drawingml/2006/main">
              <a:ext uri="{FF2B5EF4-FFF2-40B4-BE49-F238E27FC236}">
                <a16:creationId xmlns:a16="http://schemas.microsoft.com/office/drawing/2014/main" id="{CA396FFB-E9B2-4BD3-AFEC-DF095EA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Unicode, str and bytes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E7BD7D67-19DC-4D7E-A47A-9A1FA42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Strings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6B610E64-C7F9-40FC-AF2C-5425340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text = &quot;你好&quot;">
            <a:extLst xmlns:a="http://schemas.openxmlformats.org/drawingml/2006/main">
              <a:ext uri="{FF2B5EF4-FFF2-40B4-BE49-F238E27FC236}">
                <a16:creationId xmlns:a16="http://schemas.microsoft.com/office/drawing/2014/main" id="{F6CD1257-23DE-450F-8D5D-9A43A3A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"你好"</a:t>
            </a:r>
          </a:p>
        </p:txBody>
      </p:sp>
      <p:sp>
        <p:nvSpPr>
          <p:cNvPr id="5" name="data = text.encode(&quot;utf-8&quot;)">
            <a:extLst xmlns:a="http://schemas.openxmlformats.org/drawingml/2006/main">
              <a:ext uri="{FF2B5EF4-FFF2-40B4-BE49-F238E27FC236}">
                <a16:creationId xmlns:a16="http://schemas.microsoft.com/office/drawing/2014/main" id="{DE44879F-32D5-48E0-A000-71D2615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text.encode("utf-8")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17E5F-BD14-4558-8EC2-0AF9197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len(text))">
            <a:extLst xmlns:a="http://schemas.openxmlformats.org/drawingml/2006/main">
              <a:ext uri="{FF2B5EF4-FFF2-40B4-BE49-F238E27FC236}">
                <a16:creationId xmlns:a16="http://schemas.microsoft.com/office/drawing/2014/main" id="{4F1BAA17-12BF-48CE-B520-4893B93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print(len(text))</a:t>
            </a:r>
          </a:p>
        </p:txBody>
      </p:sp>
      <p:sp>
        <p:nvSpPr>
          <p:cNvPr id="8" name="print(len(data))">
            <a:extLst xmlns:a="http://schemas.openxmlformats.org/drawingml/2006/main">
              <a:ext uri="{FF2B5EF4-FFF2-40B4-BE49-F238E27FC236}">
                <a16:creationId xmlns:a16="http://schemas.microsoft.com/office/drawing/2014/main" id="{555CA635-4A63-43E6-B135-A43D97C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print(len(data))</a:t>
            </a:r>
          </a:p>
        </p:txBody>
      </p:sp>
      <p:sp>
        <p:nvSpPr>
          <p:cNvPr id="9" name="print(data.decode(&quot;utf-8&quot;))">
            <a:extLst xmlns:a="http://schemas.openxmlformats.org/drawingml/2006/main">
              <a:ext uri="{FF2B5EF4-FFF2-40B4-BE49-F238E27FC236}">
                <a16:creationId xmlns:a16="http://schemas.microsoft.com/office/drawing/2014/main" id="{6A2F9F8C-6124-4423-B840-AD37982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print(data.decode("utf-8"))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51D3F-3A27-4AEF-BAD2-D2B17A8E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straße&quot;.casefold())">
            <a:extLst xmlns:a="http://schemas.openxmlformats.org/drawingml/2006/main">
              <a:ext uri="{FF2B5EF4-FFF2-40B4-BE49-F238E27FC236}">
                <a16:creationId xmlns:a16="http://schemas.microsoft.com/office/drawing/2014/main" id="{D2AB73AB-E389-4B97-9943-B1B6AD4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print("straße".casefold())</a:t>
            </a:r>
          </a:p>
        </p:txBody>
      </p:sp>
      <p:sp>
        <p:nvSpPr>
          <p:cNvPr id="12" name="str 保存文字">
            <a:extLst xmlns:a="http://schemas.openxmlformats.org/drawingml/2006/main">
              <a:ext uri="{FF2B5EF4-FFF2-40B4-BE49-F238E27FC236}">
                <a16:creationId xmlns:a16="http://schemas.microsoft.com/office/drawing/2014/main" id="{87A0FD8A-E749-4CEC-A268-66DB878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 stores text</a:t>
            </a:r>
          </a:p>
        </p:txBody>
      </p:sp>
      <p:sp>
        <p:nvSpPr>
          <p:cNvPr id="13" name="len(str) 計算 Unicode 碼點， 不一定等於畫面字形數量。">
            <a:extLst xmlns:a="http://schemas.openxmlformats.org/drawingml/2006/main">
              <a:ext uri="{FF2B5EF4-FFF2-40B4-BE49-F238E27FC236}">
                <a16:creationId xmlns:a16="http://schemas.microsoft.com/office/drawing/2014/main" id="{8E013AFE-D08D-4D13-A28A-ACF6E6A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len(str) counts Unicode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code points, which may differ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from visible glyphs.</a:t>
            </a:r>
          </a:p>
        </p:txBody>
      </p:sp>
      <p:sp>
        <p:nvSpPr>
          <p:cNvPr id="14" name="bytes 保存位元組">
            <a:extLst xmlns:a="http://schemas.openxmlformats.org/drawingml/2006/main">
              <a:ext uri="{FF2B5EF4-FFF2-40B4-BE49-F238E27FC236}">
                <a16:creationId xmlns:a16="http://schemas.microsoft.com/office/drawing/2014/main" id="{EF4EF7BA-6618-457D-9592-B5C7332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bytes stores byte values</a:t>
            </a:r>
          </a:p>
        </p:txBody>
      </p:sp>
      <p:sp>
        <p:nvSpPr>
          <p:cNvPr id="15" name="encode 編碼，decode 解碼。 解碼需要符合原始資料的編碼。">
            <a:extLst xmlns:a="http://schemas.openxmlformats.org/drawingml/2006/main">
              <a:ext uri="{FF2B5EF4-FFF2-40B4-BE49-F238E27FC236}">
                <a16:creationId xmlns:a16="http://schemas.microsoft.com/office/drawing/2014/main" id="{FC76C218-96C3-4949-9FCC-048C4A9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encode encodes, decode decodes.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Decoding must use the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encoding of the source data.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19635B6-1D89-4AC3-B816-BE7F6C2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2    6    你好    strasse">
            <a:extLst xmlns:a="http://schemas.openxmlformats.org/drawingml/2006/main">
              <a:ext uri="{FF2B5EF4-FFF2-40B4-BE49-F238E27FC236}">
                <a16:creationId xmlns:a16="http://schemas.microsoft.com/office/drawing/2014/main" id="{3E40CA5D-4ECC-43BF-950E-306F8D9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6    你好    strasse</a:t>
            </a:r>
          </a:p>
        </p:txBody>
      </p:sp>
    </p:spTree>
    <p:extLst>
      <p:ext uri="{BB962C8B-B14F-4D97-AF65-F5344CB8AC3E}">
        <p14:creationId xmlns:p14="http://schemas.microsoft.com/office/powerpoint/2010/main" val="407653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f、elif、else">
            <a:extLst xmlns:a="http://schemas.openxmlformats.org/drawingml/2006/main">
              <a:ext uri="{FF2B5EF4-FFF2-40B4-BE49-F238E27FC236}">
                <a16:creationId xmlns:a16="http://schemas.microsoft.com/office/drawing/2014/main" id="{BC891CBA-2E59-4FC4-B3FD-BAF12BE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if, elif and else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100044C6-7487-4D93-82D8-0CD47B0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Control flow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44C2D81-2D3C-4BEE-A073-723AEF9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937A460B-17AB-453E-A025-3FC62D4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BDD29-1E81-46C4-AA18-08ECA2E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if not 0 &lt;= score &lt;= 100:">
            <a:extLst xmlns:a="http://schemas.openxmlformats.org/drawingml/2006/main">
              <a:ext uri="{FF2B5EF4-FFF2-40B4-BE49-F238E27FC236}">
                <a16:creationId xmlns:a16="http://schemas.microsoft.com/office/drawing/2014/main" id="{9F93F407-0540-4352-AF94-5F3C916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not 0 &lt;= score &lt;= 100:</a:t>
            </a:r>
          </a:p>
        </p:txBody>
      </p:sp>
      <p:sp>
        <p:nvSpPr>
          <p:cNvPr id="7" name="    grade = &quot;Invalid&quot;">
            <a:extLst xmlns:a="http://schemas.openxmlformats.org/drawingml/2006/main">
              <a:ext uri="{FF2B5EF4-FFF2-40B4-BE49-F238E27FC236}">
                <a16:creationId xmlns:a16="http://schemas.microsoft.com/office/drawing/2014/main" id="{87C19021-D9B4-4FE6-A9C6-E622DA7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"Invalid"</a:t>
            </a:r>
          </a:p>
        </p:txBody>
      </p:sp>
      <p:sp>
        <p:nvSpPr>
          <p:cNvPr id="8" name="elif score &gt;= 90:">
            <a:extLst xmlns:a="http://schemas.openxmlformats.org/drawingml/2006/main">
              <a:ext uri="{FF2B5EF4-FFF2-40B4-BE49-F238E27FC236}">
                <a16:creationId xmlns:a16="http://schemas.microsoft.com/office/drawing/2014/main" id="{C2C3755C-431A-46E2-996A-12DF04AF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90:</a:t>
            </a:r>
          </a:p>
        </p:txBody>
      </p:sp>
      <p:sp>
        <p:nvSpPr>
          <p:cNvPr id="9" name="    grade = &quot;A&quot;">
            <a:extLst xmlns:a="http://schemas.openxmlformats.org/drawingml/2006/main">
              <a:ext uri="{FF2B5EF4-FFF2-40B4-BE49-F238E27FC236}">
                <a16:creationId xmlns:a16="http://schemas.microsoft.com/office/drawing/2014/main" id="{78BE02D4-69EC-409E-A9FD-D93ED38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"A"</a:t>
            </a:r>
          </a:p>
        </p:txBody>
      </p:sp>
      <p:sp>
        <p:nvSpPr>
          <p:cNvPr id="10" name="elif score &gt;= 80:">
            <a:extLst xmlns:a="http://schemas.openxmlformats.org/drawingml/2006/main">
              <a:ext uri="{FF2B5EF4-FFF2-40B4-BE49-F238E27FC236}">
                <a16:creationId xmlns:a16="http://schemas.microsoft.com/office/drawing/2014/main" id="{D219913B-EF86-4AE2-B4BB-A3CFCD3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80:</a:t>
            </a:r>
          </a:p>
        </p:txBody>
      </p:sp>
      <p:sp>
        <p:nvSpPr>
          <p:cNvPr id="11" name="    grade = &quot;B&quot;">
            <a:extLst xmlns:a="http://schemas.openxmlformats.org/drawingml/2006/main">
              <a:ext uri="{FF2B5EF4-FFF2-40B4-BE49-F238E27FC236}">
                <a16:creationId xmlns:a16="http://schemas.microsoft.com/office/drawing/2014/main" id="{F0376A2A-DD4A-4814-A438-474731E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"B"</a:t>
            </a:r>
          </a:p>
        </p:txBody>
      </p:sp>
      <p:sp>
        <p:nvSpPr>
          <p:cNvPr id="12" name="else:">
            <a:extLst xmlns:a="http://schemas.openxmlformats.org/drawingml/2006/main">
              <a:ext uri="{FF2B5EF4-FFF2-40B4-BE49-F238E27FC236}">
                <a16:creationId xmlns:a16="http://schemas.microsoft.com/office/drawing/2014/main" id="{5CFFC4EA-C7DE-435C-BD5C-814F870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3" name="    grade = &quot;C or below&quot;">
            <a:extLst xmlns:a="http://schemas.openxmlformats.org/drawingml/2006/main">
              <a:ext uri="{FF2B5EF4-FFF2-40B4-BE49-F238E27FC236}">
                <a16:creationId xmlns:a16="http://schemas.microsoft.com/office/drawing/2014/main" id="{6D3D4A93-F91D-49DB-9B6D-0400E3E9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"C or below"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3A371-52F7-417C-8DF4-39F69BA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print(grade)">
            <a:extLst xmlns:a="http://schemas.openxmlformats.org/drawingml/2006/main">
              <a:ext uri="{FF2B5EF4-FFF2-40B4-BE49-F238E27FC236}">
                <a16:creationId xmlns:a16="http://schemas.microsoft.com/office/drawing/2014/main" id="{1A58D748-4966-4DF5-825B-2C8891B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print(grade)</a:t>
            </a:r>
          </a:p>
        </p:txBody>
      </p:sp>
      <p:sp>
        <p:nvSpPr>
          <p:cNvPr id="16" name="分支按順序判斷">
            <a:extLst xmlns:a="http://schemas.openxmlformats.org/drawingml/2006/main">
              <a:ext uri="{FF2B5EF4-FFF2-40B4-BE49-F238E27FC236}">
                <a16:creationId xmlns:a16="http://schemas.microsoft.com/office/drawing/2014/main" id="{46D45740-FD75-4384-9737-2326819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Branches are tested in order</a:t>
            </a:r>
          </a:p>
        </p:txBody>
      </p:sp>
      <p:sp>
        <p:nvSpPr>
          <p:cNvPr id="17" name="第一個成立的分支執行後， 略過其餘 elif 與 else。">
            <a:extLst xmlns:a="http://schemas.openxmlformats.org/drawingml/2006/main">
              <a:ext uri="{FF2B5EF4-FFF2-40B4-BE49-F238E27FC236}">
                <a16:creationId xmlns:a16="http://schemas.microsoft.com/office/drawing/2014/main" id="{8417070B-1E8E-46D6-B4E1-F5A7147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After the first true branch,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remaining elif and else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branches are skipped.</a:t>
            </a:r>
          </a:p>
        </p:txBody>
      </p:sp>
      <p:sp>
        <p:nvSpPr>
          <p:cNvPr id="18" name="縮排決定歸屬">
            <a:extLst xmlns:a="http://schemas.openxmlformats.org/drawingml/2006/main">
              <a:ext uri="{FF2B5EF4-FFF2-40B4-BE49-F238E27FC236}">
                <a16:creationId xmlns:a16="http://schemas.microsoft.com/office/drawing/2014/main" id="{5DE6D968-AE0C-41ED-BE6A-8BB938C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Indentation sets nesting</a:t>
            </a:r>
          </a:p>
        </p:txBody>
      </p:sp>
      <p:sp>
        <p:nvSpPr>
          <p:cNvPr id="19" name="多個獨立 if 各自判斷。 巢狀 if 表達另一層條件。">
            <a:extLst xmlns:a="http://schemas.openxmlformats.org/drawingml/2006/main">
              <a:ext uri="{FF2B5EF4-FFF2-40B4-BE49-F238E27FC236}">
                <a16:creationId xmlns:a16="http://schemas.microsoft.com/office/drawing/2014/main" id="{F974019B-C2FC-41AA-8ED8-C8233A24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Separate if statements each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test a condition. Nested if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adds another decision level.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AB1BF9E-7C53-42A2-88A8-9FE28A2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B">
            <a:extLst xmlns:a="http://schemas.openxmlformats.org/drawingml/2006/main">
              <a:ext uri="{FF2B5EF4-FFF2-40B4-BE49-F238E27FC236}">
                <a16:creationId xmlns:a16="http://schemas.microsoft.com/office/drawing/2014/main" id="{C882B560-B82A-4A01-9246-D398A53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51516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or、range 與走訪工具">
            <a:extLst xmlns:a="http://schemas.openxmlformats.org/drawingml/2006/main">
              <a:ext uri="{FF2B5EF4-FFF2-40B4-BE49-F238E27FC236}">
                <a16:creationId xmlns:a16="http://schemas.microsoft.com/office/drawing/2014/main" id="{C407B5F8-092A-4FBD-94B6-B9EB972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for, range and iteration tools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39170A23-57A2-45E3-AD79-838E96F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Control flow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5013514-367E-449F-9D85-47F7438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names = [&quot;Amy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EE5B18FF-FAE9-4065-B76C-C1D4665C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["Amy", "Ben"]</a:t>
            </a:r>
          </a:p>
        </p:txBody>
      </p:sp>
      <p:sp>
        <p:nvSpPr>
          <p:cNvPr id="5" name="scores = [85, 92]">
            <a:extLst xmlns:a="http://schemas.openxmlformats.org/drawingml/2006/main">
              <a:ext uri="{FF2B5EF4-FFF2-40B4-BE49-F238E27FC236}">
                <a16:creationId xmlns:a16="http://schemas.microsoft.com/office/drawing/2014/main" id="{C3A6D20D-43C3-4A25-BC02-5C7AD68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scores = [85, 92]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C52E0-1DDB-4757-971F-74D0A5C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for index, name in enumerate(names, 1):">
            <a:extLst xmlns:a="http://schemas.openxmlformats.org/drawingml/2006/main">
              <a:ext uri="{FF2B5EF4-FFF2-40B4-BE49-F238E27FC236}">
                <a16:creationId xmlns:a16="http://schemas.microsoft.com/office/drawing/2014/main" id="{6E80713C-E48E-4C0F-8961-DC36D7F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index, name in enumerate(names, 1):</a:t>
            </a:r>
          </a:p>
        </p:txBody>
      </p:sp>
      <p:sp>
        <p:nvSpPr>
          <p:cNvPr id="8" name="    print(index, name)">
            <a:extLst xmlns:a="http://schemas.openxmlformats.org/drawingml/2006/main">
              <a:ext uri="{FF2B5EF4-FFF2-40B4-BE49-F238E27FC236}">
                <a16:creationId xmlns:a16="http://schemas.microsoft.com/office/drawing/2014/main" id="{33095D13-6B26-4A9F-8E64-0E53B3B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print(index, name)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63C9-281D-4AB8-836D-5E946C7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name, score in zip(names, scores):">
            <a:extLst xmlns:a="http://schemas.openxmlformats.org/drawingml/2006/main">
              <a:ext uri="{FF2B5EF4-FFF2-40B4-BE49-F238E27FC236}">
                <a16:creationId xmlns:a16="http://schemas.microsoft.com/office/drawing/2014/main" id="{8DE887AF-781B-4A74-8F5C-F0F532A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name, score in zip(names, scores):</a:t>
            </a:r>
          </a:p>
        </p:txBody>
      </p:sp>
      <p:sp>
        <p:nvSpPr>
          <p:cNvPr id="11" name="    print(name, score)">
            <a:extLst xmlns:a="http://schemas.openxmlformats.org/drawingml/2006/main">
              <a:ext uri="{FF2B5EF4-FFF2-40B4-BE49-F238E27FC236}">
                <a16:creationId xmlns:a16="http://schemas.microsoft.com/office/drawing/2014/main" id="{42E095C1-FE06-468F-ABBF-B030D28F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print(name, score)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CA55-6891-4864-B9A9-9BF0024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list(range(1, 6, 2)))">
            <a:extLst xmlns:a="http://schemas.openxmlformats.org/drawingml/2006/main">
              <a:ext uri="{FF2B5EF4-FFF2-40B4-BE49-F238E27FC236}">
                <a16:creationId xmlns:a16="http://schemas.microsoft.com/office/drawing/2014/main" id="{EC3CEB2F-E43E-458B-A414-DB9559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print(list(range(1, 6, 2)))</a:t>
            </a:r>
          </a:p>
        </p:txBody>
      </p:sp>
      <p:sp>
        <p:nvSpPr>
          <p:cNvPr id="14" name="for 逐一取得元素">
            <a:extLst xmlns:a="http://schemas.openxmlformats.org/drawingml/2006/main">
              <a:ext uri="{FF2B5EF4-FFF2-40B4-BE49-F238E27FC236}">
                <a16:creationId xmlns:a16="http://schemas.microsoft.com/office/drawing/2014/main" id="{8D759954-1760-438E-BDB5-6B91EB2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for visits each element</a:t>
            </a:r>
          </a:p>
        </p:txBody>
      </p:sp>
      <p:sp>
        <p:nvSpPr>
          <p:cNvPr id="15" name="range 不包含 stop。 enumerate 同時提供編號。">
            <a:extLst xmlns:a="http://schemas.openxmlformats.org/drawingml/2006/main">
              <a:ext uri="{FF2B5EF4-FFF2-40B4-BE49-F238E27FC236}">
                <a16:creationId xmlns:a16="http://schemas.microsoft.com/office/drawing/2014/main" id="{86DE0DAE-71F7-4683-8F50-F6F37B03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range excludes stop.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enumerate also supplies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an index or counter.</a:t>
            </a:r>
          </a:p>
        </p:txBody>
      </p:sp>
      <p:sp>
        <p:nvSpPr>
          <p:cNvPr id="16" name="zip 配對多組資料">
            <a:extLst xmlns:a="http://schemas.openxmlformats.org/drawingml/2006/main">
              <a:ext uri="{FF2B5EF4-FFF2-40B4-BE49-F238E27FC236}">
                <a16:creationId xmlns:a16="http://schemas.microsoft.com/office/drawing/2014/main" id="{E995673C-6464-49D4-9588-3D4DB6B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zip pairs inputs</a:t>
            </a:r>
          </a:p>
        </p:txBody>
      </p:sp>
      <p:sp>
        <p:nvSpPr>
          <p:cNvPr id="17" name="預設走到最短輸入為止。 strict=True 可檢查長度不符。">
            <a:extLst xmlns:a="http://schemas.openxmlformats.org/drawingml/2006/main">
              <a:ext uri="{FF2B5EF4-FFF2-40B4-BE49-F238E27FC236}">
                <a16:creationId xmlns:a16="http://schemas.microsoft.com/office/drawing/2014/main" id="{DF4D7BF7-1E9C-43B8-BE1C-AA8CA2F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 stops at the shortest input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by default. strict=True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checks for unequal lengths.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8D985AB-2108-436F-A2F4-0867A9F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1 Amy    2 Ben    Amy 85    Ben 92    [1, 3, 5]">
            <a:extLst xmlns:a="http://schemas.openxmlformats.org/drawingml/2006/main">
              <a:ext uri="{FF2B5EF4-FFF2-40B4-BE49-F238E27FC236}">
                <a16:creationId xmlns:a16="http://schemas.microsoft.com/office/drawing/2014/main" id="{C9BFA78C-CF9B-4788-AD56-3E6C17A1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Amy    2 Ben    Amy 85    Ben 92    [1, 3, 5]</a:t>
            </a:r>
          </a:p>
        </p:txBody>
      </p:sp>
    </p:spTree>
    <p:extLst>
      <p:ext uri="{BB962C8B-B14F-4D97-AF65-F5344CB8AC3E}">
        <p14:creationId xmlns:p14="http://schemas.microsoft.com/office/powerpoint/2010/main" val="1385004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while、break 與 continue">
            <a:extLst xmlns:a="http://schemas.openxmlformats.org/drawingml/2006/main">
              <a:ext uri="{FF2B5EF4-FFF2-40B4-BE49-F238E27FC236}">
                <a16:creationId xmlns:a16="http://schemas.microsoft.com/office/drawing/2014/main" id="{053B3245-808A-4398-8CC2-A503AB7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while, break and continue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8ACEAC87-2EDE-415F-8637-436D578C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Control flow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0333B79-C1B9-44DB-8767-630C8F1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n = 0">
            <a:extLst xmlns:a="http://schemas.openxmlformats.org/drawingml/2006/main">
              <a:ext uri="{FF2B5EF4-FFF2-40B4-BE49-F238E27FC236}">
                <a16:creationId xmlns:a16="http://schemas.microsoft.com/office/drawing/2014/main" id="{36256AED-6025-4D1D-A59F-3BC0E89D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 = 0</a:t>
            </a:r>
          </a:p>
        </p:txBody>
      </p:sp>
      <p:sp>
        <p:nvSpPr>
          <p:cNvPr id="5" name="while n &lt; 5:">
            <a:extLst xmlns:a="http://schemas.openxmlformats.org/drawingml/2006/main">
              <a:ext uri="{FF2B5EF4-FFF2-40B4-BE49-F238E27FC236}">
                <a16:creationId xmlns:a16="http://schemas.microsoft.com/office/drawing/2014/main" id="{C1683019-B94E-4826-9652-87816B2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while n &lt; 5:</a:t>
            </a:r>
          </a:p>
        </p:txBody>
      </p:sp>
      <p:sp>
        <p:nvSpPr>
          <p:cNvPr id="6" name="    n += 1">
            <a:extLst xmlns:a="http://schemas.openxmlformats.org/drawingml/2006/main">
              <a:ext uri="{FF2B5EF4-FFF2-40B4-BE49-F238E27FC236}">
                <a16:creationId xmlns:a16="http://schemas.microsoft.com/office/drawing/2014/main" id="{3995390F-4B05-46F2-BAA3-7C59B49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 += 1</a:t>
            </a:r>
          </a:p>
        </p:txBody>
      </p:sp>
      <p:sp>
        <p:nvSpPr>
          <p:cNvPr id="7" name="    if n == 2:">
            <a:extLst xmlns:a="http://schemas.openxmlformats.org/drawingml/2006/main">
              <a:ext uri="{FF2B5EF4-FFF2-40B4-BE49-F238E27FC236}">
                <a16:creationId xmlns:a16="http://schemas.microsoft.com/office/drawing/2014/main" id="{AA901519-1F60-4875-8C72-69E0E2F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2:</a:t>
            </a:r>
          </a:p>
        </p:txBody>
      </p:sp>
      <p:sp>
        <p:nvSpPr>
          <p:cNvPr id="8" name="        continue">
            <a:extLst xmlns:a="http://schemas.openxmlformats.org/drawingml/2006/main">
              <a:ext uri="{FF2B5EF4-FFF2-40B4-BE49-F238E27FC236}">
                <a16:creationId xmlns:a16="http://schemas.microsoft.com/office/drawing/2014/main" id="{DFC895C7-ED02-4D29-A6BA-9D73FAA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continue</a:t>
            </a:r>
          </a:p>
        </p:txBody>
      </p:sp>
      <p:sp>
        <p:nvSpPr>
          <p:cNvPr id="9" name="    if n == 4:">
            <a:extLst xmlns:a="http://schemas.openxmlformats.org/drawingml/2006/main">
              <a:ext uri="{FF2B5EF4-FFF2-40B4-BE49-F238E27FC236}">
                <a16:creationId xmlns:a16="http://schemas.microsoft.com/office/drawing/2014/main" id="{449E68E0-9CD9-436C-80FC-1EB8671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4:</a:t>
            </a:r>
          </a:p>
        </p:txBody>
      </p:sp>
      <p:sp>
        <p:nvSpPr>
          <p:cNvPr id="10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6927416-6510-4AE9-8EEA-D88039F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11" name="    print(n)">
            <a:extLst xmlns:a="http://schemas.openxmlformats.org/drawingml/2006/main">
              <a:ext uri="{FF2B5EF4-FFF2-40B4-BE49-F238E27FC236}">
                <a16:creationId xmlns:a16="http://schemas.microsoft.com/office/drawing/2014/main" id="{FE45C9A2-932A-4CC4-A922-E41D8B5B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441D5-5A8D-4459-B7B0-6C1A9D8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&quot;end&quot;, n)">
            <a:extLst xmlns:a="http://schemas.openxmlformats.org/drawingml/2006/main">
              <a:ext uri="{FF2B5EF4-FFF2-40B4-BE49-F238E27FC236}">
                <a16:creationId xmlns:a16="http://schemas.microsoft.com/office/drawing/2014/main" id="{B6542A7F-61BB-4B46-BA7A-7E67F4E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print("end", n)</a:t>
            </a:r>
          </a:p>
        </p:txBody>
      </p:sp>
      <p:sp>
        <p:nvSpPr>
          <p:cNvPr id="14" name="while 先判斷條件">
            <a:extLst xmlns:a="http://schemas.openxmlformats.org/drawingml/2006/main">
              <a:ext uri="{FF2B5EF4-FFF2-40B4-BE49-F238E27FC236}">
                <a16:creationId xmlns:a16="http://schemas.microsoft.com/office/drawing/2014/main" id="{9ACACD2D-8D73-4422-80F7-AAF3ADD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while tests first</a:t>
            </a:r>
          </a:p>
        </p:txBody>
      </p:sp>
      <p:sp>
        <p:nvSpPr>
          <p:cNvPr id="15" name="每次迭代都必須有機會 改變條件或離開迴圈。">
            <a:extLst xmlns:a="http://schemas.openxmlformats.org/drawingml/2006/main">
              <a:ext uri="{FF2B5EF4-FFF2-40B4-BE49-F238E27FC236}">
                <a16:creationId xmlns:a16="http://schemas.microsoft.com/office/drawing/2014/main" id="{8DCCC12E-1284-442F-BA90-90DB220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Each iteration should allow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condition to change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 the loop to exit.</a:t>
            </a:r>
          </a:p>
        </p:txBody>
      </p:sp>
      <p:sp>
        <p:nvSpPr>
          <p:cNvPr id="16" name="兩種離開範圍">
            <a:extLst xmlns:a="http://schemas.openxmlformats.org/drawingml/2006/main">
              <a:ext uri="{FF2B5EF4-FFF2-40B4-BE49-F238E27FC236}">
                <a16:creationId xmlns:a16="http://schemas.microsoft.com/office/drawing/2014/main" id="{21BA5ECE-BDBD-4F8F-BB86-227EC6F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Two control transfers</a:t>
            </a:r>
          </a:p>
        </p:txBody>
      </p:sp>
      <p:sp>
        <p:nvSpPr>
          <p:cNvPr id="17" name="continue 跳過本次剩餘敘述。 break 結束最內層迴圈。">
            <a:extLst xmlns:a="http://schemas.openxmlformats.org/drawingml/2006/main">
              <a:ext uri="{FF2B5EF4-FFF2-40B4-BE49-F238E27FC236}">
                <a16:creationId xmlns:a16="http://schemas.microsoft.com/office/drawing/2014/main" id="{45F79915-CB66-4CD2-8BC5-50F2504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continue skips the rest of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iteration. break ends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innermost loop.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C4020B9-F29C-41C0-B6C2-B44AB3A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1    3    end 4">
            <a:extLst xmlns:a="http://schemas.openxmlformats.org/drawingml/2006/main">
              <a:ext uri="{FF2B5EF4-FFF2-40B4-BE49-F238E27FC236}">
                <a16:creationId xmlns:a16="http://schemas.microsoft.com/office/drawing/2014/main" id="{CA04AA80-D602-4E64-89D0-08426C3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3    end 4</a:t>
            </a:r>
          </a:p>
        </p:txBody>
      </p:sp>
    </p:spTree>
    <p:extLst>
      <p:ext uri="{BB962C8B-B14F-4D97-AF65-F5344CB8AC3E}">
        <p14:creationId xmlns:p14="http://schemas.microsoft.com/office/powerpoint/2010/main" val="722051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迴圈的 else">
            <a:extLst xmlns:a="http://schemas.openxmlformats.org/drawingml/2006/main">
              <a:ext uri="{FF2B5EF4-FFF2-40B4-BE49-F238E27FC236}">
                <a16:creationId xmlns:a16="http://schemas.microsoft.com/office/drawing/2014/main" id="{3E7E2422-F9C4-4E88-8A7F-2256598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else clause on loops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BFFC94C1-2344-43E3-A68B-E01B9CB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Control flow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33C1C014-2BCA-43A3-9FF9-763549C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numbers = [1, 3, 5]">
            <a:extLst xmlns:a="http://schemas.openxmlformats.org/drawingml/2006/main">
              <a:ext uri="{FF2B5EF4-FFF2-40B4-BE49-F238E27FC236}">
                <a16:creationId xmlns:a16="http://schemas.microsoft.com/office/drawing/2014/main" id="{D299225D-7953-42A4-A3AF-09245BC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numbers = [1, 3, 5]</a:t>
            </a:r>
          </a:p>
        </p:txBody>
      </p:sp>
      <p:sp>
        <p:nvSpPr>
          <p:cNvPr id="5" name="for n in numbers:">
            <a:extLst xmlns:a="http://schemas.openxmlformats.org/drawingml/2006/main">
              <a:ext uri="{FF2B5EF4-FFF2-40B4-BE49-F238E27FC236}">
                <a16:creationId xmlns:a16="http://schemas.microsoft.com/office/drawing/2014/main" id="{164FA3F0-7E88-409E-82E5-0C28461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n in numbers:</a:t>
            </a:r>
          </a:p>
        </p:txBody>
      </p:sp>
      <p:sp>
        <p:nvSpPr>
          <p:cNvPr id="6" name="    if n % 2 == 0:">
            <a:extLst xmlns:a="http://schemas.openxmlformats.org/drawingml/2006/main">
              <a:ext uri="{FF2B5EF4-FFF2-40B4-BE49-F238E27FC236}">
                <a16:creationId xmlns:a16="http://schemas.microsoft.com/office/drawing/2014/main" id="{DA49308C-B474-45A7-9574-D4C6344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% 2 == 0:</a:t>
            </a:r>
          </a:p>
        </p:txBody>
      </p:sp>
      <p:sp>
        <p:nvSpPr>
          <p:cNvPr id="7" name="        print(&quot;Even found&quot;)">
            <a:extLst xmlns:a="http://schemas.openxmlformats.org/drawingml/2006/main">
              <a:ext uri="{FF2B5EF4-FFF2-40B4-BE49-F238E27FC236}">
                <a16:creationId xmlns:a16="http://schemas.microsoft.com/office/drawing/2014/main" id="{6A05C07F-2042-41E7-9D30-25EF6C1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print("Even found")</a:t>
            </a:r>
          </a:p>
        </p:txBody>
      </p:sp>
      <p:sp>
        <p:nvSpPr>
          <p:cNvPr id="8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0495E7F-72FD-4123-9144-37F14D2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9" name="else:">
            <a:extLst xmlns:a="http://schemas.openxmlformats.org/drawingml/2006/main">
              <a:ext uri="{FF2B5EF4-FFF2-40B4-BE49-F238E27FC236}">
                <a16:creationId xmlns:a16="http://schemas.microsoft.com/office/drawing/2014/main" id="{EF5B49F3-A9F1-45B9-AC41-6B57FBC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0" name="    print(&quot;No even number&quot;)">
            <a:extLst xmlns:a="http://schemas.openxmlformats.org/drawingml/2006/main">
              <a:ext uri="{FF2B5EF4-FFF2-40B4-BE49-F238E27FC236}">
                <a16:creationId xmlns:a16="http://schemas.microsoft.com/office/drawing/2014/main" id="{C879D74E-2B62-497A-8D36-AD44F9A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print("No even number")</a:t>
            </a:r>
          </a:p>
        </p:txBody>
      </p:sp>
      <p:sp>
        <p:nvSpPr>
          <p:cNvPr id="11" name="else 屬於 for">
            <a:extLst xmlns:a="http://schemas.openxmlformats.org/drawingml/2006/main">
              <a:ext uri="{FF2B5EF4-FFF2-40B4-BE49-F238E27FC236}">
                <a16:creationId xmlns:a16="http://schemas.microsoft.com/office/drawing/2014/main" id="{E5CAD4A4-F67E-48CB-9941-B755D0C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else belongs to for</a:t>
            </a:r>
          </a:p>
        </p:txBody>
      </p:sp>
      <p:sp>
        <p:nvSpPr>
          <p:cNvPr id="12" name="正常走完 iterable 時執行。 while 條件變假時也可執行。">
            <a:extLst xmlns:a="http://schemas.openxmlformats.org/drawingml/2006/main">
              <a:ext uri="{FF2B5EF4-FFF2-40B4-BE49-F238E27FC236}">
                <a16:creationId xmlns:a16="http://schemas.microsoft.com/office/drawing/2014/main" id="{0BFF4FB6-7074-4469-8B55-F63C619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Runs after normal exhaustion.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while else also runs when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condition becomes false.</a:t>
            </a:r>
          </a:p>
        </p:txBody>
      </p:sp>
      <p:sp>
        <p:nvSpPr>
          <p:cNvPr id="13" name="提早退出會跳過 else">
            <a:extLst xmlns:a="http://schemas.openxmlformats.org/drawingml/2006/main">
              <a:ext uri="{FF2B5EF4-FFF2-40B4-BE49-F238E27FC236}">
                <a16:creationId xmlns:a16="http://schemas.microsoft.com/office/drawing/2014/main" id="{31AFE5D3-64A2-4F9B-A443-567B94A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Early exit skips else</a:t>
            </a:r>
          </a:p>
        </p:txBody>
      </p:sp>
      <p:sp>
        <p:nvSpPr>
          <p:cNvPr id="14" name="break、return 或向外傳播 的例外，都不會執行此 else。">
            <a:extLst xmlns:a="http://schemas.openxmlformats.org/drawingml/2006/main">
              <a:ext uri="{FF2B5EF4-FFF2-40B4-BE49-F238E27FC236}">
                <a16:creationId xmlns:a16="http://schemas.microsoft.com/office/drawing/2014/main" id="{3E17E580-D406-4CE2-AECD-B4EF90AB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break, return and an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exception propagating outward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all skip this else clause.</a:t>
            </a:r>
          </a:p>
        </p:txBody>
      </p:sp>
      <p:sp>
        <p:nvSpPr>
          <p:cNvPr id="1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F658076-83BE-4183-B5FA-8CF1B2D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6" name="No even number">
            <a:extLst xmlns:a="http://schemas.openxmlformats.org/drawingml/2006/main">
              <a:ext uri="{FF2B5EF4-FFF2-40B4-BE49-F238E27FC236}">
                <a16:creationId xmlns:a16="http://schemas.microsoft.com/office/drawing/2014/main" id="{41EE8471-163E-426E-B2A7-63D84E5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No even number</a:t>
            </a:r>
          </a:p>
        </p:txBody>
      </p:sp>
    </p:spTree>
    <p:extLst>
      <p:ext uri="{BB962C8B-B14F-4D97-AF65-F5344CB8AC3E}">
        <p14:creationId xmlns:p14="http://schemas.microsoft.com/office/powerpoint/2010/main" val="20578913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tch / case 結構模式比對">
            <a:extLst xmlns:a="http://schemas.openxmlformats.org/drawingml/2006/main">
              <a:ext uri="{FF2B5EF4-FFF2-40B4-BE49-F238E27FC236}">
                <a16:creationId xmlns:a16="http://schemas.microsoft.com/office/drawing/2014/main" id="{F5B0F45A-335F-4982-8BC0-7D14116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Structural pattern matching with match / case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70C28DB1-05B2-4F41-87AC-7F24F9B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Control flow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61A9015-4921-46E4-829E-4E8FE42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ommand = (&quot;move&quot;, 10, 20)">
            <a:extLst xmlns:a="http://schemas.openxmlformats.org/drawingml/2006/main">
              <a:ext uri="{FF2B5EF4-FFF2-40B4-BE49-F238E27FC236}">
                <a16:creationId xmlns:a16="http://schemas.microsoft.com/office/drawing/2014/main" id="{F8B1ED92-9270-4162-AF29-36F25A6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command = ("move", 10, 20)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C9F3-5291-453C-8533-017BA387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match command:">
            <a:extLst xmlns:a="http://schemas.openxmlformats.org/drawingml/2006/main">
              <a:ext uri="{FF2B5EF4-FFF2-40B4-BE49-F238E27FC236}">
                <a16:creationId xmlns:a16="http://schemas.microsoft.com/office/drawing/2014/main" id="{D3D55426-032B-4CA0-980E-831FCAA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match command:</a:t>
            </a:r>
          </a:p>
        </p:txBody>
      </p:sp>
      <p:sp>
        <p:nvSpPr>
          <p:cNvPr id="7" name="    case (&quot;move&quot;, x, y) if x &gt;= 0:">
            <a:extLst xmlns:a="http://schemas.openxmlformats.org/drawingml/2006/main">
              <a:ext uri="{FF2B5EF4-FFF2-40B4-BE49-F238E27FC236}">
                <a16:creationId xmlns:a16="http://schemas.microsoft.com/office/drawing/2014/main" id="{753A6F5C-EEFE-415E-BEC6-022248B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("move", x, y) if x &gt;= 0:</a:t>
            </a:r>
          </a:p>
        </p:txBody>
      </p:sp>
      <p:sp>
        <p:nvSpPr>
          <p:cNvPr id="8" name="        print(x, y)">
            <a:extLst xmlns:a="http://schemas.openxmlformats.org/drawingml/2006/main">
              <a:ext uri="{FF2B5EF4-FFF2-40B4-BE49-F238E27FC236}">
                <a16:creationId xmlns:a16="http://schemas.microsoft.com/office/drawing/2014/main" id="{680E7008-8E06-4917-B858-7E5CA74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print(x, y)</a:t>
            </a:r>
          </a:p>
        </p:txBody>
      </p:sp>
      <p:sp>
        <p:nvSpPr>
          <p:cNvPr id="9" name="    case (&quot;quit&quot;,):">
            <a:extLst xmlns:a="http://schemas.openxmlformats.org/drawingml/2006/main">
              <a:ext uri="{FF2B5EF4-FFF2-40B4-BE49-F238E27FC236}">
                <a16:creationId xmlns:a16="http://schemas.microsoft.com/office/drawing/2014/main" id="{4EBCB525-6D9C-4E0E-8292-B1777B3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("quit",):</a:t>
            </a:r>
          </a:p>
        </p:txBody>
      </p:sp>
      <p:sp>
        <p:nvSpPr>
          <p:cNvPr id="10" name="        print(&quot;Bye&quot;)">
            <a:extLst xmlns:a="http://schemas.openxmlformats.org/drawingml/2006/main">
              <a:ext uri="{FF2B5EF4-FFF2-40B4-BE49-F238E27FC236}">
                <a16:creationId xmlns:a16="http://schemas.microsoft.com/office/drawing/2014/main" id="{1DEE7ADC-AD57-4BF6-AE31-A9092D7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print("Bye")</a:t>
            </a:r>
          </a:p>
        </p:txBody>
      </p:sp>
      <p:sp>
        <p:nvSpPr>
          <p:cNvPr id="11" name="    case _:">
            <a:extLst xmlns:a="http://schemas.openxmlformats.org/drawingml/2006/main">
              <a:ext uri="{FF2B5EF4-FFF2-40B4-BE49-F238E27FC236}">
                <a16:creationId xmlns:a16="http://schemas.microsoft.com/office/drawing/2014/main" id="{412313A7-7914-4907-92F4-5F92A28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_:</a:t>
            </a:r>
          </a:p>
        </p:txBody>
      </p:sp>
      <p:sp>
        <p:nvSpPr>
          <p:cNvPr id="12" name="        print(&quot;Unknown&quot;)">
            <a:extLst xmlns:a="http://schemas.openxmlformats.org/drawingml/2006/main">
              <a:ext uri="{FF2B5EF4-FFF2-40B4-BE49-F238E27FC236}">
                <a16:creationId xmlns:a16="http://schemas.microsoft.com/office/drawing/2014/main" id="{85755954-36F7-499E-8F0D-669B949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print("Unknown")</a:t>
            </a:r>
          </a:p>
        </p:txBody>
      </p:sp>
      <p:sp>
        <p:nvSpPr>
          <p:cNvPr id="13" name="模式可解包資料">
            <a:extLst xmlns:a="http://schemas.openxmlformats.org/drawingml/2006/main">
              <a:ext uri="{FF2B5EF4-FFF2-40B4-BE49-F238E27FC236}">
                <a16:creationId xmlns:a16="http://schemas.microsoft.com/office/drawing/2014/main" id="{E3F53C2D-BD02-4F6F-BAEC-82480E1B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Patterns unpack data</a:t>
            </a:r>
          </a:p>
        </p:txBody>
      </p:sp>
      <p:sp>
        <p:nvSpPr>
          <p:cNvPr id="14" name="x、y 會繫結到匹配的值。 if 是附加的 guard 條件。">
            <a:extLst xmlns:a="http://schemas.openxmlformats.org/drawingml/2006/main">
              <a:ext uri="{FF2B5EF4-FFF2-40B4-BE49-F238E27FC236}">
                <a16:creationId xmlns:a16="http://schemas.microsoft.com/office/drawing/2014/main" id="{6984CE38-7090-4C6D-94FA-B126084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x and y bind to matched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values. if adds a guard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condition.</a:t>
            </a:r>
          </a:p>
        </p:txBody>
      </p:sp>
      <p:sp>
        <p:nvSpPr>
          <p:cNvPr id="15" name="第一個匹配分支執行">
            <a:extLst xmlns:a="http://schemas.openxmlformats.org/drawingml/2006/main">
              <a:ext uri="{FF2B5EF4-FFF2-40B4-BE49-F238E27FC236}">
                <a16:creationId xmlns:a16="http://schemas.microsoft.com/office/drawing/2014/main" id="{C06101F8-E4E9-4127-A22F-EA93616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First matching case runs</a:t>
            </a:r>
          </a:p>
        </p:txBody>
      </p:sp>
      <p:sp>
        <p:nvSpPr>
          <p:cNvPr id="16" name="_ 表示萬用模式。 裸名稱通常是捕捉名稱。">
            <a:extLst xmlns:a="http://schemas.openxmlformats.org/drawingml/2006/main">
              <a:ext uri="{FF2B5EF4-FFF2-40B4-BE49-F238E27FC236}">
                <a16:creationId xmlns:a16="http://schemas.microsoft.com/office/drawing/2014/main" id="{B7DE63EE-7832-4E54-B09D-4BE677AF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 is a wildcard.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bare name usually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captures a value.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AC6496-0F27-4837-BE84-FCB8D19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10 20">
            <a:extLst xmlns:a="http://schemas.openxmlformats.org/drawingml/2006/main">
              <a:ext uri="{FF2B5EF4-FFF2-40B4-BE49-F238E27FC236}">
                <a16:creationId xmlns:a16="http://schemas.microsoft.com/office/drawing/2014/main" id="{43A984B6-4BB9-4FBB-8E1C-4A3F122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</a:t>
            </a:r>
          </a:p>
        </p:txBody>
      </p:sp>
    </p:spTree>
    <p:extLst>
      <p:ext uri="{BB962C8B-B14F-4D97-AF65-F5344CB8AC3E}">
        <p14:creationId xmlns:p14="http://schemas.microsoft.com/office/powerpoint/2010/main" val="19052408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核心容器的差異">
            <a:extLst xmlns:a="http://schemas.openxmlformats.org/drawingml/2006/main">
              <a:ext uri="{FF2B5EF4-FFF2-40B4-BE49-F238E27FC236}">
                <a16:creationId xmlns:a16="http://schemas.microsoft.com/office/drawing/2014/main" id="{1AC5A0A7-04F3-43A9-8E58-16FDEEF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Comparing core containers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8091E59-64FA-45BC-9A80-99F6174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B2D39F41-934A-4D52-B23B-ACF2CB2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952875"/>
                <a:gridCol w="5019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Container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Order and constraints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sequence that can grow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shrink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Ordered, allows duplicates, mutable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tuple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fixed structure of values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Ordered, allows duplicates, immutable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Maps keys to values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Insertion order. Keys must be hashable.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Unique elements and set operations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positional index. Hashable elements.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frozenset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 immutable set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Usable as a dict key or set element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空 list 是 []，空 tuple 是 ()，空 dict 是 {}，空 set 是 set()。">
            <a:extLst xmlns:a="http://schemas.openxmlformats.org/drawingml/2006/main">
              <a:ext uri="{FF2B5EF4-FFF2-40B4-BE49-F238E27FC236}">
                <a16:creationId xmlns:a16="http://schemas.microsoft.com/office/drawing/2014/main" id="{9DDBF3D0-8938-47D9-8922-47DEA3A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Empty containers: list [], tuple (), dict {}, set set().</a:t>
            </a:r>
          </a:p>
        </p:txBody>
      </p:sp>
    </p:spTree>
    <p:extLst>
      <p:ext uri="{BB962C8B-B14F-4D97-AF65-F5344CB8AC3E}">
        <p14:creationId xmlns:p14="http://schemas.microsoft.com/office/powerpoint/2010/main" val="30098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ist 的新增、刪除與切片">
            <a:extLst xmlns:a="http://schemas.openxmlformats.org/drawingml/2006/main">
              <a:ext uri="{FF2B5EF4-FFF2-40B4-BE49-F238E27FC236}">
                <a16:creationId xmlns:a16="http://schemas.microsoft.com/office/drawing/2014/main" id="{071EA19E-933B-401B-A325-6A879FF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Adding, removing and slicing lists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C76A152D-3E64-489E-AFD9-0431AB5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572D858B-F251-4199-847B-3D7016B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items = [10, 20]">
            <a:extLst xmlns:a="http://schemas.openxmlformats.org/drawingml/2006/main">
              <a:ext uri="{FF2B5EF4-FFF2-40B4-BE49-F238E27FC236}">
                <a16:creationId xmlns:a16="http://schemas.microsoft.com/office/drawing/2014/main" id="{A925DD95-EB1F-46C1-ABBC-CC2C06A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[10, 20]</a:t>
            </a:r>
          </a:p>
        </p:txBody>
      </p:sp>
      <p:sp>
        <p:nvSpPr>
          <p:cNvPr id="5" name="items.append([30, 40])">
            <a:extLst xmlns:a="http://schemas.openxmlformats.org/drawingml/2006/main">
              <a:ext uri="{FF2B5EF4-FFF2-40B4-BE49-F238E27FC236}">
                <a16:creationId xmlns:a16="http://schemas.microsoft.com/office/drawing/2014/main" id="{8CCC3C9E-8C24-4BFC-A611-2AC4A94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items.append([30, 40])</a:t>
            </a:r>
          </a:p>
        </p:txBody>
      </p:sp>
      <p:sp>
        <p:nvSpPr>
          <p:cNvPr id="6" name="items.extend([50, 60])">
            <a:extLst xmlns:a="http://schemas.openxmlformats.org/drawingml/2006/main">
              <a:ext uri="{FF2B5EF4-FFF2-40B4-BE49-F238E27FC236}">
                <a16:creationId xmlns:a16="http://schemas.microsoft.com/office/drawing/2014/main" id="{28127CF4-6A5A-42F8-923F-73C6AE0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items.extend([50, 60])</a:t>
            </a:r>
          </a:p>
        </p:txBody>
      </p:sp>
      <p:sp>
        <p:nvSpPr>
          <p:cNvPr id="7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C6E6B0D-25DA-4DDB-A2E1-D18E4B6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170D-D06F-4587-94DB-C8601A1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ast = items.pop()">
            <a:extLst xmlns:a="http://schemas.openxmlformats.org/drawingml/2006/main">
              <a:ext uri="{FF2B5EF4-FFF2-40B4-BE49-F238E27FC236}">
                <a16:creationId xmlns:a16="http://schemas.microsoft.com/office/drawing/2014/main" id="{4DE8A037-4740-4D3F-9FA4-E6294C8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last = items.pop()</a:t>
            </a:r>
          </a:p>
        </p:txBody>
      </p:sp>
      <p:sp>
        <p:nvSpPr>
          <p:cNvPr id="10" name="items.remove(20)">
            <a:extLst xmlns:a="http://schemas.openxmlformats.org/drawingml/2006/main">
              <a:ext uri="{FF2B5EF4-FFF2-40B4-BE49-F238E27FC236}">
                <a16:creationId xmlns:a16="http://schemas.microsoft.com/office/drawing/2014/main" id="{472C2A73-787A-4ACE-89D4-EE8EC43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items.remove(20)</a:t>
            </a:r>
          </a:p>
        </p:txBody>
      </p:sp>
      <p:sp>
        <p:nvSpPr>
          <p:cNvPr id="11" name="del items[0]">
            <a:extLst xmlns:a="http://schemas.openxmlformats.org/drawingml/2006/main">
              <a:ext uri="{FF2B5EF4-FFF2-40B4-BE49-F238E27FC236}">
                <a16:creationId xmlns:a16="http://schemas.microsoft.com/office/drawing/2014/main" id="{FF94DE0C-BF71-4007-9582-40B8F6B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items[0]</a:t>
            </a:r>
          </a:p>
        </p:txBody>
      </p:sp>
      <p:sp>
        <p:nvSpPr>
          <p:cNvPr id="12" name="print(last, items)">
            <a:extLst xmlns:a="http://schemas.openxmlformats.org/drawingml/2006/main">
              <a:ext uri="{FF2B5EF4-FFF2-40B4-BE49-F238E27FC236}">
                <a16:creationId xmlns:a16="http://schemas.microsoft.com/office/drawing/2014/main" id="{7F40A43C-ED67-47E1-97B4-D820AE8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print(last, items)</a:t>
            </a:r>
          </a:p>
        </p:txBody>
      </p:sp>
      <p:sp>
        <p:nvSpPr>
          <p:cNvPr id="13" name="print(items[:1])">
            <a:extLst xmlns:a="http://schemas.openxmlformats.org/drawingml/2006/main">
              <a:ext uri="{FF2B5EF4-FFF2-40B4-BE49-F238E27FC236}">
                <a16:creationId xmlns:a16="http://schemas.microsoft.com/office/drawing/2014/main" id="{0BEAC484-E0F0-49B7-AF18-D83BA1A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print(items[:1])</a:t>
            </a:r>
          </a:p>
        </p:txBody>
      </p:sp>
      <p:sp>
        <p:nvSpPr>
          <p:cNvPr id="14" name="append 與 extend">
            <a:extLst xmlns:a="http://schemas.openxmlformats.org/drawingml/2006/main">
              <a:ext uri="{FF2B5EF4-FFF2-40B4-BE49-F238E27FC236}">
                <a16:creationId xmlns:a16="http://schemas.microsoft.com/office/drawing/2014/main" id="{FA1CD7AF-2494-4D9F-BDC9-3E01950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append and extend</a:t>
            </a:r>
          </a:p>
        </p:txBody>
      </p:sp>
      <p:sp>
        <p:nvSpPr>
          <p:cNvPr id="15" name="append 加入一個元素。 extend 逐項加入 iterable。">
            <a:extLst xmlns:a="http://schemas.openxmlformats.org/drawingml/2006/main">
              <a:ext uri="{FF2B5EF4-FFF2-40B4-BE49-F238E27FC236}">
                <a16:creationId xmlns:a16="http://schemas.microsoft.com/office/drawing/2014/main" id="{2C59DEA2-C17D-4025-AD42-E5B64FA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 adds one element.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extend adds each element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from an iterable.</a:t>
            </a:r>
          </a:p>
        </p:txBody>
      </p:sp>
      <p:sp>
        <p:nvSpPr>
          <p:cNvPr id="16" name="刪除與取值">
            <a:extLst xmlns:a="http://schemas.openxmlformats.org/drawingml/2006/main">
              <a:ext uri="{FF2B5EF4-FFF2-40B4-BE49-F238E27FC236}">
                <a16:creationId xmlns:a16="http://schemas.microsoft.com/office/drawing/2014/main" id="{8CEBAA2A-7B9D-4984-ADA4-999AB97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Removal and retrieval</a:t>
            </a:r>
          </a:p>
        </p:txBody>
      </p:sp>
      <p:sp>
        <p:nvSpPr>
          <p:cNvPr id="17" name="pop 刪除並回傳元素。 remove 刪除首個相等值。">
            <a:extLst xmlns:a="http://schemas.openxmlformats.org/drawingml/2006/main">
              <a:ext uri="{FF2B5EF4-FFF2-40B4-BE49-F238E27FC236}">
                <a16:creationId xmlns:a16="http://schemas.microsoft.com/office/drawing/2014/main" id="{82894DF5-D0F6-438B-8119-F827C94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pop removes and returns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 element. remove deletes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first equal value.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824924-EAC8-499E-86AB-7691CFAE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[10, 20, [30, 40], 50, 60]    60 [[30, 40], 50]    [[30">
            <a:extLst xmlns:a="http://schemas.openxmlformats.org/drawingml/2006/main">
              <a:ext uri="{FF2B5EF4-FFF2-40B4-BE49-F238E27FC236}">
                <a16:creationId xmlns:a16="http://schemas.microsoft.com/office/drawing/2014/main" id="{5DACE9B2-BBD1-44C4-9EE4-BDBED8A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[10, 20, [30, 40], 50, 60]    60 [[30, 40], 50]    [[30, 40]]</a:t>
            </a:r>
          </a:p>
        </p:txBody>
      </p:sp>
    </p:spTree>
    <p:extLst>
      <p:ext uri="{BB962C8B-B14F-4D97-AF65-F5344CB8AC3E}">
        <p14:creationId xmlns:p14="http://schemas.microsoft.com/office/powerpoint/2010/main" val="18901998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原地排序與建立新序列">
            <a:extLst xmlns:a="http://schemas.openxmlformats.org/drawingml/2006/main">
              <a:ext uri="{FF2B5EF4-FFF2-40B4-BE49-F238E27FC236}">
                <a16:creationId xmlns:a16="http://schemas.microsoft.com/office/drawing/2014/main" id="{303AE565-6340-445F-A9F1-79213A58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Sorting in place and creating new lists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89440172-3465-43A0-8E31-684FDF9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242243D2-9DD7-41F0-9BA9-1DF6823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values = [3, 1, 2]">
            <a:extLst xmlns:a="http://schemas.openxmlformats.org/drawingml/2006/main">
              <a:ext uri="{FF2B5EF4-FFF2-40B4-BE49-F238E27FC236}">
                <a16:creationId xmlns:a16="http://schemas.microsoft.com/office/drawing/2014/main" id="{5C6E0440-9C5B-4D61-9BDD-7CBB0C6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1, 2]</a:t>
            </a:r>
          </a:p>
        </p:txBody>
      </p:sp>
      <p:sp>
        <p:nvSpPr>
          <p:cNvPr id="5" name="ordered = sorted(values)">
            <a:extLst xmlns:a="http://schemas.openxmlformats.org/drawingml/2006/main">
              <a:ext uri="{FF2B5EF4-FFF2-40B4-BE49-F238E27FC236}">
                <a16:creationId xmlns:a16="http://schemas.microsoft.com/office/drawing/2014/main" id="{873A367A-60C2-457E-988B-4BEFF15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ordered = sorted(values)</a:t>
            </a:r>
          </a:p>
        </p:txBody>
      </p:sp>
      <p:sp>
        <p:nvSpPr>
          <p:cNvPr id="6" name="print(values, ordered)">
            <a:extLst xmlns:a="http://schemas.openxmlformats.org/drawingml/2006/main">
              <a:ext uri="{FF2B5EF4-FFF2-40B4-BE49-F238E27FC236}">
                <a16:creationId xmlns:a16="http://schemas.microsoft.com/office/drawing/2014/main" id="{EEE036AD-F955-4A14-95B4-0FB0CF3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print(values, ordered)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2020C-24E1-4923-82A4-8594DB4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result = values.sort(reverse=True)">
            <a:extLst xmlns:a="http://schemas.openxmlformats.org/drawingml/2006/main">
              <a:ext uri="{FF2B5EF4-FFF2-40B4-BE49-F238E27FC236}">
                <a16:creationId xmlns:a16="http://schemas.microsoft.com/office/drawing/2014/main" id="{53B72E43-1316-43F8-A19D-8E3F6BF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result = values.sort(reverse=True)</a:t>
            </a:r>
          </a:p>
        </p:txBody>
      </p:sp>
      <p:sp>
        <p:nvSpPr>
          <p:cNvPr id="9" name="print(values)">
            <a:extLst xmlns:a="http://schemas.openxmlformats.org/drawingml/2006/main">
              <a:ext uri="{FF2B5EF4-FFF2-40B4-BE49-F238E27FC236}">
                <a16:creationId xmlns:a16="http://schemas.microsoft.com/office/drawing/2014/main" id="{C3089AAC-4620-48E3-A00D-10A9D68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print(values)</a:t>
            </a:r>
          </a:p>
        </p:txBody>
      </p:sp>
      <p:sp>
        <p:nvSpPr>
          <p:cNvPr id="10" name="print(result)">
            <a:extLst xmlns:a="http://schemas.openxmlformats.org/drawingml/2006/main">
              <a:ext uri="{FF2B5EF4-FFF2-40B4-BE49-F238E27FC236}">
                <a16:creationId xmlns:a16="http://schemas.microsoft.com/office/drawing/2014/main" id="{2EF0D6C0-B675-4D4A-9692-AB758A8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print(result)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3C11D-A096-417B-88F9-15CBD91B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reversed(values)))">
            <a:extLst xmlns:a="http://schemas.openxmlformats.org/drawingml/2006/main">
              <a:ext uri="{FF2B5EF4-FFF2-40B4-BE49-F238E27FC236}">
                <a16:creationId xmlns:a16="http://schemas.microsoft.com/office/drawing/2014/main" id="{4555F674-0E05-4905-A8BA-B419500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print(list(reversed(values)))</a:t>
            </a:r>
          </a:p>
        </p:txBody>
      </p:sp>
      <p:sp>
        <p:nvSpPr>
          <p:cNvPr id="13" name="sorted 接受 iterable">
            <a:extLst xmlns:a="http://schemas.openxmlformats.org/drawingml/2006/main">
              <a:ext uri="{FF2B5EF4-FFF2-40B4-BE49-F238E27FC236}">
                <a16:creationId xmlns:a16="http://schemas.microsoft.com/office/drawing/2014/main" id="{C201156A-47B7-4386-B316-1BD5516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sorted accepts an iterable</a:t>
            </a:r>
          </a:p>
        </p:txBody>
      </p:sp>
      <p:sp>
        <p:nvSpPr>
          <p:cNvPr id="14" name="回傳新的 list， 保留原本 values 的順序。">
            <a:extLst xmlns:a="http://schemas.openxmlformats.org/drawingml/2006/main">
              <a:ext uri="{FF2B5EF4-FFF2-40B4-BE49-F238E27FC236}">
                <a16:creationId xmlns:a16="http://schemas.microsoft.com/office/drawing/2014/main" id="{B876105C-808D-4500-AF9E-19D8AD1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Returns a new list and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keeps the original order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of values unchanged.</a:t>
            </a:r>
          </a:p>
        </p:txBody>
      </p:sp>
      <p:sp>
        <p:nvSpPr>
          <p:cNvPr id="15" name="sort 修改原 list">
            <a:extLst xmlns:a="http://schemas.openxmlformats.org/drawingml/2006/main">
              <a:ext uri="{FF2B5EF4-FFF2-40B4-BE49-F238E27FC236}">
                <a16:creationId xmlns:a16="http://schemas.microsoft.com/office/drawing/2014/main" id="{C094AE15-4A91-449F-8FAF-36AC9B8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sort changes the list</a:t>
            </a:r>
          </a:p>
        </p:txBody>
      </p:sp>
      <p:sp>
        <p:nvSpPr>
          <p:cNvPr id="16" name="sort 的回傳值是 None。 reversed 回傳反向迭代器。">
            <a:extLst xmlns:a="http://schemas.openxmlformats.org/drawingml/2006/main">
              <a:ext uri="{FF2B5EF4-FFF2-40B4-BE49-F238E27FC236}">
                <a16:creationId xmlns:a16="http://schemas.microsoft.com/office/drawing/2014/main" id="{3A9A91B3-8162-4A89-956B-F073EFF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sort returns None.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reversed returns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reverse iterator.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AE4AD3F-4A15-4BB9-BB5A-15AAEEA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[3, 1, 2] [1, 2, 3]    [3, 2, 1]    None    [1, 2, 3]">
            <a:extLst xmlns:a="http://schemas.openxmlformats.org/drawingml/2006/main">
              <a:ext uri="{FF2B5EF4-FFF2-40B4-BE49-F238E27FC236}">
                <a16:creationId xmlns:a16="http://schemas.microsoft.com/office/drawing/2014/main" id="{DB291544-CACF-433E-A7FC-27CC25C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[3, 1, 2] [1, 2, 3]    [3, 2, 1]    None    [1, 2, 3]</a:t>
            </a:r>
          </a:p>
        </p:txBody>
      </p:sp>
    </p:spTree>
    <p:extLst>
      <p:ext uri="{BB962C8B-B14F-4D97-AF65-F5344CB8AC3E}">
        <p14:creationId xmlns:p14="http://schemas.microsoft.com/office/powerpoint/2010/main" val="20220247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uple、打包與解包">
            <a:extLst xmlns:a="http://schemas.openxmlformats.org/drawingml/2006/main">
              <a:ext uri="{FF2B5EF4-FFF2-40B4-BE49-F238E27FC236}">
                <a16:creationId xmlns:a16="http://schemas.microsoft.com/office/drawing/2014/main" id="{0810E94F-4577-44EE-BE23-405CA31F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Tuples, packing and unpacking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7CDF6D40-DF86-4D34-89EC-BF88ACAA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EB1C8329-3F9C-4658-B327-145DF7FB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point = 10, 20">
            <a:extLst xmlns:a="http://schemas.openxmlformats.org/drawingml/2006/main">
              <a:ext uri="{FF2B5EF4-FFF2-40B4-BE49-F238E27FC236}">
                <a16:creationId xmlns:a16="http://schemas.microsoft.com/office/drawing/2014/main" id="{4EE57E79-ECCD-4E10-9DAB-0310A5B2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point = 10, 20</a:t>
            </a:r>
          </a:p>
        </p:txBody>
      </p:sp>
      <p:sp>
        <p:nvSpPr>
          <p:cNvPr id="5" name="x, y = point">
            <a:extLst xmlns:a="http://schemas.openxmlformats.org/drawingml/2006/main">
              <a:ext uri="{FF2B5EF4-FFF2-40B4-BE49-F238E27FC236}">
                <a16:creationId xmlns:a16="http://schemas.microsoft.com/office/drawing/2014/main" id="{76475514-CAC1-486A-8901-43AB0F4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point</a:t>
            </a:r>
          </a:p>
        </p:txBody>
      </p:sp>
      <p:sp>
        <p:nvSpPr>
          <p:cNvPr id="6" name="print(x, y)">
            <a:extLst xmlns:a="http://schemas.openxmlformats.org/drawingml/2006/main">
              <a:ext uri="{FF2B5EF4-FFF2-40B4-BE49-F238E27FC236}">
                <a16:creationId xmlns:a16="http://schemas.microsoft.com/office/drawing/2014/main" id="{00F1FE9A-BAD2-444F-9685-F5875C4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7" name="print(type((10,)).__name__)">
            <a:extLst xmlns:a="http://schemas.openxmlformats.org/drawingml/2006/main">
              <a:ext uri="{FF2B5EF4-FFF2-40B4-BE49-F238E27FC236}">
                <a16:creationId xmlns:a16="http://schemas.microsoft.com/office/drawing/2014/main" id="{7499FC34-5390-4DB7-BBBF-A11D9B8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print(type((10,)).__name__)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562A-DC11-4A89-9E82-FF9F13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ord = (&quot;Amy&quot;, [80, 90])">
            <a:extLst xmlns:a="http://schemas.openxmlformats.org/drawingml/2006/main">
              <a:ext uri="{FF2B5EF4-FFF2-40B4-BE49-F238E27FC236}">
                <a16:creationId xmlns:a16="http://schemas.microsoft.com/office/drawing/2014/main" id="{997F8611-C524-40BC-8E4C-8E3A4E62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("Amy", [80, 90])</a:t>
            </a:r>
          </a:p>
        </p:txBody>
      </p:sp>
      <p:sp>
        <p:nvSpPr>
          <p:cNvPr id="10" name="record[1].append(100)">
            <a:extLst xmlns:a="http://schemas.openxmlformats.org/drawingml/2006/main">
              <a:ext uri="{FF2B5EF4-FFF2-40B4-BE49-F238E27FC236}">
                <a16:creationId xmlns:a16="http://schemas.microsoft.com/office/drawing/2014/main" id="{8503D8B2-DFA6-479F-834C-E6B4A1F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record[1].append(100)</a:t>
            </a:r>
          </a:p>
        </p:txBody>
      </p:sp>
      <p:sp>
        <p:nvSpPr>
          <p:cNvPr id="11" name="print(record)">
            <a:extLst xmlns:a="http://schemas.openxmlformats.org/drawingml/2006/main">
              <a:ext uri="{FF2B5EF4-FFF2-40B4-BE49-F238E27FC236}">
                <a16:creationId xmlns:a16="http://schemas.microsoft.com/office/drawing/2014/main" id="{EB8318DE-6F16-4D86-A425-7FFA7EF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print(record)</a:t>
            </a:r>
          </a:p>
        </p:txBody>
      </p:sp>
      <p:sp>
        <p:nvSpPr>
          <p:cNvPr id="12" name="逗號形成 tuple">
            <a:extLst xmlns:a="http://schemas.openxmlformats.org/drawingml/2006/main">
              <a:ext uri="{FF2B5EF4-FFF2-40B4-BE49-F238E27FC236}">
                <a16:creationId xmlns:a16="http://schemas.microsoft.com/office/drawing/2014/main" id="{8D410005-6066-4DA7-A676-B871479A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comma makes a tuple</a:t>
            </a:r>
          </a:p>
        </p:txBody>
      </p:sp>
      <p:sp>
        <p:nvSpPr>
          <p:cNvPr id="13" name="(10,) 是單元素 tuple。 (10) 只是加上括號的整數。">
            <a:extLst xmlns:a="http://schemas.openxmlformats.org/drawingml/2006/main">
              <a:ext uri="{FF2B5EF4-FFF2-40B4-BE49-F238E27FC236}">
                <a16:creationId xmlns:a16="http://schemas.microsoft.com/office/drawing/2014/main" id="{8097015E-217F-4CF2-88A9-21A469B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(10,) is a one-element tuple.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(10) is just an integer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 parentheses.</a:t>
            </a:r>
          </a:p>
        </p:txBody>
      </p:sp>
      <p:sp>
        <p:nvSpPr>
          <p:cNvPr id="14" name="外層不可變">
            <a:extLst xmlns:a="http://schemas.openxmlformats.org/drawingml/2006/main">
              <a:ext uri="{FF2B5EF4-FFF2-40B4-BE49-F238E27FC236}">
                <a16:creationId xmlns:a16="http://schemas.microsoft.com/office/drawing/2014/main" id="{0133AD42-E26E-49B7-8CC7-C5C5BA7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outer tuple is immutable</a:t>
            </a:r>
          </a:p>
        </p:txBody>
      </p:sp>
      <p:sp>
        <p:nvSpPr>
          <p:cNvPr id="15" name="tuple 內的 list 仍可修改。 元素全可雜湊，tuple 才可雜湊。">
            <a:extLst xmlns:a="http://schemas.openxmlformats.org/drawingml/2006/main">
              <a:ext uri="{FF2B5EF4-FFF2-40B4-BE49-F238E27FC236}">
                <a16:creationId xmlns:a16="http://schemas.microsoft.com/office/drawing/2014/main" id="{59D3CB41-9343-43CB-A42B-90985C1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list inside can still change.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tuple is hashable only if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all its elements are hashable.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3B73B0-A4D1-4E8F-AC2D-4CE9585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10 20    tuple    ('Amy', [80, 90, 100])">
            <a:extLst xmlns:a="http://schemas.openxmlformats.org/drawingml/2006/main">
              <a:ext uri="{FF2B5EF4-FFF2-40B4-BE49-F238E27FC236}">
                <a16:creationId xmlns:a16="http://schemas.microsoft.com/office/drawing/2014/main" id="{5936FD19-5944-4A8F-8586-750D214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    tuple    ('Amy', [80, 90, 100])</a:t>
            </a:r>
          </a:p>
        </p:txBody>
      </p:sp>
    </p:spTree>
    <p:extLst>
      <p:ext uri="{BB962C8B-B14F-4D97-AF65-F5344CB8AC3E}">
        <p14:creationId xmlns:p14="http://schemas.microsoft.com/office/powerpoint/2010/main" val="1953641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ict 的查找與走訪">
            <a:extLst xmlns:a="http://schemas.openxmlformats.org/drawingml/2006/main">
              <a:ext uri="{FF2B5EF4-FFF2-40B4-BE49-F238E27FC236}">
                <a16:creationId xmlns:a16="http://schemas.microsoft.com/office/drawing/2014/main" id="{1C89291A-D100-4D9B-ABD1-947C296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Dictionary lookup and iteration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AF74D1D1-3401-4E83-AEA0-C7C06CCD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8065E9E2-BCF6-4C84-8D19-4897B57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4" name="student = {&quot;name&quot;: &quot;Amy&quot;, &quot;score&quot;: 85}">
            <a:extLst xmlns:a="http://schemas.openxmlformats.org/drawingml/2006/main">
              <a:ext uri="{FF2B5EF4-FFF2-40B4-BE49-F238E27FC236}">
                <a16:creationId xmlns:a16="http://schemas.microsoft.com/office/drawing/2014/main" id="{97B9C283-3DB0-40CD-AB99-24C9C60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 = {"name": "Amy", "score": 85}</a:t>
            </a:r>
          </a:p>
        </p:txBody>
      </p:sp>
      <p:sp>
        <p:nvSpPr>
          <p:cNvPr id="5" name="student[&quot;score&quot;] = 90">
            <a:extLst xmlns:a="http://schemas.openxmlformats.org/drawingml/2006/main">
              <a:ext uri="{FF2B5EF4-FFF2-40B4-BE49-F238E27FC236}">
                <a16:creationId xmlns:a16="http://schemas.microsoft.com/office/drawing/2014/main" id="{34C819D1-8E67-46A1-9059-FB8923E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student["score"] = 90</a:t>
            </a:r>
          </a:p>
        </p:txBody>
      </p:sp>
      <p:sp>
        <p:nvSpPr>
          <p:cNvPr id="6" name="print(student.get(&quot;age&quot;, &quot;Unknown&quot;))">
            <a:extLst xmlns:a="http://schemas.openxmlformats.org/drawingml/2006/main">
              <a:ext uri="{FF2B5EF4-FFF2-40B4-BE49-F238E27FC236}">
                <a16:creationId xmlns:a16="http://schemas.microsoft.com/office/drawing/2014/main" id="{0D14003E-71E1-4697-BDFF-58483A5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print(student.get("age", "Unknown"))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29E1-F73C-4429-9191-4A38972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 key, value in student.items():">
            <a:extLst xmlns:a="http://schemas.openxmlformats.org/drawingml/2006/main">
              <a:ext uri="{FF2B5EF4-FFF2-40B4-BE49-F238E27FC236}">
                <a16:creationId xmlns:a16="http://schemas.microsoft.com/office/drawing/2014/main" id="{9FCD71E4-080D-4F6C-B3C5-787FDEC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key, value in student.items():</a:t>
            </a:r>
          </a:p>
        </p:txBody>
      </p:sp>
      <p:sp>
        <p:nvSpPr>
          <p:cNvPr id="9" name="    print(key, value)">
            <a:extLst xmlns:a="http://schemas.openxmlformats.org/drawingml/2006/main">
              <a:ext uri="{FF2B5EF4-FFF2-40B4-BE49-F238E27FC236}">
                <a16:creationId xmlns:a16="http://schemas.microsoft.com/office/drawing/2014/main" id="{6FBE33EC-5971-4B70-974F-22BBBB9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print(key, value)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8C97E-707E-4617-826D-823072E3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name&quot; in student)">
            <a:extLst xmlns:a="http://schemas.openxmlformats.org/drawingml/2006/main">
              <a:ext uri="{FF2B5EF4-FFF2-40B4-BE49-F238E27FC236}">
                <a16:creationId xmlns:a16="http://schemas.microsoft.com/office/drawing/2014/main" id="{CD2C27FC-0E07-41B0-ADCA-23AC16A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print("name" in student)</a:t>
            </a:r>
          </a:p>
        </p:txBody>
      </p:sp>
      <p:sp>
        <p:nvSpPr>
          <p:cNvPr id="12" name="print(student.pop(&quot;score&quot;))">
            <a:extLst xmlns:a="http://schemas.openxmlformats.org/drawingml/2006/main">
              <a:ext uri="{FF2B5EF4-FFF2-40B4-BE49-F238E27FC236}">
                <a16:creationId xmlns:a16="http://schemas.microsoft.com/office/drawing/2014/main" id="{D27E9EA7-E8AD-4184-A6F9-5A6F310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print(student.pop("score"))</a:t>
            </a:r>
          </a:p>
        </p:txBody>
      </p:sp>
      <p:sp>
        <p:nvSpPr>
          <p:cNvPr id="13" name="鍵值對應">
            <a:extLst xmlns:a="http://schemas.openxmlformats.org/drawingml/2006/main">
              <a:ext uri="{FF2B5EF4-FFF2-40B4-BE49-F238E27FC236}">
                <a16:creationId xmlns:a16="http://schemas.microsoft.com/office/drawing/2014/main" id="{CCC5A68B-2FD7-4BAE-8B53-96A9184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Keys map to values</a:t>
            </a:r>
          </a:p>
        </p:txBody>
      </p:sp>
      <p:sp>
        <p:nvSpPr>
          <p:cNvPr id="14" name="d[key] 缺少鍵時產生 KeyError。 get 可指定缺少鍵時的結果。">
            <a:extLst xmlns:a="http://schemas.openxmlformats.org/drawingml/2006/main">
              <a:ext uri="{FF2B5EF4-FFF2-40B4-BE49-F238E27FC236}">
                <a16:creationId xmlns:a16="http://schemas.microsoft.com/office/drawing/2014/main" id="{9B96AE7A-36DE-40C7-B887-0E2C3F3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d[key] raises KeyError when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key is absent. get lets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you provide a default.</a:t>
            </a:r>
          </a:p>
        </p:txBody>
      </p:sp>
      <p:sp>
        <p:nvSpPr>
          <p:cNvPr id="15" name="in 檢查鍵">
            <a:extLst xmlns:a="http://schemas.openxmlformats.org/drawingml/2006/main">
              <a:ext uri="{FF2B5EF4-FFF2-40B4-BE49-F238E27FC236}">
                <a16:creationId xmlns:a16="http://schemas.microsoft.com/office/drawing/2014/main" id="{49A2FE4C-5E28-41D2-9E60-BCAF171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 checks keys</a:t>
            </a:r>
          </a:p>
        </p:txBody>
      </p:sp>
      <p:sp>
        <p:nvSpPr>
          <p:cNvPr id="16" name="items 產生鍵值配對。 鍵必須可雜湊，例如 str、int。">
            <a:extLst xmlns:a="http://schemas.openxmlformats.org/drawingml/2006/main">
              <a:ext uri="{FF2B5EF4-FFF2-40B4-BE49-F238E27FC236}">
                <a16:creationId xmlns:a16="http://schemas.microsoft.com/office/drawing/2014/main" id="{94CAEE09-C584-4BB7-A6C8-C690263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items yields key-value pairs.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Keys must be hashable,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for example str or int.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A1A974B-D8AE-41FB-94B6-F663D83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Unknown    name Amy    score 90    True    90">
            <a:extLst xmlns:a="http://schemas.openxmlformats.org/drawingml/2006/main">
              <a:ext uri="{FF2B5EF4-FFF2-40B4-BE49-F238E27FC236}">
                <a16:creationId xmlns:a16="http://schemas.microsoft.com/office/drawing/2014/main" id="{B5ECD728-5601-4165-99F1-0D49E6D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Unknown    name Amy    score 90    True    90</a:t>
            </a:r>
          </a:p>
        </p:txBody>
      </p:sp>
    </p:spTree>
    <p:extLst>
      <p:ext uri="{BB962C8B-B14F-4D97-AF65-F5344CB8AC3E}">
        <p14:creationId xmlns:p14="http://schemas.microsoft.com/office/powerpoint/2010/main" val="3549181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t 與集合運算">
            <a:extLst xmlns:a="http://schemas.openxmlformats.org/drawingml/2006/main">
              <a:ext uri="{FF2B5EF4-FFF2-40B4-BE49-F238E27FC236}">
                <a16:creationId xmlns:a16="http://schemas.microsoft.com/office/drawing/2014/main" id="{FD0583D4-3AFB-4DF3-BE6A-8CA25B0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Sets and set operations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96EBB034-3EFA-4F93-A74F-B014A67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231058F-2604-429F-9B66-1FB4FC0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a = {1, 2, 3}">
            <a:extLst xmlns:a="http://schemas.openxmlformats.org/drawingml/2006/main">
              <a:ext uri="{FF2B5EF4-FFF2-40B4-BE49-F238E27FC236}">
                <a16:creationId xmlns:a16="http://schemas.microsoft.com/office/drawing/2014/main" id="{8624E3AC-2190-4413-B143-2DC85FB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{1, 2, 3}</a:t>
            </a:r>
          </a:p>
        </p:txBody>
      </p:sp>
      <p:sp>
        <p:nvSpPr>
          <p:cNvPr id="5" name="b = {3, 4}">
            <a:extLst xmlns:a="http://schemas.openxmlformats.org/drawingml/2006/main">
              <a:ext uri="{FF2B5EF4-FFF2-40B4-BE49-F238E27FC236}">
                <a16:creationId xmlns:a16="http://schemas.microsoft.com/office/drawing/2014/main" id="{4CB5ADB9-2B5C-423B-B397-0300AC2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{3, 4}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0F01-A7B4-4326-BB72-D4CD752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orted(a | b))">
            <a:extLst xmlns:a="http://schemas.openxmlformats.org/drawingml/2006/main">
              <a:ext uri="{FF2B5EF4-FFF2-40B4-BE49-F238E27FC236}">
                <a16:creationId xmlns:a16="http://schemas.microsoft.com/office/drawing/2014/main" id="{7994A95E-9538-46A5-A794-DE8E546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| b))</a:t>
            </a:r>
          </a:p>
        </p:txBody>
      </p:sp>
      <p:sp>
        <p:nvSpPr>
          <p:cNvPr id="8" name="print(sorted(a &amp; b))">
            <a:extLst xmlns:a="http://schemas.openxmlformats.org/drawingml/2006/main">
              <a:ext uri="{FF2B5EF4-FFF2-40B4-BE49-F238E27FC236}">
                <a16:creationId xmlns:a16="http://schemas.microsoft.com/office/drawing/2014/main" id="{4B00BE94-CF77-4555-B4BD-4BA1D9F6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&amp; b))</a:t>
            </a:r>
          </a:p>
        </p:txBody>
      </p:sp>
      <p:sp>
        <p:nvSpPr>
          <p:cNvPr id="9" name="print(sorted(a - b))">
            <a:extLst xmlns:a="http://schemas.openxmlformats.org/drawingml/2006/main">
              <a:ext uri="{FF2B5EF4-FFF2-40B4-BE49-F238E27FC236}">
                <a16:creationId xmlns:a16="http://schemas.microsoft.com/office/drawing/2014/main" id="{191D848F-951D-4F1E-BC45-84AEEA3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- b))</a:t>
            </a:r>
          </a:p>
        </p:txBody>
      </p:sp>
      <p:sp>
        <p:nvSpPr>
          <p:cNvPr id="10" name="print(sorted(a ^ b))">
            <a:extLst xmlns:a="http://schemas.openxmlformats.org/drawingml/2006/main">
              <a:ext uri="{FF2B5EF4-FFF2-40B4-BE49-F238E27FC236}">
                <a16:creationId xmlns:a16="http://schemas.microsoft.com/office/drawing/2014/main" id="{CE71C09E-830E-44E1-968A-CDBCE64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^ b))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28ACA-844B-4992-8FD3-E8D7B3A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.add(4)">
            <a:extLst xmlns:a="http://schemas.openxmlformats.org/drawingml/2006/main">
              <a:ext uri="{FF2B5EF4-FFF2-40B4-BE49-F238E27FC236}">
                <a16:creationId xmlns:a16="http://schemas.microsoft.com/office/drawing/2014/main" id="{72C73572-F125-451B-9053-8A276AF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a.add(4)</a:t>
            </a:r>
          </a:p>
        </p:txBody>
      </p:sp>
      <p:sp>
        <p:nvSpPr>
          <p:cNvPr id="13" name="a.discard(99)">
            <a:extLst xmlns:a="http://schemas.openxmlformats.org/drawingml/2006/main">
              <a:ext uri="{FF2B5EF4-FFF2-40B4-BE49-F238E27FC236}">
                <a16:creationId xmlns:a16="http://schemas.microsoft.com/office/drawing/2014/main" id="{ED6BDDEB-582C-409C-8B47-D28AF8B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a.discard(99)</a:t>
            </a:r>
          </a:p>
        </p:txBody>
      </p:sp>
      <p:sp>
        <p:nvSpPr>
          <p:cNvPr id="14" name="print(4 in a)">
            <a:extLst xmlns:a="http://schemas.openxmlformats.org/drawingml/2006/main">
              <a:ext uri="{FF2B5EF4-FFF2-40B4-BE49-F238E27FC236}">
                <a16:creationId xmlns:a16="http://schemas.microsoft.com/office/drawing/2014/main" id="{5031EF8E-9353-47E0-A318-24B1E57E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print(4 in a)</a:t>
            </a:r>
          </a:p>
        </p:txBody>
      </p:sp>
      <p:sp>
        <p:nvSpPr>
          <p:cNvPr id="15" name="唯一值與成員判斷">
            <a:extLst xmlns:a="http://schemas.openxmlformats.org/drawingml/2006/main">
              <a:ext uri="{FF2B5EF4-FFF2-40B4-BE49-F238E27FC236}">
                <a16:creationId xmlns:a16="http://schemas.microsoft.com/office/drawing/2014/main" id="{8174F32A-8074-41F8-8D0D-AC6B2C8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Unique values and membership</a:t>
            </a:r>
          </a:p>
        </p:txBody>
      </p:sp>
      <p:sp>
        <p:nvSpPr>
          <p:cNvPr id="16" name="| 聯集、&amp; 交集。 - 差集、^ 對稱差集。">
            <a:extLst xmlns:a="http://schemas.openxmlformats.org/drawingml/2006/main">
              <a:ext uri="{FF2B5EF4-FFF2-40B4-BE49-F238E27FC236}">
                <a16:creationId xmlns:a16="http://schemas.microsoft.com/office/drawing/2014/main" id="{D73A1E45-6BAA-4FC0-8B1C-99C65564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| union, &amp; intersection.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- difference,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^ symmetric difference.</a:t>
            </a:r>
          </a:p>
        </p:txBody>
      </p:sp>
      <p:sp>
        <p:nvSpPr>
          <p:cNvPr id="17" name="集合沒有索引">
            <a:extLst xmlns:a="http://schemas.openxmlformats.org/drawingml/2006/main">
              <a:ext uri="{FF2B5EF4-FFF2-40B4-BE49-F238E27FC236}">
                <a16:creationId xmlns:a16="http://schemas.microsoft.com/office/drawing/2014/main" id="{76122610-C938-474B-96ED-14A1F84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Sets have no indices</a:t>
            </a:r>
          </a:p>
        </p:txBody>
      </p:sp>
      <p:sp>
        <p:nvSpPr>
          <p:cNvPr id="18" name="輸出前 sorted 可固定順序。 discard 缺少元素時不報錯。">
            <a:extLst xmlns:a="http://schemas.openxmlformats.org/drawingml/2006/main">
              <a:ext uri="{FF2B5EF4-FFF2-40B4-BE49-F238E27FC236}">
                <a16:creationId xmlns:a16="http://schemas.microsoft.com/office/drawing/2014/main" id="{BC504456-8ED0-4F64-BEC2-B9B2297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sorted fixes the output order.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discard does not fail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if the element is absent.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C11E4A4-D32F-476E-9DE2-F4A8942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[1, 2, 3, 4]    [3]    [1, 2]    [1, 2, 4]    True">
            <a:extLst xmlns:a="http://schemas.openxmlformats.org/drawingml/2006/main">
              <a:ext uri="{FF2B5EF4-FFF2-40B4-BE49-F238E27FC236}">
                <a16:creationId xmlns:a16="http://schemas.microsoft.com/office/drawing/2014/main" id="{0416F349-D27E-4E79-AE27-2051183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3, 4]    [3]    [1, 2]    [1, 2, 4]    True</a:t>
            </a:r>
          </a:p>
        </p:txBody>
      </p:sp>
    </p:spTree>
    <p:extLst>
      <p:ext uri="{BB962C8B-B14F-4D97-AF65-F5344CB8AC3E}">
        <p14:creationId xmlns:p14="http://schemas.microsoft.com/office/powerpoint/2010/main" val="4928486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星號解包與資料合併">
            <a:extLst xmlns:a="http://schemas.openxmlformats.org/drawingml/2006/main">
              <a:ext uri="{FF2B5EF4-FFF2-40B4-BE49-F238E27FC236}">
                <a16:creationId xmlns:a16="http://schemas.microsoft.com/office/drawing/2014/main" id="{E4E3CBCE-40C3-40E5-9793-6901461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Starred unpacking and merging data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45EAE34-80DD-4398-8DA1-51A2A04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CBD27472-0B1B-4E0E-A7DC-28F21B48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first, *middle, last = [1, 2, 3, 4]">
            <a:extLst xmlns:a="http://schemas.openxmlformats.org/drawingml/2006/main">
              <a:ext uri="{FF2B5EF4-FFF2-40B4-BE49-F238E27FC236}">
                <a16:creationId xmlns:a16="http://schemas.microsoft.com/office/drawing/2014/main" id="{C59100CF-2E64-4CE4-9269-F5666E6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first, *middle, last = [1, 2, 3, 4]</a:t>
            </a:r>
          </a:p>
        </p:txBody>
      </p:sp>
      <p:sp>
        <p:nvSpPr>
          <p:cNvPr id="5" name="print(first, middle, last)">
            <a:extLst xmlns:a="http://schemas.openxmlformats.org/drawingml/2006/main">
              <a:ext uri="{FF2B5EF4-FFF2-40B4-BE49-F238E27FC236}">
                <a16:creationId xmlns:a16="http://schemas.microsoft.com/office/drawing/2014/main" id="{9E88F7A6-0DBF-4668-9983-89C33A95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print(first, middle, last)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068FF-ED04-4B8F-AB88-1F810FA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[1, 2]">
            <a:extLst xmlns:a="http://schemas.openxmlformats.org/drawingml/2006/main">
              <a:ext uri="{FF2B5EF4-FFF2-40B4-BE49-F238E27FC236}">
                <a16:creationId xmlns:a16="http://schemas.microsoft.com/office/drawing/2014/main" id="{0119C05B-3506-4E35-AAC8-D6CDC80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8" name="print([0, *a, 3])">
            <a:extLst xmlns:a="http://schemas.openxmlformats.org/drawingml/2006/main">
              <a:ext uri="{FF2B5EF4-FFF2-40B4-BE49-F238E27FC236}">
                <a16:creationId xmlns:a16="http://schemas.microsoft.com/office/drawing/2014/main" id="{D4644B0F-9A5E-40CD-B867-82CCCBE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print([0, *a, 3])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608E7-7776-442D-B37E-9741C4E1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ase = {&quot;color&quot;: &quot;blue&quot;, &quot;size&quot;: 2}">
            <a:extLst xmlns:a="http://schemas.openxmlformats.org/drawingml/2006/main">
              <a:ext uri="{FF2B5EF4-FFF2-40B4-BE49-F238E27FC236}">
                <a16:creationId xmlns:a16="http://schemas.microsoft.com/office/drawing/2014/main" id="{2BA124A8-FCEF-484C-A51E-F63A085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base = {"color": "blue", "size": 2}</a:t>
            </a:r>
          </a:p>
        </p:txBody>
      </p:sp>
      <p:sp>
        <p:nvSpPr>
          <p:cNvPr id="11" name="merged = {**base, &quot;size&quot;: 3}">
            <a:extLst xmlns:a="http://schemas.openxmlformats.org/drawingml/2006/main">
              <a:ext uri="{FF2B5EF4-FFF2-40B4-BE49-F238E27FC236}">
                <a16:creationId xmlns:a16="http://schemas.microsoft.com/office/drawing/2014/main" id="{DE615899-C820-4C7A-B442-4A5791E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merged = {**base, "size": 3}</a:t>
            </a:r>
          </a:p>
        </p:txBody>
      </p:sp>
      <p:sp>
        <p:nvSpPr>
          <p:cNvPr id="12" name="print(merged)">
            <a:extLst xmlns:a="http://schemas.openxmlformats.org/drawingml/2006/main">
              <a:ext uri="{FF2B5EF4-FFF2-40B4-BE49-F238E27FC236}">
                <a16:creationId xmlns:a16="http://schemas.microsoft.com/office/drawing/2014/main" id="{080B4ECE-9388-4889-91EA-A904BE3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print(merged)</a:t>
            </a:r>
          </a:p>
        </p:txBody>
      </p:sp>
      <p:sp>
        <p:nvSpPr>
          <p:cNvPr id="13" name="* 收集或展開序列">
            <a:extLst xmlns:a="http://schemas.openxmlformats.org/drawingml/2006/main">
              <a:ext uri="{FF2B5EF4-FFF2-40B4-BE49-F238E27FC236}">
                <a16:creationId xmlns:a16="http://schemas.microsoft.com/office/drawing/2014/main" id="{1210DCBD-6B3A-4582-AD81-A19287D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* collects or expands</a:t>
            </a:r>
          </a:p>
        </p:txBody>
      </p:sp>
      <p:sp>
        <p:nvSpPr>
          <p:cNvPr id="14" name="指定時的星號目標得到 list。 呼叫函式時也可用 * 展開。">
            <a:extLst xmlns:a="http://schemas.openxmlformats.org/drawingml/2006/main">
              <a:ext uri="{FF2B5EF4-FFF2-40B4-BE49-F238E27FC236}">
                <a16:creationId xmlns:a16="http://schemas.microsoft.com/office/drawing/2014/main" id="{0092637E-1D69-444A-BADA-2FE58DE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starred assignment target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receives a list. * can also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unpack arguments in a call.</a:t>
            </a:r>
          </a:p>
        </p:txBody>
      </p:sp>
      <p:sp>
        <p:nvSpPr>
          <p:cNvPr id="15" name="** 展開鍵值對">
            <a:extLst xmlns:a="http://schemas.openxmlformats.org/drawingml/2006/main">
              <a:ext uri="{FF2B5EF4-FFF2-40B4-BE49-F238E27FC236}">
                <a16:creationId xmlns:a16="http://schemas.microsoft.com/office/drawing/2014/main" id="{927BF182-F7BA-4225-A59C-E0C4BEE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** expands mappings</a:t>
            </a:r>
          </a:p>
        </p:txBody>
      </p:sp>
      <p:sp>
        <p:nvSpPr>
          <p:cNvPr id="16" name="字典常值中較後的同名鍵 覆蓋前面的值。">
            <a:extLst xmlns:a="http://schemas.openxmlformats.org/drawingml/2006/main">
              <a:ext uri="{FF2B5EF4-FFF2-40B4-BE49-F238E27FC236}">
                <a16:creationId xmlns:a16="http://schemas.microsoft.com/office/drawing/2014/main" id="{45881383-2711-4AFD-B77F-7648E41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 a dictionary literal,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later duplicate key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replaces the earlier value.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592EE93-D609-4702-8706-72A8AB0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1 [2, 3] 4    [0, 1, 2, 3]    {'color': 'blue', 'size':">
            <a:extLst xmlns:a="http://schemas.openxmlformats.org/drawingml/2006/main">
              <a:ext uri="{FF2B5EF4-FFF2-40B4-BE49-F238E27FC236}">
                <a16:creationId xmlns:a16="http://schemas.microsoft.com/office/drawing/2014/main" id="{475F9ECB-E783-4086-95E5-B4C9507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[2, 3] 4    [0, 1, 2, 3]    {'color': 'blue', 'size': 3}</a:t>
            </a:r>
          </a:p>
        </p:txBody>
      </p:sp>
    </p:spTree>
    <p:extLst>
      <p:ext uri="{BB962C8B-B14F-4D97-AF65-F5344CB8AC3E}">
        <p14:creationId xmlns:p14="http://schemas.microsoft.com/office/powerpoint/2010/main" val="15874766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ist、dict 與 set 推導式">
            <a:extLst xmlns:a="http://schemas.openxmlformats.org/drawingml/2006/main">
              <a:ext uri="{FF2B5EF4-FFF2-40B4-BE49-F238E27FC236}">
                <a16:creationId xmlns:a16="http://schemas.microsoft.com/office/drawing/2014/main" id="{AFC37511-3055-4B19-BD1D-7C4DD7C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List, dict and set comprehensions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33295E7E-AC4C-44A1-9468-0A1C9B2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F422E9C3-BD6A-40F9-9D48-378263B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nums = [1, 2, 2, 3]">
            <a:extLst xmlns:a="http://schemas.openxmlformats.org/drawingml/2006/main">
              <a:ext uri="{FF2B5EF4-FFF2-40B4-BE49-F238E27FC236}">
                <a16:creationId xmlns:a16="http://schemas.microsoft.com/office/drawing/2014/main" id="{A9C910C8-9919-49EB-9B9E-BC63DF3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nums = [1, 2, 2, 3]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2CCA9-E3C6-4949-BAF9-9F231DB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int([n * n for n in nums if n &gt; 1])">
            <a:extLst xmlns:a="http://schemas.openxmlformats.org/drawingml/2006/main">
              <a:ext uri="{FF2B5EF4-FFF2-40B4-BE49-F238E27FC236}">
                <a16:creationId xmlns:a16="http://schemas.microsoft.com/office/drawing/2014/main" id="{34620536-D318-43CF-B6DE-13D87C5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print([n * n for n in nums if n &gt; 1])</a:t>
            </a:r>
          </a:p>
        </p:txBody>
      </p:sp>
      <p:sp>
        <p:nvSpPr>
          <p:cNvPr id="7" name="print({n: n * n for n in nums})">
            <a:extLst xmlns:a="http://schemas.openxmlformats.org/drawingml/2006/main">
              <a:ext uri="{FF2B5EF4-FFF2-40B4-BE49-F238E27FC236}">
                <a16:creationId xmlns:a16="http://schemas.microsoft.com/office/drawing/2014/main" id="{794C15C9-09E4-40D2-908E-649CD84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print({n: n * n for n in nums})</a:t>
            </a:r>
          </a:p>
        </p:txBody>
      </p:sp>
      <p:sp>
        <p:nvSpPr>
          <p:cNvPr id="8" name="print(sorted({n % 2 for n in nums}))">
            <a:extLst xmlns:a="http://schemas.openxmlformats.org/drawingml/2006/main">
              <a:ext uri="{FF2B5EF4-FFF2-40B4-BE49-F238E27FC236}">
                <a16:creationId xmlns:a16="http://schemas.microsoft.com/office/drawing/2014/main" id="{DEC5EA64-9DEE-43B1-BA44-1ECD0ED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print(sorted({n % 2 for n in nums}))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9A230-ADF8-438B-92ED-9D6E62E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grid = [[1, 2], [3, 4]]">
            <a:extLst xmlns:a="http://schemas.openxmlformats.org/drawingml/2006/main">
              <a:ext uri="{FF2B5EF4-FFF2-40B4-BE49-F238E27FC236}">
                <a16:creationId xmlns:a16="http://schemas.microsoft.com/office/drawing/2014/main" id="{6A13AAD8-F44E-4C69-A0C8-BFC6964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grid = [[1, 2], [3, 4]]</a:t>
            </a:r>
          </a:p>
        </p:txBody>
      </p:sp>
      <p:sp>
        <p:nvSpPr>
          <p:cNvPr id="11" name="print([x for row in grid for x in row])">
            <a:extLst xmlns:a="http://schemas.openxmlformats.org/drawingml/2006/main">
              <a:ext uri="{FF2B5EF4-FFF2-40B4-BE49-F238E27FC236}">
                <a16:creationId xmlns:a16="http://schemas.microsoft.com/office/drawing/2014/main" id="{9146B401-5AE1-4807-8E5C-FFACC40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print([x for row in grid for x in row])</a:t>
            </a:r>
          </a:p>
        </p:txBody>
      </p:sp>
      <p:sp>
        <p:nvSpPr>
          <p:cNvPr id="12" name="轉換與篩選">
            <a:extLst xmlns:a="http://schemas.openxmlformats.org/drawingml/2006/main">
              <a:ext uri="{FF2B5EF4-FFF2-40B4-BE49-F238E27FC236}">
                <a16:creationId xmlns:a16="http://schemas.microsoft.com/office/drawing/2014/main" id="{338F7982-7A62-4253-AC40-BCD96A2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Transforming and filtering</a:t>
            </a:r>
          </a:p>
        </p:txBody>
      </p:sp>
      <p:sp>
        <p:nvSpPr>
          <p:cNvPr id="13" name="for 指定資料來源， 尾端 if 決定保留哪些元素。">
            <a:extLst xmlns:a="http://schemas.openxmlformats.org/drawingml/2006/main">
              <a:ext uri="{FF2B5EF4-FFF2-40B4-BE49-F238E27FC236}">
                <a16:creationId xmlns:a16="http://schemas.microsoft.com/office/drawing/2014/main" id="{71152757-CDAB-4E6A-9C04-E8E057A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 selects the data source.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trailing if decides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which elements to keep.</a:t>
            </a:r>
          </a:p>
        </p:txBody>
      </p:sp>
      <p:sp>
        <p:nvSpPr>
          <p:cNvPr id="14" name="巢狀順序由左到右">
            <a:extLst xmlns:a="http://schemas.openxmlformats.org/drawingml/2006/main">
              <a:ext uri="{FF2B5EF4-FFF2-40B4-BE49-F238E27FC236}">
                <a16:creationId xmlns:a16="http://schemas.microsoft.com/office/drawing/2014/main" id="{570D6A42-4B5B-426E-9152-D98DC79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Nested order is left to right</a:t>
            </a:r>
          </a:p>
        </p:txBody>
      </p:sp>
      <p:sp>
        <p:nvSpPr>
          <p:cNvPr id="15" name="先取得 row，再走訪 row。 複雜邏輯可改寫成一般迴圈。">
            <a:extLst xmlns:a="http://schemas.openxmlformats.org/drawingml/2006/main">
              <a:ext uri="{FF2B5EF4-FFF2-40B4-BE49-F238E27FC236}">
                <a16:creationId xmlns:a16="http://schemas.microsoft.com/office/drawing/2014/main" id="{0DC260FA-1D02-4D66-A957-28B5A20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Get a row, then iterate over it.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 ordinary loops when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logic becomes complex.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C4EDCEF-A5F4-4C24-A26E-3BC9FB8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[4, 4, 9]    {1: 1, 2: 4, 3: 9}    [0, 1]    [1, 2, 3, ">
            <a:extLst xmlns:a="http://schemas.openxmlformats.org/drawingml/2006/main">
              <a:ext uri="{FF2B5EF4-FFF2-40B4-BE49-F238E27FC236}">
                <a16:creationId xmlns:a16="http://schemas.microsoft.com/office/drawing/2014/main" id="{95419422-6E3A-447A-9F76-79001F4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[4, 4, 9]    {1: 1, 2: 4, 3: 9}    [0, 1]    [1, 2, 3, 4]</a:t>
            </a:r>
          </a:p>
        </p:txBody>
      </p:sp>
    </p:spTree>
    <p:extLst>
      <p:ext uri="{BB962C8B-B14F-4D97-AF65-F5344CB8AC3E}">
        <p14:creationId xmlns:p14="http://schemas.microsoft.com/office/powerpoint/2010/main" val="15877130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f、return 與 docstring">
            <a:extLst xmlns:a="http://schemas.openxmlformats.org/drawingml/2006/main">
              <a:ext uri="{FF2B5EF4-FFF2-40B4-BE49-F238E27FC236}">
                <a16:creationId xmlns:a16="http://schemas.microsoft.com/office/drawing/2014/main" id="{A1FD1D83-16A8-474F-BC2C-8A4990D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def, return and docstrings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E6445369-AF09-4247-95AE-284FFFB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F62FA6A1-0925-45F1-9F9B-AA13C9E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def bounds(values):">
            <a:extLst xmlns:a="http://schemas.openxmlformats.org/drawingml/2006/main">
              <a:ext uri="{FF2B5EF4-FFF2-40B4-BE49-F238E27FC236}">
                <a16:creationId xmlns:a16="http://schemas.microsoft.com/office/drawing/2014/main" id="{56D78E83-7957-4B0A-B601-8E4D197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bounds(values):</a:t>
            </a:r>
          </a:p>
        </p:txBody>
      </p:sp>
      <p:sp>
        <p:nvSpPr>
          <p:cNvPr id="5" name="    &quot;&quot;&quot;Return the smallest and largest.&quot;&quot;&quot;">
            <a:extLst xmlns:a="http://schemas.openxmlformats.org/drawingml/2006/main">
              <a:ext uri="{FF2B5EF4-FFF2-40B4-BE49-F238E27FC236}">
                <a16:creationId xmlns:a16="http://schemas.microsoft.com/office/drawing/2014/main" id="{FCE10C69-BEDB-497D-8CB9-439A6B2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"""Return the smallest and largest."""</a:t>
            </a:r>
          </a:p>
        </p:txBody>
      </p:sp>
      <p:sp>
        <p:nvSpPr>
          <p:cNvPr id="6" name="    return min(values), max(values)">
            <a:extLst xmlns:a="http://schemas.openxmlformats.org/drawingml/2006/main">
              <a:ext uri="{FF2B5EF4-FFF2-40B4-BE49-F238E27FC236}">
                <a16:creationId xmlns:a16="http://schemas.microsoft.com/office/drawing/2014/main" id="{7ACCCBEA-70D6-48CC-8A91-D22C93D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min(values), max(values)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587D2-83B5-4FCB-BF19-7207A8C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low, high = bounds([3, 1, 8])">
            <a:extLst xmlns:a="http://schemas.openxmlformats.org/drawingml/2006/main">
              <a:ext uri="{FF2B5EF4-FFF2-40B4-BE49-F238E27FC236}">
                <a16:creationId xmlns:a16="http://schemas.microsoft.com/office/drawing/2014/main" id="{6CA6E5D7-AC80-48DC-B94D-E66A146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low, high = bounds([3, 1, 8])</a:t>
            </a:r>
          </a:p>
        </p:txBody>
      </p:sp>
      <p:sp>
        <p:nvSpPr>
          <p:cNvPr id="9" name="print(low, high)">
            <a:extLst xmlns:a="http://schemas.openxmlformats.org/drawingml/2006/main">
              <a:ext uri="{FF2B5EF4-FFF2-40B4-BE49-F238E27FC236}">
                <a16:creationId xmlns:a16="http://schemas.microsoft.com/office/drawing/2014/main" id="{1D803DBF-08C3-4636-A9BC-BDBB4C2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print(low, high)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32FE-6F91-4B8B-8B5C-1BB3E6C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greet():">
            <a:extLst xmlns:a="http://schemas.openxmlformats.org/drawingml/2006/main">
              <a:ext uri="{FF2B5EF4-FFF2-40B4-BE49-F238E27FC236}">
                <a16:creationId xmlns:a16="http://schemas.microsoft.com/office/drawing/2014/main" id="{0FA0F476-A282-408D-8017-1C836B3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greet():</a:t>
            </a:r>
          </a:p>
        </p:txBody>
      </p:sp>
      <p:sp>
        <p:nvSpPr>
          <p:cNvPr id="12" name="    print(&quot;Hello&quot;)">
            <a:extLst xmlns:a="http://schemas.openxmlformats.org/drawingml/2006/main">
              <a:ext uri="{FF2B5EF4-FFF2-40B4-BE49-F238E27FC236}">
                <a16:creationId xmlns:a16="http://schemas.microsoft.com/office/drawing/2014/main" id="{5F71C16B-124F-410F-BE7B-04D48E3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print("Hello")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60F64-18B8-4915-9EF4-75372D7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greet())">
            <a:extLst xmlns:a="http://schemas.openxmlformats.org/drawingml/2006/main">
              <a:ext uri="{FF2B5EF4-FFF2-40B4-BE49-F238E27FC236}">
                <a16:creationId xmlns:a16="http://schemas.microsoft.com/office/drawing/2014/main" id="{60F21A45-8E48-4811-879D-DB5C4DF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print(greet())</a:t>
            </a:r>
          </a:p>
        </p:txBody>
      </p:sp>
      <p:sp>
        <p:nvSpPr>
          <p:cNvPr id="15" name="回傳多值是 tuple 解包">
            <a:extLst xmlns:a="http://schemas.openxmlformats.org/drawingml/2006/main">
              <a:ext uri="{FF2B5EF4-FFF2-40B4-BE49-F238E27FC236}">
                <a16:creationId xmlns:a16="http://schemas.microsoft.com/office/drawing/2014/main" id="{D0796BD1-C0D8-4F4B-8138-620DFF6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Multiple results use a tuple</a:t>
            </a:r>
          </a:p>
        </p:txBody>
      </p:sp>
      <p:sp>
        <p:nvSpPr>
          <p:cNvPr id="16" name="return 結束函式呼叫。 未指定回傳值時得到 None。">
            <a:extLst xmlns:a="http://schemas.openxmlformats.org/drawingml/2006/main">
              <a:ext uri="{FF2B5EF4-FFF2-40B4-BE49-F238E27FC236}">
                <a16:creationId xmlns:a16="http://schemas.microsoft.com/office/drawing/2014/main" id="{58A149A1-84E9-4D9E-AEC3-65C0FCCC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return ends the call.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Without a specified result,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return value is None.</a:t>
            </a:r>
          </a:p>
        </p:txBody>
      </p:sp>
      <p:sp>
        <p:nvSpPr>
          <p:cNvPr id="17" name="docstring 說明用途">
            <a:extLst xmlns:a="http://schemas.openxmlformats.org/drawingml/2006/main">
              <a:ext uri="{FF2B5EF4-FFF2-40B4-BE49-F238E27FC236}">
                <a16:creationId xmlns:a16="http://schemas.microsoft.com/office/drawing/2014/main" id="{50CD00E5-32B1-4E8F-85B3-20490336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 docstring states purpose</a:t>
            </a:r>
          </a:p>
        </p:txBody>
      </p:sp>
      <p:sp>
        <p:nvSpPr>
          <p:cNvPr id="18" name="函式內可呼叫自己形成遞迴。 遞迴需有停止條件。">
            <a:extLst xmlns:a="http://schemas.openxmlformats.org/drawingml/2006/main">
              <a:ext uri="{FF2B5EF4-FFF2-40B4-BE49-F238E27FC236}">
                <a16:creationId xmlns:a16="http://schemas.microsoft.com/office/drawing/2014/main" id="{3F16D319-063C-4131-9514-BD2EDAB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function can call itself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recursively. Recursion needs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stopping condition.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9618410-127C-4796-A31A-CF905B5D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1 8    Hello    None">
            <a:extLst xmlns:a="http://schemas.openxmlformats.org/drawingml/2006/main">
              <a:ext uri="{FF2B5EF4-FFF2-40B4-BE49-F238E27FC236}">
                <a16:creationId xmlns:a16="http://schemas.microsoft.com/office/drawing/2014/main" id="{AED0B222-302B-4472-ACD1-E8F56DC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8    Hello    None</a:t>
            </a:r>
          </a:p>
        </p:txBody>
      </p:sp>
    </p:spTree>
    <p:extLst>
      <p:ext uri="{BB962C8B-B14F-4D97-AF65-F5344CB8AC3E}">
        <p14:creationId xmlns:p14="http://schemas.microsoft.com/office/powerpoint/2010/main" val="10218433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位置、關鍵字與預設參數">
            <a:extLst xmlns:a="http://schemas.openxmlformats.org/drawingml/2006/main">
              <a:ext uri="{FF2B5EF4-FFF2-40B4-BE49-F238E27FC236}">
                <a16:creationId xmlns:a16="http://schemas.microsoft.com/office/drawing/2014/main" id="{2AC142A3-DF01-40F6-983B-ADC077C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Positional, keyword and default parameters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224D7D5D-538C-438F-8505-99E538C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6C625540-C33A-4287-8BEB-22A8B21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4" name="def scale(value, /, factor=2, *, unit=&quot;m&quot;):">
            <a:extLst xmlns:a="http://schemas.openxmlformats.org/drawingml/2006/main">
              <a:ext uri="{FF2B5EF4-FFF2-40B4-BE49-F238E27FC236}">
                <a16:creationId xmlns:a16="http://schemas.microsoft.com/office/drawing/2014/main" id="{547D83EA-A1EC-48D8-AAB5-1C46D32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scale(value, /, factor=2, *, unit="m"):</a:t>
            </a:r>
          </a:p>
        </p:txBody>
      </p:sp>
      <p:sp>
        <p:nvSpPr>
          <p:cNvPr id="5" name="    return f&quot;{value * factor}{unit}&quot;">
            <a:extLst xmlns:a="http://schemas.openxmlformats.org/drawingml/2006/main">
              <a:ext uri="{FF2B5EF4-FFF2-40B4-BE49-F238E27FC236}">
                <a16:creationId xmlns:a16="http://schemas.microsoft.com/office/drawing/2014/main" id="{4C355200-A14E-4A5C-85E9-B777E5AC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f"{value * factor}{unit}"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FCC8C-4D5F-44F3-922D-50C6F18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cale(3))">
            <a:extLst xmlns:a="http://schemas.openxmlformats.org/drawingml/2006/main">
              <a:ext uri="{FF2B5EF4-FFF2-40B4-BE49-F238E27FC236}">
                <a16:creationId xmlns:a16="http://schemas.microsoft.com/office/drawing/2014/main" id="{C5414A71-6B98-477A-BA70-3EBAF8C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print(scale(3))</a:t>
            </a:r>
          </a:p>
        </p:txBody>
      </p:sp>
      <p:sp>
        <p:nvSpPr>
          <p:cNvPr id="8" name="print(scale(3, factor=4, unit=&quot;cm&quot;))">
            <a:extLst xmlns:a="http://schemas.openxmlformats.org/drawingml/2006/main">
              <a:ext uri="{FF2B5EF4-FFF2-40B4-BE49-F238E27FC236}">
                <a16:creationId xmlns:a16="http://schemas.microsoft.com/office/drawing/2014/main" id="{4E653559-1BC7-461F-B1A1-695F99A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print(scale(3, factor=4, unit="cm"))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23600-AE26-421D-AE1C-2D659A1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scale(value=3)">
            <a:extLst xmlns:a="http://schemas.openxmlformats.org/drawingml/2006/main">
              <a:ext uri="{FF2B5EF4-FFF2-40B4-BE49-F238E27FC236}">
                <a16:creationId xmlns:a16="http://schemas.microsoft.com/office/drawing/2014/main" id="{F470EC43-7066-46E9-BC11-B3F9DED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scale(value=3)</a:t>
            </a:r>
          </a:p>
        </p:txBody>
      </p:sp>
      <p:sp>
        <p:nvSpPr>
          <p:cNvPr id="11" name="# scale(3, 4, &quot;cm&quot;)">
            <a:extLst xmlns:a="http://schemas.openxmlformats.org/drawingml/2006/main">
              <a:ext uri="{FF2B5EF4-FFF2-40B4-BE49-F238E27FC236}">
                <a16:creationId xmlns:a16="http://schemas.microsoft.com/office/drawing/2014/main" id="{70BB1304-EF93-4161-9853-BFC91F3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scale(3, 4, "cm")</a:t>
            </a:r>
          </a:p>
        </p:txBody>
      </p:sp>
      <p:sp>
        <p:nvSpPr>
          <p:cNvPr id="12" name="/ 左側只接受位置參數">
            <a:extLst xmlns:a="http://schemas.openxmlformats.org/drawingml/2006/main">
              <a:ext uri="{FF2B5EF4-FFF2-40B4-BE49-F238E27FC236}">
                <a16:creationId xmlns:a16="http://schemas.microsoft.com/office/drawing/2014/main" id="{B52BA045-80D4-455E-8D24-906D6DC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Before /: positional only</a:t>
            </a:r>
          </a:p>
        </p:txBody>
      </p:sp>
      <p:sp>
        <p:nvSpPr>
          <p:cNvPr id="13" name="value 必須按位置傳入。 factor 可用位置或關鍵字。">
            <a:extLst xmlns:a="http://schemas.openxmlformats.org/drawingml/2006/main">
              <a:ext uri="{FF2B5EF4-FFF2-40B4-BE49-F238E27FC236}">
                <a16:creationId xmlns:a16="http://schemas.microsoft.com/office/drawing/2014/main" id="{B2F28310-1C4A-4B27-BB58-370E492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value must be positional.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factor accepts positional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 keyword arguments.</a:t>
            </a:r>
          </a:p>
        </p:txBody>
      </p:sp>
      <p:sp>
        <p:nvSpPr>
          <p:cNvPr id="14" name="* 右側只接受關鍵字">
            <a:extLst xmlns:a="http://schemas.openxmlformats.org/drawingml/2006/main">
              <a:ext uri="{FF2B5EF4-FFF2-40B4-BE49-F238E27FC236}">
                <a16:creationId xmlns:a16="http://schemas.microsoft.com/office/drawing/2014/main" id="{7110E5A4-7FC0-4132-A0BA-731F09B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After *: keyword only</a:t>
            </a:r>
          </a:p>
        </p:txBody>
      </p:sp>
      <p:sp>
        <p:nvSpPr>
          <p:cNvPr id="15" name="unit 必須寫出參數名稱。 底下兩種呼叫會產生 TypeError。">
            <a:extLst xmlns:a="http://schemas.openxmlformats.org/drawingml/2006/main">
              <a:ext uri="{FF2B5EF4-FFF2-40B4-BE49-F238E27FC236}">
                <a16:creationId xmlns:a16="http://schemas.microsoft.com/office/drawing/2014/main" id="{5F707F22-3409-4902-9BAF-494F7AE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unit requires its name.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bottom two calls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raise TypeError.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FF21C53-979D-401C-92F3-088EA63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6m    12cm">
            <a:extLst xmlns:a="http://schemas.openxmlformats.org/drawingml/2006/main">
              <a:ext uri="{FF2B5EF4-FFF2-40B4-BE49-F238E27FC236}">
                <a16:creationId xmlns:a16="http://schemas.microsoft.com/office/drawing/2014/main" id="{EE9D2467-A078-4074-9AF4-9CCFF33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6m    12cm</a:t>
            </a:r>
          </a:p>
        </p:txBody>
      </p:sp>
    </p:spTree>
    <p:extLst>
      <p:ext uri="{BB962C8B-B14F-4D97-AF65-F5344CB8AC3E}">
        <p14:creationId xmlns:p14="http://schemas.microsoft.com/office/powerpoint/2010/main" val="10617553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*args 與 **kwargs">
            <a:extLst xmlns:a="http://schemas.openxmlformats.org/drawingml/2006/main">
              <a:ext uri="{FF2B5EF4-FFF2-40B4-BE49-F238E27FC236}">
                <a16:creationId xmlns:a16="http://schemas.microsoft.com/office/drawing/2014/main" id="{7228E40E-2698-4316-AB11-64A2AB10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*args and **kwargs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A211CD2D-36E0-45E8-AD3D-E5194F3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462DF410-CCC2-4448-BA2B-AE33AE6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def show(*args, **kwargs):">
            <a:extLst xmlns:a="http://schemas.openxmlformats.org/drawingml/2006/main">
              <a:ext uri="{FF2B5EF4-FFF2-40B4-BE49-F238E27FC236}">
                <a16:creationId xmlns:a16="http://schemas.microsoft.com/office/drawing/2014/main" id="{83BF6D49-080F-4DC2-A863-42A01B0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show(*args, **kwargs):</a:t>
            </a:r>
          </a:p>
        </p:txBody>
      </p:sp>
      <p:sp>
        <p:nvSpPr>
          <p:cNvPr id="5" name="    print(args)">
            <a:extLst xmlns:a="http://schemas.openxmlformats.org/drawingml/2006/main">
              <a:ext uri="{FF2B5EF4-FFF2-40B4-BE49-F238E27FC236}">
                <a16:creationId xmlns:a16="http://schemas.microsoft.com/office/drawing/2014/main" id="{D3E6F461-0DFD-47D5-AB5E-63EF475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print(args)</a:t>
            </a:r>
          </a:p>
        </p:txBody>
      </p:sp>
      <p:sp>
        <p:nvSpPr>
          <p:cNvPr id="6" name="    print(kwargs)">
            <a:extLst xmlns:a="http://schemas.openxmlformats.org/drawingml/2006/main">
              <a:ext uri="{FF2B5EF4-FFF2-40B4-BE49-F238E27FC236}">
                <a16:creationId xmlns:a16="http://schemas.microsoft.com/office/drawing/2014/main" id="{E13C21A1-4756-4E42-89AD-563EBAA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print(kwargs)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FE20-007A-499F-A249-3E7B3D0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how(1, 2, name=&quot;Amy&quot;)">
            <a:extLst xmlns:a="http://schemas.openxmlformats.org/drawingml/2006/main">
              <a:ext uri="{FF2B5EF4-FFF2-40B4-BE49-F238E27FC236}">
                <a16:creationId xmlns:a16="http://schemas.microsoft.com/office/drawing/2014/main" id="{4802A79D-1BB2-4878-B2D6-3587DC1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show(1, 2, name="Amy")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3CB03-E6E6-4924-AE7C-3824519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values = [3, 4]">
            <a:extLst xmlns:a="http://schemas.openxmlformats.org/drawingml/2006/main">
              <a:ext uri="{FF2B5EF4-FFF2-40B4-BE49-F238E27FC236}">
                <a16:creationId xmlns:a16="http://schemas.microsoft.com/office/drawing/2014/main" id="{439E617D-F745-4E01-9C1A-74094C8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4]</a:t>
            </a:r>
          </a:p>
        </p:txBody>
      </p:sp>
      <p:sp>
        <p:nvSpPr>
          <p:cNvPr id="11" name="options = {&quot;name&quot;: &quot;Ben&quot;}">
            <a:extLst xmlns:a="http://schemas.openxmlformats.org/drawingml/2006/main">
              <a:ext uri="{FF2B5EF4-FFF2-40B4-BE49-F238E27FC236}">
                <a16:creationId xmlns:a16="http://schemas.microsoft.com/office/drawing/2014/main" id="{261A20A9-3264-4481-A705-8B22FF7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options = {"name": "Ben"}</a:t>
            </a:r>
          </a:p>
        </p:txBody>
      </p:sp>
      <p:sp>
        <p:nvSpPr>
          <p:cNvPr id="12" name="show(*values, **options)">
            <a:extLst xmlns:a="http://schemas.openxmlformats.org/drawingml/2006/main">
              <a:ext uri="{FF2B5EF4-FFF2-40B4-BE49-F238E27FC236}">
                <a16:creationId xmlns:a16="http://schemas.microsoft.com/office/drawing/2014/main" id="{99307B8C-D311-46AF-A019-524193E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show(*values, **options)</a:t>
            </a:r>
          </a:p>
        </p:txBody>
      </p:sp>
      <p:sp>
        <p:nvSpPr>
          <p:cNvPr id="13" name="定義時收集參數">
            <a:extLst xmlns:a="http://schemas.openxmlformats.org/drawingml/2006/main">
              <a:ext uri="{FF2B5EF4-FFF2-40B4-BE49-F238E27FC236}">
                <a16:creationId xmlns:a16="http://schemas.microsoft.com/office/drawing/2014/main" id="{28870772-B7CE-4997-8AC2-2557FA4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Collecting arguments</a:t>
            </a:r>
          </a:p>
        </p:txBody>
      </p:sp>
      <p:sp>
        <p:nvSpPr>
          <p:cNvPr id="14" name="args 是 tuple。 kwargs 是 dict。">
            <a:extLst xmlns:a="http://schemas.openxmlformats.org/drawingml/2006/main">
              <a:ext uri="{FF2B5EF4-FFF2-40B4-BE49-F238E27FC236}">
                <a16:creationId xmlns:a16="http://schemas.microsoft.com/office/drawing/2014/main" id="{CE1B043E-B47E-4661-AF86-7C3BDC2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args is a tuple.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kwargs is a dictionary.</a:t>
            </a:r>
          </a:p>
        </p:txBody>
      </p:sp>
      <p:sp>
        <p:nvSpPr>
          <p:cNvPr id="15" name="呼叫時展開資料">
            <a:extLst xmlns:a="http://schemas.openxmlformats.org/drawingml/2006/main">
              <a:ext uri="{FF2B5EF4-FFF2-40B4-BE49-F238E27FC236}">
                <a16:creationId xmlns:a16="http://schemas.microsoft.com/office/drawing/2014/main" id="{E5792EA8-3822-46D5-8CA4-21BFBC4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Unpacking at the call site</a:t>
            </a:r>
          </a:p>
        </p:txBody>
      </p:sp>
      <p:sp>
        <p:nvSpPr>
          <p:cNvPr id="16" name="** 的鍵必須是字串。 重複傳入同一參數會出錯。">
            <a:extLst xmlns:a="http://schemas.openxmlformats.org/drawingml/2006/main">
              <a:ext uri="{FF2B5EF4-FFF2-40B4-BE49-F238E27FC236}">
                <a16:creationId xmlns:a16="http://schemas.microsoft.com/office/drawing/2014/main" id="{5DF48680-D52B-46B1-85CD-4293934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Keys supplied with **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must be strings. Duplicate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arguments cause an error.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6BC893C-B90E-4368-97A6-583197B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(1, 2)    {'name': 'Amy'}    (3, 4)    {'name': 'Ben'}">
            <a:extLst xmlns:a="http://schemas.openxmlformats.org/drawingml/2006/main">
              <a:ext uri="{FF2B5EF4-FFF2-40B4-BE49-F238E27FC236}">
                <a16:creationId xmlns:a16="http://schemas.microsoft.com/office/drawing/2014/main" id="{BAA2D7BE-A5F7-424C-8F2C-65573EA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(1, 2)    {'name': 'Amy'}    (3, 4)    {'name': 'Ben'}</a:t>
            </a:r>
          </a:p>
        </p:txBody>
      </p:sp>
    </p:spTree>
    <p:extLst>
      <p:ext uri="{BB962C8B-B14F-4D97-AF65-F5344CB8AC3E}">
        <p14:creationId xmlns:p14="http://schemas.microsoft.com/office/powerpoint/2010/main" val="320158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可變預設值的共用問題">
            <a:extLst xmlns:a="http://schemas.openxmlformats.org/drawingml/2006/main">
              <a:ext uri="{FF2B5EF4-FFF2-40B4-BE49-F238E27FC236}">
                <a16:creationId xmlns:a16="http://schemas.microsoft.com/office/drawing/2014/main" id="{0E072317-F943-40E5-B82D-21D1EA7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Shared mutable default values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0E5E6B48-CCE9-4C3F-827A-D3B2228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A8F9FBBD-129C-4CA1-86C6-E45FEB7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def collect(value, items=[]):">
            <a:extLst xmlns:a="http://schemas.openxmlformats.org/drawingml/2006/main">
              <a:ext uri="{FF2B5EF4-FFF2-40B4-BE49-F238E27FC236}">
                <a16:creationId xmlns:a16="http://schemas.microsoft.com/office/drawing/2014/main" id="{9DED530A-7E2E-40F9-8E6A-676DDD1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collect(value, items=[]):</a:t>
            </a:r>
          </a:p>
        </p:txBody>
      </p:sp>
      <p:sp>
        <p:nvSpPr>
          <p:cNvPr id="5" name="    items.append(value)">
            <a:extLst xmlns:a="http://schemas.openxmlformats.org/drawingml/2006/main">
              <a:ext uri="{FF2B5EF4-FFF2-40B4-BE49-F238E27FC236}">
                <a16:creationId xmlns:a16="http://schemas.microsoft.com/office/drawing/2014/main" id="{D00FDDCA-8EB4-4A6C-8A57-B92C273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items.append(value)</a:t>
            </a:r>
          </a:p>
        </p:txBody>
      </p:sp>
      <p:sp>
        <p:nvSpPr>
          <p:cNvPr id="6" name="    return items">
            <a:extLst xmlns:a="http://schemas.openxmlformats.org/drawingml/2006/main">
              <a:ext uri="{FF2B5EF4-FFF2-40B4-BE49-F238E27FC236}">
                <a16:creationId xmlns:a16="http://schemas.microsoft.com/office/drawing/2014/main" id="{0768152E-8C21-4E60-92FC-B2CAC6D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8760A-DF51-4E54-8101-EE6DCD1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collect(1))">
            <a:extLst xmlns:a="http://schemas.openxmlformats.org/drawingml/2006/main">
              <a:ext uri="{FF2B5EF4-FFF2-40B4-BE49-F238E27FC236}">
                <a16:creationId xmlns:a16="http://schemas.microsoft.com/office/drawing/2014/main" id="{5C696B55-5F58-4640-9E78-26CEC94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print(collect(1))</a:t>
            </a:r>
          </a:p>
        </p:txBody>
      </p:sp>
      <p:sp>
        <p:nvSpPr>
          <p:cNvPr id="9" name="print(collect(2))">
            <a:extLst xmlns:a="http://schemas.openxmlformats.org/drawingml/2006/main">
              <a:ext uri="{FF2B5EF4-FFF2-40B4-BE49-F238E27FC236}">
                <a16:creationId xmlns:a16="http://schemas.microsoft.com/office/drawing/2014/main" id="{8544C101-5441-4630-9E4D-A7DFA5F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print(collect(2))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DAC70-D94B-4BD4-B424-B2F2D2A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fresh(value, items=None):">
            <a:extLst xmlns:a="http://schemas.openxmlformats.org/drawingml/2006/main">
              <a:ext uri="{FF2B5EF4-FFF2-40B4-BE49-F238E27FC236}">
                <a16:creationId xmlns:a16="http://schemas.microsoft.com/office/drawing/2014/main" id="{AF29EEF5-DC70-40FD-87D7-2693E9F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fresh(value, items=None):</a:t>
            </a:r>
          </a:p>
        </p:txBody>
      </p:sp>
      <p:sp>
        <p:nvSpPr>
          <p:cNvPr id="12" name="    result = [] if items is None else items.copy()">
            <a:extLst xmlns:a="http://schemas.openxmlformats.org/drawingml/2006/main">
              <a:ext uri="{FF2B5EF4-FFF2-40B4-BE49-F238E27FC236}">
                <a16:creationId xmlns:a16="http://schemas.microsoft.com/office/drawing/2014/main" id="{43B2F85B-DF67-4415-B65F-7751FAD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[] if items is None else items.copy()</a:t>
            </a:r>
          </a:p>
        </p:txBody>
      </p:sp>
      <p:sp>
        <p:nvSpPr>
          <p:cNvPr id="13" name="    result.append(value)">
            <a:extLst xmlns:a="http://schemas.openxmlformats.org/drawingml/2006/main">
              <a:ext uri="{FF2B5EF4-FFF2-40B4-BE49-F238E27FC236}">
                <a16:creationId xmlns:a16="http://schemas.microsoft.com/office/drawing/2014/main" id="{7E975AA0-76E3-4E0B-879F-43C8E3B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result.append(value)</a:t>
            </a:r>
          </a:p>
        </p:txBody>
      </p:sp>
      <p:sp>
        <p:nvSpPr>
          <p:cNvPr id="14" name="    return result">
            <a:extLst xmlns:a="http://schemas.openxmlformats.org/drawingml/2006/main">
              <a:ext uri="{FF2B5EF4-FFF2-40B4-BE49-F238E27FC236}">
                <a16:creationId xmlns:a16="http://schemas.microsoft.com/office/drawing/2014/main" id="{6CC823BF-D545-4A2F-99B6-92487A6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</p:txBody>
      </p:sp>
      <p:sp>
        <p:nvSpPr>
          <p:cNvPr id="15" name="預設值在定義時求值">
            <a:extLst xmlns:a="http://schemas.openxmlformats.org/drawingml/2006/main">
              <a:ext uri="{FF2B5EF4-FFF2-40B4-BE49-F238E27FC236}">
                <a16:creationId xmlns:a16="http://schemas.microsoft.com/office/drawing/2014/main" id="{EC68ED91-ABB9-4BC5-B41F-5F0DF49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Defaults are evaluated once</a:t>
            </a:r>
          </a:p>
        </p:txBody>
      </p:sp>
      <p:sp>
        <p:nvSpPr>
          <p:cNvPr id="16" name="兩次 collect 呼叫 共用同一個預設 list。">
            <a:extLst xmlns:a="http://schemas.openxmlformats.org/drawingml/2006/main">
              <a:ext uri="{FF2B5EF4-FFF2-40B4-BE49-F238E27FC236}">
                <a16:creationId xmlns:a16="http://schemas.microsoft.com/office/drawing/2014/main" id="{62CA319A-5268-4A01-9F62-5B6660A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two collect calls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 the same default list,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created at definition time.</a:t>
            </a:r>
          </a:p>
        </p:txBody>
      </p:sp>
      <p:sp>
        <p:nvSpPr>
          <p:cNvPr id="17" name="None 表示未提供">
            <a:extLst xmlns:a="http://schemas.openxmlformats.org/drawingml/2006/main">
              <a:ext uri="{FF2B5EF4-FFF2-40B4-BE49-F238E27FC236}">
                <a16:creationId xmlns:a16="http://schemas.microsoft.com/office/drawing/2014/main" id="{3EB4478D-8398-4BFC-A2F0-40D061EC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None means not supplied</a:t>
            </a:r>
          </a:p>
        </p:txBody>
      </p:sp>
      <p:sp>
        <p:nvSpPr>
          <p:cNvPr id="18" name="fresh 建立或複製外層 list。 每次呼叫有明確的資料來源。">
            <a:extLst xmlns:a="http://schemas.openxmlformats.org/drawingml/2006/main">
              <a:ext uri="{FF2B5EF4-FFF2-40B4-BE49-F238E27FC236}">
                <a16:creationId xmlns:a16="http://schemas.microsoft.com/office/drawing/2014/main" id="{A13EC5FC-10A4-43EC-ACA9-72EB2C3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fresh creates or copies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outer list, making the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data source explicit per call.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22EF84-D6D5-4AC7-B44C-E607ACF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[1]    [1, 2]">
            <a:extLst xmlns:a="http://schemas.openxmlformats.org/drawingml/2006/main">
              <a:ext uri="{FF2B5EF4-FFF2-40B4-BE49-F238E27FC236}">
                <a16:creationId xmlns:a16="http://schemas.microsoft.com/office/drawing/2014/main" id="{2067258D-C2F3-45BD-BC64-48B63A4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[1]    [1, 2]</a:t>
            </a:r>
          </a:p>
        </p:txBody>
      </p:sp>
    </p:spTree>
    <p:extLst>
      <p:ext uri="{BB962C8B-B14F-4D97-AF65-F5344CB8AC3E}">
        <p14:creationId xmlns:p14="http://schemas.microsoft.com/office/powerpoint/2010/main" val="1324319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作用域與 global">
            <a:extLst xmlns:a="http://schemas.openxmlformats.org/drawingml/2006/main">
              <a:ext uri="{FF2B5EF4-FFF2-40B4-BE49-F238E27FC236}">
                <a16:creationId xmlns:a16="http://schemas.microsoft.com/office/drawing/2014/main" id="{D338615F-87A0-4B92-AE05-175725B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Scope and global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6CDA4532-E7E8-48E0-8ED2-8F40165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9DB8E888-73D5-4049-8BF0-6AA4DDA0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count = 0">
            <a:extLst xmlns:a="http://schemas.openxmlformats.org/drawingml/2006/main">
              <a:ext uri="{FF2B5EF4-FFF2-40B4-BE49-F238E27FC236}">
                <a16:creationId xmlns:a16="http://schemas.microsoft.com/office/drawing/2014/main" id="{8DB54B57-0E12-4278-9DE4-2288282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5AAB-8D57-436D-9129-0B8236C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local_change():">
            <a:extLst xmlns:a="http://schemas.openxmlformats.org/drawingml/2006/main">
              <a:ext uri="{FF2B5EF4-FFF2-40B4-BE49-F238E27FC236}">
                <a16:creationId xmlns:a16="http://schemas.microsoft.com/office/drawing/2014/main" id="{2FCF27AE-23A2-478B-A6C3-F8F7DE4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local_change():</a:t>
            </a:r>
          </a:p>
        </p:txBody>
      </p:sp>
      <p:sp>
        <p:nvSpPr>
          <p:cNvPr id="7" name="    count = 10">
            <a:extLst xmlns:a="http://schemas.openxmlformats.org/drawingml/2006/main">
              <a:ext uri="{FF2B5EF4-FFF2-40B4-BE49-F238E27FC236}">
                <a16:creationId xmlns:a16="http://schemas.microsoft.com/office/drawing/2014/main" id="{0F3BD774-4C3B-4043-B373-CE79B6C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10</a:t>
            </a:r>
          </a:p>
        </p:txBody>
      </p:sp>
      <p:sp>
        <p:nvSpPr>
          <p:cNvPr id="8" name="    return count">
            <a:extLst xmlns:a="http://schemas.openxmlformats.org/drawingml/2006/main">
              <a:ext uri="{FF2B5EF4-FFF2-40B4-BE49-F238E27FC236}">
                <a16:creationId xmlns:a16="http://schemas.microsoft.com/office/drawing/2014/main" id="{68C6290F-7046-4FFD-A0EC-B96C46B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DFC98-3E2C-4779-B56A-CFFE6AA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global_change():">
            <a:extLst xmlns:a="http://schemas.openxmlformats.org/drawingml/2006/main">
              <a:ext uri="{FF2B5EF4-FFF2-40B4-BE49-F238E27FC236}">
                <a16:creationId xmlns:a16="http://schemas.microsoft.com/office/drawing/2014/main" id="{0E869C57-895A-4F9F-92AF-642E672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global_change():</a:t>
            </a:r>
          </a:p>
        </p:txBody>
      </p:sp>
      <p:sp>
        <p:nvSpPr>
          <p:cNvPr id="11" name="    global count">
            <a:extLst xmlns:a="http://schemas.openxmlformats.org/drawingml/2006/main">
              <a:ext uri="{FF2B5EF4-FFF2-40B4-BE49-F238E27FC236}">
                <a16:creationId xmlns:a16="http://schemas.microsoft.com/office/drawing/2014/main" id="{BD25555C-999E-48A0-9B70-403C554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global count</a:t>
            </a:r>
          </a:p>
        </p:txBody>
      </p:sp>
      <p:sp>
        <p:nvSpPr>
          <p:cNvPr id="12" name="    count += 1">
            <a:extLst xmlns:a="http://schemas.openxmlformats.org/drawingml/2006/main">
              <a:ext uri="{FF2B5EF4-FFF2-40B4-BE49-F238E27FC236}">
                <a16:creationId xmlns:a16="http://schemas.microsoft.com/office/drawing/2014/main" id="{4EF0869B-DA6D-4856-9882-62363ED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+=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ED981-CB46-4DA2-923F-24C44BE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local_change(), count)">
            <a:extLst xmlns:a="http://schemas.openxmlformats.org/drawingml/2006/main">
              <a:ext uri="{FF2B5EF4-FFF2-40B4-BE49-F238E27FC236}">
                <a16:creationId xmlns:a16="http://schemas.microsoft.com/office/drawing/2014/main" id="{1753ED4A-1865-4194-9ECA-A3D8A96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print(local_change(), count)</a:t>
            </a:r>
          </a:p>
        </p:txBody>
      </p:sp>
      <p:sp>
        <p:nvSpPr>
          <p:cNvPr id="15" name="global_change()">
            <a:extLst xmlns:a="http://schemas.openxmlformats.org/drawingml/2006/main">
              <a:ext uri="{FF2B5EF4-FFF2-40B4-BE49-F238E27FC236}">
                <a16:creationId xmlns:a16="http://schemas.microsoft.com/office/drawing/2014/main" id="{41E37707-4B8F-4F62-80C4-36336C8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global_change()</a:t>
            </a:r>
          </a:p>
        </p:txBody>
      </p:sp>
      <p:sp>
        <p:nvSpPr>
          <p:cNvPr id="16" name="print(count)">
            <a:extLst xmlns:a="http://schemas.openxmlformats.org/drawingml/2006/main">
              <a:ext uri="{FF2B5EF4-FFF2-40B4-BE49-F238E27FC236}">
                <a16:creationId xmlns:a16="http://schemas.microsoft.com/office/drawing/2014/main" id="{AE75A661-3EB5-4D34-99C0-0319430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print(count)</a:t>
            </a:r>
          </a:p>
        </p:txBody>
      </p:sp>
      <p:sp>
        <p:nvSpPr>
          <p:cNvPr id="17" name="LEGB 名稱查找">
            <a:extLst xmlns:a="http://schemas.openxmlformats.org/drawingml/2006/main">
              <a:ext uri="{FF2B5EF4-FFF2-40B4-BE49-F238E27FC236}">
                <a16:creationId xmlns:a16="http://schemas.microsoft.com/office/drawing/2014/main" id="{B511F1F7-E857-4765-A654-C1DDCF5E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LEGB name lookup</a:t>
            </a:r>
          </a:p>
        </p:txBody>
      </p:sp>
      <p:sp>
        <p:nvSpPr>
          <p:cNvPr id="18" name="Local、Enclosing、 Global、Built-in。">
            <a:extLst xmlns:a="http://schemas.openxmlformats.org/drawingml/2006/main">
              <a:ext uri="{FF2B5EF4-FFF2-40B4-BE49-F238E27FC236}">
                <a16:creationId xmlns:a16="http://schemas.microsoft.com/office/drawing/2014/main" id="{C5BA8A82-F05D-4B3B-8F8E-6E4BCC2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Local, Enclosing,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Global, Built-in.</a:t>
            </a:r>
          </a:p>
        </p:txBody>
      </p:sp>
      <p:sp>
        <p:nvSpPr>
          <p:cNvPr id="19" name="global 改變繫結範圍">
            <a:extLst xmlns:a="http://schemas.openxmlformats.org/drawingml/2006/main">
              <a:ext uri="{FF2B5EF4-FFF2-40B4-BE49-F238E27FC236}">
                <a16:creationId xmlns:a16="http://schemas.microsoft.com/office/drawing/2014/main" id="{7E94145C-15CD-4D18-AB45-AEE220E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global changes the scope</a:t>
            </a:r>
          </a:p>
        </p:txBody>
      </p:sp>
      <p:sp>
        <p:nvSpPr>
          <p:cNvPr id="20" name="函式內指定名稱預設為區域。 global 指定模組層的名稱。">
            <a:extLst xmlns:a="http://schemas.openxmlformats.org/drawingml/2006/main">
              <a:ext uri="{FF2B5EF4-FFF2-40B4-BE49-F238E27FC236}">
                <a16:creationId xmlns:a16="http://schemas.microsoft.com/office/drawing/2014/main" id="{4DF3BD5F-D491-49CA-9F60-F44BFDE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Assignments are local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by default. global refers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to a module-level name.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78DC2F7-F5E8-4384-A347-D852165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10 0    1">
            <a:extLst xmlns:a="http://schemas.openxmlformats.org/drawingml/2006/main">
              <a:ext uri="{FF2B5EF4-FFF2-40B4-BE49-F238E27FC236}">
                <a16:creationId xmlns:a16="http://schemas.microsoft.com/office/drawing/2014/main" id="{D9FA4E2D-ACBF-49AB-BAF0-1A1E09F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10 0    1</a:t>
            </a:r>
          </a:p>
        </p:txBody>
      </p:sp>
    </p:spTree>
    <p:extLst>
      <p:ext uri="{BB962C8B-B14F-4D97-AF65-F5344CB8AC3E}">
        <p14:creationId xmlns:p14="http://schemas.microsoft.com/office/powerpoint/2010/main" val="4135183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閉包與 nonlocal">
            <a:extLst xmlns:a="http://schemas.openxmlformats.org/drawingml/2006/main">
              <a:ext uri="{FF2B5EF4-FFF2-40B4-BE49-F238E27FC236}">
                <a16:creationId xmlns:a16="http://schemas.microsoft.com/office/drawing/2014/main" id="{6275E685-16B2-488A-96EA-FDF436B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Closures and nonlocal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DBF88E56-0BF5-42C7-8ABF-1783F75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56507414-75E6-4921-AE7B-A09DCD6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def make_counter():">
            <a:extLst xmlns:a="http://schemas.openxmlformats.org/drawingml/2006/main">
              <a:ext uri="{FF2B5EF4-FFF2-40B4-BE49-F238E27FC236}">
                <a16:creationId xmlns:a16="http://schemas.microsoft.com/office/drawing/2014/main" id="{3A54FC6B-6E84-444C-AAAA-FF7A9A4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make_counter():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04A37B13-5974-46E4-8892-9D28921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    def next_value():">
            <a:extLst xmlns:a="http://schemas.openxmlformats.org/drawingml/2006/main">
              <a:ext uri="{FF2B5EF4-FFF2-40B4-BE49-F238E27FC236}">
                <a16:creationId xmlns:a16="http://schemas.microsoft.com/office/drawing/2014/main" id="{F0E41946-9DE4-48F3-A648-437A109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next_value():</a:t>
            </a:r>
          </a:p>
        </p:txBody>
      </p:sp>
      <p:sp>
        <p:nvSpPr>
          <p:cNvPr id="7" name="        nonlocal count">
            <a:extLst xmlns:a="http://schemas.openxmlformats.org/drawingml/2006/main">
              <a:ext uri="{FF2B5EF4-FFF2-40B4-BE49-F238E27FC236}">
                <a16:creationId xmlns:a16="http://schemas.microsoft.com/office/drawing/2014/main" id="{60D56BD2-C9CE-4235-8B8A-AD829DA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nonlocal count</a:t>
            </a:r>
          </a:p>
        </p:txBody>
      </p:sp>
      <p:sp>
        <p:nvSpPr>
          <p:cNvPr id="8" name="        count += 1">
            <a:extLst xmlns:a="http://schemas.openxmlformats.org/drawingml/2006/main">
              <a:ext uri="{FF2B5EF4-FFF2-40B4-BE49-F238E27FC236}">
                <a16:creationId xmlns:a16="http://schemas.microsoft.com/office/drawing/2014/main" id="{7CABE2B1-70CB-4773-B2F5-E62C8BC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count += 1</a:t>
            </a:r>
          </a:p>
        </p:txBody>
      </p:sp>
      <p:sp>
        <p:nvSpPr>
          <p:cNvPr id="9" name="        return count">
            <a:extLst xmlns:a="http://schemas.openxmlformats.org/drawingml/2006/main">
              <a:ext uri="{FF2B5EF4-FFF2-40B4-BE49-F238E27FC236}">
                <a16:creationId xmlns:a16="http://schemas.microsoft.com/office/drawing/2014/main" id="{82C3CBAC-D1B7-467A-AFBC-F336C75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count</a:t>
            </a:r>
          </a:p>
        </p:txBody>
      </p:sp>
      <p:sp>
        <p:nvSpPr>
          <p:cNvPr id="10" name="    return next_value">
            <a:extLst xmlns:a="http://schemas.openxmlformats.org/drawingml/2006/main">
              <a:ext uri="{FF2B5EF4-FFF2-40B4-BE49-F238E27FC236}">
                <a16:creationId xmlns:a16="http://schemas.microsoft.com/office/drawing/2014/main" id="{7FD30001-A5A4-4494-B9CE-8F58DF0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next_value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B8122-1093-447B-B555-316585F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make_counter()">
            <a:extLst xmlns:a="http://schemas.openxmlformats.org/drawingml/2006/main">
              <a:ext uri="{FF2B5EF4-FFF2-40B4-BE49-F238E27FC236}">
                <a16:creationId xmlns:a16="http://schemas.microsoft.com/office/drawing/2014/main" id="{9BCD1EC2-081B-4FA1-B767-F7161A0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 = make_counter()</a:t>
            </a:r>
          </a:p>
        </p:txBody>
      </p:sp>
      <p:sp>
        <p:nvSpPr>
          <p:cNvPr id="13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7C79165D-6D67-4234-A17B-C0E20A4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4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61265CEC-7AC3-4FF4-9E79-B7AD3C4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5" name="函式可以回傳函式">
            <a:extLst xmlns:a="http://schemas.openxmlformats.org/drawingml/2006/main">
              <a:ext uri="{FF2B5EF4-FFF2-40B4-BE49-F238E27FC236}">
                <a16:creationId xmlns:a16="http://schemas.microsoft.com/office/drawing/2014/main" id="{841EF53C-FE3A-46E0-82EE-6B49EE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can return functions</a:t>
            </a:r>
          </a:p>
        </p:txBody>
      </p:sp>
      <p:sp>
        <p:nvSpPr>
          <p:cNvPr id="16" name="next_value 保留對外層 count 繫結的存取。">
            <a:extLst xmlns:a="http://schemas.openxmlformats.org/drawingml/2006/main">
              <a:ext uri="{FF2B5EF4-FFF2-40B4-BE49-F238E27FC236}">
                <a16:creationId xmlns:a16="http://schemas.microsoft.com/office/drawing/2014/main" id="{9C1E9339-FF04-4FCF-8A07-FCC30CA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next_value retains access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to the enclosing binding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of count.</a:t>
            </a:r>
          </a:p>
        </p:txBody>
      </p:sp>
      <p:sp>
        <p:nvSpPr>
          <p:cNvPr id="17" name="nonlocal 指向外層函式">
            <a:extLst xmlns:a="http://schemas.openxmlformats.org/drawingml/2006/main">
              <a:ext uri="{FF2B5EF4-FFF2-40B4-BE49-F238E27FC236}">
                <a16:creationId xmlns:a16="http://schemas.microsoft.com/office/drawing/2014/main" id="{6D537980-C93A-4254-9A80-64F5DE4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nonlocal targets an outer scope</a:t>
            </a:r>
          </a:p>
        </p:txBody>
      </p:sp>
      <p:sp>
        <p:nvSpPr>
          <p:cNvPr id="18" name="重新繫結已存在的外層名稱。 不會指向模組層全域名稱。">
            <a:extLst xmlns:a="http://schemas.openxmlformats.org/drawingml/2006/main">
              <a:ext uri="{FF2B5EF4-FFF2-40B4-BE49-F238E27FC236}">
                <a16:creationId xmlns:a16="http://schemas.microsoft.com/office/drawing/2014/main" id="{604D49FB-EBB5-4718-9D24-810DDE25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Rebinds an existing name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 an enclosing function,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not a module-level name.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738762D-F1EA-4F4A-85B2-30305A4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1    2">
            <a:extLst xmlns:a="http://schemas.openxmlformats.org/drawingml/2006/main">
              <a:ext uri="{FF2B5EF4-FFF2-40B4-BE49-F238E27FC236}">
                <a16:creationId xmlns:a16="http://schemas.microsoft.com/office/drawing/2014/main" id="{C4A23FBA-861B-473F-A475-6C9F046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1    2</a:t>
            </a:r>
          </a:p>
        </p:txBody>
      </p:sp>
    </p:spTree>
    <p:extLst>
      <p:ext uri="{BB962C8B-B14F-4D97-AF65-F5344CB8AC3E}">
        <p14:creationId xmlns:p14="http://schemas.microsoft.com/office/powerpoint/2010/main" val="4787673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修改物件與重新指定參數">
            <a:extLst xmlns:a="http://schemas.openxmlformats.org/drawingml/2006/main">
              <a:ext uri="{FF2B5EF4-FFF2-40B4-BE49-F238E27FC236}">
                <a16:creationId xmlns:a16="http://schemas.microsoft.com/office/drawing/2014/main" id="{0B6C0029-2399-4427-83EB-3ED0130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Object mutation and parameter rebinding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BF9FBC95-FC6E-476B-BA27-C41242E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6E7C7F1-D9F8-44F0-8C8E-AC41CAE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def mutate(values):">
            <a:extLst xmlns:a="http://schemas.openxmlformats.org/drawingml/2006/main">
              <a:ext uri="{FF2B5EF4-FFF2-40B4-BE49-F238E27FC236}">
                <a16:creationId xmlns:a16="http://schemas.microsoft.com/office/drawing/2014/main" id="{35D42A5F-2495-47F3-ABB9-8BA7A739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mutate(values):</a:t>
            </a:r>
          </a:p>
        </p:txBody>
      </p:sp>
      <p:sp>
        <p:nvSpPr>
          <p:cNvPr id="5" name="    values.append(3)">
            <a:extLst xmlns:a="http://schemas.openxmlformats.org/drawingml/2006/main">
              <a:ext uri="{FF2B5EF4-FFF2-40B4-BE49-F238E27FC236}">
                <a16:creationId xmlns:a16="http://schemas.microsoft.com/office/drawing/2014/main" id="{114DFBF4-7801-4E46-941F-730E9DA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values.append(3)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3EA82-C2B8-49C1-9167-7C3EB76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rebind(values):">
            <a:extLst xmlns:a="http://schemas.openxmlformats.org/drawingml/2006/main">
              <a:ext uri="{FF2B5EF4-FFF2-40B4-BE49-F238E27FC236}">
                <a16:creationId xmlns:a16="http://schemas.microsoft.com/office/drawing/2014/main" id="{113E126C-16BB-4697-91C4-3E258E1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rebind(values):</a:t>
            </a:r>
          </a:p>
        </p:txBody>
      </p:sp>
      <p:sp>
        <p:nvSpPr>
          <p:cNvPr id="8" name="    values = [99]">
            <a:extLst xmlns:a="http://schemas.openxmlformats.org/drawingml/2006/main">
              <a:ext uri="{FF2B5EF4-FFF2-40B4-BE49-F238E27FC236}">
                <a16:creationId xmlns:a16="http://schemas.microsoft.com/office/drawing/2014/main" id="{05B88ACC-8D78-4DDC-8748-5EDB18E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 = [99]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9B15F-28CC-4A57-8309-C42E8CC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items = [1, 2]">
            <a:extLst xmlns:a="http://schemas.openxmlformats.org/drawingml/2006/main">
              <a:ext uri="{FF2B5EF4-FFF2-40B4-BE49-F238E27FC236}">
                <a16:creationId xmlns:a16="http://schemas.microsoft.com/office/drawing/2014/main" id="{905B1AEF-F3C4-47BB-831E-A953FC5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[1, 2]</a:t>
            </a:r>
          </a:p>
        </p:txBody>
      </p:sp>
      <p:sp>
        <p:nvSpPr>
          <p:cNvPr id="11" name="mutate(items)">
            <a:extLst xmlns:a="http://schemas.openxmlformats.org/drawingml/2006/main">
              <a:ext uri="{FF2B5EF4-FFF2-40B4-BE49-F238E27FC236}">
                <a16:creationId xmlns:a16="http://schemas.microsoft.com/office/drawing/2014/main" id="{0FB6B47E-97EC-4F8D-9C56-95585D5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mutate(items)</a:t>
            </a:r>
          </a:p>
        </p:txBody>
      </p:sp>
      <p:sp>
        <p:nvSpPr>
          <p:cNvPr id="12" name="rebind(items)">
            <a:extLst xmlns:a="http://schemas.openxmlformats.org/drawingml/2006/main">
              <a:ext uri="{FF2B5EF4-FFF2-40B4-BE49-F238E27FC236}">
                <a16:creationId xmlns:a16="http://schemas.microsoft.com/office/drawing/2014/main" id="{40CB780A-69EF-4F4D-B4A2-D0D720F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rebind(items)</a:t>
            </a:r>
          </a:p>
        </p:txBody>
      </p:sp>
      <p:sp>
        <p:nvSpPr>
          <p:cNvPr id="13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7BE6EE1-942F-4FFC-A654-D999ECA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14" name="參數是區域名稱">
            <a:extLst xmlns:a="http://schemas.openxmlformats.org/drawingml/2006/main">
              <a:ext uri="{FF2B5EF4-FFF2-40B4-BE49-F238E27FC236}">
                <a16:creationId xmlns:a16="http://schemas.microsoft.com/office/drawing/2014/main" id="{3ECC880D-72A6-403E-83A7-56C0EAD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Parameters are local names</a:t>
            </a:r>
          </a:p>
        </p:txBody>
      </p:sp>
      <p:sp>
        <p:nvSpPr>
          <p:cNvPr id="15" name="呼叫時繫結到傳入的物件。 兩端可能共用可變物件。">
            <a:extLst xmlns:a="http://schemas.openxmlformats.org/drawingml/2006/main">
              <a:ext uri="{FF2B5EF4-FFF2-40B4-BE49-F238E27FC236}">
                <a16:creationId xmlns:a16="http://schemas.microsoft.com/office/drawing/2014/main" id="{71043F38-B789-41E5-B654-4A8264E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They bind to passed objects.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Caller and function may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 a mutable object.</a:t>
            </a:r>
          </a:p>
        </p:txBody>
      </p:sp>
      <p:sp>
        <p:nvSpPr>
          <p:cNvPr id="16" name="兩種操作的影響不同">
            <a:extLst xmlns:a="http://schemas.openxmlformats.org/drawingml/2006/main">
              <a:ext uri="{FF2B5EF4-FFF2-40B4-BE49-F238E27FC236}">
                <a16:creationId xmlns:a16="http://schemas.microsoft.com/office/drawing/2014/main" id="{5F989CA8-D614-4236-A269-EC6DE71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Mutation differs from rebinding</a:t>
            </a:r>
          </a:p>
        </p:txBody>
      </p:sp>
      <p:sp>
        <p:nvSpPr>
          <p:cNvPr id="17" name="append 修改共用內容。 = 只重新繫結區域 values。">
            <a:extLst xmlns:a="http://schemas.openxmlformats.org/drawingml/2006/main">
              <a:ext uri="{FF2B5EF4-FFF2-40B4-BE49-F238E27FC236}">
                <a16:creationId xmlns:a16="http://schemas.microsoft.com/office/drawing/2014/main" id="{2BDB6FD4-D72A-4B99-952F-1A32A86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 changes shared data.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= only rebinds the local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 values.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2DB2298-2B0A-405B-BC98-0B2800C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[1, 2, 3]">
            <a:extLst xmlns:a="http://schemas.openxmlformats.org/drawingml/2006/main">
              <a:ext uri="{FF2B5EF4-FFF2-40B4-BE49-F238E27FC236}">
                <a16:creationId xmlns:a16="http://schemas.microsoft.com/office/drawing/2014/main" id="{13EE3824-49D5-4894-AF07-BAA44C8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6474691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指定、淺層複製與深層複製">
            <a:extLst xmlns:a="http://schemas.openxmlformats.org/drawingml/2006/main">
              <a:ext uri="{FF2B5EF4-FFF2-40B4-BE49-F238E27FC236}">
                <a16:creationId xmlns:a16="http://schemas.microsoft.com/office/drawing/2014/main" id="{618622C5-CDAE-4F01-B036-8670A10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Assignment, shallow copy and deep copy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F9ECA4CB-3F82-4D62-B095-CA5F5C7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 references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611595D-E523-41F0-98DC-9692289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from copy import deepcopy">
            <a:extLst xmlns:a="http://schemas.openxmlformats.org/drawingml/2006/main">
              <a:ext uri="{FF2B5EF4-FFF2-40B4-BE49-F238E27FC236}">
                <a16:creationId xmlns:a16="http://schemas.microsoft.com/office/drawing/2014/main" id="{15427E9E-2B0B-4C98-8FE8-605C0E7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copy import deepcopy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EAF51-4878-4ADB-9B93-F6E763E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 = [[1], [2]]">
            <a:extLst xmlns:a="http://schemas.openxmlformats.org/drawingml/2006/main">
              <a:ext uri="{FF2B5EF4-FFF2-40B4-BE49-F238E27FC236}">
                <a16:creationId xmlns:a16="http://schemas.microsoft.com/office/drawing/2014/main" id="{D4FCD26E-52EB-4842-BF09-1C86F9B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[[1], [2]]</a:t>
            </a:r>
          </a:p>
        </p:txBody>
      </p:sp>
      <p:sp>
        <p:nvSpPr>
          <p:cNvPr id="7" name="b = a.copy()">
            <a:extLst xmlns:a="http://schemas.openxmlformats.org/drawingml/2006/main">
              <a:ext uri="{FF2B5EF4-FFF2-40B4-BE49-F238E27FC236}">
                <a16:creationId xmlns:a16="http://schemas.microsoft.com/office/drawing/2014/main" id="{94BB1FE5-4F57-483D-A630-91A3063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a.copy()</a:t>
            </a:r>
          </a:p>
        </p:txBody>
      </p:sp>
      <p:sp>
        <p:nvSpPr>
          <p:cNvPr id="8" name="c = deepcopy(a)">
            <a:extLst xmlns:a="http://schemas.openxmlformats.org/drawingml/2006/main">
              <a:ext uri="{FF2B5EF4-FFF2-40B4-BE49-F238E27FC236}">
                <a16:creationId xmlns:a16="http://schemas.microsoft.com/office/drawing/2014/main" id="{D5002078-CC4E-43CB-87F0-B510513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deepcopy(a)</a:t>
            </a:r>
          </a:p>
        </p:txBody>
      </p:sp>
      <p:sp>
        <p:nvSpPr>
          <p:cNvPr id="9" name="a[0].append(9)">
            <a:extLst xmlns:a="http://schemas.openxmlformats.org/drawingml/2006/main">
              <a:ext uri="{FF2B5EF4-FFF2-40B4-BE49-F238E27FC236}">
                <a16:creationId xmlns:a16="http://schemas.microsoft.com/office/drawing/2014/main" id="{46E71045-7F72-4D62-9FCD-EED860C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a[0].append(9)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EBEB8-E231-41AD-8CE8-C07B537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b)">
            <a:extLst xmlns:a="http://schemas.openxmlformats.org/drawingml/2006/main">
              <a:ext uri="{FF2B5EF4-FFF2-40B4-BE49-F238E27FC236}">
                <a16:creationId xmlns:a16="http://schemas.microsoft.com/office/drawing/2014/main" id="{62A17C8E-B4ED-422C-9DC9-9813465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print(b)</a:t>
            </a:r>
          </a:p>
        </p:txBody>
      </p:sp>
      <p:sp>
        <p:nvSpPr>
          <p:cNvPr id="12" name="print(c)">
            <a:extLst xmlns:a="http://schemas.openxmlformats.org/drawingml/2006/main">
              <a:ext uri="{FF2B5EF4-FFF2-40B4-BE49-F238E27FC236}">
                <a16:creationId xmlns:a16="http://schemas.microsoft.com/office/drawing/2014/main" id="{3AB83AA3-B79C-4911-B35B-9101897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print(c)</a:t>
            </a:r>
          </a:p>
        </p:txBody>
      </p:sp>
      <p:sp>
        <p:nvSpPr>
          <p:cNvPr id="13" name="print(a is b, a[0] is b[0])">
            <a:extLst xmlns:a="http://schemas.openxmlformats.org/drawingml/2006/main">
              <a:ext uri="{FF2B5EF4-FFF2-40B4-BE49-F238E27FC236}">
                <a16:creationId xmlns:a16="http://schemas.microsoft.com/office/drawing/2014/main" id="{F06FB55A-B212-4AC7-9A4C-52C2A79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b, a[0] is b[0])</a:t>
            </a:r>
          </a:p>
        </p:txBody>
      </p:sp>
      <p:sp>
        <p:nvSpPr>
          <p:cNvPr id="14" name="copy 複製外層容器">
            <a:extLst xmlns:a="http://schemas.openxmlformats.org/drawingml/2006/main">
              <a:ext uri="{FF2B5EF4-FFF2-40B4-BE49-F238E27FC236}">
                <a16:creationId xmlns:a16="http://schemas.microsoft.com/office/drawing/2014/main" id="{21A2F890-047B-4E13-8C59-F2662D5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copy copies the outer container</a:t>
            </a:r>
          </a:p>
        </p:txBody>
      </p:sp>
      <p:sp>
        <p:nvSpPr>
          <p:cNvPr id="15" name="巢狀物件仍可能共用。 deepcopy 遞迴處理巢狀內容。">
            <a:extLst xmlns:a="http://schemas.openxmlformats.org/drawingml/2006/main">
              <a:ext uri="{FF2B5EF4-FFF2-40B4-BE49-F238E27FC236}">
                <a16:creationId xmlns:a16="http://schemas.microsoft.com/office/drawing/2014/main" id="{DCDB375B-996C-4F2F-948E-323743A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Nested objects may remain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shared. deepcopy recursively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copies nested contents.</a:t>
            </a:r>
          </a:p>
        </p:txBody>
      </p:sp>
      <p:sp>
        <p:nvSpPr>
          <p:cNvPr id="16" name="重複容器也會共用">
            <a:extLst xmlns:a="http://schemas.openxmlformats.org/drawingml/2006/main">
              <a:ext uri="{FF2B5EF4-FFF2-40B4-BE49-F238E27FC236}">
                <a16:creationId xmlns:a16="http://schemas.microsoft.com/office/drawing/2014/main" id="{6E560768-2C2E-4EA9-BC71-677EB43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Repetition also shares objects</a:t>
            </a:r>
          </a:p>
        </p:txBody>
      </p:sp>
      <p:sp>
        <p:nvSpPr>
          <p:cNvPr id="17" name="[[]] * 3 會共用內層 list。 [[] for _ in range(3)] 各自建立。">
            <a:extLst xmlns:a="http://schemas.openxmlformats.org/drawingml/2006/main">
              <a:ext uri="{FF2B5EF4-FFF2-40B4-BE49-F238E27FC236}">
                <a16:creationId xmlns:a16="http://schemas.microsoft.com/office/drawing/2014/main" id="{C1DF4C22-5052-4700-BED6-8D43C8C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[[]] * 3 shares one inner list.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[[] for _ in range(3)]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creates separate lists.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9B7B348-95AB-4449-8BAF-5A0154D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[[1, 9], [2]]    [[1], [2]]    False True">
            <a:extLst xmlns:a="http://schemas.openxmlformats.org/drawingml/2006/main">
              <a:ext uri="{FF2B5EF4-FFF2-40B4-BE49-F238E27FC236}">
                <a16:creationId xmlns:a16="http://schemas.microsoft.com/office/drawing/2014/main" id="{7F95E30F-815B-43B3-BB02-EE18580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[[1, 9], [2]]    [[1], [2]]    False True</a:t>
            </a:r>
          </a:p>
        </p:txBody>
      </p:sp>
    </p:spTree>
    <p:extLst>
      <p:ext uri="{BB962C8B-B14F-4D97-AF65-F5344CB8AC3E}">
        <p14:creationId xmlns:p14="http://schemas.microsoft.com/office/powerpoint/2010/main" val="12091217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函式物件與 lambda">
            <a:extLst xmlns:a="http://schemas.openxmlformats.org/drawingml/2006/main">
              <a:ext uri="{FF2B5EF4-FFF2-40B4-BE49-F238E27FC236}">
                <a16:creationId xmlns:a16="http://schemas.microsoft.com/office/drawing/2014/main" id="{19F7361B-47E4-4E5E-B8DA-EE6449E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Function objects and lambda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5D20C7FD-C9D3-490A-A3E6-242D677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Advanced functions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B4D7A0A5-B763-47F0-A2DA-2996145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def twice(x):">
            <a:extLst xmlns:a="http://schemas.openxmlformats.org/drawingml/2006/main">
              <a:ext uri="{FF2B5EF4-FFF2-40B4-BE49-F238E27FC236}">
                <a16:creationId xmlns:a16="http://schemas.microsoft.com/office/drawing/2014/main" id="{3499AC66-F449-4AFD-AC4E-010DD7E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twice(x):</a:t>
            </a:r>
          </a:p>
        </p:txBody>
      </p:sp>
      <p:sp>
        <p:nvSpPr>
          <p:cNvPr id="5" name="    return x * 2">
            <a:extLst xmlns:a="http://schemas.openxmlformats.org/drawingml/2006/main">
              <a:ext uri="{FF2B5EF4-FFF2-40B4-BE49-F238E27FC236}">
                <a16:creationId xmlns:a16="http://schemas.microsoft.com/office/drawing/2014/main" id="{F2830174-C493-432C-98F2-E47A208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x *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EF68-1C19-4FB4-B59F-2ACCEDA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operation = twice">
            <a:extLst xmlns:a="http://schemas.openxmlformats.org/drawingml/2006/main">
              <a:ext uri="{FF2B5EF4-FFF2-40B4-BE49-F238E27FC236}">
                <a16:creationId xmlns:a16="http://schemas.microsoft.com/office/drawing/2014/main" id="{0E548C7F-468B-4644-BBBE-8E3CF4D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operation = twice</a:t>
            </a:r>
          </a:p>
        </p:txBody>
      </p:sp>
      <p:sp>
        <p:nvSpPr>
          <p:cNvPr id="8" name="print(operation(3))">
            <a:extLst xmlns:a="http://schemas.openxmlformats.org/drawingml/2006/main">
              <a:ext uri="{FF2B5EF4-FFF2-40B4-BE49-F238E27FC236}">
                <a16:creationId xmlns:a16="http://schemas.microsoft.com/office/drawing/2014/main" id="{9C584B44-3078-4F8F-BE02-AB4972B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print(operation(3))</a:t>
            </a:r>
          </a:p>
        </p:txBody>
      </p:sp>
      <p:sp>
        <p:nvSpPr>
          <p:cNvPr id="9" name="print(list(map(twice, [1, 2, 3])))">
            <a:extLst xmlns:a="http://schemas.openxmlformats.org/drawingml/2006/main">
              <a:ext uri="{FF2B5EF4-FFF2-40B4-BE49-F238E27FC236}">
                <a16:creationId xmlns:a16="http://schemas.microsoft.com/office/drawing/2014/main" id="{91658544-25CC-4D23-BBEF-110076E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print(list(map(twice, [1, 2, 3])))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A8D26-FAA3-420C-9AB0-0D02FF8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names = [&quot;Cindy&quot;, &quot;Al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66A6C6AE-46F1-4A18-9678-07ED7BB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["Cindy", "Al", "Ben"]</a:t>
            </a:r>
          </a:p>
        </p:txBody>
      </p:sp>
      <p:sp>
        <p:nvSpPr>
          <p:cNvPr id="12" name="print(sorted(names, key=lambda x: len(x)))">
            <a:extLst xmlns:a="http://schemas.openxmlformats.org/drawingml/2006/main">
              <a:ext uri="{FF2B5EF4-FFF2-40B4-BE49-F238E27FC236}">
                <a16:creationId xmlns:a16="http://schemas.microsoft.com/office/drawing/2014/main" id="{42963B45-0A42-4163-B2F5-8E57AEB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print(sorted(names, key=lambda x: len(x)))</a:t>
            </a:r>
          </a:p>
        </p:txBody>
      </p:sp>
      <p:sp>
        <p:nvSpPr>
          <p:cNvPr id="13" name="函式可指定與傳遞">
            <a:extLst xmlns:a="http://schemas.openxmlformats.org/drawingml/2006/main">
              <a:ext uri="{FF2B5EF4-FFF2-40B4-BE49-F238E27FC236}">
                <a16:creationId xmlns:a16="http://schemas.microsoft.com/office/drawing/2014/main" id="{FB3A89CC-5263-429A-B7D2-44E266CF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Assigning and passing functions</a:t>
            </a:r>
          </a:p>
        </p:txBody>
      </p:sp>
      <p:sp>
        <p:nvSpPr>
          <p:cNvPr id="14" name="呼叫時使用括號。 map 的結果需走訪才取得值。">
            <a:extLst xmlns:a="http://schemas.openxmlformats.org/drawingml/2006/main">
              <a:ext uri="{FF2B5EF4-FFF2-40B4-BE49-F238E27FC236}">
                <a16:creationId xmlns:a16="http://schemas.microsoft.com/office/drawing/2014/main" id="{FC840439-A4D0-49B9-B4B8-C299080F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Parentheses call a function.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Iterate over map to obtain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its results.</a:t>
            </a:r>
          </a:p>
        </p:txBody>
      </p:sp>
      <p:sp>
        <p:nvSpPr>
          <p:cNvPr id="15" name="lambda 只含一個運算式">
            <a:extLst xmlns:a="http://schemas.openxmlformats.org/drawingml/2006/main">
              <a:ext uri="{FF2B5EF4-FFF2-40B4-BE49-F238E27FC236}">
                <a16:creationId xmlns:a16="http://schemas.microsoft.com/office/drawing/2014/main" id="{77F790F6-43F5-43C8-ACC3-D33475E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lambda contains one expression</a:t>
            </a:r>
          </a:p>
        </p:txBody>
      </p:sp>
      <p:sp>
        <p:nvSpPr>
          <p:cNvPr id="16" name="運算式的值就是回傳值。 多步驟處理使用 def 較清楚。">
            <a:extLst xmlns:a="http://schemas.openxmlformats.org/drawingml/2006/main">
              <a:ext uri="{FF2B5EF4-FFF2-40B4-BE49-F238E27FC236}">
                <a16:creationId xmlns:a16="http://schemas.microsoft.com/office/drawing/2014/main" id="{47EE0531-167B-4904-AA22-6B30EB7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Its value is the return value.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 def for clearer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multistep processing.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74A9FC6-62EE-4B7C-BCFB-9D78EE7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6    [2, 4, 6]    ['Al', 'Ben', 'Cindy']">
            <a:extLst xmlns:a="http://schemas.openxmlformats.org/drawingml/2006/main">
              <a:ext uri="{FF2B5EF4-FFF2-40B4-BE49-F238E27FC236}">
                <a16:creationId xmlns:a16="http://schemas.microsoft.com/office/drawing/2014/main" id="{CF7E4280-4EED-440E-9ECF-6688842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6    [2, 4, 6]    ['Al', 'Ben', 'Cindy']</a:t>
            </a:r>
          </a:p>
        </p:txBody>
      </p:sp>
    </p:spTree>
    <p:extLst>
      <p:ext uri="{BB962C8B-B14F-4D97-AF65-F5344CB8AC3E}">
        <p14:creationId xmlns:p14="http://schemas.microsoft.com/office/powerpoint/2010/main" val="13698379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裝飾器語法">
            <a:extLst xmlns:a="http://schemas.openxmlformats.org/drawingml/2006/main">
              <a:ext uri="{FF2B5EF4-FFF2-40B4-BE49-F238E27FC236}">
                <a16:creationId xmlns:a16="http://schemas.microsoft.com/office/drawing/2014/main" id="{21AE5702-14B6-455E-91F1-1EE98A3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Decorator syntax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B1A83612-B60B-4DE1-B28A-28397E5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Advanced functions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3BFCE29-1EFB-406F-8E57-946EB22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" name="from functools import wraps">
            <a:extLst xmlns:a="http://schemas.openxmlformats.org/drawingml/2006/main">
              <a:ext uri="{FF2B5EF4-FFF2-40B4-BE49-F238E27FC236}">
                <a16:creationId xmlns:a16="http://schemas.microsoft.com/office/drawing/2014/main" id="{183D158A-797B-42CA-8EA7-F7985BD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functools import wraps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97031-F9F8-414A-BC5D-3577F3E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trace(func):">
            <a:extLst xmlns:a="http://schemas.openxmlformats.org/drawingml/2006/main">
              <a:ext uri="{FF2B5EF4-FFF2-40B4-BE49-F238E27FC236}">
                <a16:creationId xmlns:a16="http://schemas.microsoft.com/office/drawing/2014/main" id="{7C8CEADD-75D1-4BFA-8B26-DE2BE5FA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trace(func):</a:t>
            </a:r>
          </a:p>
        </p:txBody>
      </p:sp>
      <p:sp>
        <p:nvSpPr>
          <p:cNvPr id="7" name="    @wraps(func)">
            <a:extLst xmlns:a="http://schemas.openxmlformats.org/drawingml/2006/main">
              <a:ext uri="{FF2B5EF4-FFF2-40B4-BE49-F238E27FC236}">
                <a16:creationId xmlns:a16="http://schemas.microsoft.com/office/drawing/2014/main" id="{3C6D7BA9-43A5-41CB-92A9-EA23A4F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@wraps(func)</a:t>
            </a:r>
          </a:p>
        </p:txBody>
      </p:sp>
      <p:sp>
        <p:nvSpPr>
          <p:cNvPr id="8" name="    def wrapper(*args, **kwargs):">
            <a:extLst xmlns:a="http://schemas.openxmlformats.org/drawingml/2006/main">
              <a:ext uri="{FF2B5EF4-FFF2-40B4-BE49-F238E27FC236}">
                <a16:creationId xmlns:a16="http://schemas.microsoft.com/office/drawing/2014/main" id="{625B27B4-C880-4332-A918-23C0914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wrapper(*args, **kwargs):</a:t>
            </a:r>
          </a:p>
        </p:txBody>
      </p:sp>
      <p:sp>
        <p:nvSpPr>
          <p:cNvPr id="9" name="        print(&quot;calling&quot;, func.__name__)">
            <a:extLst xmlns:a="http://schemas.openxmlformats.org/drawingml/2006/main">
              <a:ext uri="{FF2B5EF4-FFF2-40B4-BE49-F238E27FC236}">
                <a16:creationId xmlns:a16="http://schemas.microsoft.com/office/drawing/2014/main" id="{1BE8434B-F171-4DC9-82E2-9C73DD72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print("calling", func.__name__)</a:t>
            </a:r>
          </a:p>
        </p:txBody>
      </p:sp>
      <p:sp>
        <p:nvSpPr>
          <p:cNvPr id="10" name="        return func(*args, **kwargs)">
            <a:extLst xmlns:a="http://schemas.openxmlformats.org/drawingml/2006/main">
              <a:ext uri="{FF2B5EF4-FFF2-40B4-BE49-F238E27FC236}">
                <a16:creationId xmlns:a16="http://schemas.microsoft.com/office/drawing/2014/main" id="{0B27AC4B-5E64-4694-97AB-921E054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func(*args, **kwargs)</a:t>
            </a:r>
          </a:p>
        </p:txBody>
      </p:sp>
      <p:sp>
        <p:nvSpPr>
          <p:cNvPr id="11" name="    return wrapper">
            <a:extLst xmlns:a="http://schemas.openxmlformats.org/drawingml/2006/main">
              <a:ext uri="{FF2B5EF4-FFF2-40B4-BE49-F238E27FC236}">
                <a16:creationId xmlns:a16="http://schemas.microsoft.com/office/drawing/2014/main" id="{2C7563EA-4D9F-4B80-87D8-778FA749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wrapper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F68A-0DEE-455B-8729-18B0A962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@trace">
            <a:extLst xmlns:a="http://schemas.openxmlformats.org/drawingml/2006/main">
              <a:ext uri="{FF2B5EF4-FFF2-40B4-BE49-F238E27FC236}">
                <a16:creationId xmlns:a16="http://schemas.microsoft.com/office/drawing/2014/main" id="{56E86639-6B16-46D2-89DE-EAE2C62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@trace</a:t>
            </a:r>
          </a:p>
        </p:txBody>
      </p:sp>
      <p:sp>
        <p:nvSpPr>
          <p:cNvPr id="14" name="def square(x):">
            <a:extLst xmlns:a="http://schemas.openxmlformats.org/drawingml/2006/main">
              <a:ext uri="{FF2B5EF4-FFF2-40B4-BE49-F238E27FC236}">
                <a16:creationId xmlns:a16="http://schemas.microsoft.com/office/drawing/2014/main" id="{C56AC3E0-92DC-454C-8869-F0F8A6D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square(x):</a:t>
            </a:r>
          </a:p>
        </p:txBody>
      </p:sp>
      <p:sp>
        <p:nvSpPr>
          <p:cNvPr id="15" name="    return x * x">
            <a:extLst xmlns:a="http://schemas.openxmlformats.org/drawingml/2006/main">
              <a:ext uri="{FF2B5EF4-FFF2-40B4-BE49-F238E27FC236}">
                <a16:creationId xmlns:a16="http://schemas.microsoft.com/office/drawing/2014/main" id="{BEF53C6D-AE08-483B-9253-ECAB688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x *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D1A5B-6595-408D-B28D-1879BC0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print(square(3))">
            <a:extLst xmlns:a="http://schemas.openxmlformats.org/drawingml/2006/main">
              <a:ext uri="{FF2B5EF4-FFF2-40B4-BE49-F238E27FC236}">
                <a16:creationId xmlns:a16="http://schemas.microsoft.com/office/drawing/2014/main" id="{36F1809E-552E-4EC9-84A7-1A25391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print(square(3))</a:t>
            </a:r>
          </a:p>
        </p:txBody>
      </p:sp>
      <p:sp>
        <p:nvSpPr>
          <p:cNvPr id="18" name="@trace 套用裝飾器">
            <a:extLst xmlns:a="http://schemas.openxmlformats.org/drawingml/2006/main">
              <a:ext uri="{FF2B5EF4-FFF2-40B4-BE49-F238E27FC236}">
                <a16:creationId xmlns:a16="http://schemas.microsoft.com/office/drawing/2014/main" id="{1BD3E84F-2449-445C-92B4-6E470C5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@trace applies a decorator</a:t>
            </a:r>
          </a:p>
        </p:txBody>
      </p:sp>
      <p:sp>
        <p:nvSpPr>
          <p:cNvPr id="19" name="效果相當於定義後執行 square = trace(square)。">
            <a:extLst xmlns:a="http://schemas.openxmlformats.org/drawingml/2006/main">
              <a:ext uri="{FF2B5EF4-FFF2-40B4-BE49-F238E27FC236}">
                <a16:creationId xmlns:a16="http://schemas.microsoft.com/office/drawing/2014/main" id="{3BEA48E1-0691-4A35-BE66-A58C831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Equivalent to executing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square = trace(square)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after its definition.</a:t>
            </a:r>
          </a:p>
        </p:txBody>
      </p:sp>
      <p:sp>
        <p:nvSpPr>
          <p:cNvPr id="20" name="wrapper 包裝呼叫">
            <a:extLst xmlns:a="http://schemas.openxmlformats.org/drawingml/2006/main">
              <a:ext uri="{FF2B5EF4-FFF2-40B4-BE49-F238E27FC236}">
                <a16:creationId xmlns:a16="http://schemas.microsoft.com/office/drawing/2014/main" id="{63ECC2FE-0B06-4AAB-948A-D964483F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wrapper wraps a call</a:t>
            </a:r>
          </a:p>
        </p:txBody>
      </p:sp>
      <p:sp>
        <p:nvSpPr>
          <p:cNvPr id="21" name="wraps 保留名稱等中繼資料。 回傳原函式的執行結果。">
            <a:extLst xmlns:a="http://schemas.openxmlformats.org/drawingml/2006/main">
              <a:ext uri="{FF2B5EF4-FFF2-40B4-BE49-F238E27FC236}">
                <a16:creationId xmlns:a16="http://schemas.microsoft.com/office/drawing/2014/main" id="{53CB8292-0329-404A-B793-A896445F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wraps retains metadata,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such as the name. Return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original function result.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B102D3F-0EAD-498E-97E5-67D307A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3" name="calling square    9">
            <a:extLst xmlns:a="http://schemas.openxmlformats.org/drawingml/2006/main">
              <a:ext uri="{FF2B5EF4-FFF2-40B4-BE49-F238E27FC236}">
                <a16:creationId xmlns:a16="http://schemas.microsoft.com/office/drawing/2014/main" id="{AC8F93F9-256E-48A5-BA1A-E776438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calling square    9</a:t>
            </a:r>
          </a:p>
        </p:txBody>
      </p:sp>
    </p:spTree>
    <p:extLst>
      <p:ext uri="{BB962C8B-B14F-4D97-AF65-F5344CB8AC3E}">
        <p14:creationId xmlns:p14="http://schemas.microsoft.com/office/powerpoint/2010/main" val="2541739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terable 與 iterator">
            <a:extLst xmlns:a="http://schemas.openxmlformats.org/drawingml/2006/main">
              <a:ext uri="{FF2B5EF4-FFF2-40B4-BE49-F238E27FC236}">
                <a16:creationId xmlns:a16="http://schemas.microsoft.com/office/drawing/2014/main" id="{C0706E56-ED70-4EDA-AF77-4C6E85D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Iterables and iterators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1E075268-EB35-4A1E-A42F-8AF8E13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Iteration and generators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E1B276C-86A7-4C48-835C-22C13B50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values = [10, 20]">
            <a:extLst xmlns:a="http://schemas.openxmlformats.org/drawingml/2006/main">
              <a:ext uri="{FF2B5EF4-FFF2-40B4-BE49-F238E27FC236}">
                <a16:creationId xmlns:a16="http://schemas.microsoft.com/office/drawing/2014/main" id="{DFD0EF60-B96D-455A-8191-E2CA991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[10, 20]</a:t>
            </a:r>
          </a:p>
        </p:txBody>
      </p:sp>
      <p:sp>
        <p:nvSpPr>
          <p:cNvPr id="5" name="iterator = iter(values)">
            <a:extLst xmlns:a="http://schemas.openxmlformats.org/drawingml/2006/main">
              <a:ext uri="{FF2B5EF4-FFF2-40B4-BE49-F238E27FC236}">
                <a16:creationId xmlns:a16="http://schemas.microsoft.com/office/drawing/2014/main" id="{C8313D2C-BC6D-4E13-84AE-F9480A01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iterator = iter(values)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77EBD-3E01-475F-924C-5F204A8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C58E44A3-514F-493F-A12F-D3C8C8A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8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3C95C856-82E3-4432-AEC6-3E69669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9" name="print(next(iterator, &quot;done&quot;))">
            <a:extLst xmlns:a="http://schemas.openxmlformats.org/drawingml/2006/main">
              <a:ext uri="{FF2B5EF4-FFF2-40B4-BE49-F238E27FC236}">
                <a16:creationId xmlns:a16="http://schemas.microsoft.com/office/drawing/2014/main" id="{CB286A45-4224-40AE-BE97-6735B6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print(next(iterator, "done"))</a:t>
            </a:r>
          </a:p>
        </p:txBody>
      </p:sp>
      <p:sp>
        <p:nvSpPr>
          <p:cNvPr id="10" name="print(list(iterator))">
            <a:extLst xmlns:a="http://schemas.openxmlformats.org/drawingml/2006/main">
              <a:ext uri="{FF2B5EF4-FFF2-40B4-BE49-F238E27FC236}">
                <a16:creationId xmlns:a16="http://schemas.microsoft.com/office/drawing/2014/main" id="{F6F6278F-C132-4121-88DA-2496969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print(list(iterator))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9660F-A8D3-43A0-996D-41BEAF2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values))">
            <a:extLst xmlns:a="http://schemas.openxmlformats.org/drawingml/2006/main">
              <a:ext uri="{FF2B5EF4-FFF2-40B4-BE49-F238E27FC236}">
                <a16:creationId xmlns:a16="http://schemas.microsoft.com/office/drawing/2014/main" id="{C6AD4FCF-F6B9-4E00-9C1E-8334760A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print(list(values))</a:t>
            </a:r>
          </a:p>
        </p:txBody>
      </p:sp>
      <p:sp>
        <p:nvSpPr>
          <p:cNvPr id="13" name="iter 建立迭代器">
            <a:extLst xmlns:a="http://schemas.openxmlformats.org/drawingml/2006/main">
              <a:ext uri="{FF2B5EF4-FFF2-40B4-BE49-F238E27FC236}">
                <a16:creationId xmlns:a16="http://schemas.microsoft.com/office/drawing/2014/main" id="{5C316415-3BE8-4FDA-BFDF-B85B06F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iter creates an iterator</a:t>
            </a:r>
          </a:p>
        </p:txBody>
      </p:sp>
      <p:sp>
        <p:nvSpPr>
          <p:cNvPr id="14" name="next 取得下一個元素。 耗盡且無預設值時拋出 StopIteration。">
            <a:extLst xmlns:a="http://schemas.openxmlformats.org/drawingml/2006/main">
              <a:ext uri="{FF2B5EF4-FFF2-40B4-BE49-F238E27FC236}">
                <a16:creationId xmlns:a16="http://schemas.microsoft.com/office/drawing/2014/main" id="{A863A9D8-4B29-46A3-8876-42F1BC5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next gets the next item.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Exhaustion without a default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raises StopIteration.</a:t>
            </a:r>
          </a:p>
        </p:txBody>
      </p:sp>
      <p:sp>
        <p:nvSpPr>
          <p:cNvPr id="15" name="迭代器會耗盡">
            <a:extLst xmlns:a="http://schemas.openxmlformats.org/drawingml/2006/main">
              <a:ext uri="{FF2B5EF4-FFF2-40B4-BE49-F238E27FC236}">
                <a16:creationId xmlns:a16="http://schemas.microsoft.com/office/drawing/2014/main" id="{D1C0D032-E223-46A1-BFBE-1A42207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Iterators become exhausted</a:t>
            </a:r>
          </a:p>
        </p:txBody>
      </p:sp>
      <p:sp>
        <p:nvSpPr>
          <p:cNvPr id="16" name="list 可再建立新的迭代器。 原迭代器已沒有剩餘元素。">
            <a:extLst xmlns:a="http://schemas.openxmlformats.org/drawingml/2006/main">
              <a:ext uri="{FF2B5EF4-FFF2-40B4-BE49-F238E27FC236}">
                <a16:creationId xmlns:a16="http://schemas.microsoft.com/office/drawing/2014/main" id="{2A32DC4F-73C9-416A-BEBC-8B8BE09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list can create a new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iterator. The old iterator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has no elements left.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9951BB5-B1A7-4AD1-BB62-1E83013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10    20    done    []    [10, 20]">
            <a:extLst xmlns:a="http://schemas.openxmlformats.org/drawingml/2006/main">
              <a:ext uri="{FF2B5EF4-FFF2-40B4-BE49-F238E27FC236}">
                <a16:creationId xmlns:a16="http://schemas.microsoft.com/office/drawing/2014/main" id="{C2310F06-89D6-4ED2-B4D1-91CCD0E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20    done    []    [10, 20]</a:t>
            </a:r>
          </a:p>
        </p:txBody>
      </p:sp>
    </p:spTree>
    <p:extLst>
      <p:ext uri="{BB962C8B-B14F-4D97-AF65-F5344CB8AC3E}">
        <p14:creationId xmlns:p14="http://schemas.microsoft.com/office/powerpoint/2010/main" val="2675644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yield 與生成器運算式">
            <a:extLst xmlns:a="http://schemas.openxmlformats.org/drawingml/2006/main">
              <a:ext uri="{FF2B5EF4-FFF2-40B4-BE49-F238E27FC236}">
                <a16:creationId xmlns:a16="http://schemas.microsoft.com/office/drawing/2014/main" id="{6FCD3F2E-F810-4D9A-A7E1-7850241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yield and generator expressions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4A475A24-2592-435A-9CC6-B2A618C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Iteration and generators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DDA47F17-FE08-4362-A953-AD9F654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4" name="def numbers():">
            <a:extLst xmlns:a="http://schemas.openxmlformats.org/drawingml/2006/main">
              <a:ext uri="{FF2B5EF4-FFF2-40B4-BE49-F238E27FC236}">
                <a16:creationId xmlns:a16="http://schemas.microsoft.com/office/drawing/2014/main" id="{2F796E04-3203-48F4-915F-DF07124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numbers():</a:t>
            </a:r>
          </a:p>
        </p:txBody>
      </p:sp>
      <p:sp>
        <p:nvSpPr>
          <p:cNvPr id="5" name="    yield 1">
            <a:extLst xmlns:a="http://schemas.openxmlformats.org/drawingml/2006/main">
              <a:ext uri="{FF2B5EF4-FFF2-40B4-BE49-F238E27FC236}">
                <a16:creationId xmlns:a16="http://schemas.microsoft.com/office/drawing/2014/main" id="{7CE710B2-548B-4FE6-A7FA-1B03CD7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1</a:t>
            </a:r>
          </a:p>
        </p:txBody>
      </p:sp>
      <p:sp>
        <p:nvSpPr>
          <p:cNvPr id="6" name="    yield from [2, 3]">
            <a:extLst xmlns:a="http://schemas.openxmlformats.org/drawingml/2006/main">
              <a:ext uri="{FF2B5EF4-FFF2-40B4-BE49-F238E27FC236}">
                <a16:creationId xmlns:a16="http://schemas.microsoft.com/office/drawing/2014/main" id="{1E12A287-D7F8-466F-81ED-AC7D987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from [2, 3]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0E63-060E-42D6-9E34-61C4DE4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g = numbers()">
            <a:extLst xmlns:a="http://schemas.openxmlformats.org/drawingml/2006/main">
              <a:ext uri="{FF2B5EF4-FFF2-40B4-BE49-F238E27FC236}">
                <a16:creationId xmlns:a16="http://schemas.microsoft.com/office/drawing/2014/main" id="{91D5273F-686E-4803-8806-2C27CA6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 = numbers()</a:t>
            </a:r>
          </a:p>
        </p:txBody>
      </p:sp>
      <p:sp>
        <p:nvSpPr>
          <p:cNvPr id="9" name="print(next(g))">
            <a:extLst xmlns:a="http://schemas.openxmlformats.org/drawingml/2006/main">
              <a:ext uri="{FF2B5EF4-FFF2-40B4-BE49-F238E27FC236}">
                <a16:creationId xmlns:a16="http://schemas.microsoft.com/office/drawing/2014/main" id="{53AA0706-784E-4E95-8279-BDF469C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print(next(g))</a:t>
            </a:r>
          </a:p>
        </p:txBody>
      </p:sp>
      <p:sp>
        <p:nvSpPr>
          <p:cNvPr id="10" name="print(list(g))">
            <a:extLst xmlns:a="http://schemas.openxmlformats.org/drawingml/2006/main">
              <a:ext uri="{FF2B5EF4-FFF2-40B4-BE49-F238E27FC236}">
                <a16:creationId xmlns:a16="http://schemas.microsoft.com/office/drawing/2014/main" id="{DE548721-1E15-43A2-89D3-07301DF4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print(list(g))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6AB9-A044-478C-8208-F182D1A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quares = (x * x for x in range(3))">
            <a:extLst xmlns:a="http://schemas.openxmlformats.org/drawingml/2006/main">
              <a:ext uri="{FF2B5EF4-FFF2-40B4-BE49-F238E27FC236}">
                <a16:creationId xmlns:a16="http://schemas.microsoft.com/office/drawing/2014/main" id="{969C771C-E4E0-4DEE-AFBD-6DDD3EA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squares = (x * x for x in range(3))</a:t>
            </a:r>
          </a:p>
        </p:txBody>
      </p:sp>
      <p:sp>
        <p:nvSpPr>
          <p:cNvPr id="13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A711F191-072C-429A-82DE-8CDD550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4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3760479E-6ED3-4738-AE46-F06BD31E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5" name="yield 暫停並產生值">
            <a:extLst xmlns:a="http://schemas.openxmlformats.org/drawingml/2006/main">
              <a:ext uri="{FF2B5EF4-FFF2-40B4-BE49-F238E27FC236}">
                <a16:creationId xmlns:a16="http://schemas.microsoft.com/office/drawing/2014/main" id="{40E7D4DB-8CE0-447B-B807-81CDE58A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yield produces a value and pauses</a:t>
            </a:r>
          </a:p>
        </p:txBody>
      </p:sp>
      <p:sp>
        <p:nvSpPr>
          <p:cNvPr id="16" name="下次走訪從暫停處繼續。 yield from 委派給另一 iterable。">
            <a:extLst xmlns:a="http://schemas.openxmlformats.org/drawingml/2006/main">
              <a:ext uri="{FF2B5EF4-FFF2-40B4-BE49-F238E27FC236}">
                <a16:creationId xmlns:a16="http://schemas.microsoft.com/office/drawing/2014/main" id="{4754CE8E-9C31-438D-8B72-5335212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Iteration resumes where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 paused. yield from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delegates to another iterable.</a:t>
            </a:r>
          </a:p>
        </p:txBody>
      </p:sp>
      <p:sp>
        <p:nvSpPr>
          <p:cNvPr id="17" name="生成器採惰性求值">
            <a:extLst xmlns:a="http://schemas.openxmlformats.org/drawingml/2006/main">
              <a:ext uri="{FF2B5EF4-FFF2-40B4-BE49-F238E27FC236}">
                <a16:creationId xmlns:a16="http://schemas.microsoft.com/office/drawing/2014/main" id="{B4F358B4-8127-425C-93A4-AE87936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Generators evaluate lazily</a:t>
            </a:r>
          </a:p>
        </p:txBody>
      </p:sp>
      <p:sp>
        <p:nvSpPr>
          <p:cNvPr id="18" name="呼叫生成器函式先建立物件。 生成器運算式使用圓括號。">
            <a:extLst xmlns:a="http://schemas.openxmlformats.org/drawingml/2006/main">
              <a:ext uri="{FF2B5EF4-FFF2-40B4-BE49-F238E27FC236}">
                <a16:creationId xmlns:a16="http://schemas.microsoft.com/office/drawing/2014/main" id="{99979D38-2A3F-48C5-9BC1-0F139C3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Calling a generator function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creates a generator object.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Expressions use parentheses.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3EEA6B5-AB92-48BA-A9A7-34259AF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1    [2, 3]    [0, 1, 4]    []">
            <a:extLst xmlns:a="http://schemas.openxmlformats.org/drawingml/2006/main">
              <a:ext uri="{FF2B5EF4-FFF2-40B4-BE49-F238E27FC236}">
                <a16:creationId xmlns:a16="http://schemas.microsoft.com/office/drawing/2014/main" id="{935D8BDC-760B-428E-B606-6AC7BB2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[2, 3]    [0, 1, 4]    []</a:t>
            </a:r>
          </a:p>
        </p:txBody>
      </p:sp>
    </p:spTree>
    <p:extLst>
      <p:ext uri="{BB962C8B-B14F-4D97-AF65-F5344CB8AC3E}">
        <p14:creationId xmlns:p14="http://schemas.microsoft.com/office/powerpoint/2010/main" val="1123010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mport 與程式進入點">
            <a:extLst xmlns:a="http://schemas.openxmlformats.org/drawingml/2006/main">
              <a:ext uri="{FF2B5EF4-FFF2-40B4-BE49-F238E27FC236}">
                <a16:creationId xmlns:a16="http://schemas.microsoft.com/office/drawing/2014/main" id="{E19244A9-2292-45B4-940C-9D29554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import and the program entry point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F49A3DFF-7D61-4386-B225-7AF5DDB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Modules and packages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30F33539-D743-4279-B759-68FF834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4" name="import math">
            <a:extLst xmlns:a="http://schemas.openxmlformats.org/drawingml/2006/main">
              <a:ext uri="{FF2B5EF4-FFF2-40B4-BE49-F238E27FC236}">
                <a16:creationId xmlns:a16="http://schemas.microsoft.com/office/drawing/2014/main" id="{FACD606B-1262-4993-8EB6-4DA359F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math</a:t>
            </a:r>
          </a:p>
        </p:txBody>
      </p:sp>
      <p:sp>
        <p:nvSpPr>
          <p:cNvPr id="5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91AAEDA4-2649-40BB-80AA-4B5CCC1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6" name="import statistics as stats">
            <a:extLst xmlns:a="http://schemas.openxmlformats.org/drawingml/2006/main">
              <a:ext uri="{FF2B5EF4-FFF2-40B4-BE49-F238E27FC236}">
                <a16:creationId xmlns:a16="http://schemas.microsoft.com/office/drawing/2014/main" id="{0A9509C0-B71B-42C3-A2ED-84FD04C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statistics as stats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99A8-8CD8-4D3B-AC24-92865E2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main():">
            <a:extLst xmlns:a="http://schemas.openxmlformats.org/drawingml/2006/main">
              <a:ext uri="{FF2B5EF4-FFF2-40B4-BE49-F238E27FC236}">
                <a16:creationId xmlns:a16="http://schemas.microsoft.com/office/drawing/2014/main" id="{46E5537F-5651-4F36-96B7-EEEB9A03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main():</a:t>
            </a:r>
          </a:p>
        </p:txBody>
      </p:sp>
      <p:sp>
        <p:nvSpPr>
          <p:cNvPr id="9" name="    print(math.isqrt(17))">
            <a:extLst xmlns:a="http://schemas.openxmlformats.org/drawingml/2006/main">
              <a:ext uri="{FF2B5EF4-FFF2-40B4-BE49-F238E27FC236}">
                <a16:creationId xmlns:a16="http://schemas.microsoft.com/office/drawing/2014/main" id="{D5438978-674E-4C2E-9F4B-EDF443D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print(math.isqrt(17))</a:t>
            </a:r>
          </a:p>
        </p:txBody>
      </p:sp>
      <p:sp>
        <p:nvSpPr>
          <p:cNvPr id="10" name="    print(stats.mean([2, 4, 6]))">
            <a:extLst xmlns:a="http://schemas.openxmlformats.org/drawingml/2006/main">
              <a:ext uri="{FF2B5EF4-FFF2-40B4-BE49-F238E27FC236}">
                <a16:creationId xmlns:a16="http://schemas.microsoft.com/office/drawing/2014/main" id="{9D828FEA-F061-47F7-A00B-7348C4E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print(stats.mean([2, 4, 6]))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3141E-CBCB-4FC7-8C5F-36180BF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C178F412-3D7D-45AF-9436-AA3EBF8E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13" name="    main()">
            <a:extLst xmlns:a="http://schemas.openxmlformats.org/drawingml/2006/main">
              <a:ext uri="{FF2B5EF4-FFF2-40B4-BE49-F238E27FC236}">
                <a16:creationId xmlns:a16="http://schemas.microsoft.com/office/drawing/2014/main" id="{675ABD11-21C0-459C-9D28-0543A16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main()</a:t>
            </a:r>
          </a:p>
        </p:txBody>
      </p:sp>
      <p:sp>
        <p:nvSpPr>
          <p:cNvPr id="14" name="import 建立可用名稱">
            <a:extLst xmlns:a="http://schemas.openxmlformats.org/drawingml/2006/main">
              <a:ext uri="{FF2B5EF4-FFF2-40B4-BE49-F238E27FC236}">
                <a16:creationId xmlns:a16="http://schemas.microsoft.com/office/drawing/2014/main" id="{3AE54742-7CDA-4CC2-A29F-02AE3C6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import binds names</a:t>
            </a:r>
          </a:p>
        </p:txBody>
      </p:sp>
      <p:sp>
        <p:nvSpPr>
          <p:cNvPr id="15" name="as 指定本地別名。 模組首次匯入會執行頂層敘述。">
            <a:extLst xmlns:a="http://schemas.openxmlformats.org/drawingml/2006/main">
              <a:ext uri="{FF2B5EF4-FFF2-40B4-BE49-F238E27FC236}">
                <a16:creationId xmlns:a16="http://schemas.microsoft.com/office/drawing/2014/main" id="{C459D286-953A-4730-9090-A2C91E07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as provides a local alias.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first import executes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top-level module statements.</a:t>
            </a:r>
          </a:p>
        </p:txBody>
      </p:sp>
      <p:sp>
        <p:nvSpPr>
          <p:cNvPr id="16" name="直接執行與匯入">
            <a:extLst xmlns:a="http://schemas.openxmlformats.org/drawingml/2006/main">
              <a:ext uri="{FF2B5EF4-FFF2-40B4-BE49-F238E27FC236}">
                <a16:creationId xmlns:a16="http://schemas.microsoft.com/office/drawing/2014/main" id="{C8C9FDC0-C07C-465D-9AE2-B75831D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Direct execution vs. import</a:t>
            </a:r>
          </a:p>
        </p:txBody>
      </p:sp>
      <p:sp>
        <p:nvSpPr>
          <p:cNvPr id="17" name="直接執行時 __name__ 為 &quot;__main__&quot;。">
            <a:extLst xmlns:a="http://schemas.openxmlformats.org/drawingml/2006/main">
              <a:ext uri="{FF2B5EF4-FFF2-40B4-BE49-F238E27FC236}">
                <a16:creationId xmlns:a16="http://schemas.microsoft.com/office/drawing/2014/main" id="{27855635-AC8E-425A-99F0-898C149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During direct execution,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__name__ is "__main__".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E96A151-D0FA-4150-AA58-E7DA7CB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4    4">
            <a:extLst xmlns:a="http://schemas.openxmlformats.org/drawingml/2006/main">
              <a:ext uri="{FF2B5EF4-FFF2-40B4-BE49-F238E27FC236}">
                <a16:creationId xmlns:a16="http://schemas.microsoft.com/office/drawing/2014/main" id="{C4F67E6E-F870-43A3-A451-BBD99B8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4    4</a:t>
            </a:r>
          </a:p>
        </p:txBody>
      </p:sp>
    </p:spTree>
    <p:extLst>
      <p:ext uri="{BB962C8B-B14F-4D97-AF65-F5344CB8AC3E}">
        <p14:creationId xmlns:p14="http://schemas.microsoft.com/office/powerpoint/2010/main" val="5502889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套件結構與相對匯入">
            <a:extLst xmlns:a="http://schemas.openxmlformats.org/drawingml/2006/main">
              <a:ext uri="{FF2B5EF4-FFF2-40B4-BE49-F238E27FC236}">
                <a16:creationId xmlns:a16="http://schemas.microsoft.com/office/drawing/2014/main" id="{EEE72D25-0389-4EAF-B2AD-4C28179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Package structure and relative imports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65F8D39C-D71D-48D2-934B-EAC3E4DD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Modules and packages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8393AAF2-5648-41CE-B440-27EE572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4" name="# Package layout">
            <a:extLst xmlns:a="http://schemas.openxmlformats.org/drawingml/2006/main">
              <a:ext uri="{FF2B5EF4-FFF2-40B4-BE49-F238E27FC236}">
                <a16:creationId xmlns:a16="http://schemas.microsoft.com/office/drawing/2014/main" id="{376750E0-C2F1-4324-B8A9-90194CD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Package layout</a:t>
            </a:r>
          </a:p>
        </p:txBody>
      </p:sp>
      <p:sp>
        <p:nvSpPr>
          <p:cNvPr id="5" name="# tools/">
            <a:extLst xmlns:a="http://schemas.openxmlformats.org/drawingml/2006/main">
              <a:ext uri="{FF2B5EF4-FFF2-40B4-BE49-F238E27FC236}">
                <a16:creationId xmlns:a16="http://schemas.microsoft.com/office/drawing/2014/main" id="{C4CC73FF-CB5B-4E3F-A7B4-49E1FE9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</a:t>
            </a:r>
          </a:p>
        </p:txBody>
      </p:sp>
      <p:sp>
        <p:nvSpPr>
          <p:cNvPr id="6" name="#   __init__.py">
            <a:extLst xmlns:a="http://schemas.openxmlformats.org/drawingml/2006/main">
              <a:ext uri="{FF2B5EF4-FFF2-40B4-BE49-F238E27FC236}">
                <a16:creationId xmlns:a16="http://schemas.microsoft.com/office/drawing/2014/main" id="{2A50968D-1F98-4353-8139-CE419827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__init__.py</a:t>
            </a:r>
          </a:p>
        </p:txBody>
      </p:sp>
      <p:sp>
        <p:nvSpPr>
          <p:cNvPr id="7" name="#   text.py">
            <a:extLst xmlns:a="http://schemas.openxmlformats.org/drawingml/2006/main">
              <a:ext uri="{FF2B5EF4-FFF2-40B4-BE49-F238E27FC236}">
                <a16:creationId xmlns:a16="http://schemas.microsoft.com/office/drawing/2014/main" id="{3B8BBDAA-BC9A-400C-B9D4-99B6697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text.py</a:t>
            </a:r>
          </a:p>
        </p:txBody>
      </p:sp>
      <p:sp>
        <p:nvSpPr>
          <p:cNvPr id="8" name="#   app.py">
            <a:extLst xmlns:a="http://schemas.openxmlformats.org/drawingml/2006/main">
              <a:ext uri="{FF2B5EF4-FFF2-40B4-BE49-F238E27FC236}">
                <a16:creationId xmlns:a16="http://schemas.microsoft.com/office/drawing/2014/main" id="{896284E5-DEE7-4705-8CFA-0052A1C1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app.py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A3DA5-50A3-4DEC-8691-6F04041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tools/app.py">
            <a:extLst xmlns:a="http://schemas.openxmlformats.org/drawingml/2006/main">
              <a:ext uri="{FF2B5EF4-FFF2-40B4-BE49-F238E27FC236}">
                <a16:creationId xmlns:a16="http://schemas.microsoft.com/office/drawing/2014/main" id="{152A4DA6-D562-4B65-A7F0-97AA6CB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tools/app.py</a:t>
            </a:r>
          </a:p>
        </p:txBody>
      </p:sp>
      <p:sp>
        <p:nvSpPr>
          <p:cNvPr id="11" name="from .text import clean">
            <a:extLst xmlns:a="http://schemas.openxmlformats.org/drawingml/2006/main">
              <a:ext uri="{FF2B5EF4-FFF2-40B4-BE49-F238E27FC236}">
                <a16:creationId xmlns:a16="http://schemas.microsoft.com/office/drawing/2014/main" id="{D1158DC5-71B6-478F-899F-A86C9C4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.text import 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8B0C-4565-4AC2-89A9-34F5E84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# Outside the package">
            <a:extLst xmlns:a="http://schemas.openxmlformats.org/drawingml/2006/main">
              <a:ext uri="{FF2B5EF4-FFF2-40B4-BE49-F238E27FC236}">
                <a16:creationId xmlns:a16="http://schemas.microsoft.com/office/drawing/2014/main" id="{701D5A66-90BF-4E70-9B03-3D4F7CE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Outside the package</a:t>
            </a:r>
          </a:p>
        </p:txBody>
      </p:sp>
      <p:sp>
        <p:nvSpPr>
          <p:cNvPr id="14" name="from tools.text import clean">
            <a:extLst xmlns:a="http://schemas.openxmlformats.org/drawingml/2006/main">
              <a:ext uri="{FF2B5EF4-FFF2-40B4-BE49-F238E27FC236}">
                <a16:creationId xmlns:a16="http://schemas.microsoft.com/office/drawing/2014/main" id="{AE3B5992-A4A5-46C6-A421-94C9D48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tools.text import clean</a:t>
            </a:r>
          </a:p>
        </p:txBody>
      </p:sp>
      <p:sp>
        <p:nvSpPr>
          <p:cNvPr id="15" name="一般套件有 __init__.py">
            <a:extLst xmlns:a="http://schemas.openxmlformats.org/drawingml/2006/main">
              <a:ext uri="{FF2B5EF4-FFF2-40B4-BE49-F238E27FC236}">
                <a16:creationId xmlns:a16="http://schemas.microsoft.com/office/drawing/2014/main" id="{BEBE7FE7-E2E5-48CF-BC34-D3CB060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Regular packages: __init__.py</a:t>
            </a:r>
          </a:p>
        </p:txBody>
      </p:sp>
      <p:sp>
        <p:nvSpPr>
          <p:cNvPr id="16" name="命名空間套件可省略此檔。 套件用來組織模組名稱。">
            <a:extLst xmlns:a="http://schemas.openxmlformats.org/drawingml/2006/main">
              <a:ext uri="{FF2B5EF4-FFF2-40B4-BE49-F238E27FC236}">
                <a16:creationId xmlns:a16="http://schemas.microsoft.com/office/drawing/2014/main" id="{967F189E-6FC4-4FD3-A1C4-B4EF46B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Namespace packages may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omit this file. Packages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organize module names.</a:t>
            </a:r>
          </a:p>
        </p:txBody>
      </p:sp>
      <p:sp>
        <p:nvSpPr>
          <p:cNvPr id="17" name="相對匯入依套件脈絡">
            <a:extLst xmlns:a="http://schemas.openxmlformats.org/drawingml/2006/main">
              <a:ext uri="{FF2B5EF4-FFF2-40B4-BE49-F238E27FC236}">
                <a16:creationId xmlns:a16="http://schemas.microsoft.com/office/drawing/2014/main" id="{A4BBBE49-7195-49B7-AA3A-30E9CBA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Relative imports need context</a:t>
            </a:r>
          </a:p>
        </p:txBody>
      </p:sp>
      <p:sp>
        <p:nvSpPr>
          <p:cNvPr id="18" name=". 表示目前套件。 可用 python -m tools.app 執行。">
            <a:extLst xmlns:a="http://schemas.openxmlformats.org/drawingml/2006/main">
              <a:ext uri="{FF2B5EF4-FFF2-40B4-BE49-F238E27FC236}">
                <a16:creationId xmlns:a16="http://schemas.microsoft.com/office/drawing/2014/main" id="{62E7A43F-D14B-4B98-9A8E-30E2C3D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. means the current package.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Run with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-m tools.app.</a:t>
            </a:r>
          </a:p>
        </p:txBody>
      </p:sp>
      <p:sp>
        <p:nvSpPr>
          <p:cNvPr id="19" name="程式結構示意。tools/text.py 需實際定義 clean，才能執行匯入。">
            <a:extLst xmlns:a="http://schemas.openxmlformats.org/drawingml/2006/main">
              <a:ext uri="{FF2B5EF4-FFF2-40B4-BE49-F238E27FC236}">
                <a16:creationId xmlns:a16="http://schemas.microsoft.com/office/drawing/2014/main" id="{61BAF80E-63C7-489D-B601-ED2BA0B7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Package layout example. tools/text.py must define clean before these imports can run.</a:t>
            </a:r>
          </a:p>
        </p:txBody>
      </p:sp>
    </p:spTree>
    <p:extLst>
      <p:ext uri="{BB962C8B-B14F-4D97-AF65-F5344CB8AC3E}">
        <p14:creationId xmlns:p14="http://schemas.microsoft.com/office/powerpoint/2010/main" val="585925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模組、發行套件與執行環境">
            <a:extLst xmlns:a="http://schemas.openxmlformats.org/drawingml/2006/main">
              <a:ext uri="{FF2B5EF4-FFF2-40B4-BE49-F238E27FC236}">
                <a16:creationId xmlns:a16="http://schemas.microsoft.com/office/drawing/2014/main" id="{2307E444-CEEE-4716-8997-1409107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Modules, distributions and environments</a:t>
            </a:r>
          </a:p>
        </p:txBody>
      </p:sp>
      <p:sp>
        <p:nvSpPr>
          <p:cNvPr id="2" name="43">
            <a:extLst xmlns:a="http://schemas.openxmlformats.org/drawingml/2006/main">
              <a:ext uri="{FF2B5EF4-FFF2-40B4-BE49-F238E27FC236}">
                <a16:creationId xmlns:a16="http://schemas.microsoft.com/office/drawing/2014/main" id="{773FE6E4-7250-41D9-9214-F258389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e7920d53a44df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4" name="模組與匯入套件">
            <a:extLst xmlns:a="http://schemas.openxmlformats.org/drawingml/2006/main">
              <a:ext uri="{FF2B5EF4-FFF2-40B4-BE49-F238E27FC236}">
                <a16:creationId xmlns:a16="http://schemas.microsoft.com/office/drawing/2014/main" id="{3F6BAB5D-A23B-4FF0-AD54-DF57E61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Modules and import packages</a:t>
            </a:r>
          </a:p>
        </p:txBody>
      </p:sp>
      <p:sp>
        <p:nvSpPr>
          <p:cNvPr id="5" name="程式內以 import 使用">
            <a:extLst xmlns:a="http://schemas.openxmlformats.org/drawingml/2006/main">
              <a:ext uri="{FF2B5EF4-FFF2-40B4-BE49-F238E27FC236}">
                <a16:creationId xmlns:a16="http://schemas.microsoft.com/office/drawing/2014/main" id="{3787E1F6-1EDA-4FAF-A004-E69C4B6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Used in code with import</a:t>
            </a:r>
          </a:p>
        </p:txBody>
      </p:sp>
      <p:sp>
        <p:nvSpPr>
          <p:cNvPr id="6" name="發行套件與 PyPI">
            <a:extLst xmlns:a="http://schemas.openxmlformats.org/drawingml/2006/main">
              <a:ext uri="{FF2B5EF4-FFF2-40B4-BE49-F238E27FC236}">
                <a16:creationId xmlns:a16="http://schemas.microsoft.com/office/drawing/2014/main" id="{1903EA3E-D2DA-44FF-8FF6-058BE57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Distributions and PyPI</a:t>
            </a:r>
          </a:p>
        </p:txBody>
      </p:sp>
      <p:sp>
        <p:nvSpPr>
          <p:cNvPr id="7" name="安裝與發布所使用的單位">
            <a:extLst xmlns:a="http://schemas.openxmlformats.org/drawingml/2006/main">
              <a:ext uri="{FF2B5EF4-FFF2-40B4-BE49-F238E27FC236}">
                <a16:creationId xmlns:a16="http://schemas.microsoft.com/office/drawing/2014/main" id="{448BFA12-F0B2-46B7-8A56-60BAECE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Units of installation and publication</a:t>
            </a:r>
          </a:p>
        </p:txBody>
      </p:sp>
      <p:sp>
        <p:nvSpPr>
          <p:cNvPr id="8" name="venv 與 pip">
            <a:extLst xmlns:a="http://schemas.openxmlformats.org/drawingml/2006/main">
              <a:ext uri="{FF2B5EF4-FFF2-40B4-BE49-F238E27FC236}">
                <a16:creationId xmlns:a16="http://schemas.microsoft.com/office/drawing/2014/main" id="{7E6DF5A0-8688-4E2E-AFBE-6E5B0DB6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venv and pip</a:t>
            </a:r>
          </a:p>
        </p:txBody>
      </p:sp>
      <p:sp>
        <p:nvSpPr>
          <p:cNvPr id="9" name="隔離環境與管理相依套件">
            <a:extLst xmlns:a="http://schemas.openxmlformats.org/drawingml/2006/main">
              <a:ext uri="{FF2B5EF4-FFF2-40B4-BE49-F238E27FC236}">
                <a16:creationId xmlns:a16="http://schemas.microsoft.com/office/drawing/2014/main" id="{99D05DE9-69C7-4BC1-A300-BC1AB97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Isolated environments and dependencies</a:t>
            </a:r>
          </a:p>
        </p:txBody>
      </p:sp>
      <p:sp>
        <p:nvSpPr>
          <p:cNvPr id="10" name="python -m venv .venv python -m pip --version">
            <a:extLst xmlns:a="http://schemas.openxmlformats.org/drawingml/2006/main">
              <a:ext uri="{FF2B5EF4-FFF2-40B4-BE49-F238E27FC236}">
                <a16:creationId xmlns:a16="http://schemas.microsoft.com/office/drawing/2014/main" id="{E0336614-42D2-4E03-AAA5-07B8C2F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9830308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thlib 與文字檔">
            <a:extLst xmlns:a="http://schemas.openxmlformats.org/drawingml/2006/main">
              <a:ext uri="{FF2B5EF4-FFF2-40B4-BE49-F238E27FC236}">
                <a16:creationId xmlns:a16="http://schemas.microsoft.com/office/drawing/2014/main" id="{6BA8BDE0-F4E8-4E52-BC21-2A0A5DA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pathlib and text files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7A984877-C7A7-4CC4-88EB-DB4A7BD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File handling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23B6CEE4-62A7-4D3D-BF24-00FB1378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4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275B37A6-7347-4504-9B03-FE2C21F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56E08-9A80-4F57-94AF-669C98F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ath = Path(&quot;message.txt&quot;)">
            <a:extLst xmlns:a="http://schemas.openxmlformats.org/drawingml/2006/main">
              <a:ext uri="{FF2B5EF4-FFF2-40B4-BE49-F238E27FC236}">
                <a16:creationId xmlns:a16="http://schemas.microsoft.com/office/drawing/2014/main" id="{3D01F4E6-44CC-4657-8A6A-342CA1D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 = Path("message.txt")</a:t>
            </a:r>
          </a:p>
        </p:txBody>
      </p:sp>
      <p:sp>
        <p:nvSpPr>
          <p:cNvPr id="7" name="path.write_text(&quot;Hello\nPython&quot;, encoding=&quot;utf-8&quot;)">
            <a:extLst xmlns:a="http://schemas.openxmlformats.org/drawingml/2006/main">
              <a:ext uri="{FF2B5EF4-FFF2-40B4-BE49-F238E27FC236}">
                <a16:creationId xmlns:a16="http://schemas.microsoft.com/office/drawing/2014/main" id="{251754F4-DE2F-49A1-9AED-DE3C1CF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path.write_text("Hello\nPython", encoding="utf-8")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CFBB-E0DF-4EE7-9DF9-26F8170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path.read_text(encoding=&quot;utf-8&quot;))">
            <a:extLst xmlns:a="http://schemas.openxmlformats.org/drawingml/2006/main">
              <a:ext uri="{FF2B5EF4-FFF2-40B4-BE49-F238E27FC236}">
                <a16:creationId xmlns:a16="http://schemas.microsoft.com/office/drawing/2014/main" id="{B1BD5947-3F80-445F-ACF8-F50B6CED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print(path.read_text(encoding="utf-8"))</a:t>
            </a:r>
          </a:p>
        </p:txBody>
      </p:sp>
      <p:sp>
        <p:nvSpPr>
          <p:cNvPr id="10" name="print(path.name)">
            <a:extLst xmlns:a="http://schemas.openxmlformats.org/drawingml/2006/main">
              <a:ext uri="{FF2B5EF4-FFF2-40B4-BE49-F238E27FC236}">
                <a16:creationId xmlns:a16="http://schemas.microsoft.com/office/drawing/2014/main" id="{6016A4A0-49ED-445F-9620-1ADAFC0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print(path.name)</a:t>
            </a:r>
          </a:p>
        </p:txBody>
      </p:sp>
      <p:sp>
        <p:nvSpPr>
          <p:cNvPr id="11" name="print(path.suffix)">
            <a:extLst xmlns:a="http://schemas.openxmlformats.org/drawingml/2006/main">
              <a:ext uri="{FF2B5EF4-FFF2-40B4-BE49-F238E27FC236}">
                <a16:creationId xmlns:a16="http://schemas.microsoft.com/office/drawing/2014/main" id="{DBDB6D22-6B7D-4BF7-843B-5E5D923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print(path.suffix)</a:t>
            </a:r>
          </a:p>
        </p:txBody>
      </p:sp>
      <p:sp>
        <p:nvSpPr>
          <p:cNvPr id="12" name="Path 表達檔案路徑">
            <a:extLst xmlns:a="http://schemas.openxmlformats.org/drawingml/2006/main">
              <a:ext uri="{FF2B5EF4-FFF2-40B4-BE49-F238E27FC236}">
                <a16:creationId xmlns:a16="http://schemas.microsoft.com/office/drawing/2014/main" id="{39DCCCF2-E2FD-41E7-B590-B425D58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Path represents a file path</a:t>
            </a:r>
          </a:p>
        </p:txBody>
      </p:sp>
      <p:sp>
        <p:nvSpPr>
          <p:cNvPr id="13" name="Path(&quot;data&quot;) / &quot;a.txt&quot; 組合路徑。 Path.cwd() 取得目前工作目錄。">
            <a:extLst xmlns:a="http://schemas.openxmlformats.org/drawingml/2006/main">
              <a:ext uri="{FF2B5EF4-FFF2-40B4-BE49-F238E27FC236}">
                <a16:creationId xmlns:a16="http://schemas.microsoft.com/office/drawing/2014/main" id="{7068CEDA-53D5-423A-8CFE-D1D1C63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Path("data") / "a.txt" joins paths.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Path.cwd() gives the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current working directory.</a:t>
            </a:r>
          </a:p>
        </p:txBody>
      </p:sp>
      <p:sp>
        <p:nvSpPr>
          <p:cNvPr id="14" name="相對路徑的基準">
            <a:extLst xmlns:a="http://schemas.openxmlformats.org/drawingml/2006/main">
              <a:ext uri="{FF2B5EF4-FFF2-40B4-BE49-F238E27FC236}">
                <a16:creationId xmlns:a16="http://schemas.microsoft.com/office/drawing/2014/main" id="{15BD983A-56F6-4FFA-909E-CA3975DA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base for relative paths</a:t>
            </a:r>
          </a:p>
        </p:txBody>
      </p:sp>
      <p:sp>
        <p:nvSpPr>
          <p:cNvPr id="15" name="通常相對於目前工作目錄。 不一定是程式檔案所在目錄。">
            <a:extLst xmlns:a="http://schemas.openxmlformats.org/drawingml/2006/main">
              <a:ext uri="{FF2B5EF4-FFF2-40B4-BE49-F238E27FC236}">
                <a16:creationId xmlns:a16="http://schemas.microsoft.com/office/drawing/2014/main" id="{AAE83D82-DCD4-451D-B28F-680F566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Usually the current working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directory, which may differ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from the script directory.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B60DDE9-4B21-4C48-878F-BE2556E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Hello    Python    message.txt    .txt">
            <a:extLst xmlns:a="http://schemas.openxmlformats.org/drawingml/2006/main">
              <a:ext uri="{FF2B5EF4-FFF2-40B4-BE49-F238E27FC236}">
                <a16:creationId xmlns:a16="http://schemas.microsoft.com/office/drawing/2014/main" id="{A4F20071-F2CC-486F-97B8-2AE0BB92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    Python    message.txt    .txt</a:t>
            </a:r>
          </a:p>
        </p:txBody>
      </p:sp>
    </p:spTree>
    <p:extLst>
      <p:ext uri="{BB962C8B-B14F-4D97-AF65-F5344CB8AC3E}">
        <p14:creationId xmlns:p14="http://schemas.microsoft.com/office/powerpoint/2010/main" val="3176110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檔案讀寫模式">
            <a:extLst xmlns:a="http://schemas.openxmlformats.org/drawingml/2006/main">
              <a:ext uri="{FF2B5EF4-FFF2-40B4-BE49-F238E27FC236}">
                <a16:creationId xmlns:a16="http://schemas.microsoft.com/office/drawing/2014/main" id="{2C73992F-6AB0-44EB-8ECE-4E8C962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File reading and writing modes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21C083E-C930-405D-A7FC-6F6883F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File handling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2A7B3923-EA00-4875-8C44-5256D15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3857625"/>
                <a:gridCol w="5400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Behavior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 detail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 an existing file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Default. Fails if the file is absent.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 or write a file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Truncates existing contents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Append at the end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Creates the file if absent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 a new file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Fails if the file already exists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/ t / 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Binary / text / read and write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Examples: rb, wt, r+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文字模式指定 encoding。二進位模式讀寫 bytes，不指定文字編碼。">
            <a:extLst xmlns:a="http://schemas.openxmlformats.org/drawingml/2006/main">
              <a:ext uri="{FF2B5EF4-FFF2-40B4-BE49-F238E27FC236}">
                <a16:creationId xmlns:a16="http://schemas.microsoft.com/office/drawing/2014/main" id="{EA091DDF-6548-4B8A-AB32-FDA857D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Specify encoding in text mode. Binary mode reads and writes bytes without a text encoding.</a:t>
            </a:r>
          </a:p>
        </p:txBody>
      </p:sp>
    </p:spTree>
    <p:extLst>
      <p:ext uri="{BB962C8B-B14F-4D97-AF65-F5344CB8AC3E}">
        <p14:creationId xmlns:p14="http://schemas.microsoft.com/office/powerpoint/2010/main" val="145760460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with 與檔案走訪">
            <a:extLst xmlns:a="http://schemas.openxmlformats.org/drawingml/2006/main">
              <a:ext uri="{FF2B5EF4-FFF2-40B4-BE49-F238E27FC236}">
                <a16:creationId xmlns:a16="http://schemas.microsoft.com/office/drawing/2014/main" id="{777B5A74-E1DB-4ACD-A4FB-CE8E359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with and file iteration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F2C8993-FD5D-4739-8CCA-8B47ABE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File handling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1B81298A-D7C2-4976-80DF-403E6196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4" name="with open(&quot;lines.txt&quot;, &quot;w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D109C6E2-38EA-42BA-92F7-39DA3B1A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"w", encoding="utf-8") as f:</a:t>
            </a:r>
          </a:p>
        </p:txBody>
      </p:sp>
      <p:sp>
        <p:nvSpPr>
          <p:cNvPr id="5" name="    f.write(&quot;A\nB\n&quot;)">
            <a:extLst xmlns:a="http://schemas.openxmlformats.org/drawingml/2006/main">
              <a:ext uri="{FF2B5EF4-FFF2-40B4-BE49-F238E27FC236}">
                <a16:creationId xmlns:a16="http://schemas.microsoft.com/office/drawing/2014/main" id="{FE083215-3385-42C8-9311-E249F3E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f.write("A\nB\n")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2154B-455F-4342-8F69-0EF3720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with open(&quot;lines.txt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00568260-8E58-459F-B09F-D19100C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encoding="utf-8") as f:</a:t>
            </a:r>
          </a:p>
        </p:txBody>
      </p:sp>
      <p:sp>
        <p:nvSpPr>
          <p:cNvPr id="8" name="    for line in f:">
            <a:extLst xmlns:a="http://schemas.openxmlformats.org/drawingml/2006/main">
              <a:ext uri="{FF2B5EF4-FFF2-40B4-BE49-F238E27FC236}">
                <a16:creationId xmlns:a16="http://schemas.microsoft.com/office/drawing/2014/main" id="{E9EEA5A3-120A-4F8A-9F14-E6D90B8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line in f:</a:t>
            </a:r>
          </a:p>
        </p:txBody>
      </p:sp>
      <p:sp>
        <p:nvSpPr>
          <p:cNvPr id="9" name="        print(line.strip())">
            <a:extLst xmlns:a="http://schemas.openxmlformats.org/drawingml/2006/main">
              <a:ext uri="{FF2B5EF4-FFF2-40B4-BE49-F238E27FC236}">
                <a16:creationId xmlns:a16="http://schemas.microsoft.com/office/drawing/2014/main" id="{808FBC10-3CCC-487A-A8C8-4BB2386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print(line.strip())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7A54B-3F2C-4135-B045-DAA2F85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f.closed)">
            <a:extLst xmlns:a="http://schemas.openxmlformats.org/drawingml/2006/main">
              <a:ext uri="{FF2B5EF4-FFF2-40B4-BE49-F238E27FC236}">
                <a16:creationId xmlns:a16="http://schemas.microsoft.com/office/drawing/2014/main" id="{58247BF2-A14A-41BD-B9EF-B7605F3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print(f.closed)</a:t>
            </a:r>
          </a:p>
        </p:txBody>
      </p:sp>
      <p:sp>
        <p:nvSpPr>
          <p:cNvPr id="12" name="with 管理資源生命週期">
            <a:extLst xmlns:a="http://schemas.openxmlformats.org/drawingml/2006/main">
              <a:ext uri="{FF2B5EF4-FFF2-40B4-BE49-F238E27FC236}">
                <a16:creationId xmlns:a16="http://schemas.microsoft.com/office/drawing/2014/main" id="{07E61FAC-6CA6-4A2E-A02A-E61EC61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with manages resource lifetime</a:t>
            </a:r>
          </a:p>
        </p:txBody>
      </p:sp>
      <p:sp>
        <p:nvSpPr>
          <p:cNvPr id="13" name="離開區塊時呼叫清理流程。 檔案情境會自動關閉。">
            <a:extLst xmlns:a="http://schemas.openxmlformats.org/drawingml/2006/main">
              <a:ext uri="{FF2B5EF4-FFF2-40B4-BE49-F238E27FC236}">
                <a16:creationId xmlns:a16="http://schemas.microsoft.com/office/drawing/2014/main" id="{91232C38-F933-441A-9ED8-FFB3BAD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Cleanup runs when leaving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block. A file context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automatically closes the file.</a:t>
            </a:r>
          </a:p>
        </p:txBody>
      </p:sp>
      <p:sp>
        <p:nvSpPr>
          <p:cNvPr id="14" name="讀取方法各有用途">
            <a:extLst xmlns:a="http://schemas.openxmlformats.org/drawingml/2006/main">
              <a:ext uri="{FF2B5EF4-FFF2-40B4-BE49-F238E27FC236}">
                <a16:creationId xmlns:a16="http://schemas.microsoft.com/office/drawing/2014/main" id="{BF71776B-4BE6-42DC-924C-C28B235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Choosing a reading method</a:t>
            </a:r>
          </a:p>
        </p:txBody>
      </p:sp>
      <p:sp>
        <p:nvSpPr>
          <p:cNvPr id="15" name="read 讀取內容，readline 讀一行。 直接走訪檔案可逐行處理。">
            <a:extLst xmlns:a="http://schemas.openxmlformats.org/drawingml/2006/main">
              <a:ext uri="{FF2B5EF4-FFF2-40B4-BE49-F238E27FC236}">
                <a16:creationId xmlns:a16="http://schemas.microsoft.com/office/drawing/2014/main" id="{72BC6F76-F543-4202-9359-4164907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 gets contents. readline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gets one line. Direct iteration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processes one line at a time.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89C6A4-0D12-4FEE-BE8F-F49F4AF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A    B    True">
            <a:extLst xmlns:a="http://schemas.openxmlformats.org/drawingml/2006/main">
              <a:ext uri="{FF2B5EF4-FFF2-40B4-BE49-F238E27FC236}">
                <a16:creationId xmlns:a16="http://schemas.microsoft.com/office/drawing/2014/main" id="{3AA28E06-B006-491B-9578-D072F0D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    B    True</a:t>
            </a:r>
          </a:p>
        </p:txBody>
      </p:sp>
    </p:spTree>
    <p:extLst>
      <p:ext uri="{BB962C8B-B14F-4D97-AF65-F5344CB8AC3E}">
        <p14:creationId xmlns:p14="http://schemas.microsoft.com/office/powerpoint/2010/main" val="21235459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SV 的欄位與引號">
            <a:extLst xmlns:a="http://schemas.openxmlformats.org/drawingml/2006/main">
              <a:ext uri="{FF2B5EF4-FFF2-40B4-BE49-F238E27FC236}">
                <a16:creationId xmlns:a16="http://schemas.microsoft.com/office/drawing/2014/main" id="{668C1B54-0A78-436F-99D5-6CD992F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CSV fields and quoting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AF979821-847E-4014-AEB0-130C964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File handling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84FF4E25-6647-4497-A2B4-A9075F5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F5D46E40-9031-4724-82C9-C4092BF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from io import StringIO">
            <a:extLst xmlns:a="http://schemas.openxmlformats.org/drawingml/2006/main">
              <a:ext uri="{FF2B5EF4-FFF2-40B4-BE49-F238E27FC236}">
                <a16:creationId xmlns:a16="http://schemas.microsoft.com/office/drawing/2014/main" id="{16A7FC2C-5FC8-42FA-9BD2-246B7ED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io import StringIO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5E6D-A3DD-4188-B270-331F8DF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= 'name,score\n&quot;Lee, Amy&quot;,90\n'">
            <a:extLst xmlns:a="http://schemas.openxmlformats.org/drawingml/2006/main">
              <a:ext uri="{FF2B5EF4-FFF2-40B4-BE49-F238E27FC236}">
                <a16:creationId xmlns:a16="http://schemas.microsoft.com/office/drawing/2014/main" id="{2BBC82CA-C5ED-419C-985B-5ABBE20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'name,score\n"Lee, Amy",90\n'</a:t>
            </a:r>
          </a:p>
        </p:txBody>
      </p:sp>
      <p:sp>
        <p:nvSpPr>
          <p:cNvPr id="8" name="reader = csv.DictReader(StringIO(text))">
            <a:extLst xmlns:a="http://schemas.openxmlformats.org/drawingml/2006/main">
              <a:ext uri="{FF2B5EF4-FFF2-40B4-BE49-F238E27FC236}">
                <a16:creationId xmlns:a16="http://schemas.microsoft.com/office/drawing/2014/main" id="{78436C24-8554-42F2-9C87-EDACC7A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reader = csv.DictReader(StringIO(text))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0AD4-9FC2-407B-B7ED-2CDCD98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row in reader:">
            <a:extLst xmlns:a="http://schemas.openxmlformats.org/drawingml/2006/main">
              <a:ext uri="{FF2B5EF4-FFF2-40B4-BE49-F238E27FC236}">
                <a16:creationId xmlns:a16="http://schemas.microsoft.com/office/drawing/2014/main" id="{BDE3435F-BD01-4918-8993-FBF2ADF1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row in reader:</a:t>
            </a:r>
          </a:p>
        </p:txBody>
      </p:sp>
      <p:sp>
        <p:nvSpPr>
          <p:cNvPr id="11" name="    print(row[&quot;name&quot;])">
            <a:extLst xmlns:a="http://schemas.openxmlformats.org/drawingml/2006/main">
              <a:ext uri="{FF2B5EF4-FFF2-40B4-BE49-F238E27FC236}">
                <a16:creationId xmlns:a16="http://schemas.microsoft.com/office/drawing/2014/main" id="{526D8795-951A-4D33-B35E-B63AF00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print(row["name"])</a:t>
            </a:r>
          </a:p>
        </p:txBody>
      </p:sp>
      <p:sp>
        <p:nvSpPr>
          <p:cNvPr id="12" name="    print(int(row[&quot;score&quot;]))">
            <a:extLst xmlns:a="http://schemas.openxmlformats.org/drawingml/2006/main">
              <a:ext uri="{FF2B5EF4-FFF2-40B4-BE49-F238E27FC236}">
                <a16:creationId xmlns:a16="http://schemas.microsoft.com/office/drawing/2014/main" id="{8CB6EE28-AEB8-4937-9F15-6E2F9491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print(int(row["score"]))</a:t>
            </a:r>
          </a:p>
        </p:txBody>
      </p:sp>
      <p:sp>
        <p:nvSpPr>
          <p:cNvPr id="13" name="CSV 欄位可以包含逗號">
            <a:extLst xmlns:a="http://schemas.openxmlformats.org/drawingml/2006/main">
              <a:ext uri="{FF2B5EF4-FFF2-40B4-BE49-F238E27FC236}">
                <a16:creationId xmlns:a16="http://schemas.microsoft.com/office/drawing/2014/main" id="{CED4CCE9-F20D-42E2-8910-FBEEAC2D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Fields may contain commas</a:t>
            </a:r>
          </a:p>
        </p:txBody>
      </p:sp>
      <p:sp>
        <p:nvSpPr>
          <p:cNvPr id="14" name="引號決定欄位的實際範圍。 直接 split(&quot;,&quot;) 容易切錯欄位。">
            <a:extLst xmlns:a="http://schemas.openxmlformats.org/drawingml/2006/main">
              <a:ext uri="{FF2B5EF4-FFF2-40B4-BE49-F238E27FC236}">
                <a16:creationId xmlns:a16="http://schemas.microsoft.com/office/drawing/2014/main" id="{C77FF654-DA6B-4522-90AA-9E5ABD2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Quotes define field boundaries.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Using split(",") directly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can split fields incorrectly.</a:t>
            </a:r>
          </a:p>
        </p:txBody>
      </p:sp>
      <p:sp>
        <p:nvSpPr>
          <p:cNvPr id="15" name="讀寫實體檔案">
            <a:extLst xmlns:a="http://schemas.openxmlformats.org/drawingml/2006/main">
              <a:ext uri="{FF2B5EF4-FFF2-40B4-BE49-F238E27FC236}">
                <a16:creationId xmlns:a16="http://schemas.microsoft.com/office/drawing/2014/main" id="{D6DF4FA2-C2AA-4FAC-BFDD-260E8E3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Working with files</a:t>
            </a:r>
          </a:p>
        </p:txBody>
      </p:sp>
      <p:sp>
        <p:nvSpPr>
          <p:cNvPr id="16" name="搭配 open(..., newline=&quot;&quot;)。 DictWriter 可將字典寫為資料列。">
            <a:extLst xmlns:a="http://schemas.openxmlformats.org/drawingml/2006/main">
              <a:ext uri="{FF2B5EF4-FFF2-40B4-BE49-F238E27FC236}">
                <a16:creationId xmlns:a16="http://schemas.microsoft.com/office/drawing/2014/main" id="{616954E7-BC21-4041-94BB-8996D74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 open(..., newline="").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DictWriter writes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dictionaries as rows.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6B4B7E2-1D4E-4602-BA76-8C71034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Lee, Amy    90">
            <a:extLst xmlns:a="http://schemas.openxmlformats.org/drawingml/2006/main">
              <a:ext uri="{FF2B5EF4-FFF2-40B4-BE49-F238E27FC236}">
                <a16:creationId xmlns:a16="http://schemas.microsoft.com/office/drawing/2014/main" id="{728C338B-977B-4CE0-8D29-DD0D611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Lee, Amy    90</a:t>
            </a:r>
          </a:p>
        </p:txBody>
      </p:sp>
    </p:spTree>
    <p:extLst>
      <p:ext uri="{BB962C8B-B14F-4D97-AF65-F5344CB8AC3E}">
        <p14:creationId xmlns:p14="http://schemas.microsoft.com/office/powerpoint/2010/main" val="14378777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JSON 的字串與檔案介面">
            <a:extLst xmlns:a="http://schemas.openxmlformats.org/drawingml/2006/main">
              <a:ext uri="{FF2B5EF4-FFF2-40B4-BE49-F238E27FC236}">
                <a16:creationId xmlns:a16="http://schemas.microsoft.com/office/drawing/2014/main" id="{46AB00AF-5F47-46E9-AE77-1F36BE6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string and file interfaces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C6EE93D1-A1B4-45D8-9081-80730BD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File handling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CF696B3D-99B6-422A-8494-B715D75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4" name="import json">
            <a:extLst xmlns:a="http://schemas.openxmlformats.org/drawingml/2006/main">
              <a:ext uri="{FF2B5EF4-FFF2-40B4-BE49-F238E27FC236}">
                <a16:creationId xmlns:a16="http://schemas.microsoft.com/office/drawing/2014/main" id="{4ABB2956-285D-47CC-AD46-FA815B3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2667-E1FE-482C-8A1C-CAC7FBB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record = {&quot;name&quot;: &quot;Amy&quot;, &quot;active&quot;: True}">
            <a:extLst xmlns:a="http://schemas.openxmlformats.org/drawingml/2006/main">
              <a:ext uri="{FF2B5EF4-FFF2-40B4-BE49-F238E27FC236}">
                <a16:creationId xmlns:a16="http://schemas.microsoft.com/office/drawing/2014/main" id="{435F3244-DCA1-45D7-A1D1-F76C21E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{"name": "Amy", "active": True}</a:t>
            </a:r>
          </a:p>
        </p:txBody>
      </p:sp>
      <p:sp>
        <p:nvSpPr>
          <p:cNvPr id="7" name="text = json.dumps(record)">
            <a:extLst xmlns:a="http://schemas.openxmlformats.org/drawingml/2006/main">
              <a:ext uri="{FF2B5EF4-FFF2-40B4-BE49-F238E27FC236}">
                <a16:creationId xmlns:a16="http://schemas.microsoft.com/office/drawing/2014/main" id="{8B244F92-795B-401D-9527-FF07F03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json.dumps(record)</a:t>
            </a:r>
          </a:p>
        </p:txBody>
      </p:sp>
      <p:sp>
        <p:nvSpPr>
          <p:cNvPr id="8" name="print(text)">
            <a:extLst xmlns:a="http://schemas.openxmlformats.org/drawingml/2006/main">
              <a:ext uri="{FF2B5EF4-FFF2-40B4-BE49-F238E27FC236}">
                <a16:creationId xmlns:a16="http://schemas.microsoft.com/office/drawing/2014/main" id="{5338FDAC-B994-4430-A658-11BEA9A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4202-926F-4CCE-9656-511B55E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ata = json.loads(text)">
            <a:extLst xmlns:a="http://schemas.openxmlformats.org/drawingml/2006/main">
              <a:ext uri="{FF2B5EF4-FFF2-40B4-BE49-F238E27FC236}">
                <a16:creationId xmlns:a16="http://schemas.microsoft.com/office/drawing/2014/main" id="{FB3DB750-6BAB-42FE-A4AD-5FA1C093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json.loads(text)</a:t>
            </a:r>
          </a:p>
        </p:txBody>
      </p:sp>
      <p:sp>
        <p:nvSpPr>
          <p:cNvPr id="11" name="print(data[&quot;active&quot;])">
            <a:extLst xmlns:a="http://schemas.openxmlformats.org/drawingml/2006/main">
              <a:ext uri="{FF2B5EF4-FFF2-40B4-BE49-F238E27FC236}">
                <a16:creationId xmlns:a16="http://schemas.microsoft.com/office/drawing/2014/main" id="{4E387D84-C34C-4D72-B8C8-7CFE525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print(data["active"])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CD151-C4F6-4E55-B0A0-60F1286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with open(&quot;record.json&quot;, &quot;w&quot;) as f:">
            <a:extLst xmlns:a="http://schemas.openxmlformats.org/drawingml/2006/main">
              <a:ext uri="{FF2B5EF4-FFF2-40B4-BE49-F238E27FC236}">
                <a16:creationId xmlns:a16="http://schemas.microsoft.com/office/drawing/2014/main" id="{237C8D1A-5429-46BA-AD61-057C525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open("record.json", "w") as f:</a:t>
            </a:r>
          </a:p>
        </p:txBody>
      </p:sp>
      <p:sp>
        <p:nvSpPr>
          <p:cNvPr id="14" name="    json.dump(record, f, indent=2)">
            <a:extLst xmlns:a="http://schemas.openxmlformats.org/drawingml/2006/main">
              <a:ext uri="{FF2B5EF4-FFF2-40B4-BE49-F238E27FC236}">
                <a16:creationId xmlns:a16="http://schemas.microsoft.com/office/drawing/2014/main" id="{2B123AD8-6F85-402C-95B2-6DAC5F9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json.dump(record, f, indent=2)</a:t>
            </a:r>
          </a:p>
        </p:txBody>
      </p:sp>
      <p:sp>
        <p:nvSpPr>
          <p:cNvPr id="15" name="dumps / loads 處理字串">
            <a:extLst xmlns:a="http://schemas.openxmlformats.org/drawingml/2006/main">
              <a:ext uri="{FF2B5EF4-FFF2-40B4-BE49-F238E27FC236}">
                <a16:creationId xmlns:a16="http://schemas.microsoft.com/office/drawing/2014/main" id="{D7837181-19C0-408D-910A-2BD6860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dumps / loads use strings</a:t>
            </a:r>
          </a:p>
        </p:txBody>
      </p:sp>
      <p:sp>
        <p:nvSpPr>
          <p:cNvPr id="16" name="dump / load 處理檔案物件。 JSON 的 true 對應 Python True。">
            <a:extLst xmlns:a="http://schemas.openxmlformats.org/drawingml/2006/main">
              <a:ext uri="{FF2B5EF4-FFF2-40B4-BE49-F238E27FC236}">
                <a16:creationId xmlns:a16="http://schemas.microsoft.com/office/drawing/2014/main" id="{7DF51932-7F7A-4633-B56A-3679145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dump / load use file objects.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true corresponds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to Python True.</a:t>
            </a:r>
          </a:p>
        </p:txBody>
      </p:sp>
      <p:sp>
        <p:nvSpPr>
          <p:cNvPr id="17" name="支援的資料型別有限">
            <a:extLst xmlns:a="http://schemas.openxmlformats.org/drawingml/2006/main">
              <a:ext uri="{FF2B5EF4-FFF2-40B4-BE49-F238E27FC236}">
                <a16:creationId xmlns:a16="http://schemas.microsoft.com/office/drawing/2014/main" id="{0958B70C-84A9-46DC-99B0-CF2D756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Supported types are limited</a:t>
            </a:r>
          </a:p>
        </p:txBody>
      </p:sp>
      <p:sp>
        <p:nvSpPr>
          <p:cNvPr id="18" name="JSON 物件鍵是字串。 set 與一般自訂物件需先轉換。">
            <a:extLst xmlns:a="http://schemas.openxmlformats.org/drawingml/2006/main">
              <a:ext uri="{FF2B5EF4-FFF2-40B4-BE49-F238E27FC236}">
                <a16:creationId xmlns:a16="http://schemas.microsoft.com/office/drawing/2014/main" id="{FED6C18F-1D59-47D7-8504-C677EAB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object keys are strings.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Convert sets and ordinary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custom objects first.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6AB41F5-0979-49D0-8D19-C94F1DA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{&quot;name&quot;: &quot;Amy&quot;, &quot;active&quot;: true}    True">
            <a:extLst xmlns:a="http://schemas.openxmlformats.org/drawingml/2006/main">
              <a:ext uri="{FF2B5EF4-FFF2-40B4-BE49-F238E27FC236}">
                <a16:creationId xmlns:a16="http://schemas.microsoft.com/office/drawing/2014/main" id="{F1D86B6D-2707-4138-90CC-79F318C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{"name": "Amy", "active": true}    True</a:t>
            </a:r>
          </a:p>
        </p:txBody>
      </p:sp>
    </p:spTree>
    <p:extLst>
      <p:ext uri="{BB962C8B-B14F-4D97-AF65-F5344CB8AC3E}">
        <p14:creationId xmlns:p14="http://schemas.microsoft.com/office/powerpoint/2010/main" val="7011799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例外與發生情境">
            <a:extLst xmlns:a="http://schemas.openxmlformats.org/drawingml/2006/main">
              <a:ext uri="{FF2B5EF4-FFF2-40B4-BE49-F238E27FC236}">
                <a16:creationId xmlns:a16="http://schemas.microsoft.com/office/drawing/2014/main" id="{890273FE-8A19-4393-8952-26A878BC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Common exceptions and their causes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D26F3507-C27B-47B8-8CBA-15248E0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Exception handling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BF1BF4A7-8BDE-4CDB-A2DE-EA5007C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33375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Exception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Cause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int("abc")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Unacceptable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"3" + 2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Incompatible operand types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KeyError / IndexError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{}["x"], [][0]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Missing key / index out of range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FileNotFoundError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 a nonexistent file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Path or file does not exist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ZeroDivisionError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/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Division by zero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SyntaxError 是語法問題。程式成功執行但結果錯誤，可能是邏輯問題。">
            <a:extLst xmlns:a="http://schemas.openxmlformats.org/drawingml/2006/main">
              <a:ext uri="{FF2B5EF4-FFF2-40B4-BE49-F238E27FC236}">
                <a16:creationId xmlns:a16="http://schemas.microsoft.com/office/drawing/2014/main" id="{EC9AF860-D5F2-4C50-A304-E216974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SyntaxError indicates invalid syntax. A program that runs but gives a wrong result may have a logic error.</a:t>
            </a:r>
          </a:p>
        </p:txBody>
      </p:sp>
    </p:spTree>
    <p:extLst>
      <p:ext uri="{BB962C8B-B14F-4D97-AF65-F5344CB8AC3E}">
        <p14:creationId xmlns:p14="http://schemas.microsoft.com/office/powerpoint/2010/main" val="114571940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ry、except、else、finally">
            <a:extLst xmlns:a="http://schemas.openxmlformats.org/drawingml/2006/main">
              <a:ext uri="{FF2B5EF4-FFF2-40B4-BE49-F238E27FC236}">
                <a16:creationId xmlns:a16="http://schemas.microsoft.com/office/drawing/2014/main" id="{21F3FC18-D83D-449F-B218-E2B0EEF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try, except, else and finally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F7AD828B-0403-42C3-8262-14C9A8A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Exception handling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0637E4FE-07E9-470A-A700-CED9CCB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  <p:sp>
        <p:nvSpPr>
          <p:cNvPr id="4" name="try:">
            <a:extLst xmlns:a="http://schemas.openxmlformats.org/drawingml/2006/main">
              <a:ext uri="{FF2B5EF4-FFF2-40B4-BE49-F238E27FC236}">
                <a16:creationId xmlns:a16="http://schemas.microsoft.com/office/drawing/2014/main" id="{B6AE9CFB-B5CE-4DB3-9820-23BE347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5" name="    value = int(&quot;42&quot;)">
            <a:extLst xmlns:a="http://schemas.openxmlformats.org/drawingml/2006/main">
              <a:ext uri="{FF2B5EF4-FFF2-40B4-BE49-F238E27FC236}">
                <a16:creationId xmlns:a16="http://schemas.microsoft.com/office/drawing/2014/main" id="{530340B1-280C-4109-A24D-E0ACC21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 = int("42")</a:t>
            </a:r>
          </a:p>
        </p:txBody>
      </p:sp>
      <p:sp>
        <p:nvSpPr>
          <p:cNvPr id="6" name="except (ValueError, TypeError) as error:">
            <a:extLst xmlns:a="http://schemas.openxmlformats.org/drawingml/2006/main">
              <a:ext uri="{FF2B5EF4-FFF2-40B4-BE49-F238E27FC236}">
                <a16:creationId xmlns:a16="http://schemas.microsoft.com/office/drawing/2014/main" id="{D1B35A16-9EA0-40CA-85FC-11EF98A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(ValueError, TypeError) as error:</a:t>
            </a:r>
          </a:p>
        </p:txBody>
      </p:sp>
      <p:sp>
        <p:nvSpPr>
          <p:cNvPr id="7" name="    print(type(error).__name__)">
            <a:extLst xmlns:a="http://schemas.openxmlformats.org/drawingml/2006/main">
              <a:ext uri="{FF2B5EF4-FFF2-40B4-BE49-F238E27FC236}">
                <a16:creationId xmlns:a16="http://schemas.microsoft.com/office/drawing/2014/main" id="{F665917B-92A4-43F8-A558-4CA13A4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print(type(error).__name__)</a:t>
            </a:r>
          </a:p>
        </p:txBody>
      </p:sp>
      <p:sp>
        <p:nvSpPr>
          <p:cNvPr id="8" name="else:">
            <a:extLst xmlns:a="http://schemas.openxmlformats.org/drawingml/2006/main">
              <a:ext uri="{FF2B5EF4-FFF2-40B4-BE49-F238E27FC236}">
                <a16:creationId xmlns:a16="http://schemas.microsoft.com/office/drawing/2014/main" id="{DD59360D-DE25-4B74-AD06-E2D4072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9" name="    print(value * 2)">
            <a:extLst xmlns:a="http://schemas.openxmlformats.org/drawingml/2006/main">
              <a:ext uri="{FF2B5EF4-FFF2-40B4-BE49-F238E27FC236}">
                <a16:creationId xmlns:a16="http://schemas.microsoft.com/office/drawing/2014/main" id="{503B1958-60A0-4E5E-AAAB-EFDEDCC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print(value * 2)</a:t>
            </a:r>
          </a:p>
        </p:txBody>
      </p:sp>
      <p:sp>
        <p:nvSpPr>
          <p:cNvPr id="10" name="finally:">
            <a:extLst xmlns:a="http://schemas.openxmlformats.org/drawingml/2006/main">
              <a:ext uri="{FF2B5EF4-FFF2-40B4-BE49-F238E27FC236}">
                <a16:creationId xmlns:a16="http://schemas.microsoft.com/office/drawing/2014/main" id="{2A3D6F62-DC0D-4E30-9337-2F2D45C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finally:</a:t>
            </a:r>
          </a:p>
        </p:txBody>
      </p:sp>
      <p:sp>
        <p:nvSpPr>
          <p:cNvPr id="11" name="    print(&quot;Finished&quot;)">
            <a:extLst xmlns:a="http://schemas.openxmlformats.org/drawingml/2006/main">
              <a:ext uri="{FF2B5EF4-FFF2-40B4-BE49-F238E27FC236}">
                <a16:creationId xmlns:a16="http://schemas.microsoft.com/office/drawing/2014/main" id="{1FAA4408-E8C6-4E2C-9A0A-C4EDBD9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print("Finished")</a:t>
            </a:r>
          </a:p>
        </p:txBody>
      </p:sp>
      <p:sp>
        <p:nvSpPr>
          <p:cNvPr id="12" name="except 捕捉指定例外">
            <a:extLst xmlns:a="http://schemas.openxmlformats.org/drawingml/2006/main">
              <a:ext uri="{FF2B5EF4-FFF2-40B4-BE49-F238E27FC236}">
                <a16:creationId xmlns:a16="http://schemas.microsoft.com/office/drawing/2014/main" id="{9BAC82A9-2D80-4B76-9FA2-C6DD822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except catches specified errors</a:t>
            </a:r>
          </a:p>
        </p:txBody>
      </p:sp>
      <p:sp>
        <p:nvSpPr>
          <p:cNvPr id="13" name="多種例外可放入 tuple。 子類別處理放在父類別之前。">
            <a:extLst xmlns:a="http://schemas.openxmlformats.org/drawingml/2006/main">
              <a:ext uri="{FF2B5EF4-FFF2-40B4-BE49-F238E27FC236}">
                <a16:creationId xmlns:a16="http://schemas.microsoft.com/office/drawing/2014/main" id="{EE95AF1D-255F-416D-B223-29F66D2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Use a tuple for multiple types.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Handle subclasses before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their base classes.</a:t>
            </a:r>
          </a:p>
        </p:txBody>
      </p:sp>
      <p:sp>
        <p:nvSpPr>
          <p:cNvPr id="14" name="else 與 finally">
            <a:extLst xmlns:a="http://schemas.openxmlformats.org/drawingml/2006/main">
              <a:ext uri="{FF2B5EF4-FFF2-40B4-BE49-F238E27FC236}">
                <a16:creationId xmlns:a16="http://schemas.microsoft.com/office/drawing/2014/main" id="{6C230EC6-886C-4697-9CF7-EFF053A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else and finally</a:t>
            </a:r>
          </a:p>
        </p:txBody>
      </p:sp>
      <p:sp>
        <p:nvSpPr>
          <p:cNvPr id="15" name="else 在 try 正常完成時執行。 finally 在離開結構時執行清理。">
            <a:extLst xmlns:a="http://schemas.openxmlformats.org/drawingml/2006/main">
              <a:ext uri="{FF2B5EF4-FFF2-40B4-BE49-F238E27FC236}">
                <a16:creationId xmlns:a16="http://schemas.microsoft.com/office/drawing/2014/main" id="{041310B5-B533-447F-B34B-CC6C2DE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else runs if try completes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normally. finally performs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cleanup when leaving.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EF8DEA9-7C7E-431A-89CC-B8086F9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7" name="84    Finished">
            <a:extLst xmlns:a="http://schemas.openxmlformats.org/drawingml/2006/main">
              <a:ext uri="{FF2B5EF4-FFF2-40B4-BE49-F238E27FC236}">
                <a16:creationId xmlns:a16="http://schemas.microsoft.com/office/drawing/2014/main" id="{DB17AD38-F35B-4485-A63F-74072F6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84    Finished</a:t>
            </a:r>
          </a:p>
        </p:txBody>
      </p:sp>
    </p:spTree>
    <p:extLst>
      <p:ext uri="{BB962C8B-B14F-4D97-AF65-F5344CB8AC3E}">
        <p14:creationId xmlns:p14="http://schemas.microsoft.com/office/powerpoint/2010/main" val="11222815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aise、自訂例外與例外串接">
            <a:extLst xmlns:a="http://schemas.openxmlformats.org/drawingml/2006/main">
              <a:ext uri="{FF2B5EF4-FFF2-40B4-BE49-F238E27FC236}">
                <a16:creationId xmlns:a16="http://schemas.microsoft.com/office/drawing/2014/main" id="{5D649EF2-6574-4166-955F-70D3757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raise, custom exceptions and chaining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B273543C-DBEA-4DB6-8914-0458C27B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Exception handling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3BD85E93-383C-46B6-9CEF-3162B63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  <p:sp>
        <p:nvSpPr>
          <p:cNvPr id="4" name="class InputError(ValueError):">
            <a:extLst xmlns:a="http://schemas.openxmlformats.org/drawingml/2006/main">
              <a:ext uri="{FF2B5EF4-FFF2-40B4-BE49-F238E27FC236}">
                <a16:creationId xmlns:a16="http://schemas.microsoft.com/office/drawing/2014/main" id="{2B60428D-E015-4084-B3AB-192B41C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InputError(ValueError):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7C6A64B7-7A28-4AF2-B904-D598F24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6592A-DED3-49F2-A800-EF36AA9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arse(text):">
            <a:extLst xmlns:a="http://schemas.openxmlformats.org/drawingml/2006/main">
              <a:ext uri="{FF2B5EF4-FFF2-40B4-BE49-F238E27FC236}">
                <a16:creationId xmlns:a16="http://schemas.microsoft.com/office/drawing/2014/main" id="{A9EA7266-5C14-4AA8-B190-27D04D42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parse(text):</a:t>
            </a:r>
          </a:p>
        </p:txBody>
      </p:sp>
      <p:sp>
        <p:nvSpPr>
          <p:cNvPr id="8" name="    try:">
            <a:extLst xmlns:a="http://schemas.openxmlformats.org/drawingml/2006/main">
              <a:ext uri="{FF2B5EF4-FFF2-40B4-BE49-F238E27FC236}">
                <a16:creationId xmlns:a16="http://schemas.microsoft.com/office/drawing/2014/main" id="{D19F8F71-9753-49EB-B617-696AD0A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try:</a:t>
            </a:r>
          </a:p>
        </p:txBody>
      </p:sp>
      <p:sp>
        <p:nvSpPr>
          <p:cNvPr id="9" name="        return int(text)">
            <a:extLst xmlns:a="http://schemas.openxmlformats.org/drawingml/2006/main">
              <a:ext uri="{FF2B5EF4-FFF2-40B4-BE49-F238E27FC236}">
                <a16:creationId xmlns:a16="http://schemas.microsoft.com/office/drawing/2014/main" id="{11E631D1-300E-4E60-AB82-0C3429E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int(text)</a:t>
            </a:r>
          </a:p>
        </p:txBody>
      </p:sp>
      <p:sp>
        <p:nvSpPr>
          <p:cNvPr id="10" name="    except ValueError as error:">
            <a:extLst xmlns:a="http://schemas.openxmlformats.org/drawingml/2006/main">
              <a:ext uri="{FF2B5EF4-FFF2-40B4-BE49-F238E27FC236}">
                <a16:creationId xmlns:a16="http://schemas.microsoft.com/office/drawing/2014/main" id="{AC59EEC3-FDDB-4CFF-B2FB-672E5E4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except ValueError as error:</a:t>
            </a:r>
          </a:p>
        </p:txBody>
      </p:sp>
      <p:sp>
        <p:nvSpPr>
          <p:cNvPr id="11" name="        raise InputError(&quot;Bad number&quot;) from error">
            <a:extLst xmlns:a="http://schemas.openxmlformats.org/drawingml/2006/main">
              <a:ext uri="{FF2B5EF4-FFF2-40B4-BE49-F238E27FC236}">
                <a16:creationId xmlns:a16="http://schemas.microsoft.com/office/drawing/2014/main" id="{AB541041-AA9D-4E6E-B687-39D8F00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InputError("Bad number") from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2FD3-0C6E-4543-9A1C-B160B4C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ry:">
            <a:extLst xmlns:a="http://schemas.openxmlformats.org/drawingml/2006/main">
              <a:ext uri="{FF2B5EF4-FFF2-40B4-BE49-F238E27FC236}">
                <a16:creationId xmlns:a16="http://schemas.microsoft.com/office/drawing/2014/main" id="{D7305F3E-B60B-4568-A0A4-C2BA643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4" name="    parse(&quot;abc&quot;)">
            <a:extLst xmlns:a="http://schemas.openxmlformats.org/drawingml/2006/main">
              <a:ext uri="{FF2B5EF4-FFF2-40B4-BE49-F238E27FC236}">
                <a16:creationId xmlns:a16="http://schemas.microsoft.com/office/drawing/2014/main" id="{2F7432CE-2854-4F2D-855B-EC2F19ED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parse("abc")</a:t>
            </a:r>
          </a:p>
        </p:txBody>
      </p:sp>
      <p:sp>
        <p:nvSpPr>
          <p:cNvPr id="15" name="except InputError as error:">
            <a:extLst xmlns:a="http://schemas.openxmlformats.org/drawingml/2006/main">
              <a:ext uri="{FF2B5EF4-FFF2-40B4-BE49-F238E27FC236}">
                <a16:creationId xmlns:a16="http://schemas.microsoft.com/office/drawing/2014/main" id="{15CDDDFE-0106-450B-A03C-D6CC0358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InputError as error:</a:t>
            </a:r>
          </a:p>
        </p:txBody>
      </p:sp>
      <p:sp>
        <p:nvSpPr>
          <p:cNvPr id="16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84A90D1B-7DB9-451A-BC87-EA42BD2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7" name="raise 主動回報失敗">
            <a:extLst xmlns:a="http://schemas.openxmlformats.org/drawingml/2006/main">
              <a:ext uri="{FF2B5EF4-FFF2-40B4-BE49-F238E27FC236}">
                <a16:creationId xmlns:a16="http://schemas.microsoft.com/office/drawing/2014/main" id="{7B072E87-BD20-4FAB-AD81-639F643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raise reports failure</a:t>
            </a:r>
          </a:p>
        </p:txBody>
      </p:sp>
      <p:sp>
        <p:nvSpPr>
          <p:cNvPr id="18" name="自訂例外通常繼承 Exception 或適合的既有例外類別。">
            <a:extLst xmlns:a="http://schemas.openxmlformats.org/drawingml/2006/main">
              <a:ext uri="{FF2B5EF4-FFF2-40B4-BE49-F238E27FC236}">
                <a16:creationId xmlns:a16="http://schemas.microsoft.com/office/drawing/2014/main" id="{5131DC96-EC2B-49D9-933F-F338FA6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Custom exceptions usually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inherit Exception or 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suitable existing exception.</a:t>
            </a:r>
          </a:p>
        </p:txBody>
      </p:sp>
      <p:sp>
        <p:nvSpPr>
          <p:cNvPr id="19" name="from 保存原因">
            <a:extLst xmlns:a="http://schemas.openxmlformats.org/drawingml/2006/main">
              <a:ext uri="{FF2B5EF4-FFF2-40B4-BE49-F238E27FC236}">
                <a16:creationId xmlns:a16="http://schemas.microsoft.com/office/drawing/2014/main" id="{1C7E36CA-9DA3-41AE-BD7D-0575ED5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from preserves the cause</a:t>
            </a:r>
          </a:p>
        </p:txBody>
      </p:sp>
      <p:sp>
        <p:nvSpPr>
          <p:cNvPr id="20" name="外層例外保留原始失敗原因。 except 中單獨 raise 可重新拋出。">
            <a:extLst xmlns:a="http://schemas.openxmlformats.org/drawingml/2006/main">
              <a:ext uri="{FF2B5EF4-FFF2-40B4-BE49-F238E27FC236}">
                <a16:creationId xmlns:a16="http://schemas.microsoft.com/office/drawing/2014/main" id="{073AB3C1-FCB1-4F8E-B953-CE3501C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outer exception retains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original cause. A bare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raise inside except reraises.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76AB2B5-4B0E-41E7-B4B5-B45B0E9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Bad number">
            <a:extLst xmlns:a="http://schemas.openxmlformats.org/drawingml/2006/main">
              <a:ext uri="{FF2B5EF4-FFF2-40B4-BE49-F238E27FC236}">
                <a16:creationId xmlns:a16="http://schemas.microsoft.com/office/drawing/2014/main" id="{C139C609-824F-4E7F-B6C4-06B867A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Bad number</a:t>
            </a:r>
          </a:p>
        </p:txBody>
      </p:sp>
    </p:spTree>
    <p:extLst>
      <p:ext uri="{BB962C8B-B14F-4D97-AF65-F5344CB8AC3E}">
        <p14:creationId xmlns:p14="http://schemas.microsoft.com/office/powerpoint/2010/main" val="98037234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ssert 與錯誤追蹤">
            <a:extLst xmlns:a="http://schemas.openxmlformats.org/drawingml/2006/main">
              <a:ext uri="{FF2B5EF4-FFF2-40B4-BE49-F238E27FC236}">
                <a16:creationId xmlns:a16="http://schemas.microsoft.com/office/drawing/2014/main" id="{0665D784-6834-43D1-A57F-7FA9FF2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assert and tracebacks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24632D57-3A3C-46C4-B8EF-BF546BB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Exception handling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D613D079-7E9C-4742-B59F-CFD6F84F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4" name="def half(value):">
            <a:extLst xmlns:a="http://schemas.openxmlformats.org/drawingml/2006/main">
              <a:ext uri="{FF2B5EF4-FFF2-40B4-BE49-F238E27FC236}">
                <a16:creationId xmlns:a16="http://schemas.microsoft.com/office/drawing/2014/main" id="{EE61EABC-AB49-4AA0-9509-8EB3601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half(value):</a:t>
            </a:r>
          </a:p>
        </p:txBody>
      </p:sp>
      <p:sp>
        <p:nvSpPr>
          <p:cNvPr id="5" name="    assert value % 2 == 0, &quot;Must be even&quot;">
            <a:extLst xmlns:a="http://schemas.openxmlformats.org/drawingml/2006/main">
              <a:ext uri="{FF2B5EF4-FFF2-40B4-BE49-F238E27FC236}">
                <a16:creationId xmlns:a16="http://schemas.microsoft.com/office/drawing/2014/main" id="{5ABC6C95-B085-404A-BD63-D9CAA7A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assert value % 2 == 0, "Must be even"</a:t>
            </a:r>
          </a:p>
        </p:txBody>
      </p:sp>
      <p:sp>
        <p:nvSpPr>
          <p:cNvPr id="6" name="    return value // 2">
            <a:extLst xmlns:a="http://schemas.openxmlformats.org/drawingml/2006/main">
              <a:ext uri="{FF2B5EF4-FFF2-40B4-BE49-F238E27FC236}">
                <a16:creationId xmlns:a16="http://schemas.microsoft.com/office/drawing/2014/main" id="{EF35C5C2-D249-4B4D-8425-49466D2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 //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229A5-10D4-4E25-9DDE-E77C41A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half(8))">
            <a:extLst xmlns:a="http://schemas.openxmlformats.org/drawingml/2006/main">
              <a:ext uri="{FF2B5EF4-FFF2-40B4-BE49-F238E27FC236}">
                <a16:creationId xmlns:a16="http://schemas.microsoft.com/office/drawing/2014/main" id="{5BF2AB6F-8616-4A6B-80D1-2606D87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print(half(8))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1CCE2-5284-4BF6-A376-9E7FBDAF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ry:">
            <a:extLst xmlns:a="http://schemas.openxmlformats.org/drawingml/2006/main">
              <a:ext uri="{FF2B5EF4-FFF2-40B4-BE49-F238E27FC236}">
                <a16:creationId xmlns:a16="http://schemas.microsoft.com/office/drawing/2014/main" id="{DB13DAB6-AA49-4F92-8363-0D6E9FC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1" name="    half(3)">
            <a:extLst xmlns:a="http://schemas.openxmlformats.org/drawingml/2006/main">
              <a:ext uri="{FF2B5EF4-FFF2-40B4-BE49-F238E27FC236}">
                <a16:creationId xmlns:a16="http://schemas.microsoft.com/office/drawing/2014/main" id="{9F693A91-8461-4828-81DE-C5BFA004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half(3)</a:t>
            </a:r>
          </a:p>
        </p:txBody>
      </p:sp>
      <p:sp>
        <p:nvSpPr>
          <p:cNvPr id="12" name="except AssertionError as error:">
            <a:extLst xmlns:a="http://schemas.openxmlformats.org/drawingml/2006/main">
              <a:ext uri="{FF2B5EF4-FFF2-40B4-BE49-F238E27FC236}">
                <a16:creationId xmlns:a16="http://schemas.microsoft.com/office/drawing/2014/main" id="{38B2876A-8A7C-4CEC-AC8C-C14A7F6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AssertionError as error:</a:t>
            </a:r>
          </a:p>
        </p:txBody>
      </p:sp>
      <p:sp>
        <p:nvSpPr>
          <p:cNvPr id="13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4C59FCF2-CACA-41B2-B417-2822437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4" name="assert 檢查程式假設">
            <a:extLst xmlns:a="http://schemas.openxmlformats.org/drawingml/2006/main">
              <a:ext uri="{FF2B5EF4-FFF2-40B4-BE49-F238E27FC236}">
                <a16:creationId xmlns:a16="http://schemas.microsoft.com/office/drawing/2014/main" id="{81459DD2-7DA4-420A-A60F-F42D49D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assert checks assumptions</a:t>
            </a:r>
          </a:p>
        </p:txBody>
      </p:sp>
      <p:sp>
        <p:nvSpPr>
          <p:cNvPr id="15" name="條件不成立時產生 AssertionError。">
            <a:extLst xmlns:a="http://schemas.openxmlformats.org/drawingml/2006/main">
              <a:ext uri="{FF2B5EF4-FFF2-40B4-BE49-F238E27FC236}">
                <a16:creationId xmlns:a16="http://schemas.microsoft.com/office/drawing/2014/main" id="{4AE7DFD9-2329-45A5-A093-83359AA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false condition raises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AssertionError.</a:t>
            </a:r>
          </a:p>
        </p:txBody>
      </p:sp>
      <p:sp>
        <p:nvSpPr>
          <p:cNvPr id="16" name="最佳化模式可略過 assert">
            <a:extLst xmlns:a="http://schemas.openxmlformats.org/drawingml/2006/main">
              <a:ext uri="{FF2B5EF4-FFF2-40B4-BE49-F238E27FC236}">
                <a16:creationId xmlns:a16="http://schemas.microsoft.com/office/drawing/2014/main" id="{EB5185B7-B7CC-4F99-A6F8-DFD1A85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Optimization can skip assert</a:t>
            </a:r>
          </a:p>
        </p:txBody>
      </p:sp>
      <p:sp>
        <p:nvSpPr>
          <p:cNvPr id="17" name="外部輸入驗證使用 if 與 raise。 traceback 顯示呼叫路徑與失敗位置。">
            <a:extLst xmlns:a="http://schemas.openxmlformats.org/drawingml/2006/main">
              <a:ext uri="{FF2B5EF4-FFF2-40B4-BE49-F238E27FC236}">
                <a16:creationId xmlns:a16="http://schemas.microsoft.com/office/drawing/2014/main" id="{E37B6242-74A2-470A-86A2-C0ABC0DC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Validate input with if / raise.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traceback shows the call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 and failure location.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68AA2-FF7A-411A-B4E3-13B422E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4    Must be even">
            <a:extLst xmlns:a="http://schemas.openxmlformats.org/drawingml/2006/main">
              <a:ext uri="{FF2B5EF4-FFF2-40B4-BE49-F238E27FC236}">
                <a16:creationId xmlns:a16="http://schemas.microsoft.com/office/drawing/2014/main" id="{8A5E790B-67F8-4C1E-948F-6E58A5A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4    Must be even</a:t>
            </a:r>
          </a:p>
        </p:txBody>
      </p:sp>
    </p:spTree>
    <p:extLst>
      <p:ext uri="{BB962C8B-B14F-4D97-AF65-F5344CB8AC3E}">
        <p14:creationId xmlns:p14="http://schemas.microsoft.com/office/powerpoint/2010/main" val="19296970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ass、實例與 self">
            <a:extLst xmlns:a="http://schemas.openxmlformats.org/drawingml/2006/main">
              <a:ext uri="{FF2B5EF4-FFF2-40B4-BE49-F238E27FC236}">
                <a16:creationId xmlns:a16="http://schemas.microsoft.com/office/drawing/2014/main" id="{FF421F99-5EBE-4749-9EDB-3C0BAF5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Classes, instances and self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5C490B43-9FB3-469F-A6A8-6A139A3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7F113CCF-565B-41E8-8C48-595941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51E41C34-5387-469C-991E-F244C54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, value=0):">
            <a:extLst xmlns:a="http://schemas.openxmlformats.org/drawingml/2006/main">
              <a:ext uri="{FF2B5EF4-FFF2-40B4-BE49-F238E27FC236}">
                <a16:creationId xmlns:a16="http://schemas.microsoft.com/office/drawing/2014/main" id="{2ABB3528-D69F-4E78-90AE-710BB47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value=0):</a:t>
            </a:r>
          </a:p>
        </p:txBody>
      </p:sp>
      <p:sp>
        <p:nvSpPr>
          <p:cNvPr id="6" name="        self.value = value">
            <a:extLst xmlns:a="http://schemas.openxmlformats.org/drawingml/2006/main">
              <a:ext uri="{FF2B5EF4-FFF2-40B4-BE49-F238E27FC236}">
                <a16:creationId xmlns:a16="http://schemas.microsoft.com/office/drawing/2014/main" id="{E8A9F7DB-D0C4-465D-AEF5-354FD0A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=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6A773-A795-43BE-B9BA-4EA7D4E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7BAE935-C56B-4A30-998E-B32ECBC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21439612-9BDA-438C-92BE-BC9FDEC0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        return self.value">
            <a:extLst xmlns:a="http://schemas.openxmlformats.org/drawingml/2006/main">
              <a:ext uri="{FF2B5EF4-FFF2-40B4-BE49-F238E27FC236}">
                <a16:creationId xmlns:a16="http://schemas.microsoft.com/office/drawing/2014/main" id="{A044562F-4DB7-4405-A9C7-C75A371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2CB1C-E596-4543-81AF-ACE30D6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Counter(10)">
            <a:extLst xmlns:a="http://schemas.openxmlformats.org/drawingml/2006/main">
              <a:ext uri="{FF2B5EF4-FFF2-40B4-BE49-F238E27FC236}">
                <a16:creationId xmlns:a16="http://schemas.microsoft.com/office/drawing/2014/main" id="{EFBCEE32-38B7-4BE8-B761-97F35F57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counter = Counter(10)</a:t>
            </a:r>
          </a:p>
        </p:txBody>
      </p:sp>
      <p:sp>
        <p:nvSpPr>
          <p:cNvPr id="13" name="print(counter.add(5))">
            <a:extLst xmlns:a="http://schemas.openxmlformats.org/drawingml/2006/main">
              <a:ext uri="{FF2B5EF4-FFF2-40B4-BE49-F238E27FC236}">
                <a16:creationId xmlns:a16="http://schemas.microsoft.com/office/drawing/2014/main" id="{79B620FC-8C87-4C1E-A979-86ECB18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print(counter.add(5))</a:t>
            </a:r>
          </a:p>
        </p:txBody>
      </p:sp>
      <p:sp>
        <p:nvSpPr>
          <p:cNvPr id="14" name="print(counter.value)">
            <a:extLst xmlns:a="http://schemas.openxmlformats.org/drawingml/2006/main">
              <a:ext uri="{FF2B5EF4-FFF2-40B4-BE49-F238E27FC236}">
                <a16:creationId xmlns:a16="http://schemas.microsoft.com/office/drawing/2014/main" id="{8226F5A5-3610-470D-87BA-9255195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print(counter.value)</a:t>
            </a:r>
          </a:p>
        </p:txBody>
      </p:sp>
      <p:sp>
        <p:nvSpPr>
          <p:cNvPr id="15" name="建立實例並初始化">
            <a:extLst xmlns:a="http://schemas.openxmlformats.org/drawingml/2006/main">
              <a:ext uri="{FF2B5EF4-FFF2-40B4-BE49-F238E27FC236}">
                <a16:creationId xmlns:a16="http://schemas.microsoft.com/office/drawing/2014/main" id="{BD467FCC-8926-4F07-863D-D14C03B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Creation and initialization</a:t>
            </a:r>
          </a:p>
        </p:txBody>
      </p:sp>
      <p:sp>
        <p:nvSpPr>
          <p:cNvPr id="16" name="Counter(10) 建立實例。 __init__ 負責初始化內容。">
            <a:extLst xmlns:a="http://schemas.openxmlformats.org/drawingml/2006/main">
              <a:ext uri="{FF2B5EF4-FFF2-40B4-BE49-F238E27FC236}">
                <a16:creationId xmlns:a16="http://schemas.microsoft.com/office/drawing/2014/main" id="{54AF6103-F651-4EF3-A6D1-E21FC10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Counter(10) creates an instance.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__init__ initializes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its contents.</a:t>
            </a:r>
          </a:p>
        </p:txBody>
      </p:sp>
      <p:sp>
        <p:nvSpPr>
          <p:cNvPr id="17" name="self 是目前實例">
            <a:extLst xmlns:a="http://schemas.openxmlformats.org/drawingml/2006/main">
              <a:ext uri="{FF2B5EF4-FFF2-40B4-BE49-F238E27FC236}">
                <a16:creationId xmlns:a16="http://schemas.microsoft.com/office/drawing/2014/main" id="{740ED9FB-50E7-40BE-B514-B8B5F58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self is the current instance</a:t>
            </a:r>
          </a:p>
        </p:txBody>
      </p:sp>
      <p:sp>
        <p:nvSpPr>
          <p:cNvPr id="18" name="方法呼叫會自動傳入實例。 self 是慣用名稱，不是關鍵字。">
            <a:extLst xmlns:a="http://schemas.openxmlformats.org/drawingml/2006/main">
              <a:ext uri="{FF2B5EF4-FFF2-40B4-BE49-F238E27FC236}">
                <a16:creationId xmlns:a16="http://schemas.microsoft.com/office/drawing/2014/main" id="{D14F883B-E2FC-4210-98B1-AD334A2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Method calls pass it implicitly.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 is a conventional name,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not a keyword.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36840CA-A782-44B2-8111-C583861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15    15">
            <a:extLst xmlns:a="http://schemas.openxmlformats.org/drawingml/2006/main">
              <a:ext uri="{FF2B5EF4-FFF2-40B4-BE49-F238E27FC236}">
                <a16:creationId xmlns:a16="http://schemas.microsoft.com/office/drawing/2014/main" id="{516FB0B2-5629-4C63-B90E-6EE1802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15    15</a:t>
            </a:r>
          </a:p>
        </p:txBody>
      </p:sp>
    </p:spTree>
    <p:extLst>
      <p:ext uri="{BB962C8B-B14F-4D97-AF65-F5344CB8AC3E}">
        <p14:creationId xmlns:p14="http://schemas.microsoft.com/office/powerpoint/2010/main" val="7314358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類別屬性與實例屬性">
            <a:extLst xmlns:a="http://schemas.openxmlformats.org/drawingml/2006/main">
              <a:ext uri="{FF2B5EF4-FFF2-40B4-BE49-F238E27FC236}">
                <a16:creationId xmlns:a16="http://schemas.microsoft.com/office/drawing/2014/main" id="{93F5D434-AD1F-4C6F-A3D4-D48106CE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 and instance attributes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087200B6-9BF9-42AB-81BD-0761BD1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4">
            <a:extLst xmlns:a="http://schemas.openxmlformats.org/drawingml/2006/main">
              <a:ext uri="{FF2B5EF4-FFF2-40B4-BE49-F238E27FC236}">
                <a16:creationId xmlns:a16="http://schemas.microsoft.com/office/drawing/2014/main" id="{62336749-3213-4A85-B462-5D53EE4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A2A020-6898-430D-BFCB-9ACD359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48F3B9C2-2715-44D7-86E1-47C2159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36054BF-2548-48CB-A09D-F04F979E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F6F3013-38F3-4C3B-AD91-AD1C3FD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        self.tags = []">
            <a:extLst xmlns:a="http://schemas.openxmlformats.org/drawingml/2006/main">
              <a:ext uri="{FF2B5EF4-FFF2-40B4-BE49-F238E27FC236}">
                <a16:creationId xmlns:a16="http://schemas.microsoft.com/office/drawing/2014/main" id="{A70DD188-F101-457F-B613-486D801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self.tags = 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92AC-D81A-40D2-9BF1-D633FA4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AA84C1A-C0E3-44BD-8ED6-B496DBC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0F869BE0-F822-4620-93DE-5573F57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2" name="a.tag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21B4238B-BCD4-4286-AC07-EF1E9FC9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a.tags.append("Python")</a:t>
            </a:r>
          </a:p>
        </p:txBody>
      </p:sp>
      <p:sp>
        <p:nvSpPr>
          <p:cNvPr id="13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A60C8BD-5BBD-4F14-B71A-5D2C7CB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4" name="print(a.tags, b.tags)">
            <a:extLst xmlns:a="http://schemas.openxmlformats.org/drawingml/2006/main">
              <a:ext uri="{FF2B5EF4-FFF2-40B4-BE49-F238E27FC236}">
                <a16:creationId xmlns:a16="http://schemas.microsoft.com/office/drawing/2014/main" id="{574F709E-3469-4B96-9864-A887508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print(a.tags, b.tags)</a:t>
            </a:r>
          </a:p>
        </p:txBody>
      </p:sp>
      <p:sp>
        <p:nvSpPr>
          <p:cNvPr id="15" name="類別層提供共用屬性">
            <a:extLst xmlns:a="http://schemas.openxmlformats.org/drawingml/2006/main">
              <a:ext uri="{FF2B5EF4-FFF2-40B4-BE49-F238E27FC236}">
                <a16:creationId xmlns:a16="http://schemas.microsoft.com/office/drawing/2014/main" id="{0F6CCD07-3E28-473E-8122-AC48136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 are shared</a:t>
            </a:r>
          </a:p>
        </p:txBody>
      </p:sp>
      <p:sp>
        <p:nvSpPr>
          <p:cNvPr id="16" name="school 定義在類別中。 實例也可建立同名屬性遮蔽它。">
            <a:extLst xmlns:a="http://schemas.openxmlformats.org/drawingml/2006/main">
              <a:ext uri="{FF2B5EF4-FFF2-40B4-BE49-F238E27FC236}">
                <a16:creationId xmlns:a16="http://schemas.microsoft.com/office/drawing/2014/main" id="{C946BF99-7F80-4FA7-A3DE-C4895FF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school belongs to the class.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 instance attribute with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same name can shadow it.</a:t>
            </a:r>
          </a:p>
        </p:txBody>
      </p:sp>
      <p:sp>
        <p:nvSpPr>
          <p:cNvPr id="17" name="每個實例各自建立 list">
            <a:extLst xmlns:a="http://schemas.openxmlformats.org/drawingml/2006/main">
              <a:ext uri="{FF2B5EF4-FFF2-40B4-BE49-F238E27FC236}">
                <a16:creationId xmlns:a16="http://schemas.microsoft.com/office/drawing/2014/main" id="{80789CCF-C527-4765-9A4D-FDB20E5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Each instance gets a list</a:t>
            </a:r>
          </a:p>
        </p:txBody>
      </p:sp>
      <p:sp>
        <p:nvSpPr>
          <p:cNvPr id="18" name="tags 放在 __init__ 內。 放在類別層的 list 會共用。">
            <a:extLst xmlns:a="http://schemas.openxmlformats.org/drawingml/2006/main">
              <a:ext uri="{FF2B5EF4-FFF2-40B4-BE49-F238E27FC236}">
                <a16:creationId xmlns:a16="http://schemas.microsoft.com/office/drawing/2014/main" id="{EE42BE40-E476-4EBF-98BF-B7260C3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tags is created in __init__.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class-level list would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be shared.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BEA9E-F8BB-403D-9509-23D89037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YunTech YunTech    ['Python'] []">
            <a:extLst xmlns:a="http://schemas.openxmlformats.org/drawingml/2006/main">
              <a:ext uri="{FF2B5EF4-FFF2-40B4-BE49-F238E27FC236}">
                <a16:creationId xmlns:a16="http://schemas.microsoft.com/office/drawing/2014/main" id="{DF9D25B5-69CE-4EB1-BE3C-81D6584D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['Python'] []</a:t>
            </a:r>
          </a:p>
        </p:txBody>
      </p:sp>
    </p:spTree>
    <p:extLst>
      <p:ext uri="{BB962C8B-B14F-4D97-AF65-F5344CB8AC3E}">
        <p14:creationId xmlns:p14="http://schemas.microsoft.com/office/powerpoint/2010/main" val="45673074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繼承、覆寫與 super">
            <a:extLst xmlns:a="http://schemas.openxmlformats.org/drawingml/2006/main">
              <a:ext uri="{FF2B5EF4-FFF2-40B4-BE49-F238E27FC236}">
                <a16:creationId xmlns:a16="http://schemas.microsoft.com/office/drawing/2014/main" id="{DD352D6B-495F-4B97-9DF3-58272F6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Inheritance, overriding and super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F2112259-716B-424B-92C0-899153B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5">
            <a:extLst xmlns:a="http://schemas.openxmlformats.org/drawingml/2006/main">
              <a:ext uri="{FF2B5EF4-FFF2-40B4-BE49-F238E27FC236}">
                <a16:creationId xmlns:a16="http://schemas.microsoft.com/office/drawing/2014/main" id="{1F3F28C3-9B93-4A4C-B2FC-4AB42C0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  <p:sp>
        <p:nvSpPr>
          <p:cNvPr id="4" name="class Animal:">
            <a:extLst xmlns:a="http://schemas.openxmlformats.org/drawingml/2006/main">
              <a:ext uri="{FF2B5EF4-FFF2-40B4-BE49-F238E27FC236}">
                <a16:creationId xmlns:a16="http://schemas.microsoft.com/office/drawing/2014/main" id="{1799009F-51D1-48AC-A90F-47000F6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Animal:</a:t>
            </a:r>
          </a:p>
        </p:txBody>
      </p:sp>
      <p:sp>
        <p:nvSpPr>
          <p:cNvPr id="5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75C3C873-1BE7-4677-AFFB-459211D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6" name="        return &quot;sound&quot;">
            <a:extLst xmlns:a="http://schemas.openxmlformats.org/drawingml/2006/main">
              <a:ext uri="{FF2B5EF4-FFF2-40B4-BE49-F238E27FC236}">
                <a16:creationId xmlns:a16="http://schemas.microsoft.com/office/drawing/2014/main" id="{8B649023-F915-493F-951C-4F8C273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"sound"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EDC51-045A-4BF2-B0B2-769C5BE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Dog(Animal):">
            <a:extLst xmlns:a="http://schemas.openxmlformats.org/drawingml/2006/main">
              <a:ext uri="{FF2B5EF4-FFF2-40B4-BE49-F238E27FC236}">
                <a16:creationId xmlns:a16="http://schemas.microsoft.com/office/drawing/2014/main" id="{9BE1FA6B-C38B-4915-B7A1-8EB69E9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Dog(Animal):</a:t>
            </a:r>
          </a:p>
        </p:txBody>
      </p:sp>
      <p:sp>
        <p:nvSpPr>
          <p:cNvPr id="9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CB583B04-798F-412F-AB1C-067111F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10" name="        return super().speak() + &quot;: woof&quot;">
            <a:extLst xmlns:a="http://schemas.openxmlformats.org/drawingml/2006/main">
              <a:ext uri="{FF2B5EF4-FFF2-40B4-BE49-F238E27FC236}">
                <a16:creationId xmlns:a16="http://schemas.microsoft.com/office/drawing/2014/main" id="{D33CC3CA-F4AE-4CDC-91E1-56F6D68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super().speak() + ": woof"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A7A7-41B1-4071-A68D-2881D3B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dog = Dog()">
            <a:extLst xmlns:a="http://schemas.openxmlformats.org/drawingml/2006/main">
              <a:ext uri="{FF2B5EF4-FFF2-40B4-BE49-F238E27FC236}">
                <a16:creationId xmlns:a16="http://schemas.microsoft.com/office/drawing/2014/main" id="{AB59D21D-158C-4CC5-AF86-1BA66E79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dog = Dog()</a:t>
            </a:r>
          </a:p>
        </p:txBody>
      </p:sp>
      <p:sp>
        <p:nvSpPr>
          <p:cNvPr id="13" name="print(dog.speak())">
            <a:extLst xmlns:a="http://schemas.openxmlformats.org/drawingml/2006/main">
              <a:ext uri="{FF2B5EF4-FFF2-40B4-BE49-F238E27FC236}">
                <a16:creationId xmlns:a16="http://schemas.microsoft.com/office/drawing/2014/main" id="{9FA2A500-774F-41AB-8127-8D0E343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print(dog.speak())</a:t>
            </a:r>
          </a:p>
        </p:txBody>
      </p:sp>
      <p:sp>
        <p:nvSpPr>
          <p:cNvPr id="14" name="print(isinstance(dog, Animal))">
            <a:extLst xmlns:a="http://schemas.openxmlformats.org/drawingml/2006/main">
              <a:ext uri="{FF2B5EF4-FFF2-40B4-BE49-F238E27FC236}">
                <a16:creationId xmlns:a16="http://schemas.microsoft.com/office/drawing/2014/main" id="{E8FBF387-FA69-4043-B42E-36F30FA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print(isinstance(dog, Animal))</a:t>
            </a:r>
          </a:p>
        </p:txBody>
      </p:sp>
      <p:sp>
        <p:nvSpPr>
          <p:cNvPr id="15" name="子類別可覆寫方法">
            <a:extLst xmlns:a="http://schemas.openxmlformats.org/drawingml/2006/main">
              <a:ext uri="{FF2B5EF4-FFF2-40B4-BE49-F238E27FC236}">
                <a16:creationId xmlns:a16="http://schemas.microsoft.com/office/drawing/2014/main" id="{A479CA0E-B5E7-4D3E-BD8F-254CF9D2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Subclasses can override methods</a:t>
            </a:r>
          </a:p>
        </p:txBody>
      </p:sp>
      <p:sp>
        <p:nvSpPr>
          <p:cNvPr id="16" name="Dog 提供自己的 speak。 isinstance 同時考量基底類別。">
            <a:extLst xmlns:a="http://schemas.openxmlformats.org/drawingml/2006/main">
              <a:ext uri="{FF2B5EF4-FFF2-40B4-BE49-F238E27FC236}">
                <a16:creationId xmlns:a16="http://schemas.microsoft.com/office/drawing/2014/main" id="{500EE32C-EAC0-4935-9C2F-66F4685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Dog provides its own speak.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isinstance also considers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base classes.</a:t>
            </a:r>
          </a:p>
        </p:txBody>
      </p:sp>
      <p:sp>
        <p:nvSpPr>
          <p:cNvPr id="17" name="super 依 MRO 查找">
            <a:extLst xmlns:a="http://schemas.openxmlformats.org/drawingml/2006/main">
              <a:ext uri="{FF2B5EF4-FFF2-40B4-BE49-F238E27FC236}">
                <a16:creationId xmlns:a16="http://schemas.microsoft.com/office/drawing/2014/main" id="{50F1D170-1998-45FA-894D-AFB326D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super follows the MRO</a:t>
            </a:r>
          </a:p>
        </p:txBody>
      </p:sp>
      <p:sp>
        <p:nvSpPr>
          <p:cNvPr id="18" name="由方法解析順序中的下一站 取得實作，支援合作式繼承。">
            <a:extLst xmlns:a="http://schemas.openxmlformats.org/drawingml/2006/main">
              <a:ext uri="{FF2B5EF4-FFF2-40B4-BE49-F238E27FC236}">
                <a16:creationId xmlns:a16="http://schemas.microsoft.com/office/drawing/2014/main" id="{F44C3E9F-03E0-4FE0-8310-6998AE0B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Looks up the next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implementation in the method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resolution order for cooperation.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6A861FF-8A9E-432D-B459-795CC7A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sound: woof    True">
            <a:extLst xmlns:a="http://schemas.openxmlformats.org/drawingml/2006/main">
              <a:ext uri="{FF2B5EF4-FFF2-40B4-BE49-F238E27FC236}">
                <a16:creationId xmlns:a16="http://schemas.microsoft.com/office/drawing/2014/main" id="{D9430D54-01CB-46E9-A42B-12B7B3F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sound: woof    True</a:t>
            </a:r>
          </a:p>
        </p:txBody>
      </p:sp>
    </p:spTree>
    <p:extLst>
      <p:ext uri="{BB962C8B-B14F-4D97-AF65-F5344CB8AC3E}">
        <p14:creationId xmlns:p14="http://schemas.microsoft.com/office/powerpoint/2010/main" val="13742675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perty 與屬性存取">
            <a:extLst xmlns:a="http://schemas.openxmlformats.org/drawingml/2006/main">
              <a:ext uri="{FF2B5EF4-FFF2-40B4-BE49-F238E27FC236}">
                <a16:creationId xmlns:a16="http://schemas.microsoft.com/office/drawing/2014/main" id="{ABBBD90F-CAAB-4381-8235-C69BD9F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property and attribute access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75C1E0-6ACC-4D8C-984A-3A103A9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6">
            <a:extLst xmlns:a="http://schemas.openxmlformats.org/drawingml/2006/main">
              <a:ext uri="{FF2B5EF4-FFF2-40B4-BE49-F238E27FC236}">
                <a16:creationId xmlns:a16="http://schemas.microsoft.com/office/drawing/2014/main" id="{0DD2448D-8B7B-4CED-9087-6AE2D10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  <p:sp>
        <p:nvSpPr>
          <p:cNvPr id="4" name="class Box:">
            <a:extLst xmlns:a="http://schemas.openxmlformats.org/drawingml/2006/main">
              <a:ext uri="{FF2B5EF4-FFF2-40B4-BE49-F238E27FC236}">
                <a16:creationId xmlns:a16="http://schemas.microsoft.com/office/drawing/2014/main" id="{3FD449BC-3718-481F-AAB2-BEC8D8D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Box:</a:t>
            </a:r>
          </a:p>
        </p:txBody>
      </p:sp>
      <p:sp>
        <p:nvSpPr>
          <p:cNvPr id="5" name="    def __init__(self, size):">
            <a:extLst xmlns:a="http://schemas.openxmlformats.org/drawingml/2006/main">
              <a:ext uri="{FF2B5EF4-FFF2-40B4-BE49-F238E27FC236}">
                <a16:creationId xmlns:a16="http://schemas.microsoft.com/office/drawing/2014/main" id="{123C4B6C-D40D-4EB5-800B-FF4DE62F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size):</a:t>
            </a:r>
          </a:p>
        </p:txBody>
      </p:sp>
      <p:sp>
        <p:nvSpPr>
          <p:cNvPr id="6" name="        self.size = size">
            <a:extLst xmlns:a="http://schemas.openxmlformats.org/drawingml/2006/main">
              <a:ext uri="{FF2B5EF4-FFF2-40B4-BE49-F238E27FC236}">
                <a16:creationId xmlns:a16="http://schemas.microsoft.com/office/drawing/2014/main" id="{507E6098-FDE9-427D-AE82-D5A13DA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self.size = size</a:t>
            </a:r>
          </a:p>
        </p:txBody>
      </p:sp>
      <p:sp>
        <p:nvSpPr>
          <p:cNvPr id="7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F764919-1A54-43C3-8172-3FF2872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8" name="    def size(self):">
            <a:extLst xmlns:a="http://schemas.openxmlformats.org/drawingml/2006/main">
              <a:ext uri="{FF2B5EF4-FFF2-40B4-BE49-F238E27FC236}">
                <a16:creationId xmlns:a16="http://schemas.microsoft.com/office/drawing/2014/main" id="{0D83F346-C632-466F-A3FA-7E43D1FF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size(self):</a:t>
            </a:r>
          </a:p>
        </p:txBody>
      </p:sp>
      <p:sp>
        <p:nvSpPr>
          <p:cNvPr id="9" name="        return self._size">
            <a:extLst xmlns:a="http://schemas.openxmlformats.org/drawingml/2006/main">
              <a:ext uri="{FF2B5EF4-FFF2-40B4-BE49-F238E27FC236}">
                <a16:creationId xmlns:a16="http://schemas.microsoft.com/office/drawing/2014/main" id="{A8B0FAE7-724A-42B1-A43B-8E32B2D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self._size</a:t>
            </a:r>
          </a:p>
        </p:txBody>
      </p:sp>
      <p:sp>
        <p:nvSpPr>
          <p:cNvPr id="10" name="    @size.setter">
            <a:extLst xmlns:a="http://schemas.openxmlformats.org/drawingml/2006/main">
              <a:ext uri="{FF2B5EF4-FFF2-40B4-BE49-F238E27FC236}">
                <a16:creationId xmlns:a16="http://schemas.microsoft.com/office/drawing/2014/main" id="{55DAFD4C-786E-47B5-83A9-47A5B7F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@size.setter</a:t>
            </a:r>
          </a:p>
        </p:txBody>
      </p:sp>
      <p:sp>
        <p:nvSpPr>
          <p:cNvPr id="11" name="    def size(self, value):">
            <a:extLst xmlns:a="http://schemas.openxmlformats.org/drawingml/2006/main">
              <a:ext uri="{FF2B5EF4-FFF2-40B4-BE49-F238E27FC236}">
                <a16:creationId xmlns:a16="http://schemas.microsoft.com/office/drawing/2014/main" id="{4D82EAE5-468D-4298-B70B-65D80DF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size(self, value):</a:t>
            </a:r>
          </a:p>
        </p:txBody>
      </p:sp>
      <p:sp>
        <p:nvSpPr>
          <p:cNvPr id="12" name="        if value &lt; 0:">
            <a:extLst xmlns:a="http://schemas.openxmlformats.org/drawingml/2006/main">
              <a:ext uri="{FF2B5EF4-FFF2-40B4-BE49-F238E27FC236}">
                <a16:creationId xmlns:a16="http://schemas.microsoft.com/office/drawing/2014/main" id="{57EE017F-6ABD-49A9-9D96-B5A69C1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value &lt; 0:</a:t>
            </a:r>
          </a:p>
        </p:txBody>
      </p:sp>
      <p:sp>
        <p:nvSpPr>
          <p:cNvPr id="13" name="            raise ValueError(&quot;Negative size&quot;)">
            <a:extLst xmlns:a="http://schemas.openxmlformats.org/drawingml/2006/main">
              <a:ext uri="{FF2B5EF4-FFF2-40B4-BE49-F238E27FC236}">
                <a16:creationId xmlns:a16="http://schemas.microsoft.com/office/drawing/2014/main" id="{DB43FB9E-083A-4006-B6C0-45C45FC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ValueError("Negative size")</a:t>
            </a:r>
          </a:p>
        </p:txBody>
      </p:sp>
      <p:sp>
        <p:nvSpPr>
          <p:cNvPr id="14" name="        self._size = value">
            <a:extLst xmlns:a="http://schemas.openxmlformats.org/drawingml/2006/main">
              <a:ext uri="{FF2B5EF4-FFF2-40B4-BE49-F238E27FC236}">
                <a16:creationId xmlns:a16="http://schemas.microsoft.com/office/drawing/2014/main" id="{3F50719B-17EF-4F82-BED6-0093AB2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self._size =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2F054-5502-4D77-818F-704E6F2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box = Box(3)">
            <a:extLst xmlns:a="http://schemas.openxmlformats.org/drawingml/2006/main">
              <a:ext uri="{FF2B5EF4-FFF2-40B4-BE49-F238E27FC236}">
                <a16:creationId xmlns:a16="http://schemas.microsoft.com/office/drawing/2014/main" id="{E9F2AC6B-E140-452F-AFBF-E0F0E9B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box = Box(3)</a:t>
            </a:r>
          </a:p>
        </p:txBody>
      </p:sp>
      <p:sp>
        <p:nvSpPr>
          <p:cNvPr id="17" name="print(box.size)">
            <a:extLst xmlns:a="http://schemas.openxmlformats.org/drawingml/2006/main">
              <a:ext uri="{FF2B5EF4-FFF2-40B4-BE49-F238E27FC236}">
                <a16:creationId xmlns:a16="http://schemas.microsoft.com/office/drawing/2014/main" id="{D7F8AE7C-F131-4085-B8C4-BB985FF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print(box.size)</a:t>
            </a:r>
          </a:p>
        </p:txBody>
      </p:sp>
      <p:sp>
        <p:nvSpPr>
          <p:cNvPr id="18" name="以屬性語法呼叫方法">
            <a:extLst xmlns:a="http://schemas.openxmlformats.org/drawingml/2006/main">
              <a:ext uri="{FF2B5EF4-FFF2-40B4-BE49-F238E27FC236}">
                <a16:creationId xmlns:a16="http://schemas.microsoft.com/office/drawing/2014/main" id="{421A3B25-9F34-4AB6-A72A-7E5A28B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Attribute syntax invokes methods</a:t>
            </a:r>
          </a:p>
        </p:txBody>
      </p:sp>
      <p:sp>
        <p:nvSpPr>
          <p:cNvPr id="19" name="讀取 size 執行 getter。 指定 size 執行 setter。">
            <a:extLst xmlns:a="http://schemas.openxmlformats.org/drawingml/2006/main">
              <a:ext uri="{FF2B5EF4-FFF2-40B4-BE49-F238E27FC236}">
                <a16:creationId xmlns:a16="http://schemas.microsoft.com/office/drawing/2014/main" id="{380BB6D3-D393-4950-906A-8E134FA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Reading size calls the getter.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Assigning size calls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setter.</a:t>
            </a:r>
          </a:p>
        </p:txBody>
      </p:sp>
      <p:sp>
        <p:nvSpPr>
          <p:cNvPr id="20" name="底線是使用慣例">
            <a:extLst xmlns:a="http://schemas.openxmlformats.org/drawingml/2006/main">
              <a:ext uri="{FF2B5EF4-FFF2-40B4-BE49-F238E27FC236}">
                <a16:creationId xmlns:a16="http://schemas.microsoft.com/office/drawing/2014/main" id="{5CDC5F41-8CE8-4B0E-B1B2-614E495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Underscores are conventions</a:t>
            </a:r>
          </a:p>
        </p:txBody>
      </p:sp>
      <p:sp>
        <p:nvSpPr>
          <p:cNvPr id="21" name="_size 表示內部使用。 雙底線名稱會名稱改寫， 並非安全存取控制。">
            <a:extLst xmlns:a="http://schemas.openxmlformats.org/drawingml/2006/main">
              <a:ext uri="{FF2B5EF4-FFF2-40B4-BE49-F238E27FC236}">
                <a16:creationId xmlns:a16="http://schemas.microsoft.com/office/drawing/2014/main" id="{80492C6F-35E5-425B-91ED-6961D5D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_size means internal use.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Double underscores trigger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 mangling, not security.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F9EBEC3-C8E8-45FD-A521-FD2BBD1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3" name="3">
            <a:extLst xmlns:a="http://schemas.openxmlformats.org/drawingml/2006/main">
              <a:ext uri="{FF2B5EF4-FFF2-40B4-BE49-F238E27FC236}">
                <a16:creationId xmlns:a16="http://schemas.microsoft.com/office/drawing/2014/main" id="{3AD1DAC2-7730-4F62-917C-02BD108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2582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assmethod 與 staticmethod">
            <a:extLst xmlns:a="http://schemas.openxmlformats.org/drawingml/2006/main">
              <a:ext uri="{FF2B5EF4-FFF2-40B4-BE49-F238E27FC236}">
                <a16:creationId xmlns:a16="http://schemas.microsoft.com/office/drawing/2014/main" id="{AFA7B003-B4E8-4750-8410-14B96B7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classmethod and staticmethod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B0AA82FC-96E6-4394-87B3-333039D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7">
            <a:extLst xmlns:a="http://schemas.openxmlformats.org/drawingml/2006/main">
              <a:ext uri="{FF2B5EF4-FFF2-40B4-BE49-F238E27FC236}">
                <a16:creationId xmlns:a16="http://schemas.microsoft.com/office/drawing/2014/main" id="{B51D2863-040C-4A19-8FAF-A8E34D6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  <p:sp>
        <p:nvSpPr>
          <p:cNvPr id="4" name="class Label:">
            <a:extLst xmlns:a="http://schemas.openxmlformats.org/drawingml/2006/main">
              <a:ext uri="{FF2B5EF4-FFF2-40B4-BE49-F238E27FC236}">
                <a16:creationId xmlns:a16="http://schemas.microsoft.com/office/drawing/2014/main" id="{FA094D7C-D260-4AAB-B658-823B4C9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Label:</a:t>
            </a:r>
          </a:p>
        </p:txBody>
      </p:sp>
      <p:sp>
        <p:nvSpPr>
          <p:cNvPr id="5" name="    def __init__(self, text):">
            <a:extLst xmlns:a="http://schemas.openxmlformats.org/drawingml/2006/main">
              <a:ext uri="{FF2B5EF4-FFF2-40B4-BE49-F238E27FC236}">
                <a16:creationId xmlns:a16="http://schemas.microsoft.com/office/drawing/2014/main" id="{5A0D4B07-3D19-4999-ABD4-DEBB4B5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text):</a:t>
            </a:r>
          </a:p>
        </p:txBody>
      </p:sp>
      <p:sp>
        <p:nvSpPr>
          <p:cNvPr id="6" name="        self.text = text">
            <a:extLst xmlns:a="http://schemas.openxmlformats.org/drawingml/2006/main">
              <a:ext uri="{FF2B5EF4-FFF2-40B4-BE49-F238E27FC236}">
                <a16:creationId xmlns:a16="http://schemas.microsoft.com/office/drawing/2014/main" id="{DD327323-2240-4CF7-85D9-7BB98A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self.text = text</a:t>
            </a:r>
          </a:p>
        </p:txBody>
      </p:sp>
      <p:sp>
        <p:nvSpPr>
          <p:cNvPr id="7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8D3A6A5F-55D3-4434-B720-4F3A012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8" name="    def from_number(cls, n):">
            <a:extLst xmlns:a="http://schemas.openxmlformats.org/drawingml/2006/main">
              <a:ext uri="{FF2B5EF4-FFF2-40B4-BE49-F238E27FC236}">
                <a16:creationId xmlns:a16="http://schemas.microsoft.com/office/drawing/2014/main" id="{43F7FDDA-C828-437C-ABBC-07F685B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from_number(cls, n):</a:t>
            </a:r>
          </a:p>
        </p:txBody>
      </p:sp>
      <p:sp>
        <p:nvSpPr>
          <p:cNvPr id="9" name="        return cls(str(n))">
            <a:extLst xmlns:a="http://schemas.openxmlformats.org/drawingml/2006/main">
              <a:ext uri="{FF2B5EF4-FFF2-40B4-BE49-F238E27FC236}">
                <a16:creationId xmlns:a16="http://schemas.microsoft.com/office/drawing/2014/main" id="{0EA6D9EA-3BE2-4EF4-A7F1-E8EB33E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cls(str(n))</a:t>
            </a:r>
          </a:p>
        </p:txBody>
      </p:sp>
      <p:sp>
        <p:nvSpPr>
          <p:cNvPr id="10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571FECC2-B8DD-4B20-9B13-F0552E90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11" name="    def valid(text):">
            <a:extLst xmlns:a="http://schemas.openxmlformats.org/drawingml/2006/main">
              <a:ext uri="{FF2B5EF4-FFF2-40B4-BE49-F238E27FC236}">
                <a16:creationId xmlns:a16="http://schemas.microsoft.com/office/drawing/2014/main" id="{BC99767A-55E6-489D-A850-FB95928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valid(text):</a:t>
            </a:r>
          </a:p>
        </p:txBody>
      </p:sp>
      <p:sp>
        <p:nvSpPr>
          <p:cNvPr id="12" name="        return bool(text.strip())">
            <a:extLst xmlns:a="http://schemas.openxmlformats.org/drawingml/2006/main">
              <a:ext uri="{FF2B5EF4-FFF2-40B4-BE49-F238E27FC236}">
                <a16:creationId xmlns:a16="http://schemas.microsoft.com/office/drawing/2014/main" id="{2FCE5A94-75FE-4146-9095-B8C7B23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bool(text.strip())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743DC-D669-4580-9C39-AC4915D3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item = Label.from_number(42)">
            <a:extLst xmlns:a="http://schemas.openxmlformats.org/drawingml/2006/main">
              <a:ext uri="{FF2B5EF4-FFF2-40B4-BE49-F238E27FC236}">
                <a16:creationId xmlns:a16="http://schemas.microsoft.com/office/drawing/2014/main" id="{48727422-2355-41B3-847D-5A1FCBC3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item = Label.from_number(42)</a:t>
            </a:r>
          </a:p>
        </p:txBody>
      </p:sp>
      <p:sp>
        <p:nvSpPr>
          <p:cNvPr id="15" name="print(item.text)">
            <a:extLst xmlns:a="http://schemas.openxmlformats.org/drawingml/2006/main">
              <a:ext uri="{FF2B5EF4-FFF2-40B4-BE49-F238E27FC236}">
                <a16:creationId xmlns:a16="http://schemas.microsoft.com/office/drawing/2014/main" id="{F98FDFB8-BD25-4A16-B324-0C32D98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print(item.text)</a:t>
            </a:r>
          </a:p>
        </p:txBody>
      </p:sp>
      <p:sp>
        <p:nvSpPr>
          <p:cNvPr id="16" name="print(Label.valid(&quot; &quot;))">
            <a:extLst xmlns:a="http://schemas.openxmlformats.org/drawingml/2006/main">
              <a:ext uri="{FF2B5EF4-FFF2-40B4-BE49-F238E27FC236}">
                <a16:creationId xmlns:a16="http://schemas.microsoft.com/office/drawing/2014/main" id="{68FF5DF8-53FB-47D6-B2F7-429AB4A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print(Label.valid(" "))</a:t>
            </a:r>
          </a:p>
        </p:txBody>
      </p:sp>
      <p:sp>
        <p:nvSpPr>
          <p:cNvPr id="17" name="classmethod 接收 cls">
            <a:extLst xmlns:a="http://schemas.openxmlformats.org/drawingml/2006/main">
              <a:ext uri="{FF2B5EF4-FFF2-40B4-BE49-F238E27FC236}">
                <a16:creationId xmlns:a16="http://schemas.microsoft.com/office/drawing/2014/main" id="{8234DEFA-CBDE-4C0B-974E-20DA0D0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classmethod receives cls</a:t>
            </a:r>
          </a:p>
        </p:txBody>
      </p:sp>
      <p:sp>
        <p:nvSpPr>
          <p:cNvPr id="18" name="cls 是實際呼叫所屬的類別。 常用於替代建構方式。">
            <a:extLst xmlns:a="http://schemas.openxmlformats.org/drawingml/2006/main">
              <a:ext uri="{FF2B5EF4-FFF2-40B4-BE49-F238E27FC236}">
                <a16:creationId xmlns:a16="http://schemas.microsoft.com/office/drawing/2014/main" id="{C9515C1E-DD3C-48D3-B75B-15BC674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cls is the class of the call.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Often used for alternative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construction methods.</a:t>
            </a:r>
          </a:p>
        </p:txBody>
      </p:sp>
      <p:sp>
        <p:nvSpPr>
          <p:cNvPr id="19" name="staticmethod 不自動繫結">
            <a:extLst xmlns:a="http://schemas.openxmlformats.org/drawingml/2006/main">
              <a:ext uri="{FF2B5EF4-FFF2-40B4-BE49-F238E27FC236}">
                <a16:creationId xmlns:a16="http://schemas.microsoft.com/office/drawing/2014/main" id="{B7DF7482-D1E9-4EE3-AFEB-0FA9A2F1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staticmethod has no binding</a:t>
            </a:r>
          </a:p>
        </p:txBody>
      </p:sp>
      <p:sp>
        <p:nvSpPr>
          <p:cNvPr id="20" name="不會自動收到 self 或 cls。 參數完全由呼叫端提供。">
            <a:extLst xmlns:a="http://schemas.openxmlformats.org/drawingml/2006/main">
              <a:ext uri="{FF2B5EF4-FFF2-40B4-BE49-F238E27FC236}">
                <a16:creationId xmlns:a16="http://schemas.microsoft.com/office/drawing/2014/main" id="{A1ECB775-AF61-49FB-92A1-1A64F15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Neither self nor cls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is passed automatically.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caller supplies arguments.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6486C4-D699-4DAE-8B36-E4A2A56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42    False">
            <a:extLst xmlns:a="http://schemas.openxmlformats.org/drawingml/2006/main">
              <a:ext uri="{FF2B5EF4-FFF2-40B4-BE49-F238E27FC236}">
                <a16:creationId xmlns:a16="http://schemas.microsoft.com/office/drawing/2014/main" id="{9D2D10AD-CCB8-4FE0-81E1-B7286CC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42    False</a:t>
            </a:r>
          </a:p>
        </p:txBody>
      </p:sp>
    </p:spTree>
    <p:extLst>
      <p:ext uri="{BB962C8B-B14F-4D97-AF65-F5344CB8AC3E}">
        <p14:creationId xmlns:p14="http://schemas.microsoft.com/office/powerpoint/2010/main" val="99902921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特殊方法與內建操作">
            <a:extLst xmlns:a="http://schemas.openxmlformats.org/drawingml/2006/main">
              <a:ext uri="{FF2B5EF4-FFF2-40B4-BE49-F238E27FC236}">
                <a16:creationId xmlns:a16="http://schemas.microsoft.com/office/drawing/2014/main" id="{F000143D-E918-46A9-826F-9B6696F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Special methods and built-in operations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E71C53-0B8E-465A-A62C-8B5CCE2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8">
            <a:extLst xmlns:a="http://schemas.openxmlformats.org/drawingml/2006/main">
              <a:ext uri="{FF2B5EF4-FFF2-40B4-BE49-F238E27FC236}">
                <a16:creationId xmlns:a16="http://schemas.microsoft.com/office/drawing/2014/main" id="{A57DE9EC-D799-4B13-98F3-F4184D9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</a:p>
        </p:txBody>
      </p:sp>
      <p:sp>
        <p:nvSpPr>
          <p:cNvPr id="4" name="class Bag:">
            <a:extLst xmlns:a="http://schemas.openxmlformats.org/drawingml/2006/main">
              <a:ext uri="{FF2B5EF4-FFF2-40B4-BE49-F238E27FC236}">
                <a16:creationId xmlns:a16="http://schemas.microsoft.com/office/drawing/2014/main" id="{B0E5197E-264F-4008-A96F-99FDE96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Bag:</a:t>
            </a:r>
          </a:p>
        </p:txBody>
      </p:sp>
      <p:sp>
        <p:nvSpPr>
          <p:cNvPr id="5" name="    def __init__(self, items):">
            <a:extLst xmlns:a="http://schemas.openxmlformats.org/drawingml/2006/main">
              <a:ext uri="{FF2B5EF4-FFF2-40B4-BE49-F238E27FC236}">
                <a16:creationId xmlns:a16="http://schemas.microsoft.com/office/drawing/2014/main" id="{1465C5D2-E385-4B26-AF17-4E09B63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items):</a:t>
            </a:r>
          </a:p>
        </p:txBody>
      </p:sp>
      <p:sp>
        <p:nvSpPr>
          <p:cNvPr id="6" name="        self.items = list(items)">
            <a:extLst xmlns:a="http://schemas.openxmlformats.org/drawingml/2006/main">
              <a:ext uri="{FF2B5EF4-FFF2-40B4-BE49-F238E27FC236}">
                <a16:creationId xmlns:a16="http://schemas.microsoft.com/office/drawing/2014/main" id="{C929F34B-D8FF-4E6F-9EE6-DB87F70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self.items = list(items)</a:t>
            </a:r>
          </a:p>
        </p:txBody>
      </p:sp>
      <p:sp>
        <p:nvSpPr>
          <p:cNvPr id="7" name="    def __len__(self):">
            <a:extLst xmlns:a="http://schemas.openxmlformats.org/drawingml/2006/main">
              <a:ext uri="{FF2B5EF4-FFF2-40B4-BE49-F238E27FC236}">
                <a16:creationId xmlns:a16="http://schemas.microsoft.com/office/drawing/2014/main" id="{11ECCBAA-0A05-4B99-A8A7-8B59347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__len__(self):</a:t>
            </a:r>
          </a:p>
        </p:txBody>
      </p:sp>
      <p:sp>
        <p:nvSpPr>
          <p:cNvPr id="8" name="        return len(self.items)">
            <a:extLst xmlns:a="http://schemas.openxmlformats.org/drawingml/2006/main">
              <a:ext uri="{FF2B5EF4-FFF2-40B4-BE49-F238E27FC236}">
                <a16:creationId xmlns:a16="http://schemas.microsoft.com/office/drawing/2014/main" id="{1D21FDEC-1BDC-4B9A-AD8A-1CD66E0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len(self.items)</a:t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35D8C95E-8A09-4530-AA1A-E651412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f&quot;Bag({self.items!r})&quot;">
            <a:extLst xmlns:a="http://schemas.openxmlformats.org/drawingml/2006/main">
              <a:ext uri="{FF2B5EF4-FFF2-40B4-BE49-F238E27FC236}">
                <a16:creationId xmlns:a16="http://schemas.microsoft.com/office/drawing/2014/main" id="{54D63BB8-8474-452F-88D5-328D727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f"Bag({self.items!r})"</a:t>
            </a:r>
          </a:p>
        </p:txBody>
      </p:sp>
      <p:sp>
        <p:nvSpPr>
          <p:cNvPr id="11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A3C512E2-FEDB-49A7-AC8B-EF2BF8C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12" name="        return f&quot;{len(self)} items&quot;">
            <a:extLst xmlns:a="http://schemas.openxmlformats.org/drawingml/2006/main">
              <a:ext uri="{FF2B5EF4-FFF2-40B4-BE49-F238E27FC236}">
                <a16:creationId xmlns:a16="http://schemas.microsoft.com/office/drawing/2014/main" id="{905D0A0C-98D3-430F-8516-48DAB23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f"{len(self)} items"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3C5E7-F9BE-4D27-88EF-1845FB0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bag = Bag([1, 2])">
            <a:extLst xmlns:a="http://schemas.openxmlformats.org/drawingml/2006/main">
              <a:ext uri="{FF2B5EF4-FFF2-40B4-BE49-F238E27FC236}">
                <a16:creationId xmlns:a16="http://schemas.microsoft.com/office/drawing/2014/main" id="{7A97D22A-7056-425A-891D-652D532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bag = Bag([1, 2])</a:t>
            </a:r>
          </a:p>
        </p:txBody>
      </p:sp>
      <p:sp>
        <p:nvSpPr>
          <p:cNvPr id="15" name="print(len(bag), str(bag))">
            <a:extLst xmlns:a="http://schemas.openxmlformats.org/drawingml/2006/main">
              <a:ext uri="{FF2B5EF4-FFF2-40B4-BE49-F238E27FC236}">
                <a16:creationId xmlns:a16="http://schemas.microsoft.com/office/drawing/2014/main" id="{30E07200-DDE2-417D-A50B-782CFCF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print(len(bag), str(bag))</a:t>
            </a:r>
          </a:p>
        </p:txBody>
      </p:sp>
      <p:sp>
        <p:nvSpPr>
          <p:cNvPr id="16" name="print(repr(bag))">
            <a:extLst xmlns:a="http://schemas.openxmlformats.org/drawingml/2006/main">
              <a:ext uri="{FF2B5EF4-FFF2-40B4-BE49-F238E27FC236}">
                <a16:creationId xmlns:a16="http://schemas.microsoft.com/office/drawing/2014/main" id="{F5C91FB1-A259-4F98-AE1E-B56A217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print(repr(bag))</a:t>
            </a:r>
          </a:p>
        </p:txBody>
      </p:sp>
      <p:sp>
        <p:nvSpPr>
          <p:cNvPr id="17" name="內建操作使用協定">
            <a:extLst xmlns:a="http://schemas.openxmlformats.org/drawingml/2006/main">
              <a:ext uri="{FF2B5EF4-FFF2-40B4-BE49-F238E27FC236}">
                <a16:creationId xmlns:a16="http://schemas.microsoft.com/office/drawing/2014/main" id="{250F8C7B-D504-4457-853D-397C997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Built-ins follow protocols</a:t>
            </a:r>
          </a:p>
        </p:txBody>
      </p:sp>
      <p:sp>
        <p:nvSpPr>
          <p:cNvPr id="18" name="len 對應 __len__。 str 對應 __str__。">
            <a:extLst xmlns:a="http://schemas.openxmlformats.org/drawingml/2006/main">
              <a:ext uri="{FF2B5EF4-FFF2-40B4-BE49-F238E27FC236}">
                <a16:creationId xmlns:a16="http://schemas.microsoft.com/office/drawing/2014/main" id="{A8FF7EA1-113A-4957-9250-87F2A3C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len uses __len__.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str uses __str__.</a:t>
            </a:r>
          </a:p>
        </p:txBody>
      </p:sp>
      <p:sp>
        <p:nvSpPr>
          <p:cNvPr id="19" name="repr 表示物件資訊">
            <a:extLst xmlns:a="http://schemas.openxmlformats.org/drawingml/2006/main">
              <a:ext uri="{FF2B5EF4-FFF2-40B4-BE49-F238E27FC236}">
                <a16:creationId xmlns:a16="http://schemas.microsoft.com/office/drawing/2014/main" id="{75926D66-239D-4267-A737-56DFDEC2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repr represents an object</a:t>
            </a:r>
          </a:p>
        </p:txBody>
      </p:sp>
      <p:sp>
        <p:nvSpPr>
          <p:cNvPr id="20" name="__repr__ 常供檢查與除錯。 運算子、索引、迭代也有協定。">
            <a:extLst xmlns:a="http://schemas.openxmlformats.org/drawingml/2006/main">
              <a:ext uri="{FF2B5EF4-FFF2-40B4-BE49-F238E27FC236}">
                <a16:creationId xmlns:a16="http://schemas.microsoft.com/office/drawing/2014/main" id="{67D3383C-B4BC-4311-9FB0-23F4179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__repr__ aids inspection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debugging. Operators,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indexing and iteration have protocols.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0CB479-E06B-4AD7-B805-FBA8CB6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2 2 items    Bag([1, 2])">
            <a:extLst xmlns:a="http://schemas.openxmlformats.org/drawingml/2006/main">
              <a:ext uri="{FF2B5EF4-FFF2-40B4-BE49-F238E27FC236}">
                <a16:creationId xmlns:a16="http://schemas.microsoft.com/office/drawing/2014/main" id="{C1F3AF8D-C589-44F7-87EC-AAB9937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2 items    Bag([1, 2])</a:t>
            </a:r>
          </a:p>
        </p:txBody>
      </p:sp>
    </p:spTree>
    <p:extLst>
      <p:ext uri="{BB962C8B-B14F-4D97-AF65-F5344CB8AC3E}">
        <p14:creationId xmlns:p14="http://schemas.microsoft.com/office/powerpoint/2010/main" val="43234925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ataclass 的資料欄位">
            <a:extLst xmlns:a="http://schemas.openxmlformats.org/drawingml/2006/main">
              <a:ext uri="{FF2B5EF4-FFF2-40B4-BE49-F238E27FC236}">
                <a16:creationId xmlns:a16="http://schemas.microsoft.com/office/drawing/2014/main" id="{188B2EEB-7004-4C89-9134-A649B17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Data fields with dataclass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9BE838D7-1B38-4859-AAE9-B28C39C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syntax</a:t>
            </a:r>
          </a:p>
        </p:txBody>
      </p:sp>
      <p:sp>
        <p:nvSpPr>
          <p:cNvPr id="3" name="59">
            <a:extLst xmlns:a="http://schemas.openxmlformats.org/drawingml/2006/main">
              <a:ext uri="{FF2B5EF4-FFF2-40B4-BE49-F238E27FC236}">
                <a16:creationId xmlns:a16="http://schemas.microsoft.com/office/drawing/2014/main" id="{17AA7DCA-87FF-4ED2-AB84-33F19E9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59</a:t>
            </a:r>
          </a:p>
        </p:txBody>
      </p:sp>
      <p:sp>
        <p:nvSpPr>
          <p:cNvPr id="4" name="from dataclasses import dataclass, field">
            <a:extLst xmlns:a="http://schemas.openxmlformats.org/drawingml/2006/main">
              <a:ext uri="{FF2B5EF4-FFF2-40B4-BE49-F238E27FC236}">
                <a16:creationId xmlns:a16="http://schemas.microsoft.com/office/drawing/2014/main" id="{89AA432E-4DA2-4043-93FE-C65AC69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dataclasses import dataclass,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59D2E-5FCB-4784-9C61-EA789ED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@dataclass">
            <a:extLst xmlns:a="http://schemas.openxmlformats.org/drawingml/2006/main">
              <a:ext uri="{FF2B5EF4-FFF2-40B4-BE49-F238E27FC236}">
                <a16:creationId xmlns:a16="http://schemas.microsoft.com/office/drawing/2014/main" id="{76869311-BAFA-42F3-8EC5-723BF82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@dataclass</a:t>
            </a:r>
          </a:p>
        </p:txBody>
      </p:sp>
      <p:sp>
        <p:nvSpPr>
          <p:cNvPr id="7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980D8C42-1052-4257-8366-BB8AF83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8" name="    name: str">
            <a:extLst xmlns:a="http://schemas.openxmlformats.org/drawingml/2006/main">
              <a:ext uri="{FF2B5EF4-FFF2-40B4-BE49-F238E27FC236}">
                <a16:creationId xmlns:a16="http://schemas.microsoft.com/office/drawing/2014/main" id="{D7A96F7E-002F-4B82-B61B-BFFC8EC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name: str</a:t>
            </a:r>
          </a:p>
        </p:txBody>
      </p:sp>
      <p:sp>
        <p:nvSpPr>
          <p:cNvPr id="9" name="    scores: list[int] = field(default_factory=list)">
            <a:extLst xmlns:a="http://schemas.openxmlformats.org/drawingml/2006/main">
              <a:ext uri="{FF2B5EF4-FFF2-40B4-BE49-F238E27FC236}">
                <a16:creationId xmlns:a16="http://schemas.microsoft.com/office/drawing/2014/main" id="{E42F66E4-017F-47B2-89BD-72C4C5E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scores: list[int] = field(default_factory=list)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B0FF-3129-405F-BB70-CAFA46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B2BC2570-0AC5-4344-9339-7AAB02C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272EABFA-D20F-428E-B708-3C54ACE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3" name="a.scores.append(90)">
            <a:extLst xmlns:a="http://schemas.openxmlformats.org/drawingml/2006/main">
              <a:ext uri="{FF2B5EF4-FFF2-40B4-BE49-F238E27FC236}">
                <a16:creationId xmlns:a16="http://schemas.microsoft.com/office/drawing/2014/main" id="{240AD394-800B-41A2-8C42-6E086CF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a.scores.append(90)</a:t>
            </a:r>
          </a:p>
        </p:txBody>
      </p:sp>
      <p:sp>
        <p:nvSpPr>
          <p:cNvPr id="14" name="print(a)">
            <a:extLst xmlns:a="http://schemas.openxmlformats.org/drawingml/2006/main">
              <a:ext uri="{FF2B5EF4-FFF2-40B4-BE49-F238E27FC236}">
                <a16:creationId xmlns:a16="http://schemas.microsoft.com/office/drawing/2014/main" id="{E9961326-DD28-4AE5-9E1C-FFA74F1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print(a)</a:t>
            </a:r>
          </a:p>
        </p:txBody>
      </p:sp>
      <p:sp>
        <p:nvSpPr>
          <p:cNvPr id="15" name="print(b.scores)">
            <a:extLst xmlns:a="http://schemas.openxmlformats.org/drawingml/2006/main">
              <a:ext uri="{FF2B5EF4-FFF2-40B4-BE49-F238E27FC236}">
                <a16:creationId xmlns:a16="http://schemas.microsoft.com/office/drawing/2014/main" id="{5E928510-D369-4681-9BBE-E91D516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print(b.scores)</a:t>
            </a:r>
          </a:p>
        </p:txBody>
      </p:sp>
      <p:sp>
        <p:nvSpPr>
          <p:cNvPr id="16" name="依欄位產生常用方法">
            <a:extLst xmlns:a="http://schemas.openxmlformats.org/drawingml/2006/main">
              <a:ext uri="{FF2B5EF4-FFF2-40B4-BE49-F238E27FC236}">
                <a16:creationId xmlns:a16="http://schemas.microsoft.com/office/drawing/2014/main" id="{9964365F-E0DB-4C50-BA2A-1CB33A9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Fields generate common methods</a:t>
            </a:r>
          </a:p>
        </p:txBody>
      </p:sp>
      <p:sp>
        <p:nvSpPr>
          <p:cNvPr id="17" name="預設產生 __init__、 __repr__ 與相等比較。">
            <a:extLst xmlns:a="http://schemas.openxmlformats.org/drawingml/2006/main">
              <a:ext uri="{FF2B5EF4-FFF2-40B4-BE49-F238E27FC236}">
                <a16:creationId xmlns:a16="http://schemas.microsoft.com/office/drawing/2014/main" id="{EEF712FE-635B-4284-8E58-020D813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Defaults include __init__,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__repr__ and equality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comparison.</a:t>
            </a:r>
          </a:p>
        </p:txBody>
      </p:sp>
      <p:sp>
        <p:nvSpPr>
          <p:cNvPr id="18" name="default_factory 每次建立">
            <a:extLst xmlns:a="http://schemas.openxmlformats.org/drawingml/2006/main">
              <a:ext uri="{FF2B5EF4-FFF2-40B4-BE49-F238E27FC236}">
                <a16:creationId xmlns:a16="http://schemas.microsoft.com/office/drawing/2014/main" id="{8715C7A9-3DE5-4305-911C-DE14CFF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default_factory runs per instance</a:t>
            </a:r>
          </a:p>
        </p:txBody>
      </p:sp>
      <p:sp>
        <p:nvSpPr>
          <p:cNvPr id="19" name="每個實例取得自己的 list。 型別註記不會自動驗證值。">
            <a:extLst xmlns:a="http://schemas.openxmlformats.org/drawingml/2006/main">
              <a:ext uri="{FF2B5EF4-FFF2-40B4-BE49-F238E27FC236}">
                <a16:creationId xmlns:a16="http://schemas.microsoft.com/office/drawing/2014/main" id="{8D2CB2E5-58C6-468F-A88D-B1BE650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Each instance gets its own list.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Annotations do not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automatically validate values.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CC5CB84-E1BF-4ED1-B7FC-05AE688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Student(name='Amy', scores=[90])    []">
            <a:extLst xmlns:a="http://schemas.openxmlformats.org/drawingml/2006/main">
              <a:ext uri="{FF2B5EF4-FFF2-40B4-BE49-F238E27FC236}">
                <a16:creationId xmlns:a16="http://schemas.microsoft.com/office/drawing/2014/main" id="{F0B61C3E-460B-4F47-B0BD-354F3C5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Student(name='Amy', scores=[90])    []</a:t>
            </a:r>
          </a:p>
        </p:txBody>
      </p:sp>
    </p:spTree>
    <p:extLst>
      <p:ext uri="{BB962C8B-B14F-4D97-AF65-F5344CB8AC3E}">
        <p14:creationId xmlns:p14="http://schemas.microsoft.com/office/powerpoint/2010/main" val="20347222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型別提示與聯集">
            <a:extLst xmlns:a="http://schemas.openxmlformats.org/drawingml/2006/main">
              <a:ext uri="{FF2B5EF4-FFF2-40B4-BE49-F238E27FC236}">
                <a16:creationId xmlns:a16="http://schemas.microsoft.com/office/drawing/2014/main" id="{894BCFB9-1EA2-4C70-A3B1-E6F064E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 hints and unions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01642C1-9079-46B9-A580-E1BCA82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Type hints</a:t>
            </a:r>
          </a:p>
        </p:txBody>
      </p:sp>
      <p:sp>
        <p:nvSpPr>
          <p:cNvPr id="3" name="60">
            <a:extLst xmlns:a="http://schemas.openxmlformats.org/drawingml/2006/main">
              <a:ext uri="{FF2B5EF4-FFF2-40B4-BE49-F238E27FC236}">
                <a16:creationId xmlns:a16="http://schemas.microsoft.com/office/drawing/2014/main" id="{E03BF2E9-A530-409E-BF45-422AABC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60</a:t>
            </a:r>
          </a:p>
        </p:txBody>
      </p:sp>
      <p:sp>
        <p:nvSpPr>
          <p:cNvPr id="4" name="def first(values: list[int]) -&gt; int | None:">
            <a:extLst xmlns:a="http://schemas.openxmlformats.org/drawingml/2006/main">
              <a:ext uri="{FF2B5EF4-FFF2-40B4-BE49-F238E27FC236}">
                <a16:creationId xmlns:a16="http://schemas.microsoft.com/office/drawing/2014/main" id="{E389B02F-737D-4F92-9E09-75054050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first(values: list[int]) -&gt; int | None:</a:t>
            </a:r>
          </a:p>
        </p:txBody>
      </p:sp>
      <p:sp>
        <p:nvSpPr>
          <p:cNvPr id="5" name="    return values[0] if values else None">
            <a:extLst xmlns:a="http://schemas.openxmlformats.org/drawingml/2006/main">
              <a:ext uri="{FF2B5EF4-FFF2-40B4-BE49-F238E27FC236}">
                <a16:creationId xmlns:a16="http://schemas.microsoft.com/office/drawing/2014/main" id="{469286A5-6272-4509-9305-0E97B80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values[0] if values else None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65D8E-A84C-4E0C-B347-2FD9BDE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first([10, 20]))">
            <a:extLst xmlns:a="http://schemas.openxmlformats.org/drawingml/2006/main">
              <a:ext uri="{FF2B5EF4-FFF2-40B4-BE49-F238E27FC236}">
                <a16:creationId xmlns:a16="http://schemas.microsoft.com/office/drawing/2014/main" id="{6E85849D-0914-4946-9B90-325D565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print(first([10, 20]))</a:t>
            </a:r>
          </a:p>
        </p:txBody>
      </p:sp>
      <p:sp>
        <p:nvSpPr>
          <p:cNvPr id="8" name="print(first([]))">
            <a:extLst xmlns:a="http://schemas.openxmlformats.org/drawingml/2006/main">
              <a:ext uri="{FF2B5EF4-FFF2-40B4-BE49-F238E27FC236}">
                <a16:creationId xmlns:a16="http://schemas.microsoft.com/office/drawing/2014/main" id="{13207CA3-E709-49DC-9C70-32E2B76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print(first([]))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7469-50B5-4E2E-8CC5-03C9829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echo(value: int) -&gt; int:">
            <a:extLst xmlns:a="http://schemas.openxmlformats.org/drawingml/2006/main">
              <a:ext uri="{FF2B5EF4-FFF2-40B4-BE49-F238E27FC236}">
                <a16:creationId xmlns:a16="http://schemas.microsoft.com/office/drawing/2014/main" id="{D8AE7576-7625-49B3-94FB-9149E53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echo(value: int) -&gt; int:</a:t>
            </a:r>
          </a:p>
        </p:txBody>
      </p:sp>
      <p:sp>
        <p:nvSpPr>
          <p:cNvPr id="11" name="    return value">
            <a:extLst xmlns:a="http://schemas.openxmlformats.org/drawingml/2006/main">
              <a:ext uri="{FF2B5EF4-FFF2-40B4-BE49-F238E27FC236}">
                <a16:creationId xmlns:a16="http://schemas.microsoft.com/office/drawing/2014/main" id="{1F57D81D-BCFD-4715-8B80-AA9017F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95492-0736-4873-86C5-7C9EB5F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echo(&quot;hello&quot;))">
            <a:extLst xmlns:a="http://schemas.openxmlformats.org/drawingml/2006/main">
              <a:ext uri="{FF2B5EF4-FFF2-40B4-BE49-F238E27FC236}">
                <a16:creationId xmlns:a16="http://schemas.microsoft.com/office/drawing/2014/main" id="{750C78F1-549A-4811-98C7-A74E212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print(echo("hello"))</a:t>
            </a:r>
          </a:p>
        </p:txBody>
      </p:sp>
      <p:sp>
        <p:nvSpPr>
          <p:cNvPr id="14" name="描述參數與回傳值">
            <a:extLst xmlns:a="http://schemas.openxmlformats.org/drawingml/2006/main">
              <a:ext uri="{FF2B5EF4-FFF2-40B4-BE49-F238E27FC236}">
                <a16:creationId xmlns:a16="http://schemas.microsoft.com/office/drawing/2014/main" id="{532F9FE8-A1BF-4FE0-AA76-CDB2877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Parameter and return types</a:t>
            </a:r>
          </a:p>
        </p:txBody>
      </p:sp>
      <p:sp>
        <p:nvSpPr>
          <p:cNvPr id="15" name="int | None 表示兩種可能。 容器註記可描述元素型別。">
            <a:extLst xmlns:a="http://schemas.openxmlformats.org/drawingml/2006/main">
              <a:ext uri="{FF2B5EF4-FFF2-40B4-BE49-F238E27FC236}">
                <a16:creationId xmlns:a16="http://schemas.microsoft.com/office/drawing/2014/main" id="{3AE7C775-FB72-4307-A025-1BD390C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 | None allows two types.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Container annotations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describe element types.</a:t>
            </a:r>
          </a:p>
        </p:txBody>
      </p:sp>
      <p:sp>
        <p:nvSpPr>
          <p:cNvPr id="16" name="執行時通常不自動檢查">
            <a:extLst xmlns:a="http://schemas.openxmlformats.org/drawingml/2006/main">
              <a:ext uri="{FF2B5EF4-FFF2-40B4-BE49-F238E27FC236}">
                <a16:creationId xmlns:a16="http://schemas.microsoft.com/office/drawing/2014/main" id="{674D2E7B-992D-4CAB-BD8C-979EFDE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Usually no runtime checks</a:t>
            </a:r>
          </a:p>
        </p:txBody>
      </p:sp>
      <p:sp>
        <p:nvSpPr>
          <p:cNvPr id="17" name="echo 的錯誤型別可由 靜態檢查工具指出。">
            <a:extLst xmlns:a="http://schemas.openxmlformats.org/drawingml/2006/main">
              <a:ext uri="{FF2B5EF4-FFF2-40B4-BE49-F238E27FC236}">
                <a16:creationId xmlns:a16="http://schemas.microsoft.com/office/drawing/2014/main" id="{F4B82DEA-5CA0-4FBF-93C1-084D01A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static type checker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can flag the incompatible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argument passed to echo.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1BE19C8-1FFC-4252-A3EB-434129B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9" name="10    None    hello">
            <a:extLst xmlns:a="http://schemas.openxmlformats.org/drawingml/2006/main">
              <a:ext uri="{FF2B5EF4-FFF2-40B4-BE49-F238E27FC236}">
                <a16:creationId xmlns:a16="http://schemas.microsoft.com/office/drawing/2014/main" id="{55769BFA-A1E2-411A-B7EF-8AE01F77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None    hello</a:t>
            </a:r>
          </a:p>
        </p:txBody>
      </p:sp>
    </p:spTree>
    <p:extLst>
      <p:ext uri="{BB962C8B-B14F-4D97-AF65-F5344CB8AC3E}">
        <p14:creationId xmlns:p14="http://schemas.microsoft.com/office/powerpoint/2010/main" val="35250636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型別別名、泛型與 Callable">
            <a:extLst xmlns:a="http://schemas.openxmlformats.org/drawingml/2006/main">
              <a:ext uri="{FF2B5EF4-FFF2-40B4-BE49-F238E27FC236}">
                <a16:creationId xmlns:a16="http://schemas.microsoft.com/office/drawing/2014/main" id="{364AE42A-B5C3-4880-B49D-AC4CC70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Type aliases, generics and Callable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8B35988-0AA4-4D8B-A91A-A0E3A29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Type hints</a:t>
            </a:r>
          </a:p>
        </p:txBody>
      </p:sp>
      <p:sp>
        <p:nvSpPr>
          <p:cNvPr id="3" name="61">
            <a:extLst xmlns:a="http://schemas.openxmlformats.org/drawingml/2006/main">
              <a:ext uri="{FF2B5EF4-FFF2-40B4-BE49-F238E27FC236}">
                <a16:creationId xmlns:a16="http://schemas.microsoft.com/office/drawing/2014/main" id="{2CDBCCFB-49E8-4221-859C-BB93D1E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61</a:t>
            </a:r>
          </a:p>
        </p:txBody>
      </p:sp>
      <p:sp>
        <p:nvSpPr>
          <p:cNvPr id="4" name="from collections.abc import Callable">
            <a:extLst xmlns:a="http://schemas.openxmlformats.org/drawingml/2006/main">
              <a:ext uri="{FF2B5EF4-FFF2-40B4-BE49-F238E27FC236}">
                <a16:creationId xmlns:a16="http://schemas.microsoft.com/office/drawing/2014/main" id="{C97A1621-0537-41D7-9EF9-3428AE58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collections.abc import Callable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94F53-603D-40BD-9540-77CDD91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ype Scores = list[int]">
            <a:extLst xmlns:a="http://schemas.openxmlformats.org/drawingml/2006/main">
              <a:ext uri="{FF2B5EF4-FFF2-40B4-BE49-F238E27FC236}">
                <a16:creationId xmlns:a16="http://schemas.microsoft.com/office/drawing/2014/main" id="{D4918240-C26C-4C38-B2D4-3C0896F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type Scores = list[int]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F1A0C-099B-4FB7-A018-B299677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head[T](values: list[T]) -&gt; T:">
            <a:extLst xmlns:a="http://schemas.openxmlformats.org/drawingml/2006/main">
              <a:ext uri="{FF2B5EF4-FFF2-40B4-BE49-F238E27FC236}">
                <a16:creationId xmlns:a16="http://schemas.microsoft.com/office/drawing/2014/main" id="{2B4E7709-DD91-42AB-8E03-8FF7161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head[T](values: list[T]) -&gt; T:</a:t>
            </a:r>
          </a:p>
        </p:txBody>
      </p:sp>
      <p:sp>
        <p:nvSpPr>
          <p:cNvPr id="9" name="    return values[0]">
            <a:extLst xmlns:a="http://schemas.openxmlformats.org/drawingml/2006/main">
              <a:ext uri="{FF2B5EF4-FFF2-40B4-BE49-F238E27FC236}">
                <a16:creationId xmlns:a16="http://schemas.microsoft.com/office/drawing/2014/main" id="{88EC5844-1270-4346-9D1D-F7350DF9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values[0]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B9F4-8F15-4FC2-944E-1A94924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apply(f: Callable[[int], int], x: int) -&gt; int:">
            <a:extLst xmlns:a="http://schemas.openxmlformats.org/drawingml/2006/main">
              <a:ext uri="{FF2B5EF4-FFF2-40B4-BE49-F238E27FC236}">
                <a16:creationId xmlns:a16="http://schemas.microsoft.com/office/drawing/2014/main" id="{48F67EFB-0D06-4160-A035-27E9D23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apply(f: Callable[[int], int], x: int) -&gt; int:</a:t>
            </a:r>
          </a:p>
        </p:txBody>
      </p:sp>
      <p:sp>
        <p:nvSpPr>
          <p:cNvPr id="12" name="    return f(x)">
            <a:extLst xmlns:a="http://schemas.openxmlformats.org/drawingml/2006/main">
              <a:ext uri="{FF2B5EF4-FFF2-40B4-BE49-F238E27FC236}">
                <a16:creationId xmlns:a16="http://schemas.microsoft.com/office/drawing/2014/main" id="{DF36BDE2-E93D-4A34-8465-D69B6A7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f(x)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8EAFF-D1EB-4F47-A72C-ACAC5F9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head([&quot;A&quot;, &quot;B&quot;]))">
            <a:extLst xmlns:a="http://schemas.openxmlformats.org/drawingml/2006/main">
              <a:ext uri="{FF2B5EF4-FFF2-40B4-BE49-F238E27FC236}">
                <a16:creationId xmlns:a16="http://schemas.microsoft.com/office/drawing/2014/main" id="{0B262D2C-3B84-4D80-B392-DEABB8A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print(head(["A", "B"]))</a:t>
            </a:r>
          </a:p>
        </p:txBody>
      </p:sp>
      <p:sp>
        <p:nvSpPr>
          <p:cNvPr id="15" name="print(apply(lambda n: n + 1, 3))">
            <a:extLst xmlns:a="http://schemas.openxmlformats.org/drawingml/2006/main">
              <a:ext uri="{FF2B5EF4-FFF2-40B4-BE49-F238E27FC236}">
                <a16:creationId xmlns:a16="http://schemas.microsoft.com/office/drawing/2014/main" id="{1A9F2620-5D55-4AEF-ADC8-AC2C99E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print(apply(lambda n: n + 1, 3))</a:t>
            </a:r>
          </a:p>
        </p:txBody>
      </p:sp>
      <p:sp>
        <p:nvSpPr>
          <p:cNvPr id="16" name="Python 3.12+ 語法">
            <a:extLst xmlns:a="http://schemas.openxmlformats.org/drawingml/2006/main">
              <a:ext uri="{FF2B5EF4-FFF2-40B4-BE49-F238E27FC236}">
                <a16:creationId xmlns:a16="http://schemas.microsoft.com/office/drawing/2014/main" id="{FB5B1CEC-98FD-4C83-BCB6-9F111F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3.12+ syntax</a:t>
            </a:r>
          </a:p>
        </p:txBody>
      </p:sp>
      <p:sp>
        <p:nvSpPr>
          <p:cNvPr id="17" name="type 宣告型別別名。 [T] 定義型別參數。">
            <a:extLst xmlns:a="http://schemas.openxmlformats.org/drawingml/2006/main">
              <a:ext uri="{FF2B5EF4-FFF2-40B4-BE49-F238E27FC236}">
                <a16:creationId xmlns:a16="http://schemas.microsoft.com/office/drawing/2014/main" id="{FEC8DC19-1B2D-46F7-8819-2F4B7929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type declares an alias.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[T] defines a type parameter.</a:t>
            </a:r>
          </a:p>
        </p:txBody>
      </p:sp>
      <p:sp>
        <p:nvSpPr>
          <p:cNvPr id="18" name="Callable 描述函式介面">
            <a:extLst xmlns:a="http://schemas.openxmlformats.org/drawingml/2006/main">
              <a:ext uri="{FF2B5EF4-FFF2-40B4-BE49-F238E27FC236}">
                <a16:creationId xmlns:a16="http://schemas.microsoft.com/office/drawing/2014/main" id="{B497342A-FC81-4ECC-B13C-A1F5391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Callable describes a function</a:t>
            </a:r>
          </a:p>
        </p:txBody>
      </p:sp>
      <p:sp>
        <p:nvSpPr>
          <p:cNvPr id="19" name="[[int], int] 表示一個 int 輸入 以及 int 回傳值。">
            <a:extLst xmlns:a="http://schemas.openxmlformats.org/drawingml/2006/main">
              <a:ext uri="{FF2B5EF4-FFF2-40B4-BE49-F238E27FC236}">
                <a16:creationId xmlns:a16="http://schemas.microsoft.com/office/drawing/2014/main" id="{A798B436-C902-4E09-9C67-1A53288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[[int], int] specifies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one int argument and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an int return value.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128C3BC-80C8-4AF6-9C29-C36259D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A    4">
            <a:extLst xmlns:a="http://schemas.openxmlformats.org/drawingml/2006/main">
              <a:ext uri="{FF2B5EF4-FFF2-40B4-BE49-F238E27FC236}">
                <a16:creationId xmlns:a16="http://schemas.microsoft.com/office/drawing/2014/main" id="{5693FE6F-A1F4-402C-8F1E-DC0870A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    4</a:t>
            </a:r>
          </a:p>
        </p:txBody>
      </p:sp>
    </p:spTree>
    <p:extLst>
      <p:ext uri="{BB962C8B-B14F-4D97-AF65-F5344CB8AC3E}">
        <p14:creationId xmlns:p14="http://schemas.microsoft.com/office/powerpoint/2010/main" val="19611883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sync def 與 await">
            <a:extLst xmlns:a="http://schemas.openxmlformats.org/drawingml/2006/main">
              <a:ext uri="{FF2B5EF4-FFF2-40B4-BE49-F238E27FC236}">
                <a16:creationId xmlns:a16="http://schemas.microsoft.com/office/drawing/2014/main" id="{10CCA1EE-9392-4E4D-ACA6-5892712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def and await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FFE5471B-ECB4-40D1-AB5E-B4E258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Asynchronous syntax</a:t>
            </a:r>
          </a:p>
        </p:txBody>
      </p:sp>
      <p:sp>
        <p:nvSpPr>
          <p:cNvPr id="3" name="62">
            <a:extLst xmlns:a="http://schemas.openxmlformats.org/drawingml/2006/main">
              <a:ext uri="{FF2B5EF4-FFF2-40B4-BE49-F238E27FC236}">
                <a16:creationId xmlns:a16="http://schemas.microsoft.com/office/drawing/2014/main" id="{4D662A78-7413-41FD-BF83-791B88F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62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4161D71C-6781-4EA3-AF06-6AC3AAB3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473C0-0BAD-4E68-9946-C0A22AD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greet(name):">
            <a:extLst xmlns:a="http://schemas.openxmlformats.org/drawingml/2006/main">
              <a:ext uri="{FF2B5EF4-FFF2-40B4-BE49-F238E27FC236}">
                <a16:creationId xmlns:a16="http://schemas.microsoft.com/office/drawing/2014/main" id="{19764F2A-BEF0-4FF1-81CD-C6E6D8B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greet(name):</a:t>
            </a:r>
          </a:p>
        </p:txBody>
      </p:sp>
      <p:sp>
        <p:nvSpPr>
          <p:cNvPr id="7" name="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75DCF019-4C2F-4471-9D94-1AA9084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await asyncio.sleep(0)</a:t>
            </a:r>
          </a:p>
        </p:txBody>
      </p:sp>
      <p:sp>
        <p:nvSpPr>
          <p:cNvPr id="8" name="    return f&quot;Hello, {name}&quot;">
            <a:extLst xmlns:a="http://schemas.openxmlformats.org/drawingml/2006/main">
              <a:ext uri="{FF2B5EF4-FFF2-40B4-BE49-F238E27FC236}">
                <a16:creationId xmlns:a16="http://schemas.microsoft.com/office/drawing/2014/main" id="{E4BC6A07-5989-4882-B2DF-EECAF27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f"Hello, {name}"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F00D-47CC-4E38-A718-6613E90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35527BC-9967-4922-9145-A577597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1" name="    result = await greet(&quot;Amy&quot;)">
            <a:extLst xmlns:a="http://schemas.openxmlformats.org/drawingml/2006/main">
              <a:ext uri="{FF2B5EF4-FFF2-40B4-BE49-F238E27FC236}">
                <a16:creationId xmlns:a16="http://schemas.microsoft.com/office/drawing/2014/main" id="{0BF9DC9B-83C7-4792-8006-CEEA37D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await greet("Amy")</a:t>
            </a:r>
          </a:p>
        </p:txBody>
      </p:sp>
      <p:sp>
        <p:nvSpPr>
          <p:cNvPr id="12" name="    print(result)">
            <a:extLst xmlns:a="http://schemas.openxmlformats.org/drawingml/2006/main">
              <a:ext uri="{FF2B5EF4-FFF2-40B4-BE49-F238E27FC236}">
                <a16:creationId xmlns:a16="http://schemas.microsoft.com/office/drawing/2014/main" id="{065946F9-E39B-4B79-85B5-078CDD9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print(result)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F25D-6A92-49D0-9A8A-D077E4B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3FF7D2F6-AEF8-4017-9CDD-EAE4C549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5" name="呼叫 async 函式取得協程">
            <a:extLst xmlns:a="http://schemas.openxmlformats.org/drawingml/2006/main">
              <a:ext uri="{FF2B5EF4-FFF2-40B4-BE49-F238E27FC236}">
                <a16:creationId xmlns:a16="http://schemas.microsoft.com/office/drawing/2014/main" id="{6C9634DA-E525-4CAC-B74A-451534F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Calls create a coroutine</a:t>
            </a:r>
          </a:p>
        </p:txBody>
      </p:sp>
      <p:sp>
        <p:nvSpPr>
          <p:cNvPr id="16" name="await 等待可等待物件完成。 等待期間可讓其他工作執行。">
            <a:extLst xmlns:a="http://schemas.openxmlformats.org/drawingml/2006/main">
              <a:ext uri="{FF2B5EF4-FFF2-40B4-BE49-F238E27FC236}">
                <a16:creationId xmlns:a16="http://schemas.microsoft.com/office/drawing/2014/main" id="{4147F109-ABC9-4722-9121-C84AAE8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await waits for an awaitable.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Other tasks may run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while it is waiting.</a:t>
            </a:r>
          </a:p>
        </p:txBody>
      </p:sp>
      <p:sp>
        <p:nvSpPr>
          <p:cNvPr id="17" name="事件迴圈執行協程">
            <a:extLst xmlns:a="http://schemas.openxmlformats.org/drawingml/2006/main">
              <a:ext uri="{FF2B5EF4-FFF2-40B4-BE49-F238E27FC236}">
                <a16:creationId xmlns:a16="http://schemas.microsoft.com/office/drawing/2014/main" id="{497C178C-E1F6-46CA-B6BD-BBC02A9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An event loop runs coroutines</a:t>
            </a:r>
          </a:p>
        </p:txBody>
      </p:sp>
      <p:sp>
        <p:nvSpPr>
          <p:cNvPr id="18" name="此例用於一般 .py 程式。 已有事件迴圈的 Notebook 通常直接 await main()。">
            <a:extLst xmlns:a="http://schemas.openxmlformats.org/drawingml/2006/main">
              <a:ext uri="{FF2B5EF4-FFF2-40B4-BE49-F238E27FC236}">
                <a16:creationId xmlns:a16="http://schemas.microsoft.com/office/drawing/2014/main" id="{3C8DD2D4-0361-4A41-8B6C-EA88C32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example is a .py script.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 a notebook with a running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loop, use await main() directly.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DDF4758-93DB-4DB5-8AD5-09869D96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Hello, Amy">
            <a:extLst xmlns:a="http://schemas.openxmlformats.org/drawingml/2006/main">
              <a:ext uri="{FF2B5EF4-FFF2-40B4-BE49-F238E27FC236}">
                <a16:creationId xmlns:a16="http://schemas.microsoft.com/office/drawing/2014/main" id="{9C982882-A3FB-4CCB-9369-27E43C63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Hello, Amy</a:t>
            </a:r>
          </a:p>
        </p:txBody>
      </p:sp>
    </p:spTree>
    <p:extLst>
      <p:ext uri="{BB962C8B-B14F-4D97-AF65-F5344CB8AC3E}">
        <p14:creationId xmlns:p14="http://schemas.microsoft.com/office/powerpoint/2010/main" val="67276046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sync for 與非同步生成器">
            <a:extLst xmlns:a="http://schemas.openxmlformats.org/drawingml/2006/main">
              <a:ext uri="{FF2B5EF4-FFF2-40B4-BE49-F238E27FC236}">
                <a16:creationId xmlns:a16="http://schemas.microsoft.com/office/drawing/2014/main" id="{D8C3A56F-AECF-4F77-B4C6-5C94609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for and asynchronous generators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6B16F7EF-7132-4099-854B-634959E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Asynchronous syntax</a:t>
            </a:r>
          </a:p>
        </p:txBody>
      </p:sp>
      <p:sp>
        <p:nvSpPr>
          <p:cNvPr id="3" name="63">
            <a:extLst xmlns:a="http://schemas.openxmlformats.org/drawingml/2006/main">
              <a:ext uri="{FF2B5EF4-FFF2-40B4-BE49-F238E27FC236}">
                <a16:creationId xmlns:a16="http://schemas.microsoft.com/office/drawing/2014/main" id="{AF7E5948-43C5-49DF-9C32-B1DD82D9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63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F5DD40B7-57E6-45E1-95EF-96E47929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EDB61-3E8C-4A79-82B9-151FEA7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stream():">
            <a:extLst xmlns:a="http://schemas.openxmlformats.org/drawingml/2006/main">
              <a:ext uri="{FF2B5EF4-FFF2-40B4-BE49-F238E27FC236}">
                <a16:creationId xmlns:a16="http://schemas.microsoft.com/office/drawing/2014/main" id="{75FCC777-26BB-4D99-A3C5-CB87A71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stream():</a:t>
            </a:r>
          </a:p>
        </p:txBody>
      </p:sp>
      <p:sp>
        <p:nvSpPr>
          <p:cNvPr id="7" name="    for n in range(3):">
            <a:extLst xmlns:a="http://schemas.openxmlformats.org/drawingml/2006/main">
              <a:ext uri="{FF2B5EF4-FFF2-40B4-BE49-F238E27FC236}">
                <a16:creationId xmlns:a16="http://schemas.microsoft.com/office/drawing/2014/main" id="{C8AAD512-4F5D-4599-8B76-91DF5B1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n in range(3):</a:t>
            </a:r>
          </a:p>
        </p:txBody>
      </p:sp>
      <p:sp>
        <p:nvSpPr>
          <p:cNvPr id="8" name="    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432C55BE-7F49-48BD-90DA-5A4418D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await asyncio.sleep(0)</a:t>
            </a:r>
          </a:p>
        </p:txBody>
      </p:sp>
      <p:sp>
        <p:nvSpPr>
          <p:cNvPr id="9" name="        yield n">
            <a:extLst xmlns:a="http://schemas.openxmlformats.org/drawingml/2006/main">
              <a:ext uri="{FF2B5EF4-FFF2-40B4-BE49-F238E27FC236}">
                <a16:creationId xmlns:a16="http://schemas.microsoft.com/office/drawing/2014/main" id="{3FBF22C1-6C31-41C4-BFE8-871A349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yield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1B19-246B-48EE-9A27-533753A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630AE822-DF18-4135-8790-7A992A0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2" name="    async for item in stream():">
            <a:extLst xmlns:a="http://schemas.openxmlformats.org/drawingml/2006/main">
              <a:ext uri="{FF2B5EF4-FFF2-40B4-BE49-F238E27FC236}">
                <a16:creationId xmlns:a16="http://schemas.microsoft.com/office/drawing/2014/main" id="{6110B588-0B0C-436D-A7E3-EDDCBAE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for item in stream():</a:t>
            </a:r>
          </a:p>
        </p:txBody>
      </p:sp>
      <p:sp>
        <p:nvSpPr>
          <p:cNvPr id="13" name="        print(item)">
            <a:extLst xmlns:a="http://schemas.openxmlformats.org/drawingml/2006/main">
              <a:ext uri="{FF2B5EF4-FFF2-40B4-BE49-F238E27FC236}">
                <a16:creationId xmlns:a16="http://schemas.microsoft.com/office/drawing/2014/main" id="{5C916E6D-F3CC-483D-BBF7-CE28C7D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print(item)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0084B-2941-445A-996A-C1A9BE5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AACB906-C5C2-43FE-96A6-E2EB5F7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6" name="async for 走訪非同步 iterable">
            <a:extLst xmlns:a="http://schemas.openxmlformats.org/drawingml/2006/main">
              <a:ext uri="{FF2B5EF4-FFF2-40B4-BE49-F238E27FC236}">
                <a16:creationId xmlns:a16="http://schemas.microsoft.com/office/drawing/2014/main" id="{622B89A4-C616-41E7-BE4A-084610F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 for visits async iterables</a:t>
            </a:r>
          </a:p>
        </p:txBody>
      </p:sp>
      <p:sp>
        <p:nvSpPr>
          <p:cNvPr id="17" name="等待下一個元素時 可把控制權交回事件迴圈。">
            <a:extLst xmlns:a="http://schemas.openxmlformats.org/drawingml/2006/main">
              <a:ext uri="{FF2B5EF4-FFF2-40B4-BE49-F238E27FC236}">
                <a16:creationId xmlns:a16="http://schemas.microsoft.com/office/drawing/2014/main" id="{A0720914-CE0B-4864-A507-2CE916D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While waiting for an item,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control can return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to the event loop.</a:t>
            </a:r>
          </a:p>
        </p:txBody>
      </p:sp>
      <p:sp>
        <p:nvSpPr>
          <p:cNvPr id="18" name="async def 也可包含 yield">
            <a:extLst xmlns:a="http://schemas.openxmlformats.org/drawingml/2006/main">
              <a:ext uri="{FF2B5EF4-FFF2-40B4-BE49-F238E27FC236}">
                <a16:creationId xmlns:a16="http://schemas.microsoft.com/office/drawing/2014/main" id="{38A68351-EA7C-4C95-A0B1-1DEC976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 def can contain yield</a:t>
            </a:r>
          </a:p>
        </p:txBody>
      </p:sp>
      <p:sp>
        <p:nvSpPr>
          <p:cNvPr id="19" name="此時建立非同步生成器。 語法概覽，排程機制另行深入。">
            <a:extLst xmlns:a="http://schemas.openxmlformats.org/drawingml/2006/main">
              <a:ext uri="{FF2B5EF4-FFF2-40B4-BE49-F238E27FC236}">
                <a16:creationId xmlns:a16="http://schemas.microsoft.com/office/drawing/2014/main" id="{18E4AF86-2D3C-4D2F-BABA-0EA158C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creates an async generator.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is a syntax overview.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Scheduling is a further topic.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7D15467-A99D-4251-9DD3-C42C4ED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0    1    2">
            <a:extLst xmlns:a="http://schemas.openxmlformats.org/drawingml/2006/main">
              <a:ext uri="{FF2B5EF4-FFF2-40B4-BE49-F238E27FC236}">
                <a16:creationId xmlns:a16="http://schemas.microsoft.com/office/drawing/2014/main" id="{0D66DDD9-C20E-4DF4-8BCA-2254308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0    1    2</a:t>
            </a:r>
          </a:p>
        </p:txBody>
      </p:sp>
    </p:spTree>
    <p:extLst>
      <p:ext uri="{BB962C8B-B14F-4D97-AF65-F5344CB8AC3E}">
        <p14:creationId xmlns:p14="http://schemas.microsoft.com/office/powerpoint/2010/main" val="82011234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sync with 與資源清理">
            <a:extLst xmlns:a="http://schemas.openxmlformats.org/drawingml/2006/main">
              <a:ext uri="{FF2B5EF4-FFF2-40B4-BE49-F238E27FC236}">
                <a16:creationId xmlns:a16="http://schemas.microsoft.com/office/drawing/2014/main" id="{820DC9D8-EE1F-46A6-BE7D-5D6935C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with and resource cleanup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D5CC39AC-C31B-407C-AB1B-3BC6627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Asynchronous syntax</a:t>
            </a:r>
          </a:p>
        </p:txBody>
      </p:sp>
      <p:sp>
        <p:nvSpPr>
          <p:cNvPr id="3" name="64">
            <a:extLst xmlns:a="http://schemas.openxmlformats.org/drawingml/2006/main">
              <a:ext uri="{FF2B5EF4-FFF2-40B4-BE49-F238E27FC236}">
                <a16:creationId xmlns:a16="http://schemas.microsoft.com/office/drawing/2014/main" id="{B5BBDCBB-FA96-4BA4-A55E-2F628BD9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04EEB155-9160-4617-A682-6AD38895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A0C8-DF6C-4878-B1E0-BA5AB6E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6094973-00D4-44FB-881B-B1FC237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7" name="    lock = asyncio.Lock()">
            <a:extLst xmlns:a="http://schemas.openxmlformats.org/drawingml/2006/main">
              <a:ext uri="{FF2B5EF4-FFF2-40B4-BE49-F238E27FC236}">
                <a16:creationId xmlns:a16="http://schemas.microsoft.com/office/drawing/2014/main" id="{89069131-7DA0-4652-9E9E-B542D0F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lock = asyncio.Lock()</a:t>
            </a:r>
          </a:p>
        </p:txBody>
      </p:sp>
      <p:sp>
        <p:nvSpPr>
          <p:cNvPr id="8" name="    async with lock:">
            <a:extLst xmlns:a="http://schemas.openxmlformats.org/drawingml/2006/main">
              <a:ext uri="{FF2B5EF4-FFF2-40B4-BE49-F238E27FC236}">
                <a16:creationId xmlns:a16="http://schemas.microsoft.com/office/drawing/2014/main" id="{90D8B18C-52C8-4F60-A798-8170A69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with lock:</a:t>
            </a:r>
          </a:p>
        </p:txBody>
      </p:sp>
      <p:sp>
        <p:nvSpPr>
          <p:cNvPr id="9" name="    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8B5F3A1F-2EE9-4C5A-B995-B58FD9CF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print(lock.locked())</a:t>
            </a:r>
          </a:p>
        </p:txBody>
      </p:sp>
      <p:sp>
        <p:nvSpPr>
          <p:cNvPr id="10" name="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C1834E56-A49D-4FD1-9946-CBE3176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print(lock.locked())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18216-C7BF-4442-BC44-36EFE4A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410D4D8-742F-4D71-9F4E-D0AE17C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3" name="進入與離開都可等待">
            <a:extLst xmlns:a="http://schemas.openxmlformats.org/drawingml/2006/main">
              <a:ext uri="{FF2B5EF4-FFF2-40B4-BE49-F238E27FC236}">
                <a16:creationId xmlns:a16="http://schemas.microsoft.com/office/drawing/2014/main" id="{0E437B81-629F-4D56-BB6A-91CEE1E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Entry and exit can await</a:t>
            </a:r>
          </a:p>
        </p:txBody>
      </p:sp>
      <p:sp>
        <p:nvSpPr>
          <p:cNvPr id="14" name="async with 使用 __aenter__、__aexit__ 協定。">
            <a:extLst xmlns:a="http://schemas.openxmlformats.org/drawingml/2006/main">
              <a:ext uri="{FF2B5EF4-FFF2-40B4-BE49-F238E27FC236}">
                <a16:creationId xmlns:a16="http://schemas.microsoft.com/office/drawing/2014/main" id="{3D78DFCD-4A57-4998-9465-2C2F3C8E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with uses __aenter__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__aexit__ protocols.</a:t>
            </a:r>
          </a:p>
        </p:txBody>
      </p:sp>
      <p:sp>
        <p:nvSpPr>
          <p:cNvPr id="15" name="非同步與平行不同">
            <a:extLst xmlns:a="http://schemas.openxmlformats.org/drawingml/2006/main">
              <a:ext uri="{FF2B5EF4-FFF2-40B4-BE49-F238E27FC236}">
                <a16:creationId xmlns:a16="http://schemas.microsoft.com/office/drawing/2014/main" id="{A733FC1E-76D5-4012-9805-4BAAA4C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 differs from parallelism</a:t>
            </a:r>
          </a:p>
        </p:txBody>
      </p:sp>
      <p:sp>
        <p:nvSpPr>
          <p:cNvPr id="16" name="此例取得鎖後執行區塊， 離開時釋放鎖。 CPU 工作不會因此自動平行。">
            <a:extLst xmlns:a="http://schemas.openxmlformats.org/drawingml/2006/main">
              <a:ext uri="{FF2B5EF4-FFF2-40B4-BE49-F238E27FC236}">
                <a16:creationId xmlns:a16="http://schemas.microsoft.com/office/drawing/2014/main" id="{1F15D1FC-32AC-4FD8-B22D-B9FE15E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block acquires the lock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releases it on exit. CPU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work is not automatically parallel.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BB348AD-CDE6-4B86-BE73-BDD1CA7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True    False">
            <a:extLst xmlns:a="http://schemas.openxmlformats.org/drawingml/2006/main">
              <a:ext uri="{FF2B5EF4-FFF2-40B4-BE49-F238E27FC236}">
                <a16:creationId xmlns:a16="http://schemas.microsoft.com/office/drawing/2014/main" id="{CE10873E-6887-45E5-92E3-791B4CE5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</a:t>
            </a:r>
          </a:p>
        </p:txBody>
      </p:sp>
    </p:spTree>
    <p:extLst>
      <p:ext uri="{BB962C8B-B14F-4D97-AF65-F5344CB8AC3E}">
        <p14:creationId xmlns:p14="http://schemas.microsoft.com/office/powerpoint/2010/main" val="16231265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易混淆語法對照">
            <a:extLst xmlns:a="http://schemas.openxmlformats.org/drawingml/2006/main">
              <a:ext uri="{FF2B5EF4-FFF2-40B4-BE49-F238E27FC236}">
                <a16:creationId xmlns:a16="http://schemas.microsoft.com/office/drawing/2014/main" id="{BF718950-891E-4E25-AB24-BDF247B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Commonly confused syntax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BDBB3009-19B2-407C-BFB9-2D2B3C0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Syntax reference</a:t>
            </a:r>
          </a:p>
        </p:txBody>
      </p:sp>
      <p:sp>
        <p:nvSpPr>
          <p:cNvPr id="3" name="65">
            <a:extLst xmlns:a="http://schemas.openxmlformats.org/drawingml/2006/main">
              <a:ext uri="{FF2B5EF4-FFF2-40B4-BE49-F238E27FC236}">
                <a16:creationId xmlns:a16="http://schemas.microsoft.com/office/drawing/2014/main" id="{C7FEEB72-1113-4CA7-A26F-4ACA894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057650"/>
                <a:gridCol w="40576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Left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Right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== / is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Equal values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same object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print / return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Output text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End a function and return a value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append / extend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Add one element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Add each element of an iterable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sort / sorted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Modify list, return None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 a new list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 / bytes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Unicode text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sequence of bytes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60513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共用、回傳與執行時機">
            <a:extLst xmlns:a="http://schemas.openxmlformats.org/drawingml/2006/main">
              <a:ext uri="{FF2B5EF4-FFF2-40B4-BE49-F238E27FC236}">
                <a16:creationId xmlns:a16="http://schemas.microsoft.com/office/drawing/2014/main" id="{C43F1C83-68D5-4715-BFF1-94C10B7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Sharing, return values and execution timing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95773BB4-B0A3-4CD7-9DAD-CA858CB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Syntax reference</a:t>
            </a:r>
          </a:p>
        </p:txBody>
      </p:sp>
      <p:sp>
        <p:nvSpPr>
          <p:cNvPr id="3" name="66">
            <a:extLst xmlns:a="http://schemas.openxmlformats.org/drawingml/2006/main">
              <a:ext uri="{FF2B5EF4-FFF2-40B4-BE49-F238E27FC236}">
                <a16:creationId xmlns:a16="http://schemas.microsoft.com/office/drawing/2014/main" id="{69C92AE2-BEC8-4A37-8B56-347C80F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4048125"/>
                <a:gridCol w="3924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Syntax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What happens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Common misconception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= 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Shares the same object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Assuming an automatic copy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a.copy()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Copies the outer container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Assuming nested objects are separate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def f(x=[])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Creates default list at definition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Assuming a new list on every call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(x for x in data)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Creates a generator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Assuming unlimited repeated iteration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async def f()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Calling returns a coroutine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Assuming the call completes the work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6451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語法查閱與官方文件">
            <a:extLst xmlns:a="http://schemas.openxmlformats.org/drawingml/2006/main">
              <a:ext uri="{FF2B5EF4-FFF2-40B4-BE49-F238E27FC236}">
                <a16:creationId xmlns:a16="http://schemas.microsoft.com/office/drawing/2014/main" id="{A8D08D6A-84B4-42B8-B635-D87AB54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Syntax reference and official documentation</a:t>
            </a:r>
          </a:p>
        </p:txBody>
      </p:sp>
      <p:sp>
        <p:nvSpPr>
          <p:cNvPr id="2" name="67">
            <a:extLst xmlns:a="http://schemas.openxmlformats.org/drawingml/2006/main">
              <a:ext uri="{FF2B5EF4-FFF2-40B4-BE49-F238E27FC236}">
                <a16:creationId xmlns:a16="http://schemas.microsoft.com/office/drawing/2014/main" id="{1E07467D-6479-484D-BCCD-FA780DE3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67</a:t>
            </a:r>
          </a:p>
        </p:txBody>
      </p:sp>
      <p:sp>
        <p:nvSpPr>
          <p:cNvPr id="3" name="Python Tutorial">
            <a:extLst xmlns:a="http://schemas.openxmlformats.org/drawingml/2006/main">
              <a:ext uri="{FF2B5EF4-FFF2-40B4-BE49-F238E27FC236}">
                <a16:creationId xmlns:a16="http://schemas.microsoft.com/office/drawing/2014/main" id="{92B8716F-C022-4D65-8D32-63E69C0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Tutorial</a:t>
            </a:r>
          </a:p>
        </p:txBody>
      </p:sp>
      <p:sp>
        <p:nvSpPr>
          <p:cNvPr id="4" name="docs.python.org/3/tutorial/">
            <a:extLst xmlns:a="http://schemas.openxmlformats.org/drawingml/2006/main">
              <a:ext uri="{FF2B5EF4-FFF2-40B4-BE49-F238E27FC236}">
                <a16:creationId xmlns:a16="http://schemas.microsoft.com/office/drawing/2014/main" id="{AD767526-CFC2-4E3D-A3B9-88117EF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docs.python.org/3/tutorial/</a:t>
            </a:r>
          </a:p>
        </p:txBody>
      </p:sp>
      <p:sp>
        <p:nvSpPr>
          <p:cNvPr id="5" name="Language Reference">
            <a:extLst xmlns:a="http://schemas.openxmlformats.org/drawingml/2006/main">
              <a:ext uri="{FF2B5EF4-FFF2-40B4-BE49-F238E27FC236}">
                <a16:creationId xmlns:a16="http://schemas.microsoft.com/office/drawing/2014/main" id="{A53FCF9C-F37A-4E5B-9C96-55554289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Language Reference</a:t>
            </a:r>
          </a:p>
        </p:txBody>
      </p:sp>
      <p:sp>
        <p:nvSpPr>
          <p:cNvPr id="6" name="docs.python.org/3/reference/">
            <a:extLst xmlns:a="http://schemas.openxmlformats.org/drawingml/2006/main">
              <a:ext uri="{FF2B5EF4-FFF2-40B4-BE49-F238E27FC236}">
                <a16:creationId xmlns:a16="http://schemas.microsoft.com/office/drawing/2014/main" id="{BFD68D46-31A7-4A2F-9029-B1129D0A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38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docs.python.org/3/reference/</a:t>
            </a:r>
          </a:p>
        </p:txBody>
      </p:sp>
      <p:sp>
        <p:nvSpPr>
          <p:cNvPr id="7" name="Built-in Types &amp; Functions">
            <a:extLst xmlns:a="http://schemas.openxmlformats.org/drawingml/2006/main">
              <a:ext uri="{FF2B5EF4-FFF2-40B4-BE49-F238E27FC236}">
                <a16:creationId xmlns:a16="http://schemas.microsoft.com/office/drawing/2014/main" id="{D181B321-6B3D-400D-9C58-C431D4E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Built-in Types &amp; Functions</a:t>
            </a:r>
          </a:p>
        </p:txBody>
      </p:sp>
      <p:sp>
        <p:nvSpPr>
          <p:cNvPr id="8" name="docs.python.org/3/library/stdtypes.html">
            <a:extLst xmlns:a="http://schemas.openxmlformats.org/drawingml/2006/main">
              <a:ext uri="{FF2B5EF4-FFF2-40B4-BE49-F238E27FC236}">
                <a16:creationId xmlns:a16="http://schemas.microsoft.com/office/drawing/2014/main" id="{8BB128A3-27BE-43E0-B392-4170E525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docs.python.org/3/library/stdtypes.html</a:t>
            </a:r>
          </a:p>
        </p:txBody>
      </p:sp>
      <p:sp>
        <p:nvSpPr>
          <p:cNvPr id="9" name="課程網站">
            <a:extLst xmlns:a="http://schemas.openxmlformats.org/drawingml/2006/main">
              <a:ext uri="{FF2B5EF4-FFF2-40B4-BE49-F238E27FC236}">
                <a16:creationId xmlns:a16="http://schemas.microsoft.com/office/drawing/2014/main" id="{F00E631D-3C8C-4BAB-ABD5-6434F9A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 website</a:t>
            </a:r>
          </a:p>
        </p:txBody>
      </p:sp>
      <p:sp>
        <p:nvSpPr>
          <p:cNvPr id="10" name="minhuangyuntech.github.io/oo2026/week/2/">
            <a:extLst xmlns:a="http://schemas.openxmlformats.org/drawingml/2006/main">
              <a:ext uri="{FF2B5EF4-FFF2-40B4-BE49-F238E27FC236}">
                <a16:creationId xmlns:a16="http://schemas.microsoft.com/office/drawing/2014/main" id="{32F63E30-1503-49F3-B05F-F79A1E6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minhuangyuntech.github.io/oo2026/week/2/</a:t>
            </a:r>
          </a:p>
        </p:txBody>
      </p:sp>
      <p:sp>
        <p:nvSpPr>
          <p:cNvPr id="11" name="基本型別與控制流程、函式與物件、模組與例外，構成後續 OOP 實作的語言基礎。">
            <a:extLst xmlns:a="http://schemas.openxmlformats.org/drawingml/2006/main">
              <a:ext uri="{FF2B5EF4-FFF2-40B4-BE49-F238E27FC236}">
                <a16:creationId xmlns:a16="http://schemas.microsoft.com/office/drawing/2014/main" id="{F3EB79F5-A2BC-4319-B859-6344073C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Types, control flow, functions, objects, modules and exceptions form the language foundation for OOP.</a:t>
            </a:r>
          </a:p>
        </p:txBody>
      </p:sp>
    </p:spTree>
    <p:extLst>
      <p:ext uri="{BB962C8B-B14F-4D97-AF65-F5344CB8AC3E}">
        <p14:creationId xmlns:p14="http://schemas.microsoft.com/office/powerpoint/2010/main" val="711310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2026-09-16T09:35:28.6680000Z</dcterms:created>
  <dcterms:modified xsi:type="dcterms:W3CDTF">2026-09-16T09:35:28.6680000Z</dcterms:modified>
</coreProperties>
</file>