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d714bdc1d7456f" /><Relationship Type="http://schemas.openxmlformats.org/officeDocument/2006/relationships/extended-properties" Target="/docProps/app.xml" Id="Rba967502d9964ed9" /><Relationship Type="http://schemas.openxmlformats.org/officeDocument/2006/relationships/officeDocument" Target="/ppt/presentation.xml" Id="Rab5bb00e914643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2243752084f1d"/>
  </p:sldMasterIdLst>
  <p:notesMasterIdLst>
    <p:notesMasterId xmlns:r="http://schemas.openxmlformats.org/officeDocument/2006/relationships" r:id="R44d05da50dfd4108"/>
  </p:notesMasterIdLst>
  <p:sldIdLst>
    <p:sldId xmlns:r="http://schemas.openxmlformats.org/officeDocument/2006/relationships" id="256" r:id="R152e2b39e99a4ded"/>
    <p:sldId xmlns:r="http://schemas.openxmlformats.org/officeDocument/2006/relationships" id="257" r:id="R5b7344bc22ca4bd6"/>
    <p:sldId xmlns:r="http://schemas.openxmlformats.org/officeDocument/2006/relationships" id="258" r:id="Rc3adf32102194f30"/>
    <p:sldId xmlns:r="http://schemas.openxmlformats.org/officeDocument/2006/relationships" id="259" r:id="R86b6548514464127"/>
    <p:sldId xmlns:r="http://schemas.openxmlformats.org/officeDocument/2006/relationships" id="260" r:id="R90df77c226e94f21"/>
    <p:sldId xmlns:r="http://schemas.openxmlformats.org/officeDocument/2006/relationships" id="261" r:id="R49505d01586c4dae"/>
    <p:sldId xmlns:r="http://schemas.openxmlformats.org/officeDocument/2006/relationships" id="262" r:id="Rbe4e0f44c4014cf5"/>
    <p:sldId xmlns:r="http://schemas.openxmlformats.org/officeDocument/2006/relationships" id="263" r:id="R67a8f8b4e3254c2a"/>
    <p:sldId xmlns:r="http://schemas.openxmlformats.org/officeDocument/2006/relationships" id="264" r:id="Ra064f781e2dd4f0e"/>
    <p:sldId xmlns:r="http://schemas.openxmlformats.org/officeDocument/2006/relationships" id="265" r:id="Rf8e1dc5bb5754774"/>
    <p:sldId xmlns:r="http://schemas.openxmlformats.org/officeDocument/2006/relationships" id="266" r:id="R42e5234e2e294619"/>
    <p:sldId xmlns:r="http://schemas.openxmlformats.org/officeDocument/2006/relationships" id="267" r:id="R72e8b1fbe0cf465f"/>
    <p:sldId xmlns:r="http://schemas.openxmlformats.org/officeDocument/2006/relationships" id="268" r:id="Ra55b58a78a194a23"/>
    <p:sldId xmlns:r="http://schemas.openxmlformats.org/officeDocument/2006/relationships" id="269" r:id="Rbba9b8e25982401a"/>
    <p:sldId xmlns:r="http://schemas.openxmlformats.org/officeDocument/2006/relationships" id="270" r:id="Rb95b96f3e9db49a7"/>
    <p:sldId xmlns:r="http://schemas.openxmlformats.org/officeDocument/2006/relationships" id="271" r:id="R74d59b80ad7142d7"/>
    <p:sldId xmlns:r="http://schemas.openxmlformats.org/officeDocument/2006/relationships" id="272" r:id="R873ebae0217e4dd0"/>
    <p:sldId xmlns:r="http://schemas.openxmlformats.org/officeDocument/2006/relationships" id="273" r:id="Rc22544d16e464ea3"/>
    <p:sldId xmlns:r="http://schemas.openxmlformats.org/officeDocument/2006/relationships" id="274" r:id="R2a6442e06f3d45cf"/>
    <p:sldId xmlns:r="http://schemas.openxmlformats.org/officeDocument/2006/relationships" id="275" r:id="R79948391fd3e43d0"/>
    <p:sldId xmlns:r="http://schemas.openxmlformats.org/officeDocument/2006/relationships" id="276" r:id="R5c57128abee9481b"/>
    <p:sldId xmlns:r="http://schemas.openxmlformats.org/officeDocument/2006/relationships" id="277" r:id="Rfb9c96f44c894d69"/>
    <p:sldId xmlns:r="http://schemas.openxmlformats.org/officeDocument/2006/relationships" id="278" r:id="R90301a5205fe4630"/>
    <p:sldId xmlns:r="http://schemas.openxmlformats.org/officeDocument/2006/relationships" id="279" r:id="R9d10071efe8843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fbd8884cd4454c" /><Relationship Type="http://schemas.openxmlformats.org/officeDocument/2006/relationships/slideMaster" Target="/ppt/slideMasters/slideMaster1.xml" Id="R81c2243752084f1d" /><Relationship Type="http://schemas.openxmlformats.org/officeDocument/2006/relationships/notesMaster" Target="/ppt/notesMasters/notesMaster1.xml" Id="R44d05da50dfd4108" /><Relationship Type="http://schemas.openxmlformats.org/officeDocument/2006/relationships/presProps" Target="/ppt/presProps.xml" Id="R21d661a73010458a" /><Relationship Type="http://schemas.openxmlformats.org/officeDocument/2006/relationships/tableStyles" Target="/ppt/tableStyles.xml" Id="Rd10ce6453de84e8c" /><Relationship Type="http://schemas.openxmlformats.org/officeDocument/2006/relationships/slide" Target="/ppt/slides/slide1.xml" Id="R152e2b39e99a4ded" /><Relationship Type="http://schemas.openxmlformats.org/officeDocument/2006/relationships/slide" Target="/ppt/slides/slide2.xml" Id="R5b7344bc22ca4bd6" /><Relationship Type="http://schemas.openxmlformats.org/officeDocument/2006/relationships/slide" Target="/ppt/slides/slide3.xml" Id="Rc3adf32102194f30" /><Relationship Type="http://schemas.openxmlformats.org/officeDocument/2006/relationships/slide" Target="/ppt/slides/slide4.xml" Id="R86b6548514464127" /><Relationship Type="http://schemas.openxmlformats.org/officeDocument/2006/relationships/slide" Target="/ppt/slides/slide5.xml" Id="R90df77c226e94f21" /><Relationship Type="http://schemas.openxmlformats.org/officeDocument/2006/relationships/slide" Target="/ppt/slides/slide6.xml" Id="R49505d01586c4dae" /><Relationship Type="http://schemas.openxmlformats.org/officeDocument/2006/relationships/slide" Target="/ppt/slides/slide7.xml" Id="Rbe4e0f44c4014cf5" /><Relationship Type="http://schemas.openxmlformats.org/officeDocument/2006/relationships/slide" Target="/ppt/slides/slide8.xml" Id="R67a8f8b4e3254c2a" /><Relationship Type="http://schemas.openxmlformats.org/officeDocument/2006/relationships/slide" Target="/ppt/slides/slide9.xml" Id="Ra064f781e2dd4f0e" /><Relationship Type="http://schemas.openxmlformats.org/officeDocument/2006/relationships/slide" Target="/ppt/slides/slide10.xml" Id="Rf8e1dc5bb5754774" /><Relationship Type="http://schemas.openxmlformats.org/officeDocument/2006/relationships/slide" Target="/ppt/slides/slide11.xml" Id="R42e5234e2e294619" /><Relationship Type="http://schemas.openxmlformats.org/officeDocument/2006/relationships/slide" Target="/ppt/slides/slide12.xml" Id="R72e8b1fbe0cf465f" /><Relationship Type="http://schemas.openxmlformats.org/officeDocument/2006/relationships/slide" Target="/ppt/slides/slide13.xml" Id="Ra55b58a78a194a23" /><Relationship Type="http://schemas.openxmlformats.org/officeDocument/2006/relationships/slide" Target="/ppt/slides/slide14.xml" Id="Rbba9b8e25982401a" /><Relationship Type="http://schemas.openxmlformats.org/officeDocument/2006/relationships/slide" Target="/ppt/slides/slide15.xml" Id="Rb95b96f3e9db49a7" /><Relationship Type="http://schemas.openxmlformats.org/officeDocument/2006/relationships/slide" Target="/ppt/slides/slide16.xml" Id="R74d59b80ad7142d7" /><Relationship Type="http://schemas.openxmlformats.org/officeDocument/2006/relationships/slide" Target="/ppt/slides/slide17.xml" Id="R873ebae0217e4dd0" /><Relationship Type="http://schemas.openxmlformats.org/officeDocument/2006/relationships/slide" Target="/ppt/slides/slide18.xml" Id="Rc22544d16e464ea3" /><Relationship Type="http://schemas.openxmlformats.org/officeDocument/2006/relationships/slide" Target="/ppt/slides/slide19.xml" Id="R2a6442e06f3d45cf" /><Relationship Type="http://schemas.openxmlformats.org/officeDocument/2006/relationships/slide" Target="/ppt/slides/slide20.xml" Id="R79948391fd3e43d0" /><Relationship Type="http://schemas.openxmlformats.org/officeDocument/2006/relationships/slide" Target="/ppt/slides/slide21.xml" Id="R5c57128abee9481b" /><Relationship Type="http://schemas.openxmlformats.org/officeDocument/2006/relationships/slide" Target="/ppt/slides/slide22.xml" Id="Rfb9c96f44c894d69" /><Relationship Type="http://schemas.openxmlformats.org/officeDocument/2006/relationships/slide" Target="/ppt/slides/slide23.xml" Id="R90301a5205fe4630" /><Relationship Type="http://schemas.openxmlformats.org/officeDocument/2006/relationships/slide" Target="/ppt/slides/slide24.xml" Id="R9d10071efe88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b90cb768be45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602592ab374319" /><Relationship Type="http://schemas.openxmlformats.org/officeDocument/2006/relationships/notesMaster" Target="/ppt/notesMasters/notesMaster1.xml" Id="R2d073852fa1141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9f6ba400774694" /><Relationship Type="http://schemas.openxmlformats.org/officeDocument/2006/relationships/notesMaster" Target="/ppt/notesMasters/notesMaster1.xml" Id="R362b2b995c5b42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889fb340ff4c4c" /><Relationship Type="http://schemas.openxmlformats.org/officeDocument/2006/relationships/notesMaster" Target="/ppt/notesMasters/notesMaster1.xml" Id="Ra6c1b2f9cfa247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1445082b42410a" /><Relationship Type="http://schemas.openxmlformats.org/officeDocument/2006/relationships/notesMaster" Target="/ppt/notesMasters/notesMaster1.xml" Id="R81bb69e69b5947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8b6fbbf5f54d46" /><Relationship Type="http://schemas.openxmlformats.org/officeDocument/2006/relationships/notesMaster" Target="/ppt/notesMasters/notesMaster1.xml" Id="Ra1d55e683330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b6fa30133c45c9" /><Relationship Type="http://schemas.openxmlformats.org/officeDocument/2006/relationships/notesMaster" Target="/ppt/notesMasters/notesMaster1.xml" Id="R33b0ab5be42f4d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2a03223ed3478b" /><Relationship Type="http://schemas.openxmlformats.org/officeDocument/2006/relationships/notesMaster" Target="/ppt/notesMasters/notesMaster1.xml" Id="R8d23742319094f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baa0535e95475f" /><Relationship Type="http://schemas.openxmlformats.org/officeDocument/2006/relationships/notesMaster" Target="/ppt/notesMasters/notesMaster1.xml" Id="R0353ee702f6042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91e7a8f727469d" /><Relationship Type="http://schemas.openxmlformats.org/officeDocument/2006/relationships/notesMaster" Target="/ppt/notesMasters/notesMaster1.xml" Id="Rbe14da7295c240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2f6124d8ac47f1" /><Relationship Type="http://schemas.openxmlformats.org/officeDocument/2006/relationships/notesMaster" Target="/ppt/notesMasters/notesMaster1.xml" Id="R61ea5a01bcda41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2b9b9acae84b51" /><Relationship Type="http://schemas.openxmlformats.org/officeDocument/2006/relationships/notesMaster" Target="/ppt/notesMasters/notesMaster1.xml" Id="Rb68cd94dbc104f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427d0439974baa" /><Relationship Type="http://schemas.openxmlformats.org/officeDocument/2006/relationships/notesMaster" Target="/ppt/notesMasters/notesMaster1.xml" Id="R59933442378a4b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69e3e747864f63" /><Relationship Type="http://schemas.openxmlformats.org/officeDocument/2006/relationships/notesMaster" Target="/ppt/notesMasters/notesMaster1.xml" Id="Ra516a76b595542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52a70f774a46a8" /><Relationship Type="http://schemas.openxmlformats.org/officeDocument/2006/relationships/notesMaster" Target="/ppt/notesMasters/notesMaster1.xml" Id="R3ba6647d622f48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445ea2e00749eb" /><Relationship Type="http://schemas.openxmlformats.org/officeDocument/2006/relationships/notesMaster" Target="/ppt/notesMasters/notesMaster1.xml" Id="R20d6e1fd4b9449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25c173ba6748d8" /><Relationship Type="http://schemas.openxmlformats.org/officeDocument/2006/relationships/notesMaster" Target="/ppt/notesMasters/notesMaster1.xml" Id="R04898aa16f1947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a6e4f853ab452d" /><Relationship Type="http://schemas.openxmlformats.org/officeDocument/2006/relationships/notesMaster" Target="/ppt/notesMasters/notesMaster1.xml" Id="Rea40c9731bbb4e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5d2ed700054a9d" /><Relationship Type="http://schemas.openxmlformats.org/officeDocument/2006/relationships/notesMaster" Target="/ppt/notesMasters/notesMaster1.xml" Id="R271e0ee42d0c455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5fff9e2001d4a67" /><Relationship Type="http://schemas.openxmlformats.org/officeDocument/2006/relationships/notesMaster" Target="/ppt/notesMasters/notesMaster1.xml" Id="R12bc5a2016de47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d5446543f664cec" /><Relationship Type="http://schemas.openxmlformats.org/officeDocument/2006/relationships/notesMaster" Target="/ppt/notesMasters/notesMaster1.xml" Id="Rfe89d223d2ec49b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b0004bbfe04baa" /><Relationship Type="http://schemas.openxmlformats.org/officeDocument/2006/relationships/notesMaster" Target="/ppt/notesMasters/notesMaster1.xml" Id="Ra096cd300bf943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b6bf128fcf4aaa" /><Relationship Type="http://schemas.openxmlformats.org/officeDocument/2006/relationships/notesMaster" Target="/ppt/notesMasters/notesMaster1.xml" Id="R0b6732603677453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486659c0564242" /><Relationship Type="http://schemas.openxmlformats.org/officeDocument/2006/relationships/notesMaster" Target="/ppt/notesMasters/notesMaster1.xml" Id="R17d4812d5a4944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03a7be97d54f5e" /><Relationship Type="http://schemas.openxmlformats.org/officeDocument/2006/relationships/notesMaster" Target="/ppt/notesMasters/notesMaster1.xml" Id="R09629ed1b46043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https://docs.python.org/3.12/library/functions.html#super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Course shooter: 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32379e7ee4d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e03785d634b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8b80b02514b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38267b74145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ab19e4ae84f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4ae13f45d46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B526CF-7AAE-4791-A7CB-9FC535A88A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42E283-C55F-46DB-9505-98B6ED890A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53B269-63E5-412D-AE04-71A4F8AEE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AB0B06-926F-4316-B5F5-A042F39DB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F7AC51-A011-4392-8C6B-866DC6C622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36E5DA-9A09-4BB6-9457-D58D32B7A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2A8472-11A3-4E47-B1FE-6872C3E0B6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25090C-DD7A-4434-867F-47D1F45F9A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3369EF-CF11-4BA8-B60E-D6C268ABB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016DF2-10AC-4D85-A6F9-751F5B3610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b32abd7a8e40d8" /><Relationship Type="http://schemas.openxmlformats.org/officeDocument/2006/relationships/slideLayout" Target="/ppt/slideLayouts/slideLayout1.xml" Id="Rc3c43dd2d18544b6" /><Relationship Type="http://schemas.openxmlformats.org/officeDocument/2006/relationships/slideLayout" Target="/ppt/slideLayouts/slideLayout2.xml" Id="Rcc798a4700904c25" /><Relationship Type="http://schemas.openxmlformats.org/officeDocument/2006/relationships/slideLayout" Target="/ppt/slideLayouts/slideLayout3.xml" Id="R40c1ed86e07c426b" /><Relationship Type="http://schemas.openxmlformats.org/officeDocument/2006/relationships/slideLayout" Target="/ppt/slideLayouts/slideLayout4.xml" Id="Rc88bf67ec0834045" /><Relationship Type="http://schemas.openxmlformats.org/officeDocument/2006/relationships/slideLayout" Target="/ppt/slideLayouts/slideLayout5.xml" Id="R0ea634514167423d" /><Relationship Type="http://schemas.openxmlformats.org/officeDocument/2006/relationships/slideLayout" Target="/ppt/slideLayouts/slideLayout6.xml" Id="R3688fc7ff9a649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c43dd2d18544b6"/>
    <p:sldLayoutId xmlns:r="http://schemas.openxmlformats.org/officeDocument/2006/relationships" id="2147483650" r:id="Rcc798a4700904c25"/>
    <p:sldLayoutId xmlns:r="http://schemas.openxmlformats.org/officeDocument/2006/relationships" id="2147483651" r:id="R40c1ed86e07c426b"/>
    <p:sldLayoutId xmlns:r="http://schemas.openxmlformats.org/officeDocument/2006/relationships" id="2147483652" r:id="Rc88bf67ec0834045"/>
    <p:sldLayoutId xmlns:r="http://schemas.openxmlformats.org/officeDocument/2006/relationships" id="2147483653" r:id="R0ea634514167423d"/>
    <p:sldLayoutId xmlns:r="http://schemas.openxmlformats.org/officeDocument/2006/relationships" id="2147483654" r:id="R3688fc7ff9a649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a1eaad6be4e4b" /><Relationship Type="http://schemas.openxmlformats.org/officeDocument/2006/relationships/notesSlide" Target="/ppt/notesSlides/notesSlide1.xml" Id="Rc0561fd5d2f243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ede1dacc1490a" /><Relationship Type="http://schemas.openxmlformats.org/officeDocument/2006/relationships/notesSlide" Target="/ppt/notesSlides/notesSlide2.xml" Id="R19934d7f93bf42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1f662b70c4b1c" /><Relationship Type="http://schemas.openxmlformats.org/officeDocument/2006/relationships/notesSlide" Target="/ppt/notesSlides/notesSlide3.xml" Id="Rcf98f8f9748d43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2f576d1244d60" /><Relationship Type="http://schemas.openxmlformats.org/officeDocument/2006/relationships/notesSlide" Target="/ppt/notesSlides/notesSlide4.xml" Id="R592eaf65728b49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ab6f566b7438a" /><Relationship Type="http://schemas.openxmlformats.org/officeDocument/2006/relationships/notesSlide" Target="/ppt/notesSlides/notesSlide5.xml" Id="R75baa60bda9349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d2679a0b3e4896" /><Relationship Type="http://schemas.openxmlformats.org/officeDocument/2006/relationships/notesSlide" Target="/ppt/notesSlides/notesSlide6.xml" Id="Ra469ad92407e41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a66e1e5684e40" /><Relationship Type="http://schemas.openxmlformats.org/officeDocument/2006/relationships/notesSlide" Target="/ppt/notesSlides/notesSlide7.xml" Id="Re4220e62007940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28bc24bea4dd9" /><Relationship Type="http://schemas.openxmlformats.org/officeDocument/2006/relationships/notesSlide" Target="/ppt/notesSlides/notesSlide8.xml" Id="Rd53540e56e6949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0ab4ccbf74eac" /><Relationship Type="http://schemas.openxmlformats.org/officeDocument/2006/relationships/notesSlide" Target="/ppt/notesSlides/notesSlide9.xml" Id="R1fe001d0c75747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347601075410e" /><Relationship Type="http://schemas.openxmlformats.org/officeDocument/2006/relationships/notesSlide" Target="/ppt/notesSlides/notesSlide10.xml" Id="R2d9742bc26b846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ea0434edd45db" /><Relationship Type="http://schemas.openxmlformats.org/officeDocument/2006/relationships/notesSlide" Target="/ppt/notesSlides/notesSlide11.xml" Id="R1508881109fe4f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fe711fca994d15" /><Relationship Type="http://schemas.openxmlformats.org/officeDocument/2006/relationships/notesSlide" Target="/ppt/notesSlides/notesSlide12.xml" Id="R1ae4a2fabce54d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203300a6148f8" /><Relationship Type="http://schemas.openxmlformats.org/officeDocument/2006/relationships/notesSlide" Target="/ppt/notesSlides/notesSlide13.xml" Id="R0e730176e6e949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f968b5e9814758" /><Relationship Type="http://schemas.openxmlformats.org/officeDocument/2006/relationships/notesSlide" Target="/ppt/notesSlides/notesSlide14.xml" Id="R76ca82dfda0640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efa147c084c66" /><Relationship Type="http://schemas.openxmlformats.org/officeDocument/2006/relationships/notesSlide" Target="/ppt/notesSlides/notesSlide15.xml" Id="R5b7a933317bf47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dc871b84c24dac" /><Relationship Type="http://schemas.openxmlformats.org/officeDocument/2006/relationships/notesSlide" Target="/ppt/notesSlides/notesSlide16.xml" Id="R68567fe2c0e24e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3a441d6ff4262" /><Relationship Type="http://schemas.openxmlformats.org/officeDocument/2006/relationships/notesSlide" Target="/ppt/notesSlides/notesSlide17.xml" Id="R802a4f35618d48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782d95bc724252" /><Relationship Type="http://schemas.openxmlformats.org/officeDocument/2006/relationships/notesSlide" Target="/ppt/notesSlides/notesSlide18.xml" Id="Rd986063083b341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8b9c87e754c46" /><Relationship Type="http://schemas.openxmlformats.org/officeDocument/2006/relationships/notesSlide" Target="/ppt/notesSlides/notesSlide19.xml" Id="Ra1b0911aed084e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47a9e88554cd3" /><Relationship Type="http://schemas.openxmlformats.org/officeDocument/2006/relationships/notesSlide" Target="/ppt/notesSlides/notesSlide20.xml" Id="R3083d6f3c50f402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5430203ed4f83" /><Relationship Type="http://schemas.openxmlformats.org/officeDocument/2006/relationships/notesSlide" Target="/ppt/notesSlides/notesSlide21.xml" Id="R841c8b6ec8b94a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d471d67604d2c" /><Relationship Type="http://schemas.openxmlformats.org/officeDocument/2006/relationships/notesSlide" Target="/ppt/notesSlides/notesSlide22.xml" Id="Reb3d98e467f7405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1d49b6a784652" /><Relationship Type="http://schemas.openxmlformats.org/officeDocument/2006/relationships/hyperlink" Target="https://minhuangyuntech.github.io/oo2026/materials/week-7-examples.zip" TargetMode="External" Id="R63fbee6b45a941fc" /><Relationship Type="http://schemas.openxmlformats.org/officeDocument/2006/relationships/notesSlide" Target="/ppt/notesSlides/notesSlide23.xml" Id="R330afa109c984e6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70cce522d4245" /><Relationship Type="http://schemas.openxmlformats.org/officeDocument/2006/relationships/notesSlide" Target="/ppt/notesSlides/notesSlide24.xml" Id="Rfd879e4c458940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THON OOP  /  第 7 週">
            <a:extLst xmlns:a="http://schemas.openxmlformats.org/drawingml/2006/main">
              <a:ext uri="{FF2B5EF4-FFF2-40B4-BE49-F238E27FC236}">
                <a16:creationId xmlns:a16="http://schemas.microsoft.com/office/drawing/2014/main" id="{4951352D-33F2-4269-92D9-7430F492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100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PYTHON OOP  /  第 7 週</a:t>
            </a:r>
          </a:p>
        </p:txBody>
      </p:sp>
      <p:sp>
        <p:nvSpPr>
          <p:cNvPr id="2" name="繼承與類別階層">
            <a:extLst xmlns:a="http://schemas.openxmlformats.org/drawingml/2006/main">
              <a:ext uri="{FF2B5EF4-FFF2-40B4-BE49-F238E27FC236}">
                <a16:creationId xmlns:a16="http://schemas.microsoft.com/office/drawing/2014/main" id="{CDD789F7-6FA2-42FE-92E4-CAF9970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57375"/>
            <a:ext cx="11049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繼承與類別階層</a:t>
            </a:r>
          </a:p>
        </p:txBody>
      </p:sp>
      <p:sp>
        <p:nvSpPr>
          <p:cNvPr id="3" name="從射擊遊戲理解共用行為與子類別擴充">
            <a:extLst xmlns:a="http://schemas.openxmlformats.org/drawingml/2006/main">
              <a:ext uri="{FF2B5EF4-FFF2-40B4-BE49-F238E27FC236}">
                <a16:creationId xmlns:a16="http://schemas.microsoft.com/office/drawing/2014/main" id="{5E689B3D-F409-4B96-9902-2AA0BB85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從射擊遊戲理解共用行為與子類別擴充</a:t>
            </a:r>
          </a:p>
        </p:txBody>
      </p:sp>
      <p:sp>
        <p:nvSpPr>
          <p:cNvPr id="4" name="Actor · Enemy · Bullet · super() · MRO">
            <a:extLst xmlns:a="http://schemas.openxmlformats.org/drawingml/2006/main">
              <a:ext uri="{FF2B5EF4-FFF2-40B4-BE49-F238E27FC236}">
                <a16:creationId xmlns:a16="http://schemas.microsoft.com/office/drawing/2014/main" id="{7949A1C5-F8B9-4DC6-AFFA-6BD422E4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8EDBE"/>
                </a:solidFill>
                <a:latin typeface="Consolas"/>
                <a:ea typeface="Consolas"/>
                <a:cs typeface="Consolas"/>
              </a:rPr>
              <a:t>Actor · Enemy · Bullet · super() · MRO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70EE022C-488D-4198-B26E-B68D3A63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7224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本週的學習路線">
            <a:extLst xmlns:a="http://schemas.openxmlformats.org/drawingml/2006/main">
              <a:ext uri="{FF2B5EF4-FFF2-40B4-BE49-F238E27FC236}">
                <a16:creationId xmlns:a16="http://schemas.microsoft.com/office/drawing/2014/main" id="{CA1365CF-FB75-452F-86B4-5B31195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本週的學習路線</a:t>
            </a:r>
          </a:p>
        </p:txBody>
      </p:sp>
      <p:sp>
        <p:nvSpPr>
          <p:cNvPr id="2" name="第 6 週 UML 的實作延伸">
            <a:extLst xmlns:a="http://schemas.openxmlformats.org/drawingml/2006/main">
              <a:ext uri="{FF2B5EF4-FFF2-40B4-BE49-F238E27FC236}">
                <a16:creationId xmlns:a16="http://schemas.microsoft.com/office/drawing/2014/main" id="{758DA0E3-2340-4BEC-AC18-A765B8D9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第 6 週 UML 的實作延伸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AF623D79-DB0E-40B6-AF9C-F4A95D57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辨識父類別、子類別與每個物件自己的狀態。">
            <a:extLst xmlns:a="http://schemas.openxmlformats.org/drawingml/2006/main">
              <a:ext uri="{FF2B5EF4-FFF2-40B4-BE49-F238E27FC236}">
                <a16:creationId xmlns:a16="http://schemas.microsoft.com/office/drawing/2014/main" id="{5B702B4A-4B62-4303-BCA1-A2C8E555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辨識父類別、子類別與每個物件自己的狀態。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0ECAB83D-446E-4E1B-AD53-4C1906D5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追蹤初始化、方法覆寫與 super() 的執行順序。">
            <a:extLst xmlns:a="http://schemas.openxmlformats.org/drawingml/2006/main">
              <a:ext uri="{FF2B5EF4-FFF2-40B4-BE49-F238E27FC236}">
                <a16:creationId xmlns:a16="http://schemas.microsoft.com/office/drawing/2014/main" id="{E0F0E6D1-94A9-4BBD-8C52-7F49BDE0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追蹤初始化、方法覆寫與 super() 的執行順序。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574873EE-BFCC-49B8-9F4C-F99CAC4E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判斷 is-a 與 has-a，閱讀多重繼承的 MRO。">
            <a:extLst xmlns:a="http://schemas.openxmlformats.org/drawingml/2006/main">
              <a:ext uri="{FF2B5EF4-FFF2-40B4-BE49-F238E27FC236}">
                <a16:creationId xmlns:a16="http://schemas.microsoft.com/office/drawing/2014/main" id="{E621E920-0652-4110-9421-DFDCB326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判斷 is-a 與 has-a，閱讀多重繼承的 MRO。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1A2A63DC-B167-487D-A3C7-ABC41537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553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射擊遊戲的類別階層">
            <a:extLst xmlns:a="http://schemas.openxmlformats.org/drawingml/2006/main">
              <a:ext uri="{FF2B5EF4-FFF2-40B4-BE49-F238E27FC236}">
                <a16:creationId xmlns:a16="http://schemas.microsoft.com/office/drawing/2014/main" id="{038240E6-7418-4044-A016-684EFC5C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射擊遊戲的類別階層</a:t>
            </a:r>
          </a:p>
        </p:txBody>
      </p:sp>
      <p:sp>
        <p:nvSpPr>
          <p:cNvPr id="2" name="縮排表示直接繼承關係">
            <a:extLst xmlns:a="http://schemas.openxmlformats.org/drawingml/2006/main">
              <a:ext uri="{FF2B5EF4-FFF2-40B4-BE49-F238E27FC236}">
                <a16:creationId xmlns:a16="http://schemas.microsoft.com/office/drawing/2014/main" id="{0964B666-4B56-4D76-95E3-AD88298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縮排表示直接繼承關係</a:t>
            </a:r>
          </a:p>
        </p:txBody>
      </p:sp>
      <p:sp>
        <p:nvSpPr>
          <p:cNvPr id="3" name="object">
            <a:extLst xmlns:a="http://schemas.openxmlformats.org/drawingml/2006/main">
              <a:ext uri="{FF2B5EF4-FFF2-40B4-BE49-F238E27FC236}">
                <a16:creationId xmlns:a16="http://schemas.microsoft.com/office/drawing/2014/main" id="{78E3731F-2DE3-4991-9318-8A0CC5E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object</a:t>
            </a:r>
          </a:p>
        </p:txBody>
      </p:sp>
      <p:sp>
        <p:nvSpPr>
          <p:cNvPr id="4" name="  pygame.sprite.Sprite">
            <a:extLst xmlns:a="http://schemas.openxmlformats.org/drawingml/2006/main">
              <a:ext uri="{FF2B5EF4-FFF2-40B4-BE49-F238E27FC236}">
                <a16:creationId xmlns:a16="http://schemas.microsoft.com/office/drawing/2014/main" id="{9670C656-EEE4-461A-94B5-DED7D7F8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pygame.sprite.Sprite</a:t>
            </a:r>
          </a:p>
        </p:txBody>
      </p:sp>
      <p:sp>
        <p:nvSpPr>
          <p:cNvPr id="5" name="    Actor">
            <a:extLst xmlns:a="http://schemas.openxmlformats.org/drawingml/2006/main">
              <a:ext uri="{FF2B5EF4-FFF2-40B4-BE49-F238E27FC236}">
                <a16:creationId xmlns:a16="http://schemas.microsoft.com/office/drawing/2014/main" id="{6A2B7E8F-B9F4-46EA-8E5C-8D74DAE9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Actor</a:t>
            </a:r>
          </a:p>
        </p:txBody>
      </p:sp>
      <p:sp>
        <p:nvSpPr>
          <p:cNvPr id="6" name="      Player">
            <a:extLst xmlns:a="http://schemas.openxmlformats.org/drawingml/2006/main">
              <a:ext uri="{FF2B5EF4-FFF2-40B4-BE49-F238E27FC236}">
                <a16:creationId xmlns:a16="http://schemas.microsoft.com/office/drawing/2014/main" id="{ABD4AE81-1D86-41E1-BC6D-4D4C1F3B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Player</a:t>
            </a:r>
          </a:p>
        </p:txBody>
      </p:sp>
      <p:sp>
        <p:nvSpPr>
          <p:cNvPr id="7" name="      Enemy">
            <a:extLst xmlns:a="http://schemas.openxmlformats.org/drawingml/2006/main">
              <a:ext uri="{FF2B5EF4-FFF2-40B4-BE49-F238E27FC236}">
                <a16:creationId xmlns:a16="http://schemas.microsoft.com/office/drawing/2014/main" id="{62C3716B-B0AB-4221-A8CE-00CEF4F7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Enemy</a:t>
            </a:r>
          </a:p>
        </p:txBody>
      </p:sp>
      <p:sp>
        <p:nvSpPr>
          <p:cNvPr id="8" name="      Bullet">
            <a:extLst xmlns:a="http://schemas.openxmlformats.org/drawingml/2006/main">
              <a:ext uri="{FF2B5EF4-FFF2-40B4-BE49-F238E27FC236}">
                <a16:creationId xmlns:a16="http://schemas.microsoft.com/office/drawing/2014/main" id="{4A0C383B-5073-4A37-93D9-AD72A923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Bullet</a:t>
            </a:r>
          </a:p>
        </p:txBody>
      </p:sp>
      <p:sp>
        <p:nvSpPr>
          <p:cNvPr id="9" name="Player、Enemy、Bullet 都是 Actor 的子類別。">
            <a:extLst xmlns:a="http://schemas.openxmlformats.org/drawingml/2006/main">
              <a:ext uri="{FF2B5EF4-FFF2-40B4-BE49-F238E27FC236}">
                <a16:creationId xmlns:a16="http://schemas.microsoft.com/office/drawing/2014/main" id="{76FEA9A0-0302-4531-8278-F765C9D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Player、Enemy、Bullet 都是 Actor 的子類別。</a:t>
            </a:r>
          </a:p>
        </p:txBody>
      </p:sp>
      <p:sp>
        <p:nvSpPr>
          <p:cNvPr id="10" name="UML 泛化使用實線與空心三角形，指向父類別。">
            <a:extLst xmlns:a="http://schemas.openxmlformats.org/drawingml/2006/main">
              <a:ext uri="{FF2B5EF4-FFF2-40B4-BE49-F238E27FC236}">
                <a16:creationId xmlns:a16="http://schemas.microsoft.com/office/drawing/2014/main" id="{C3E9F2C0-067C-433F-AAC6-7FF927A4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UML 泛化使用實線與空心三角形，指向父類別。</a:t>
            </a:r>
          </a:p>
        </p:txBody>
      </p:sp>
      <p:sp>
        <p:nvSpPr>
          <p:cNvPr id="11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E623CDC2-8EA4-4F20-927B-33055C0D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E747AF1A-CF3F-40F8-AAAC-1F57706F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3592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共用責任與專屬責任">
            <a:extLst xmlns:a="http://schemas.openxmlformats.org/drawingml/2006/main">
              <a:ext uri="{FF2B5EF4-FFF2-40B4-BE49-F238E27FC236}">
                <a16:creationId xmlns:a16="http://schemas.microsoft.com/office/drawing/2014/main" id="{64C273B6-0F1C-4253-9048-6B3315CA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共用責任與專屬責任</a:t>
            </a:r>
          </a:p>
        </p:txBody>
      </p:sp>
      <p:sp>
        <p:nvSpPr>
          <p:cNvPr id="2" name="依現有 actors.py 分工">
            <a:extLst xmlns:a="http://schemas.openxmlformats.org/drawingml/2006/main">
              <a:ext uri="{FF2B5EF4-FFF2-40B4-BE49-F238E27FC236}">
                <a16:creationId xmlns:a16="http://schemas.microsoft.com/office/drawing/2014/main" id="{0011098D-B0C2-42FA-B539-1AA43F7A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依現有 actors.py 分工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B3DB0-4FC8-4685-87D8-83E46D8BC295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8763000"/>
              </a:tblGrid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狀態與行為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name、image、pos、rect、velocity；update(dt)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hp、cooldown；輸入方向、發射、受傷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hp、max_hp；沿用移動、處理命中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owner、damage；移動後檢查是否離開畫面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D8387-B874-48BB-84CE-2213F5B2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E99919B6-EA1B-40A2-B6F9-5E223192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1659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tor 提供共同移動">
            <a:extLst xmlns:a="http://schemas.openxmlformats.org/drawingml/2006/main">
              <a:ext uri="{FF2B5EF4-FFF2-40B4-BE49-F238E27FC236}">
                <a16:creationId xmlns:a16="http://schemas.microsoft.com/office/drawing/2014/main" id="{D151C72E-D325-482F-8D87-585C6E5B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Actor 提供共同移動</a:t>
            </a:r>
          </a:p>
        </p:txBody>
      </p:sp>
      <p:sp>
        <p:nvSpPr>
          <p:cNvPr id="2" name="原程式節錄；dt 的單位為秒">
            <a:extLst xmlns:a="http://schemas.openxmlformats.org/drawingml/2006/main">
              <a:ext uri="{FF2B5EF4-FFF2-40B4-BE49-F238E27FC236}">
                <a16:creationId xmlns:a16="http://schemas.microsoft.com/office/drawing/2014/main" id="{20E6B423-A636-47ED-A534-D0494553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原程式節錄；dt 的單位為秒</a:t>
            </a:r>
          </a:p>
        </p:txBody>
      </p:sp>
      <p:sp>
        <p:nvSpPr>
          <p:cNvPr id="3" name="class Actor(pygame.sprite.Sprite):">
            <a:extLst xmlns:a="http://schemas.openxmlformats.org/drawingml/2006/main">
              <a:ext uri="{FF2B5EF4-FFF2-40B4-BE49-F238E27FC236}">
                <a16:creationId xmlns:a16="http://schemas.microsoft.com/office/drawing/2014/main" id="{B29911C2-0B70-41EB-BBAC-8EA10992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Actor(pygame.sprite.Sprite):</a:t>
            </a:r>
          </a:p>
        </p:txBody>
      </p:sp>
      <p:sp>
        <p:nvSpPr>
          <p:cNvPr id="4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6F916A55-2F13-4253-9C54-B95F14E1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5" name="        self.pos += self.velocity * dt">
            <a:extLst xmlns:a="http://schemas.openxmlformats.org/drawingml/2006/main">
              <a:ext uri="{FF2B5EF4-FFF2-40B4-BE49-F238E27FC236}">
                <a16:creationId xmlns:a16="http://schemas.microsoft.com/office/drawing/2014/main" id="{941233CC-8BCF-45B8-8416-DEF2B63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self.pos += self.velocity * dt</a:t>
            </a:r>
          </a:p>
        </p:txBody>
      </p:sp>
      <p:sp>
        <p:nvSpPr>
          <p:cNvPr id="6" name="        self.rect.center = (">
            <a:extLst xmlns:a="http://schemas.openxmlformats.org/drawingml/2006/main">
              <a:ext uri="{FF2B5EF4-FFF2-40B4-BE49-F238E27FC236}">
                <a16:creationId xmlns:a16="http://schemas.microsoft.com/office/drawing/2014/main" id="{3573F166-32D7-437E-AC4F-8FA6AE3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self.rect.center = (</a:t>
            </a:r>
          </a:p>
        </p:txBody>
      </p:sp>
      <p:sp>
        <p:nvSpPr>
          <p:cNvPr id="7" name="            round(self.pos.x), round(self.pos.y)">
            <a:extLst xmlns:a="http://schemas.openxmlformats.org/drawingml/2006/main">
              <a:ext uri="{FF2B5EF4-FFF2-40B4-BE49-F238E27FC236}">
                <a16:creationId xmlns:a16="http://schemas.microsoft.com/office/drawing/2014/main" id="{9BCCCEF8-5090-48A0-A565-A2033A32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round(self.pos.x), round(self.pos.y)</a:t>
            </a:r>
          </a:p>
        </p:txBody>
      </p:sp>
      <p:sp>
        <p:nvSpPr>
          <p:cNvPr id="8" name="        )">
            <a:extLst xmlns:a="http://schemas.openxmlformats.org/drawingml/2006/main">
              <a:ext uri="{FF2B5EF4-FFF2-40B4-BE49-F238E27FC236}">
                <a16:creationId xmlns:a16="http://schemas.microsoft.com/office/drawing/2014/main" id="{ED62F64B-7357-48C5-9E40-1B07EDC3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)</a:t>
            </a:r>
          </a:p>
        </p:txBody>
      </p:sp>
      <p:sp>
        <p:nvSpPr>
          <p:cNvPr id="9" name="velocity 是每秒位移；乘上 dt 得到這一步的位移。">
            <a:extLst xmlns:a="http://schemas.openxmlformats.org/drawingml/2006/main">
              <a:ext uri="{FF2B5EF4-FFF2-40B4-BE49-F238E27FC236}">
                <a16:creationId xmlns:a16="http://schemas.microsoft.com/office/drawing/2014/main" id="{6DA2199F-A44D-42F0-876C-2A8CCB5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velocity 是每秒位移；乘上 dt 得到這一步的位移。</a:t>
            </a:r>
          </a:p>
        </p:txBody>
      </p:sp>
      <p:sp>
        <p:nvSpPr>
          <p:cNvPr id="10" name="pos 保存浮點位置，rect 供顯示與碰撞使用。">
            <a:extLst xmlns:a="http://schemas.openxmlformats.org/drawingml/2006/main">
              <a:ext uri="{FF2B5EF4-FFF2-40B4-BE49-F238E27FC236}">
                <a16:creationId xmlns:a16="http://schemas.microsoft.com/office/drawing/2014/main" id="{EE44A582-8600-4FB2-9245-D18744D5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pos 保存浮點位置，rect 供顯示與碰撞使用。</a:t>
            </a:r>
          </a:p>
        </p:txBody>
      </p:sp>
      <p:sp>
        <p:nvSpPr>
          <p:cNvPr id="11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459AA0FC-2982-4729-BCEB-F26AB3C6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2" name="05">
            <a:extLst xmlns:a="http://schemas.openxmlformats.org/drawingml/2006/main">
              <a:ext uri="{FF2B5EF4-FFF2-40B4-BE49-F238E27FC236}">
                <a16:creationId xmlns:a16="http://schemas.microsoft.com/office/drawing/2014/main" id="{E7A34481-166D-426A-AA58-3A9EE22D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859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my 沿用父類別方法">
            <a:extLst xmlns:a="http://schemas.openxmlformats.org/drawingml/2006/main">
              <a:ext uri="{FF2B5EF4-FFF2-40B4-BE49-F238E27FC236}">
                <a16:creationId xmlns:a16="http://schemas.microsoft.com/office/drawing/2014/main" id="{A51D90F0-B7C8-484F-9BE4-3D87EDDF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Enemy 沿用父類別方法</a:t>
            </a:r>
          </a:p>
        </p:txBody>
      </p:sp>
      <p:sp>
        <p:nvSpPr>
          <p:cNvPr id="2" name="未定義 update 時，沿 MRO 尋找">
            <a:extLst xmlns:a="http://schemas.openxmlformats.org/drawingml/2006/main">
              <a:ext uri="{FF2B5EF4-FFF2-40B4-BE49-F238E27FC236}">
                <a16:creationId xmlns:a16="http://schemas.microsoft.com/office/drawing/2014/main" id="{9A260B33-6B2C-4FB4-B9A5-28CF1A78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未定義 update 時，沿 MRO 尋找</a:t>
            </a:r>
          </a:p>
        </p:txBody>
      </p:sp>
      <p:sp>
        <p:nvSpPr>
          <p:cNvPr id="3" name="enemy = Enemy(&quot;E01&quot;, (200, 100), speed=80)">
            <a:extLst xmlns:a="http://schemas.openxmlformats.org/drawingml/2006/main">
              <a:ext uri="{FF2B5EF4-FFF2-40B4-BE49-F238E27FC236}">
                <a16:creationId xmlns:a16="http://schemas.microsoft.com/office/drawing/2014/main" id="{6770693E-7496-42E1-B888-3EA6D5F5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 = Enemy("E01", (200, 100), speed=80)</a:t>
            </a:r>
          </a:p>
        </p:txBody>
      </p:sp>
      <p:sp>
        <p:nvSpPr>
          <p:cNvPr id="4" name="enemy.update(0.25)">
            <a:extLst xmlns:a="http://schemas.openxmlformats.org/drawingml/2006/main">
              <a:ext uri="{FF2B5EF4-FFF2-40B4-BE49-F238E27FC236}">
                <a16:creationId xmlns:a16="http://schemas.microsoft.com/office/drawing/2014/main" id="{59906732-FB67-4CC3-8BCA-5A9AAAD9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enemy.update(0.25)</a:t>
            </a:r>
          </a:p>
        </p:txBody>
      </p:sp>
      <p:sp>
        <p:nvSpPr>
          <p:cNvPr id="5" name="print(enemy.pos.y)  # 120.0">
            <a:extLst xmlns:a="http://schemas.openxmlformats.org/drawingml/2006/main">
              <a:ext uri="{FF2B5EF4-FFF2-40B4-BE49-F238E27FC236}">
                <a16:creationId xmlns:a16="http://schemas.microsoft.com/office/drawing/2014/main" id="{4795F7E3-6063-4C15-9FD0-FE9D6487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print(enemy.pos.y)  # 120.0</a:t>
            </a:r>
          </a:p>
        </p:txBody>
      </p:sp>
      <p:sp>
        <p:nvSpPr>
          <p:cNvPr id="6" name="print(Enemy.update is Actor.update)  # True">
            <a:extLst xmlns:a="http://schemas.openxmlformats.org/drawingml/2006/main">
              <a:ext uri="{FF2B5EF4-FFF2-40B4-BE49-F238E27FC236}">
                <a16:creationId xmlns:a16="http://schemas.microsoft.com/office/drawing/2014/main" id="{1841652A-E338-41DB-8D4F-68D84EDB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print(Enemy.update is Actor.update)  # True</a:t>
            </a:r>
          </a:p>
        </p:txBody>
      </p:sp>
      <p:sp>
        <p:nvSpPr>
          <p:cNvPr id="7" name="Enemy 沒有覆寫 update，這次呼叫執行 Actor.update。">
            <a:extLst xmlns:a="http://schemas.openxmlformats.org/drawingml/2006/main">
              <a:ext uri="{FF2B5EF4-FFF2-40B4-BE49-F238E27FC236}">
                <a16:creationId xmlns:a16="http://schemas.microsoft.com/office/drawing/2014/main" id="{7D34CDF3-0C0E-485D-BEDC-286FBCB5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Enemy 沒有覆寫 update，這次呼叫執行 Actor.update。</a:t>
            </a:r>
          </a:p>
        </p:txBody>
      </p:sp>
      <p:sp>
        <p:nvSpPr>
          <p:cNvPr id="8" name="y 從 100 變為 120；self 就是 enemy。">
            <a:extLst xmlns:a="http://schemas.openxmlformats.org/drawingml/2006/main">
              <a:ext uri="{FF2B5EF4-FFF2-40B4-BE49-F238E27FC236}">
                <a16:creationId xmlns:a16="http://schemas.microsoft.com/office/drawing/2014/main" id="{B3BD513C-1E80-4865-BC3F-1587FD56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y 從 100 變為 120；self 就是 enemy。</a:t>
            </a:r>
          </a:p>
        </p:txBody>
      </p:sp>
      <p:sp>
        <p:nvSpPr>
          <p:cNvPr id="9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39312241-1000-4C30-9E85-01F448DC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0" name="06">
            <a:extLst xmlns:a="http://schemas.openxmlformats.org/drawingml/2006/main">
              <a:ext uri="{FF2B5EF4-FFF2-40B4-BE49-F238E27FC236}">
                <a16:creationId xmlns:a16="http://schemas.microsoft.com/office/drawing/2014/main" id="{CC0F3B8D-A90B-4D19-A02D-AE66D1FA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5114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初始化共同屬性">
            <a:extLst xmlns:a="http://schemas.openxmlformats.org/drawingml/2006/main">
              <a:ext uri="{FF2B5EF4-FFF2-40B4-BE49-F238E27FC236}">
                <a16:creationId xmlns:a16="http://schemas.microsoft.com/office/drawing/2014/main" id="{45100EB9-6AE5-44FB-8AF6-D9281E49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初始化共同屬性</a:t>
            </a:r>
          </a:p>
        </p:txBody>
      </p:sp>
      <p:sp>
        <p:nvSpPr>
          <p:cNvPr id="2" name="Actor.__init__ 的原程式節錄">
            <a:extLst xmlns:a="http://schemas.openxmlformats.org/drawingml/2006/main">
              <a:ext uri="{FF2B5EF4-FFF2-40B4-BE49-F238E27FC236}">
                <a16:creationId xmlns:a16="http://schemas.microsoft.com/office/drawing/2014/main" id="{87BD6062-BB93-464E-A2B6-2FDACBD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Actor.__init__ 的原程式節錄</a:t>
            </a:r>
          </a:p>
        </p:txBody>
      </p:sp>
      <p:sp>
        <p:nvSpPr>
          <p:cNvPr id="3" name="def __init__(self, name, position, size):">
            <a:extLst xmlns:a="http://schemas.openxmlformats.org/drawingml/2006/main">
              <a:ext uri="{FF2B5EF4-FFF2-40B4-BE49-F238E27FC236}">
                <a16:creationId xmlns:a16="http://schemas.microsoft.com/office/drawing/2014/main" id="{2FB467C9-586C-45FB-B80E-09E0C52A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__init__(self, name, position, size):</a:t>
            </a:r>
          </a:p>
        </p:txBody>
      </p:sp>
      <p:sp>
        <p:nvSpPr>
          <p:cNvPr id="4" name="    super().__init__()">
            <a:extLst xmlns:a="http://schemas.openxmlformats.org/drawingml/2006/main">
              <a:ext uri="{FF2B5EF4-FFF2-40B4-BE49-F238E27FC236}">
                <a16:creationId xmlns:a16="http://schemas.microsoft.com/office/drawing/2014/main" id="{CF8B8936-D2CD-49FC-B33B-E401BC94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super().__init__()</a:t>
            </a:r>
          </a:p>
        </p:txBody>
      </p:sp>
      <p:sp>
        <p:nvSpPr>
          <p:cNvPr id="5" name="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BADF69DC-5E80-4822-8A48-51041DE3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self.name = name</a:t>
            </a:r>
          </a:p>
        </p:txBody>
      </p:sp>
      <p:sp>
        <p:nvSpPr>
          <p:cNvPr id="6" name="    self.image = pygame.Surface(size, pygame.SRCALPHA)">
            <a:extLst xmlns:a="http://schemas.openxmlformats.org/drawingml/2006/main">
              <a:ext uri="{FF2B5EF4-FFF2-40B4-BE49-F238E27FC236}">
                <a16:creationId xmlns:a16="http://schemas.microsoft.com/office/drawing/2014/main" id="{B318DB98-D6C8-4C42-9207-3DD97B5A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self.image = pygame.Surface(size, pygame.SRCALPHA)</a:t>
            </a:r>
          </a:p>
        </p:txBody>
      </p:sp>
      <p:sp>
        <p:nvSpPr>
          <p:cNvPr id="7" name="    self.pos = pygame.Vector2(position)">
            <a:extLst xmlns:a="http://schemas.openxmlformats.org/drawingml/2006/main">
              <a:ext uri="{FF2B5EF4-FFF2-40B4-BE49-F238E27FC236}">
                <a16:creationId xmlns:a16="http://schemas.microsoft.com/office/drawing/2014/main" id="{C415F813-17FC-4D72-B08F-E0A5D3E1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self.pos = pygame.Vector2(position)</a:t>
            </a:r>
          </a:p>
        </p:txBody>
      </p:sp>
      <p:sp>
        <p:nvSpPr>
          <p:cNvPr id="8" name="    self.rect = self.image.get_rect(center=position)">
            <a:extLst xmlns:a="http://schemas.openxmlformats.org/drawingml/2006/main">
              <a:ext uri="{FF2B5EF4-FFF2-40B4-BE49-F238E27FC236}">
                <a16:creationId xmlns:a16="http://schemas.microsoft.com/office/drawing/2014/main" id="{E0D4D0D6-3479-4332-925E-91BAF1A4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self.rect = self.image.get_rect(center=position)</a:t>
            </a:r>
          </a:p>
        </p:txBody>
      </p:sp>
      <p:sp>
        <p:nvSpPr>
          <p:cNvPr id="9" name="    self.velocity = pygame.Vector2()">
            <a:extLst xmlns:a="http://schemas.openxmlformats.org/drawingml/2006/main">
              <a:ext uri="{FF2B5EF4-FFF2-40B4-BE49-F238E27FC236}">
                <a16:creationId xmlns:a16="http://schemas.microsoft.com/office/drawing/2014/main" id="{D1313ABC-3040-4628-B07B-4E35AE62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self.velocity = pygame.Vector2()</a:t>
            </a:r>
          </a:p>
        </p:txBody>
      </p:sp>
      <p:sp>
        <p:nvSpPr>
          <p:cNvPr id="10" name="super().__init__() 完成 Sprite 的初始化。">
            <a:extLst xmlns:a="http://schemas.openxmlformats.org/drawingml/2006/main">
              <a:ext uri="{FF2B5EF4-FFF2-40B4-BE49-F238E27FC236}">
                <a16:creationId xmlns:a16="http://schemas.microsoft.com/office/drawing/2014/main" id="{331C2839-BE90-4F05-8E83-87BDA041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super().__init__() 完成 Sprite 的初始化。</a:t>
            </a:r>
          </a:p>
        </p:txBody>
      </p:sp>
      <p:sp>
        <p:nvSpPr>
          <p:cNvPr id="11" name="這些 self 屬性建立在目前的同一個物件上。">
            <a:extLst xmlns:a="http://schemas.openxmlformats.org/drawingml/2006/main">
              <a:ext uri="{FF2B5EF4-FFF2-40B4-BE49-F238E27FC236}">
                <a16:creationId xmlns:a16="http://schemas.microsoft.com/office/drawing/2014/main" id="{610310BC-E591-40E7-9AB3-CCDC11BD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這些 self 屬性建立在目前的同一個物件上。</a:t>
            </a:r>
          </a:p>
        </p:txBody>
      </p:sp>
      <p:sp>
        <p:nvSpPr>
          <p:cNvPr id="12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C25F733B-5BE4-4AFD-8871-FE68CC22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3" name="07">
            <a:extLst xmlns:a="http://schemas.openxmlformats.org/drawingml/2006/main">
              <a:ext uri="{FF2B5EF4-FFF2-40B4-BE49-F238E27FC236}">
                <a16:creationId xmlns:a16="http://schemas.microsoft.com/office/drawing/2014/main" id="{C723A88B-6296-4FB1-8766-65AF6328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41034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子類別擴充初始化">
            <a:extLst xmlns:a="http://schemas.openxmlformats.org/drawingml/2006/main">
              <a:ext uri="{FF2B5EF4-FFF2-40B4-BE49-F238E27FC236}">
                <a16:creationId xmlns:a16="http://schemas.microsoft.com/office/drawing/2014/main" id="{607AEC01-0760-48A3-A0CE-59B83CDC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子類別擴充初始化</a:t>
            </a:r>
          </a:p>
        </p:txBody>
      </p:sp>
      <p:sp>
        <p:nvSpPr>
          <p:cNvPr id="2" name="Enemy.__init__ 節錄，省略繪圖">
            <a:extLst xmlns:a="http://schemas.openxmlformats.org/drawingml/2006/main">
              <a:ext uri="{FF2B5EF4-FFF2-40B4-BE49-F238E27FC236}">
                <a16:creationId xmlns:a16="http://schemas.microsoft.com/office/drawing/2014/main" id="{07CDBA4E-C97A-478A-B3C4-B8BEB763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Enemy.__init__ 節錄，省略繪圖</a:t>
            </a:r>
          </a:p>
        </p:txBody>
      </p:sp>
      <p:sp>
        <p:nvSpPr>
          <p:cNvPr id="3" name="class Enemy(Actor):">
            <a:extLst xmlns:a="http://schemas.openxmlformats.org/drawingml/2006/main">
              <a:ext uri="{FF2B5EF4-FFF2-40B4-BE49-F238E27FC236}">
                <a16:creationId xmlns:a16="http://schemas.microsoft.com/office/drawing/2014/main" id="{CC42260A-134F-4326-94E5-4B831ABA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Enemy(Actor):</a:t>
            </a:r>
          </a:p>
        </p:txBody>
      </p:sp>
      <p:sp>
        <p:nvSpPr>
          <p:cNvPr id="4" name="    def __init__(self, name, position, speed=80, hp=1):">
            <a:extLst xmlns:a="http://schemas.openxmlformats.org/drawingml/2006/main">
              <a:ext uri="{FF2B5EF4-FFF2-40B4-BE49-F238E27FC236}">
                <a16:creationId xmlns:a16="http://schemas.microsoft.com/office/drawing/2014/main" id="{203C65F0-6E96-46AD-9540-3CD5F5BB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speed=80, hp=1):</a:t>
            </a:r>
          </a:p>
        </p:txBody>
      </p:sp>
      <p:sp>
        <p:nvSpPr>
          <p:cNvPr id="5" name="        super().__init__(name, position, (44, 40))">
            <a:extLst xmlns:a="http://schemas.openxmlformats.org/drawingml/2006/main">
              <a:ext uri="{FF2B5EF4-FFF2-40B4-BE49-F238E27FC236}">
                <a16:creationId xmlns:a16="http://schemas.microsoft.com/office/drawing/2014/main" id="{700A0651-E2D1-4938-A724-FFB3DB43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super().__init__(name, position, (44, 40))</a:t>
            </a:r>
          </a:p>
        </p:txBody>
      </p:sp>
      <p:sp>
        <p:nvSpPr>
          <p:cNvPr id="6" name="        self.velocity.y = speed">
            <a:extLst xmlns:a="http://schemas.openxmlformats.org/drawingml/2006/main">
              <a:ext uri="{FF2B5EF4-FFF2-40B4-BE49-F238E27FC236}">
                <a16:creationId xmlns:a16="http://schemas.microsoft.com/office/drawing/2014/main" id="{E55D3BFC-F817-4ED6-8347-938C39CD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self.velocity.y = speed</a:t>
            </a:r>
          </a:p>
        </p:txBody>
      </p:sp>
      <p:sp>
        <p:nvSpPr>
          <p:cNvPr id="7" name="        self.hp = hp">
            <a:extLst xmlns:a="http://schemas.openxmlformats.org/drawingml/2006/main">
              <a:ext uri="{FF2B5EF4-FFF2-40B4-BE49-F238E27FC236}">
                <a16:creationId xmlns:a16="http://schemas.microsoft.com/office/drawing/2014/main" id="{97D8EF40-7D4C-4131-9D77-D7B376CC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self.hp = hp</a:t>
            </a:r>
          </a:p>
        </p:txBody>
      </p:sp>
      <p:sp>
        <p:nvSpPr>
          <p:cNvPr id="8" name="        self.max_hp = hp">
            <a:extLst xmlns:a="http://schemas.openxmlformats.org/drawingml/2006/main">
              <a:ext uri="{FF2B5EF4-FFF2-40B4-BE49-F238E27FC236}">
                <a16:creationId xmlns:a16="http://schemas.microsoft.com/office/drawing/2014/main" id="{DCDA10FF-F9FC-4F98-8FA4-D1556FBF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self.max_hp = hp</a:t>
            </a:r>
          </a:p>
        </p:txBody>
      </p:sp>
      <p:sp>
        <p:nvSpPr>
          <p:cNvPr id="9" name="先建立共同狀態，再設定敵人的速度與生命。">
            <a:extLst xmlns:a="http://schemas.openxmlformats.org/drawingml/2006/main">
              <a:ext uri="{FF2B5EF4-FFF2-40B4-BE49-F238E27FC236}">
                <a16:creationId xmlns:a16="http://schemas.microsoft.com/office/drawing/2014/main" id="{80A47F95-E370-45BC-9391-5451976C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先建立共同狀態，再設定敵人的速度與生命。</a:t>
            </a:r>
          </a:p>
        </p:txBody>
      </p:sp>
      <p:sp>
        <p:nvSpPr>
          <p:cNvPr id="10" name="覆寫 __init__ 後，父類別初始化不會自動另行呼叫。">
            <a:extLst xmlns:a="http://schemas.openxmlformats.org/drawingml/2006/main">
              <a:ext uri="{FF2B5EF4-FFF2-40B4-BE49-F238E27FC236}">
                <a16:creationId xmlns:a16="http://schemas.microsoft.com/office/drawing/2014/main" id="{F2A4593A-8A76-411E-A5AB-58D3D5AA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覆寫 __init__ 後，父類別初始化不會自動另行呼叫。</a:t>
            </a:r>
          </a:p>
        </p:txBody>
      </p:sp>
      <p:sp>
        <p:nvSpPr>
          <p:cNvPr id="11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1E1F2E4B-B9BD-41A0-AD70-58129197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2" name="08">
            <a:extLst xmlns:a="http://schemas.openxmlformats.org/drawingml/2006/main">
              <a:ext uri="{FF2B5EF4-FFF2-40B4-BE49-F238E27FC236}">
                <a16:creationId xmlns:a16="http://schemas.microsoft.com/office/drawing/2014/main" id="{440E08E3-4B79-4E55-9183-04763B1A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12944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初始化的執行順序">
            <a:extLst xmlns:a="http://schemas.openxmlformats.org/drawingml/2006/main">
              <a:ext uri="{FF2B5EF4-FFF2-40B4-BE49-F238E27FC236}">
                <a16:creationId xmlns:a16="http://schemas.microsoft.com/office/drawing/2014/main" id="{F07CCD11-6484-4C54-9B3A-0E42A3AF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初始化的執行順序</a:t>
            </a:r>
          </a:p>
        </p:txBody>
      </p:sp>
      <p:sp>
        <p:nvSpPr>
          <p:cNvPr id="2" name="Enemy(&quot;E01&quot;, (200, 100))">
            <a:extLst xmlns:a="http://schemas.openxmlformats.org/drawingml/2006/main">
              <a:ext uri="{FF2B5EF4-FFF2-40B4-BE49-F238E27FC236}">
                <a16:creationId xmlns:a16="http://schemas.microsoft.com/office/drawing/2014/main" id="{96374EAA-0D03-4F89-B1F1-A71CE983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Enemy("E01", (200, 100))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9BF210B7-3F88-463A-949D-B9D7EEBD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進入 Enemy.__init__，self 是新建立的 Enemy 物件。">
            <a:extLst xmlns:a="http://schemas.openxmlformats.org/drawingml/2006/main">
              <a:ext uri="{FF2B5EF4-FFF2-40B4-BE49-F238E27FC236}">
                <a16:creationId xmlns:a16="http://schemas.microsoft.com/office/drawing/2014/main" id="{612E594C-E0FF-4617-967D-A1018B19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進入 Enemy.__init__，self 是新建立的 Enemy 物件。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01D4D6FF-2524-4DFA-A16E-DF5F1A49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super() 呼叫 Actor.__init__，其中再初始化 Sprite。">
            <a:extLst xmlns:a="http://schemas.openxmlformats.org/drawingml/2006/main">
              <a:ext uri="{FF2B5EF4-FFF2-40B4-BE49-F238E27FC236}">
                <a16:creationId xmlns:a16="http://schemas.microsoft.com/office/drawing/2014/main" id="{FEBD0EAF-BBE3-444B-9F4D-D58156B8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super() 呼叫 Actor.__init__，其中再初始化 Sprite。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E9D43AF0-D8D7-416C-BE72-9826616F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回到 Enemy 設定 hp。過程中使用同一個 self。">
            <a:extLst xmlns:a="http://schemas.openxmlformats.org/drawingml/2006/main">
              <a:ext uri="{FF2B5EF4-FFF2-40B4-BE49-F238E27FC236}">
                <a16:creationId xmlns:a16="http://schemas.microsoft.com/office/drawing/2014/main" id="{D8C74CB9-0323-4C5B-BE37-BD79E98D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回到 Enemy 設定 hp。過程中使用同一個 self。</a:t>
            </a:r>
          </a:p>
        </p:txBody>
      </p:sp>
      <p:sp>
        <p:nvSpPr>
          <p:cNvPr id="9" name="09">
            <a:extLst xmlns:a="http://schemas.openxmlformats.org/drawingml/2006/main">
              <a:ext uri="{FF2B5EF4-FFF2-40B4-BE49-F238E27FC236}">
                <a16:creationId xmlns:a16="http://schemas.microsoft.com/office/drawing/2014/main" id="{106C69AE-2678-430E-8A4A-6C872241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1082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共用方法，狀態各自獨立">
            <a:extLst xmlns:a="http://schemas.openxmlformats.org/drawingml/2006/main">
              <a:ext uri="{FF2B5EF4-FFF2-40B4-BE49-F238E27FC236}">
                <a16:creationId xmlns:a16="http://schemas.microsoft.com/office/drawing/2014/main" id="{1D30AF70-85C0-4CAC-8E91-57E24C78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共用方法，狀態各自獨立</a:t>
            </a:r>
          </a:p>
        </p:txBody>
      </p:sp>
      <p:sp>
        <p:nvSpPr>
          <p:cNvPr id="2" name="兩個 Enemy 實體">
            <a:extLst xmlns:a="http://schemas.openxmlformats.org/drawingml/2006/main">
              <a:ext uri="{FF2B5EF4-FFF2-40B4-BE49-F238E27FC236}">
                <a16:creationId xmlns:a16="http://schemas.microsoft.com/office/drawing/2014/main" id="{A71DABA8-D9F5-46F4-BA15-4D07C62A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兩個 Enemy 實體</a:t>
            </a:r>
          </a:p>
        </p:txBody>
      </p:sp>
      <p:sp>
        <p:nvSpPr>
          <p:cNvPr id="3" name="a = Enemy(&quot;E01&quot;, (100, 100), hp=1)">
            <a:extLst xmlns:a="http://schemas.openxmlformats.org/drawingml/2006/main">
              <a:ext uri="{FF2B5EF4-FFF2-40B4-BE49-F238E27FC236}">
                <a16:creationId xmlns:a16="http://schemas.microsoft.com/office/drawing/2014/main" id="{682388F1-8AEA-4445-9B69-3B912FEE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 = Enemy("E01", (100, 100), hp=1)</a:t>
            </a:r>
          </a:p>
        </p:txBody>
      </p:sp>
      <p:sp>
        <p:nvSpPr>
          <p:cNvPr id="4" name="b = Enemy(&quot;E02&quot;, (200, 100), hp=3)">
            <a:extLst xmlns:a="http://schemas.openxmlformats.org/drawingml/2006/main">
              <a:ext uri="{FF2B5EF4-FFF2-40B4-BE49-F238E27FC236}">
                <a16:creationId xmlns:a16="http://schemas.microsoft.com/office/drawing/2014/main" id="{87E0EC12-DC05-41A0-83AB-35246755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 = Enemy("E02", (200, 100), hp=3)</a:t>
            </a:r>
          </a:p>
        </p:txBody>
      </p:sp>
      <p:sp>
        <p:nvSpPr>
          <p:cNvPr id="5" name="a.hp = 0">
            <a:extLst xmlns:a="http://schemas.openxmlformats.org/drawingml/2006/main">
              <a:ext uri="{FF2B5EF4-FFF2-40B4-BE49-F238E27FC236}">
                <a16:creationId xmlns:a16="http://schemas.microsoft.com/office/drawing/2014/main" id="{65BEE3D0-3E1C-46BC-B459-D364DDD2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a.hp = 0</a:t>
            </a:r>
          </a:p>
        </p:txBody>
      </p:sp>
      <p:sp>
        <p:nvSpPr>
          <p:cNvPr id="6" name="print(b.hp)  # 3">
            <a:extLst xmlns:a="http://schemas.openxmlformats.org/drawingml/2006/main">
              <a:ext uri="{FF2B5EF4-FFF2-40B4-BE49-F238E27FC236}">
                <a16:creationId xmlns:a16="http://schemas.microsoft.com/office/drawing/2014/main" id="{DD3F0D88-B128-415D-B445-507936DB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print(b.hp)  # 3</a:t>
            </a:r>
          </a:p>
        </p:txBody>
      </p:sp>
      <p:sp>
        <p:nvSpPr>
          <p:cNvPr id="7" name="print(a.velocity is b.velocity)  # False">
            <a:extLst xmlns:a="http://schemas.openxmlformats.org/drawingml/2006/main">
              <a:ext uri="{FF2B5EF4-FFF2-40B4-BE49-F238E27FC236}">
                <a16:creationId xmlns:a16="http://schemas.microsoft.com/office/drawing/2014/main" id="{CB066400-49A9-4014-B501-65331BE9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print(a.velocity is b.velocity)  # False</a:t>
            </a:r>
          </a:p>
        </p:txBody>
      </p:sp>
      <p:sp>
        <p:nvSpPr>
          <p:cNvPr id="8" name="每次初始化都建立新的 Vector2，不會共用速度物件。">
            <a:extLst xmlns:a="http://schemas.openxmlformats.org/drawingml/2006/main">
              <a:ext uri="{FF2B5EF4-FFF2-40B4-BE49-F238E27FC236}">
                <a16:creationId xmlns:a16="http://schemas.microsoft.com/office/drawing/2014/main" id="{E64BECDA-F7D6-4A1F-BF8C-5B3F8E6B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每次初始化都建立新的 Vector2，不會共用速度物件。</a:t>
            </a:r>
          </a:p>
        </p:txBody>
      </p:sp>
      <p:sp>
        <p:nvSpPr>
          <p:cNvPr id="9" name="繼承不表示兩個實體共用 hp。">
            <a:extLst xmlns:a="http://schemas.openxmlformats.org/drawingml/2006/main">
              <a:ext uri="{FF2B5EF4-FFF2-40B4-BE49-F238E27FC236}">
                <a16:creationId xmlns:a16="http://schemas.microsoft.com/office/drawing/2014/main" id="{C9B5FA00-38DB-4631-B4FF-A40A6F3B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繼承不表示兩個實體共用 hp。</a:t>
            </a:r>
          </a:p>
        </p:txBody>
      </p:sp>
      <p:sp>
        <p:nvSpPr>
          <p:cNvPr id="10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6DA61988-7615-4844-8B3E-9BFA4173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1" name="10">
            <a:extLst xmlns:a="http://schemas.openxmlformats.org/drawingml/2006/main">
              <a:ext uri="{FF2B5EF4-FFF2-40B4-BE49-F238E27FC236}">
                <a16:creationId xmlns:a16="http://schemas.microsoft.com/office/drawing/2014/main" id="{819086F4-6CEE-4CC8-B84D-42FB4FE9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106692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類別判斷與繼承關係">
            <a:extLst xmlns:a="http://schemas.openxmlformats.org/drawingml/2006/main">
              <a:ext uri="{FF2B5EF4-FFF2-40B4-BE49-F238E27FC236}">
                <a16:creationId xmlns:a16="http://schemas.microsoft.com/office/drawing/2014/main" id="{264AAD03-DAF0-474D-A533-24DE82EC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類別判斷與繼承關係</a:t>
            </a:r>
          </a:p>
        </p:txBody>
      </p:sp>
      <p:sp>
        <p:nvSpPr>
          <p:cNvPr id="2" name="isinstance 與 issubclass">
            <a:extLst xmlns:a="http://schemas.openxmlformats.org/drawingml/2006/main">
              <a:ext uri="{FF2B5EF4-FFF2-40B4-BE49-F238E27FC236}">
                <a16:creationId xmlns:a16="http://schemas.microsoft.com/office/drawing/2014/main" id="{093004A3-2787-4417-86D0-F9CD253B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isinstance 與 issubclass</a:t>
            </a:r>
          </a:p>
        </p:txBody>
      </p:sp>
      <p:sp>
        <p:nvSpPr>
          <p:cNvPr id="3" name="enemy = Enemy(&quot;E01&quot;, (200, 100))">
            <a:extLst xmlns:a="http://schemas.openxmlformats.org/drawingml/2006/main">
              <a:ext uri="{FF2B5EF4-FFF2-40B4-BE49-F238E27FC236}">
                <a16:creationId xmlns:a16="http://schemas.microsoft.com/office/drawing/2014/main" id="{9F3B7C16-E658-4B4A-AEC9-DF2F9A56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 = Enemy("E01", (200, 100))</a:t>
            </a:r>
          </a:p>
        </p:txBody>
      </p:sp>
      <p:sp>
        <p:nvSpPr>
          <p:cNvPr id="4" name="print(isinstance(enemy, Enemy))  # True">
            <a:extLst xmlns:a="http://schemas.openxmlformats.org/drawingml/2006/main">
              <a:ext uri="{FF2B5EF4-FFF2-40B4-BE49-F238E27FC236}">
                <a16:creationId xmlns:a16="http://schemas.microsoft.com/office/drawing/2014/main" id="{19B138AD-0AF4-49AE-9DF4-7D61F463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print(isinstance(enemy, Enemy))  # True</a:t>
            </a:r>
          </a:p>
        </p:txBody>
      </p:sp>
      <p:sp>
        <p:nvSpPr>
          <p:cNvPr id="5" name="print(isinstance(enemy, Actor))  # True">
            <a:extLst xmlns:a="http://schemas.openxmlformats.org/drawingml/2006/main">
              <a:ext uri="{FF2B5EF4-FFF2-40B4-BE49-F238E27FC236}">
                <a16:creationId xmlns:a16="http://schemas.microsoft.com/office/drawing/2014/main" id="{295BEE14-2428-49BA-9816-EC7C1E89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print(isinstance(enemy, Actor))  # True</a:t>
            </a:r>
          </a:p>
        </p:txBody>
      </p:sp>
      <p:sp>
        <p:nvSpPr>
          <p:cNvPr id="6" name="print(issubclass(Enemy, Actor))  # True">
            <a:extLst xmlns:a="http://schemas.openxmlformats.org/drawingml/2006/main">
              <a:ext uri="{FF2B5EF4-FFF2-40B4-BE49-F238E27FC236}">
                <a16:creationId xmlns:a16="http://schemas.microsoft.com/office/drawing/2014/main" id="{0B985774-87F5-4C07-A11F-6E527C3B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print(issubclass(Enemy, Actor))  # True</a:t>
            </a:r>
          </a:p>
        </p:txBody>
      </p:sp>
      <p:sp>
        <p:nvSpPr>
          <p:cNvPr id="7" name="print(type(enemy) is Actor)     # False">
            <a:extLst xmlns:a="http://schemas.openxmlformats.org/drawingml/2006/main">
              <a:ext uri="{FF2B5EF4-FFF2-40B4-BE49-F238E27FC236}">
                <a16:creationId xmlns:a16="http://schemas.microsoft.com/office/drawing/2014/main" id="{C68A554C-EF07-4974-9272-CE25A38E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print(type(enemy) is Actor)     # False</a:t>
            </a:r>
          </a:p>
        </p:txBody>
      </p:sp>
      <p:sp>
        <p:nvSpPr>
          <p:cNvPr id="8" name="isinstance 接受子類別實體；type(...) is ... 比較精確類別。">
            <a:extLst xmlns:a="http://schemas.openxmlformats.org/drawingml/2006/main">
              <a:ext uri="{FF2B5EF4-FFF2-40B4-BE49-F238E27FC236}">
                <a16:creationId xmlns:a16="http://schemas.microsoft.com/office/drawing/2014/main" id="{C4DE7B75-2A08-4DF3-9AA6-E3CF8B3B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isinstance 接受子類別實體；type(...) is ... 比較精確類別。</a:t>
            </a:r>
          </a:p>
        </p:txBody>
      </p:sp>
      <p:sp>
        <p:nvSpPr>
          <p:cNvPr id="9" name="這些檢查描述關係，不保證方法的行為正確。">
            <a:extLst xmlns:a="http://schemas.openxmlformats.org/drawingml/2006/main">
              <a:ext uri="{FF2B5EF4-FFF2-40B4-BE49-F238E27FC236}">
                <a16:creationId xmlns:a16="http://schemas.microsoft.com/office/drawing/2014/main" id="{3FEFD2F5-8483-42B6-8C74-4BD254AF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這些檢查描述關係，不保證方法的行為正確。</a:t>
            </a:r>
          </a:p>
        </p:txBody>
      </p:sp>
      <p:sp>
        <p:nvSpPr>
          <p:cNvPr id="10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1DC9EAD6-B722-4251-B9AB-572D01BA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1" name="11">
            <a:extLst xmlns:a="http://schemas.openxmlformats.org/drawingml/2006/main">
              <a:ext uri="{FF2B5EF4-FFF2-40B4-BE49-F238E27FC236}">
                <a16:creationId xmlns:a16="http://schemas.microsoft.com/office/drawing/2014/main" id="{5CEF15BF-1BDD-4C20-B645-7F4AF259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70766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屬性應該放在哪裡">
            <a:extLst xmlns:a="http://schemas.openxmlformats.org/drawingml/2006/main">
              <a:ext uri="{FF2B5EF4-FFF2-40B4-BE49-F238E27FC236}">
                <a16:creationId xmlns:a16="http://schemas.microsoft.com/office/drawing/2014/main" id="{E406A663-ABC1-4720-85E3-C5F6C4C7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屬性應該放在哪裡</a:t>
            </a:r>
          </a:p>
        </p:txBody>
      </p:sp>
      <p:sp>
        <p:nvSpPr>
          <p:cNvPr id="2" name="依角色共同責任決定">
            <a:extLst xmlns:a="http://schemas.openxmlformats.org/drawingml/2006/main">
              <a:ext uri="{FF2B5EF4-FFF2-40B4-BE49-F238E27FC236}">
                <a16:creationId xmlns:a16="http://schemas.microsoft.com/office/drawing/2014/main" id="{163C78AA-9D87-4B60-BC8C-DDDCBC0A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依角色共同責任決定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6D268DD-981D-4C3F-BD6D-700CA81F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所有 Actor 都需要位置與速度，因此放在 Actor 初始化。">
            <a:extLst xmlns:a="http://schemas.openxmlformats.org/drawingml/2006/main">
              <a:ext uri="{FF2B5EF4-FFF2-40B4-BE49-F238E27FC236}">
                <a16:creationId xmlns:a16="http://schemas.microsoft.com/office/drawing/2014/main" id="{7E38A6EA-C996-4387-A409-FDC3AE7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所有 Actor 都需要位置與速度，因此放在 Actor 初始化。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4213A91A-76F5-478A-8EF7-42161E79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只有 Bullet 需要 owner，因此保留在 Bullet。">
            <a:extLst xmlns:a="http://schemas.openxmlformats.org/drawingml/2006/main">
              <a:ext uri="{FF2B5EF4-FFF2-40B4-BE49-F238E27FC236}">
                <a16:creationId xmlns:a16="http://schemas.microsoft.com/office/drawing/2014/main" id="{136CCD22-5550-436C-BCD6-125E5BD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只有 Bullet 需要 owner，因此保留在 Bullet。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E428F21A-3109-42FD-AEC1-575E141A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可變清單若要每個實體獨立，應在 __init__ 中建立。">
            <a:extLst xmlns:a="http://schemas.openxmlformats.org/drawingml/2006/main">
              <a:ext uri="{FF2B5EF4-FFF2-40B4-BE49-F238E27FC236}">
                <a16:creationId xmlns:a16="http://schemas.microsoft.com/office/drawing/2014/main" id="{DDCE80FB-465C-4022-9C2D-94D09CC7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可變清單若要每個實體獨立，應在 __init__ 中建立。</a:t>
            </a:r>
          </a:p>
        </p:txBody>
      </p:sp>
      <p:sp>
        <p:nvSpPr>
          <p:cNvPr id="9" name="12">
            <a:extLst xmlns:a="http://schemas.openxmlformats.org/drawingml/2006/main">
              <a:ext uri="{FF2B5EF4-FFF2-40B4-BE49-F238E27FC236}">
                <a16:creationId xmlns:a16="http://schemas.microsoft.com/office/drawing/2014/main" id="{023DCBF1-8815-49BC-93CF-AA49EB14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50349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覆寫方法並延伸行為">
            <a:extLst xmlns:a="http://schemas.openxmlformats.org/drawingml/2006/main">
              <a:ext uri="{FF2B5EF4-FFF2-40B4-BE49-F238E27FC236}">
                <a16:creationId xmlns:a16="http://schemas.microsoft.com/office/drawing/2014/main" id="{D6F0FCDD-5561-42DA-8BD8-32A081AD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覆寫方法並延伸行為</a:t>
            </a:r>
          </a:p>
        </p:txBody>
      </p:sp>
      <p:sp>
        <p:nvSpPr>
          <p:cNvPr id="2" name="Bullet.update 原程式節錄">
            <a:extLst xmlns:a="http://schemas.openxmlformats.org/drawingml/2006/main">
              <a:ext uri="{FF2B5EF4-FFF2-40B4-BE49-F238E27FC236}">
                <a16:creationId xmlns:a16="http://schemas.microsoft.com/office/drawing/2014/main" id="{55BC0E88-BE25-41CA-9D57-FE23E367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Bullet.update 原程式節錄</a:t>
            </a:r>
          </a:p>
        </p:txBody>
      </p:sp>
      <p:sp>
        <p:nvSpPr>
          <p:cNvPr id="3" name="class Bullet(Actor):">
            <a:extLst xmlns:a="http://schemas.openxmlformats.org/drawingml/2006/main">
              <a:ext uri="{FF2B5EF4-FFF2-40B4-BE49-F238E27FC236}">
                <a16:creationId xmlns:a16="http://schemas.microsoft.com/office/drawing/2014/main" id="{6FA74D3E-69D1-46F0-8667-183AD34C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Bullet(Actor):</a:t>
            </a:r>
          </a:p>
        </p:txBody>
      </p:sp>
      <p:sp>
        <p:nvSpPr>
          <p:cNvPr id="4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0B7D412E-6D77-4B41-AA05-1454D371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5" name="    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13E93807-8547-4373-AAAF-D6676AC2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super().update(dt)</a:t>
            </a:r>
          </a:p>
        </p:txBody>
      </p:sp>
      <p:sp>
        <p:nvSpPr>
          <p:cNvPr id="6" name="        if self.rect.bottom &lt; PLAY_AREA.top:">
            <a:extLst xmlns:a="http://schemas.openxmlformats.org/drawingml/2006/main">
              <a:ext uri="{FF2B5EF4-FFF2-40B4-BE49-F238E27FC236}">
                <a16:creationId xmlns:a16="http://schemas.microsoft.com/office/drawing/2014/main" id="{88EA11B8-B05A-47AB-B385-1C8DEA62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self.rect.bottom &lt; PLAY_AREA.top:</a:t>
            </a:r>
          </a:p>
        </p:txBody>
      </p:sp>
      <p:sp>
        <p:nvSpPr>
          <p:cNvPr id="7" name="            self.kill()">
            <a:extLst xmlns:a="http://schemas.openxmlformats.org/drawingml/2006/main">
              <a:ext uri="{FF2B5EF4-FFF2-40B4-BE49-F238E27FC236}">
                <a16:creationId xmlns:a16="http://schemas.microsoft.com/office/drawing/2014/main" id="{9FD37CDF-5E8E-45E6-A757-2CBABEA5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self.kill()</a:t>
            </a:r>
          </a:p>
        </p:txBody>
      </p:sp>
      <p:sp>
        <p:nvSpPr>
          <p:cNvPr id="8" name="Bullet 定義同名方法，因此先執行 Bullet.update。">
            <a:extLst xmlns:a="http://schemas.openxmlformats.org/drawingml/2006/main">
              <a:ext uri="{FF2B5EF4-FFF2-40B4-BE49-F238E27FC236}">
                <a16:creationId xmlns:a16="http://schemas.microsoft.com/office/drawing/2014/main" id="{229AD3B6-88D8-40AF-90BC-E80971A2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Bullet 定義同名方法，因此先執行 Bullet.update。</a:t>
            </a:r>
          </a:p>
        </p:txBody>
      </p:sp>
      <p:sp>
        <p:nvSpPr>
          <p:cNvPr id="9" name="super() 完成移動，再檢查離開畫面。">
            <a:extLst xmlns:a="http://schemas.openxmlformats.org/drawingml/2006/main">
              <a:ext uri="{FF2B5EF4-FFF2-40B4-BE49-F238E27FC236}">
                <a16:creationId xmlns:a16="http://schemas.microsoft.com/office/drawing/2014/main" id="{8A500D6E-89F0-4488-A6D3-54AFA143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super() 完成移動，再檢查離開畫面。</a:t>
            </a:r>
          </a:p>
        </p:txBody>
      </p:sp>
      <p:sp>
        <p:nvSpPr>
          <p:cNvPr id="10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6F233E69-F8FE-4199-8027-1407C1F1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1" name="13">
            <a:extLst xmlns:a="http://schemas.openxmlformats.org/drawingml/2006/main">
              <a:ext uri="{FF2B5EF4-FFF2-40B4-BE49-F238E27FC236}">
                <a16:creationId xmlns:a16="http://schemas.microsoft.com/office/drawing/2014/main" id="{3FD0EA87-8793-4586-BF56-8BC867E2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188253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uper() 的意義">
            <a:extLst xmlns:a="http://schemas.openxmlformats.org/drawingml/2006/main">
              <a:ext uri="{FF2B5EF4-FFF2-40B4-BE49-F238E27FC236}">
                <a16:creationId xmlns:a16="http://schemas.microsoft.com/office/drawing/2014/main" id="{29B6A17A-ED5F-4CA9-B501-744C6619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super() 的意義</a:t>
            </a:r>
          </a:p>
        </p:txBody>
      </p:sp>
      <p:sp>
        <p:nvSpPr>
          <p:cNvPr id="2" name="依方法解析順序繼續查找">
            <a:extLst xmlns:a="http://schemas.openxmlformats.org/drawingml/2006/main">
              <a:ext uri="{FF2B5EF4-FFF2-40B4-BE49-F238E27FC236}">
                <a16:creationId xmlns:a16="http://schemas.microsoft.com/office/drawing/2014/main" id="{46092484-C29B-4526-811E-1F4EE18D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依方法解析順序繼續查找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96CC58C9-5E2A-4E69-911D-69BC881D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super() 產生代理，從目前類別之後沿 MRO 尋找方法。">
            <a:extLst xmlns:a="http://schemas.openxmlformats.org/drawingml/2006/main">
              <a:ext uri="{FF2B5EF4-FFF2-40B4-BE49-F238E27FC236}">
                <a16:creationId xmlns:a16="http://schemas.microsoft.com/office/drawing/2014/main" id="{42212DA1-BD14-4D43-8B11-134E1BB3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super() 產生代理，從目前類別之後沿 MRO 尋找方法。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3AFB1067-D151-43D4-86D4-006B28B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Bullet 的單一繼承例子會找到 Actor.update。">
            <a:extLst xmlns:a="http://schemas.openxmlformats.org/drawingml/2006/main">
              <a:ext uri="{FF2B5EF4-FFF2-40B4-BE49-F238E27FC236}">
                <a16:creationId xmlns:a16="http://schemas.microsoft.com/office/drawing/2014/main" id="{62CC660D-4858-4E1D-ABD0-599ABA65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Bullet 的單一繼承例子會找到 Actor.update。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111A3A4F-0C93-4F89-852B-E00B4278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self 仍是原本的 Bullet，沒有產生另一個 Actor 實體。">
            <a:extLst xmlns:a="http://schemas.openxmlformats.org/drawingml/2006/main">
              <a:ext uri="{FF2B5EF4-FFF2-40B4-BE49-F238E27FC236}">
                <a16:creationId xmlns:a16="http://schemas.microsoft.com/office/drawing/2014/main" id="{1CA876C7-8F9A-4113-888E-939B52B9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self 仍是原本的 Bullet，沒有產生另一個 Actor 實體。</a:t>
            </a:r>
          </a:p>
        </p:txBody>
      </p:sp>
      <p:sp>
        <p:nvSpPr>
          <p:cNvPr id="9" name="14">
            <a:extLst xmlns:a="http://schemas.openxmlformats.org/drawingml/2006/main">
              <a:ext uri="{FF2B5EF4-FFF2-40B4-BE49-F238E27FC236}">
                <a16:creationId xmlns:a16="http://schemas.microsoft.com/office/drawing/2014/main" id="{1FDFC1E7-2458-4576-BE28-C59D6EB2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562065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新增快速敵人">
            <a:extLst xmlns:a="http://schemas.openxmlformats.org/drawingml/2006/main">
              <a:ext uri="{FF2B5EF4-FFF2-40B4-BE49-F238E27FC236}">
                <a16:creationId xmlns:a16="http://schemas.microsoft.com/office/drawing/2014/main" id="{8BD01AF4-E61F-45CD-A5D0-A20CBA7D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新增快速敵人</a:t>
            </a:r>
          </a:p>
        </p:txBody>
      </p:sp>
      <p:sp>
        <p:nvSpPr>
          <p:cNvPr id="2" name="可直接搭配原 actors.py；只改預設參數">
            <a:extLst xmlns:a="http://schemas.openxmlformats.org/drawingml/2006/main">
              <a:ext uri="{FF2B5EF4-FFF2-40B4-BE49-F238E27FC236}">
                <a16:creationId xmlns:a16="http://schemas.microsoft.com/office/drawing/2014/main" id="{55090092-2051-4309-BB5A-FC83A568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可直接搭配原 actors.py；只改預設參數</a:t>
            </a:r>
          </a:p>
        </p:txBody>
      </p:sp>
      <p:sp>
        <p:nvSpPr>
          <p:cNvPr id="3" name="class FastEnemy(Enemy):">
            <a:extLst xmlns:a="http://schemas.openxmlformats.org/drawingml/2006/main">
              <a:ext uri="{FF2B5EF4-FFF2-40B4-BE49-F238E27FC236}">
                <a16:creationId xmlns:a16="http://schemas.microsoft.com/office/drawing/2014/main" id="{E4D5D444-1DFF-4768-897D-E24D5A59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FastEnemy(Enemy):</a:t>
            </a:r>
          </a:p>
        </p:txBody>
      </p:sp>
      <p:sp>
        <p:nvSpPr>
          <p:cNvPr id="4" name="    def __init__(self, name, position):">
            <a:extLst xmlns:a="http://schemas.openxmlformats.org/drawingml/2006/main">
              <a:ext uri="{FF2B5EF4-FFF2-40B4-BE49-F238E27FC236}">
                <a16:creationId xmlns:a16="http://schemas.microsoft.com/office/drawing/2014/main" id="{EDD617AE-6DCE-44CA-BE77-9283A421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position):</a:t>
            </a:r>
          </a:p>
        </p:txBody>
      </p:sp>
      <p:sp>
        <p:nvSpPr>
          <p:cNvPr id="5" name="        super().__init__(name, position, speed=160)">
            <a:extLst xmlns:a="http://schemas.openxmlformats.org/drawingml/2006/main">
              <a:ext uri="{FF2B5EF4-FFF2-40B4-BE49-F238E27FC236}">
                <a16:creationId xmlns:a16="http://schemas.microsoft.com/office/drawing/2014/main" id="{EBCD8B34-C6E4-4304-963E-7EBFBB79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super().__init__(name, position, speed=160)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BA416-CA9F-4E8F-BB9E-730848AF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fast = FastEnemy(&quot;F01&quot;, (200, 100))">
            <a:extLst xmlns:a="http://schemas.openxmlformats.org/drawingml/2006/main">
              <a:ext uri="{FF2B5EF4-FFF2-40B4-BE49-F238E27FC236}">
                <a16:creationId xmlns:a16="http://schemas.microsoft.com/office/drawing/2014/main" id="{928EB855-CC6D-414C-8863-A74E9991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fast = FastEnemy("F01", (200, 100))</a:t>
            </a:r>
          </a:p>
        </p:txBody>
      </p:sp>
      <p:sp>
        <p:nvSpPr>
          <p:cNvPr id="8" name="fast.update(0.25)">
            <a:extLst xmlns:a="http://schemas.openxmlformats.org/drawingml/2006/main">
              <a:ext uri="{FF2B5EF4-FFF2-40B4-BE49-F238E27FC236}">
                <a16:creationId xmlns:a16="http://schemas.microsoft.com/office/drawing/2014/main" id="{3AA11442-162B-4A4F-90CE-AFDE9E50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fast.update(0.25)</a:t>
            </a:r>
          </a:p>
        </p:txBody>
      </p:sp>
      <p:sp>
        <p:nvSpPr>
          <p:cNvPr id="9" name="print(fast.pos.y)  # 140.0">
            <a:extLst xmlns:a="http://schemas.openxmlformats.org/drawingml/2006/main">
              <a:ext uri="{FF2B5EF4-FFF2-40B4-BE49-F238E27FC236}">
                <a16:creationId xmlns:a16="http://schemas.microsoft.com/office/drawing/2014/main" id="{B3D13A31-924C-4482-94E0-B3B7FB99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print(fast.pos.y)  # 140.0</a:t>
            </a:r>
          </a:p>
        </p:txBody>
      </p:sp>
      <p:sp>
        <p:nvSpPr>
          <p:cNvPr id="10" name="FastEnemy 沿用 Enemy 的受傷處理與 Actor 的移動。">
            <a:extLst xmlns:a="http://schemas.openxmlformats.org/drawingml/2006/main">
              <a:ext uri="{FF2B5EF4-FFF2-40B4-BE49-F238E27FC236}">
                <a16:creationId xmlns:a16="http://schemas.microsoft.com/office/drawing/2014/main" id="{B6B1FEB6-6E08-4B3D-AD0D-04F2844B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FastEnemy 沿用 Enemy 的受傷處理與 Actor 的移動。</a:t>
            </a:r>
          </a:p>
        </p:txBody>
      </p:sp>
      <p:sp>
        <p:nvSpPr>
          <p:cNvPr id="11" name="如果只是速度不同，直接傳 speed=160 也足夠。">
            <a:extLst xmlns:a="http://schemas.openxmlformats.org/drawingml/2006/main">
              <a:ext uri="{FF2B5EF4-FFF2-40B4-BE49-F238E27FC236}">
                <a16:creationId xmlns:a16="http://schemas.microsoft.com/office/drawing/2014/main" id="{CC407252-9431-4413-918A-2E346E5E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如果只是速度不同，直接傳 speed=160 也足夠。</a:t>
            </a:r>
          </a:p>
        </p:txBody>
      </p:sp>
      <p:sp>
        <p:nvSpPr>
          <p:cNvPr id="12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840C2E9A-DF99-4339-BFE4-300D50A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3" name="15">
            <a:extLst xmlns:a="http://schemas.openxmlformats.org/drawingml/2006/main">
              <a:ext uri="{FF2B5EF4-FFF2-40B4-BE49-F238E27FC236}">
                <a16:creationId xmlns:a16="http://schemas.microsoft.com/office/drawing/2014/main" id="{CDB650BC-1D1E-48CA-A5C6-D503C10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199595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新增斜向敵人">
            <a:extLst xmlns:a="http://schemas.openxmlformats.org/drawingml/2006/main">
              <a:ext uri="{FF2B5EF4-FFF2-40B4-BE49-F238E27FC236}">
                <a16:creationId xmlns:a16="http://schemas.microsoft.com/office/drawing/2014/main" id="{7527A240-DB87-4B32-9306-5D3E34A2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新增斜向敵人</a:t>
            </a:r>
          </a:p>
        </p:txBody>
      </p:sp>
      <p:sp>
        <p:nvSpPr>
          <p:cNvPr id="2" name="覆寫 update，保留父類別的移動計算">
            <a:extLst xmlns:a="http://schemas.openxmlformats.org/drawingml/2006/main">
              <a:ext uri="{FF2B5EF4-FFF2-40B4-BE49-F238E27FC236}">
                <a16:creationId xmlns:a16="http://schemas.microsoft.com/office/drawing/2014/main" id="{9DE857AF-A863-4BBF-BD83-7C6678FD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覆寫 update，保留父類別的移動計算</a:t>
            </a:r>
          </a:p>
        </p:txBody>
      </p:sp>
      <p:sp>
        <p:nvSpPr>
          <p:cNvPr id="3" name="class DiagonalEnemy(Enemy):">
            <a:extLst xmlns:a="http://schemas.openxmlformats.org/drawingml/2006/main">
              <a:ext uri="{FF2B5EF4-FFF2-40B4-BE49-F238E27FC236}">
                <a16:creationId xmlns:a16="http://schemas.microsoft.com/office/drawing/2014/main" id="{5038DD32-2E44-4A6E-8803-17FB6CE5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DiagonalEnemy(Enemy):</a:t>
            </a:r>
          </a:p>
        </p:txBody>
      </p:sp>
      <p:sp>
        <p:nvSpPr>
          <p:cNvPr id="4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DFC3EA7C-43BC-43B8-95F5-1363136B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5" name="        self.velocity.x = 60">
            <a:extLst xmlns:a="http://schemas.openxmlformats.org/drawingml/2006/main">
              <a:ext uri="{FF2B5EF4-FFF2-40B4-BE49-F238E27FC236}">
                <a16:creationId xmlns:a16="http://schemas.microsoft.com/office/drawing/2014/main" id="{9C2AA2B4-6DC1-4790-8964-CC7F6EE7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self.velocity.x = 60</a:t>
            </a:r>
          </a:p>
        </p:txBody>
      </p:sp>
      <p:sp>
        <p:nvSpPr>
          <p:cNvPr id="6" name="    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6F677A84-29EC-4AE9-B7DB-31CC16F4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super().update(dt)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A4B09-E622-400C-A61C-63958AE8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diagonal = DiagonalEnemy(&quot;D01&quot;, (200, 100))">
            <a:extLst xmlns:a="http://schemas.openxmlformats.org/drawingml/2006/main">
              <a:ext uri="{FF2B5EF4-FFF2-40B4-BE49-F238E27FC236}">
                <a16:creationId xmlns:a16="http://schemas.microsoft.com/office/drawing/2014/main" id="{F4A04015-DC6E-4FA1-A121-1488DF33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diagonal = DiagonalEnemy("D01", (200, 100))</a:t>
            </a:r>
          </a:p>
        </p:txBody>
      </p:sp>
      <p:sp>
        <p:nvSpPr>
          <p:cNvPr id="9" name="diagonal.update(0.25)">
            <a:extLst xmlns:a="http://schemas.openxmlformats.org/drawingml/2006/main">
              <a:ext uri="{FF2B5EF4-FFF2-40B4-BE49-F238E27FC236}">
                <a16:creationId xmlns:a16="http://schemas.microsoft.com/office/drawing/2014/main" id="{6D5947DD-BF18-4AE7-8B5C-777CF7F7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diagonal.update(0.25)</a:t>
            </a:r>
          </a:p>
        </p:txBody>
      </p:sp>
      <p:sp>
        <p:nvSpPr>
          <p:cNvPr id="10" name="print(tuple(diagonal.pos))  # (215.0, 120.0)">
            <a:extLst xmlns:a="http://schemas.openxmlformats.org/drawingml/2006/main">
              <a:ext uri="{FF2B5EF4-FFF2-40B4-BE49-F238E27FC236}">
                <a16:creationId xmlns:a16="http://schemas.microsoft.com/office/drawing/2014/main" id="{EB983445-39CC-413C-A720-43FCEA8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print(tuple(diagonal.pos))  # (215.0, 120.0)</a:t>
            </a:r>
          </a:p>
        </p:txBody>
      </p:sp>
      <p:sp>
        <p:nvSpPr>
          <p:cNvPr id="11" name="先設定水平速度，再以 super() 移動一次。">
            <a:extLst xmlns:a="http://schemas.openxmlformats.org/drawingml/2006/main">
              <a:ext uri="{FF2B5EF4-FFF2-40B4-BE49-F238E27FC236}">
                <a16:creationId xmlns:a16="http://schemas.microsoft.com/office/drawing/2014/main" id="{C19FA412-D62B-48B5-A13E-6D4C1CF7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先設定水平速度，再以 super() 移動一次。</a:t>
            </a:r>
          </a:p>
        </p:txBody>
      </p:sp>
      <p:sp>
        <p:nvSpPr>
          <p:cNvPr id="12" name="呼叫鏈：DiagonalEnemy.update、Actor.update。">
            <a:extLst xmlns:a="http://schemas.openxmlformats.org/drawingml/2006/main">
              <a:ext uri="{FF2B5EF4-FFF2-40B4-BE49-F238E27FC236}">
                <a16:creationId xmlns:a16="http://schemas.microsoft.com/office/drawing/2014/main" id="{7EDBA8B8-A79F-4005-8BA5-8B4E2DA0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呼叫鏈：DiagonalEnemy.update、Actor.update。</a:t>
            </a:r>
          </a:p>
        </p:txBody>
      </p:sp>
      <p:sp>
        <p:nvSpPr>
          <p:cNvPr id="13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0D347AF7-0862-4491-9749-FBEDB291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8F95B86F-0A33-4E96-89BE-2BCA169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733703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單步移動的結果">
            <a:extLst xmlns:a="http://schemas.openxmlformats.org/drawingml/2006/main">
              <a:ext uri="{FF2B5EF4-FFF2-40B4-BE49-F238E27FC236}">
                <a16:creationId xmlns:a16="http://schemas.microsoft.com/office/drawing/2014/main" id="{5CF26DD8-68A4-4F53-955B-708A4452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單步移動的結果</a:t>
            </a:r>
          </a:p>
        </p:txBody>
      </p:sp>
      <p:sp>
        <p:nvSpPr>
          <p:cNvPr id="2" name="起點 (200, 100)，dt = 0.25 秒">
            <a:extLst xmlns:a="http://schemas.openxmlformats.org/drawingml/2006/main">
              <a:ext uri="{FF2B5EF4-FFF2-40B4-BE49-F238E27FC236}">
                <a16:creationId xmlns:a16="http://schemas.microsoft.com/office/drawing/2014/main" id="{C798E36C-7C88-4D4A-9564-88F62451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起點 (200, 100)，dt = 0.25 秒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05BDF-2C34-4758-AB35-287E02F471BA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333875"/>
                <a:gridCol w="4333875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velocity (x, y)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 (x, y)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(0, 80)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(200, 120)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FastEnemy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(0, 160)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(200, 140)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DiagonalEnemy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(60, 80)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(215, 120)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同樣呼叫 update(dt)，各物件依自己的速度移動。">
            <a:extLst xmlns:a="http://schemas.openxmlformats.org/drawingml/2006/main">
              <a:ext uri="{FF2B5EF4-FFF2-40B4-BE49-F238E27FC236}">
                <a16:creationId xmlns:a16="http://schemas.microsoft.com/office/drawing/2014/main" id="{BDB6B653-3B12-46FD-91D3-555C91E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同樣呼叫 update(dt)，各物件依自己的速度移動。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368AC702-E6BA-4C1F-AA99-A38C3DDE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870035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常見錯誤">
            <a:extLst xmlns:a="http://schemas.openxmlformats.org/drawingml/2006/main">
              <a:ext uri="{FF2B5EF4-FFF2-40B4-BE49-F238E27FC236}">
                <a16:creationId xmlns:a16="http://schemas.microsoft.com/office/drawing/2014/main" id="{54D843E1-F131-411D-B1DA-307D405A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常見錯誤</a:t>
            </a:r>
          </a:p>
        </p:txBody>
      </p:sp>
      <p:sp>
        <p:nvSpPr>
          <p:cNvPr id="2" name="檢查呼叫順序與方法契約">
            <a:extLst xmlns:a="http://schemas.openxmlformats.org/drawingml/2006/main">
              <a:ext uri="{FF2B5EF4-FFF2-40B4-BE49-F238E27FC236}">
                <a16:creationId xmlns:a16="http://schemas.microsoft.com/office/drawing/2014/main" id="{AC437BAD-2CB1-4E1D-BBF6-767EEB1B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檢查呼叫順序與方法契約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103B56BF-6F1F-41C8-8D7C-93FDF569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漏掉必要的 super().__init__，可能使 pos 或 rect 尚未建立。">
            <a:extLst xmlns:a="http://schemas.openxmlformats.org/drawingml/2006/main">
              <a:ext uri="{FF2B5EF4-FFF2-40B4-BE49-F238E27FC236}">
                <a16:creationId xmlns:a16="http://schemas.microsoft.com/office/drawing/2014/main" id="{2BC58A68-A74E-4015-83C9-021510EF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漏掉必要的 super().__init__，可能使 pos 或 rect 尚未建立。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52E739EF-C56E-4957-BCE9-4E688B96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自己移動後又呼叫 super().update，可能使物件移動兩次。">
            <a:extLst xmlns:a="http://schemas.openxmlformats.org/drawingml/2006/main">
              <a:ext uri="{FF2B5EF4-FFF2-40B4-BE49-F238E27FC236}">
                <a16:creationId xmlns:a16="http://schemas.microsoft.com/office/drawing/2014/main" id="{510C8C4A-F12F-45ED-9E48-C64EA56A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自己移動後又呼叫 super().update，可能使物件移動兩次。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9099F35F-22F5-43B8-AB59-A56237AC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把 update(self, dt) 改成 update(self)，既有呼叫會出現 TypeError。">
            <a:extLst xmlns:a="http://schemas.openxmlformats.org/drawingml/2006/main">
              <a:ext uri="{FF2B5EF4-FFF2-40B4-BE49-F238E27FC236}">
                <a16:creationId xmlns:a16="http://schemas.microsoft.com/office/drawing/2014/main" id="{FAC98512-9804-4529-BBE4-C5D2298A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把 update(self, dt) 改成 update(self)，既有呼叫會出現 TypeError。</a:t>
            </a:r>
          </a:p>
        </p:txBody>
      </p:sp>
      <p:sp>
        <p:nvSpPr>
          <p:cNvPr id="9" name="18">
            <a:extLst xmlns:a="http://schemas.openxmlformats.org/drawingml/2006/main">
              <a:ext uri="{FF2B5EF4-FFF2-40B4-BE49-F238E27FC236}">
                <a16:creationId xmlns:a16="http://schemas.microsoft.com/office/drawing/2014/main" id="{B001CFF5-5FE6-485B-AC0C-FBE1458E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387358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s-a 與 Has-a">
            <a:extLst xmlns:a="http://schemas.openxmlformats.org/drawingml/2006/main">
              <a:ext uri="{FF2B5EF4-FFF2-40B4-BE49-F238E27FC236}">
                <a16:creationId xmlns:a16="http://schemas.microsoft.com/office/drawing/2014/main" id="{513C3E9C-0005-4B0E-AAE0-1708F2B2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Is-a 與 Has-a</a:t>
            </a:r>
          </a:p>
        </p:txBody>
      </p:sp>
      <p:sp>
        <p:nvSpPr>
          <p:cNvPr id="2" name="繼承與參照關係各有用途">
            <a:extLst xmlns:a="http://schemas.openxmlformats.org/drawingml/2006/main">
              <a:ext uri="{FF2B5EF4-FFF2-40B4-BE49-F238E27FC236}">
                <a16:creationId xmlns:a16="http://schemas.microsoft.com/office/drawing/2014/main" id="{AE3D98D6-5476-4B96-8492-486BC4CA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繼承與參照關係各有用途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5AB47E23-E373-4C17-8557-761B3B04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Enemy is an Actor：需要遵守 Actor 的共同介面與行為。">
            <a:extLst xmlns:a="http://schemas.openxmlformats.org/drawingml/2006/main">
              <a:ext uri="{FF2B5EF4-FFF2-40B4-BE49-F238E27FC236}">
                <a16:creationId xmlns:a16="http://schemas.microsoft.com/office/drawing/2014/main" id="{F10718DE-A134-4DAD-B102-B93CBFCC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Enemy is an Actor：需要遵守 Actor 的共同介面與行為。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9454A239-C5AD-403B-90F9-60D3D3A3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Bullet has an owner：owner 參照 Player，Bullet 不繼承 Player。">
            <a:extLst xmlns:a="http://schemas.openxmlformats.org/drawingml/2006/main">
              <a:ext uri="{FF2B5EF4-FFF2-40B4-BE49-F238E27FC236}">
                <a16:creationId xmlns:a16="http://schemas.microsoft.com/office/drawing/2014/main" id="{A2A45189-980D-40C1-900C-11B46A2A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Bullet has an owner：owner 參照 Player，Bullet 不繼承 Player。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EF7727D4-26BE-4E24-8908-0B6DDA82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只為取得另一類別的便利方法而繼承，容易建立不合理關係。">
            <a:extLst xmlns:a="http://schemas.openxmlformats.org/drawingml/2006/main">
              <a:ext uri="{FF2B5EF4-FFF2-40B4-BE49-F238E27FC236}">
                <a16:creationId xmlns:a16="http://schemas.microsoft.com/office/drawing/2014/main" id="{B3CC050C-559E-4C12-8A44-AEF9E29D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只為取得另一類別的便利方法而繼承，容易建立不合理關係。</a:t>
            </a:r>
          </a:p>
        </p:txBody>
      </p:sp>
      <p:sp>
        <p:nvSpPr>
          <p:cNvPr id="9" name="19">
            <a:extLst xmlns:a="http://schemas.openxmlformats.org/drawingml/2006/main">
              <a:ext uri="{FF2B5EF4-FFF2-40B4-BE49-F238E27FC236}">
                <a16:creationId xmlns:a16="http://schemas.microsoft.com/office/drawing/2014/main" id="{CEC611A9-ADD5-48E9-A002-AD8F509E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771895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子類別的可替換性">
            <a:extLst xmlns:a="http://schemas.openxmlformats.org/drawingml/2006/main">
              <a:ext uri="{FF2B5EF4-FFF2-40B4-BE49-F238E27FC236}">
                <a16:creationId xmlns:a16="http://schemas.microsoft.com/office/drawing/2014/main" id="{2FCB1C06-3139-496B-8842-BA098D9E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子類別的可替換性</a:t>
            </a:r>
          </a:p>
        </p:txBody>
      </p:sp>
      <p:sp>
        <p:nvSpPr>
          <p:cNvPr id="2" name="呼叫端依賴共同的 update(dt) 約定">
            <a:extLst xmlns:a="http://schemas.openxmlformats.org/drawingml/2006/main">
              <a:ext uri="{FF2B5EF4-FFF2-40B4-BE49-F238E27FC236}">
                <a16:creationId xmlns:a16="http://schemas.microsoft.com/office/drawing/2014/main" id="{732F6018-F4E4-433A-A5A7-591E1A23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呼叫端依賴共同的 update(dt) 約定</a:t>
            </a:r>
          </a:p>
        </p:txBody>
      </p:sp>
      <p:sp>
        <p:nvSpPr>
          <p:cNvPr id="3" name="enemies = [">
            <a:extLst xmlns:a="http://schemas.openxmlformats.org/drawingml/2006/main">
              <a:ext uri="{FF2B5EF4-FFF2-40B4-BE49-F238E27FC236}">
                <a16:creationId xmlns:a16="http://schemas.microsoft.com/office/drawing/2014/main" id="{F9B656A5-3B4D-4682-B087-1CBDE370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enemies = [</a:t>
            </a:r>
          </a:p>
        </p:txBody>
      </p:sp>
      <p:sp>
        <p:nvSpPr>
          <p:cNvPr id="4" name="    Enemy(&quot;E01&quot;, (200, 100)),">
            <a:extLst xmlns:a="http://schemas.openxmlformats.org/drawingml/2006/main">
              <a:ext uri="{FF2B5EF4-FFF2-40B4-BE49-F238E27FC236}">
                <a16:creationId xmlns:a16="http://schemas.microsoft.com/office/drawing/2014/main" id="{F3580015-989F-4EE3-A0F1-5100701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Enemy("E01", (200, 100)),</a:t>
            </a:r>
          </a:p>
        </p:txBody>
      </p:sp>
      <p:sp>
        <p:nvSpPr>
          <p:cNvPr id="5" name="    FastEnemy(&quot;F01&quot;, (200, 100)),">
            <a:extLst xmlns:a="http://schemas.openxmlformats.org/drawingml/2006/main">
              <a:ext uri="{FF2B5EF4-FFF2-40B4-BE49-F238E27FC236}">
                <a16:creationId xmlns:a16="http://schemas.microsoft.com/office/drawing/2014/main" id="{AB3A62A3-9BA9-4EB4-81CB-A58FB22E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FastEnemy("F01", (200, 100)),</a:t>
            </a:r>
          </a:p>
        </p:txBody>
      </p:sp>
      <p:sp>
        <p:nvSpPr>
          <p:cNvPr id="6" name="    DiagonalEnemy(&quot;D01&quot;, (200, 100)),">
            <a:extLst xmlns:a="http://schemas.openxmlformats.org/drawingml/2006/main">
              <a:ext uri="{FF2B5EF4-FFF2-40B4-BE49-F238E27FC236}">
                <a16:creationId xmlns:a16="http://schemas.microsoft.com/office/drawing/2014/main" id="{BF6BF8B7-0430-4E2D-B28B-D9829382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DiagonalEnemy("D01", (200, 100)),</a:t>
            </a:r>
          </a:p>
        </p:txBody>
      </p:sp>
      <p:sp>
        <p:nvSpPr>
          <p:cNvPr id="7" name="]">
            <a:extLst xmlns:a="http://schemas.openxmlformats.org/drawingml/2006/main">
              <a:ext uri="{FF2B5EF4-FFF2-40B4-BE49-F238E27FC236}">
                <a16:creationId xmlns:a16="http://schemas.microsoft.com/office/drawing/2014/main" id="{730379A3-40F3-4EC5-9AE5-E4EB25E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8" name="for enemy in enemies:">
            <a:extLst xmlns:a="http://schemas.openxmlformats.org/drawingml/2006/main">
              <a:ext uri="{FF2B5EF4-FFF2-40B4-BE49-F238E27FC236}">
                <a16:creationId xmlns:a16="http://schemas.microsoft.com/office/drawing/2014/main" id="{AD404AE3-9444-4D33-9981-8946EB65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for enemy in enemies:</a:t>
            </a:r>
          </a:p>
        </p:txBody>
      </p:sp>
      <p:sp>
        <p:nvSpPr>
          <p:cNvPr id="9" name="    enemy.update(0.25)">
            <a:extLst xmlns:a="http://schemas.openxmlformats.org/drawingml/2006/main">
              <a:ext uri="{FF2B5EF4-FFF2-40B4-BE49-F238E27FC236}">
                <a16:creationId xmlns:a16="http://schemas.microsoft.com/office/drawing/2014/main" id="{6307C3C7-F0AA-4471-A7C6-61FB4448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enemy.update(0.25)</a:t>
            </a:r>
          </a:p>
        </p:txBody>
      </p:sp>
      <p:sp>
        <p:nvSpPr>
          <p:cNvPr id="10" name="各子類別保留秒數參數、位置更新與 rect 同步。">
            <a:extLst xmlns:a="http://schemas.openxmlformats.org/drawingml/2006/main">
              <a:ext uri="{FF2B5EF4-FFF2-40B4-BE49-F238E27FC236}">
                <a16:creationId xmlns:a16="http://schemas.microsoft.com/office/drawing/2014/main" id="{7D56938F-9243-4424-B75D-3C9DA176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各子類別保留秒數參數、位置更新與 rect 同步。</a:t>
            </a:r>
          </a:p>
        </p:txBody>
      </p:sp>
      <p:sp>
        <p:nvSpPr>
          <p:cNvPr id="11" name="相同方法名稱還不夠，行為也需要符合呼叫端的期待。">
            <a:extLst xmlns:a="http://schemas.openxmlformats.org/drawingml/2006/main">
              <a:ext uri="{FF2B5EF4-FFF2-40B4-BE49-F238E27FC236}">
                <a16:creationId xmlns:a16="http://schemas.microsoft.com/office/drawing/2014/main" id="{31DF427D-5E72-4B7B-BEDA-2B52F2F9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相同方法名稱還不夠，行為也需要符合呼叫端的期待。</a:t>
            </a:r>
          </a:p>
        </p:txBody>
      </p:sp>
      <p:sp>
        <p:nvSpPr>
          <p:cNvPr id="12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EEA0F851-B344-4030-A054-8E2BF4DD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3" name="20">
            <a:extLst xmlns:a="http://schemas.openxmlformats.org/drawingml/2006/main">
              <a:ext uri="{FF2B5EF4-FFF2-40B4-BE49-F238E27FC236}">
                <a16:creationId xmlns:a16="http://schemas.microsoft.com/office/drawing/2014/main" id="{AF0DD6B2-79ED-4B02-B3E0-89A3D5BB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241468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多重繼承與 MRO">
            <a:extLst xmlns:a="http://schemas.openxmlformats.org/drawingml/2006/main">
              <a:ext uri="{FF2B5EF4-FFF2-40B4-BE49-F238E27FC236}">
                <a16:creationId xmlns:a16="http://schemas.microsoft.com/office/drawing/2014/main" id="{BAB52001-004F-4D76-9705-94C8D44A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多重繼承與 MRO</a:t>
            </a:r>
          </a:p>
        </p:txBody>
      </p:sp>
      <p:sp>
        <p:nvSpPr>
          <p:cNvPr id="2" name="獨立小範例；不修改遊戲階層">
            <a:extLst xmlns:a="http://schemas.openxmlformats.org/drawingml/2006/main">
              <a:ext uri="{FF2B5EF4-FFF2-40B4-BE49-F238E27FC236}">
                <a16:creationId xmlns:a16="http://schemas.microsoft.com/office/drawing/2014/main" id="{3AA91174-DC3D-41AD-9964-C9495512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獨立小範例；不修改遊戲階層</a:t>
            </a:r>
          </a:p>
        </p:txBody>
      </p:sp>
      <p:sp>
        <p:nvSpPr>
          <p:cNvPr id="3" name="class A: pass">
            <a:extLst xmlns:a="http://schemas.openxmlformats.org/drawingml/2006/main">
              <a:ext uri="{FF2B5EF4-FFF2-40B4-BE49-F238E27FC236}">
                <a16:creationId xmlns:a16="http://schemas.microsoft.com/office/drawing/2014/main" id="{BBB8F2E7-7B16-4463-87A0-B6E9E07E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A: pass</a:t>
            </a:r>
          </a:p>
        </p:txBody>
      </p:sp>
      <p:sp>
        <p:nvSpPr>
          <p:cNvPr id="4" name="class B(A): pass">
            <a:extLst xmlns:a="http://schemas.openxmlformats.org/drawingml/2006/main">
              <a:ext uri="{FF2B5EF4-FFF2-40B4-BE49-F238E27FC236}">
                <a16:creationId xmlns:a16="http://schemas.microsoft.com/office/drawing/2014/main" id="{CE6CD9DF-A2B4-49A6-8793-B65DA163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B(A): pass</a:t>
            </a:r>
          </a:p>
        </p:txBody>
      </p:sp>
      <p:sp>
        <p:nvSpPr>
          <p:cNvPr id="5" name="class C(A): pass">
            <a:extLst xmlns:a="http://schemas.openxmlformats.org/drawingml/2006/main">
              <a:ext uri="{FF2B5EF4-FFF2-40B4-BE49-F238E27FC236}">
                <a16:creationId xmlns:a16="http://schemas.microsoft.com/office/drawing/2014/main" id="{0E7C3DF4-4F54-40B4-888B-1D43A2E2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C(A): pass</a:t>
            </a:r>
          </a:p>
        </p:txBody>
      </p:sp>
      <p:sp>
        <p:nvSpPr>
          <p:cNvPr id="6" name="class D(B, C): pass">
            <a:extLst xmlns:a="http://schemas.openxmlformats.org/drawingml/2006/main">
              <a:ext uri="{FF2B5EF4-FFF2-40B4-BE49-F238E27FC236}">
                <a16:creationId xmlns:a16="http://schemas.microsoft.com/office/drawing/2014/main" id="{D5231BC8-680B-457E-8B55-06779016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D(B, C):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54D48-54D1-49D0-8D3A-47B1089A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print([cls.__name__ for cls in D.__mro__])">
            <a:extLst xmlns:a="http://schemas.openxmlformats.org/drawingml/2006/main">
              <a:ext uri="{FF2B5EF4-FFF2-40B4-BE49-F238E27FC236}">
                <a16:creationId xmlns:a16="http://schemas.microsoft.com/office/drawing/2014/main" id="{3B3854AD-3D89-494B-8D1E-C57DC8BA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print([cls.__name__ for cls in D.__mro__])</a:t>
            </a:r>
          </a:p>
        </p:txBody>
      </p:sp>
      <p:sp>
        <p:nvSpPr>
          <p:cNvPr id="9" name="# [&quot;D&quot;, &quot;B&quot;, &quot;C&quot;, &quot;A&quot;, &quot;object&quot;]">
            <a:extLst xmlns:a="http://schemas.openxmlformats.org/drawingml/2006/main">
              <a:ext uri="{FF2B5EF4-FFF2-40B4-BE49-F238E27FC236}">
                <a16:creationId xmlns:a16="http://schemas.microsoft.com/office/drawing/2014/main" id="{111BDDA3-EB71-472F-B24D-4725EEC3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["D", "B", "C", "A", "object"]</a:t>
            </a:r>
          </a:p>
        </p:txBody>
      </p:sp>
      <p:sp>
        <p:nvSpPr>
          <p:cNvPr id="10" name="MRO 是方法解析順序；Python 使用 C3 線性化。">
            <a:extLst xmlns:a="http://schemas.openxmlformats.org/drawingml/2006/main">
              <a:ext uri="{FF2B5EF4-FFF2-40B4-BE49-F238E27FC236}">
                <a16:creationId xmlns:a16="http://schemas.microsoft.com/office/drawing/2014/main" id="{A921ED83-181B-464D-8636-0643BB8F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MRO 是方法解析順序；Python 使用 C3 線性化。</a:t>
            </a:r>
          </a:p>
        </p:txBody>
      </p:sp>
      <p:sp>
        <p:nvSpPr>
          <p:cNvPr id="11" name="D 的順序是 D、B、C、A、object。">
            <a:extLst xmlns:a="http://schemas.openxmlformats.org/drawingml/2006/main">
              <a:ext uri="{FF2B5EF4-FFF2-40B4-BE49-F238E27FC236}">
                <a16:creationId xmlns:a16="http://schemas.microsoft.com/office/drawing/2014/main" id="{5ECF5B05-AA16-444D-9E13-0E476D7C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D 的順序是 D、B、C、A、object。</a:t>
            </a:r>
          </a:p>
        </p:txBody>
      </p:sp>
      <p:sp>
        <p:nvSpPr>
          <p:cNvPr id="12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4B737BC1-79A4-46BF-91E5-882DF3E9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3" name="21">
            <a:extLst xmlns:a="http://schemas.openxmlformats.org/drawingml/2006/main">
              <a:ext uri="{FF2B5EF4-FFF2-40B4-BE49-F238E27FC236}">
                <a16:creationId xmlns:a16="http://schemas.microsoft.com/office/drawing/2014/main" id="{DAB8910E-1643-460B-9E81-F9919036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26953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合作式 super() 呼叫">
            <a:extLst xmlns:a="http://schemas.openxmlformats.org/drawingml/2006/main">
              <a:ext uri="{FF2B5EF4-FFF2-40B4-BE49-F238E27FC236}">
                <a16:creationId xmlns:a16="http://schemas.microsoft.com/office/drawing/2014/main" id="{47B82AF9-947D-4BC9-A097-DED3D5F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合作式 super() 呼叫</a:t>
            </a:r>
          </a:p>
        </p:txBody>
      </p:sp>
      <p:sp>
        <p:nvSpPr>
          <p:cNvPr id="2" name="沿用上一頁的 D(B, C)，重新定義 A、B、C 後重建 D">
            <a:extLst xmlns:a="http://schemas.openxmlformats.org/drawingml/2006/main">
              <a:ext uri="{FF2B5EF4-FFF2-40B4-BE49-F238E27FC236}">
                <a16:creationId xmlns:a16="http://schemas.microsoft.com/office/drawing/2014/main" id="{0B061F7B-21BA-458F-B1C1-F1B9A682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沿用上一頁的 D(B, C)，重新定義 A、B、C 後重建 D</a:t>
            </a:r>
          </a:p>
        </p:txBody>
      </p:sp>
      <p:sp>
        <p:nvSpPr>
          <p:cNvPr id="3" name="class A:">
            <a:extLst xmlns:a="http://schemas.openxmlformats.org/drawingml/2006/main">
              <a:ext uri="{FF2B5EF4-FFF2-40B4-BE49-F238E27FC236}">
                <a16:creationId xmlns:a16="http://schemas.microsoft.com/office/drawing/2014/main" id="{2C82B9FB-1872-4B82-B39B-DDBDC638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A:</a:t>
            </a:r>
          </a:p>
        </p:txBody>
      </p:sp>
      <p:sp>
        <p:nvSpPr>
          <p:cNvPr id="4" name="    def act(self): print(&quot;A&quot;)">
            <a:extLst xmlns:a="http://schemas.openxmlformats.org/drawingml/2006/main">
              <a:ext uri="{FF2B5EF4-FFF2-40B4-BE49-F238E27FC236}">
                <a16:creationId xmlns:a16="http://schemas.microsoft.com/office/drawing/2014/main" id="{D70CD025-A558-4077-9BE6-A550045C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8838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act(self): print("A")</a:t>
            </a:r>
          </a:p>
        </p:txBody>
      </p:sp>
      <p:sp>
        <p:nvSpPr>
          <p:cNvPr id="5" name="class B(A):">
            <a:extLst xmlns:a="http://schemas.openxmlformats.org/drawingml/2006/main">
              <a:ext uri="{FF2B5EF4-FFF2-40B4-BE49-F238E27FC236}">
                <a16:creationId xmlns:a16="http://schemas.microsoft.com/office/drawing/2014/main" id="{0BAE487F-1102-4313-A6E9-C13E8379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B(A):</a:t>
            </a:r>
          </a:p>
        </p:txBody>
      </p:sp>
      <p:sp>
        <p:nvSpPr>
          <p:cNvPr id="6" name="    def act(self):">
            <a:extLst xmlns:a="http://schemas.openxmlformats.org/drawingml/2006/main">
              <a:ext uri="{FF2B5EF4-FFF2-40B4-BE49-F238E27FC236}">
                <a16:creationId xmlns:a16="http://schemas.microsoft.com/office/drawing/2014/main" id="{0D038DA0-2FEE-4644-911D-DA525B98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9863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act(self):</a:t>
            </a:r>
          </a:p>
        </p:txBody>
      </p:sp>
      <p:sp>
        <p:nvSpPr>
          <p:cNvPr id="7" name="        print(&quot;B&quot;)">
            <a:extLst xmlns:a="http://schemas.openxmlformats.org/drawingml/2006/main">
              <a:ext uri="{FF2B5EF4-FFF2-40B4-BE49-F238E27FC236}">
                <a16:creationId xmlns:a16="http://schemas.microsoft.com/office/drawing/2014/main" id="{38372ECB-BCBA-4C2E-9715-413E49FB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print("B")</a:t>
            </a:r>
          </a:p>
        </p:txBody>
      </p:sp>
      <p:sp>
        <p:nvSpPr>
          <p:cNvPr id="8" name="        super().act()">
            <a:extLst xmlns:a="http://schemas.openxmlformats.org/drawingml/2006/main">
              <a:ext uri="{FF2B5EF4-FFF2-40B4-BE49-F238E27FC236}">
                <a16:creationId xmlns:a16="http://schemas.microsoft.com/office/drawing/2014/main" id="{180BE66E-3C7C-4FE2-99D1-5CDC1882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0888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super().act()</a:t>
            </a:r>
          </a:p>
        </p:txBody>
      </p:sp>
      <p:sp>
        <p:nvSpPr>
          <p:cNvPr id="9" name="class C(A):">
            <a:extLst xmlns:a="http://schemas.openxmlformats.org/drawingml/2006/main">
              <a:ext uri="{FF2B5EF4-FFF2-40B4-BE49-F238E27FC236}">
                <a16:creationId xmlns:a16="http://schemas.microsoft.com/office/drawing/2014/main" id="{E282489C-2F2D-4FFB-91EF-505BC2C8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C(A):</a:t>
            </a:r>
          </a:p>
        </p:txBody>
      </p:sp>
      <p:sp>
        <p:nvSpPr>
          <p:cNvPr id="10" name="    def act(self):">
            <a:extLst xmlns:a="http://schemas.openxmlformats.org/drawingml/2006/main">
              <a:ext uri="{FF2B5EF4-FFF2-40B4-BE49-F238E27FC236}">
                <a16:creationId xmlns:a16="http://schemas.microsoft.com/office/drawing/2014/main" id="{A62DB437-4627-4205-A3DE-EDA80A18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1913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act(self):</a:t>
            </a:r>
          </a:p>
        </p:txBody>
      </p:sp>
      <p:sp>
        <p:nvSpPr>
          <p:cNvPr id="11" name="        print(&quot;C&quot;)">
            <a:extLst xmlns:a="http://schemas.openxmlformats.org/drawingml/2006/main">
              <a:ext uri="{FF2B5EF4-FFF2-40B4-BE49-F238E27FC236}">
                <a16:creationId xmlns:a16="http://schemas.microsoft.com/office/drawing/2014/main" id="{D396C6C6-9FAC-4972-8ED8-35B595E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print("C")</a:t>
            </a:r>
          </a:p>
        </p:txBody>
      </p:sp>
      <p:sp>
        <p:nvSpPr>
          <p:cNvPr id="12" name="        super().act()">
            <a:extLst xmlns:a="http://schemas.openxmlformats.org/drawingml/2006/main">
              <a:ext uri="{FF2B5EF4-FFF2-40B4-BE49-F238E27FC236}">
                <a16:creationId xmlns:a16="http://schemas.microsoft.com/office/drawing/2014/main" id="{CFA60A9E-E75F-4D86-B864-B1D4B124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2938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super().act()</a:t>
            </a:r>
          </a:p>
        </p:txBody>
      </p:sp>
      <p:sp>
        <p:nvSpPr>
          <p:cNvPr id="13" name="class D(B, C): pass">
            <a:extLst xmlns:a="http://schemas.openxmlformats.org/drawingml/2006/main">
              <a:ext uri="{FF2B5EF4-FFF2-40B4-BE49-F238E27FC236}">
                <a16:creationId xmlns:a16="http://schemas.microsoft.com/office/drawing/2014/main" id="{2737CA86-D4F6-41B0-8C31-9FB5971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D(B, C): pass</a:t>
            </a:r>
          </a:p>
        </p:txBody>
      </p:sp>
      <p:sp>
        <p:nvSpPr>
          <p:cNvPr id="14" name="D().act()">
            <a:extLst xmlns:a="http://schemas.openxmlformats.org/drawingml/2006/main">
              <a:ext uri="{FF2B5EF4-FFF2-40B4-BE49-F238E27FC236}">
                <a16:creationId xmlns:a16="http://schemas.microsoft.com/office/drawing/2014/main" id="{1B435F0D-4D99-44B6-A6B3-C3853F39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33963"/>
            <a:ext cx="109537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D().act()</a:t>
            </a:r>
          </a:p>
        </p:txBody>
      </p:sp>
      <p:sp>
        <p:nvSpPr>
          <p:cNvPr id="15" name="D().act() 輸出 B、C、A；B 的下一站是 C。">
            <a:extLst xmlns:a="http://schemas.openxmlformats.org/drawingml/2006/main">
              <a:ext uri="{FF2B5EF4-FFF2-40B4-BE49-F238E27FC236}">
                <a16:creationId xmlns:a16="http://schemas.microsoft.com/office/drawing/2014/main" id="{0C8842F9-BFA1-4D0B-84EA-13107684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D().act() 輸出 B、C、A；B 的下一站是 C。</a:t>
            </a:r>
          </a:p>
        </p:txBody>
      </p:sp>
      <p:sp>
        <p:nvSpPr>
          <p:cNvPr id="16" name="合作方法需要相容參數，並一致使用 super()。">
            <a:extLst xmlns:a="http://schemas.openxmlformats.org/drawingml/2006/main">
              <a:ext uri="{FF2B5EF4-FFF2-40B4-BE49-F238E27FC236}">
                <a16:creationId xmlns:a16="http://schemas.microsoft.com/office/drawing/2014/main" id="{D03C4AA6-82D1-4A6F-8C50-3FD28525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合作方法需要相容參數，並一致使用 super()。</a:t>
            </a:r>
          </a:p>
        </p:txBody>
      </p:sp>
      <p:sp>
        <p:nvSpPr>
          <p:cNvPr id="17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052D9709-691B-4F2A-8F5F-4DAC6950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18" name="22">
            <a:extLst xmlns:a="http://schemas.openxmlformats.org/drawingml/2006/main">
              <a:ext uri="{FF2B5EF4-FFF2-40B4-BE49-F238E27FC236}">
                <a16:creationId xmlns:a16="http://schemas.microsoft.com/office/drawing/2014/main" id="{2CC0B7BA-A771-4141-94EC-8930121F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028241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範例下載與執行">
            <a:extLst xmlns:a="http://schemas.openxmlformats.org/drawingml/2006/main">
              <a:ext uri="{FF2B5EF4-FFF2-40B4-BE49-F238E27FC236}">
                <a16:creationId xmlns:a16="http://schemas.microsoft.com/office/drawing/2014/main" id="{1E7D8602-95AA-438C-8685-382EB5AE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範例下載與執行</a:t>
            </a:r>
          </a:p>
        </p:txBody>
      </p:sp>
      <p:sp>
        <p:nvSpPr>
          <p:cNvPr id="2" name="Python 3.12；解壓縮後在資料夾開啟終端機">
            <a:extLst xmlns:a="http://schemas.openxmlformats.org/drawingml/2006/main">
              <a:ext uri="{FF2B5EF4-FFF2-40B4-BE49-F238E27FC236}">
                <a16:creationId xmlns:a16="http://schemas.microsoft.com/office/drawing/2014/main" id="{689C9D4B-017F-44A8-936E-E5D8B0E7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Python 3.12；解壓縮後在資料夾開啟終端機</a:t>
            </a:r>
          </a:p>
        </p:txBody>
      </p:sp>
      <p:sp>
        <p:nvSpPr>
          <p:cNvPr id="3" name="python -m pip install pygame==2.6.1">
            <a:extLst xmlns:a="http://schemas.openxmlformats.org/drawingml/2006/main">
              <a:ext uri="{FF2B5EF4-FFF2-40B4-BE49-F238E27FC236}">
                <a16:creationId xmlns:a16="http://schemas.microsoft.com/office/drawing/2014/main" id="{DB8FA23D-02A5-432C-891A-39F4BBD1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pip install pygame==2.6.1</a:t>
            </a:r>
          </a:p>
        </p:txBody>
      </p:sp>
      <p:sp>
        <p:nvSpPr>
          <p:cNvPr id="4" name="python week7_demo.py">
            <a:extLst xmlns:a="http://schemas.openxmlformats.org/drawingml/2006/main">
              <a:ext uri="{FF2B5EF4-FFF2-40B4-BE49-F238E27FC236}">
                <a16:creationId xmlns:a16="http://schemas.microsoft.com/office/drawing/2014/main" id="{B0E054A2-4123-4B19-A31E-5FFBB6C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week7_demo.py</a:t>
            </a:r>
          </a:p>
        </p:txBody>
      </p:sp>
      <p:sp>
        <p:nvSpPr>
          <p:cNvPr id="5" name="week7_demo.py 印出位置、繼承判斷與 MRO，並驗證結果。">
            <a:extLst xmlns:a="http://schemas.openxmlformats.org/drawingml/2006/main">
              <a:ext uri="{FF2B5EF4-FFF2-40B4-BE49-F238E27FC236}">
                <a16:creationId xmlns:a16="http://schemas.microsoft.com/office/drawing/2014/main" id="{D99BAD8B-B57D-4D5F-8B2F-72611D60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week7_demo.py 印出位置、繼承判斷與 MRO，並驗證結果。</a:t>
            </a:r>
          </a:p>
        </p:txBody>
      </p:sp>
      <p:sp>
        <p:nvSpPr>
          <p:cNvPr id="6" name="原版遊戲與物件標籤仍可從課程的射擊遊戲頁開啟。">
            <a:extLst xmlns:a="http://schemas.openxmlformats.org/drawingml/2006/main">
              <a:ext uri="{FF2B5EF4-FFF2-40B4-BE49-F238E27FC236}">
                <a16:creationId xmlns:a16="http://schemas.microsoft.com/office/drawing/2014/main" id="{0255276B-8E0F-4994-B573-B8F41D19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rPr>
              <a:t>原版遊戲與物件標籤仍可從課程的射擊遊戲頁開啟。</a:t>
            </a:r>
          </a:p>
        </p:txBody>
      </p:sp>
      <p:sp>
        <p:nvSpPr>
          <p:cNvPr id="7" name="下載範例 ↗">
            <a:extLst xmlns:a="http://schemas.openxmlformats.org/drawingml/2006/main">
              <a:ext uri="{FF2B5EF4-FFF2-40B4-BE49-F238E27FC236}">
                <a16:creationId xmlns:a16="http://schemas.microsoft.com/office/drawing/2014/main" id="{A5AA0134-5D0E-462E-BF12-B0049211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68EDBE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63fbee6b45a941fc"/>
              </a:rPr>
              <a:t>下載範例 ↗</a:t>
            </a:r>
          </a:p>
        </p:txBody>
      </p:sp>
      <p:sp>
        <p:nvSpPr>
          <p:cNvPr id="8" name="actors.py / week7_demo.py">
            <a:extLst xmlns:a="http://schemas.openxmlformats.org/drawingml/2006/main">
              <a:ext uri="{FF2B5EF4-FFF2-40B4-BE49-F238E27FC236}">
                <a16:creationId xmlns:a16="http://schemas.microsoft.com/office/drawing/2014/main" id="{FAF2047B-AEBC-4FC1-BC59-8DA7BF5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week7_demo.py</a:t>
            </a:r>
          </a:p>
        </p:txBody>
      </p:sp>
      <p:sp>
        <p:nvSpPr>
          <p:cNvPr id="9" name="23">
            <a:extLst xmlns:a="http://schemas.openxmlformats.org/drawingml/2006/main">
              <a:ext uri="{FF2B5EF4-FFF2-40B4-BE49-F238E27FC236}">
                <a16:creationId xmlns:a16="http://schemas.microsoft.com/office/drawing/2014/main" id="{3267C53C-7231-4830-B5F3-65B04C9C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DF4F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814893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練習與第 8 週銜接">
            <a:extLst xmlns:a="http://schemas.openxmlformats.org/drawingml/2006/main">
              <a:ext uri="{FF2B5EF4-FFF2-40B4-BE49-F238E27FC236}">
                <a16:creationId xmlns:a16="http://schemas.microsoft.com/office/drawing/2014/main" id="{DC636FB6-FC94-43E3-8609-0F2049A4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練習與第 8 週銜接</a:t>
            </a:r>
          </a:p>
        </p:txBody>
      </p:sp>
      <p:sp>
        <p:nvSpPr>
          <p:cNvPr id="2" name="先預測，再執行觀察">
            <a:extLst xmlns:a="http://schemas.openxmlformats.org/drawingml/2006/main">
              <a:ext uri="{FF2B5EF4-FFF2-40B4-BE49-F238E27FC236}">
                <a16:creationId xmlns:a16="http://schemas.microsoft.com/office/drawing/2014/main" id="{6F587898-8E8C-4D9C-A62F-9DB4E9ED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先預測，再執行觀察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DDF32D7A-67AB-486F-8DA9-9E4BA2A2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把 FastEnemy 速度改為 200，計算 0.25 秒後的位置。">
            <a:extLst xmlns:a="http://schemas.openxmlformats.org/drawingml/2006/main">
              <a:ext uri="{FF2B5EF4-FFF2-40B4-BE49-F238E27FC236}">
                <a16:creationId xmlns:a16="http://schemas.microsoft.com/office/drawing/2014/main" id="{DC155845-ABE2-41CF-A4C1-D5A5B225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把 FastEnemy 速度改為 200，計算 0.25 秒後的位置。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46BA7149-0B28-4F62-9964-0887C5E5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答案：(200, 150)。說明哪個類別的方法負責更新位置。">
            <a:extLst xmlns:a="http://schemas.openxmlformats.org/drawingml/2006/main">
              <a:ext uri="{FF2B5EF4-FFF2-40B4-BE49-F238E27FC236}">
                <a16:creationId xmlns:a16="http://schemas.microsoft.com/office/drawing/2014/main" id="{73605629-F63D-47EA-9F00-B022822C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答案：(200, 150)。說明哪個類別的方法負責更新位置。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C1E92FBC-5DC3-46EC-A2AC-B605712E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C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第 8 週進一步使用多型、ABC 與 Protocol 描述共同介面。">
            <a:extLst xmlns:a="http://schemas.openxmlformats.org/drawingml/2006/main">
              <a:ext uri="{FF2B5EF4-FFF2-40B4-BE49-F238E27FC236}">
                <a16:creationId xmlns:a16="http://schemas.microsoft.com/office/drawing/2014/main" id="{365F702C-8EAB-4F68-8022-6926BBB6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72C40"/>
                </a:solidFill>
                <a:latin typeface="Microsoft JhengHei"/>
                <a:ea typeface="Microsoft JhengHei"/>
                <a:cs typeface="Microsoft JhengHei"/>
              </a:rPr>
              <a:t>第 8 週進一步使用多型、ABC 與 Protocol 描述共同介面。</a:t>
            </a:r>
          </a:p>
        </p:txBody>
      </p:sp>
      <p:sp>
        <p:nvSpPr>
          <p:cNvPr id="9" name="24">
            <a:extLst xmlns:a="http://schemas.openxmlformats.org/drawingml/2006/main">
              <a:ext uri="{FF2B5EF4-FFF2-40B4-BE49-F238E27FC236}">
                <a16:creationId xmlns:a16="http://schemas.microsoft.com/office/drawing/2014/main" id="{F53968DB-E3A0-4987-A557-F55E326B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879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41058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2026-10-28T05:28:21.1190000Z</dcterms:created>
  <dcterms:modified xsi:type="dcterms:W3CDTF">2026-10-28T05:28:21.1190000Z</dcterms:modified>
</coreProperties>
</file>