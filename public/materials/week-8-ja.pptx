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7b358f43bf4f1a" /><Relationship Type="http://schemas.openxmlformats.org/officeDocument/2006/relationships/extended-properties" Target="/docProps/app.xml" Id="R50f60998930d461a" /><Relationship Type="http://schemas.openxmlformats.org/officeDocument/2006/relationships/officeDocument" Target="/ppt/presentation.xml" Id="R9057e077de1f43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23f5a8f84443d9"/>
  </p:sldMasterIdLst>
  <p:notesMasterIdLst>
    <p:notesMasterId xmlns:r="http://schemas.openxmlformats.org/officeDocument/2006/relationships" r:id="R1853e51f9fdb4591"/>
  </p:notesMasterIdLst>
  <p:sldIdLst>
    <p:sldId xmlns:r="http://schemas.openxmlformats.org/officeDocument/2006/relationships" id="256" r:id="R006e98c175674f0e"/>
    <p:sldId xmlns:r="http://schemas.openxmlformats.org/officeDocument/2006/relationships" id="257" r:id="R42ac1e2315c94294"/>
    <p:sldId xmlns:r="http://schemas.openxmlformats.org/officeDocument/2006/relationships" id="258" r:id="R8a1d8b138cf4401d"/>
    <p:sldId xmlns:r="http://schemas.openxmlformats.org/officeDocument/2006/relationships" id="259" r:id="R643c54d860984d1a"/>
    <p:sldId xmlns:r="http://schemas.openxmlformats.org/officeDocument/2006/relationships" id="260" r:id="Rbde195d17ff645ed"/>
    <p:sldId xmlns:r="http://schemas.openxmlformats.org/officeDocument/2006/relationships" id="261" r:id="R3ac65ddf8115412d"/>
    <p:sldId xmlns:r="http://schemas.openxmlformats.org/officeDocument/2006/relationships" id="262" r:id="Rb39d52a19f254645"/>
    <p:sldId xmlns:r="http://schemas.openxmlformats.org/officeDocument/2006/relationships" id="263" r:id="Rdf929008adbd45cf"/>
    <p:sldId xmlns:r="http://schemas.openxmlformats.org/officeDocument/2006/relationships" id="264" r:id="R0b47997a69664523"/>
    <p:sldId xmlns:r="http://schemas.openxmlformats.org/officeDocument/2006/relationships" id="265" r:id="R3b2c03bb7c924a16"/>
    <p:sldId xmlns:r="http://schemas.openxmlformats.org/officeDocument/2006/relationships" id="266" r:id="R807c5bdb93bd415b"/>
    <p:sldId xmlns:r="http://schemas.openxmlformats.org/officeDocument/2006/relationships" id="267" r:id="Ra998c0cad5454302"/>
    <p:sldId xmlns:r="http://schemas.openxmlformats.org/officeDocument/2006/relationships" id="268" r:id="R7f0554f4dbac4da3"/>
    <p:sldId xmlns:r="http://schemas.openxmlformats.org/officeDocument/2006/relationships" id="269" r:id="R1a51c8e6d9dd40de"/>
    <p:sldId xmlns:r="http://schemas.openxmlformats.org/officeDocument/2006/relationships" id="270" r:id="R8a93a704439f40d7"/>
    <p:sldId xmlns:r="http://schemas.openxmlformats.org/officeDocument/2006/relationships" id="271" r:id="Rc30179a246a94a2e"/>
    <p:sldId xmlns:r="http://schemas.openxmlformats.org/officeDocument/2006/relationships" id="272" r:id="R2b3d87c179974b31"/>
    <p:sldId xmlns:r="http://schemas.openxmlformats.org/officeDocument/2006/relationships" id="273" r:id="Rcc20910e02bc41c8"/>
    <p:sldId xmlns:r="http://schemas.openxmlformats.org/officeDocument/2006/relationships" id="274" r:id="R6e7cc44b5cc34fa0"/>
    <p:sldId xmlns:r="http://schemas.openxmlformats.org/officeDocument/2006/relationships" id="275" r:id="R9320105a89a24c0f"/>
    <p:sldId xmlns:r="http://schemas.openxmlformats.org/officeDocument/2006/relationships" id="276" r:id="R64ad0306342e4871"/>
    <p:sldId xmlns:r="http://schemas.openxmlformats.org/officeDocument/2006/relationships" id="277" r:id="R6900648330034ff9"/>
    <p:sldId xmlns:r="http://schemas.openxmlformats.org/officeDocument/2006/relationships" id="278" r:id="R3f743d4f1177477d"/>
    <p:sldId xmlns:r="http://schemas.openxmlformats.org/officeDocument/2006/relationships" id="279" r:id="R9151ff75adda4218"/>
    <p:sldId xmlns:r="http://schemas.openxmlformats.org/officeDocument/2006/relationships" id="280" r:id="R45f97522ebed49b9"/>
    <p:sldId xmlns:r="http://schemas.openxmlformats.org/officeDocument/2006/relationships" id="281" r:id="Rd18007a2ea62477c"/>
    <p:sldId xmlns:r="http://schemas.openxmlformats.org/officeDocument/2006/relationships" id="282" r:id="R8e495e2718e84371"/>
    <p:sldId xmlns:r="http://schemas.openxmlformats.org/officeDocument/2006/relationships" id="283" r:id="Rad31176209bc4bdf"/>
    <p:sldId xmlns:r="http://schemas.openxmlformats.org/officeDocument/2006/relationships" id="284" r:id="Rab02ea1407a144ce"/>
    <p:sldId xmlns:r="http://schemas.openxmlformats.org/officeDocument/2006/relationships" id="285" r:id="R6c5ee72aabf6436d"/>
    <p:sldId xmlns:r="http://schemas.openxmlformats.org/officeDocument/2006/relationships" id="286" r:id="R55f21a2a9cbb4cd5"/>
    <p:sldId xmlns:r="http://schemas.openxmlformats.org/officeDocument/2006/relationships" id="287" r:id="Raa27a6b7ffe440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99778377d24d16" /><Relationship Type="http://schemas.openxmlformats.org/officeDocument/2006/relationships/slideMaster" Target="/ppt/slideMasters/slideMaster1.xml" Id="Rfa23f5a8f84443d9" /><Relationship Type="http://schemas.openxmlformats.org/officeDocument/2006/relationships/notesMaster" Target="/ppt/notesMasters/notesMaster1.xml" Id="R1853e51f9fdb4591" /><Relationship Type="http://schemas.openxmlformats.org/officeDocument/2006/relationships/presProps" Target="/ppt/presProps.xml" Id="R4efd50a5fba54278" /><Relationship Type="http://schemas.openxmlformats.org/officeDocument/2006/relationships/tableStyles" Target="/ppt/tableStyles.xml" Id="Rdd4b6eee8dcf41e8" /><Relationship Type="http://schemas.openxmlformats.org/officeDocument/2006/relationships/slide" Target="/ppt/slides/slide1.xml" Id="R006e98c175674f0e" /><Relationship Type="http://schemas.openxmlformats.org/officeDocument/2006/relationships/slide" Target="/ppt/slides/slide2.xml" Id="R42ac1e2315c94294" /><Relationship Type="http://schemas.openxmlformats.org/officeDocument/2006/relationships/slide" Target="/ppt/slides/slide3.xml" Id="R8a1d8b138cf4401d" /><Relationship Type="http://schemas.openxmlformats.org/officeDocument/2006/relationships/slide" Target="/ppt/slides/slide4.xml" Id="R643c54d860984d1a" /><Relationship Type="http://schemas.openxmlformats.org/officeDocument/2006/relationships/slide" Target="/ppt/slides/slide5.xml" Id="Rbde195d17ff645ed" /><Relationship Type="http://schemas.openxmlformats.org/officeDocument/2006/relationships/slide" Target="/ppt/slides/slide6.xml" Id="R3ac65ddf8115412d" /><Relationship Type="http://schemas.openxmlformats.org/officeDocument/2006/relationships/slide" Target="/ppt/slides/slide7.xml" Id="Rb39d52a19f254645" /><Relationship Type="http://schemas.openxmlformats.org/officeDocument/2006/relationships/slide" Target="/ppt/slides/slide8.xml" Id="Rdf929008adbd45cf" /><Relationship Type="http://schemas.openxmlformats.org/officeDocument/2006/relationships/slide" Target="/ppt/slides/slide9.xml" Id="R0b47997a69664523" /><Relationship Type="http://schemas.openxmlformats.org/officeDocument/2006/relationships/slide" Target="/ppt/slides/slide10.xml" Id="R3b2c03bb7c924a16" /><Relationship Type="http://schemas.openxmlformats.org/officeDocument/2006/relationships/slide" Target="/ppt/slides/slide11.xml" Id="R807c5bdb93bd415b" /><Relationship Type="http://schemas.openxmlformats.org/officeDocument/2006/relationships/slide" Target="/ppt/slides/slide12.xml" Id="Ra998c0cad5454302" /><Relationship Type="http://schemas.openxmlformats.org/officeDocument/2006/relationships/slide" Target="/ppt/slides/slide13.xml" Id="R7f0554f4dbac4da3" /><Relationship Type="http://schemas.openxmlformats.org/officeDocument/2006/relationships/slide" Target="/ppt/slides/slide14.xml" Id="R1a51c8e6d9dd40de" /><Relationship Type="http://schemas.openxmlformats.org/officeDocument/2006/relationships/slide" Target="/ppt/slides/slide15.xml" Id="R8a93a704439f40d7" /><Relationship Type="http://schemas.openxmlformats.org/officeDocument/2006/relationships/slide" Target="/ppt/slides/slide16.xml" Id="Rc30179a246a94a2e" /><Relationship Type="http://schemas.openxmlformats.org/officeDocument/2006/relationships/slide" Target="/ppt/slides/slide17.xml" Id="R2b3d87c179974b31" /><Relationship Type="http://schemas.openxmlformats.org/officeDocument/2006/relationships/slide" Target="/ppt/slides/slide18.xml" Id="Rcc20910e02bc41c8" /><Relationship Type="http://schemas.openxmlformats.org/officeDocument/2006/relationships/slide" Target="/ppt/slides/slide19.xml" Id="R6e7cc44b5cc34fa0" /><Relationship Type="http://schemas.openxmlformats.org/officeDocument/2006/relationships/slide" Target="/ppt/slides/slide20.xml" Id="R9320105a89a24c0f" /><Relationship Type="http://schemas.openxmlformats.org/officeDocument/2006/relationships/slide" Target="/ppt/slides/slide21.xml" Id="R64ad0306342e4871" /><Relationship Type="http://schemas.openxmlformats.org/officeDocument/2006/relationships/slide" Target="/ppt/slides/slide22.xml" Id="R6900648330034ff9" /><Relationship Type="http://schemas.openxmlformats.org/officeDocument/2006/relationships/slide" Target="/ppt/slides/slide23.xml" Id="R3f743d4f1177477d" /><Relationship Type="http://schemas.openxmlformats.org/officeDocument/2006/relationships/slide" Target="/ppt/slides/slide24.xml" Id="R9151ff75adda4218" /><Relationship Type="http://schemas.openxmlformats.org/officeDocument/2006/relationships/slide" Target="/ppt/slides/slide25.xml" Id="R45f97522ebed49b9" /><Relationship Type="http://schemas.openxmlformats.org/officeDocument/2006/relationships/slide" Target="/ppt/slides/slide26.xml" Id="Rd18007a2ea62477c" /><Relationship Type="http://schemas.openxmlformats.org/officeDocument/2006/relationships/slide" Target="/ppt/slides/slide27.xml" Id="R8e495e2718e84371" /><Relationship Type="http://schemas.openxmlformats.org/officeDocument/2006/relationships/slide" Target="/ppt/slides/slide28.xml" Id="Rad31176209bc4bdf" /><Relationship Type="http://schemas.openxmlformats.org/officeDocument/2006/relationships/slide" Target="/ppt/slides/slide29.xml" Id="Rab02ea1407a144ce" /><Relationship Type="http://schemas.openxmlformats.org/officeDocument/2006/relationships/slide" Target="/ppt/slides/slide30.xml" Id="R6c5ee72aabf6436d" /><Relationship Type="http://schemas.openxmlformats.org/officeDocument/2006/relationships/slide" Target="/ppt/slides/slide31.xml" Id="R55f21a2a9cbb4cd5" /><Relationship Type="http://schemas.openxmlformats.org/officeDocument/2006/relationships/slide" Target="/ppt/slides/slide32.xml" Id="Raa27a6b7ffe440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1c44a7b62b4a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4b656296eb46b5" /><Relationship Type="http://schemas.openxmlformats.org/officeDocument/2006/relationships/notesMaster" Target="/ppt/notesMasters/notesMaster1.xml" Id="R0f185cfa60b743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2882eda3b54837" /><Relationship Type="http://schemas.openxmlformats.org/officeDocument/2006/relationships/notesMaster" Target="/ppt/notesMasters/notesMaster1.xml" Id="R50e73c45fb934b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981632e2454886" /><Relationship Type="http://schemas.openxmlformats.org/officeDocument/2006/relationships/notesMaster" Target="/ppt/notesMasters/notesMaster1.xml" Id="R066f7164ac1547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9b6011135947a4" /><Relationship Type="http://schemas.openxmlformats.org/officeDocument/2006/relationships/notesMaster" Target="/ppt/notesMasters/notesMaster1.xml" Id="R7c88d5652c5c42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274d1248d14897" /><Relationship Type="http://schemas.openxmlformats.org/officeDocument/2006/relationships/notesMaster" Target="/ppt/notesMasters/notesMaster1.xml" Id="Reb370aae581848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ce060468e644ec" /><Relationship Type="http://schemas.openxmlformats.org/officeDocument/2006/relationships/notesMaster" Target="/ppt/notesMasters/notesMaster1.xml" Id="Rc689fdd934664c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665ac68987415d" /><Relationship Type="http://schemas.openxmlformats.org/officeDocument/2006/relationships/notesMaster" Target="/ppt/notesMasters/notesMaster1.xml" Id="R131cae67892445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c20e4abcfc4da7" /><Relationship Type="http://schemas.openxmlformats.org/officeDocument/2006/relationships/notesMaster" Target="/ppt/notesMasters/notesMaster1.xml" Id="R93187db7aa944a8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48d84d063440b4" /><Relationship Type="http://schemas.openxmlformats.org/officeDocument/2006/relationships/notesMaster" Target="/ppt/notesMasters/notesMaster1.xml" Id="R7929990814aa44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09bad4b92b4ec1" /><Relationship Type="http://schemas.openxmlformats.org/officeDocument/2006/relationships/notesMaster" Target="/ppt/notesMasters/notesMaster1.xml" Id="Racf896c8eb9243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6f838f3f2246a7" /><Relationship Type="http://schemas.openxmlformats.org/officeDocument/2006/relationships/notesMaster" Target="/ppt/notesMasters/notesMaster1.xml" Id="Rc85e3439a35c48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4dfe680d5446f6" /><Relationship Type="http://schemas.openxmlformats.org/officeDocument/2006/relationships/notesMaster" Target="/ppt/notesMasters/notesMaster1.xml" Id="R7621818ae12741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a1596a3342448d" /><Relationship Type="http://schemas.openxmlformats.org/officeDocument/2006/relationships/notesMaster" Target="/ppt/notesMasters/notesMaster1.xml" Id="Rcaad1f2170ac47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159d75e3ea4dc3" /><Relationship Type="http://schemas.openxmlformats.org/officeDocument/2006/relationships/notesMaster" Target="/ppt/notesMasters/notesMaster1.xml" Id="Rc32a4144806e442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ae498531bb441b" /><Relationship Type="http://schemas.openxmlformats.org/officeDocument/2006/relationships/notesMaster" Target="/ppt/notesMasters/notesMaster1.xml" Id="R79adf7cacea14b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716b45aaec4dbd" /><Relationship Type="http://schemas.openxmlformats.org/officeDocument/2006/relationships/notesMaster" Target="/ppt/notesMasters/notesMaster1.xml" Id="R37510edd343d401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f4f0da719d4cc8" /><Relationship Type="http://schemas.openxmlformats.org/officeDocument/2006/relationships/notesMaster" Target="/ppt/notesMasters/notesMaster1.xml" Id="R032682f0138e44c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9de900eb3b4b6c" /><Relationship Type="http://schemas.openxmlformats.org/officeDocument/2006/relationships/notesMaster" Target="/ppt/notesMasters/notesMaster1.xml" Id="Rd613ae51b2074f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42c9f3cea84d34" /><Relationship Type="http://schemas.openxmlformats.org/officeDocument/2006/relationships/notesMaster" Target="/ppt/notesMasters/notesMaster1.xml" Id="R25bfdbdc1deb42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3de365d40e4d23" /><Relationship Type="http://schemas.openxmlformats.org/officeDocument/2006/relationships/notesMaster" Target="/ppt/notesMasters/notesMaster1.xml" Id="R8c70e4ef7c8a45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476a2707e174a7c" /><Relationship Type="http://schemas.openxmlformats.org/officeDocument/2006/relationships/notesMaster" Target="/ppt/notesMasters/notesMaster1.xml" Id="R2149022cbd5b45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f76e877958b418f" /><Relationship Type="http://schemas.openxmlformats.org/officeDocument/2006/relationships/notesMaster" Target="/ppt/notesMasters/notesMaster1.xml" Id="R83d926cb972c412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326b363bc5b425d" /><Relationship Type="http://schemas.openxmlformats.org/officeDocument/2006/relationships/notesMaster" Target="/ppt/notesMasters/notesMaster1.xml" Id="R21d25b31ed5f4c9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4675e8392c44510" /><Relationship Type="http://schemas.openxmlformats.org/officeDocument/2006/relationships/notesMaster" Target="/ppt/notesMasters/notesMaster1.xml" Id="R716c942a32ab496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8086aad2fe443c1" /><Relationship Type="http://schemas.openxmlformats.org/officeDocument/2006/relationships/notesMaster" Target="/ppt/notesMasters/notesMaster1.xml" Id="R827416159db1452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b2fb54e556e4786" /><Relationship Type="http://schemas.openxmlformats.org/officeDocument/2006/relationships/notesMaster" Target="/ppt/notesMasters/notesMaster1.xml" Id="R07abdd6abdad42e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530830d6daf473e" /><Relationship Type="http://schemas.openxmlformats.org/officeDocument/2006/relationships/notesMaster" Target="/ppt/notesMasters/notesMaster1.xml" Id="Rd418bf91bff740f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fca96539f7f4d7d" /><Relationship Type="http://schemas.openxmlformats.org/officeDocument/2006/relationships/notesMaster" Target="/ppt/notesMasters/notesMaster1.xml" Id="Rae61ee88f0234cf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db7b229a784f76" /><Relationship Type="http://schemas.openxmlformats.org/officeDocument/2006/relationships/notesMaster" Target="/ppt/notesMasters/notesMaster1.xml" Id="R785be6e19a9547b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d33694bd13044a2" /><Relationship Type="http://schemas.openxmlformats.org/officeDocument/2006/relationships/notesMaster" Target="/ppt/notesMasters/notesMaster1.xml" Id="R0e6ebd9b670443c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39ddd35a1f24899" /><Relationship Type="http://schemas.openxmlformats.org/officeDocument/2006/relationships/notesMaster" Target="/ppt/notesMasters/notesMaster1.xml" Id="R8bafa91dc73d43c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de69e58db2f4f78" /><Relationship Type="http://schemas.openxmlformats.org/officeDocument/2006/relationships/notesMaster" Target="/ppt/notesMasters/notesMaster1.xml" Id="R7fa01dc6a84040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https://docs.python.org/3.12/tutorial/classes.html#inheritance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https://docs.python.org/3.12/tutorial/classes.html#inheritance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https://docs.python.org/3.12/tutorial/classes.html#inheritance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https://docs.python.org/3.12/library/abc.html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https://docs.python.org/3.12/library/abc.html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https://docs.python.org/3.12/library/abc.html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  <a:p xmlns:a="http://schemas.openxmlformats.org/drawingml/2006/main">
            <a:r>
              <a:t>https://mypy.readthedocs.io/en/stable/protocols.html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https://docs.python.org/3.12/library/typing.html#typing.Protocol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https://docs.python.org/3.12/library/abc.html</a:t>
            </a:r>
          </a:p>
          <a:p xmlns:a="http://schemas.openxmlformats.org/drawingml/2006/main">
            <a:r>
              <a:t>https://docs.python.org/3.12/library/typing.html#typing.Protocol</a:t>
            </a:r>
          </a:p>
          <a:p xmlns:a="http://schemas.openxmlformats.org/drawingml/2006/main">
            <a:r>
              <a:t>https://mypy.readthedocs.io/en/stable/protocols.html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https://docs.python.org/3.12/library/typing.html#typing.Protocol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https://minhuangyuntech.github.io/oo2026/materials/pygame-oop-shooter.zip</a:t>
            </a:r>
          </a:p>
          <a:p xmlns:a="http://schemas.openxmlformats.org/drawingml/2006/main">
            <a:r>
              <a:t>https://minhuangyuntech.github.io/oo2026/pygame/play/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https://minhuangyuntech.github.io/oo2026/materials/week-8-examples.zip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https://docs.python.org/3.12/library/abc.html</a:t>
            </a:r>
          </a:p>
          <a:p xmlns:a="http://schemas.openxmlformats.org/drawingml/2006/main">
            <a:r>
              <a:t>https://docs.python.org/3.12/library/typing.html#typing.Protocol</a:t>
            </a:r>
          </a:p>
          <a:p xmlns:a="http://schemas.openxmlformats.org/drawingml/2006/main">
            <a:r>
              <a:t>https://docs.python.org/3.12/tutorial/classes.html#inheritance</a:t>
            </a:r>
          </a:p>
          <a:p xmlns:a="http://schemas.openxmlformats.org/drawingml/2006/main">
            <a:r>
              <a:t>https://www.pygame.org/docs/ref/sprite.html#pygame.sprite.Group.update</a:t>
            </a:r>
          </a:p>
          <a:p xmlns:a="http://schemas.openxmlformats.org/drawingml/2006/main">
            <a:r>
              <a:t>https://mypy.readthedocs.io/en/stable/protocols.html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203c18d7974a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d3f7dfa6a544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bcb927d7341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9fcb38e8d046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21bf50caf42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d387773a1d4b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A25C1C-4E48-41F5-B0C2-70BC4F66A6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9D4082-4F83-49DF-81AD-BDE47C0ABE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B7BA04D-526A-4BB9-9C5E-54CB70E516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8708FD-E6A0-425B-820A-A4AA870160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EB217C-1DCE-4F8F-A0D4-69B8A4B33E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F36A27-DFC9-4403-9401-C0C2F6CC31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9F7C2F-AC97-4E58-BF8D-352846B40D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17B34E-C48F-4C0A-9A6D-2B65F79F7D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A93EA7-F952-444F-9F27-D255963306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3FAB52-7338-4402-9A39-67E1349771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52a91c7d2a44e4" /><Relationship Type="http://schemas.openxmlformats.org/officeDocument/2006/relationships/slideLayout" Target="/ppt/slideLayouts/slideLayout1.xml" Id="R2dd4cef7e8244617" /><Relationship Type="http://schemas.openxmlformats.org/officeDocument/2006/relationships/slideLayout" Target="/ppt/slideLayouts/slideLayout2.xml" Id="R502b20436b1141e6" /><Relationship Type="http://schemas.openxmlformats.org/officeDocument/2006/relationships/slideLayout" Target="/ppt/slideLayouts/slideLayout3.xml" Id="R49984e838cbd4de2" /><Relationship Type="http://schemas.openxmlformats.org/officeDocument/2006/relationships/slideLayout" Target="/ppt/slideLayouts/slideLayout4.xml" Id="R35a98e703dc645b8" /><Relationship Type="http://schemas.openxmlformats.org/officeDocument/2006/relationships/slideLayout" Target="/ppt/slideLayouts/slideLayout5.xml" Id="R5407b097afe24782" /><Relationship Type="http://schemas.openxmlformats.org/officeDocument/2006/relationships/slideLayout" Target="/ppt/slideLayouts/slideLayout6.xml" Id="R0f305043ada743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d4cef7e8244617"/>
    <p:sldLayoutId xmlns:r="http://schemas.openxmlformats.org/officeDocument/2006/relationships" id="2147483650" r:id="R502b20436b1141e6"/>
    <p:sldLayoutId xmlns:r="http://schemas.openxmlformats.org/officeDocument/2006/relationships" id="2147483651" r:id="R49984e838cbd4de2"/>
    <p:sldLayoutId xmlns:r="http://schemas.openxmlformats.org/officeDocument/2006/relationships" id="2147483652" r:id="R35a98e703dc645b8"/>
    <p:sldLayoutId xmlns:r="http://schemas.openxmlformats.org/officeDocument/2006/relationships" id="2147483653" r:id="R5407b097afe24782"/>
    <p:sldLayoutId xmlns:r="http://schemas.openxmlformats.org/officeDocument/2006/relationships" id="2147483654" r:id="R0f305043ada743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40d849ed1f4d00" /><Relationship Type="http://schemas.openxmlformats.org/officeDocument/2006/relationships/notesSlide" Target="/ppt/notesSlides/notesSlide1.xml" Id="Rcade0d673a7840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6fa10275a416e" /><Relationship Type="http://schemas.openxmlformats.org/officeDocument/2006/relationships/notesSlide" Target="/ppt/notesSlides/notesSlide2.xml" Id="Rb0df7967cf1b4e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bcbc61cfba41b3" /><Relationship Type="http://schemas.openxmlformats.org/officeDocument/2006/relationships/image" Target="/ppt/media/image.png" Id="R0246b51b9d1e4889" /><Relationship Type="http://schemas.openxmlformats.org/officeDocument/2006/relationships/notesSlide" Target="/ppt/notesSlides/notesSlide3.xml" Id="R66f6a3162b1c47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3bcffb27a434c" /><Relationship Type="http://schemas.openxmlformats.org/officeDocument/2006/relationships/notesSlide" Target="/ppt/notesSlides/notesSlide4.xml" Id="Rcfda29df419a4c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0d2b167a94887" /><Relationship Type="http://schemas.openxmlformats.org/officeDocument/2006/relationships/notesSlide" Target="/ppt/notesSlides/notesSlide5.xml" Id="Rf2f463dd0d4b41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8dc042c8c4490" /><Relationship Type="http://schemas.openxmlformats.org/officeDocument/2006/relationships/notesSlide" Target="/ppt/notesSlides/notesSlide6.xml" Id="Rfc53fb79f2384f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f3fc23a6dd4458" /><Relationship Type="http://schemas.openxmlformats.org/officeDocument/2006/relationships/notesSlide" Target="/ppt/notesSlides/notesSlide7.xml" Id="Rae09ebdf0af549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7e500c781b4685" /><Relationship Type="http://schemas.openxmlformats.org/officeDocument/2006/relationships/notesSlide" Target="/ppt/notesSlides/notesSlide8.xml" Id="Redd26abf29cb47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8516b6fdc0424a" /><Relationship Type="http://schemas.openxmlformats.org/officeDocument/2006/relationships/notesSlide" Target="/ppt/notesSlides/notesSlide9.xml" Id="R7dd4a1b0b96f43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611aee386141c9" /><Relationship Type="http://schemas.openxmlformats.org/officeDocument/2006/relationships/notesSlide" Target="/ppt/notesSlides/notesSlide10.xml" Id="R4af64ccf05f940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507180d62415b" /><Relationship Type="http://schemas.openxmlformats.org/officeDocument/2006/relationships/notesSlide" Target="/ppt/notesSlides/notesSlide11.xml" Id="Ree7a555e02fe4f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c827ff1f54670" /><Relationship Type="http://schemas.openxmlformats.org/officeDocument/2006/relationships/notesSlide" Target="/ppt/notesSlides/notesSlide12.xml" Id="R566c2b5e0ad448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eaed0197343a4" /><Relationship Type="http://schemas.openxmlformats.org/officeDocument/2006/relationships/notesSlide" Target="/ppt/notesSlides/notesSlide13.xml" Id="R4f5c7207cd0c4a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d39797e3d44c4" /><Relationship Type="http://schemas.openxmlformats.org/officeDocument/2006/relationships/notesSlide" Target="/ppt/notesSlides/notesSlide14.xml" Id="Re7cb1502feac4ac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4253b3f814c11" /><Relationship Type="http://schemas.openxmlformats.org/officeDocument/2006/relationships/notesSlide" Target="/ppt/notesSlides/notesSlide15.xml" Id="R8cc89f23dab649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16fcc482d14e00" /><Relationship Type="http://schemas.openxmlformats.org/officeDocument/2006/relationships/notesSlide" Target="/ppt/notesSlides/notesSlide16.xml" Id="Ra9a284c94057463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bd1f5d0934a41" /><Relationship Type="http://schemas.openxmlformats.org/officeDocument/2006/relationships/notesSlide" Target="/ppt/notesSlides/notesSlide17.xml" Id="R078a286ce5f140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fa84510484bfe" /><Relationship Type="http://schemas.openxmlformats.org/officeDocument/2006/relationships/notesSlide" Target="/ppt/notesSlides/notesSlide18.xml" Id="R6edd962e039a4f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ef3f10177a4d1c" /><Relationship Type="http://schemas.openxmlformats.org/officeDocument/2006/relationships/notesSlide" Target="/ppt/notesSlides/notesSlide19.xml" Id="R6649ec64b2374c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ee6fddd334f6d" /><Relationship Type="http://schemas.openxmlformats.org/officeDocument/2006/relationships/notesSlide" Target="/ppt/notesSlides/notesSlide20.xml" Id="Rb3c4f0c014b54b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846644ac2148d4" /><Relationship Type="http://schemas.openxmlformats.org/officeDocument/2006/relationships/notesSlide" Target="/ppt/notesSlides/notesSlide21.xml" Id="R5a11db351f2f4a6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bd583ce31247a6" /><Relationship Type="http://schemas.openxmlformats.org/officeDocument/2006/relationships/notesSlide" Target="/ppt/notesSlides/notesSlide22.xml" Id="R51c6b016a14d4fe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487946e284585" /><Relationship Type="http://schemas.openxmlformats.org/officeDocument/2006/relationships/notesSlide" Target="/ppt/notesSlides/notesSlide23.xml" Id="R1428ebce10444d4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d23defdac4570" /><Relationship Type="http://schemas.openxmlformats.org/officeDocument/2006/relationships/notesSlide" Target="/ppt/notesSlides/notesSlide24.xml" Id="R05ac04a2cfc64e9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42caf40214e63" /><Relationship Type="http://schemas.openxmlformats.org/officeDocument/2006/relationships/notesSlide" Target="/ppt/notesSlides/notesSlide25.xml" Id="Rf1d6e692c0a5412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4fe6e0677d4c88" /><Relationship Type="http://schemas.openxmlformats.org/officeDocument/2006/relationships/notesSlide" Target="/ppt/notesSlides/notesSlide26.xml" Id="R7c58a910097a435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327a818bd4598" /><Relationship Type="http://schemas.openxmlformats.org/officeDocument/2006/relationships/notesSlide" Target="/ppt/notesSlides/notesSlide27.xml" Id="R4c782a542040487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11b070b32b41c0" /><Relationship Type="http://schemas.openxmlformats.org/officeDocument/2006/relationships/image" Target="/ppt/media/image.jpeg" Id="R1104194f53aa406a" /><Relationship Type="http://schemas.openxmlformats.org/officeDocument/2006/relationships/hyperlink" Target="https://minhuangyuntech.github.io/oo2026/ja/pygame/play/" TargetMode="External" Id="Ra082fbbfb5d74588" /><Relationship Type="http://schemas.openxmlformats.org/officeDocument/2006/relationships/notesSlide" Target="/ppt/notesSlides/notesSlide28.xml" Id="R9001c458053e4f6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27e81951a47d6" /><Relationship Type="http://schemas.openxmlformats.org/officeDocument/2006/relationships/hyperlink" Target="https://minhuangyuntech.github.io/oo2026/materials/week-8-examples.zip" TargetMode="External" Id="Rf7c97d3c45e74790" /><Relationship Type="http://schemas.openxmlformats.org/officeDocument/2006/relationships/notesSlide" Target="/ppt/notesSlides/notesSlide29.xml" Id="R133592c66cb4452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5156d8dc66476d" /><Relationship Type="http://schemas.openxmlformats.org/officeDocument/2006/relationships/notesSlide" Target="/ppt/notesSlides/notesSlide30.xml" Id="R843178bd31554be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8f461be3e146f8" /><Relationship Type="http://schemas.openxmlformats.org/officeDocument/2006/relationships/notesSlide" Target="/ppt/notesSlides/notesSlide31.xml" Id="R2f5853c9c10d437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d202fffa034887" /><Relationship Type="http://schemas.openxmlformats.org/officeDocument/2006/relationships/hyperlink" Target="https://docs.python.org/3.12/library/abc.html" TargetMode="External" Id="R9633fd4bb9f94ddd" /><Relationship Type="http://schemas.openxmlformats.org/officeDocument/2006/relationships/hyperlink" Target="https://docs.python.org/3.12/library/typing.html#typing.Protocol" TargetMode="External" Id="Reb9a41e7cbb946c6" /><Relationship Type="http://schemas.openxmlformats.org/officeDocument/2006/relationships/notesSlide" Target="/ppt/notesSlides/notesSlide32.xml" Id="Rd83febd93cd94b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THON OOP  /  第 8 週">
            <a:extLst xmlns:a="http://schemas.openxmlformats.org/drawingml/2006/main">
              <a:ext uri="{FF2B5EF4-FFF2-40B4-BE49-F238E27FC236}">
                <a16:creationId xmlns:a16="http://schemas.microsoft.com/office/drawing/2014/main" id="{3F0BDE4A-C07B-44B4-AA04-5E0136F6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"/>
            <a:ext cx="1100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PYTHON OOP  /  第 8 週</a:t>
            </a:r>
          </a:p>
        </p:txBody>
      </p:sp>
      <p:sp>
        <p:nvSpPr>
          <p:cNvPr id="2" name="多態性・抽象化・ インターフェース">
            <a:extLst xmlns:a="http://schemas.openxmlformats.org/drawingml/2006/main">
              <a:ext uri="{FF2B5EF4-FFF2-40B4-BE49-F238E27FC236}">
                <a16:creationId xmlns:a16="http://schemas.microsoft.com/office/drawing/2014/main" id="{78D460A3-6CD4-44F2-8A5B-65DFE578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57375"/>
            <a:ext cx="11049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多態性・抽象化・</a:t>
            </a:r>
          </a:p>
          <a:p xmlns:a="http://schemas.openxmlformats.org/drawingml/2006/main">
            <a: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インターフェース</a:t>
            </a:r>
          </a:p>
        </p:txBody>
      </p:sp>
      <p:sp>
        <p:nvSpPr>
          <p:cNvPr id="3" name="シューティングゲームで学ぶ共通の操作と差し替え">
            <a:extLst xmlns:a="http://schemas.openxmlformats.org/drawingml/2006/main">
              <a:ext uri="{FF2B5EF4-FFF2-40B4-BE49-F238E27FC236}">
                <a16:creationId xmlns:a16="http://schemas.microsoft.com/office/drawing/2014/main" id="{CCB73886-48E1-4FC1-86F9-B2307071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シューティングゲームで学ぶ共通の操作と差し替え</a:t>
            </a:r>
          </a:p>
        </p:txBody>
      </p:sp>
      <p:sp>
        <p:nvSpPr>
          <p:cNvPr id="4" name="Enemy · update(dt) · ABC · Protocol · Motion">
            <a:extLst xmlns:a="http://schemas.openxmlformats.org/drawingml/2006/main">
              <a:ext uri="{FF2B5EF4-FFF2-40B4-BE49-F238E27FC236}">
                <a16:creationId xmlns:a16="http://schemas.microsoft.com/office/drawing/2014/main" id="{8AA3EBDA-D911-4863-BCD7-06DA254C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8EDBE"/>
                </a:solidFill>
                <a:latin typeface="Consolas"/>
                <a:ea typeface="Consolas"/>
                <a:cs typeface="Consolas"/>
              </a:rPr>
              <a:t>Enemy · update(dt) · ABC · Protocol · Motion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7EFCD921-D661-4657-94FE-33BEF210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5653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今週の学習内容">
            <a:extLst xmlns:a="http://schemas.openxmlformats.org/drawingml/2006/main">
              <a:ext uri="{FF2B5EF4-FFF2-40B4-BE49-F238E27FC236}">
                <a16:creationId xmlns:a16="http://schemas.microsoft.com/office/drawing/2014/main" id="{81E04CD3-376A-48F3-8BB3-69556014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今週の学習内容</a:t>
            </a:r>
          </a:p>
        </p:txBody>
      </p:sp>
      <p:sp>
        <p:nvSpPr>
          <p:cNvPr id="2" name="同じ呼び出しに、異なるオブジェクトが応える">
            <a:extLst xmlns:a="http://schemas.openxmlformats.org/drawingml/2006/main">
              <a:ext uri="{FF2B5EF4-FFF2-40B4-BE49-F238E27FC236}">
                <a16:creationId xmlns:a16="http://schemas.microsoft.com/office/drawing/2014/main" id="{5C3169CF-448B-4C41-B409-B65D3D59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同じ呼び出しに、異なるオブジェクトが応える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3386E578-2F1B-431B-9CBA-CF85A2B8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update(dt) を追跡し、多態性と動的ディスパッチを理解する。">
            <a:extLst xmlns:a="http://schemas.openxmlformats.org/drawingml/2006/main">
              <a:ext uri="{FF2B5EF4-FFF2-40B4-BE49-F238E27FC236}">
                <a16:creationId xmlns:a16="http://schemas.microsoft.com/office/drawing/2014/main" id="{7FFB31FC-61FB-4D59-8EEF-E9F1C113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update(dt) を追跡し、多態性と動的ディスパッチを理解する。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B9F1A765-094D-4FAF-87AF-A8D87C66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" name="ダックタイピング・ABC・Protocol を比較する。">
            <a:extLst xmlns:a="http://schemas.openxmlformats.org/drawingml/2006/main">
              <a:ext uri="{FF2B5EF4-FFF2-40B4-BE49-F238E27FC236}">
                <a16:creationId xmlns:a16="http://schemas.microsoft.com/office/drawing/2014/main" id="{DC146483-170E-44F9-8CC0-6CB8E31A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ダックタイピング・ABC・Protocol を比較する。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CC5E0172-F511-4F25-8FB1-0118AFEC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8" name="敵の振る舞いを追加し、コンポジションで移動を差し替える。">
            <a:extLst xmlns:a="http://schemas.openxmlformats.org/drawingml/2006/main">
              <a:ext uri="{FF2B5EF4-FFF2-40B4-BE49-F238E27FC236}">
                <a16:creationId xmlns:a16="http://schemas.microsoft.com/office/drawing/2014/main" id="{74660A15-95F0-4C6A-83CA-D6FE858C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敵の振る舞いを追加し、コンポジションで移動を差し替える。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C1C1B7A0-0284-4408-82CD-5FD8F513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76046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元のゲームのオブジェクト">
            <a:extLst xmlns:a="http://schemas.openxmlformats.org/drawingml/2006/main">
              <a:ext uri="{FF2B5EF4-FFF2-40B4-BE49-F238E27FC236}">
                <a16:creationId xmlns:a16="http://schemas.microsoft.com/office/drawing/2014/main" id="{2DCACE61-2FAA-458F-B1FE-73B90A40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元のゲームのオブジェクト</a:t>
            </a:r>
          </a:p>
        </p:txBody>
      </p:sp>
      <p:sp>
        <p:nvSpPr>
          <p:cNvPr id="2" name="Game が Player・Enemy・Bullet を管理する">
            <a:extLst xmlns:a="http://schemas.openxmlformats.org/drawingml/2006/main">
              <a:ext uri="{FF2B5EF4-FFF2-40B4-BE49-F238E27FC236}">
                <a16:creationId xmlns:a16="http://schemas.microsoft.com/office/drawing/2014/main" id="{9586FC84-6EDA-4A6D-8438-8E9C16C3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Game が Player・Enemy・Bullet を管理する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5368E-DF20-469C-9335-4F074505A1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6b51b9d1e4889"/>
          <a:stretch xmlns:a="http://schemas.openxmlformats.org/drawingml/2006/main"/>
        </p:blipFill>
        <p:spPr>
          <a:xfrm xmlns:a="http://schemas.openxmlformats.org/drawingml/2006/main">
            <a:off x="678656" y="1838325"/>
            <a:ext cx="6786563" cy="4524375"/>
          </a:xfrm>
          <a:prstGeom xmlns:a="http://schemas.openxmlformats.org/drawingml/2006/main" prst="rect">
            <a:avLst/>
          </a:prstGeom>
        </p:spPr>
      </p:pic>
      <p:sp>
        <p:nvSpPr>
          <p:cNvPr id="4" name="各役者は位置・速度・状態を持つ。">
            <a:extLst xmlns:a="http://schemas.openxmlformats.org/drawingml/2006/main">
              <a:ext uri="{FF2B5EF4-FFF2-40B4-BE49-F238E27FC236}">
                <a16:creationId xmlns:a16="http://schemas.microsoft.com/office/drawing/2014/main" id="{FCCBD9C3-9EF6-4B80-9477-9596F6C1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9775"/>
            <a:ext cx="3476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各役者は位置・速度・状態を持つ。</a:t>
            </a:r>
          </a:p>
        </p:txBody>
      </p:sp>
      <p:sp>
        <p:nvSpPr>
          <p:cNvPr id="5" name="Game はグループを更新し、役者が自分の処理を行う。">
            <a:extLst xmlns:a="http://schemas.openxmlformats.org/drawingml/2006/main">
              <a:ext uri="{FF2B5EF4-FFF2-40B4-BE49-F238E27FC236}">
                <a16:creationId xmlns:a16="http://schemas.microsoft.com/office/drawing/2014/main" id="{5D39EF86-8B55-4A6B-B041-638BA7F4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71900"/>
            <a:ext cx="3476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Game はグループを更新し、役者が自分の処理を行う。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1BFB34C2-58AD-49C4-9C04-FBEB5061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71538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既存クラスと更新の役割">
            <a:extLst xmlns:a="http://schemas.openxmlformats.org/drawingml/2006/main">
              <a:ext uri="{FF2B5EF4-FFF2-40B4-BE49-F238E27FC236}">
                <a16:creationId xmlns:a16="http://schemas.microsoft.com/office/drawing/2014/main" id="{C9E76676-46DC-48B7-BEF2-41532ECA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既存クラスと更新の役割</a:t>
            </a:r>
          </a:p>
        </p:txBody>
      </p:sp>
      <p:sp>
        <p:nvSpPr>
          <p:cNvPr id="2" name="Enemy は Actor.update() をそのまま継承する">
            <a:extLst xmlns:a="http://schemas.openxmlformats.org/drawingml/2006/main">
              <a:ext uri="{FF2B5EF4-FFF2-40B4-BE49-F238E27FC236}">
                <a16:creationId xmlns:a16="http://schemas.microsoft.com/office/drawing/2014/main" id="{E3CF6107-A0BF-4A0B-BFB5-21BC4684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Enemy は Actor.update() をそのまま継承する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5D59D-8884-47E9-B9E4-03B0BCB3F2E7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8763000"/>
              </a:tblGrid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更新処理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Actor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velocity で移動し rect を同期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Player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共通移動・範囲制限・クールダウン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Actor の移動を利用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Bullet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共通移動後、画面外の弾を除去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継承したメソッドも多態性に参加する。全サブクラスでのオーバーライドは不要。">
            <a:extLst xmlns:a="http://schemas.openxmlformats.org/drawingml/2006/main">
              <a:ext uri="{FF2B5EF4-FFF2-40B4-BE49-F238E27FC236}">
                <a16:creationId xmlns:a16="http://schemas.microsoft.com/office/drawing/2014/main" id="{E67B6D5A-9298-4C8B-96B5-5FDC9A9A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継承したメソッドも多態性に参加する。全サブクラスでのオーバーライドは不要。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742A1E20-C090-4395-98B0-273C3901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44943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一回の呼び出しでグループを更新">
            <a:extLst xmlns:a="http://schemas.openxmlformats.org/drawingml/2006/main">
              <a:ext uri="{FF2B5EF4-FFF2-40B4-BE49-F238E27FC236}">
                <a16:creationId xmlns:a16="http://schemas.microsoft.com/office/drawing/2014/main" id="{E6899EE8-18D4-4D2D-8D0E-3C24E078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一回の呼び出しでグループを更新</a:t>
            </a:r>
          </a:p>
        </p:txBody>
      </p:sp>
      <p:sp>
        <p:nvSpPr>
          <p:cNvPr id="2" name="元の game.py の Game.update()">
            <a:extLst xmlns:a="http://schemas.openxmlformats.org/drawingml/2006/main">
              <a:ext uri="{FF2B5EF4-FFF2-40B4-BE49-F238E27FC236}">
                <a16:creationId xmlns:a16="http://schemas.microsoft.com/office/drawing/2014/main" id="{DABC9A0B-5405-4F48-B9E1-6005E8CE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元の game.py の Game.update()</a:t>
            </a:r>
          </a:p>
        </p:txBody>
      </p:sp>
      <p:sp>
        <p:nvSpPr>
          <p:cNvPr id="3" name="self.all_sprites.update(dt)">
            <a:extLst xmlns:a="http://schemas.openxmlformats.org/drawingml/2006/main">
              <a:ext uri="{FF2B5EF4-FFF2-40B4-BE49-F238E27FC236}">
                <a16:creationId xmlns:a16="http://schemas.microsoft.com/office/drawing/2014/main" id="{0D200609-0B8A-450A-82F6-927C25CF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self.all_sprites.update(dt)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97036-8066-4E1A-B677-46465C7E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# Conceptual equivalent:">
            <a:extLst xmlns:a="http://schemas.openxmlformats.org/drawingml/2006/main">
              <a:ext uri="{FF2B5EF4-FFF2-40B4-BE49-F238E27FC236}">
                <a16:creationId xmlns:a16="http://schemas.microsoft.com/office/drawing/2014/main" id="{3BF6A76E-079A-4293-A4BC-7B5AFC2F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Conceptual equivalent:</a:t>
            </a:r>
          </a:p>
        </p:txBody>
      </p:sp>
      <p:sp>
        <p:nvSpPr>
          <p:cNvPr id="6" name="for actor in self.all_sprites:">
            <a:extLst xmlns:a="http://schemas.openxmlformats.org/drawingml/2006/main">
              <a:ext uri="{FF2B5EF4-FFF2-40B4-BE49-F238E27FC236}">
                <a16:creationId xmlns:a16="http://schemas.microsoft.com/office/drawing/2014/main" id="{89777F10-8F2D-4E5F-8908-AF691E1A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for actor in self.all_sprites:</a:t>
            </a:r>
          </a:p>
        </p:txBody>
      </p:sp>
      <p:sp>
        <p:nvSpPr>
          <p:cNvPr id="7" name="    actor.update(dt)">
            <a:extLst xmlns:a="http://schemas.openxmlformats.org/drawingml/2006/main">
              <a:ext uri="{FF2B5EF4-FFF2-40B4-BE49-F238E27FC236}">
                <a16:creationId xmlns:a16="http://schemas.microsoft.com/office/drawing/2014/main" id="{E769C545-5ECC-4485-888A-D9DCC436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actor.update(dt)</a:t>
            </a:r>
          </a:p>
        </p:txBody>
      </p:sp>
      <p:sp>
        <p:nvSpPr>
          <p:cNvPr id="8" name="Group.update(dt) は各 Sprite の update に同じ dt を渡す。">
            <a:extLst xmlns:a="http://schemas.openxmlformats.org/drawingml/2006/main">
              <a:ext uri="{FF2B5EF4-FFF2-40B4-BE49-F238E27FC236}">
                <a16:creationId xmlns:a16="http://schemas.microsoft.com/office/drawing/2014/main" id="{40EECD7A-8A74-4D3F-B64C-DF19D756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Group.update(dt) は各 Sprite の update に同じ dt を渡す。</a:t>
            </a:r>
          </a:p>
        </p:txBody>
      </p:sp>
      <p:sp>
        <p:nvSpPr>
          <p:cNvPr id="9" name="グループは update の戻り値を収集しない。">
            <a:extLst xmlns:a="http://schemas.openxmlformats.org/drawingml/2006/main">
              <a:ext uri="{FF2B5EF4-FFF2-40B4-BE49-F238E27FC236}">
                <a16:creationId xmlns:a16="http://schemas.microsoft.com/office/drawing/2014/main" id="{FD992442-64D6-45C0-9545-FF2FDCF3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グループは update の戻り値を収集しない。</a:t>
            </a:r>
          </a:p>
        </p:txBody>
      </p:sp>
      <p:sp>
        <p:nvSpPr>
          <p:cNvPr id="10" name="game.py / Game.update">
            <a:extLst xmlns:a="http://schemas.openxmlformats.org/drawingml/2006/main">
              <a:ext uri="{FF2B5EF4-FFF2-40B4-BE49-F238E27FC236}">
                <a16:creationId xmlns:a16="http://schemas.microsoft.com/office/drawing/2014/main" id="{0C6EC0A3-7210-4B28-8B20-41871A8C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game.py / Game.update</a:t>
            </a:r>
          </a:p>
        </p:txBody>
      </p:sp>
      <p:sp>
        <p:nvSpPr>
          <p:cNvPr id="11" name="05">
            <a:extLst xmlns:a="http://schemas.openxmlformats.org/drawingml/2006/main">
              <a:ext uri="{FF2B5EF4-FFF2-40B4-BE49-F238E27FC236}">
                <a16:creationId xmlns:a16="http://schemas.microsoft.com/office/drawing/2014/main" id="{6C49FCEA-8068-43A7-9841-68A7B84C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495391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動的ディスパッチの呼び出し先">
            <a:extLst xmlns:a="http://schemas.openxmlformats.org/drawingml/2006/main">
              <a:ext uri="{FF2B5EF4-FFF2-40B4-BE49-F238E27FC236}">
                <a16:creationId xmlns:a16="http://schemas.microsoft.com/office/drawing/2014/main" id="{FF3992BE-A5F9-4B4A-A5C9-10809FF5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動的ディスパッチの呼び出し先</a:t>
            </a:r>
          </a:p>
        </p:txBody>
      </p:sp>
      <p:sp>
        <p:nvSpPr>
          <p:cNvPr id="2" name="呼び出す際に実際のクラスからメソッドを探す">
            <a:extLst xmlns:a="http://schemas.openxmlformats.org/drawingml/2006/main">
              <a:ext uri="{FF2B5EF4-FFF2-40B4-BE49-F238E27FC236}">
                <a16:creationId xmlns:a16="http://schemas.microsoft.com/office/drawing/2014/main" id="{DBA296F9-4A80-4164-9CA8-A6DD9ABC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呼び出す際に実際のクラスからメソッドを探す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311F3-4970-4858-BDF6-A73917D040B4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00375"/>
                <a:gridCol w="3714750"/>
                <a:gridCol w="4333875"/>
              </a:tblGrid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実際のオブジェクト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見つかるメソッド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続く呼び出し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player: Player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Player.update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super().update(dt)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E01: Enemy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Actor.update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直接移動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B01: Bullet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Bullet.update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super().update(dt)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ループ変数は actor のままでも、参照する実体は変わる。">
            <a:extLst xmlns:a="http://schemas.openxmlformats.org/drawingml/2006/main">
              <a:ext uri="{FF2B5EF4-FFF2-40B4-BE49-F238E27FC236}">
                <a16:creationId xmlns:a16="http://schemas.microsoft.com/office/drawing/2014/main" id="{93C4435C-391F-400E-BE24-FEF66E5C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ループ変数は actor のままでも、参照する実体は変わる。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39B7F381-2F9D-44D5-AA86-14314563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33260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共通の移動と dt">
            <a:extLst xmlns:a="http://schemas.openxmlformats.org/drawingml/2006/main">
              <a:ext uri="{FF2B5EF4-FFF2-40B4-BE49-F238E27FC236}">
                <a16:creationId xmlns:a16="http://schemas.microsoft.com/office/drawing/2014/main" id="{EB7CB405-5ACF-4363-9F19-4B1F41B6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共通の移動と dt</a:t>
            </a:r>
          </a:p>
        </p:txBody>
      </p:sp>
      <p:sp>
        <p:nvSpPr>
          <p:cNvPr id="2" name="dt は秒、velocity はピクセル毎秒">
            <a:extLst xmlns:a="http://schemas.openxmlformats.org/drawingml/2006/main">
              <a:ext uri="{FF2B5EF4-FFF2-40B4-BE49-F238E27FC236}">
                <a16:creationId xmlns:a16="http://schemas.microsoft.com/office/drawing/2014/main" id="{9788A093-583B-432E-8524-5DF722BB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dt は秒、velocity はピクセル毎秒</a:t>
            </a:r>
          </a:p>
        </p:txBody>
      </p:sp>
      <p:sp>
        <p:nvSpPr>
          <p:cNvPr id="3" name="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8818812F-1C4D-4FA9-B477-C61051AC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update(self, dt):</a:t>
            </a:r>
          </a:p>
        </p:txBody>
      </p:sp>
      <p:sp>
        <p:nvSpPr>
          <p:cNvPr id="4" name="    self.pos += self.velocity * dt">
            <a:extLst xmlns:a="http://schemas.openxmlformats.org/drawingml/2006/main">
              <a:ext uri="{FF2B5EF4-FFF2-40B4-BE49-F238E27FC236}">
                <a16:creationId xmlns:a16="http://schemas.microsoft.com/office/drawing/2014/main" id="{C84AEA06-99C8-4C6E-9600-E4571D8F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self.pos += self.velocity * dt</a:t>
            </a:r>
          </a:p>
        </p:txBody>
      </p:sp>
      <p:sp>
        <p:nvSpPr>
          <p:cNvPr id="5" name="    self.rect.center = (round(self.pos.x), round(self.pos.y))">
            <a:extLst xmlns:a="http://schemas.openxmlformats.org/drawingml/2006/main">
              <a:ext uri="{FF2B5EF4-FFF2-40B4-BE49-F238E27FC236}">
                <a16:creationId xmlns:a16="http://schemas.microsoft.com/office/drawing/2014/main" id="{B5CEA14E-B64B-4557-B7CA-607AE19B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self.rect.center = (round(self.pos.x), round(self.pos.y))</a:t>
            </a:r>
          </a:p>
        </p:txBody>
      </p:sp>
      <p:sp>
        <p:nvSpPr>
          <p:cNvPr id="6" name="弾の速度 −620、dt=0.5 なら y は 310 ピクセル減る。">
            <a:extLst xmlns:a="http://schemas.openxmlformats.org/drawingml/2006/main">
              <a:ext uri="{FF2B5EF4-FFF2-40B4-BE49-F238E27FC236}">
                <a16:creationId xmlns:a16="http://schemas.microsoft.com/office/drawing/2014/main" id="{A2527144-114A-4913-BB63-67C976A2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弾の速度 −620、dt=0.5 なら y は 310 ピクセル減る。</a:t>
            </a:r>
          </a:p>
        </p:txBody>
      </p:sp>
      <p:sp>
        <p:nvSpPr>
          <p:cNvPr id="7" name="pos は小数を保持し、rect は描画と衝突に整数座標を使う。">
            <a:extLst xmlns:a="http://schemas.openxmlformats.org/drawingml/2006/main">
              <a:ext uri="{FF2B5EF4-FFF2-40B4-BE49-F238E27FC236}">
                <a16:creationId xmlns:a16="http://schemas.microsoft.com/office/drawing/2014/main" id="{FE2DFCA3-60E3-4ABA-8501-82380750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pos は小数を保持し、rect は描画と衝突に整数座標を使う。</a:t>
            </a:r>
          </a:p>
        </p:txBody>
      </p:sp>
      <p:sp>
        <p:nvSpPr>
          <p:cNvPr id="8" name="actors.py / Actor.update">
            <a:extLst xmlns:a="http://schemas.openxmlformats.org/drawingml/2006/main">
              <a:ext uri="{FF2B5EF4-FFF2-40B4-BE49-F238E27FC236}">
                <a16:creationId xmlns:a16="http://schemas.microsoft.com/office/drawing/2014/main" id="{E8B795F6-FE89-459A-97D1-F3603BD5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Actor.update</a:t>
            </a:r>
          </a:p>
        </p:txBody>
      </p:sp>
      <p:sp>
        <p:nvSpPr>
          <p:cNvPr id="9" name="07">
            <a:extLst xmlns:a="http://schemas.openxmlformats.org/drawingml/2006/main">
              <a:ext uri="{FF2B5EF4-FFF2-40B4-BE49-F238E27FC236}">
                <a16:creationId xmlns:a16="http://schemas.microsoft.com/office/drawing/2014/main" id="{938B1429-C469-4094-B94E-EBFAD8B6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8830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オーバーライドと super()">
            <a:extLst xmlns:a="http://schemas.openxmlformats.org/drawingml/2006/main">
              <a:ext uri="{FF2B5EF4-FFF2-40B4-BE49-F238E27FC236}">
                <a16:creationId xmlns:a16="http://schemas.microsoft.com/office/drawing/2014/main" id="{5CCD8093-9F5F-45B0-95CD-D7BED070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オーバーライドと super()</a:t>
            </a:r>
          </a:p>
        </p:txBody>
      </p:sp>
      <p:sp>
        <p:nvSpPr>
          <p:cNvPr id="2" name="Bullet は共通の移動後に固有のルールを実行">
            <a:extLst xmlns:a="http://schemas.openxmlformats.org/drawingml/2006/main">
              <a:ext uri="{FF2B5EF4-FFF2-40B4-BE49-F238E27FC236}">
                <a16:creationId xmlns:a16="http://schemas.microsoft.com/office/drawing/2014/main" id="{6B328BA3-60FB-46DB-BDBF-68ACF88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Bullet は共通の移動後に固有のルールを実行</a:t>
            </a:r>
          </a:p>
        </p:txBody>
      </p:sp>
      <p:sp>
        <p:nvSpPr>
          <p:cNvPr id="3" name="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D6977C8F-AE0C-498C-876B-FB354393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update(self, dt):</a:t>
            </a:r>
          </a:p>
        </p:txBody>
      </p:sp>
      <p:sp>
        <p:nvSpPr>
          <p:cNvPr id="4" name="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4E4ADF1B-FE8A-49BB-B64D-04CCB074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super().update(dt)</a:t>
            </a:r>
          </a:p>
        </p:txBody>
      </p:sp>
      <p:sp>
        <p:nvSpPr>
          <p:cNvPr id="5" name="    if self.rect.bottom &lt; PLAY_AREA.top:">
            <a:extLst xmlns:a="http://schemas.openxmlformats.org/drawingml/2006/main">
              <a:ext uri="{FF2B5EF4-FFF2-40B4-BE49-F238E27FC236}">
                <a16:creationId xmlns:a16="http://schemas.microsoft.com/office/drawing/2014/main" id="{CB2A0794-0F75-4A69-BD11-6A0F403A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self.rect.bottom &lt; PLAY_AREA.top:</a:t>
            </a:r>
          </a:p>
        </p:txBody>
      </p:sp>
      <p:sp>
        <p:nvSpPr>
          <p:cNvPr id="6" name="        self.kill()">
            <a:extLst xmlns:a="http://schemas.openxmlformats.org/drawingml/2006/main">
              <a:ext uri="{FF2B5EF4-FFF2-40B4-BE49-F238E27FC236}">
                <a16:creationId xmlns:a16="http://schemas.microsoft.com/office/drawing/2014/main" id="{A01DC222-E9EB-4F6F-B1FF-99EAC5C2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self.kill()</a:t>
            </a:r>
          </a:p>
        </p:txBody>
      </p:sp>
      <p:sp>
        <p:nvSpPr>
          <p:cNvPr id="7" name="この継承関係では super().update(dt) が Actor.update を呼ぶ。">
            <a:extLst xmlns:a="http://schemas.openxmlformats.org/drawingml/2006/main">
              <a:ext uri="{FF2B5EF4-FFF2-40B4-BE49-F238E27FC236}">
                <a16:creationId xmlns:a16="http://schemas.microsoft.com/office/drawing/2014/main" id="{8035A556-5B67-4E8D-9E50-68F0FD91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この継承関係では super().update(dt) が Actor.update を呼ぶ。</a:t>
            </a:r>
          </a:p>
        </p:txBody>
      </p:sp>
      <p:sp>
        <p:nvSpPr>
          <p:cNvPr id="8" name="弾が上端を出ると kill() が全グループから除く。">
            <a:extLst xmlns:a="http://schemas.openxmlformats.org/drawingml/2006/main">
              <a:ext uri="{FF2B5EF4-FFF2-40B4-BE49-F238E27FC236}">
                <a16:creationId xmlns:a16="http://schemas.microsoft.com/office/drawing/2014/main" id="{06F60418-46D0-4E0A-B4E8-7C947496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弾が上端を出ると kill() が全グループから除く。</a:t>
            </a:r>
          </a:p>
        </p:txBody>
      </p:sp>
      <p:sp>
        <p:nvSpPr>
          <p:cNvPr id="9" name="actors.py / Bullet.update">
            <a:extLst xmlns:a="http://schemas.openxmlformats.org/drawingml/2006/main">
              <a:ext uri="{FF2B5EF4-FFF2-40B4-BE49-F238E27FC236}">
                <a16:creationId xmlns:a16="http://schemas.microsoft.com/office/drawing/2014/main" id="{FC208FC8-61E3-401D-A5E5-E3EB4A8C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actors.py / Bullet.update</a:t>
            </a:r>
          </a:p>
        </p:txBody>
      </p:sp>
      <p:sp>
        <p:nvSpPr>
          <p:cNvPr id="10" name="08">
            <a:extLst xmlns:a="http://schemas.openxmlformats.org/drawingml/2006/main">
              <a:ext uri="{FF2B5EF4-FFF2-40B4-BE49-F238E27FC236}">
                <a16:creationId xmlns:a16="http://schemas.microsoft.com/office/drawing/2014/main" id="{771EFD3F-FC6A-44D5-8871-6EB13FB4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258608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左右に揺れる敵を追加">
            <a:extLst xmlns:a="http://schemas.openxmlformats.org/drawingml/2006/main">
              <a:ext uri="{FF2B5EF4-FFF2-40B4-BE49-F238E27FC236}">
                <a16:creationId xmlns:a16="http://schemas.microsoft.com/office/drawing/2014/main" id="{8D1330D5-0B8B-4B8E-AEAC-574337FF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左右に揺れる敵を追加</a:t>
            </a:r>
          </a:p>
        </p:txBody>
      </p:sp>
      <p:sp>
        <p:nvSpPr>
          <p:cNvPr id="2" name="第 8 週で追加する WeavingEnemy">
            <a:extLst xmlns:a="http://schemas.openxmlformats.org/drawingml/2006/main">
              <a:ext uri="{FF2B5EF4-FFF2-40B4-BE49-F238E27FC236}">
                <a16:creationId xmlns:a16="http://schemas.microsoft.com/office/drawing/2014/main" id="{28B3D19B-0619-4974-937E-C0379D74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第 8 週で追加する WeavingEnemy</a:t>
            </a:r>
          </a:p>
        </p:txBody>
      </p:sp>
      <p:sp>
        <p:nvSpPr>
          <p:cNvPr id="3" name="class WeavingEnemy(Enemy):">
            <a:extLst xmlns:a="http://schemas.openxmlformats.org/drawingml/2006/main">
              <a:ext uri="{FF2B5EF4-FFF2-40B4-BE49-F238E27FC236}">
                <a16:creationId xmlns:a16="http://schemas.microsoft.com/office/drawing/2014/main" id="{5814C81C-BA26-4EE4-9324-E60AB54C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WeavingEnemy(Enemy):</a:t>
            </a:r>
          </a:p>
        </p:txBody>
      </p:sp>
      <p:sp>
        <p:nvSpPr>
          <p:cNvPr id="4" name="    def __init__(self, name, position, speed=80, hp=1):">
            <a:extLst xmlns:a="http://schemas.openxmlformats.org/drawingml/2006/main">
              <a:ext uri="{FF2B5EF4-FFF2-40B4-BE49-F238E27FC236}">
                <a16:creationId xmlns:a16="http://schemas.microsoft.com/office/drawing/2014/main" id="{0C05D51B-CCD6-499A-863A-330E12C3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position, speed=80, hp=1):</a:t>
            </a:r>
          </a:p>
        </p:txBody>
      </p:sp>
      <p:sp>
        <p:nvSpPr>
          <p:cNvPr id="5" name="        super().__init__(name, position, speed, hp)">
            <a:extLst xmlns:a="http://schemas.openxmlformats.org/drawingml/2006/main">
              <a:ext uri="{FF2B5EF4-FFF2-40B4-BE49-F238E27FC236}">
                <a16:creationId xmlns:a16="http://schemas.microsoft.com/office/drawing/2014/main" id="{910E4FDB-E3A9-47D6-A96C-B286E347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super().__init__(name, position, speed, hp)</a:t>
            </a:r>
          </a:p>
        </p:txBody>
      </p:sp>
      <p:sp>
        <p:nvSpPr>
          <p:cNvPr id="6" name="        self.elapsed = 0.0">
            <a:extLst xmlns:a="http://schemas.openxmlformats.org/drawingml/2006/main">
              <a:ext uri="{FF2B5EF4-FFF2-40B4-BE49-F238E27FC236}">
                <a16:creationId xmlns:a16="http://schemas.microsoft.com/office/drawing/2014/main" id="{17094122-D81B-4262-A728-554E32D3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self.elapsed = 0.0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45914-DC9C-4772-B2E8-19E94909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    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0B8E0BD8-4A66-4679-B471-2A0120C2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dt):</a:t>
            </a:r>
          </a:p>
        </p:txBody>
      </p:sp>
      <p:sp>
        <p:nvSpPr>
          <p:cNvPr id="9" name="        self.elapsed += dt">
            <a:extLst xmlns:a="http://schemas.openxmlformats.org/drawingml/2006/main">
              <a:ext uri="{FF2B5EF4-FFF2-40B4-BE49-F238E27FC236}">
                <a16:creationId xmlns:a16="http://schemas.microsoft.com/office/drawing/2014/main" id="{58BB4C39-419C-4699-B7C3-43D96D2B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self.elapsed += dt</a:t>
            </a:r>
          </a:p>
        </p:txBody>
      </p:sp>
      <p:sp>
        <p:nvSpPr>
          <p:cNvPr id="10" name="        self.velocity.x = 100 * cos(3 * self.elapsed)">
            <a:extLst xmlns:a="http://schemas.openxmlformats.org/drawingml/2006/main">
              <a:ext uri="{FF2B5EF4-FFF2-40B4-BE49-F238E27FC236}">
                <a16:creationId xmlns:a16="http://schemas.microsoft.com/office/drawing/2014/main" id="{E3AC40CD-2ABD-4111-A4DD-B7C97F6E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self.velocity.x = 100 * cos(3 * self.elapsed)</a:t>
            </a:r>
          </a:p>
        </p:txBody>
      </p:sp>
      <p:sp>
        <p:nvSpPr>
          <p:cNvPr id="11" name="    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3FF96923-AC05-4650-A4D3-C0AFD165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super().update(dt)</a:t>
            </a:r>
          </a:p>
        </p:txBody>
      </p:sp>
      <p:sp>
        <p:nvSpPr>
          <p:cNvPr id="12" name="elapsed は経過秒数。cos() で横方向の速度を周期的に変える。">
            <a:extLst xmlns:a="http://schemas.openxmlformats.org/drawingml/2006/main">
              <a:ext uri="{FF2B5EF4-FFF2-40B4-BE49-F238E27FC236}">
                <a16:creationId xmlns:a16="http://schemas.microsoft.com/office/drawing/2014/main" id="{E792948C-BC0E-4CFF-84BA-236D0AE3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elapsed は経過秒数。cos() で横方向の速度を周期的に変える。</a:t>
            </a:r>
          </a:p>
        </p:txBody>
      </p:sp>
      <p:sp>
        <p:nvSpPr>
          <p:cNvPr id="13" name="HP・被弾・グループ操作は Enemy から継承する。">
            <a:extLst xmlns:a="http://schemas.openxmlformats.org/drawingml/2006/main">
              <a:ext uri="{FF2B5EF4-FFF2-40B4-BE49-F238E27FC236}">
                <a16:creationId xmlns:a16="http://schemas.microsoft.com/office/drawing/2014/main" id="{DAED88CC-E420-47BD-8787-87CAA265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HP・被弾・グループ操作は Enemy から継承する。</a:t>
            </a:r>
          </a:p>
        </p:txBody>
      </p:sp>
      <p:sp>
        <p:nvSpPr>
          <p:cNvPr id="14" name="extension.py / WeavingEnemy">
            <a:extLst xmlns:a="http://schemas.openxmlformats.org/drawingml/2006/main">
              <a:ext uri="{FF2B5EF4-FFF2-40B4-BE49-F238E27FC236}">
                <a16:creationId xmlns:a16="http://schemas.microsoft.com/office/drawing/2014/main" id="{D564B98E-B0BC-4AFC-AF46-AEDEE2C2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extension.py / WeavingEnemy</a:t>
            </a:r>
          </a:p>
        </p:txBody>
      </p:sp>
      <p:sp>
        <p:nvSpPr>
          <p:cNvPr id="15" name="09">
            <a:extLst xmlns:a="http://schemas.openxmlformats.org/drawingml/2006/main">
              <a:ext uri="{FF2B5EF4-FFF2-40B4-BE49-F238E27FC236}">
                <a16:creationId xmlns:a16="http://schemas.microsoft.com/office/drawing/2014/main" id="{9E1E3D25-4A25-4E26-934D-BB0D4592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518025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新しい敵を同じグループへ">
            <a:extLst xmlns:a="http://schemas.openxmlformats.org/drawingml/2006/main">
              <a:ext uri="{FF2B5EF4-FFF2-40B4-BE49-F238E27FC236}">
                <a16:creationId xmlns:a16="http://schemas.microsoft.com/office/drawing/2014/main" id="{96652D23-9A7E-46AA-B7D5-FC2719E1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新しい敵を同じグループへ</a:t>
            </a:r>
          </a:p>
        </p:txBody>
      </p:sp>
      <p:sp>
        <p:nvSpPr>
          <p:cNvPr id="2" name="生成時にクラスを選び、共通の更新呼び出しを使う">
            <a:extLst xmlns:a="http://schemas.openxmlformats.org/drawingml/2006/main">
              <a:ext uri="{FF2B5EF4-FFF2-40B4-BE49-F238E27FC236}">
                <a16:creationId xmlns:a16="http://schemas.microsoft.com/office/drawing/2014/main" id="{F7ABDD7F-D35D-4173-B4F8-28856F2F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生成時にクラスを選び、共通の更新呼び出しを使う</a:t>
            </a:r>
          </a:p>
        </p:txBody>
      </p:sp>
      <p:sp>
        <p:nvSpPr>
          <p:cNvPr id="3" name="from actors import Enemy">
            <a:extLst xmlns:a="http://schemas.openxmlformats.org/drawingml/2006/main">
              <a:ext uri="{FF2B5EF4-FFF2-40B4-BE49-F238E27FC236}">
                <a16:creationId xmlns:a16="http://schemas.microsoft.com/office/drawing/2014/main" id="{508C7253-4DBE-44E8-AFE6-9E1C26AD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actors import Enemy</a:t>
            </a:r>
          </a:p>
        </p:txBody>
      </p:sp>
      <p:sp>
        <p:nvSpPr>
          <p:cNvPr id="4" name="from extension import WeavingEnemy">
            <a:extLst xmlns:a="http://schemas.openxmlformats.org/drawingml/2006/main">
              <a:ext uri="{FF2B5EF4-FFF2-40B4-BE49-F238E27FC236}">
                <a16:creationId xmlns:a16="http://schemas.microsoft.com/office/drawing/2014/main" id="{F443DE5F-5338-4D7F-8FCB-FD53E53B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extension import WeavingEnemy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D4C45-ECDA-42D5-8EAE-EA1D305B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a = Enemy(&quot;E01&quot;, (180, 180))">
            <a:extLst xmlns:a="http://schemas.openxmlformats.org/drawingml/2006/main">
              <a:ext uri="{FF2B5EF4-FFF2-40B4-BE49-F238E27FC236}">
                <a16:creationId xmlns:a16="http://schemas.microsoft.com/office/drawing/2014/main" id="{BFF87D12-4EFD-409F-AD48-8EEF482B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 = Enemy("E01", (180, 180))</a:t>
            </a:r>
          </a:p>
        </p:txBody>
      </p:sp>
      <p:sp>
        <p:nvSpPr>
          <p:cNvPr id="7" name="b = WeavingEnemy(&quot;E02&quot;, (395, 235))">
            <a:extLst xmlns:a="http://schemas.openxmlformats.org/drawingml/2006/main">
              <a:ext uri="{FF2B5EF4-FFF2-40B4-BE49-F238E27FC236}">
                <a16:creationId xmlns:a16="http://schemas.microsoft.com/office/drawing/2014/main" id="{7BCEFDFA-79F3-47BF-914D-08EE4188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 = WeavingEnemy("E02", (395, 235))</a:t>
            </a:r>
          </a:p>
        </p:txBody>
      </p:sp>
      <p:sp>
        <p:nvSpPr>
          <p:cNvPr id="8" name="group = pygame.sprite.Group(a, b)">
            <a:extLst xmlns:a="http://schemas.openxmlformats.org/drawingml/2006/main">
              <a:ext uri="{FF2B5EF4-FFF2-40B4-BE49-F238E27FC236}">
                <a16:creationId xmlns:a16="http://schemas.microsoft.com/office/drawing/2014/main" id="{DA554255-9118-44C1-9937-57E2E258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group = pygame.sprite.Group(a, b)</a:t>
            </a:r>
          </a:p>
        </p:txBody>
      </p:sp>
      <p:sp>
        <p:nvSpPr>
          <p:cNvPr id="9" name="group.update(1 / 60)">
            <a:extLst xmlns:a="http://schemas.openxmlformats.org/drawingml/2006/main">
              <a:ext uri="{FF2B5EF4-FFF2-40B4-BE49-F238E27FC236}">
                <a16:creationId xmlns:a16="http://schemas.microsoft.com/office/drawing/2014/main" id="{7C658C78-68ED-4CFD-BD22-AF1B75B4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group.update(1 / 60)</a:t>
            </a:r>
          </a:p>
        </p:txBody>
      </p:sp>
      <p:sp>
        <p:nvSpPr>
          <p:cNvPr id="10" name="元の Enemy も新しい敵も update(dt) を受け取れる。">
            <a:extLst xmlns:a="http://schemas.openxmlformats.org/drawingml/2006/main">
              <a:ext uri="{FF2B5EF4-FFF2-40B4-BE49-F238E27FC236}">
                <a16:creationId xmlns:a16="http://schemas.microsoft.com/office/drawing/2014/main" id="{BCFDCE78-719E-4D3F-9755-78CFF7FA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元の Enemy も新しい敵も update(dt) を受け取れる。</a:t>
            </a:r>
          </a:p>
        </p:txBody>
      </p:sp>
      <p:sp>
        <p:nvSpPr>
          <p:cNvPr id="11" name="完全な生成処理は demo_game.py にある。">
            <a:extLst xmlns:a="http://schemas.openxmlformats.org/drawingml/2006/main">
              <a:ext uri="{FF2B5EF4-FFF2-40B4-BE49-F238E27FC236}">
                <a16:creationId xmlns:a16="http://schemas.microsoft.com/office/drawing/2014/main" id="{EE9BE798-1E56-426C-8D87-6DD2E191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完全な生成処理は demo_game.py にある。</a:t>
            </a:r>
          </a:p>
        </p:txBody>
      </p:sp>
      <p:sp>
        <p:nvSpPr>
          <p:cNvPr id="12" name="demo_game.py / Week8Game.spawn_enemy (concept)">
            <a:extLst xmlns:a="http://schemas.openxmlformats.org/drawingml/2006/main">
              <a:ext uri="{FF2B5EF4-FFF2-40B4-BE49-F238E27FC236}">
                <a16:creationId xmlns:a16="http://schemas.microsoft.com/office/drawing/2014/main" id="{59657008-CA20-4E79-BC23-0F48F621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demo_game.py / Week8Game.spawn_enemy (concept)</a:t>
            </a:r>
          </a:p>
        </p:txBody>
      </p:sp>
      <p:sp>
        <p:nvSpPr>
          <p:cNvPr id="13" name="10">
            <a:extLst xmlns:a="http://schemas.openxmlformats.org/drawingml/2006/main">
              <a:ext uri="{FF2B5EF4-FFF2-40B4-BE49-F238E27FC236}">
                <a16:creationId xmlns:a16="http://schemas.microsoft.com/office/drawing/2014/main" id="{005D87D8-AFEA-462A-85DC-1ED026BD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813111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park とダックタイピング">
            <a:extLst xmlns:a="http://schemas.openxmlformats.org/drawingml/2006/main">
              <a:ext uri="{FF2B5EF4-FFF2-40B4-BE49-F238E27FC236}">
                <a16:creationId xmlns:a16="http://schemas.microsoft.com/office/drawing/2014/main" id="{57636860-DBB1-4E47-A22C-3C102D70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Spark とダックタイピング</a:t>
            </a:r>
          </a:p>
        </p:txBody>
      </p:sp>
      <p:sp>
        <p:nvSpPr>
          <p:cNvPr id="2" name="必要な操作に応えられるオブジェクトを使う">
            <a:extLst xmlns:a="http://schemas.openxmlformats.org/drawingml/2006/main">
              <a:ext uri="{FF2B5EF4-FFF2-40B4-BE49-F238E27FC236}">
                <a16:creationId xmlns:a16="http://schemas.microsoft.com/office/drawing/2014/main" id="{2EDEA7F3-B728-4FC5-8FA2-7EB95490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必要な操作に応えられるオブジェクトを使う</a:t>
            </a:r>
          </a:p>
        </p:txBody>
      </p:sp>
      <p:sp>
        <p:nvSpPr>
          <p:cNvPr id="3" name="class Spark:">
            <a:extLst xmlns:a="http://schemas.openxmlformats.org/drawingml/2006/main">
              <a:ext uri="{FF2B5EF4-FFF2-40B4-BE49-F238E27FC236}">
                <a16:creationId xmlns:a16="http://schemas.microsoft.com/office/drawing/2014/main" id="{9AF33B25-7B07-456F-A06D-2D97A7FB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Spark:</a:t>
            </a:r>
          </a:p>
        </p:txBody>
      </p:sp>
      <p:sp>
        <p:nvSpPr>
          <p:cNvPr id="4" name="    def __init__(self) -&gt; None:">
            <a:extLst xmlns:a="http://schemas.openxmlformats.org/drawingml/2006/main">
              <a:ext uri="{FF2B5EF4-FFF2-40B4-BE49-F238E27FC236}">
                <a16:creationId xmlns:a16="http://schemas.microsoft.com/office/drawing/2014/main" id="{66F79B81-2BC4-477C-A0EF-B458B199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__init__(self) -&gt; None:</a:t>
            </a:r>
          </a:p>
        </p:txBody>
      </p:sp>
      <p:sp>
        <p:nvSpPr>
          <p:cNvPr id="5" name="        self.ttl = 1.0">
            <a:extLst xmlns:a="http://schemas.openxmlformats.org/drawingml/2006/main">
              <a:ext uri="{FF2B5EF4-FFF2-40B4-BE49-F238E27FC236}">
                <a16:creationId xmlns:a16="http://schemas.microsoft.com/office/drawing/2014/main" id="{355D346B-4595-4E98-9BE4-BE61EB3F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self.ttl = 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BFCC8-2A86-4975-A5C9-4D453024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    def update(self, dt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CE2065C3-6066-4BB4-801F-E6FD7F03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</a:t>
            </a:r>
          </a:p>
        </p:txBody>
      </p:sp>
      <p:sp>
        <p:nvSpPr>
          <p:cNvPr id="8" name="        self.ttl = max(0.0, self.ttl - dt)">
            <a:extLst xmlns:a="http://schemas.openxmlformats.org/drawingml/2006/main">
              <a:ext uri="{FF2B5EF4-FFF2-40B4-BE49-F238E27FC236}">
                <a16:creationId xmlns:a16="http://schemas.microsoft.com/office/drawing/2014/main" id="{2821D65A-97D7-4C42-819C-453B5D87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self.ttl = max(0.0, self.ttl - dt)</a:t>
            </a:r>
          </a:p>
        </p:txBody>
      </p:sp>
      <p:sp>
        <p:nvSpPr>
          <p:cNvPr id="9" name="Spark は残り時間 ttl を持ち、Enemy を継承しない。">
            <a:extLst xmlns:a="http://schemas.openxmlformats.org/drawingml/2006/main">
              <a:ext uri="{FF2B5EF4-FFF2-40B4-BE49-F238E27FC236}">
                <a16:creationId xmlns:a16="http://schemas.microsoft.com/office/drawing/2014/main" id="{E3C53391-AA56-489B-93C5-9C6B00EF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Spark は残り時間 ttl を持ち、Enemy を継承しない。</a:t>
            </a:r>
          </a:p>
        </p:txBody>
      </p:sp>
      <p:sp>
        <p:nvSpPr>
          <p:cNvPr id="10" name="Spark は通常の更新リストで使える。Pygame のグループには Sprite の仕組みが必要。">
            <a:extLst xmlns:a="http://schemas.openxmlformats.org/drawingml/2006/main">
              <a:ext uri="{FF2B5EF4-FFF2-40B4-BE49-F238E27FC236}">
                <a16:creationId xmlns:a16="http://schemas.microsoft.com/office/drawing/2014/main" id="{DE0AA708-1E4C-4B81-A640-C0058467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Spark は通常の更新リストで使える。Pygame のグループには Sprite の仕組みが必要。</a:t>
            </a:r>
          </a:p>
        </p:txBody>
      </p:sp>
      <p:sp>
        <p:nvSpPr>
          <p:cNvPr id="11" name="contracts.py / Spark">
            <a:extLst xmlns:a="http://schemas.openxmlformats.org/drawingml/2006/main">
              <a:ext uri="{FF2B5EF4-FFF2-40B4-BE49-F238E27FC236}">
                <a16:creationId xmlns:a16="http://schemas.microsoft.com/office/drawing/2014/main" id="{7CAF4FAA-8CD4-4A72-82A6-709E12FC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Spark</a:t>
            </a:r>
          </a:p>
        </p:txBody>
      </p:sp>
      <p:sp>
        <p:nvSpPr>
          <p:cNvPr id="12" name="11">
            <a:extLst xmlns:a="http://schemas.openxmlformats.org/drawingml/2006/main">
              <a:ext uri="{FF2B5EF4-FFF2-40B4-BE49-F238E27FC236}">
                <a16:creationId xmlns:a16="http://schemas.microsoft.com/office/drawing/2014/main" id="{5994653F-B51B-4314-B833-0DBF0CA3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678938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呼び出しには互換性が必要">
            <a:extLst xmlns:a="http://schemas.openxmlformats.org/drawingml/2006/main">
              <a:ext uri="{FF2B5EF4-FFF2-40B4-BE49-F238E27FC236}">
                <a16:creationId xmlns:a16="http://schemas.microsoft.com/office/drawing/2014/main" id="{5DC35EAB-9621-4284-8181-CAB7AE43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呼び出しには互換性が必要</a:t>
            </a:r>
          </a:p>
        </p:txBody>
      </p:sp>
      <p:sp>
        <p:nvSpPr>
          <p:cNvPr id="2" name="メソッド名と引数が呼び出しを左右する">
            <a:extLst xmlns:a="http://schemas.openxmlformats.org/drawingml/2006/main">
              <a:ext uri="{FF2B5EF4-FFF2-40B4-BE49-F238E27FC236}">
                <a16:creationId xmlns:a16="http://schemas.microsoft.com/office/drawing/2014/main" id="{00F63AC0-8727-4400-AFFC-2CA34741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メソッド名と引数が呼び出しを左右する</a:t>
            </a:r>
          </a:p>
        </p:txBody>
      </p:sp>
      <p:sp>
        <p:nvSpPr>
          <p:cNvPr id="3" name="class BadClock:">
            <a:extLst xmlns:a="http://schemas.openxmlformats.org/drawingml/2006/main">
              <a:ext uri="{FF2B5EF4-FFF2-40B4-BE49-F238E27FC236}">
                <a16:creationId xmlns:a16="http://schemas.microsoft.com/office/drawing/2014/main" id="{0E5CEC27-34A3-4E05-A465-BFF8919D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BadClock:</a:t>
            </a:r>
          </a:p>
        </p:txBody>
      </p:sp>
      <p:sp>
        <p:nvSpPr>
          <p:cNvPr id="4" name="    def update(self):">
            <a:extLst xmlns:a="http://schemas.openxmlformats.org/drawingml/2006/main">
              <a:ext uri="{FF2B5EF4-FFF2-40B4-BE49-F238E27FC236}">
                <a16:creationId xmlns:a16="http://schemas.microsoft.com/office/drawing/2014/main" id="{0883D887-ED00-4B90-BE7F-55C358A7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update(self):</a:t>
            </a:r>
          </a:p>
        </p:txBody>
      </p:sp>
      <p:sp>
        <p:nvSpPr>
          <p:cNvPr id="5" name="        pass">
            <a:extLst xmlns:a="http://schemas.openxmlformats.org/drawingml/2006/main">
              <a:ext uri="{FF2B5EF4-FFF2-40B4-BE49-F238E27FC236}">
                <a16:creationId xmlns:a16="http://schemas.microsoft.com/office/drawing/2014/main" id="{49D4501E-E49F-4011-9D07-B63B0596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345E6-E072-4666-91C9-27C2EFF2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bad = BadClock()">
            <a:extLst xmlns:a="http://schemas.openxmlformats.org/drawingml/2006/main">
              <a:ext uri="{FF2B5EF4-FFF2-40B4-BE49-F238E27FC236}">
                <a16:creationId xmlns:a16="http://schemas.microsoft.com/office/drawing/2014/main" id="{543E9AE0-393A-4C18-9E6B-D17A815F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bad = BadClock()</a:t>
            </a:r>
          </a:p>
        </p:txBody>
      </p:sp>
      <p:sp>
        <p:nvSpPr>
          <p:cNvPr id="8" name="bad.update(0.5)  # TypeError">
            <a:extLst xmlns:a="http://schemas.openxmlformats.org/drawingml/2006/main">
              <a:ext uri="{FF2B5EF4-FFF2-40B4-BE49-F238E27FC236}">
                <a16:creationId xmlns:a16="http://schemas.microsoft.com/office/drawing/2014/main" id="{CD4215A8-7AB2-48F6-B311-659AD58E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bad.update(0.5)  # TypeError</a:t>
            </a:r>
          </a:p>
        </p:txBody>
      </p:sp>
      <p:sp>
        <p:nvSpPr>
          <p:cNvPr id="9" name="update がなければ AttributeError。">
            <a:extLst xmlns:a="http://schemas.openxmlformats.org/drawingml/2006/main">
              <a:ext uri="{FF2B5EF4-FFF2-40B4-BE49-F238E27FC236}">
                <a16:creationId xmlns:a16="http://schemas.microsoft.com/office/drawing/2014/main" id="{A054DECC-89A4-42BC-B169-38E31461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update がなければ AttributeError。</a:t>
            </a:r>
          </a:p>
        </p:txBody>
      </p:sp>
      <p:sp>
        <p:nvSpPr>
          <p:cNvPr id="10" name="update があっても dt を受け取れなければ呼び出せない。">
            <a:extLst xmlns:a="http://schemas.openxmlformats.org/drawingml/2006/main">
              <a:ext uri="{FF2B5EF4-FFF2-40B4-BE49-F238E27FC236}">
                <a16:creationId xmlns:a16="http://schemas.microsoft.com/office/drawing/2014/main" id="{467B0588-84F0-4B8A-BDF2-CB58D4E7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update があっても dt を受け取れなければ呼び出せない。</a:t>
            </a:r>
          </a:p>
        </p:txBody>
      </p:sp>
      <p:sp>
        <p:nvSpPr>
          <p:cNvPr id="11" name="contracts.py / BadClock">
            <a:extLst xmlns:a="http://schemas.openxmlformats.org/drawingml/2006/main">
              <a:ext uri="{FF2B5EF4-FFF2-40B4-BE49-F238E27FC236}">
                <a16:creationId xmlns:a16="http://schemas.microsoft.com/office/drawing/2014/main" id="{B421FDB0-4609-427E-8C8D-41A9E2DE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BadClock</a:t>
            </a:r>
          </a:p>
        </p:txBody>
      </p:sp>
      <p:sp>
        <p:nvSpPr>
          <p:cNvPr id="12" name="12">
            <a:extLst xmlns:a="http://schemas.openxmlformats.org/drawingml/2006/main">
              <a:ext uri="{FF2B5EF4-FFF2-40B4-BE49-F238E27FC236}">
                <a16:creationId xmlns:a16="http://schemas.microsoft.com/office/drawing/2014/main" id="{90982661-6712-4F1C-830C-F514EEC2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591297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更新インターフェースの契約">
            <a:extLst xmlns:a="http://schemas.openxmlformats.org/drawingml/2006/main">
              <a:ext uri="{FF2B5EF4-FFF2-40B4-BE49-F238E27FC236}">
                <a16:creationId xmlns:a16="http://schemas.microsoft.com/office/drawing/2014/main" id="{4CD4E6E9-9553-4E9F-A61A-DE55AA87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更新インターフェースの契約</a:t>
            </a:r>
          </a:p>
        </p:txBody>
      </p:sp>
      <p:sp>
        <p:nvSpPr>
          <p:cNvPr id="2" name="共通の操作には振る舞いと単位の約束もある">
            <a:extLst xmlns:a="http://schemas.openxmlformats.org/drawingml/2006/main">
              <a:ext uri="{FF2B5EF4-FFF2-40B4-BE49-F238E27FC236}">
                <a16:creationId xmlns:a16="http://schemas.microsoft.com/office/drawing/2014/main" id="{6AECE884-6920-42CD-9C30-A91CF044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共通の操作には振る舞いと単位の約束もある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D5E91-D4CE-4C29-B94B-EF069E7253C8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8763000"/>
              </a:tblGrid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この例での約束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dt: float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単位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経過秒数、dt ≥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副作用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自身の状態を更新し、必要なら rect を同期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5330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戻り値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None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抽象化では必要な操作を公開し、実装の詳細をオブジェクト内部に保つ。">
            <a:extLst xmlns:a="http://schemas.openxmlformats.org/drawingml/2006/main">
              <a:ext uri="{FF2B5EF4-FFF2-40B4-BE49-F238E27FC236}">
                <a16:creationId xmlns:a16="http://schemas.microsoft.com/office/drawing/2014/main" id="{1B4AA25E-8ACD-4348-B71E-7CD1834F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抽象化では必要な操作を公開し、実装の詳細をオブジェクト内部に保つ。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B44ADA52-76E7-45BB-A271-020411B8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59562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抽象基底クラス ABC">
            <a:extLst xmlns:a="http://schemas.openxmlformats.org/drawingml/2006/main">
              <a:ext uri="{FF2B5EF4-FFF2-40B4-BE49-F238E27FC236}">
                <a16:creationId xmlns:a16="http://schemas.microsoft.com/office/drawing/2014/main" id="{CA4DCDE3-D99C-4670-ADAE-938719FE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抽象基底クラス ABC</a:t>
            </a:r>
          </a:p>
        </p:txBody>
      </p:sp>
      <p:sp>
        <p:nvSpPr>
          <p:cNvPr id="2" name="抽象メソッドでサブクラスに必要な操作を示す">
            <a:extLst xmlns:a="http://schemas.openxmlformats.org/drawingml/2006/main">
              <a:ext uri="{FF2B5EF4-FFF2-40B4-BE49-F238E27FC236}">
                <a16:creationId xmlns:a16="http://schemas.microsoft.com/office/drawing/2014/main" id="{0C232FD4-054C-4EF4-9943-131E9A59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抽象メソッドでサブクラスに必要な操作を示す</a:t>
            </a:r>
          </a:p>
        </p:txBody>
      </p:sp>
      <p:sp>
        <p:nvSpPr>
          <p:cNvPr id="3" name="from abc import ABC, abstractmethod">
            <a:extLst xmlns:a="http://schemas.openxmlformats.org/drawingml/2006/main">
              <a:ext uri="{FF2B5EF4-FFF2-40B4-BE49-F238E27FC236}">
                <a16:creationId xmlns:a16="http://schemas.microsoft.com/office/drawing/2014/main" id="{1FAF01F2-2942-452B-A9BC-01A7FC4A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abc import ABC, abstractmethod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0844C-A4B7-4F3E-ABA5-211142C9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class UpdateableABC(ABC):">
            <a:extLst xmlns:a="http://schemas.openxmlformats.org/drawingml/2006/main">
              <a:ext uri="{FF2B5EF4-FFF2-40B4-BE49-F238E27FC236}">
                <a16:creationId xmlns:a16="http://schemas.microsoft.com/office/drawing/2014/main" id="{BC84DE7C-0A57-407A-8BA4-6BB12221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UpdateableABC(ABC):</a:t>
            </a:r>
          </a:p>
        </p:txBody>
      </p:sp>
      <p:sp>
        <p:nvSpPr>
          <p:cNvPr id="6" name="    @abstractmethod">
            <a:extLst xmlns:a="http://schemas.openxmlformats.org/drawingml/2006/main">
              <a:ext uri="{FF2B5EF4-FFF2-40B4-BE49-F238E27FC236}">
                <a16:creationId xmlns:a16="http://schemas.microsoft.com/office/drawing/2014/main" id="{D9573C61-7D2C-4B02-9809-B8EE0A4E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@abstractmethod</a:t>
            </a:r>
          </a:p>
        </p:txBody>
      </p:sp>
      <p:sp>
        <p:nvSpPr>
          <p:cNvPr id="7" name="    def update(self, dt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C537A1C8-3614-4319-A055-47E3D89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</a:t>
            </a:r>
          </a:p>
        </p:txBody>
      </p:sp>
      <p:sp>
        <p:nvSpPr>
          <p:cNvPr id="8" name="        pass">
            <a:extLst xmlns:a="http://schemas.openxmlformats.org/drawingml/2006/main">
              <a:ext uri="{FF2B5EF4-FFF2-40B4-BE49-F238E27FC236}">
                <a16:creationId xmlns:a16="http://schemas.microsoft.com/office/drawing/2014/main" id="{4257457B-6EC8-4B11-B619-9638F06A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pass</a:t>
            </a:r>
          </a:p>
        </p:txBody>
      </p:sp>
      <p:sp>
        <p:nvSpPr>
          <p:cNvPr id="9" name="これは独立した簡略モデル。元の Actor は具象クラスのまま。">
            <a:extLst xmlns:a="http://schemas.openxmlformats.org/drawingml/2006/main">
              <a:ext uri="{FF2B5EF4-FFF2-40B4-BE49-F238E27FC236}">
                <a16:creationId xmlns:a16="http://schemas.microsoft.com/office/drawing/2014/main" id="{4E4A2F44-CDB8-47D9-8A5D-FD881D55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これは独立した簡略モデル。元の Actor は具象クラスのまま。</a:t>
            </a:r>
          </a:p>
        </p:txBody>
      </p:sp>
      <p:sp>
        <p:nvSpPr>
          <p:cNvPr id="10" name="ABC と abstractmethod は abc モジュールから読み込む。">
            <a:extLst xmlns:a="http://schemas.openxmlformats.org/drawingml/2006/main">
              <a:ext uri="{FF2B5EF4-FFF2-40B4-BE49-F238E27FC236}">
                <a16:creationId xmlns:a16="http://schemas.microsoft.com/office/drawing/2014/main" id="{75694895-F600-4C85-B5C8-5BD0DF35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ABC と abstractmethod は abc モジュールから読み込む。</a:t>
            </a:r>
          </a:p>
        </p:txBody>
      </p:sp>
      <p:sp>
        <p:nvSpPr>
          <p:cNvPr id="11" name="contracts.py / UpdateableABC">
            <a:extLst xmlns:a="http://schemas.openxmlformats.org/drawingml/2006/main">
              <a:ext uri="{FF2B5EF4-FFF2-40B4-BE49-F238E27FC236}">
                <a16:creationId xmlns:a16="http://schemas.microsoft.com/office/drawing/2014/main" id="{72FACE8D-E20B-42D8-9C90-3F562AF3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UpdateableABC</a:t>
            </a:r>
          </a:p>
        </p:txBody>
      </p:sp>
      <p:sp>
        <p:nvSpPr>
          <p:cNvPr id="12" name="14">
            <a:extLst xmlns:a="http://schemas.openxmlformats.org/drawingml/2006/main">
              <a:ext uri="{FF2B5EF4-FFF2-40B4-BE49-F238E27FC236}">
                <a16:creationId xmlns:a16="http://schemas.microsoft.com/office/drawing/2014/main" id="{A9D99F5B-7322-48AD-8FE6-66063584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192512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未実装の抽象メソッド">
            <a:extLst xmlns:a="http://schemas.openxmlformats.org/drawingml/2006/main">
              <a:ext uri="{FF2B5EF4-FFF2-40B4-BE49-F238E27FC236}">
                <a16:creationId xmlns:a16="http://schemas.microsoft.com/office/drawing/2014/main" id="{2E0DABBB-E959-4B02-8AE2-2115DA19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未実装の抽象メソッド</a:t>
            </a:r>
          </a:p>
        </p:txBody>
      </p:sp>
      <p:sp>
        <p:nvSpPr>
          <p:cNvPr id="2" name="抽象メソッドが残る間は実体を生成できない">
            <a:extLst xmlns:a="http://schemas.openxmlformats.org/drawingml/2006/main">
              <a:ext uri="{FF2B5EF4-FFF2-40B4-BE49-F238E27FC236}">
                <a16:creationId xmlns:a16="http://schemas.microsoft.com/office/drawing/2014/main" id="{C1280075-54FF-4288-ACB0-AB0DC8D5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抽象メソッドが残る間は実体を生成できない</a:t>
            </a:r>
          </a:p>
        </p:txBody>
      </p:sp>
      <p:sp>
        <p:nvSpPr>
          <p:cNvPr id="3" name="class Incomplete(UpdateableABC):">
            <a:extLst xmlns:a="http://schemas.openxmlformats.org/drawingml/2006/main">
              <a:ext uri="{FF2B5EF4-FFF2-40B4-BE49-F238E27FC236}">
                <a16:creationId xmlns:a16="http://schemas.microsoft.com/office/drawing/2014/main" id="{DB812600-5511-4C8A-904E-2C723BD5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Incomplete(UpdateableABC):</a:t>
            </a:r>
          </a:p>
        </p:txBody>
      </p:sp>
      <p:sp>
        <p:nvSpPr>
          <p:cNvPr id="4" name="    pass">
            <a:extLst xmlns:a="http://schemas.openxmlformats.org/drawingml/2006/main">
              <a:ext uri="{FF2B5EF4-FFF2-40B4-BE49-F238E27FC236}">
                <a16:creationId xmlns:a16="http://schemas.microsoft.com/office/drawing/2014/main" id="{0C31E94F-6BC2-4F88-90FC-46F4A02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6F8F2-5F5F-44BD-B0D1-B366AAF0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Incomplete()  # TypeError">
            <a:extLst xmlns:a="http://schemas.openxmlformats.org/drawingml/2006/main">
              <a:ext uri="{FF2B5EF4-FFF2-40B4-BE49-F238E27FC236}">
                <a16:creationId xmlns:a16="http://schemas.microsoft.com/office/drawing/2014/main" id="{E2E7F9AA-A974-4947-BC02-C77D14DE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Incomplete()  # TypeError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FD402-6759-47F1-8CEA-5061F36B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# Still abstract:">
            <a:extLst xmlns:a="http://schemas.openxmlformats.org/drawingml/2006/main">
              <a:ext uri="{FF2B5EF4-FFF2-40B4-BE49-F238E27FC236}">
                <a16:creationId xmlns:a16="http://schemas.microsoft.com/office/drawing/2014/main" id="{12252D6E-35F7-4467-B31A-8891380D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Still abstract:</a:t>
            </a:r>
          </a:p>
        </p:txBody>
      </p:sp>
      <p:sp>
        <p:nvSpPr>
          <p:cNvPr id="9" name="UpdateableABC()  # TypeError">
            <a:extLst xmlns:a="http://schemas.openxmlformats.org/drawingml/2006/main">
              <a:ext uri="{FF2B5EF4-FFF2-40B4-BE49-F238E27FC236}">
                <a16:creationId xmlns:a16="http://schemas.microsoft.com/office/drawing/2014/main" id="{65427CC7-2588-4572-BFC6-792C3BBA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UpdateableABC()  # TypeError</a:t>
            </a:r>
          </a:p>
        </p:txBody>
      </p:sp>
      <p:sp>
        <p:nvSpPr>
          <p:cNvPr id="10" name="pass 自体は抽象契約を作らない。ABC とデコレーターが必要。">
            <a:extLst xmlns:a="http://schemas.openxmlformats.org/drawingml/2006/main">
              <a:ext uri="{FF2B5EF4-FFF2-40B4-BE49-F238E27FC236}">
                <a16:creationId xmlns:a16="http://schemas.microsoft.com/office/drawing/2014/main" id="{5E4D6CE7-7973-4B3E-80BB-2D4D891C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pass 自体は抽象契約を作らない。ABC とデコレーターが必要。</a:t>
            </a:r>
          </a:p>
        </p:txBody>
      </p:sp>
      <p:sp>
        <p:nvSpPr>
          <p:cNvPr id="11" name="ABC はオーバーライドのシグネチャや振る舞いを完全には検証しない。">
            <a:extLst xmlns:a="http://schemas.openxmlformats.org/drawingml/2006/main">
              <a:ext uri="{FF2B5EF4-FFF2-40B4-BE49-F238E27FC236}">
                <a16:creationId xmlns:a16="http://schemas.microsoft.com/office/drawing/2014/main" id="{E0926E58-6799-41DB-9E26-2079557E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ABC はオーバーライドのシグネチャや振る舞いを完全には検証しない。</a:t>
            </a:r>
          </a:p>
        </p:txBody>
      </p:sp>
      <p:sp>
        <p:nvSpPr>
          <p:cNvPr id="12" name="contracts.py / abstract-class example">
            <a:extLst xmlns:a="http://schemas.openxmlformats.org/drawingml/2006/main">
              <a:ext uri="{FF2B5EF4-FFF2-40B4-BE49-F238E27FC236}">
                <a16:creationId xmlns:a16="http://schemas.microsoft.com/office/drawing/2014/main" id="{41D8B8F4-5514-48D7-ACB7-686BCC24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abstract-class example</a:t>
            </a:r>
          </a:p>
        </p:txBody>
      </p:sp>
      <p:sp>
        <p:nvSpPr>
          <p:cNvPr id="13" name="15">
            <a:extLst xmlns:a="http://schemas.openxmlformats.org/drawingml/2006/main">
              <a:ext uri="{FF2B5EF4-FFF2-40B4-BE49-F238E27FC236}">
                <a16:creationId xmlns:a16="http://schemas.microsoft.com/office/drawing/2014/main" id="{9AA82C4E-FEA4-4914-8E5C-AC7307BA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9865223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抽象契約を実装したクラス">
            <a:extLst xmlns:a="http://schemas.openxmlformats.org/drawingml/2006/main">
              <a:ext uri="{FF2B5EF4-FFF2-40B4-BE49-F238E27FC236}">
                <a16:creationId xmlns:a16="http://schemas.microsoft.com/office/drawing/2014/main" id="{54DE3A59-8AD5-49FF-B4B6-90ADFC1A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抽象契約を実装したクラス</a:t>
            </a:r>
          </a:p>
        </p:txBody>
      </p:sp>
      <p:sp>
        <p:nvSpPr>
          <p:cNvPr id="2" name="FallingTarget が update(dt) を実装">
            <a:extLst xmlns:a="http://schemas.openxmlformats.org/drawingml/2006/main">
              <a:ext uri="{FF2B5EF4-FFF2-40B4-BE49-F238E27FC236}">
                <a16:creationId xmlns:a16="http://schemas.microsoft.com/office/drawing/2014/main" id="{453773E0-16F7-4E48-80C9-2CA23588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FallingTarget が update(dt) を実装</a:t>
            </a:r>
          </a:p>
        </p:txBody>
      </p:sp>
      <p:sp>
        <p:nvSpPr>
          <p:cNvPr id="3" name="class FallingTarget(UpdateableABC):">
            <a:extLst xmlns:a="http://schemas.openxmlformats.org/drawingml/2006/main">
              <a:ext uri="{FF2B5EF4-FFF2-40B4-BE49-F238E27FC236}">
                <a16:creationId xmlns:a16="http://schemas.microsoft.com/office/drawing/2014/main" id="{759D29EE-7C3E-4D64-B09C-3449D7CC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FallingTarget(UpdateableABC):</a:t>
            </a:r>
          </a:p>
        </p:txBody>
      </p:sp>
      <p:sp>
        <p:nvSpPr>
          <p:cNvPr id="4" name="    def __init__(self) -&gt; None:">
            <a:extLst xmlns:a="http://schemas.openxmlformats.org/drawingml/2006/main">
              <a:ext uri="{FF2B5EF4-FFF2-40B4-BE49-F238E27FC236}">
                <a16:creationId xmlns:a16="http://schemas.microsoft.com/office/drawing/2014/main" id="{DC29A0BA-0940-4066-970C-CB62BD75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__init__(self) -&gt; None:</a:t>
            </a:r>
          </a:p>
        </p:txBody>
      </p:sp>
      <p:sp>
        <p:nvSpPr>
          <p:cNvPr id="5" name="        self.y = 0.0">
            <a:extLst xmlns:a="http://schemas.openxmlformats.org/drawingml/2006/main">
              <a:ext uri="{FF2B5EF4-FFF2-40B4-BE49-F238E27FC236}">
                <a16:creationId xmlns:a16="http://schemas.microsoft.com/office/drawing/2014/main" id="{38AA4C95-AF73-4C2C-ADE7-9CCBCEB7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self.y = 0.0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23D3C-15C3-42E9-9439-3E9797BA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    def update(self, dt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20196960-48F3-46C2-A3D7-ABB8DC11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</a:t>
            </a:r>
          </a:p>
        </p:txBody>
      </p:sp>
      <p:sp>
        <p:nvSpPr>
          <p:cNvPr id="8" name="        self.y += 80.0 * dt">
            <a:extLst xmlns:a="http://schemas.openxmlformats.org/drawingml/2006/main">
              <a:ext uri="{FF2B5EF4-FFF2-40B4-BE49-F238E27FC236}">
                <a16:creationId xmlns:a16="http://schemas.microsoft.com/office/drawing/2014/main" id="{F8778EF3-BE7F-41BE-A673-3758DD4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self.y += 80.0 * dt</a:t>
            </a:r>
          </a:p>
        </p:txBody>
      </p:sp>
      <p:sp>
        <p:nvSpPr>
          <p:cNvPr id="9" name="生成後の update(0.5) で y は 0.0 から 40.0 になる。">
            <a:extLst xmlns:a="http://schemas.openxmlformats.org/drawingml/2006/main">
              <a:ext uri="{FF2B5EF4-FFF2-40B4-BE49-F238E27FC236}">
                <a16:creationId xmlns:a16="http://schemas.microsoft.com/office/drawing/2014/main" id="{559599F6-45FC-4F8B-853D-DEDA2AB3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生成後の update(0.5) で y は 0.0 から 40.0 になる。</a:t>
            </a:r>
          </a:p>
        </p:txBody>
      </p:sp>
      <p:sp>
        <p:nvSpPr>
          <p:cNvPr id="10" name="抽象クラスも共通実装や通常のメソッドを提供できる。">
            <a:extLst xmlns:a="http://schemas.openxmlformats.org/drawingml/2006/main">
              <a:ext uri="{FF2B5EF4-FFF2-40B4-BE49-F238E27FC236}">
                <a16:creationId xmlns:a16="http://schemas.microsoft.com/office/drawing/2014/main" id="{EC0E3D00-0AA1-4D14-98C6-0C88A585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抽象クラスも共通実装や通常のメソッドを提供できる。</a:t>
            </a:r>
          </a:p>
        </p:txBody>
      </p:sp>
      <p:sp>
        <p:nvSpPr>
          <p:cNvPr id="11" name="contracts.py / FallingTarget">
            <a:extLst xmlns:a="http://schemas.openxmlformats.org/drawingml/2006/main">
              <a:ext uri="{FF2B5EF4-FFF2-40B4-BE49-F238E27FC236}">
                <a16:creationId xmlns:a16="http://schemas.microsoft.com/office/drawing/2014/main" id="{96328B07-7364-4FB9-9549-7888D26D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FallingTarget</a:t>
            </a:r>
          </a:p>
        </p:txBody>
      </p:sp>
      <p:sp>
        <p:nvSpPr>
          <p:cNvPr id="12" name="16">
            <a:extLst xmlns:a="http://schemas.openxmlformats.org/drawingml/2006/main">
              <a:ext uri="{FF2B5EF4-FFF2-40B4-BE49-F238E27FC236}">
                <a16:creationId xmlns:a16="http://schemas.microsoft.com/office/drawing/2014/main" id="{5E20AFAC-5EBB-42C5-B69C-08DFFE34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2563298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rotocol で必要な操作を表す">
            <a:extLst xmlns:a="http://schemas.openxmlformats.org/drawingml/2006/main">
              <a:ext uri="{FF2B5EF4-FFF2-40B4-BE49-F238E27FC236}">
                <a16:creationId xmlns:a16="http://schemas.microsoft.com/office/drawing/2014/main" id="{26E1CF90-E435-4DA5-884D-0B3C8047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Protocol で必要な操作を表す</a:t>
            </a:r>
          </a:p>
        </p:txBody>
      </p:sp>
      <p:sp>
        <p:nvSpPr>
          <p:cNvPr id="2" name="明示的な継承なしで構造から互換性を判断">
            <a:extLst xmlns:a="http://schemas.openxmlformats.org/drawingml/2006/main">
              <a:ext uri="{FF2B5EF4-FFF2-40B4-BE49-F238E27FC236}">
                <a16:creationId xmlns:a16="http://schemas.microsoft.com/office/drawing/2014/main" id="{D8DD4124-9BC1-496A-B5B0-9CC84734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明示的な継承なしで構造から互換性を判断</a:t>
            </a:r>
          </a:p>
        </p:txBody>
      </p:sp>
      <p:sp>
        <p:nvSpPr>
          <p:cNvPr id="3" name="from typing import Protocol">
            <a:extLst xmlns:a="http://schemas.openxmlformats.org/drawingml/2006/main">
              <a:ext uri="{FF2B5EF4-FFF2-40B4-BE49-F238E27FC236}">
                <a16:creationId xmlns:a16="http://schemas.microsoft.com/office/drawing/2014/main" id="{6A59B329-D925-4F4F-803A-D286DC24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typing import Protocol</a:t>
            </a:r>
          </a:p>
        </p:txBody>
      </p:sp>
      <p:sp>
        <p:nvSpPr>
          <p:cNvPr id="4" name="from collections.abc import Iterable">
            <a:extLst xmlns:a="http://schemas.openxmlformats.org/drawingml/2006/main">
              <a:ext uri="{FF2B5EF4-FFF2-40B4-BE49-F238E27FC236}">
                <a16:creationId xmlns:a16="http://schemas.microsoft.com/office/drawing/2014/main" id="{C7FFBD50-2EAB-4F5D-8498-4B6861C0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collections.abc import Iterable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B65B9-292A-4956-9180-21D6329B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class Updatable(Protocol):">
            <a:extLst xmlns:a="http://schemas.openxmlformats.org/drawingml/2006/main">
              <a:ext uri="{FF2B5EF4-FFF2-40B4-BE49-F238E27FC236}">
                <a16:creationId xmlns:a16="http://schemas.microsoft.com/office/drawing/2014/main" id="{E6105A57-E32D-46A1-BE7B-25368D65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Updatable(Protocol):</a:t>
            </a:r>
          </a:p>
        </p:txBody>
      </p:sp>
      <p:sp>
        <p:nvSpPr>
          <p:cNvPr id="7" name="    def update(self, dt: float) -&gt; None: ...">
            <a:extLst xmlns:a="http://schemas.openxmlformats.org/drawingml/2006/main">
              <a:ext uri="{FF2B5EF4-FFF2-40B4-BE49-F238E27FC236}">
                <a16:creationId xmlns:a16="http://schemas.microsoft.com/office/drawing/2014/main" id="{4A63FAA6-9289-4F7C-972C-C2D93DA2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 ...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35387-21A5-4C3B-9D81-CACB838E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def tick_all(items: Iterable[Updatable], dt: float) -&gt; None:">
            <a:extLst xmlns:a="http://schemas.openxmlformats.org/drawingml/2006/main">
              <a:ext uri="{FF2B5EF4-FFF2-40B4-BE49-F238E27FC236}">
                <a16:creationId xmlns:a16="http://schemas.microsoft.com/office/drawing/2014/main" id="{306CAA4C-5E46-4D1E-972A-BCFED77E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tick_all(items: Iterable[Updatable], dt: float) -&gt; None:</a:t>
            </a:r>
          </a:p>
        </p:txBody>
      </p:sp>
      <p:sp>
        <p:nvSpPr>
          <p:cNvPr id="10" name="    for item in items:">
            <a:extLst xmlns:a="http://schemas.openxmlformats.org/drawingml/2006/main">
              <a:ext uri="{FF2B5EF4-FFF2-40B4-BE49-F238E27FC236}">
                <a16:creationId xmlns:a16="http://schemas.microsoft.com/office/drawing/2014/main" id="{F818DA6B-687C-4387-8FCA-761D7C4C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for item in items:</a:t>
            </a:r>
          </a:p>
        </p:txBody>
      </p:sp>
      <p:sp>
        <p:nvSpPr>
          <p:cNvPr id="11" name="        item.update(dt)">
            <a:extLst xmlns:a="http://schemas.openxmlformats.org/drawingml/2006/main">
              <a:ext uri="{FF2B5EF4-FFF2-40B4-BE49-F238E27FC236}">
                <a16:creationId xmlns:a16="http://schemas.microsoft.com/office/drawing/2014/main" id="{470577BC-5418-4D1E-B0C5-93C463A9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item.update(dt)</a:t>
            </a:r>
          </a:p>
        </p:txBody>
      </p:sp>
      <p:sp>
        <p:nvSpPr>
          <p:cNvPr id="12" name="tick_all が必要とするのは update(dt) を呼べること。">
            <a:extLst xmlns:a="http://schemas.openxmlformats.org/drawingml/2006/main">
              <a:ext uri="{FF2B5EF4-FFF2-40B4-BE49-F238E27FC236}">
                <a16:creationId xmlns:a16="http://schemas.microsoft.com/office/drawing/2014/main" id="{B7F7B578-3215-4FDB-949F-F7562EA4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tick_all が必要とするのは update(dt) を呼べること。</a:t>
            </a:r>
          </a:p>
        </p:txBody>
      </p:sp>
      <p:sp>
        <p:nvSpPr>
          <p:cNvPr id="13" name="Iterable はリストやタプルなどの反復可能な入力を受け取る。">
            <a:extLst xmlns:a="http://schemas.openxmlformats.org/drawingml/2006/main">
              <a:ext uri="{FF2B5EF4-FFF2-40B4-BE49-F238E27FC236}">
                <a16:creationId xmlns:a16="http://schemas.microsoft.com/office/drawing/2014/main" id="{A4547423-4117-4333-AAD0-A9BF03BB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Iterable はリストやタプルなどの反復可能な入力を受け取る。</a:t>
            </a:r>
          </a:p>
        </p:txBody>
      </p:sp>
      <p:sp>
        <p:nvSpPr>
          <p:cNvPr id="14" name="contracts.py / Updatable, tick_all">
            <a:extLst xmlns:a="http://schemas.openxmlformats.org/drawingml/2006/main">
              <a:ext uri="{FF2B5EF4-FFF2-40B4-BE49-F238E27FC236}">
                <a16:creationId xmlns:a16="http://schemas.microsoft.com/office/drawing/2014/main" id="{7AECE939-9B2F-4165-BD97-3F1A9FCC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Updatable, tick_all</a:t>
            </a:r>
          </a:p>
        </p:txBody>
      </p:sp>
      <p:sp>
        <p:nvSpPr>
          <p:cNvPr id="15" name="17">
            <a:extLst xmlns:a="http://schemas.openxmlformats.org/drawingml/2006/main">
              <a:ext uri="{FF2B5EF4-FFF2-40B4-BE49-F238E27FC236}">
                <a16:creationId xmlns:a16="http://schemas.microsoft.com/office/drawing/2014/main" id="{A23538C3-8862-48B3-9F9D-9E2049A9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898145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異なるクラスを同じ関数で更新">
            <a:extLst xmlns:a="http://schemas.openxmlformats.org/drawingml/2006/main">
              <a:ext uri="{FF2B5EF4-FFF2-40B4-BE49-F238E27FC236}">
                <a16:creationId xmlns:a16="http://schemas.microsoft.com/office/drawing/2014/main" id="{F671D936-2513-4D28-92B6-1A5043C7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異なるクラスを同じ関数で更新</a:t>
            </a:r>
          </a:p>
        </p:txBody>
      </p:sp>
      <p:sp>
        <p:nvSpPr>
          <p:cNvPr id="2" name="FallingTarget も Spark も Updatable を満たす">
            <a:extLst xmlns:a="http://schemas.openxmlformats.org/drawingml/2006/main">
              <a:ext uri="{FF2B5EF4-FFF2-40B4-BE49-F238E27FC236}">
                <a16:creationId xmlns:a16="http://schemas.microsoft.com/office/drawing/2014/main" id="{498B5D59-FFB7-4F14-86AF-AC2708E4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FallingTarget も Spark も Updatable を満たす</a:t>
            </a:r>
          </a:p>
        </p:txBody>
      </p:sp>
      <p:sp>
        <p:nvSpPr>
          <p:cNvPr id="3" name="from contracts import FallingTarget, Spark, tick_all">
            <a:extLst xmlns:a="http://schemas.openxmlformats.org/drawingml/2006/main">
              <a:ext uri="{FF2B5EF4-FFF2-40B4-BE49-F238E27FC236}">
                <a16:creationId xmlns:a16="http://schemas.microsoft.com/office/drawing/2014/main" id="{6859E361-03A1-4BB9-802D-A0A958FE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contracts import FallingTarget, Spark, tick_all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A8237-5F48-4B69-9AAC-4627A7B4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target = FallingTarget()">
            <a:extLst xmlns:a="http://schemas.openxmlformats.org/drawingml/2006/main">
              <a:ext uri="{FF2B5EF4-FFF2-40B4-BE49-F238E27FC236}">
                <a16:creationId xmlns:a16="http://schemas.microsoft.com/office/drawing/2014/main" id="{9CDB84CE-FB8E-4C22-BDAE-8CCAB087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target = FallingTarget()</a:t>
            </a:r>
          </a:p>
        </p:txBody>
      </p:sp>
      <p:sp>
        <p:nvSpPr>
          <p:cNvPr id="6" name="spark = Spark()">
            <a:extLst xmlns:a="http://schemas.openxmlformats.org/drawingml/2006/main">
              <a:ext uri="{FF2B5EF4-FFF2-40B4-BE49-F238E27FC236}">
                <a16:creationId xmlns:a16="http://schemas.microsoft.com/office/drawing/2014/main" id="{C456242E-7BC9-49BA-B6BF-269ED097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spark = Spark()</a:t>
            </a:r>
          </a:p>
        </p:txBody>
      </p:sp>
      <p:sp>
        <p:nvSpPr>
          <p:cNvPr id="7" name="tick_all([target, spark], 0.5)">
            <a:extLst xmlns:a="http://schemas.openxmlformats.org/drawingml/2006/main">
              <a:ext uri="{FF2B5EF4-FFF2-40B4-BE49-F238E27FC236}">
                <a16:creationId xmlns:a16="http://schemas.microsoft.com/office/drawing/2014/main" id="{7A48CA0B-3342-49A9-BC09-680ED7D2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tick_all([target, spark], 0.5)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0FBD8-5FB7-4270-BB4A-7BE6207A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print(target.y, spark.ttl)">
            <a:extLst xmlns:a="http://schemas.openxmlformats.org/drawingml/2006/main">
              <a:ext uri="{FF2B5EF4-FFF2-40B4-BE49-F238E27FC236}">
                <a16:creationId xmlns:a16="http://schemas.microsoft.com/office/drawing/2014/main" id="{77359AB1-C5FD-4065-918C-ECFA6392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print(target.y, spark.ttl)</a:t>
            </a:r>
          </a:p>
        </p:txBody>
      </p:sp>
      <p:sp>
        <p:nvSpPr>
          <p:cNvPr id="10" name="# 40.0 0.5">
            <a:extLst xmlns:a="http://schemas.openxmlformats.org/drawingml/2006/main">
              <a:ext uri="{FF2B5EF4-FFF2-40B4-BE49-F238E27FC236}">
                <a16:creationId xmlns:a16="http://schemas.microsoft.com/office/drawing/2014/main" id="{11390995-BDED-4547-BDA5-76A9CC79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40.0 0.5</a:t>
            </a:r>
          </a:p>
        </p:txBody>
      </p:sp>
      <p:sp>
        <p:nvSpPr>
          <p:cNvPr id="11" name="Spark は class Spark(Updatable) と宣言する必要がない。">
            <a:extLst xmlns:a="http://schemas.openxmlformats.org/drawingml/2006/main">
              <a:ext uri="{FF2B5EF4-FFF2-40B4-BE49-F238E27FC236}">
                <a16:creationId xmlns:a16="http://schemas.microsoft.com/office/drawing/2014/main" id="{5A34B48B-9E78-4732-85D6-98285A4E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Spark は class Spark(Updatable) と宣言する必要がない。</a:t>
            </a:r>
          </a:p>
        </p:txBody>
      </p:sp>
      <p:sp>
        <p:nvSpPr>
          <p:cNvPr id="12" name="同じ dt でも、各オブジェクトの状態変化は異なる。">
            <a:extLst xmlns:a="http://schemas.openxmlformats.org/drawingml/2006/main">
              <a:ext uri="{FF2B5EF4-FFF2-40B4-BE49-F238E27FC236}">
                <a16:creationId xmlns:a16="http://schemas.microsoft.com/office/drawing/2014/main" id="{91C58791-75DD-4B26-BEB6-FCC2F843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同じ dt でも、各オブジェクトの状態変化は異なる。</a:t>
            </a:r>
          </a:p>
        </p:txBody>
      </p:sp>
      <p:sp>
        <p:nvSpPr>
          <p:cNvPr id="13" name="contracts.py / executable example">
            <a:extLst xmlns:a="http://schemas.openxmlformats.org/drawingml/2006/main">
              <a:ext uri="{FF2B5EF4-FFF2-40B4-BE49-F238E27FC236}">
                <a16:creationId xmlns:a16="http://schemas.microsoft.com/office/drawing/2014/main" id="{6BEC45AE-C1C5-4061-88DE-6410ED7D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executable example</a:t>
            </a:r>
          </a:p>
        </p:txBody>
      </p:sp>
      <p:sp>
        <p:nvSpPr>
          <p:cNvPr id="14" name="18">
            <a:extLst xmlns:a="http://schemas.openxmlformats.org/drawingml/2006/main">
              <a:ext uri="{FF2B5EF4-FFF2-40B4-BE49-F238E27FC236}">
                <a16:creationId xmlns:a16="http://schemas.microsoft.com/office/drawing/2014/main" id="{99CE9647-546A-4044-851C-C403EA08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391862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静的検査で不適合なメソッドを見つける">
            <a:extLst xmlns:a="http://schemas.openxmlformats.org/drawingml/2006/main">
              <a:ext uri="{FF2B5EF4-FFF2-40B4-BE49-F238E27FC236}">
                <a16:creationId xmlns:a16="http://schemas.microsoft.com/office/drawing/2014/main" id="{E8D46978-06AF-4592-92DD-DD88982C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静的検査で不適合なメソッドを見つける</a:t>
            </a:r>
          </a:p>
        </p:txBody>
      </p:sp>
      <p:sp>
        <p:nvSpPr>
          <p:cNvPr id="2" name="typing_error.py は意図的な型エラーの例">
            <a:extLst xmlns:a="http://schemas.openxmlformats.org/drawingml/2006/main">
              <a:ext uri="{FF2B5EF4-FFF2-40B4-BE49-F238E27FC236}">
                <a16:creationId xmlns:a16="http://schemas.microsoft.com/office/drawing/2014/main" id="{55971C12-0252-44D7-870D-F2980744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typing_error.py は意図的な型エラーの例</a:t>
            </a:r>
          </a:p>
        </p:txBody>
      </p:sp>
      <p:sp>
        <p:nvSpPr>
          <p:cNvPr id="3" name="from contracts import BadClock, Updatable">
            <a:extLst xmlns:a="http://schemas.openxmlformats.org/drawingml/2006/main">
              <a:ext uri="{FF2B5EF4-FFF2-40B4-BE49-F238E27FC236}">
                <a16:creationId xmlns:a16="http://schemas.microsoft.com/office/drawing/2014/main" id="{E5A5E839-8914-43EB-B821-CF97FB59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contracts import BadClock, Updatable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AE003-52A3-4DFC-A8A9-F1895D23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bad: Updatable = BadClock()">
            <a:extLst xmlns:a="http://schemas.openxmlformats.org/drawingml/2006/main">
              <a:ext uri="{FF2B5EF4-FFF2-40B4-BE49-F238E27FC236}">
                <a16:creationId xmlns:a16="http://schemas.microsoft.com/office/drawing/2014/main" id="{3A802715-CFAC-4B66-B9F1-089CD3E2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bad: Updatable = BadClock()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4D060-1456-41E1-82E1-6D26574A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# mypy: incompatible types in assignment">
            <a:extLst xmlns:a="http://schemas.openxmlformats.org/drawingml/2006/main">
              <a:ext uri="{FF2B5EF4-FFF2-40B4-BE49-F238E27FC236}">
                <a16:creationId xmlns:a16="http://schemas.microsoft.com/office/drawing/2014/main" id="{7AB3D317-008D-47F8-9BD0-96DD934E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mypy: incompatible types in assignment</a:t>
            </a:r>
          </a:p>
        </p:txBody>
      </p:sp>
      <p:sp>
        <p:nvSpPr>
          <p:cNvPr id="8" name="mypy は update(self, dt: float) を期待するが、BadClock には dt がない。">
            <a:extLst xmlns:a="http://schemas.openxmlformats.org/drawingml/2006/main">
              <a:ext uri="{FF2B5EF4-FFF2-40B4-BE49-F238E27FC236}">
                <a16:creationId xmlns:a16="http://schemas.microsoft.com/office/drawing/2014/main" id="{CE57F52C-6098-4F2D-BA12-2B336AFC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mypy は update(self, dt: float) を期待するが、BadClock には dt がない。</a:t>
            </a:r>
          </a:p>
        </p:txBody>
      </p:sp>
      <p:sp>
        <p:nvSpPr>
          <p:cNvPr id="9" name="型ヒントは検査を支援する。Python が自動で mypy を実行するわけではない。">
            <a:extLst xmlns:a="http://schemas.openxmlformats.org/drawingml/2006/main">
              <a:ext uri="{FF2B5EF4-FFF2-40B4-BE49-F238E27FC236}">
                <a16:creationId xmlns:a16="http://schemas.microsoft.com/office/drawing/2014/main" id="{EF766C14-67D7-4E50-ABA8-7D7CA509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型ヒントは検査を支援する。Python が自動で mypy を実行するわけではない。</a:t>
            </a:r>
          </a:p>
        </p:txBody>
      </p:sp>
      <p:sp>
        <p:nvSpPr>
          <p:cNvPr id="10" name="typing_error.py">
            <a:extLst xmlns:a="http://schemas.openxmlformats.org/drawingml/2006/main">
              <a:ext uri="{FF2B5EF4-FFF2-40B4-BE49-F238E27FC236}">
                <a16:creationId xmlns:a16="http://schemas.microsoft.com/office/drawing/2014/main" id="{A16CC3DD-8350-4EA4-BF1F-8C5B4AE5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typing_error.py</a:t>
            </a:r>
          </a:p>
        </p:txBody>
      </p:sp>
      <p:sp>
        <p:nvSpPr>
          <p:cNvPr id="11" name="19">
            <a:extLst xmlns:a="http://schemas.openxmlformats.org/drawingml/2006/main">
              <a:ext uri="{FF2B5EF4-FFF2-40B4-BE49-F238E27FC236}">
                <a16:creationId xmlns:a16="http://schemas.microsoft.com/office/drawing/2014/main" id="{DC97FC48-41AC-45F4-B9FA-E5A2937D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312400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untime_checkable の範囲">
            <a:extLst xmlns:a="http://schemas.openxmlformats.org/drawingml/2006/main">
              <a:ext uri="{FF2B5EF4-FFF2-40B4-BE49-F238E27FC236}">
                <a16:creationId xmlns:a16="http://schemas.microsoft.com/office/drawing/2014/main" id="{EB838959-7AA4-46E7-BEA4-CFEC80A3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runtime_checkable の範囲</a:t>
            </a:r>
          </a:p>
        </p:txBody>
      </p:sp>
      <p:sp>
        <p:nvSpPr>
          <p:cNvPr id="2" name="実行時はメンバーの存在を調べ、完全なシグネチャは検証しない">
            <a:extLst xmlns:a="http://schemas.openxmlformats.org/drawingml/2006/main">
              <a:ext uri="{FF2B5EF4-FFF2-40B4-BE49-F238E27FC236}">
                <a16:creationId xmlns:a16="http://schemas.microsoft.com/office/drawing/2014/main" id="{93B935FA-0F9F-48EC-9272-B6F183D8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実行時はメンバーの存在を調べ、完全なシグネチャは検証しない</a:t>
            </a:r>
          </a:p>
        </p:txBody>
      </p:sp>
      <p:sp>
        <p:nvSpPr>
          <p:cNvPr id="3" name="from typing import Protocol, runtime_checkable">
            <a:extLst xmlns:a="http://schemas.openxmlformats.org/drawingml/2006/main">
              <a:ext uri="{FF2B5EF4-FFF2-40B4-BE49-F238E27FC236}">
                <a16:creationId xmlns:a16="http://schemas.microsoft.com/office/drawing/2014/main" id="{F4EAA802-03C8-4398-B63F-E4BA6EA7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typing import Protocol, runtime_checkable</a:t>
            </a:r>
          </a:p>
        </p:txBody>
      </p:sp>
      <p:sp>
        <p:nvSpPr>
          <p:cNvPr id="4" name="from contracts import BadClock">
            <a:extLst xmlns:a="http://schemas.openxmlformats.org/drawingml/2006/main">
              <a:ext uri="{FF2B5EF4-FFF2-40B4-BE49-F238E27FC236}">
                <a16:creationId xmlns:a16="http://schemas.microsoft.com/office/drawing/2014/main" id="{C34427C8-8587-48BB-B21D-2E344D5C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contracts import BadClock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CADFF-1734-45AE-B0D5-D46F8647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@runtime_checkable">
            <a:extLst xmlns:a="http://schemas.openxmlformats.org/drawingml/2006/main">
              <a:ext uri="{FF2B5EF4-FFF2-40B4-BE49-F238E27FC236}">
                <a16:creationId xmlns:a16="http://schemas.microsoft.com/office/drawing/2014/main" id="{FB321D86-87EA-4241-A3CD-06FBA613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@runtime_checkable</a:t>
            </a:r>
          </a:p>
        </p:txBody>
      </p:sp>
      <p:sp>
        <p:nvSpPr>
          <p:cNvPr id="7" name="class CanUpdate(Protocol):">
            <a:extLst xmlns:a="http://schemas.openxmlformats.org/drawingml/2006/main">
              <a:ext uri="{FF2B5EF4-FFF2-40B4-BE49-F238E27FC236}">
                <a16:creationId xmlns:a16="http://schemas.microsoft.com/office/drawing/2014/main" id="{BFD65ECD-7627-428C-9C84-698267B4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CanUpdate(Protocol):</a:t>
            </a:r>
          </a:p>
        </p:txBody>
      </p:sp>
      <p:sp>
        <p:nvSpPr>
          <p:cNvPr id="8" name="    def update(self, dt: float) -&gt; None: ...">
            <a:extLst xmlns:a="http://schemas.openxmlformats.org/drawingml/2006/main">
              <a:ext uri="{FF2B5EF4-FFF2-40B4-BE49-F238E27FC236}">
                <a16:creationId xmlns:a16="http://schemas.microsoft.com/office/drawing/2014/main" id="{FE4EED5C-2E45-4849-8051-DB9C5D89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dt: float) -&gt; None: 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97AB2-C372-4B0E-9F17-6D84AD3F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print(isinstance(BadClock(), CanUpdate))">
            <a:extLst xmlns:a="http://schemas.openxmlformats.org/drawingml/2006/main">
              <a:ext uri="{FF2B5EF4-FFF2-40B4-BE49-F238E27FC236}">
                <a16:creationId xmlns:a16="http://schemas.microsoft.com/office/drawing/2014/main" id="{A779C5CD-F55A-4E1E-A3EA-A0FB5624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print(isinstance(BadClock(), CanUpdate))</a:t>
            </a:r>
          </a:p>
        </p:txBody>
      </p:sp>
      <p:sp>
        <p:nvSpPr>
          <p:cNvPr id="11" name="# True">
            <a:extLst xmlns:a="http://schemas.openxmlformats.org/drawingml/2006/main">
              <a:ext uri="{FF2B5EF4-FFF2-40B4-BE49-F238E27FC236}">
                <a16:creationId xmlns:a16="http://schemas.microsoft.com/office/drawing/2014/main" id="{63C785D7-64D3-40DB-A5B0-12BF8F68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# True</a:t>
            </a:r>
          </a:p>
        </p:txBody>
      </p:sp>
      <p:sp>
        <p:nvSpPr>
          <p:cNvPr id="12" name="isinstance が True でも update(0.5) の成功は保証されない。">
            <a:extLst xmlns:a="http://schemas.openxmlformats.org/drawingml/2006/main">
              <a:ext uri="{FF2B5EF4-FFF2-40B4-BE49-F238E27FC236}">
                <a16:creationId xmlns:a16="http://schemas.microsoft.com/office/drawing/2014/main" id="{885F86C0-412D-47C9-BB86-ADC18D69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isinstance が True でも update(0.5) の成功は保証されない。</a:t>
            </a:r>
          </a:p>
        </p:txBody>
      </p:sp>
      <p:sp>
        <p:nvSpPr>
          <p:cNvPr id="13" name="通常の Protocol でこの isinstance 検査を行うにはデコレーターが必要。">
            <a:extLst xmlns:a="http://schemas.openxmlformats.org/drawingml/2006/main">
              <a:ext uri="{FF2B5EF4-FFF2-40B4-BE49-F238E27FC236}">
                <a16:creationId xmlns:a16="http://schemas.microsoft.com/office/drawing/2014/main" id="{01478842-C087-4B13-BFED-D56B7762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通常の Protocol でこの isinstance 検査を行うにはデコレーターが必要。</a:t>
            </a:r>
          </a:p>
        </p:txBody>
      </p:sp>
      <p:sp>
        <p:nvSpPr>
          <p:cNvPr id="14" name="contracts.py / CanUpdate">
            <a:extLst xmlns:a="http://schemas.openxmlformats.org/drawingml/2006/main">
              <a:ext uri="{FF2B5EF4-FFF2-40B4-BE49-F238E27FC236}">
                <a16:creationId xmlns:a16="http://schemas.microsoft.com/office/drawing/2014/main" id="{3A030793-752B-49D1-80AD-1C9D3996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contracts.py / CanUpdate</a:t>
            </a:r>
          </a:p>
        </p:txBody>
      </p:sp>
      <p:sp>
        <p:nvSpPr>
          <p:cNvPr id="15" name="20">
            <a:extLst xmlns:a="http://schemas.openxmlformats.org/drawingml/2006/main">
              <a:ext uri="{FF2B5EF4-FFF2-40B4-BE49-F238E27FC236}">
                <a16:creationId xmlns:a16="http://schemas.microsoft.com/office/drawing/2014/main" id="{56C7395C-E8F3-4E8A-9295-C6D28CB2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384359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インターフェースの三つの表し方">
            <a:extLst xmlns:a="http://schemas.openxmlformats.org/drawingml/2006/main">
              <a:ext uri="{FF2B5EF4-FFF2-40B4-BE49-F238E27FC236}">
                <a16:creationId xmlns:a16="http://schemas.microsoft.com/office/drawing/2014/main" id="{17D44F6C-8246-471D-A81C-B8036B61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インターフェースの三つの表し方</a:t>
            </a:r>
          </a:p>
        </p:txBody>
      </p:sp>
      <p:sp>
        <p:nvSpPr>
          <p:cNvPr id="2" name="必要な契約と検査方法を選ぶ">
            <a:extLst xmlns:a="http://schemas.openxmlformats.org/drawingml/2006/main">
              <a:ext uri="{FF2B5EF4-FFF2-40B4-BE49-F238E27FC236}">
                <a16:creationId xmlns:a16="http://schemas.microsoft.com/office/drawing/2014/main" id="{F22A5A7F-11D1-416A-8736-3C6E44E5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必要な契約と検査方法を選ぶ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C05FF-08A7-4B56-A46B-42AFCFFFF2FA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81250"/>
                <a:gridCol w="4333875"/>
                <a:gridCol w="4333875"/>
              </a:tblGrid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方式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適合の根拠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主な検査時点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ダックタイピング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必要な操作を呼べる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呼び出し時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ABC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継承と抽象メソッドの実装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実体の生成時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Protocol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メソッドと属性の構造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主に静的検査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どれも多態性に使える。ABC と Protocol は同じプロジェクトで併用できる。">
            <a:extLst xmlns:a="http://schemas.openxmlformats.org/drawingml/2006/main">
              <a:ext uri="{FF2B5EF4-FFF2-40B4-BE49-F238E27FC236}">
                <a16:creationId xmlns:a16="http://schemas.microsoft.com/office/drawing/2014/main" id="{7F8332E7-5AC4-43FF-BE0A-79ADFFDF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どれも多態性に使える。ABC と Protocol は同じプロジェクトで併用できる。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F45BB200-F131-4628-BA77-3D7C9C3B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581176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型の互換性と正しい振る舞い">
            <a:extLst xmlns:a="http://schemas.openxmlformats.org/drawingml/2006/main">
              <a:ext uri="{FF2B5EF4-FFF2-40B4-BE49-F238E27FC236}">
                <a16:creationId xmlns:a16="http://schemas.microsoft.com/office/drawing/2014/main" id="{4EDAFFA3-BCA9-4032-B145-D711E2DF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型の互換性と正しい振る舞い</a:t>
            </a:r>
          </a:p>
        </p:txBody>
      </p:sp>
      <p:sp>
        <p:nvSpPr>
          <p:cNvPr id="2" name="インターフェースは呼び出しを表し、テストは状態変化を確かめる">
            <a:extLst xmlns:a="http://schemas.openxmlformats.org/drawingml/2006/main">
              <a:ext uri="{FF2B5EF4-FFF2-40B4-BE49-F238E27FC236}">
                <a16:creationId xmlns:a16="http://schemas.microsoft.com/office/drawing/2014/main" id="{5B483964-1185-4572-814F-46F3A517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インターフェースは呼び出しを表し、テストは状態変化を確かめる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447AC49D-485B-42BB-AF54-FCA84740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すべての update(dt) で秒を使う。あるクラスだけミリ秒にしない。">
            <a:extLst xmlns:a="http://schemas.openxmlformats.org/drawingml/2006/main">
              <a:ext uri="{FF2B5EF4-FFF2-40B4-BE49-F238E27FC236}">
                <a16:creationId xmlns:a16="http://schemas.microsoft.com/office/drawing/2014/main" id="{B23D8459-970C-454D-B8AA-9DBBD5C4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すべての update(dt) で秒を使う。あるクラスだけミリ秒にしない。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2A08B9B8-8436-4275-86E7-341C1050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" name="オーバーライド後も既存の呼び出しを受け取り、必須引数を増やさない。">
            <a:extLst xmlns:a="http://schemas.openxmlformats.org/drawingml/2006/main">
              <a:ext uri="{FF2B5EF4-FFF2-40B4-BE49-F238E27FC236}">
                <a16:creationId xmlns:a16="http://schemas.microsoft.com/office/drawing/2014/main" id="{9E814CBF-9E0D-496C-A0BF-67E60AB8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オーバーライド後も既存の呼び出しを受け取り、必須引数を増やさない。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A004DB73-2F09-465C-83EE-EBBAD8F4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8" name="位置・HP・rect の整合性もテストする。">
            <a:extLst xmlns:a="http://schemas.openxmlformats.org/drawingml/2006/main">
              <a:ext uri="{FF2B5EF4-FFF2-40B4-BE49-F238E27FC236}">
                <a16:creationId xmlns:a16="http://schemas.microsoft.com/office/drawing/2014/main" id="{4A88B236-5FAB-45F3-BDD4-4D80DF16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位置・HP・rect の整合性もテストする。</a:t>
            </a:r>
          </a:p>
        </p:txBody>
      </p:sp>
      <p:sp>
        <p:nvSpPr>
          <p:cNvPr id="9" name="22">
            <a:extLst xmlns:a="http://schemas.openxmlformats.org/drawingml/2006/main">
              <a:ext uri="{FF2B5EF4-FFF2-40B4-BE49-F238E27FC236}">
                <a16:creationId xmlns:a16="http://schemas.microsoft.com/office/drawing/2014/main" id="{EAD12554-E626-4682-B1DC-FC92B1A3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7331656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コンポジションで移動を分離">
            <a:extLst xmlns:a="http://schemas.openxmlformats.org/drawingml/2006/main">
              <a:ext uri="{FF2B5EF4-FFF2-40B4-BE49-F238E27FC236}">
                <a16:creationId xmlns:a16="http://schemas.microsoft.com/office/drawing/2014/main" id="{42F22C3C-36DE-4249-93D0-D5F09C72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コンポジションで移動を分離</a:t>
            </a:r>
          </a:p>
        </p:txBody>
      </p:sp>
      <p:sp>
        <p:nvSpPr>
          <p:cNvPr id="2" name="Enemy が Motion を持ち、速度の計算を任せる">
            <a:extLst xmlns:a="http://schemas.openxmlformats.org/drawingml/2006/main">
              <a:ext uri="{FF2B5EF4-FFF2-40B4-BE49-F238E27FC236}">
                <a16:creationId xmlns:a16="http://schemas.microsoft.com/office/drawing/2014/main" id="{F91AB42D-8C17-439B-AB31-626DE5D6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Enemy が Motion を持ち、速度の計算を任せる</a:t>
            </a:r>
          </a:p>
        </p:txBody>
      </p:sp>
      <p:sp>
        <p:nvSpPr>
          <p:cNvPr id="3" name="from typing import Protocol">
            <a:extLst xmlns:a="http://schemas.openxmlformats.org/drawingml/2006/main">
              <a:ext uri="{FF2B5EF4-FFF2-40B4-BE49-F238E27FC236}">
                <a16:creationId xmlns:a16="http://schemas.microsoft.com/office/drawing/2014/main" id="{40D710DB-4A66-4627-8D54-247A4BB3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typing import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E39F41-4213-4CF3-B229-413BEA90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class Motion(Protocol):">
            <a:extLst xmlns:a="http://schemas.openxmlformats.org/drawingml/2006/main">
              <a:ext uri="{FF2B5EF4-FFF2-40B4-BE49-F238E27FC236}">
                <a16:creationId xmlns:a16="http://schemas.microsoft.com/office/drawing/2014/main" id="{F03B8F5B-89B9-4ACA-B079-CE67025C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Motion(Protocol):</a:t>
            </a:r>
          </a:p>
        </p:txBody>
      </p:sp>
      <p:sp>
        <p:nvSpPr>
          <p:cNvPr id="6" name="    def velocity(self, dt: float) -&gt; tuple[float, float]: ...">
            <a:extLst xmlns:a="http://schemas.openxmlformats.org/drawingml/2006/main">
              <a:ext uri="{FF2B5EF4-FFF2-40B4-BE49-F238E27FC236}">
                <a16:creationId xmlns:a16="http://schemas.microsoft.com/office/drawing/2014/main" id="{62E271F4-4CBB-4A9B-B0AD-3377A0AB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velocity(self, dt: float) -&gt; tuple[float, float]: ...</a:t>
            </a:r>
          </a:p>
        </p:txBody>
      </p:sp>
      <p:sp>
        <p:nvSpPr>
          <p:cNvPr id="7" name="Motion は velocity(dt) を定義し、(vx, vy) を返す。">
            <a:extLst xmlns:a="http://schemas.openxmlformats.org/drawingml/2006/main">
              <a:ext uri="{FF2B5EF4-FFF2-40B4-BE49-F238E27FC236}">
                <a16:creationId xmlns:a16="http://schemas.microsoft.com/office/drawing/2014/main" id="{1DD85071-63E4-4F36-B2D2-A978FF56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Motion は velocity(dt) を定義し、(vx, vy) を返す。</a:t>
            </a:r>
          </a:p>
        </p:txBody>
      </p:sp>
      <p:sp>
        <p:nvSpPr>
          <p:cNvPr id="8" name="戻り値は速度であり、まだ dt を掛けていない。">
            <a:extLst xmlns:a="http://schemas.openxmlformats.org/drawingml/2006/main">
              <a:ext uri="{FF2B5EF4-FFF2-40B4-BE49-F238E27FC236}">
                <a16:creationId xmlns:a16="http://schemas.microsoft.com/office/drawing/2014/main" id="{50106177-3327-43B0-92E9-2A9F905A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戻り値は速度であり、まだ dt を掛けていない。</a:t>
            </a:r>
          </a:p>
        </p:txBody>
      </p:sp>
      <p:sp>
        <p:nvSpPr>
          <p:cNvPr id="9" name="motion.py / Motion">
            <a:extLst xmlns:a="http://schemas.openxmlformats.org/drawingml/2006/main">
              <a:ext uri="{FF2B5EF4-FFF2-40B4-BE49-F238E27FC236}">
                <a16:creationId xmlns:a16="http://schemas.microsoft.com/office/drawing/2014/main" id="{479F9BB0-E616-4AD0-AF1A-22105313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motion.py / Motion</a:t>
            </a:r>
          </a:p>
        </p:txBody>
      </p:sp>
      <p:sp>
        <p:nvSpPr>
          <p:cNvPr id="10" name="23">
            <a:extLst xmlns:a="http://schemas.openxmlformats.org/drawingml/2006/main">
              <a:ext uri="{FF2B5EF4-FFF2-40B4-BE49-F238E27FC236}">
                <a16:creationId xmlns:a16="http://schemas.microsoft.com/office/drawing/2014/main" id="{073905DA-4B5F-444C-9F8A-7CECBE41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5394671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直進と揺動の二つの戦略">
            <a:extLst xmlns:a="http://schemas.openxmlformats.org/drawingml/2006/main">
              <a:ext uri="{FF2B5EF4-FFF2-40B4-BE49-F238E27FC236}">
                <a16:creationId xmlns:a16="http://schemas.microsoft.com/office/drawing/2014/main" id="{57069FA8-C774-473B-A64F-1C7A7A56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直進と揺動の二つの戦略</a:t>
            </a:r>
          </a:p>
        </p:txBody>
      </p:sp>
      <p:sp>
        <p:nvSpPr>
          <p:cNvPr id="2" name="同じ velocity(dt) で異なる速度を得る">
            <a:extLst xmlns:a="http://schemas.openxmlformats.org/drawingml/2006/main">
              <a:ext uri="{FF2B5EF4-FFF2-40B4-BE49-F238E27FC236}">
                <a16:creationId xmlns:a16="http://schemas.microsoft.com/office/drawing/2014/main" id="{94AF6DCC-042A-4BD2-9D09-38B743CD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同じ velocity(dt) で異なる速度を得る</a:t>
            </a:r>
          </a:p>
        </p:txBody>
      </p:sp>
      <p:sp>
        <p:nvSpPr>
          <p:cNvPr id="3" name="from math import cos">
            <a:extLst xmlns:a="http://schemas.openxmlformats.org/drawingml/2006/main">
              <a:ext uri="{FF2B5EF4-FFF2-40B4-BE49-F238E27FC236}">
                <a16:creationId xmlns:a16="http://schemas.microsoft.com/office/drawing/2014/main" id="{1185201C-8856-4CC5-9BB0-B7EEC6B2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math import cos</a:t>
            </a:r>
          </a:p>
        </p:txBody>
      </p:sp>
      <p:sp>
        <p:nvSpPr>
          <p:cNvPr id="4" name="class Straight:">
            <a:extLst xmlns:a="http://schemas.openxmlformats.org/drawingml/2006/main">
              <a:ext uri="{FF2B5EF4-FFF2-40B4-BE49-F238E27FC236}">
                <a16:creationId xmlns:a16="http://schemas.microsoft.com/office/drawing/2014/main" id="{8732341C-7452-43AF-AD87-A8CF94E3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Straight:</a:t>
            </a:r>
          </a:p>
        </p:txBody>
      </p:sp>
      <p:sp>
        <p:nvSpPr>
          <p:cNvPr id="5" name="    def velocity(self, dt: float) -&gt; tuple[float, float]:">
            <a:extLst xmlns:a="http://schemas.openxmlformats.org/drawingml/2006/main">
              <a:ext uri="{FF2B5EF4-FFF2-40B4-BE49-F238E27FC236}">
                <a16:creationId xmlns:a16="http://schemas.microsoft.com/office/drawing/2014/main" id="{69B317A4-0A16-46F3-A614-F931C03F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velocity(self, dt: float) -&gt; tuple[float, float]:</a:t>
            </a:r>
          </a:p>
        </p:txBody>
      </p:sp>
      <p:sp>
        <p:nvSpPr>
          <p:cNvPr id="6" name="        return (0.0, 80.0)">
            <a:extLst xmlns:a="http://schemas.openxmlformats.org/drawingml/2006/main">
              <a:ext uri="{FF2B5EF4-FFF2-40B4-BE49-F238E27FC236}">
                <a16:creationId xmlns:a16="http://schemas.microsoft.com/office/drawing/2014/main" id="{BE9B9E49-CBD0-435A-AB5F-C47C94A5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(0.0, 80.0)</a:t>
            </a:r>
          </a:p>
        </p:txBody>
      </p:sp>
      <p:sp>
        <p:nvSpPr>
          <p:cNvPr id="7" name="class Weave:">
            <a:extLst xmlns:a="http://schemas.openxmlformats.org/drawingml/2006/main">
              <a:ext uri="{FF2B5EF4-FFF2-40B4-BE49-F238E27FC236}">
                <a16:creationId xmlns:a16="http://schemas.microsoft.com/office/drawing/2014/main" id="{FEF6BAB9-82A4-4A1A-8AA4-39324397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Weave:</a:t>
            </a:r>
          </a:p>
        </p:txBody>
      </p:sp>
      <p:sp>
        <p:nvSpPr>
          <p:cNvPr id="8" name="    def __init__(self) -&gt; None:">
            <a:extLst xmlns:a="http://schemas.openxmlformats.org/drawingml/2006/main">
              <a:ext uri="{FF2B5EF4-FFF2-40B4-BE49-F238E27FC236}">
                <a16:creationId xmlns:a16="http://schemas.microsoft.com/office/drawing/2014/main" id="{4D6DDA16-894D-4028-8FE2-961C37B4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__init__(self) -&gt; None:</a:t>
            </a:r>
          </a:p>
        </p:txBody>
      </p:sp>
      <p:sp>
        <p:nvSpPr>
          <p:cNvPr id="9" name="        self.elapsed = 0.0">
            <a:extLst xmlns:a="http://schemas.openxmlformats.org/drawingml/2006/main">
              <a:ext uri="{FF2B5EF4-FFF2-40B4-BE49-F238E27FC236}">
                <a16:creationId xmlns:a16="http://schemas.microsoft.com/office/drawing/2014/main" id="{6A0FDFC6-97A1-4C20-A7A1-ED59D6AE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self.elapsed = 0.0</a:t>
            </a:r>
          </a:p>
        </p:txBody>
      </p:sp>
      <p:sp>
        <p:nvSpPr>
          <p:cNvPr id="10" name="    def velocity(self, dt: float) -&gt; tuple[float, float]:">
            <a:extLst xmlns:a="http://schemas.openxmlformats.org/drawingml/2006/main">
              <a:ext uri="{FF2B5EF4-FFF2-40B4-BE49-F238E27FC236}">
                <a16:creationId xmlns:a16="http://schemas.microsoft.com/office/drawing/2014/main" id="{D9E6B6B7-24E3-48B6-9862-0CD27533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velocity(self, dt: float) -&gt; tuple[float, float]:</a:t>
            </a:r>
          </a:p>
        </p:txBody>
      </p:sp>
      <p:sp>
        <p:nvSpPr>
          <p:cNvPr id="11" name="        self.elapsed += dt">
            <a:extLst xmlns:a="http://schemas.openxmlformats.org/drawingml/2006/main">
              <a:ext uri="{FF2B5EF4-FFF2-40B4-BE49-F238E27FC236}">
                <a16:creationId xmlns:a16="http://schemas.microsoft.com/office/drawing/2014/main" id="{8A85399B-6108-43E9-9C8F-7127F1B4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self.elapsed += dt</a:t>
            </a:r>
          </a:p>
        </p:txBody>
      </p:sp>
      <p:sp>
        <p:nvSpPr>
          <p:cNvPr id="12" name="        return (100.0 * cos(3.0 * self.elapsed), 80.0)">
            <a:extLst xmlns:a="http://schemas.openxmlformats.org/drawingml/2006/main">
              <a:ext uri="{FF2B5EF4-FFF2-40B4-BE49-F238E27FC236}">
                <a16:creationId xmlns:a16="http://schemas.microsoft.com/office/drawing/2014/main" id="{6321EE7E-B319-450A-B142-034F8A3D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(100.0 * cos(3.0 * self.elapsed), 80.0)</a:t>
            </a:r>
          </a:p>
        </p:txBody>
      </p:sp>
      <p:sp>
        <p:nvSpPr>
          <p:cNvPr id="13" name="Straight は時刻を持たず、Weave は elapsed で進行を保持する。">
            <a:extLst xmlns:a="http://schemas.openxmlformats.org/drawingml/2006/main">
              <a:ext uri="{FF2B5EF4-FFF2-40B4-BE49-F238E27FC236}">
                <a16:creationId xmlns:a16="http://schemas.microsoft.com/office/drawing/2014/main" id="{0CE3BC21-3FBF-4149-9178-F5BBCDA9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Straight は時刻を持たず、Weave は elapsed で進行を保持する。</a:t>
            </a:r>
          </a:p>
        </p:txBody>
      </p:sp>
      <p:sp>
        <p:nvSpPr>
          <p:cNvPr id="14" name="各敵に別の Weave を作り、可変の時刻状態を共有しない。">
            <a:extLst xmlns:a="http://schemas.openxmlformats.org/drawingml/2006/main">
              <a:ext uri="{FF2B5EF4-FFF2-40B4-BE49-F238E27FC236}">
                <a16:creationId xmlns:a16="http://schemas.microsoft.com/office/drawing/2014/main" id="{0A1425D3-A554-4FC6-BB71-822DDAF3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各敵に別の Weave を作り、可変の時刻状態を共有しない。</a:t>
            </a:r>
          </a:p>
        </p:txBody>
      </p:sp>
      <p:sp>
        <p:nvSpPr>
          <p:cNvPr id="15" name="motion.py / Straight, Weave">
            <a:extLst xmlns:a="http://schemas.openxmlformats.org/drawingml/2006/main">
              <a:ext uri="{FF2B5EF4-FFF2-40B4-BE49-F238E27FC236}">
                <a16:creationId xmlns:a16="http://schemas.microsoft.com/office/drawing/2014/main" id="{969E4A0E-D1B4-4AE2-B84A-4FF581DD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motion.py / Straight, Weave</a:t>
            </a:r>
          </a:p>
        </p:txBody>
      </p:sp>
      <p:sp>
        <p:nvSpPr>
          <p:cNvPr id="16" name="24">
            <a:extLst xmlns:a="http://schemas.openxmlformats.org/drawingml/2006/main">
              <a:ext uri="{FF2B5EF4-FFF2-40B4-BE49-F238E27FC236}">
                <a16:creationId xmlns:a16="http://schemas.microsoft.com/office/drawing/2014/main" id="{F5C12F9F-1E8F-43BE-9294-ACD8A9AB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8980576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trategyEnemy が速度計算を委譲">
            <a:extLst xmlns:a="http://schemas.openxmlformats.org/drawingml/2006/main">
              <a:ext uri="{FF2B5EF4-FFF2-40B4-BE49-F238E27FC236}">
                <a16:creationId xmlns:a16="http://schemas.microsoft.com/office/drawing/2014/main" id="{CF0AC925-1ED9-43E7-BD09-A76B80F2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StrategyEnemy が速度計算を委譲</a:t>
            </a:r>
          </a:p>
        </p:txBody>
      </p:sp>
      <p:sp>
        <p:nvSpPr>
          <p:cNvPr id="2" name="Enemy の機能を継承しつつ移動戦略を持つ">
            <a:extLst xmlns:a="http://schemas.openxmlformats.org/drawingml/2006/main">
              <a:ext uri="{FF2B5EF4-FFF2-40B4-BE49-F238E27FC236}">
                <a16:creationId xmlns:a16="http://schemas.microsoft.com/office/drawing/2014/main" id="{A48775D6-0130-439C-9BD6-23049E77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Enemy の機能を継承しつつ移動戦略を持つ</a:t>
            </a:r>
          </a:p>
        </p:txBody>
      </p:sp>
      <p:sp>
        <p:nvSpPr>
          <p:cNvPr id="3" name="class StrategyEnemy(Enemy):">
            <a:extLst xmlns:a="http://schemas.openxmlformats.org/drawingml/2006/main">
              <a:ext uri="{FF2B5EF4-FFF2-40B4-BE49-F238E27FC236}">
                <a16:creationId xmlns:a16="http://schemas.microsoft.com/office/drawing/2014/main" id="{DD058F6B-E290-451D-8C82-9660B5F4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StrategyEnemy(Enemy):</a:t>
            </a:r>
          </a:p>
        </p:txBody>
      </p:sp>
      <p:sp>
        <p:nvSpPr>
          <p:cNvPr id="4" name="    def __init__(self, name, position, motion: Motion):">
            <a:extLst xmlns:a="http://schemas.openxmlformats.org/drawingml/2006/main">
              <a:ext uri="{FF2B5EF4-FFF2-40B4-BE49-F238E27FC236}">
                <a16:creationId xmlns:a16="http://schemas.microsoft.com/office/drawing/2014/main" id="{93602E3A-3AEF-4396-A3ED-A83D8945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position, motion: Motion):</a:t>
            </a:r>
          </a:p>
        </p:txBody>
      </p:sp>
      <p:sp>
        <p:nvSpPr>
          <p:cNvPr id="5" name="        super().__init__(name, position)">
            <a:extLst xmlns:a="http://schemas.openxmlformats.org/drawingml/2006/main">
              <a:ext uri="{FF2B5EF4-FFF2-40B4-BE49-F238E27FC236}">
                <a16:creationId xmlns:a16="http://schemas.microsoft.com/office/drawing/2014/main" id="{7DB211BD-C89B-4DF7-88E3-CFEFF3C0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super().__init__(name, position)</a:t>
            </a:r>
          </a:p>
        </p:txBody>
      </p:sp>
      <p:sp>
        <p:nvSpPr>
          <p:cNvPr id="6" name="        self.motion = motion">
            <a:extLst xmlns:a="http://schemas.openxmlformats.org/drawingml/2006/main">
              <a:ext uri="{FF2B5EF4-FFF2-40B4-BE49-F238E27FC236}">
                <a16:creationId xmlns:a16="http://schemas.microsoft.com/office/drawing/2014/main" id="{C5A39DAC-C5CE-4757-9C8A-434344A5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self.motion = motion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24DBF-D763-4713-A73D-A66A108D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    def update(self, dt):">
            <a:extLst xmlns:a="http://schemas.openxmlformats.org/drawingml/2006/main">
              <a:ext uri="{FF2B5EF4-FFF2-40B4-BE49-F238E27FC236}">
                <a16:creationId xmlns:a16="http://schemas.microsoft.com/office/drawing/2014/main" id="{DFE6542E-3E68-4F04-87A8-151F7F84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update(self, dt):</a:t>
            </a:r>
          </a:p>
        </p:txBody>
      </p:sp>
      <p:sp>
        <p:nvSpPr>
          <p:cNvPr id="9" name="        vx, vy = self.motion.velocity(dt)">
            <a:extLst xmlns:a="http://schemas.openxmlformats.org/drawingml/2006/main">
              <a:ext uri="{FF2B5EF4-FFF2-40B4-BE49-F238E27FC236}">
                <a16:creationId xmlns:a16="http://schemas.microsoft.com/office/drawing/2014/main" id="{83B426E0-F68C-49FA-A810-0750C9C6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vx, vy = self.motion.velocity(dt)</a:t>
            </a:r>
          </a:p>
        </p:txBody>
      </p:sp>
      <p:sp>
        <p:nvSpPr>
          <p:cNvPr id="10" name="        self.velocity.update(vx, vy)">
            <a:extLst xmlns:a="http://schemas.openxmlformats.org/drawingml/2006/main">
              <a:ext uri="{FF2B5EF4-FFF2-40B4-BE49-F238E27FC236}">
                <a16:creationId xmlns:a16="http://schemas.microsoft.com/office/drawing/2014/main" id="{B877A4A9-DF74-47EA-B07B-BB776FFF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self.velocity.update(vx, vy)</a:t>
            </a:r>
          </a:p>
        </p:txBody>
      </p:sp>
      <p:sp>
        <p:nvSpPr>
          <p:cNvPr id="11" name="        super().update(dt)">
            <a:extLst xmlns:a="http://schemas.openxmlformats.org/drawingml/2006/main">
              <a:ext uri="{FF2B5EF4-FFF2-40B4-BE49-F238E27FC236}">
                <a16:creationId xmlns:a16="http://schemas.microsoft.com/office/drawing/2014/main" id="{62E2CADF-C85E-4C3D-8643-CC98139F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super().update(dt)</a:t>
            </a:r>
          </a:p>
        </p:txBody>
      </p:sp>
      <p:sp>
        <p:nvSpPr>
          <p:cNvPr id="12" name="まず速度を得て、Actor.update が dt を掛ける。">
            <a:extLst xmlns:a="http://schemas.openxmlformats.org/drawingml/2006/main">
              <a:ext uri="{FF2B5EF4-FFF2-40B4-BE49-F238E27FC236}">
                <a16:creationId xmlns:a16="http://schemas.microsoft.com/office/drawing/2014/main" id="{D6028C6F-6C6D-4224-8210-48AD6CBB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まず速度を得て、Actor.update が dt を掛ける。</a:t>
            </a:r>
          </a:p>
        </p:txBody>
      </p:sp>
      <p:sp>
        <p:nvSpPr>
          <p:cNvPr id="13" name="参照によるオブジェクトの組み合わせ。属性があるだけでは UML の強い所有関係を意味しない。">
            <a:extLst xmlns:a="http://schemas.openxmlformats.org/drawingml/2006/main">
              <a:ext uri="{FF2B5EF4-FFF2-40B4-BE49-F238E27FC236}">
                <a16:creationId xmlns:a16="http://schemas.microsoft.com/office/drawing/2014/main" id="{99C132BD-9AEF-4CB2-9730-2A6A1F42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参照によるオブジェクトの組み合わせ。属性があるだけでは UML の強い所有関係を意味しない。</a:t>
            </a:r>
          </a:p>
        </p:txBody>
      </p:sp>
      <p:sp>
        <p:nvSpPr>
          <p:cNvPr id="14" name="extension.py / StrategyEnemy">
            <a:extLst xmlns:a="http://schemas.openxmlformats.org/drawingml/2006/main">
              <a:ext uri="{FF2B5EF4-FFF2-40B4-BE49-F238E27FC236}">
                <a16:creationId xmlns:a16="http://schemas.microsoft.com/office/drawing/2014/main" id="{672DF934-FC5F-4A13-B3D5-42271FE9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extension.py / StrategyEnemy</a:t>
            </a:r>
          </a:p>
        </p:txBody>
      </p:sp>
      <p:sp>
        <p:nvSpPr>
          <p:cNvPr id="15" name="25">
            <a:extLst xmlns:a="http://schemas.openxmlformats.org/drawingml/2006/main">
              <a:ext uri="{FF2B5EF4-FFF2-40B4-BE49-F238E27FC236}">
                <a16:creationId xmlns:a16="http://schemas.microsoft.com/office/drawing/2014/main" id="{AE68693B-BD8B-423A-B192-4616373A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397669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敵を保ったまま戦略を差し替える">
            <a:extLst xmlns:a="http://schemas.openxmlformats.org/drawingml/2006/main">
              <a:ext uri="{FF2B5EF4-FFF2-40B4-BE49-F238E27FC236}">
                <a16:creationId xmlns:a16="http://schemas.microsoft.com/office/drawing/2014/main" id="{1603B040-73F8-4161-959F-B4CDDFCF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敵を保ったまま戦略を差し替える</a:t>
            </a:r>
          </a:p>
        </p:txBody>
      </p:sp>
      <p:sp>
        <p:nvSpPr>
          <p:cNvPr id="2" name="Enemy を作り直さず motion の参照を変更">
            <a:extLst xmlns:a="http://schemas.openxmlformats.org/drawingml/2006/main">
              <a:ext uri="{FF2B5EF4-FFF2-40B4-BE49-F238E27FC236}">
                <a16:creationId xmlns:a16="http://schemas.microsoft.com/office/drawing/2014/main" id="{2E1F7CE6-F347-480E-BFD2-F0252842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Enemy を作り直さず motion の参照を変更</a:t>
            </a:r>
          </a:p>
        </p:txBody>
      </p:sp>
      <p:sp>
        <p:nvSpPr>
          <p:cNvPr id="3" name="from extension import StrategyEnemy">
            <a:extLst xmlns:a="http://schemas.openxmlformats.org/drawingml/2006/main">
              <a:ext uri="{FF2B5EF4-FFF2-40B4-BE49-F238E27FC236}">
                <a16:creationId xmlns:a16="http://schemas.microsoft.com/office/drawing/2014/main" id="{AF611257-78A1-4080-8D10-58CEC0A3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extension import StrategyEnemy</a:t>
            </a:r>
          </a:p>
        </p:txBody>
      </p:sp>
      <p:sp>
        <p:nvSpPr>
          <p:cNvPr id="4" name="from motion import Straight, Weave">
            <a:extLst xmlns:a="http://schemas.openxmlformats.org/drawingml/2006/main">
              <a:ext uri="{FF2B5EF4-FFF2-40B4-BE49-F238E27FC236}">
                <a16:creationId xmlns:a16="http://schemas.microsoft.com/office/drawing/2014/main" id="{A6AFA1DB-8768-4A1B-8A1E-DC187A49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from motion import Straight, Weave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5C8C9-4474-4C39-AC17-B362E272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enemy = StrategyEnemy(&quot;E03&quot;, (620, 175), Weave())">
            <a:extLst xmlns:a="http://schemas.openxmlformats.org/drawingml/2006/main">
              <a:ext uri="{FF2B5EF4-FFF2-40B4-BE49-F238E27FC236}">
                <a16:creationId xmlns:a16="http://schemas.microsoft.com/office/drawing/2014/main" id="{4B99EE8A-E1CC-401F-AE54-7CF4583D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 = StrategyEnemy("E03", (620, 175), Weave())</a:t>
            </a:r>
          </a:p>
        </p:txBody>
      </p:sp>
      <p:sp>
        <p:nvSpPr>
          <p:cNvPr id="7" name="original = enemy">
            <a:extLst xmlns:a="http://schemas.openxmlformats.org/drawingml/2006/main">
              <a:ext uri="{FF2B5EF4-FFF2-40B4-BE49-F238E27FC236}">
                <a16:creationId xmlns:a16="http://schemas.microsoft.com/office/drawing/2014/main" id="{5302282B-0AFC-41AF-979A-A0AA299F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original = enemy</a:t>
            </a:r>
          </a:p>
        </p:txBody>
      </p:sp>
      <p:sp>
        <p:nvSpPr>
          <p:cNvPr id="8" name="enemy.motion = Straight()">
            <a:extLst xmlns:a="http://schemas.openxmlformats.org/drawingml/2006/main">
              <a:ext uri="{FF2B5EF4-FFF2-40B4-BE49-F238E27FC236}">
                <a16:creationId xmlns:a16="http://schemas.microsoft.com/office/drawing/2014/main" id="{E4BEF3CF-A2BE-47C2-8FF7-EBD74E94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enemy.motion = Straight()</a:t>
            </a:r>
          </a:p>
        </p:txBody>
      </p:sp>
      <p:sp>
        <p:nvSpPr>
          <p:cNvPr id="9" name="print(enemy is original)  # True">
            <a:extLst xmlns:a="http://schemas.openxmlformats.org/drawingml/2006/main">
              <a:ext uri="{FF2B5EF4-FFF2-40B4-BE49-F238E27FC236}">
                <a16:creationId xmlns:a16="http://schemas.microsoft.com/office/drawing/2014/main" id="{E43546BF-85CB-4C41-BED6-36883419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print(enemy is original)  # True</a:t>
            </a:r>
          </a:p>
        </p:txBody>
      </p:sp>
      <p:sp>
        <p:nvSpPr>
          <p:cNvPr id="10" name="敵の同一性・位置・HP を保ち、次の更新から新戦略を使う。">
            <a:extLst xmlns:a="http://schemas.openxmlformats.org/drawingml/2006/main">
              <a:ext uri="{FF2B5EF4-FFF2-40B4-BE49-F238E27FC236}">
                <a16:creationId xmlns:a16="http://schemas.microsoft.com/office/drawing/2014/main" id="{3B5B9587-162B-4639-8B43-793F0F4D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敵の同一性・位置・HP を保ち、次の更新から新戦略を使う。</a:t>
            </a:r>
          </a:p>
        </p:txBody>
      </p:sp>
      <p:sp>
        <p:nvSpPr>
          <p:cNvPr id="11" name="第 8 週版で C を押すと StrategyEnemy の直進・揺動を切り替える。">
            <a:extLst xmlns:a="http://schemas.openxmlformats.org/drawingml/2006/main">
              <a:ext uri="{FF2B5EF4-FFF2-40B4-BE49-F238E27FC236}">
                <a16:creationId xmlns:a16="http://schemas.microsoft.com/office/drawing/2014/main" id="{E27BA5B5-04CA-4C52-A210-95A0845D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第 8 週版で C を押すと StrategyEnemy の直進・揺動を切り替える。</a:t>
            </a:r>
          </a:p>
        </p:txBody>
      </p:sp>
      <p:sp>
        <p:nvSpPr>
          <p:cNvPr id="12" name="extension.py + motion.py">
            <a:extLst xmlns:a="http://schemas.openxmlformats.org/drawingml/2006/main">
              <a:ext uri="{FF2B5EF4-FFF2-40B4-BE49-F238E27FC236}">
                <a16:creationId xmlns:a16="http://schemas.microsoft.com/office/drawing/2014/main" id="{AF43A0C7-2C08-4FCB-B3F3-192606CC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extension.py + motion.py</a:t>
            </a:r>
          </a:p>
        </p:txBody>
      </p:sp>
      <p:sp>
        <p:nvSpPr>
          <p:cNvPr id="13" name="26">
            <a:extLst xmlns:a="http://schemas.openxmlformats.org/drawingml/2006/main">
              <a:ext uri="{FF2B5EF4-FFF2-40B4-BE49-F238E27FC236}">
                <a16:creationId xmlns:a16="http://schemas.microsoft.com/office/drawing/2014/main" id="{4B1B0E7C-B3ED-41A2-92B3-342B8995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843247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継承とコンポジションの選択">
            <a:extLst xmlns:a="http://schemas.openxmlformats.org/drawingml/2006/main">
              <a:ext uri="{FF2B5EF4-FFF2-40B4-BE49-F238E27FC236}">
                <a16:creationId xmlns:a16="http://schemas.microsoft.com/office/drawing/2014/main" id="{F584FD0C-F411-4C4F-8C1C-A8835C31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継承とコンポジションの選択</a:t>
            </a:r>
          </a:p>
        </p:txBody>
      </p:sp>
      <p:sp>
        <p:nvSpPr>
          <p:cNvPr id="2" name="実体の種類と振る舞いの変化から関係を決める">
            <a:extLst xmlns:a="http://schemas.openxmlformats.org/drawingml/2006/main">
              <a:ext uri="{FF2B5EF4-FFF2-40B4-BE49-F238E27FC236}">
                <a16:creationId xmlns:a16="http://schemas.microsoft.com/office/drawing/2014/main" id="{19A5B9C2-51B5-4248-93AC-D3978787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実体の種類と振る舞いの変化から関係を決める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CFDAA-2AF9-4B6C-ADCC-EA66B152B90C}"/>
              </a:ext>
            </a:extLst>
          </p:cNvPr>
          <p:cNvGraphicFramePr/>
          <p:nvPr/>
        </p:nvGraphicFramePr>
        <p:xfrm>
          <a:off xmlns:a="http://schemas.openxmlformats.org/drawingml/2006/main" x="571500" y="1838325"/>
          <a:ext xmlns:a="http://schemas.openxmlformats.org/drawingml/2006/main" cx="110490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286250"/>
                <a:gridCol w="2381250"/>
                <a:gridCol w="4381500"/>
              </a:tblGrid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状況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選択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Enemy の一種で被弾ルールを共有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継承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WeavingEnemy(Enemy)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同じ敵の移動方法を変更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コンポジション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enemy.motion = Straight()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919163"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共通の親がなくても更新可能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Protocol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42875" tIns="76200" rIns="123825" bIns="7620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tick_all([target, spark], dt)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trategyEnemy は継承とコンポジションを併用する。両者は補完できる。">
            <a:extLst xmlns:a="http://schemas.openxmlformats.org/drawingml/2006/main">
              <a:ext uri="{FF2B5EF4-FFF2-40B4-BE49-F238E27FC236}">
                <a16:creationId xmlns:a16="http://schemas.microsoft.com/office/drawing/2014/main" id="{C09A1FFA-0E1B-4864-84D1-284BF625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StrategyEnemy は継承とコンポジションを併用する。両者は補完できる。</a:t>
            </a:r>
          </a:p>
        </p:txBody>
      </p:sp>
      <p:sp>
        <p:nvSpPr>
          <p:cNvPr id="5" name="27">
            <a:extLst xmlns:a="http://schemas.openxmlformats.org/drawingml/2006/main">
              <a:ext uri="{FF2B5EF4-FFF2-40B4-BE49-F238E27FC236}">
                <a16:creationId xmlns:a16="http://schemas.microsoft.com/office/drawing/2014/main" id="{EB9FEAED-8778-4EA2-BC3C-78180F72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424352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ブラウザー版を停止して観察">
            <a:extLst xmlns:a="http://schemas.openxmlformats.org/drawingml/2006/main">
              <a:ext uri="{FF2B5EF4-FFF2-40B4-BE49-F238E27FC236}">
                <a16:creationId xmlns:a16="http://schemas.microsoft.com/office/drawing/2014/main" id="{2F432816-935C-4985-BD09-627BE8FA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ブラウザー版を停止して観察</a:t>
            </a:r>
          </a:p>
        </p:txBody>
      </p:sp>
      <p:sp>
        <p:nvSpPr>
          <p:cNvPr id="2" name="ブラウザーは元のゲーム。新戦略は第 8 週のダウンロード版に収録">
            <a:extLst xmlns:a="http://schemas.openxmlformats.org/drawingml/2006/main">
              <a:ext uri="{FF2B5EF4-FFF2-40B4-BE49-F238E27FC236}">
                <a16:creationId xmlns:a16="http://schemas.microsoft.com/office/drawing/2014/main" id="{7A20B022-0B71-44CD-94B2-12A91D18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ブラウザーは元のゲーム。新戦略は第 8 週のダウンロード版に収録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2C649-181F-41F8-A1DF-14ECA079C3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4194f53aa406a"/>
          <a:stretch xmlns:a="http://schemas.openxmlformats.org/drawingml/2006/main"/>
        </p:blipFill>
        <p:spPr>
          <a:xfrm xmlns:a="http://schemas.openxmlformats.org/drawingml/2006/main">
            <a:off x="571500" y="1938135"/>
            <a:ext cx="5238750" cy="4324755"/>
          </a:xfrm>
          <a:prstGeom xmlns:a="http://schemas.openxmlformats.org/drawingml/2006/main" prst="rect">
            <a:avLst/>
          </a:prstGeom>
        </p:spPr>
      </p:pic>
      <p:sp>
        <p:nvSpPr>
          <p:cNvPr id="4" name="観察用の例を読み込み、B01 を選び、N で一フレーム進める。">
            <a:extLst xmlns:a="http://schemas.openxmlformats.org/drawingml/2006/main">
              <a:ext uri="{FF2B5EF4-FFF2-40B4-BE49-F238E27FC236}">
                <a16:creationId xmlns:a16="http://schemas.microsoft.com/office/drawing/2014/main" id="{D0BDFCC8-4A0A-4B89-B42D-00718991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9775"/>
            <a:ext cx="523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観察用の例を読み込み、B01 を選び、N で一フレーム進める。</a:t>
            </a:r>
          </a:p>
        </p:txBody>
      </p:sp>
      <p:sp>
        <p:nvSpPr>
          <p:cNvPr id="5" name="B01.y は約 490.0 から 479.7 へ変わり、owner は同じ Player のまま。">
            <a:extLst xmlns:a="http://schemas.openxmlformats.org/drawingml/2006/main">
              <a:ext uri="{FF2B5EF4-FFF2-40B4-BE49-F238E27FC236}">
                <a16:creationId xmlns:a16="http://schemas.microsoft.com/office/drawing/2014/main" id="{74164E99-BCE9-4EFC-8694-005F56B5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523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B01.y は約 490.0 から 479.7 へ変わり、owner は同じ Player のまま。</a:t>
            </a:r>
          </a:p>
        </p:txBody>
      </p:sp>
      <p:sp>
        <p:nvSpPr>
          <p:cNvPr id="6" name="元のブラウザー版を開く ↗">
            <a:extLst xmlns:a="http://schemas.openxmlformats.org/drawingml/2006/main">
              <a:ext uri="{FF2B5EF4-FFF2-40B4-BE49-F238E27FC236}">
                <a16:creationId xmlns:a16="http://schemas.microsoft.com/office/drawing/2014/main" id="{28BAA5B3-E7F2-4994-BEEC-D08846CF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72150"/>
            <a:ext cx="523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C62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a082fbbfb5d74588"/>
              </a:rPr>
              <a:t>元のブラウザー版を開く ↗</a:t>
            </a:r>
          </a:p>
        </p:txBody>
      </p:sp>
      <p:sp>
        <p:nvSpPr>
          <p:cNvPr id="7" name="28">
            <a:extLst xmlns:a="http://schemas.openxmlformats.org/drawingml/2006/main">
              <a:ext uri="{FF2B5EF4-FFF2-40B4-BE49-F238E27FC236}">
                <a16:creationId xmlns:a16="http://schemas.microsoft.com/office/drawing/2014/main" id="{8FEBC419-BE81-496D-86AA-43F2E967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560168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第 8 週のサンプルを実行">
            <a:extLst xmlns:a="http://schemas.openxmlformats.org/drawingml/2006/main">
              <a:ext uri="{FF2B5EF4-FFF2-40B4-BE49-F238E27FC236}">
                <a16:creationId xmlns:a16="http://schemas.microsoft.com/office/drawing/2014/main" id="{B026508B-0758-491F-B06E-48832D96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第 8 週のサンプルを実行</a:t>
            </a:r>
          </a:p>
        </p:txBody>
      </p:sp>
      <p:sp>
        <p:nvSpPr>
          <p:cNvPr id="2" name="ZIP を展開し week8_examples フォルダーで実行">
            <a:extLst xmlns:a="http://schemas.openxmlformats.org/drawingml/2006/main">
              <a:ext uri="{FF2B5EF4-FFF2-40B4-BE49-F238E27FC236}">
                <a16:creationId xmlns:a16="http://schemas.microsoft.com/office/drawing/2014/main" id="{4359726B-CEDC-4DF1-AA17-562178B1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ZIP を展開し week8_examples フォルダーで実行</a:t>
            </a:r>
          </a:p>
        </p:txBody>
      </p:sp>
      <p:sp>
        <p:nvSpPr>
          <p:cNvPr id="3" name="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CA41C7E5-73C2-406D-83C0-831B20C9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pip install -r requirements.txt</a:t>
            </a:r>
          </a:p>
        </p:txBody>
      </p:sp>
      <p:sp>
        <p:nvSpPr>
          <p:cNvPr id="4" name="python contracts.py">
            <a:extLst xmlns:a="http://schemas.openxmlformats.org/drawingml/2006/main">
              <a:ext uri="{FF2B5EF4-FFF2-40B4-BE49-F238E27FC236}">
                <a16:creationId xmlns:a16="http://schemas.microsoft.com/office/drawing/2014/main" id="{F51282BB-D2C4-4530-850A-5C2DC3E7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contracts.py</a:t>
            </a:r>
          </a:p>
        </p:txBody>
      </p:sp>
      <p:sp>
        <p:nvSpPr>
          <p:cNvPr id="5" name="python demo_game.py --lang ja">
            <a:extLst xmlns:a="http://schemas.openxmlformats.org/drawingml/2006/main">
              <a:ext uri="{FF2B5EF4-FFF2-40B4-BE49-F238E27FC236}">
                <a16:creationId xmlns:a16="http://schemas.microsoft.com/office/drawing/2014/main" id="{38BFE11C-D69C-4470-B168-E8008918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demo_game.py --lang ja</a:t>
            </a:r>
          </a:p>
        </p:txBody>
      </p:sp>
      <p:sp>
        <p:nvSpPr>
          <p:cNvPr id="6" name="python -m mypy --strict contracts.py motion.py">
            <a:extLst xmlns:a="http://schemas.openxmlformats.org/drawingml/2006/main">
              <a:ext uri="{FF2B5EF4-FFF2-40B4-BE49-F238E27FC236}">
                <a16:creationId xmlns:a16="http://schemas.microsoft.com/office/drawing/2014/main" id="{0ED97AC6-A9AB-499F-B299-6BAE5972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mypy --strict contracts.py motion.py</a:t>
            </a:r>
          </a:p>
        </p:txBody>
      </p:sp>
      <p:sp>
        <p:nvSpPr>
          <p:cNvPr id="7" name="python -m mypy --strict typing_error.py">
            <a:extLst xmlns:a="http://schemas.openxmlformats.org/drawingml/2006/main">
              <a:ext uri="{FF2B5EF4-FFF2-40B4-BE49-F238E27FC236}">
                <a16:creationId xmlns:a16="http://schemas.microsoft.com/office/drawing/2014/main" id="{B447C647-FF20-4D12-AB4D-AC291754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mypy --strict typing_error.py</a:t>
            </a:r>
          </a:p>
        </p:txBody>
      </p:sp>
      <p:sp>
        <p:nvSpPr>
          <p:cNvPr id="8" name="python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02E44D6C-34E3-401D-A118-65E309FF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unittest discover -s tests -v</a:t>
            </a:r>
          </a:p>
        </p:txBody>
      </p:sp>
      <p:sp>
        <p:nvSpPr>
          <p:cNvPr id="9" name="Python 3.12+。元の操作に加え、C で戦略切替、P で停止、N で一歩進む。">
            <a:extLst xmlns:a="http://schemas.openxmlformats.org/drawingml/2006/main">
              <a:ext uri="{FF2B5EF4-FFF2-40B4-BE49-F238E27FC236}">
                <a16:creationId xmlns:a16="http://schemas.microsoft.com/office/drawing/2014/main" id="{23287AE3-AE5C-45C0-8085-DB6DB2D7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Python 3.12+。元の操作に加え、C で戦略切替、P で停止、N で一歩進む。</a:t>
            </a:r>
          </a:p>
        </p:txBody>
      </p:sp>
      <p:sp>
        <p:nvSpPr>
          <p:cNvPr id="10" name="英語は en、日本語は ja。typing_error.py では型エラーが出る。">
            <a:extLst xmlns:a="http://schemas.openxmlformats.org/drawingml/2006/main">
              <a:ext uri="{FF2B5EF4-FFF2-40B4-BE49-F238E27FC236}">
                <a16:creationId xmlns:a16="http://schemas.microsoft.com/office/drawing/2014/main" id="{60C61F98-FEA8-474A-814E-D8EB2D18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英語は en、日本語は ja。typing_error.py では型エラーが出る。</a:t>
            </a:r>
          </a:p>
        </p:txBody>
      </p:sp>
      <p:sp>
        <p:nvSpPr>
          <p:cNvPr id="11" name="第 8 週のサンプル ZIP ↗">
            <a:extLst xmlns:a="http://schemas.openxmlformats.org/drawingml/2006/main">
              <a:ext uri="{FF2B5EF4-FFF2-40B4-BE49-F238E27FC236}">
                <a16:creationId xmlns:a16="http://schemas.microsoft.com/office/drawing/2014/main" id="{AC505CD0-5A3B-4437-BC5B-6760C6C1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68EDBE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f7c97d3c45e74790"/>
              </a:rPr>
              <a:t>第 8 週のサンプル ZIP ↗</a:t>
            </a:r>
          </a:p>
        </p:txBody>
      </p:sp>
      <p:sp>
        <p:nvSpPr>
          <p:cNvPr id="12" name="week8_examples/">
            <a:extLst xmlns:a="http://schemas.openxmlformats.org/drawingml/2006/main">
              <a:ext uri="{FF2B5EF4-FFF2-40B4-BE49-F238E27FC236}">
                <a16:creationId xmlns:a16="http://schemas.microsoft.com/office/drawing/2014/main" id="{A8671286-DE79-4B74-B9C2-C6E6D165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week8_examples/</a:t>
            </a:r>
          </a:p>
        </p:txBody>
      </p:sp>
      <p:sp>
        <p:nvSpPr>
          <p:cNvPr id="13" name="29">
            <a:extLst xmlns:a="http://schemas.openxmlformats.org/drawingml/2006/main">
              <a:ext uri="{FF2B5EF4-FFF2-40B4-BE49-F238E27FC236}">
                <a16:creationId xmlns:a16="http://schemas.microsoft.com/office/drawing/2014/main" id="{CD910E2E-BCEE-4AD5-893B-FA17E3CD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597178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演習：移動を止める戦略">
            <a:extLst xmlns:a="http://schemas.openxmlformats.org/drawingml/2006/main">
              <a:ext uri="{FF2B5EF4-FFF2-40B4-BE49-F238E27FC236}">
                <a16:creationId xmlns:a16="http://schemas.microsoft.com/office/drawing/2014/main" id="{2809F7E1-BFDE-475D-8376-70B934F8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演習：移動を止める戦略</a:t>
            </a:r>
          </a:p>
        </p:txBody>
      </p:sp>
      <p:sp>
        <p:nvSpPr>
          <p:cNvPr id="2" name="Freeze を追加して既存の敵をその場に止める">
            <a:extLst xmlns:a="http://schemas.openxmlformats.org/drawingml/2006/main">
              <a:ext uri="{FF2B5EF4-FFF2-40B4-BE49-F238E27FC236}">
                <a16:creationId xmlns:a16="http://schemas.microsoft.com/office/drawing/2014/main" id="{F9212C69-8E68-490C-BF70-85B2C0BA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Freeze を追加して既存の敵をその場に止める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2EE59B5F-DC52-48F7-9E8F-3E512C5A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velocity(dt) を実装し、横・縦の速度を 0 にする。">
            <a:extLst xmlns:a="http://schemas.openxmlformats.org/drawingml/2006/main">
              <a:ext uri="{FF2B5EF4-FFF2-40B4-BE49-F238E27FC236}">
                <a16:creationId xmlns:a16="http://schemas.microsoft.com/office/drawing/2014/main" id="{7266CFA6-8B7E-48D3-AD28-39B720CE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velocity(dt) を実装し、横・縦の速度を 0 にする。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8ACBB063-DE07-457E-A9CB-30EBC4E9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" name="enemy.motion を Freeze() に変え、update(0.5) を呼ぶ。">
            <a:extLst xmlns:a="http://schemas.openxmlformats.org/drawingml/2006/main">
              <a:ext uri="{FF2B5EF4-FFF2-40B4-BE49-F238E27FC236}">
                <a16:creationId xmlns:a16="http://schemas.microsoft.com/office/drawing/2014/main" id="{E6671553-58E0-4E23-830D-5FB12364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enemy.motion を Freeze() に変え、update(0.5) を呼ぶ。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F4B1167F-1B28-4113-A7B9-485B7F99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8" name="位置が変わらず、同一性と HP が保たれることを確かめる。">
            <a:extLst xmlns:a="http://schemas.openxmlformats.org/drawingml/2006/main">
              <a:ext uri="{FF2B5EF4-FFF2-40B4-BE49-F238E27FC236}">
                <a16:creationId xmlns:a16="http://schemas.microsoft.com/office/drawing/2014/main" id="{D82862F7-8205-40FF-92A7-AECAD0EA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位置が変わらず、同一性と HP が保たれることを確かめる。</a:t>
            </a:r>
          </a:p>
        </p:txBody>
      </p:sp>
      <p:sp>
        <p:nvSpPr>
          <p:cNvPr id="9" name="30">
            <a:extLst xmlns:a="http://schemas.openxmlformats.org/drawingml/2006/main">
              <a:ext uri="{FF2B5EF4-FFF2-40B4-BE49-F238E27FC236}">
                <a16:creationId xmlns:a16="http://schemas.microsoft.com/office/drawing/2014/main" id="{7E92343E-DC6B-481B-8265-FEB1AF61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2897731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演習の解答と状態の確認">
            <a:extLst xmlns:a="http://schemas.openxmlformats.org/drawingml/2006/main">
              <a:ext uri="{FF2B5EF4-FFF2-40B4-BE49-F238E27FC236}">
                <a16:creationId xmlns:a16="http://schemas.microsoft.com/office/drawing/2014/main" id="{216C3901-73B4-4BFF-A4ED-B71D3988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演習の解答と状態の確認</a:t>
            </a:r>
          </a:p>
        </p:txBody>
      </p:sp>
      <p:sp>
        <p:nvSpPr>
          <p:cNvPr id="2" name="振る舞いのオブジェクトを替え、更新処理を再利用">
            <a:extLst xmlns:a="http://schemas.openxmlformats.org/drawingml/2006/main">
              <a:ext uri="{FF2B5EF4-FFF2-40B4-BE49-F238E27FC236}">
                <a16:creationId xmlns:a16="http://schemas.microsoft.com/office/drawing/2014/main" id="{03C7A4E7-A16F-4A5A-B2D0-096FE0C3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振る舞いのオブジェクトを替え、更新処理を再利用</a:t>
            </a:r>
          </a:p>
        </p:txBody>
      </p:sp>
      <p:sp>
        <p:nvSpPr>
          <p:cNvPr id="3" name="class Freeze:">
            <a:extLst xmlns:a="http://schemas.openxmlformats.org/drawingml/2006/main">
              <a:ext uri="{FF2B5EF4-FFF2-40B4-BE49-F238E27FC236}">
                <a16:creationId xmlns:a16="http://schemas.microsoft.com/office/drawing/2014/main" id="{D7B4339B-AF14-45D0-8125-82BE8269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Freeze:</a:t>
            </a:r>
          </a:p>
        </p:txBody>
      </p:sp>
      <p:sp>
        <p:nvSpPr>
          <p:cNvPr id="4" name="    def velocity(self, dt: float) -&gt; tuple[float, float]:">
            <a:extLst xmlns:a="http://schemas.openxmlformats.org/drawingml/2006/main">
              <a:ext uri="{FF2B5EF4-FFF2-40B4-BE49-F238E27FC236}">
                <a16:creationId xmlns:a16="http://schemas.microsoft.com/office/drawing/2014/main" id="{F692E843-894A-44CB-925D-9ACC8AF0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velocity(self, dt: float) -&gt; tuple[float, float]:</a:t>
            </a:r>
          </a:p>
        </p:txBody>
      </p:sp>
      <p:sp>
        <p:nvSpPr>
          <p:cNvPr id="5" name="        return (0.0, 0.0)">
            <a:extLst xmlns:a="http://schemas.openxmlformats.org/drawingml/2006/main">
              <a:ext uri="{FF2B5EF4-FFF2-40B4-BE49-F238E27FC236}">
                <a16:creationId xmlns:a16="http://schemas.microsoft.com/office/drawing/2014/main" id="{965E1AE5-2003-4401-BAC4-152D970C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(0.0, 0.0)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4B499-B274-4494-9B05-1AD08523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enemy.motion = Freeze()">
            <a:extLst xmlns:a="http://schemas.openxmlformats.org/drawingml/2006/main">
              <a:ext uri="{FF2B5EF4-FFF2-40B4-BE49-F238E27FC236}">
                <a16:creationId xmlns:a16="http://schemas.microsoft.com/office/drawing/2014/main" id="{9786984E-2E29-4C75-A5E2-65FB811C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57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enemy.motion = Freeze()</a:t>
            </a:r>
          </a:p>
        </p:txBody>
      </p:sp>
      <p:sp>
        <p:nvSpPr>
          <p:cNvPr id="8" name="before = tuple(enemy.pos)">
            <a:extLst xmlns:a="http://schemas.openxmlformats.org/drawingml/2006/main">
              <a:ext uri="{FF2B5EF4-FFF2-40B4-BE49-F238E27FC236}">
                <a16:creationId xmlns:a16="http://schemas.microsoft.com/office/drawing/2014/main" id="{59B53877-380A-423A-BC9C-68A0A153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623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before = tuple(enemy.pos)</a:t>
            </a:r>
          </a:p>
        </p:txBody>
      </p:sp>
      <p:sp>
        <p:nvSpPr>
          <p:cNvPr id="9" name="original = enemy">
            <a:extLst xmlns:a="http://schemas.openxmlformats.org/drawingml/2006/main">
              <a:ext uri="{FF2B5EF4-FFF2-40B4-BE49-F238E27FC236}">
                <a16:creationId xmlns:a16="http://schemas.microsoft.com/office/drawing/2014/main" id="{24E7B885-3805-4398-9BD0-71227432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671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original = enemy</a:t>
            </a:r>
          </a:p>
        </p:txBody>
      </p:sp>
      <p:sp>
        <p:nvSpPr>
          <p:cNvPr id="10" name="enemy.update(0.5)">
            <a:extLst xmlns:a="http://schemas.openxmlformats.org/drawingml/2006/main">
              <a:ext uri="{FF2B5EF4-FFF2-40B4-BE49-F238E27FC236}">
                <a16:creationId xmlns:a16="http://schemas.microsoft.com/office/drawing/2014/main" id="{3C4492B9-27B0-426C-8BCD-8E5249F0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enemy.update(0.5)</a:t>
            </a:r>
          </a:p>
        </p:txBody>
      </p:sp>
      <p:sp>
        <p:nvSpPr>
          <p:cNvPr id="11" name="assert tuple(enemy.pos) == before">
            <a:extLst xmlns:a="http://schemas.openxmlformats.org/drawingml/2006/main">
              <a:ext uri="{FF2B5EF4-FFF2-40B4-BE49-F238E27FC236}">
                <a16:creationId xmlns:a16="http://schemas.microsoft.com/office/drawing/2014/main" id="{0B8353FC-2BC5-4A8D-AFFE-2C1793E4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assert tuple(enemy.pos) == before</a:t>
            </a:r>
          </a:p>
        </p:txBody>
      </p:sp>
      <p:sp>
        <p:nvSpPr>
          <p:cNvPr id="12" name="assert enemy is original">
            <a:extLst xmlns:a="http://schemas.openxmlformats.org/drawingml/2006/main">
              <a:ext uri="{FF2B5EF4-FFF2-40B4-BE49-F238E27FC236}">
                <a16:creationId xmlns:a16="http://schemas.microsoft.com/office/drawing/2014/main" id="{DB8E747D-70C4-4BC3-8A81-2BAF2297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assert enemy is original</a:t>
            </a:r>
          </a:p>
        </p:txBody>
      </p:sp>
      <p:sp>
        <p:nvSpPr>
          <p:cNvPr id="13" name="Freeze は構造で Motion を満たし、明示的な継承は不要。">
            <a:extLst xmlns:a="http://schemas.openxmlformats.org/drawingml/2006/main">
              <a:ext uri="{FF2B5EF4-FFF2-40B4-BE49-F238E27FC236}">
                <a16:creationId xmlns:a16="http://schemas.microsoft.com/office/drawing/2014/main" id="{3C037476-9F97-404B-83BB-D5C2F17D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Freeze は構造で Motion を満たし、明示的な継承は不要。</a:t>
            </a:r>
          </a:p>
        </p:txBody>
      </p:sp>
      <p:sp>
        <p:nvSpPr>
          <p:cNvPr id="14" name="完全なテストでは HP・rect・グループ所属も確認する。">
            <a:extLst xmlns:a="http://schemas.openxmlformats.org/drawingml/2006/main">
              <a:ext uri="{FF2B5EF4-FFF2-40B4-BE49-F238E27FC236}">
                <a16:creationId xmlns:a16="http://schemas.microsoft.com/office/drawing/2014/main" id="{E6307568-9024-44D4-826A-F8D060AA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24500"/>
            <a:ext cx="5238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完全なテストでは HP・rect・グループ所属も確認する。</a:t>
            </a:r>
          </a:p>
        </p:txBody>
      </p:sp>
      <p:sp>
        <p:nvSpPr>
          <p:cNvPr id="15" name="motion.py / Freeze; tests/test_week8.py">
            <a:extLst xmlns:a="http://schemas.openxmlformats.org/drawingml/2006/main">
              <a:ext uri="{FF2B5EF4-FFF2-40B4-BE49-F238E27FC236}">
                <a16:creationId xmlns:a16="http://schemas.microsoft.com/office/drawing/2014/main" id="{498C2182-C672-4BF2-995C-0B18FE0B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motion.py / Freeze; tests/test_week8.py</a:t>
            </a:r>
          </a:p>
        </p:txBody>
      </p:sp>
      <p:sp>
        <p:nvSpPr>
          <p:cNvPr id="16" name="31">
            <a:extLst xmlns:a="http://schemas.openxmlformats.org/drawingml/2006/main">
              <a:ext uri="{FF2B5EF4-FFF2-40B4-BE49-F238E27FC236}">
                <a16:creationId xmlns:a16="http://schemas.microsoft.com/office/drawing/2014/main" id="{75DB9A81-15A9-4EC6-AAF5-0CA83315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78283946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今週の要点と参考資料">
            <a:extLst xmlns:a="http://schemas.openxmlformats.org/drawingml/2006/main">
              <a:ext uri="{FF2B5EF4-FFF2-40B4-BE49-F238E27FC236}">
                <a16:creationId xmlns:a16="http://schemas.microsoft.com/office/drawing/2014/main" id="{A7893027-154B-40CE-8E67-440F79D6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0050"/>
            <a:ext cx="11049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今週の要点と参考資料</a:t>
            </a:r>
          </a:p>
        </p:txBody>
      </p:sp>
      <p:sp>
        <p:nvSpPr>
          <p:cNvPr id="2" name="共通の操作でオブジェクトを協調・差し替え可能にする">
            <a:extLst xmlns:a="http://schemas.openxmlformats.org/drawingml/2006/main">
              <a:ext uri="{FF2B5EF4-FFF2-40B4-BE49-F238E27FC236}">
                <a16:creationId xmlns:a16="http://schemas.microsoft.com/office/drawing/2014/main" id="{427D39F4-4FC9-4F71-BB09-5CC73DCB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23950"/>
            <a:ext cx="1100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共通の操作でオブジェクトを協調・差し替え可能にする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82855EE6-98A8-4B54-95D8-4A4D1518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多態性は実体に応じて振る舞いを選ぶ。継承でもダックタイピングでも使える。">
            <a:extLst xmlns:a="http://schemas.openxmlformats.org/drawingml/2006/main">
              <a:ext uri="{FF2B5EF4-FFF2-40B4-BE49-F238E27FC236}">
                <a16:creationId xmlns:a16="http://schemas.microsoft.com/office/drawing/2014/main" id="{F94BB66B-8248-4800-A2F7-D76B04DA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7167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多態性は実体に応じて振る舞いを選ぶ。継承でもダックタイピングでも使える。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08542D4E-4AD1-40C8-9898-6D5BEB45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" name="ABC は実装責任を示し、Protocol は構造的な互換性を表す。">
            <a:extLst xmlns:a="http://schemas.openxmlformats.org/drawingml/2006/main">
              <a:ext uri="{FF2B5EF4-FFF2-40B4-BE49-F238E27FC236}">
                <a16:creationId xmlns:a16="http://schemas.microsoft.com/office/drawing/2014/main" id="{881825B2-758F-40DD-B720-2CF746B6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ABC は実装責任を示し、Protocol は構造的な互換性を表す。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F0C1AE5B-363A-494D-9C58-E7C17E43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8" name="コンポジションで振る舞いを差し替え、テストで契約を確かめる。">
            <a:extLst xmlns:a="http://schemas.openxmlformats.org/drawingml/2006/main">
              <a:ext uri="{FF2B5EF4-FFF2-40B4-BE49-F238E27FC236}">
                <a16:creationId xmlns:a16="http://schemas.microsoft.com/office/drawing/2014/main" id="{3332C540-C83B-4453-89CC-28128E2A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858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コンポジションで振る舞いを差し替え、テストで契約を確かめる。</a:t>
            </a:r>
          </a:p>
        </p:txBody>
      </p:sp>
      <p:sp>
        <p:nvSpPr>
          <p:cNvPr id="9" name="Python の抽象クラス ↗">
            <a:extLst xmlns:a="http://schemas.openxmlformats.org/drawingml/2006/main">
              <a:ext uri="{FF2B5EF4-FFF2-40B4-BE49-F238E27FC236}">
                <a16:creationId xmlns:a16="http://schemas.microsoft.com/office/drawing/2014/main" id="{5E28646B-B2F8-40AA-BD2F-0C609098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10250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87C62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9633fd4bb9f94ddd"/>
              </a:rPr>
              <a:t>Python の抽象クラス ↗</a:t>
            </a:r>
          </a:p>
        </p:txBody>
      </p:sp>
      <p:sp>
        <p:nvSpPr>
          <p:cNvPr id="10" name="Python Protocol ↗">
            <a:extLst xmlns:a="http://schemas.openxmlformats.org/drawingml/2006/main">
              <a:ext uri="{FF2B5EF4-FFF2-40B4-BE49-F238E27FC236}">
                <a16:creationId xmlns:a16="http://schemas.microsoft.com/office/drawing/2014/main" id="{75284D99-FD43-4A18-98BA-322D833A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810250"/>
            <a:ext cx="4762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87C62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eb9a41e7cbb946c6"/>
              </a:rPr>
              <a:t>Python Protocol ↗</a:t>
            </a:r>
          </a:p>
        </p:txBody>
      </p:sp>
      <p:sp>
        <p:nvSpPr>
          <p:cNvPr id="11" name="32">
            <a:extLst xmlns:a="http://schemas.openxmlformats.org/drawingml/2006/main">
              <a:ext uri="{FF2B5EF4-FFF2-40B4-BE49-F238E27FC236}">
                <a16:creationId xmlns:a16="http://schemas.microsoft.com/office/drawing/2014/main" id="{952834C7-B130-4BA3-947C-5DC475DD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43675"/>
            <a:ext cx="457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26879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57884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2026-10-28T04:40:15.3610000Z</dcterms:created>
  <dcterms:modified xsi:type="dcterms:W3CDTF">2026-10-28T04:40:15.3610000Z</dcterms:modified>
</coreProperties>
</file>