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54a204e74046d1" /><Relationship Type="http://schemas.openxmlformats.org/officeDocument/2006/relationships/extended-properties" Target="/docProps/app.xml" Id="R8ac5f38b13ec44cd" /><Relationship Type="http://schemas.openxmlformats.org/officeDocument/2006/relationships/officeDocument" Target="/ppt/presentation.xml" Id="R19674425371749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553946f6a2496e"/>
  </p:sldMasterIdLst>
  <p:notesMasterIdLst>
    <p:notesMasterId xmlns:r="http://schemas.openxmlformats.org/officeDocument/2006/relationships" r:id="Rd5ae2680969a48e2"/>
  </p:notesMasterIdLst>
  <p:sldIdLst>
    <p:sldId xmlns:r="http://schemas.openxmlformats.org/officeDocument/2006/relationships" id="256" r:id="R7a824fe8f0e34577"/>
    <p:sldId xmlns:r="http://schemas.openxmlformats.org/officeDocument/2006/relationships" id="257" r:id="R3351be3e20904783"/>
    <p:sldId xmlns:r="http://schemas.openxmlformats.org/officeDocument/2006/relationships" id="258" r:id="Rb261a46936304548"/>
    <p:sldId xmlns:r="http://schemas.openxmlformats.org/officeDocument/2006/relationships" id="259" r:id="R004199890f604923"/>
    <p:sldId xmlns:r="http://schemas.openxmlformats.org/officeDocument/2006/relationships" id="260" r:id="R78443ee8d6134c0f"/>
    <p:sldId xmlns:r="http://schemas.openxmlformats.org/officeDocument/2006/relationships" id="261" r:id="Rc131207b9a5c428b"/>
    <p:sldId xmlns:r="http://schemas.openxmlformats.org/officeDocument/2006/relationships" id="262" r:id="R38bf02e16b4645ed"/>
    <p:sldId xmlns:r="http://schemas.openxmlformats.org/officeDocument/2006/relationships" id="263" r:id="Ra0e0d6451a0b4df0"/>
    <p:sldId xmlns:r="http://schemas.openxmlformats.org/officeDocument/2006/relationships" id="264" r:id="R4b773e00f4424c2a"/>
    <p:sldId xmlns:r="http://schemas.openxmlformats.org/officeDocument/2006/relationships" id="265" r:id="R82a2d1239e5149b1"/>
    <p:sldId xmlns:r="http://schemas.openxmlformats.org/officeDocument/2006/relationships" id="266" r:id="Rf86392d032e745e2"/>
    <p:sldId xmlns:r="http://schemas.openxmlformats.org/officeDocument/2006/relationships" id="267" r:id="R48c6f1c19d184037"/>
    <p:sldId xmlns:r="http://schemas.openxmlformats.org/officeDocument/2006/relationships" id="268" r:id="Rf3f024c1abe94ccf"/>
    <p:sldId xmlns:r="http://schemas.openxmlformats.org/officeDocument/2006/relationships" id="269" r:id="R0130d7b4040045e9"/>
    <p:sldId xmlns:r="http://schemas.openxmlformats.org/officeDocument/2006/relationships" id="270" r:id="R4b144fcc61f34d6d"/>
    <p:sldId xmlns:r="http://schemas.openxmlformats.org/officeDocument/2006/relationships" id="271" r:id="Rc9d1014064a14703"/>
    <p:sldId xmlns:r="http://schemas.openxmlformats.org/officeDocument/2006/relationships" id="272" r:id="R901530194cc74de6"/>
    <p:sldId xmlns:r="http://schemas.openxmlformats.org/officeDocument/2006/relationships" id="273" r:id="R43c700b24f714ad3"/>
    <p:sldId xmlns:r="http://schemas.openxmlformats.org/officeDocument/2006/relationships" id="274" r:id="Rcfeab4189b804f62"/>
    <p:sldId xmlns:r="http://schemas.openxmlformats.org/officeDocument/2006/relationships" id="275" r:id="R42cfb4aa9b94450d"/>
    <p:sldId xmlns:r="http://schemas.openxmlformats.org/officeDocument/2006/relationships" id="276" r:id="R294d7a1573e24094"/>
    <p:sldId xmlns:r="http://schemas.openxmlformats.org/officeDocument/2006/relationships" id="277" r:id="R734c40ec01fc4d47"/>
    <p:sldId xmlns:r="http://schemas.openxmlformats.org/officeDocument/2006/relationships" id="278" r:id="Rccd6e5dc64b14f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298a3251314aae" /><Relationship Type="http://schemas.openxmlformats.org/officeDocument/2006/relationships/slideMaster" Target="/ppt/slideMasters/slideMaster1.xml" Id="R9c553946f6a2496e" /><Relationship Type="http://schemas.openxmlformats.org/officeDocument/2006/relationships/notesMaster" Target="/ppt/notesMasters/notesMaster1.xml" Id="Rd5ae2680969a48e2" /><Relationship Type="http://schemas.openxmlformats.org/officeDocument/2006/relationships/presProps" Target="/ppt/presProps.xml" Id="R580be3f7c0804a17" /><Relationship Type="http://schemas.openxmlformats.org/officeDocument/2006/relationships/viewProps" Target="/ppt/viewProps.xml" Id="R15a1e663362f4070" /><Relationship Type="http://schemas.openxmlformats.org/officeDocument/2006/relationships/tableStyles" Target="/ppt/tableStyles.xml" Id="Rcc8d98229e804bc5" /><Relationship Type="http://schemas.openxmlformats.org/officeDocument/2006/relationships/slide" Target="/ppt/slides/slide1.xml" Id="R7a824fe8f0e34577" /><Relationship Type="http://schemas.openxmlformats.org/officeDocument/2006/relationships/slide" Target="/ppt/slides/slide2.xml" Id="R3351be3e20904783" /><Relationship Type="http://schemas.openxmlformats.org/officeDocument/2006/relationships/slide" Target="/ppt/slides/slide3.xml" Id="Rb261a46936304548" /><Relationship Type="http://schemas.openxmlformats.org/officeDocument/2006/relationships/slide" Target="/ppt/slides/slide4.xml" Id="R004199890f604923" /><Relationship Type="http://schemas.openxmlformats.org/officeDocument/2006/relationships/slide" Target="/ppt/slides/slide5.xml" Id="R78443ee8d6134c0f" /><Relationship Type="http://schemas.openxmlformats.org/officeDocument/2006/relationships/slide" Target="/ppt/slides/slide6.xml" Id="Rc131207b9a5c428b" /><Relationship Type="http://schemas.openxmlformats.org/officeDocument/2006/relationships/slide" Target="/ppt/slides/slide7.xml" Id="R38bf02e16b4645ed" /><Relationship Type="http://schemas.openxmlformats.org/officeDocument/2006/relationships/slide" Target="/ppt/slides/slide8.xml" Id="Ra0e0d6451a0b4df0" /><Relationship Type="http://schemas.openxmlformats.org/officeDocument/2006/relationships/slide" Target="/ppt/slides/slide9.xml" Id="R4b773e00f4424c2a" /><Relationship Type="http://schemas.openxmlformats.org/officeDocument/2006/relationships/slide" Target="/ppt/slides/slide10.xml" Id="R82a2d1239e5149b1" /><Relationship Type="http://schemas.openxmlformats.org/officeDocument/2006/relationships/slide" Target="/ppt/slides/slide11.xml" Id="Rf86392d032e745e2" /><Relationship Type="http://schemas.openxmlformats.org/officeDocument/2006/relationships/slide" Target="/ppt/slides/slide12.xml" Id="R48c6f1c19d184037" /><Relationship Type="http://schemas.openxmlformats.org/officeDocument/2006/relationships/slide" Target="/ppt/slides/slide13.xml" Id="Rf3f024c1abe94ccf" /><Relationship Type="http://schemas.openxmlformats.org/officeDocument/2006/relationships/slide" Target="/ppt/slides/slide14.xml" Id="R0130d7b4040045e9" /><Relationship Type="http://schemas.openxmlformats.org/officeDocument/2006/relationships/slide" Target="/ppt/slides/slide15.xml" Id="R4b144fcc61f34d6d" /><Relationship Type="http://schemas.openxmlformats.org/officeDocument/2006/relationships/slide" Target="/ppt/slides/slide16.xml" Id="Rc9d1014064a14703" /><Relationship Type="http://schemas.openxmlformats.org/officeDocument/2006/relationships/slide" Target="/ppt/slides/slide17.xml" Id="R901530194cc74de6" /><Relationship Type="http://schemas.openxmlformats.org/officeDocument/2006/relationships/slide" Target="/ppt/slides/slide18.xml" Id="R43c700b24f714ad3" /><Relationship Type="http://schemas.openxmlformats.org/officeDocument/2006/relationships/slide" Target="/ppt/slides/slide19.xml" Id="Rcfeab4189b804f62" /><Relationship Type="http://schemas.openxmlformats.org/officeDocument/2006/relationships/slide" Target="/ppt/slides/slide20.xml" Id="R42cfb4aa9b94450d" /><Relationship Type="http://schemas.openxmlformats.org/officeDocument/2006/relationships/slide" Target="/ppt/slides/slide21.xml" Id="R294d7a1573e24094" /><Relationship Type="http://schemas.openxmlformats.org/officeDocument/2006/relationships/slide" Target="/ppt/slides/slide22.xml" Id="R734c40ec01fc4d47" /><Relationship Type="http://schemas.openxmlformats.org/officeDocument/2006/relationships/slide" Target="/ppt/slides/slide23.xml" Id="Rccd6e5dc64b14f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c2a75a4cdb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e50d8da8384822" /><Relationship Type="http://schemas.openxmlformats.org/officeDocument/2006/relationships/notesMaster" Target="/ppt/notesMasters/notesMaster1.xml" Id="R848db18f9f164f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12921089924da9" /><Relationship Type="http://schemas.openxmlformats.org/officeDocument/2006/relationships/notesMaster" Target="/ppt/notesMasters/notesMaster1.xml" Id="R9e877c8960fa4d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7a6f2739f7443d" /><Relationship Type="http://schemas.openxmlformats.org/officeDocument/2006/relationships/notesMaster" Target="/ppt/notesMasters/notesMaster1.xml" Id="Rd945647c454544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440cee2589492c" /><Relationship Type="http://schemas.openxmlformats.org/officeDocument/2006/relationships/notesMaster" Target="/ppt/notesMasters/notesMaster1.xml" Id="R3ae27df7639c4a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647a199aec4d27" /><Relationship Type="http://schemas.openxmlformats.org/officeDocument/2006/relationships/notesMaster" Target="/ppt/notesMasters/notesMaster1.xml" Id="Re14aa9b791274a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769d3d8d46401e" /><Relationship Type="http://schemas.openxmlformats.org/officeDocument/2006/relationships/notesMaster" Target="/ppt/notesMasters/notesMaster1.xml" Id="R25502ca40ae74f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e4cc9737454495" /><Relationship Type="http://schemas.openxmlformats.org/officeDocument/2006/relationships/notesMaster" Target="/ppt/notesMasters/notesMaster1.xml" Id="Rb19ad55d8b7e49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cd915e67c7477b" /><Relationship Type="http://schemas.openxmlformats.org/officeDocument/2006/relationships/notesMaster" Target="/ppt/notesMasters/notesMaster1.xml" Id="Ra751914d063b48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e8689b9f3c4eed" /><Relationship Type="http://schemas.openxmlformats.org/officeDocument/2006/relationships/notesMaster" Target="/ppt/notesMasters/notesMaster1.xml" Id="Rf365a034502340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51d1f8c96440e1" /><Relationship Type="http://schemas.openxmlformats.org/officeDocument/2006/relationships/notesMaster" Target="/ppt/notesMasters/notesMaster1.xml" Id="Re64c8f7f080f49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2b0c8c1a8f4904" /><Relationship Type="http://schemas.openxmlformats.org/officeDocument/2006/relationships/notesMaster" Target="/ppt/notesMasters/notesMaster1.xml" Id="Raa0e1619c65849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b690d23db14623" /><Relationship Type="http://schemas.openxmlformats.org/officeDocument/2006/relationships/notesMaster" Target="/ppt/notesMasters/notesMaster1.xml" Id="Rf4c4d9ae3a0c41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2e072d8b1f4bad" /><Relationship Type="http://schemas.openxmlformats.org/officeDocument/2006/relationships/notesMaster" Target="/ppt/notesMasters/notesMaster1.xml" Id="R8d4db751443842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1283e8b9f3468b" /><Relationship Type="http://schemas.openxmlformats.org/officeDocument/2006/relationships/notesMaster" Target="/ppt/notesMasters/notesMaster1.xml" Id="Rebca9350d7c047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b5cd3309c24b44" /><Relationship Type="http://schemas.openxmlformats.org/officeDocument/2006/relationships/notesMaster" Target="/ppt/notesMasters/notesMaster1.xml" Id="R5592898c17854e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ef2eeac6f14ffc" /><Relationship Type="http://schemas.openxmlformats.org/officeDocument/2006/relationships/notesMaster" Target="/ppt/notesMasters/notesMaster1.xml" Id="R7f7f67b203be45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7d502118da47b4" /><Relationship Type="http://schemas.openxmlformats.org/officeDocument/2006/relationships/notesMaster" Target="/ppt/notesMasters/notesMaster1.xml" Id="Rb14ad036b5a241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53a98218df4306" /><Relationship Type="http://schemas.openxmlformats.org/officeDocument/2006/relationships/notesMaster" Target="/ppt/notesMasters/notesMaster1.xml" Id="R654bc160f4bb4a0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609cf0f27ef4084" /><Relationship Type="http://schemas.openxmlformats.org/officeDocument/2006/relationships/notesMaster" Target="/ppt/notesMasters/notesMaster1.xml" Id="R8a3ea828b0f949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01a0a74df4646ee" /><Relationship Type="http://schemas.openxmlformats.org/officeDocument/2006/relationships/notesMaster" Target="/ppt/notesMasters/notesMaster1.xml" Id="Rcb9291d3451d4ce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5ad574661c473b" /><Relationship Type="http://schemas.openxmlformats.org/officeDocument/2006/relationships/notesMaster" Target="/ppt/notesMasters/notesMaster1.xml" Id="R524d33c2683a49e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cc0e8100c44e98" /><Relationship Type="http://schemas.openxmlformats.org/officeDocument/2006/relationships/notesMaster" Target="/ppt/notesMasters/notesMaster1.xml" Id="R078cf4726f6b40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d2de34e328c4a8e" /><Relationship Type="http://schemas.openxmlformats.org/officeDocument/2006/relationships/notesMaster" Target="/ppt/notesMasters/notesMaster1.xml" Id="R006f6dda72574d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來源：https://webapp.yuntech.edu.tw/WebNewCAS/Course/Plan/Query.aspx?&amp;115&amp;1&amp;1478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來源：https://minhuangyuntech.github.io/oo2026/#project</a:t>
            </a:r>
          </a:p>
          <a:p xmlns:a="http://schemas.openxmlformats.org/drawingml/2006/main">
            <a:r>
              <a:t>來源：https://github.com/openclaw/openclaw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來源：https://minhuangyuntech.github.io/oo2026/#project</a:t>
            </a:r>
            <a:endParaRPr/>
          </a:p>
          <a:p xmlns:a="http://schemas.openxmlformats.org/drawingml/2006/main">
            <a:r>
              <a:t>來源：https://github.com/openclaw/openclaw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來源：https://minhuangyuntech.github.io/oo2026/#roadmap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來源：https://minhuangyuntech.github.io/oo2026/#weeks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來源：https://packaging.python.org/en/latest/tutorials/packaging-projects/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來源：https://minhuangyuntech.github.io/oo2026/week/1/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來源：https://minhuangyuntech.github.io/oo2026/week/1/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來源：https://minhuangyuntech.github.io/oo2026/week/18/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來源：https://minhuangyuntech.github.io/oo2026/week/12/</a:t>
            </a:r>
          </a:p>
          <a:p xmlns:a="http://schemas.openxmlformats.org/drawingml/2006/main">
            <a:r>
              <a:t>來源：https://minhuangyuntech.github.io/oo2026/week/17/</a:t>
            </a:r>
          </a:p>
          <a:p xmlns:a="http://schemas.openxmlformats.org/drawingml/2006/main">
            <a:r>
              <a:t>來源：https://minhuangyuntech.github.io/oo2026/week/18/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來源：https://minhuangyuntech.github.io/oo2026/week/17/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來源：https://minhuangyuntech.github.io/oo2026/week/15/</a:t>
            </a:r>
          </a:p>
          <a:p xmlns:a="http://schemas.openxmlformats.org/drawingml/2006/main">
            <a:r>
              <a:t>來源：https://docs.djangoproject.com/en/6.0/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來源：https://minhuangyuntech.github.io/oo2026/week/15/</a:t>
            </a:r>
          </a:p>
          <a:p xmlns:a="http://schemas.openxmlformats.org/drawingml/2006/main">
            <a:r>
              <a:t>來源：https://minhuangyuntech.github.io/oo2026/week/16/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來源：https://minhuangyuntech.github.io/oo2026/#weeks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來源：https://webapp.yuntech.edu.tw/WebNewCAS/Course/Plan/Query.aspx?&amp;115&amp;1&amp;1478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來源：https://webapp.yuntech.edu.tw/WebNewCAS/Course/Plan/Query.aspx?&amp;115&amp;1&amp;1478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來源：https://minhuangyuntech.github.io/oo2026/week/2/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76812d2fb47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42d6da67074d06" /><Relationship Type="http://schemas.openxmlformats.org/officeDocument/2006/relationships/slideLayout" Target="/ppt/slideLayouts/slideLayout1.xml" Id="R7d9ad4dfc96e44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9ad4dfc96e44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d14a3de3b48fb" /><Relationship Type="http://schemas.openxmlformats.org/officeDocument/2006/relationships/image" Target="/ppt/media/image.png" Id="R8ba7f7731eab4a40" /><Relationship Type="http://schemas.openxmlformats.org/officeDocument/2006/relationships/notesSlide" Target="/ppt/notesSlides/notesSlide1.xml" Id="R1fcb677b30084b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c18be44714b6a" /><Relationship Type="http://schemas.openxmlformats.org/officeDocument/2006/relationships/notesSlide" Target="/ppt/notesSlides/notesSlide2.xml" Id="R11ce9f567cc342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4c57e83a3485a" /><Relationship Type="http://schemas.openxmlformats.org/officeDocument/2006/relationships/notesSlide" Target="/ppt/notesSlides/notesSlide3.xml" Id="R681c180dea6943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e226dc9ce4f9a" /><Relationship Type="http://schemas.openxmlformats.org/officeDocument/2006/relationships/notesSlide" Target="/ppt/notesSlides/notesSlide4.xml" Id="Rc88efab4656447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4e031ea554b93" /><Relationship Type="http://schemas.openxmlformats.org/officeDocument/2006/relationships/notesSlide" Target="/ppt/notesSlides/notesSlide5.xml" Id="Rdd31773eed744f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425c5725445d1" /><Relationship Type="http://schemas.openxmlformats.org/officeDocument/2006/relationships/notesSlide" Target="/ppt/notesSlides/notesSlide6.xml" Id="R2c015d6d9e8d46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8aac9d89f46b7" /><Relationship Type="http://schemas.openxmlformats.org/officeDocument/2006/relationships/notesSlide" Target="/ppt/notesSlides/notesSlide7.xml" Id="R768d78f3c8e645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51ce0920a4554" /><Relationship Type="http://schemas.openxmlformats.org/officeDocument/2006/relationships/notesSlide" Target="/ppt/notesSlides/notesSlide8.xml" Id="Ra0d701f842a146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e4d45fb4b41f9" /><Relationship Type="http://schemas.openxmlformats.org/officeDocument/2006/relationships/image" Target="/ppt/media/image2.png" Id="R43b19aac76b34b35" /><Relationship Type="http://schemas.openxmlformats.org/officeDocument/2006/relationships/notesSlide" Target="/ppt/notesSlides/notesSlide9.xml" Id="Rd4132dc93dd243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4e2049cd44e7e" /><Relationship Type="http://schemas.openxmlformats.org/officeDocument/2006/relationships/notesSlide" Target="/ppt/notesSlides/notesSlide10.xml" Id="Rfa10cf3e50ba48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a229e871e4eb1" /><Relationship Type="http://schemas.openxmlformats.org/officeDocument/2006/relationships/notesSlide" Target="/ppt/notesSlides/notesSlide11.xml" Id="R911bd7a24ecd4e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938a949054d7b" /><Relationship Type="http://schemas.openxmlformats.org/officeDocument/2006/relationships/notesSlide" Target="/ppt/notesSlides/notesSlide12.xml" Id="Red0817f3f04140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39c4f6a5c4165" /><Relationship Type="http://schemas.openxmlformats.org/officeDocument/2006/relationships/notesSlide" Target="/ppt/notesSlides/notesSlide13.xml" Id="Rc1c1ca4058fc4d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fa0b2be9f4d2f" /><Relationship Type="http://schemas.openxmlformats.org/officeDocument/2006/relationships/notesSlide" Target="/ppt/notesSlides/notesSlide14.xml" Id="Ra0ff974bfad44d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662dcc0d84d93" /><Relationship Type="http://schemas.openxmlformats.org/officeDocument/2006/relationships/image" Target="/ppt/media/image3.png" Id="R72f5f1dfe88f4545" /><Relationship Type="http://schemas.openxmlformats.org/officeDocument/2006/relationships/notesSlide" Target="/ppt/notesSlides/notesSlide15.xml" Id="R95249c056b0946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b07efef754b7e" /><Relationship Type="http://schemas.openxmlformats.org/officeDocument/2006/relationships/notesSlide" Target="/ppt/notesSlides/notesSlide16.xml" Id="R537dc24274f14f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98a9a25c94aa9" /><Relationship Type="http://schemas.openxmlformats.org/officeDocument/2006/relationships/notesSlide" Target="/ppt/notesSlides/notesSlide17.xml" Id="Rb01a004643bf48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71ed2729f4166" /><Relationship Type="http://schemas.openxmlformats.org/officeDocument/2006/relationships/image" Target="/ppt/media/image4.png" Id="R6bba5082f585440b" /><Relationship Type="http://schemas.openxmlformats.org/officeDocument/2006/relationships/notesSlide" Target="/ppt/notesSlides/notesSlide18.xml" Id="R5c26ae5e71be49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6e610b3b243c3" /><Relationship Type="http://schemas.openxmlformats.org/officeDocument/2006/relationships/notesSlide" Target="/ppt/notesSlides/notesSlide19.xml" Id="R87542f1dbcba463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57a5ac04345f7" /><Relationship Type="http://schemas.openxmlformats.org/officeDocument/2006/relationships/notesSlide" Target="/ppt/notesSlides/notesSlide20.xml" Id="R0a35b81903444fd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9d579ab0f4f2c" /><Relationship Type="http://schemas.openxmlformats.org/officeDocument/2006/relationships/notesSlide" Target="/ppt/notesSlides/notesSlide21.xml" Id="R2edd06421ea249b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7d44e80c84a3f" /><Relationship Type="http://schemas.openxmlformats.org/officeDocument/2006/relationships/hyperlink" Target="https://minhuangyuntech.github.io/oo2026" TargetMode="External" Id="R762a4b2133cc47f4" /><Relationship Type="http://schemas.openxmlformats.org/officeDocument/2006/relationships/hyperlink" Target="https://minhuangyuntech.github.io/oo2026" TargetMode="External" Id="R4142604b15b84bfd" /><Relationship Type="http://schemas.openxmlformats.org/officeDocument/2006/relationships/hyperlink" Target="https://eclass.yuntech.edu.tw/" TargetMode="External" Id="Rbdd29ce418fa4bc2" /><Relationship Type="http://schemas.openxmlformats.org/officeDocument/2006/relationships/hyperlink" Target="https://eclass.yuntech.edu.tw/" TargetMode="External" Id="R292f890e02f34838" /><Relationship Type="http://schemas.openxmlformats.org/officeDocument/2006/relationships/notesSlide" Target="/ppt/notesSlides/notesSlide22.xml" Id="Ra8afc5046db0479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56024e7514f24" /><Relationship Type="http://schemas.openxmlformats.org/officeDocument/2006/relationships/notesSlide" Target="/ppt/notesSlides/notesSlide23.xml" Id="R951c730795244a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B4A50307-008F-4370-ADD6-D8FF2957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pic>
        <p:nvPicPr>
          <p:cNvPr id="11" name="圖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7f7731eab4a4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WEEK 01">
            <a:extLst xmlns:a="http://schemas.openxmlformats.org/drawingml/2006/main">
              <a:ext uri="{FF2B5EF4-FFF2-40B4-BE49-F238E27FC236}">
                <a16:creationId xmlns:a16="http://schemas.microsoft.com/office/drawing/2014/main" id="{F3D9F2D9-7B33-4B0A-8FD3-546CF8D7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WEEK 01</a:t>
            </a:r>
          </a:p>
        </p:txBody>
      </p:sp>
      <p:sp>
        <p:nvSpPr>
          <p:cNvPr id="4" name="物件導向 程式設計">
            <a:extLst xmlns:a="http://schemas.openxmlformats.org/drawingml/2006/main">
              <a:ext uri="{FF2B5EF4-FFF2-40B4-BE49-F238E27FC236}">
                <a16:creationId xmlns:a16="http://schemas.microsoft.com/office/drawing/2014/main" id="{97801A59-0B31-4E60-A29B-ADF982D6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95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物件導向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程式設計</a:t>
            </a:r>
          </a:p>
        </p:txBody>
      </p:sp>
      <p:sp>
        <p:nvSpPr>
          <p:cNvPr id="5" name="Python 套件與個人 AI 助理">
            <a:extLst xmlns:a="http://schemas.openxmlformats.org/drawingml/2006/main">
              <a:ext uri="{FF2B5EF4-FFF2-40B4-BE49-F238E27FC236}">
                <a16:creationId xmlns:a16="http://schemas.microsoft.com/office/drawing/2014/main" id="{B6E5FE56-A1B5-47EC-8700-EDE9C401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10025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理論與實務</a:t>
            </a:r>
            <a:endParaRPr sz="2325" b="0">
              <a:solidFill>
                <a:srgbClr val="F7F4E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第一週課程說明　90 分鐘">
            <a:extLst xmlns:a="http://schemas.openxmlformats.org/drawingml/2006/main">
              <a:ext uri="{FF2B5EF4-FFF2-40B4-BE49-F238E27FC236}">
                <a16:creationId xmlns:a16="http://schemas.microsoft.com/office/drawing/2014/main" id="{A22C34D4-7FDD-4B79-B896-D28A6442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386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第一週課程說明　90 分鐘</a:t>
            </a:r>
            <a:endParaRPr sz="1875" b="0">
              <a:solidFill>
                <a:srgbClr val="88D1C4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國立雲林科技大學 電子工程系 115 學年度第 1 學期　何敏煌">
            <a:extLst xmlns:a="http://schemas.openxmlformats.org/drawingml/2006/main">
              <a:ext uri="{FF2B5EF4-FFF2-40B4-BE49-F238E27FC236}">
                <a16:creationId xmlns:a16="http://schemas.microsoft.com/office/drawing/2014/main" id="{75948AFF-1103-4DFA-A2CD-5DA89AC5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150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國立雲林科技大學 電子工程系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115 學年度第 1 學期　何敏煌</a:t>
            </a:r>
          </a:p>
        </p:txBody>
      </p:sp>
    </p:spTree>
    <p:extLst>
      <p:ext uri="{BB962C8B-B14F-4D97-AF65-F5344CB8AC3E}">
        <p14:creationId xmlns:p14="http://schemas.microsoft.com/office/powerpoint/2010/main" val="1321270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寫程式時，你遇過哪些情況？">
            <a:extLst xmlns:a="http://schemas.openxmlformats.org/drawingml/2006/main">
              <a:ext uri="{FF2B5EF4-FFF2-40B4-BE49-F238E27FC236}">
                <a16:creationId xmlns:a16="http://schemas.microsoft.com/office/drawing/2014/main" id="{1185466A-5A74-4F83-B6A9-4754028B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寫程式時，你遇過哪些情況？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EE86E911-C1F0-4EEF-AD4B-CF676AD8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看不懂">
            <a:extLst xmlns:a="http://schemas.openxmlformats.org/drawingml/2006/main">
              <a:ext uri="{FF2B5EF4-FFF2-40B4-BE49-F238E27FC236}">
                <a16:creationId xmlns:a16="http://schemas.microsoft.com/office/drawing/2014/main" id="{3745DB6B-7DCA-489B-9320-AE74017B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看不懂</a:t>
            </a:r>
          </a:p>
        </p:txBody>
      </p:sp>
      <p:sp>
        <p:nvSpPr>
          <p:cNvPr id="4" name="一個月後，連自己也忘記原本的想法。">
            <a:extLst xmlns:a="http://schemas.openxmlformats.org/drawingml/2006/main">
              <a:ext uri="{FF2B5EF4-FFF2-40B4-BE49-F238E27FC236}">
                <a16:creationId xmlns:a16="http://schemas.microsoft.com/office/drawing/2014/main" id="{2715C5AB-0A04-4AD3-937A-2A99775C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一個月後，連自己也忘記原本的想法。</a:t>
            </a:r>
          </a:p>
        </p:txBody>
      </p:sp>
      <p:sp>
        <p:nvSpPr>
          <p:cNvPr id="5" name="改不動">
            <a:extLst xmlns:a="http://schemas.openxmlformats.org/drawingml/2006/main">
              <a:ext uri="{FF2B5EF4-FFF2-40B4-BE49-F238E27FC236}">
                <a16:creationId xmlns:a16="http://schemas.microsoft.com/office/drawing/2014/main" id="{82BBB59A-43CC-4464-9D5C-E99024F6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改不動</a:t>
            </a:r>
          </a:p>
        </p:txBody>
      </p:sp>
      <p:sp>
        <p:nvSpPr>
          <p:cNvPr id="6" name="新增一個功能，其他功能卻出錯。">
            <a:extLst xmlns:a="http://schemas.openxmlformats.org/drawingml/2006/main">
              <a:ext uri="{FF2B5EF4-FFF2-40B4-BE49-F238E27FC236}">
                <a16:creationId xmlns:a16="http://schemas.microsoft.com/office/drawing/2014/main" id="{C07ED07E-4FA7-4145-A267-CF5B3A7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479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新增一個功能，其他功能卻出錯。</a:t>
            </a:r>
          </a:p>
        </p:txBody>
      </p:sp>
      <p:sp>
        <p:nvSpPr>
          <p:cNvPr id="7" name="搬不走">
            <a:extLst xmlns:a="http://schemas.openxmlformats.org/drawingml/2006/main">
              <a:ext uri="{FF2B5EF4-FFF2-40B4-BE49-F238E27FC236}">
                <a16:creationId xmlns:a16="http://schemas.microsoft.com/office/drawing/2014/main" id="{5CD603C4-7336-4219-8889-BD077B15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搬不走</a:t>
            </a:r>
          </a:p>
        </p:txBody>
      </p:sp>
      <p:sp>
        <p:nvSpPr>
          <p:cNvPr id="8" name="換一台電腦，程式就無法執行。">
            <a:extLst xmlns:a="http://schemas.openxmlformats.org/drawingml/2006/main">
              <a:ext uri="{FF2B5EF4-FFF2-40B4-BE49-F238E27FC236}">
                <a16:creationId xmlns:a16="http://schemas.microsoft.com/office/drawing/2014/main" id="{FAE9D90E-0793-47D8-90EC-127C54F2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9095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換一台電腦，程式就無法執行。</a:t>
            </a:r>
          </a:p>
        </p:txBody>
      </p:sp>
      <p:sp>
        <p:nvSpPr>
          <p:cNvPr id="9" name="接不起來">
            <a:extLst xmlns:a="http://schemas.openxmlformats.org/drawingml/2006/main">
              <a:ext uri="{FF2B5EF4-FFF2-40B4-BE49-F238E27FC236}">
                <a16:creationId xmlns:a16="http://schemas.microsoft.com/office/drawing/2014/main" id="{152B48C4-AADE-478F-8FB9-C507DE1D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接不起來</a:t>
            </a:r>
          </a:p>
        </p:txBody>
      </p:sp>
      <p:sp>
        <p:nvSpPr>
          <p:cNvPr id="10" name="大家各自完成，整合時才發現介面不同。">
            <a:extLst xmlns:a="http://schemas.openxmlformats.org/drawingml/2006/main">
              <a:ext uri="{FF2B5EF4-FFF2-40B4-BE49-F238E27FC236}">
                <a16:creationId xmlns:a16="http://schemas.microsoft.com/office/drawing/2014/main" id="{4CD7E486-1CA2-4C2F-8184-CF8AADB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大家各自完成，整合時才發現介面不同。</a:t>
            </a:r>
          </a:p>
        </p:txBody>
      </p:sp>
    </p:spTree>
    <p:extLst>
      <p:ext uri="{BB962C8B-B14F-4D97-AF65-F5344CB8AC3E}">
        <p14:creationId xmlns:p14="http://schemas.microsoft.com/office/powerpoint/2010/main" val="1534223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你的程式經驗">
            <a:extLst xmlns:a="http://schemas.openxmlformats.org/drawingml/2006/main">
              <a:ext uri="{FF2B5EF4-FFF2-40B4-BE49-F238E27FC236}">
                <a16:creationId xmlns:a16="http://schemas.microsoft.com/office/drawing/2014/main" id="{276A2247-3E5B-4ECC-BC10-9B2B89CB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你的程式經驗</a:t>
            </a:r>
          </a:p>
        </p:txBody>
      </p:sp>
      <p:sp>
        <p:nvSpPr>
          <p:cNvPr id="2" name="每個人的起點不同，先認識自己的基礎。">
            <a:extLst xmlns:a="http://schemas.openxmlformats.org/drawingml/2006/main">
              <a:ext uri="{FF2B5EF4-FFF2-40B4-BE49-F238E27FC236}">
                <a16:creationId xmlns:a16="http://schemas.microsoft.com/office/drawing/2014/main" id="{598CE064-A6F2-47C7-9575-ACD2EFAE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從 C 語言出發，認識自己的基礎與想補強的能力。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58701542-AA77-4699-AB90-73609B6B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寫過什麼？">
            <a:extLst xmlns:a="http://schemas.openxmlformats.org/drawingml/2006/main">
              <a:ext uri="{FF2B5EF4-FFF2-40B4-BE49-F238E27FC236}">
                <a16:creationId xmlns:a16="http://schemas.microsoft.com/office/drawing/2014/main" id="{4EAB17EA-8307-451F-AB33-F329F81D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36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寫過什麼？</a:t>
            </a:r>
          </a:p>
        </p:txBody>
      </p:sp>
      <p:sp>
        <p:nvSpPr>
          <p:cNvPr id="5" name="C 或 Python 課堂練習、專題 或自己的小工具">
            <a:extLst xmlns:a="http://schemas.openxmlformats.org/drawingml/2006/main">
              <a:ext uri="{FF2B5EF4-FFF2-40B4-BE49-F238E27FC236}">
                <a16:creationId xmlns:a16="http://schemas.microsoft.com/office/drawing/2014/main" id="{4D96647E-33FA-479D-9526-F562BAC1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36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 或 Python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課堂練習、專題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或自己的小工具</a:t>
            </a:r>
          </a:p>
        </p:txBody>
      </p:sp>
      <p:sp>
        <p:nvSpPr>
          <p:cNvPr id="6" name="用過什麼？">
            <a:extLst xmlns:a="http://schemas.openxmlformats.org/drawingml/2006/main">
              <a:ext uri="{FF2B5EF4-FFF2-40B4-BE49-F238E27FC236}">
                <a16:creationId xmlns:a16="http://schemas.microsoft.com/office/drawing/2014/main" id="{C67028CE-0193-4D26-AA2B-E220E48A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257425"/>
            <a:ext cx="336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用過什麼？</a:t>
            </a:r>
          </a:p>
        </p:txBody>
      </p:sp>
      <p:sp>
        <p:nvSpPr>
          <p:cNvPr id="7" name="函式與資料結構 Git、測試 或網站框架">
            <a:extLst xmlns:a="http://schemas.openxmlformats.org/drawingml/2006/main">
              <a:ext uri="{FF2B5EF4-FFF2-40B4-BE49-F238E27FC236}">
                <a16:creationId xmlns:a16="http://schemas.microsoft.com/office/drawing/2014/main" id="{C6B6B28B-F2D2-4B0F-9568-DCF905EE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62300"/>
            <a:ext cx="336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函式與資料結構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Git、測試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或網站框架</a:t>
            </a:r>
          </a:p>
        </p:txBody>
      </p:sp>
      <p:sp>
        <p:nvSpPr>
          <p:cNvPr id="8" name="最想補強什麼？">
            <a:extLst xmlns:a="http://schemas.openxmlformats.org/drawingml/2006/main">
              <a:ext uri="{FF2B5EF4-FFF2-40B4-BE49-F238E27FC236}">
                <a16:creationId xmlns:a16="http://schemas.microsoft.com/office/drawing/2014/main" id="{917A8E93-7D8B-4D9C-ACA3-C01E622F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257425"/>
            <a:ext cx="336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最想補強什麼？</a:t>
            </a:r>
          </a:p>
        </p:txBody>
      </p:sp>
      <p:sp>
        <p:nvSpPr>
          <p:cNvPr id="9" name="讀懂程式 除錯與修改 或和別人合作">
            <a:extLst xmlns:a="http://schemas.openxmlformats.org/drawingml/2006/main">
              <a:ext uri="{FF2B5EF4-FFF2-40B4-BE49-F238E27FC236}">
                <a16:creationId xmlns:a16="http://schemas.microsoft.com/office/drawing/2014/main" id="{5E4C801C-712F-4213-93F4-BE3A2385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162300"/>
            <a:ext cx="336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讀懂程式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除錯與修改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或和別人合作</a:t>
            </a:r>
          </a:p>
        </p:txBody>
      </p:sp>
    </p:spTree>
    <p:extLst>
      <p:ext uri="{BB962C8B-B14F-4D97-AF65-F5344CB8AC3E}">
        <p14:creationId xmlns:p14="http://schemas.microsoft.com/office/powerpoint/2010/main" val="89553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這門課關心的能力">
            <a:extLst xmlns:a="http://schemas.openxmlformats.org/drawingml/2006/main">
              <a:ext uri="{FF2B5EF4-FFF2-40B4-BE49-F238E27FC236}">
                <a16:creationId xmlns:a16="http://schemas.microsoft.com/office/drawing/2014/main" id="{3B20533E-92FA-4F48-A30F-DE8F1750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這門課關心的能力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D4A63DA0-12D0-4D95-BD14-B7BECB4B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讓程式能被使用， 也能持續修改。">
            <a:extLst xmlns:a="http://schemas.openxmlformats.org/drawingml/2006/main">
              <a:ext uri="{FF2B5EF4-FFF2-40B4-BE49-F238E27FC236}">
                <a16:creationId xmlns:a16="http://schemas.microsoft.com/office/drawing/2014/main" id="{2C241CED-85E3-4CED-909E-D536FCF6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理解物件導向的思考方法，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設計能持續修改的軟體系統。</a:t>
            </a:r>
          </a:p>
        </p:txBody>
      </p:sp>
      <p:sp>
        <p:nvSpPr>
          <p:cNvPr id="4" name="使用者看得懂介面，同學接得上功能， 自己能驗證修改後的結果。">
            <a:extLst xmlns:a="http://schemas.openxmlformats.org/drawingml/2006/main">
              <a:ext uri="{FF2B5EF4-FFF2-40B4-BE49-F238E27FC236}">
                <a16:creationId xmlns:a16="http://schemas.microsoft.com/office/drawing/2014/main" id="{6EF9BF7D-F8A8-4654-85E9-2CF7FAB7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以 Python 練習物件建模、設計原則與測試重構，
完成可執行、可說明、可重現的個人專題。</a:t>
            </a:r>
            <a:endParaRPr sz="2475" b="0">
              <a:solidFill>
                <a:srgbClr val="16686C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108305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期末作品：MiniClaw">
            <a:extLst xmlns:a="http://schemas.openxmlformats.org/drawingml/2006/main">
              <a:ext uri="{FF2B5EF4-FFF2-40B4-BE49-F238E27FC236}">
                <a16:creationId xmlns:a16="http://schemas.microsoft.com/office/drawing/2014/main" id="{4E677BE3-C158-4513-ADA0-820954E3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期末作品：個人物件導向系統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92D19D2F-800C-4BD2-9F07-5C632B9A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自己的個人 AI 助理">
            <a:extLst xmlns:a="http://schemas.openxmlformats.org/drawingml/2006/main">
              <a:ext uri="{FF2B5EF4-FFF2-40B4-BE49-F238E27FC236}">
                <a16:creationId xmlns:a16="http://schemas.microsoft.com/office/drawing/2014/main" id="{33B2F8D7-20BC-4071-877B-0DB05E5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125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選擇一個真實問題</a:t>
            </a:r>
          </a:p>
        </p:txBody>
      </p:sp>
      <p:sp>
        <p:nvSpPr>
          <p:cNvPr id="4" name="透過網頁對話，呼叫自己設計的工具， 保存資料並回報執行結果。">
            <a:extLst xmlns:a="http://schemas.openxmlformats.org/drawingml/2006/main">
              <a:ext uri="{FF2B5EF4-FFF2-40B4-BE49-F238E27FC236}">
                <a16:creationId xmlns:a16="http://schemas.microsoft.com/office/drawing/2014/main" id="{E55BEDBF-640A-475F-A5C0-F9B0B7C1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48025"/>
            <a:ext cx="1057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自行界定使用者、情境與功能範圍，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以類別責任與物件協作，完成可測試的系統。</a:t>
            </a:r>
          </a:p>
        </p:txBody>
      </p:sp>
      <p:sp>
        <p:nvSpPr>
          <p:cNvPr id="5" name="以 OpenClaw 的個人助理概念為靈感， 完成適合本課範圍的 Python 教學版。">
            <a:extLst xmlns:a="http://schemas.openxmlformats.org/drawingml/2006/main">
              <a:ext uri="{FF2B5EF4-FFF2-40B4-BE49-F238E27FC236}">
                <a16:creationId xmlns:a16="http://schemas.microsoft.com/office/drawing/2014/main" id="{DBA22465-440F-4FC5-A01B-26C7AE23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MiniClaw 個人 AI 助理是建議整合案例。
也可選擇其他能展現物件導向設計的題目。</a:t>
            </a:r>
          </a:p>
        </p:txBody>
      </p:sp>
    </p:spTree>
    <p:extLst>
      <p:ext uri="{BB962C8B-B14F-4D97-AF65-F5344CB8AC3E}">
        <p14:creationId xmlns:p14="http://schemas.microsoft.com/office/powerpoint/2010/main" val="178397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iniClaw 的專題範圍">
            <a:extLst xmlns:a="http://schemas.openxmlformats.org/drawingml/2006/main">
              <a:ext uri="{FF2B5EF4-FFF2-40B4-BE49-F238E27FC236}">
                <a16:creationId xmlns:a16="http://schemas.microsoft.com/office/drawing/2014/main" id="{D9A4C3AF-12C8-40E6-A804-FD86CD4F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MiniClaw：一個可選的整合案例</a:t>
            </a:r>
          </a:p>
        </p:txBody>
      </p:sp>
      <p:sp>
        <p:nvSpPr>
          <p:cNvPr id="2" name="基本功能先完成，延伸功能依進度加入。">
            <a:extLst xmlns:a="http://schemas.openxmlformats.org/drawingml/2006/main">
              <a:ext uri="{FF2B5EF4-FFF2-40B4-BE49-F238E27FC236}">
                <a16:creationId xmlns:a16="http://schemas.microsoft.com/office/drawing/2014/main" id="{70334FB7-298A-4903-B76E-C340887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以 OpenClaw 的個人助理概念為靈感，縮小範圍完成核心功能。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FCB5B9AD-D71A-46BE-B528-CC77EF19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基本成果">
            <a:extLst xmlns:a="http://schemas.openxmlformats.org/drawingml/2006/main">
              <a:ext uri="{FF2B5EF4-FFF2-40B4-BE49-F238E27FC236}">
                <a16:creationId xmlns:a16="http://schemas.microsoft.com/office/drawing/2014/main" id="{F69A0919-F79E-401B-A67F-6C59DAF3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案例基本範圍</a:t>
            </a:r>
          </a:p>
        </p:txBody>
      </p:sp>
      <p:sp>
        <p:nvSpPr>
          <p:cNvPr id="5" name="網頁對話與紀錄 真實模型與測試替身 數個可操作資料的工具 參數檢查與錯誤處理">
            <a:extLst xmlns:a="http://schemas.openxmlformats.org/drawingml/2006/main">
              <a:ext uri="{FF2B5EF4-FFF2-40B4-BE49-F238E27FC236}">
                <a16:creationId xmlns:a16="http://schemas.microsoft.com/office/drawing/2014/main" id="{CF37D8C0-0B49-43FE-ABDA-DB8C7530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網頁對話與紀錄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真實模型與測試替身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數個可操作資料的工具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參數檢查與錯誤處理</a:t>
            </a:r>
          </a:p>
        </p:txBody>
      </p:sp>
      <p:sp>
        <p:nvSpPr>
          <p:cNvPr id="6" name="延伸選項">
            <a:extLst xmlns:a="http://schemas.openxmlformats.org/drawingml/2006/main">
              <a:ext uri="{FF2B5EF4-FFF2-40B4-BE49-F238E27FC236}">
                <a16:creationId xmlns:a16="http://schemas.microsoft.com/office/drawing/2014/main" id="{B511AD72-1901-4FA8-AAB1-0E81250C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526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可選延伸功能</a:t>
            </a:r>
          </a:p>
        </p:txBody>
      </p:sp>
      <p:sp>
        <p:nvSpPr>
          <p:cNvPr id="7" name="排程提醒 感測器整合 外部聊天平台 串流回覆">
            <a:extLst xmlns:a="http://schemas.openxmlformats.org/drawingml/2006/main">
              <a:ext uri="{FF2B5EF4-FFF2-40B4-BE49-F238E27FC236}">
                <a16:creationId xmlns:a16="http://schemas.microsoft.com/office/drawing/2014/main" id="{545C412C-496D-44EC-964C-735EFD2E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排程提醒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感測器整合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外部聊天平台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串流回覆</a:t>
            </a:r>
          </a:p>
        </p:txBody>
      </p:sp>
      <p:sp>
        <p:nvSpPr>
          <p:cNvPr id="8" name="工具循環需設定步數上限，讓執行過程可控制、可追蹤。">
            <a:extLst xmlns:a="http://schemas.openxmlformats.org/drawingml/2006/main">
              <a:ext uri="{FF2B5EF4-FFF2-40B4-BE49-F238E27FC236}">
                <a16:creationId xmlns:a16="http://schemas.microsoft.com/office/drawing/2014/main" id="{8989D5CB-BBB4-44CF-92A8-423D54CC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工具循環需設定步數上限；依專題需求選擇整合功能。</a:t>
            </a:r>
          </a:p>
        </p:txBody>
      </p:sp>
    </p:spTree>
    <p:extLst>
      <p:ext uri="{BB962C8B-B14F-4D97-AF65-F5344CB8AC3E}">
        <p14:creationId xmlns:p14="http://schemas.microsoft.com/office/powerpoint/2010/main" val="326507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整學期的作品路線">
            <a:extLst xmlns:a="http://schemas.openxmlformats.org/drawingml/2006/main">
              <a:ext uri="{FF2B5EF4-FFF2-40B4-BE49-F238E27FC236}">
                <a16:creationId xmlns:a16="http://schemas.microsoft.com/office/drawing/2014/main" id="{28BC8EA3-C70B-4CFF-A53F-C21D2F7A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18 週，三段能力成長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5AB6321A-529A-4BA6-8615-A6422DE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9" name="表格 6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200525"/>
                <a:gridCol w="4200525"/>
              </a:tblGrid>
              <a:tr h="8286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學習重點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能力成果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1–5 週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Python、類別、封裝
與物件記憶體模型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建立物件思維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6–11 週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UML、繼承、多型
與進階型別機制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組織可替換的系統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12–18 週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分析設計、SOLID、模式
測試與補充整合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完成個人系統專題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4" name="每一階段的成果，都能成為下一階段的材料。">
            <a:extLst xmlns:a="http://schemas.openxmlformats.org/drawingml/2006/main">
              <a:ext uri="{FF2B5EF4-FFF2-40B4-BE49-F238E27FC236}">
                <a16:creationId xmlns:a16="http://schemas.microsoft.com/office/drawing/2014/main" id="{4B674E8D-98EE-4ED5-8D68-8D5E3DA1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endParaRPr sz="2175" b="0">
              <a:solidFill>
                <a:srgbClr val="16686C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498622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我們會學到的設計觀點">
            <a:extLst xmlns:a="http://schemas.openxmlformats.org/drawingml/2006/main">
              <a:ext uri="{FF2B5EF4-FFF2-40B4-BE49-F238E27FC236}">
                <a16:creationId xmlns:a16="http://schemas.microsoft.com/office/drawing/2014/main" id="{B72234E4-8408-4255-A23A-6DEEF44D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這學期的理論與實務</a:t>
            </a:r>
            <a:endParaRPr sz="3300" b="1">
              <a:solidFill>
                <a:srgbClr val="132B3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6E4F94EC-9978-4D05-9C9D-C36DBA9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物件導向基礎">
            <a:extLst xmlns:a="http://schemas.openxmlformats.org/drawingml/2006/main">
              <a:ext uri="{FF2B5EF4-FFF2-40B4-BE49-F238E27FC236}">
                <a16:creationId xmlns:a16="http://schemas.microsoft.com/office/drawing/2014/main" id="{2B443CAE-B2CE-4F62-A432-A79BD30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物件模型與核心概念</a:t>
            </a:r>
          </a:p>
        </p:txBody>
      </p:sp>
      <p:sp>
        <p:nvSpPr>
          <p:cNvPr id="4" name="類別與物件 封裝、繼承與多型 抽象化、關係與責任">
            <a:extLst xmlns:a="http://schemas.openxmlformats.org/drawingml/2006/main">
              <a:ext uri="{FF2B5EF4-FFF2-40B4-BE49-F238E27FC236}">
                <a16:creationId xmlns:a16="http://schemas.microsoft.com/office/drawing/2014/main" id="{91F04B25-369C-4F50-9CE5-3646CB9F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類別、封裝與物件生命週期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物件關係、繼承與多型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抽象介面與 UML 類別圖</a:t>
            </a:r>
          </a:p>
        </p:txBody>
      </p:sp>
      <p:sp>
        <p:nvSpPr>
          <p:cNvPr id="5" name="現代設計實務">
            <a:extLst xmlns:a="http://schemas.openxmlformats.org/drawingml/2006/main">
              <a:ext uri="{FF2B5EF4-FFF2-40B4-BE49-F238E27FC236}">
                <a16:creationId xmlns:a16="http://schemas.microsoft.com/office/drawing/2014/main" id="{26C9E9ED-BA8C-4CCF-A558-65EE2E4C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383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分析與設計實務</a:t>
            </a:r>
          </a:p>
        </p:txBody>
      </p:sp>
      <p:sp>
        <p:nvSpPr>
          <p:cNvPr id="6" name="組合與介面 型別、測試與重構 可替換的外部服務">
            <a:extLst xmlns:a="http://schemas.openxmlformats.org/drawingml/2006/main">
              <a:ext uri="{FF2B5EF4-FFF2-40B4-BE49-F238E27FC236}">
                <a16:creationId xmlns:a16="http://schemas.microsoft.com/office/drawing/2014/main" id="{5B921DDC-9A92-456E-8086-8678AD33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432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資料類別、泛型與 Protocol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OOA／OOD、SOLID 與設計模式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測試、重構與系統整合</a:t>
            </a:r>
          </a:p>
        </p:txBody>
      </p:sp>
      <p:sp>
        <p:nvSpPr>
          <p:cNvPr id="7" name="以 Python 實作，搭配 Java、C#、C++、Go 的設計比較。">
            <a:extLst xmlns:a="http://schemas.openxmlformats.org/drawingml/2006/main">
              <a:ext uri="{FF2B5EF4-FFF2-40B4-BE49-F238E27FC236}">
                <a16:creationId xmlns:a16="http://schemas.microsoft.com/office/drawing/2014/main" id="{2B57281E-E250-45C5-9D1E-B551BC10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為主要實作語言；從 C 的經驗理解物件與責任。</a:t>
            </a:r>
          </a:p>
        </p:txBody>
      </p:sp>
    </p:spTree>
    <p:extLst>
      <p:ext uri="{BB962C8B-B14F-4D97-AF65-F5344CB8AC3E}">
        <p14:creationId xmlns:p14="http://schemas.microsoft.com/office/powerpoint/2010/main" val="1564020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個人作品：自己的 Python 套件">
            <a:extLst xmlns:a="http://schemas.openxmlformats.org/drawingml/2006/main">
              <a:ext uri="{FF2B5EF4-FFF2-40B4-BE49-F238E27FC236}">
                <a16:creationId xmlns:a16="http://schemas.microsoft.com/office/drawing/2014/main" id="{9F994F83-FFC9-46B1-AD88-5BCF4B92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延伸練習：可重用的 Python 模組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BA19BD74-91D0-48CE-BA10-EE6FCA05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10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19aac76b34b35"/>
          <a:stretch xmlns:a="http://schemas.openxmlformats.org/drawingml/2006/main"/>
        </p:blipFill>
        <p:spPr>
          <a:xfrm xmlns:a="http://schemas.openxmlformats.org/drawingml/2006/main">
            <a:off x="6429375" y="1797844"/>
            <a:ext cx="5048250" cy="3786188"/>
          </a:xfrm>
          <a:prstGeom xmlns:a="http://schemas.openxmlformats.org/drawingml/2006/main" prst="rect">
            <a:avLst/>
          </a:prstGeom>
        </p:spPr>
      </p:pic>
      <p:sp>
        <p:nvSpPr>
          <p:cNvPr id="4" name="讓同學能安裝， 也能依文件使用。">
            <a:extLst xmlns:a="http://schemas.openxmlformats.org/drawingml/2006/main">
              <a:ext uri="{FF2B5EF4-FFF2-40B4-BE49-F238E27FC236}">
                <a16:creationId xmlns:a16="http://schemas.microsoft.com/office/drawing/2014/main" id="{0B7A340A-BF3E-4E69-92C6-BB85D7B7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561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把一項明確功能，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做成能獨立使用、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也能接入專題的模組。</a:t>
            </a:r>
          </a:p>
        </p:txBody>
      </p:sp>
      <p:sp>
        <p:nvSpPr>
          <p:cNvPr id="5" name="一個明確用途 一套清楚的公開介面 一份可執行的使用範例">
            <a:extLst xmlns:a="http://schemas.openxmlformats.org/drawingml/2006/main">
              <a:ext uri="{FF2B5EF4-FFF2-40B4-BE49-F238E27FC236}">
                <a16:creationId xmlns:a16="http://schemas.microsoft.com/office/drawing/2014/main" id="{AC137D5C-8AD9-4EB9-9070-99EBBC8F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19575"/>
            <a:ext cx="5429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清楚的公開介面與使用範例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可進一步封裝成可安裝套件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練習 TestPyPI／PyPI 發布</a:t>
            </a:r>
          </a:p>
        </p:txBody>
      </p:sp>
    </p:spTree>
    <p:extLst>
      <p:ext uri="{BB962C8B-B14F-4D97-AF65-F5344CB8AC3E}">
        <p14:creationId xmlns:p14="http://schemas.microsoft.com/office/powerpoint/2010/main" val="9756704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模組、套件與發布">
            <a:extLst xmlns:a="http://schemas.openxmlformats.org/drawingml/2006/main">
              <a:ext uri="{FF2B5EF4-FFF2-40B4-BE49-F238E27FC236}">
                <a16:creationId xmlns:a16="http://schemas.microsoft.com/office/drawing/2014/main" id="{15572C5A-8F7B-4EA0-A380-4B7F6918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三種程式設計典範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8209DDC0-F379-4BEB-9B65-B7EED831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模組 Module">
            <a:extLst xmlns:a="http://schemas.openxmlformats.org/drawingml/2006/main">
              <a:ext uri="{FF2B5EF4-FFF2-40B4-BE49-F238E27FC236}">
                <a16:creationId xmlns:a16="http://schemas.microsoft.com/office/drawing/2014/main" id="{27BE3E6A-B53E-4502-B10F-AD2D1189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程序式</a:t>
            </a:r>
          </a:p>
        </p:txBody>
      </p:sp>
      <p:sp>
        <p:nvSpPr>
          <p:cNvPr id="4" name="組織函式、類別與其他程式內容。">
            <a:extLst xmlns:a="http://schemas.openxmlformats.org/drawingml/2006/main">
              <a:ext uri="{FF2B5EF4-FFF2-40B4-BE49-F238E27FC236}">
                <a16:creationId xmlns:a16="http://schemas.microsoft.com/office/drawing/2014/main" id="{7BD25DA9-01C5-415D-9C12-68A1124A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621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用函式處理資料，由流程串起操作。</a:t>
            </a:r>
          </a:p>
        </p:txBody>
      </p:sp>
      <p:sp>
        <p:nvSpPr>
          <p:cNvPr id="5" name="可安裝套件">
            <a:extLst xmlns:a="http://schemas.openxmlformats.org/drawingml/2006/main">
              <a:ext uri="{FF2B5EF4-FFF2-40B4-BE49-F238E27FC236}">
                <a16:creationId xmlns:a16="http://schemas.microsoft.com/office/drawing/2014/main" id="{67DA567C-D01B-4C68-801D-AB2B03D7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物件導向</a:t>
            </a:r>
          </a:p>
        </p:txBody>
      </p:sp>
      <p:sp>
        <p:nvSpPr>
          <p:cNvPr id="6" name="加入專案資訊、版本、相依需求與文件。">
            <a:extLst xmlns:a="http://schemas.openxmlformats.org/drawingml/2006/main">
              <a:ext uri="{FF2B5EF4-FFF2-40B4-BE49-F238E27FC236}">
                <a16:creationId xmlns:a16="http://schemas.microsoft.com/office/drawing/2014/main" id="{1C819318-EA31-4290-91C5-846D9680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把狀態與行為放進物件，以責任與協作組織系統。</a:t>
            </a:r>
          </a:p>
        </p:txBody>
      </p:sp>
      <p:sp>
        <p:nvSpPr>
          <p:cNvPr id="7" name="PyPI">
            <a:extLst xmlns:a="http://schemas.openxmlformats.org/drawingml/2006/main">
              <a:ext uri="{FF2B5EF4-FFF2-40B4-BE49-F238E27FC236}">
                <a16:creationId xmlns:a16="http://schemas.microsoft.com/office/drawing/2014/main" id="{48C619FC-D48E-4B42-907E-E769B630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函數式</a:t>
            </a:r>
          </a:p>
        </p:txBody>
      </p:sp>
      <p:sp>
        <p:nvSpPr>
          <p:cNvPr id="8" name="發布套件，讓其他人透過 pip 安裝。">
            <a:extLst xmlns:a="http://schemas.openxmlformats.org/drawingml/2006/main">
              <a:ext uri="{FF2B5EF4-FFF2-40B4-BE49-F238E27FC236}">
                <a16:creationId xmlns:a16="http://schemas.microsoft.com/office/drawing/2014/main" id="{F52463E5-6B42-4F94-AD5F-0D23B19D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053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偏好純函式與不可變資料，降低隱藏狀態與副作用。</a:t>
            </a:r>
          </a:p>
        </p:txBody>
      </p:sp>
      <p:sp>
        <p:nvSpPr>
          <p:cNvPr id="9" name="套件的核心功能可以獨立使用，期末再接上 AI 助理。">
            <a:extLst xmlns:a="http://schemas.openxmlformats.org/drawingml/2006/main">
              <a:ext uri="{FF2B5EF4-FFF2-40B4-BE49-F238E27FC236}">
                <a16:creationId xmlns:a16="http://schemas.microsoft.com/office/drawing/2014/main" id="{59D0D177-32C7-456E-AAC8-5C26A33A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依問題選擇合適的寫法；同一個系統也能混合使用不同典範。</a:t>
            </a:r>
          </a:p>
        </p:txBody>
      </p:sp>
    </p:spTree>
    <p:extLst>
      <p:ext uri="{BB962C8B-B14F-4D97-AF65-F5344CB8AC3E}">
        <p14:creationId xmlns:p14="http://schemas.microsoft.com/office/powerpoint/2010/main" val="1249921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個人套件的選題方向">
            <a:extLst xmlns:a="http://schemas.openxmlformats.org/drawingml/2006/main">
              <a:ext uri="{FF2B5EF4-FFF2-40B4-BE49-F238E27FC236}">
                <a16:creationId xmlns:a16="http://schemas.microsoft.com/office/drawing/2014/main" id="{C906C417-07F8-45EB-9A59-D92D539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同一個問題：帳戶提款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1C798B61-F787-4B68-A067-82BA73F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8" name="表格 5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38650"/>
                <a:gridCol w="4057650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比較面向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程序式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物件導向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資料放在哪裡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account 字典或 struct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Account 物件的屬性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如何提款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withdraw(account, 250)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account.withdraw(250)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誰檢查規則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提款函式驗證金額與餘額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提款方法維護物件不變條件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維護重點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流程與資料的配合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物件責任與公開介面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2638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套件要交付哪些內容？">
            <a:extLst xmlns:a="http://schemas.openxmlformats.org/drawingml/2006/main">
              <a:ext uri="{FF2B5EF4-FFF2-40B4-BE49-F238E27FC236}">
                <a16:creationId xmlns:a16="http://schemas.microsoft.com/office/drawing/2014/main" id="{4FABE4DE-320E-4FC9-B98D-B2964606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期末專題要交付哪些內容？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3C2FBDC4-5C85-40A5-868A-12486281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功能與介面">
            <a:extLst xmlns:a="http://schemas.openxmlformats.org/drawingml/2006/main">
              <a:ext uri="{FF2B5EF4-FFF2-40B4-BE49-F238E27FC236}">
                <a16:creationId xmlns:a16="http://schemas.microsoft.com/office/drawing/2014/main" id="{BB12CD7C-9D87-4960-AB63-C8DFB1C3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需求與程式</a:t>
            </a:r>
          </a:p>
        </p:txBody>
      </p:sp>
      <p:sp>
        <p:nvSpPr>
          <p:cNvPr id="4" name="明確的輸入、輸出與操作方式。">
            <a:extLst xmlns:a="http://schemas.openxmlformats.org/drawingml/2006/main">
              <a:ext uri="{FF2B5EF4-FFF2-40B4-BE49-F238E27FC236}">
                <a16:creationId xmlns:a16="http://schemas.microsoft.com/office/drawing/2014/main" id="{5F9DFA2D-B1B5-4C5C-91B8-92A8ECD1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明確的使用情境、功能範圍與可執行原始碼。</a:t>
            </a:r>
          </a:p>
        </p:txBody>
      </p:sp>
      <p:sp>
        <p:nvSpPr>
          <p:cNvPr id="5" name="使用文件">
            <a:extLst xmlns:a="http://schemas.openxmlformats.org/drawingml/2006/main">
              <a:ext uri="{FF2B5EF4-FFF2-40B4-BE49-F238E27FC236}">
                <a16:creationId xmlns:a16="http://schemas.microsoft.com/office/drawing/2014/main" id="{00EC3EB3-46DC-4C01-9ACB-D6DB3130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設計文件</a:t>
            </a:r>
          </a:p>
        </p:txBody>
      </p:sp>
      <p:sp>
        <p:nvSpPr>
          <p:cNvPr id="6" name="安裝方式、最小範例與限制。">
            <a:extLst xmlns:a="http://schemas.openxmlformats.org/drawingml/2006/main">
              <a:ext uri="{FF2B5EF4-FFF2-40B4-BE49-F238E27FC236}">
                <a16:creationId xmlns:a16="http://schemas.microsoft.com/office/drawing/2014/main" id="{4F735FE3-BE30-420A-984F-09DED2A5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UML 與程式一致；說明一項 SOLID 原則或設計模式的用途。</a:t>
            </a:r>
          </a:p>
        </p:txBody>
      </p:sp>
      <p:sp>
        <p:nvSpPr>
          <p:cNvPr id="7" name="測試">
            <a:extLst xmlns:a="http://schemas.openxmlformats.org/drawingml/2006/main">
              <a:ext uri="{FF2B5EF4-FFF2-40B4-BE49-F238E27FC236}">
                <a16:creationId xmlns:a16="http://schemas.microsoft.com/office/drawing/2014/main" id="{3F1C1190-D0CB-4BDC-9E0B-10D7985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測試與反思</a:t>
            </a:r>
          </a:p>
        </p:txBody>
      </p:sp>
      <p:sp>
        <p:nvSpPr>
          <p:cNvPr id="8" name="正常、邊界與錯誤情境。">
            <a:extLst xmlns:a="http://schemas.openxmlformats.org/drawingml/2006/main">
              <a:ext uri="{FF2B5EF4-FFF2-40B4-BE49-F238E27FC236}">
                <a16:creationId xmlns:a16="http://schemas.microsoft.com/office/drawing/2014/main" id="{F5623F99-3FEA-42BF-82F6-AFC75033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385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測試案例、結果與未處理風險，以及個人反思。</a:t>
            </a:r>
          </a:p>
        </p:txBody>
      </p:sp>
      <p:sp>
        <p:nvSpPr>
          <p:cNvPr id="9" name="發布資訊">
            <a:extLst xmlns:a="http://schemas.openxmlformats.org/drawingml/2006/main">
              <a:ext uri="{FF2B5EF4-FFF2-40B4-BE49-F238E27FC236}">
                <a16:creationId xmlns:a16="http://schemas.microsoft.com/office/drawing/2014/main" id="{42FB417D-D0BC-47D2-818A-BCE10374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重現與部署</a:t>
            </a:r>
          </a:p>
        </p:txBody>
      </p:sp>
      <p:sp>
        <p:nvSpPr>
          <p:cNvPr id="10" name="版本、相依需求、授權與更新紀錄。">
            <a:extLst xmlns:a="http://schemas.openxmlformats.org/drawingml/2006/main">
              <a:ext uri="{FF2B5EF4-FFF2-40B4-BE49-F238E27FC236}">
                <a16:creationId xmlns:a16="http://schemas.microsoft.com/office/drawing/2014/main" id="{A57DE241-8107-4E0D-9D4B-91E63415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8155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README、版本紀錄，以及網址或完整啟動步驟。</a:t>
            </a:r>
          </a:p>
        </p:txBody>
      </p:sp>
    </p:spTree>
    <p:extLst>
      <p:ext uri="{BB962C8B-B14F-4D97-AF65-F5344CB8AC3E}">
        <p14:creationId xmlns:p14="http://schemas.microsoft.com/office/powerpoint/2010/main" val="6062845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套件發布與修正">
            <a:extLst xmlns:a="http://schemas.openxmlformats.org/drawingml/2006/main">
              <a:ext uri="{FF2B5EF4-FFF2-40B4-BE49-F238E27FC236}">
                <a16:creationId xmlns:a16="http://schemas.microsoft.com/office/drawing/2014/main" id="{3CD61242-4CFA-408E-944D-337A974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個人專題的完成路線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8042A101-3175-4C61-92C1-F0F51255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ADC5E43-351A-4E29-80E9-93B12B38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完成基本功能">
            <a:extLst xmlns:a="http://schemas.openxmlformats.org/drawingml/2006/main">
              <a:ext uri="{FF2B5EF4-FFF2-40B4-BE49-F238E27FC236}">
                <a16:creationId xmlns:a16="http://schemas.microsoft.com/office/drawing/2014/main" id="{388A267C-2B7B-4EDB-8885-33635952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96215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界定問題與需求</a:t>
            </a:r>
          </a:p>
        </p:txBody>
      </p:sp>
      <p:sp>
        <p:nvSpPr>
          <p:cNvPr id="5" name="先在本機驗證用途與公開介面">
            <a:extLst xmlns:a="http://schemas.openxmlformats.org/drawingml/2006/main">
              <a:ext uri="{FF2B5EF4-FFF2-40B4-BE49-F238E27FC236}">
                <a16:creationId xmlns:a16="http://schemas.microsoft.com/office/drawing/2014/main" id="{38101E2B-E284-47AB-983F-C185D50F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977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確認使用者、操作情境與可驗證的功能範圍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861938AF-328B-499D-B89C-3CEEA889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補上文件與測試">
            <a:extLst xmlns:a="http://schemas.openxmlformats.org/drawingml/2006/main">
              <a:ext uri="{FF2B5EF4-FFF2-40B4-BE49-F238E27FC236}">
                <a16:creationId xmlns:a16="http://schemas.microsoft.com/office/drawing/2014/main" id="{E769E7CA-DA2A-44AB-ACD5-42489EC0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9560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建立模型與介面</a:t>
            </a:r>
          </a:p>
        </p:txBody>
      </p:sp>
      <p:sp>
        <p:nvSpPr>
          <p:cNvPr id="8" name="讓同學知道怎麼用、怎麼判斷結果">
            <a:extLst xmlns:a="http://schemas.openxmlformats.org/drawingml/2006/main">
              <a:ext uri="{FF2B5EF4-FFF2-40B4-BE49-F238E27FC236}">
                <a16:creationId xmlns:a16="http://schemas.microsoft.com/office/drawing/2014/main" id="{74102C40-3334-4747-891C-25333AA2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4322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以物件責任、UML 與互動流程說明設計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04124A66-D8E3-407A-BD68-8B1BBB32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發布到 TestPyPI">
            <a:extLst xmlns:a="http://schemas.openxmlformats.org/drawingml/2006/main">
              <a:ext uri="{FF2B5EF4-FFF2-40B4-BE49-F238E27FC236}">
                <a16:creationId xmlns:a16="http://schemas.microsoft.com/office/drawing/2014/main" id="{F6FD852F-6FF1-487F-B23F-44AE4902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82905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完成功能與測試</a:t>
            </a:r>
          </a:p>
        </p:txBody>
      </p:sp>
      <p:sp>
        <p:nvSpPr>
          <p:cNvPr id="11" name="練習安裝與同儕試用">
            <a:extLst xmlns:a="http://schemas.openxmlformats.org/drawingml/2006/main">
              <a:ext uri="{FF2B5EF4-FFF2-40B4-BE49-F238E27FC236}">
                <a16:creationId xmlns:a16="http://schemas.microsoft.com/office/drawing/2014/main" id="{75BA1797-184E-4584-843F-C805C304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7667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驗證正常、邊界與失敗情境，再進行重構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72E15F7F-FE93-4A72-8798-B03C5B92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修正並發布到 PyPI">
            <a:extLst xmlns:a="http://schemas.openxmlformats.org/drawingml/2006/main">
              <a:ext uri="{FF2B5EF4-FFF2-40B4-BE49-F238E27FC236}">
                <a16:creationId xmlns:a16="http://schemas.microsoft.com/office/drawing/2014/main" id="{BD1BD069-39EF-4BA6-A507-CFAE02EC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76250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審查、展示與交付</a:t>
            </a:r>
          </a:p>
        </p:txBody>
      </p:sp>
      <p:sp>
        <p:nvSpPr>
          <p:cNvPr id="14" name="回應使用回饋，保留版本紀錄">
            <a:extLst xmlns:a="http://schemas.openxmlformats.org/drawingml/2006/main">
              <a:ext uri="{FF2B5EF4-FFF2-40B4-BE49-F238E27FC236}">
                <a16:creationId xmlns:a16="http://schemas.microsoft.com/office/drawing/2014/main" id="{B302EC46-936C-4086-93AA-5CC67995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1012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第 17 週設計審查；第 18 週依規範完成成果</a:t>
            </a:r>
          </a:p>
        </p:txBody>
      </p:sp>
    </p:spTree>
    <p:extLst>
      <p:ext uri="{BB962C8B-B14F-4D97-AF65-F5344CB8AC3E}">
        <p14:creationId xmlns:p14="http://schemas.microsoft.com/office/powerpoint/2010/main" val="12398816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同學能用，就是重要的驗收">
            <a:extLst xmlns:a="http://schemas.openxmlformats.org/drawingml/2006/main">
              <a:ext uri="{FF2B5EF4-FFF2-40B4-BE49-F238E27FC236}">
                <a16:creationId xmlns:a16="http://schemas.microsoft.com/office/drawing/2014/main" id="{BE12F62C-6B32-441D-8CBC-382970E3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他人能重現，也是重要的驗收</a:t>
            </a:r>
            <a:endParaRPr sz="3300" b="1">
              <a:solidFill>
                <a:srgbClr val="F7F4E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39776095-24EC-46EB-A1E6-DBC954C9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乾淨環境安裝 閱讀 README 呼叫公開介面">
            <a:extLst xmlns:a="http://schemas.openxmlformats.org/drawingml/2006/main">
              <a:ext uri="{FF2B5EF4-FFF2-40B4-BE49-F238E27FC236}">
                <a16:creationId xmlns:a16="http://schemas.microsoft.com/office/drawing/2014/main" id="{1216690C-267F-4AB5-BBE3-953C2C3D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43100"/>
            <a:ext cx="103822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依 README 在乾淨環境啟動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完成主要使用情境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執行測試並核對結果</a:t>
            </a:r>
          </a:p>
        </p:txBody>
      </p:sp>
      <p:sp>
        <p:nvSpPr>
          <p:cNvPr id="4" name="作者不代操作，同學不修改套件原始碼。 使用上的困難，成為下一個版本的改進依據。">
            <a:extLst xmlns:a="http://schemas.openxmlformats.org/drawingml/2006/main">
              <a:ext uri="{FF2B5EF4-FFF2-40B4-BE49-F238E27FC236}">
                <a16:creationId xmlns:a16="http://schemas.microsoft.com/office/drawing/2014/main" id="{6461A250-51DE-43D5-A9A2-CB94E480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76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endParaRPr sz="2175" b="0">
              <a:solidFill>
                <a:srgbClr val="88D1C4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162851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jango 與 MiniClaw 的分工">
            <a:extLst xmlns:a="http://schemas.openxmlformats.org/drawingml/2006/main">
              <a:ext uri="{FF2B5EF4-FFF2-40B4-BE49-F238E27FC236}">
                <a16:creationId xmlns:a16="http://schemas.microsoft.com/office/drawing/2014/main" id="{BAE173AD-E51A-4F3D-92D5-5275D7E2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整合案例：Django 與 MiniClaw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DCE9A6FA-CB18-49FC-926D-1D0548F9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17" name="圖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5f1dfe88f4545"/>
          <a:srcRect xmlns:a="http://schemas.openxmlformats.org/drawingml/2006/main" l="0" t="20137" r="0" b="201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" y="1638300"/>
            <a:ext cx="11334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LLM 模型">
            <a:extLst xmlns:a="http://schemas.openxmlformats.org/drawingml/2006/main">
              <a:ext uri="{FF2B5EF4-FFF2-40B4-BE49-F238E27FC236}">
                <a16:creationId xmlns:a16="http://schemas.microsoft.com/office/drawing/2014/main" id="{CC3B7B66-A108-4317-9C28-99450A5E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287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LLM 模型</a:t>
            </a:r>
          </a:p>
        </p:txBody>
      </p:sp>
      <p:sp>
        <p:nvSpPr>
          <p:cNvPr id="5" name="Django 網頁">
            <a:extLst xmlns:a="http://schemas.openxmlformats.org/drawingml/2006/main">
              <a:ext uri="{FF2B5EF4-FFF2-40B4-BE49-F238E27FC236}">
                <a16:creationId xmlns:a16="http://schemas.microsoft.com/office/drawing/2014/main" id="{507433A6-0158-4328-A4FD-8B3D90F6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Django 網頁</a:t>
            </a:r>
          </a:p>
        </p:txBody>
      </p:sp>
      <p:sp>
        <p:nvSpPr>
          <p:cNvPr id="6" name="接收輸入、顯示結果">
            <a:extLst xmlns:a="http://schemas.openxmlformats.org/drawingml/2006/main">
              <a:ext uri="{FF2B5EF4-FFF2-40B4-BE49-F238E27FC236}">
                <a16:creationId xmlns:a16="http://schemas.microsoft.com/office/drawing/2014/main" id="{E2F0663D-91BD-4E23-A72B-D3F43034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959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接收輸入、顯示結果</a:t>
            </a:r>
          </a:p>
        </p:txBody>
      </p:sp>
      <p:sp>
        <p:nvSpPr>
          <p:cNvPr id="7" name="助理核心">
            <a:extLst xmlns:a="http://schemas.openxmlformats.org/drawingml/2006/main">
              <a:ext uri="{FF2B5EF4-FFF2-40B4-BE49-F238E27FC236}">
                <a16:creationId xmlns:a16="http://schemas.microsoft.com/office/drawing/2014/main" id="{8B7AD7D9-472D-4800-B368-68FA4A51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1020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助理核心</a:t>
            </a:r>
          </a:p>
        </p:txBody>
      </p:sp>
      <p:sp>
        <p:nvSpPr>
          <p:cNvPr id="8" name="協調模型與工具">
            <a:extLst xmlns:a="http://schemas.openxmlformats.org/drawingml/2006/main">
              <a:ext uri="{FF2B5EF4-FFF2-40B4-BE49-F238E27FC236}">
                <a16:creationId xmlns:a16="http://schemas.microsoft.com/office/drawing/2014/main" id="{4A499FBA-448C-4D7C-B418-3C6CE0E9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959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協調模型與工具</a:t>
            </a:r>
          </a:p>
        </p:txBody>
      </p:sp>
      <p:sp>
        <p:nvSpPr>
          <p:cNvPr id="9" name="Python 套件">
            <a:extLst xmlns:a="http://schemas.openxmlformats.org/drawingml/2006/main">
              <a:ext uri="{FF2B5EF4-FFF2-40B4-BE49-F238E27FC236}">
                <a16:creationId xmlns:a16="http://schemas.microsoft.com/office/drawing/2014/main" id="{3295A853-4ED1-4BA1-81D3-D497E7CD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1020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Python 套件</a:t>
            </a:r>
          </a:p>
        </p:txBody>
      </p:sp>
      <p:sp>
        <p:nvSpPr>
          <p:cNvPr id="10" name="執行具體功能">
            <a:extLst xmlns:a="http://schemas.openxmlformats.org/drawingml/2006/main">
              <a:ext uri="{FF2B5EF4-FFF2-40B4-BE49-F238E27FC236}">
                <a16:creationId xmlns:a16="http://schemas.microsoft.com/office/drawing/2014/main" id="{CE58E52E-7AD3-4269-8559-CFF15A9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8959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執行具體功能</a:t>
            </a:r>
          </a:p>
        </p:txBody>
      </p:sp>
      <p:sp>
        <p:nvSpPr>
          <p:cNvPr id="11" name="資料庫">
            <a:extLst xmlns:a="http://schemas.openxmlformats.org/drawingml/2006/main">
              <a:ext uri="{FF2B5EF4-FFF2-40B4-BE49-F238E27FC236}">
                <a16:creationId xmlns:a16="http://schemas.microsoft.com/office/drawing/2014/main" id="{021D5986-123E-4C8B-B5E1-0628AFEC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102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資料庫</a:t>
            </a:r>
          </a:p>
        </p:txBody>
      </p:sp>
      <p:sp>
        <p:nvSpPr>
          <p:cNvPr id="12" name="保存資料與紀錄">
            <a:extLst xmlns:a="http://schemas.openxmlformats.org/drawingml/2006/main">
              <a:ext uri="{FF2B5EF4-FFF2-40B4-BE49-F238E27FC236}">
                <a16:creationId xmlns:a16="http://schemas.microsoft.com/office/drawing/2014/main" id="{9BFE0771-7239-45D8-9E13-C9520261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959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保存資料與紀錄</a:t>
            </a:r>
          </a:p>
        </p:txBody>
      </p:sp>
    </p:spTree>
    <p:extLst>
      <p:ext uri="{BB962C8B-B14F-4D97-AF65-F5344CB8AC3E}">
        <p14:creationId xmlns:p14="http://schemas.microsoft.com/office/powerpoint/2010/main" val="7032777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jango 讓作品成為網站">
            <a:extLst xmlns:a="http://schemas.openxmlformats.org/drawingml/2006/main">
              <a:ext uri="{FF2B5EF4-FFF2-40B4-BE49-F238E27FC236}">
                <a16:creationId xmlns:a16="http://schemas.microsoft.com/office/drawing/2014/main" id="{8F91C909-9B3C-4309-BD1C-FCEBF9D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網站與 AI：後段補充整合</a:t>
            </a:r>
          </a:p>
        </p:txBody>
      </p:sp>
      <p:sp>
        <p:nvSpPr>
          <p:cNvPr id="2" name="網站平台與核心功能各有責任。">
            <a:extLst xmlns:a="http://schemas.openxmlformats.org/drawingml/2006/main">
              <a:ext uri="{FF2B5EF4-FFF2-40B4-BE49-F238E27FC236}">
                <a16:creationId xmlns:a16="http://schemas.microsoft.com/office/drawing/2014/main" id="{B06865B1-5036-4EA0-BB7B-E3CC9A2A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第 15 週：網站與資料庫；第 16 週：LLM 整合與 Linux 部署。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5BCE64EC-A93C-49E0-9D23-4412D4C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Django 負責">
            <a:extLst xmlns:a="http://schemas.openxmlformats.org/drawingml/2006/main">
              <a:ext uri="{FF2B5EF4-FFF2-40B4-BE49-F238E27FC236}">
                <a16:creationId xmlns:a16="http://schemas.microsoft.com/office/drawing/2014/main" id="{F8FCE2E6-F097-42E9-B7DA-E001B168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平台與外部服務</a:t>
            </a:r>
          </a:p>
        </p:txBody>
      </p:sp>
      <p:sp>
        <p:nvSpPr>
          <p:cNvPr id="5" name="網頁請求與畫面 使用者登入 資料保存與管理">
            <a:extLst xmlns:a="http://schemas.openxmlformats.org/drawingml/2006/main">
              <a:ext uri="{FF2B5EF4-FFF2-40B4-BE49-F238E27FC236}">
                <a16:creationId xmlns:a16="http://schemas.microsoft.com/office/drawing/2014/main" id="{67414D85-26DB-4684-A392-0A29FD9A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Django 網頁與資料庫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雲端 API 或 Ollama 模型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Linux 環境與部署</a:t>
            </a:r>
          </a:p>
        </p:txBody>
      </p:sp>
      <p:sp>
        <p:nvSpPr>
          <p:cNvPr id="6" name="你設計的核心">
            <a:extLst xmlns:a="http://schemas.openxmlformats.org/drawingml/2006/main">
              <a:ext uri="{FF2B5EF4-FFF2-40B4-BE49-F238E27FC236}">
                <a16:creationId xmlns:a16="http://schemas.microsoft.com/office/drawing/2014/main" id="{F211364B-77DD-420D-9101-57083CC7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62175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你設計的核心</a:t>
            </a:r>
          </a:p>
        </p:txBody>
      </p:sp>
      <p:sp>
        <p:nvSpPr>
          <p:cNvPr id="7" name="工具操作規則 助理與模型的協作 可獨立執行的測試">
            <a:extLst xmlns:a="http://schemas.openxmlformats.org/drawingml/2006/main">
              <a:ext uri="{FF2B5EF4-FFF2-40B4-BE49-F238E27FC236}">
                <a16:creationId xmlns:a16="http://schemas.microsoft.com/office/drawing/2014/main" id="{4C766374-C06C-48BF-97A5-F5BE8A63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67050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物件責任與領域規則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可替換的 Provider／Service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可獨立執行的測試</a:t>
            </a:r>
          </a:p>
        </p:txBody>
      </p:sp>
      <p:sp>
        <p:nvSpPr>
          <p:cNvPr id="8" name="同一套核心，先從命令列使用，再接上網頁。">
            <a:extLst xmlns:a="http://schemas.openxmlformats.org/drawingml/2006/main">
              <a:ext uri="{FF2B5EF4-FFF2-40B4-BE49-F238E27FC236}">
                <a16:creationId xmlns:a16="http://schemas.microsoft.com/office/drawing/2014/main" id="{A317511A-D61E-4525-A7E9-8DEEFD4A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依題目需要選擇整合技術；核心邏輯先能獨立運作。</a:t>
            </a:r>
          </a:p>
        </p:txBody>
      </p:sp>
    </p:spTree>
    <p:extLst>
      <p:ext uri="{BB962C8B-B14F-4D97-AF65-F5344CB8AC3E}">
        <p14:creationId xmlns:p14="http://schemas.microsoft.com/office/powerpoint/2010/main" val="13725744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開發工具全貌">
            <a:extLst xmlns:a="http://schemas.openxmlformats.org/drawingml/2006/main">
              <a:ext uri="{FF2B5EF4-FFF2-40B4-BE49-F238E27FC236}">
                <a16:creationId xmlns:a16="http://schemas.microsoft.com/office/drawing/2014/main" id="{5013B04A-4CEE-4936-927C-49E4C891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開發工具全貌</a:t>
            </a:r>
          </a:p>
        </p:txBody>
      </p:sp>
      <p:sp>
        <p:nvSpPr>
          <p:cNvPr id="2" name="21">
            <a:extLst xmlns:a="http://schemas.openxmlformats.org/drawingml/2006/main">
              <a:ext uri="{FF2B5EF4-FFF2-40B4-BE49-F238E27FC236}">
                <a16:creationId xmlns:a16="http://schemas.microsoft.com/office/drawing/2014/main" id="{BB2CD2EA-E658-4C67-9C71-F1A509C1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graphicFrame>
        <p:nvGraphicFramePr>
          <p:cNvPr id="8" name="表格 5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305300"/>
                <a:gridCol w="4305300"/>
              </a:tblGrid>
              <a:tr h="75819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撰寫與除錯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Python、編輯器、Debugger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觀察程式與物件狀態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分析與設計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UML、CRC 卡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表達責任、關係與互動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版本與品質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Git、測試與型別檢查工具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追蹤變更、驗證行為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交付與整合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套件、網站、模型服務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重現成果、接入外部能力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8564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22">
            <a:extLst xmlns:a="http://schemas.openxmlformats.org/drawingml/2006/main">
              <a:ext uri="{FF2B5EF4-FFF2-40B4-BE49-F238E27FC236}">
                <a16:creationId xmlns:a16="http://schemas.microsoft.com/office/drawing/2014/main" id="{A65243F2-E2A0-4738-85FB-EF65B664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pic>
        <p:nvPicPr>
          <p:cNvPr id="10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a5082f585440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你的工具構想">
            <a:extLst xmlns:a="http://schemas.openxmlformats.org/drawingml/2006/main">
              <a:ext uri="{FF2B5EF4-FFF2-40B4-BE49-F238E27FC236}">
                <a16:creationId xmlns:a16="http://schemas.microsoft.com/office/drawing/2014/main" id="{DDDA2A20-A42D-4F17-9951-B01FB68B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你的專題構想</a:t>
            </a:r>
          </a:p>
        </p:txBody>
      </p:sp>
      <p:sp>
        <p:nvSpPr>
          <p:cNvPr id="4" name="你想讓自己的助理 多具備哪一種能力？">
            <a:extLst xmlns:a="http://schemas.openxmlformats.org/drawingml/2006/main">
              <a:ext uri="{FF2B5EF4-FFF2-40B4-BE49-F238E27FC236}">
                <a16:creationId xmlns:a16="http://schemas.microsoft.com/office/drawing/2014/main" id="{3DBF4626-7876-4D0F-AD1A-614FA087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你想用物件導向設計，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解決哪一個問題？</a:t>
            </a:r>
          </a:p>
        </p:txBody>
      </p:sp>
      <p:sp>
        <p:nvSpPr>
          <p:cNvPr id="5" name="從課業、實驗室或生活中的 一個具體問題開始。">
            <a:extLst xmlns:a="http://schemas.openxmlformats.org/drawingml/2006/main">
              <a:ext uri="{FF2B5EF4-FFF2-40B4-BE49-F238E27FC236}">
                <a16:creationId xmlns:a16="http://schemas.microsoft.com/office/drawing/2014/main" id="{8F73EA2E-5447-4DB5-AE53-BE009A31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623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從課業、實驗室或生活中的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一個具體問題開始。</a:t>
            </a:r>
          </a:p>
        </p:txBody>
      </p:sp>
      <p:sp>
        <p:nvSpPr>
          <p:cNvPr id="6" name="想一想，再與鄰座交流。">
            <a:extLst xmlns:a="http://schemas.openxmlformats.org/drawingml/2006/main">
              <a:ext uri="{FF2B5EF4-FFF2-40B4-BE49-F238E27FC236}">
                <a16:creationId xmlns:a16="http://schemas.microsoft.com/office/drawing/2014/main" id="{105BEFA7-D989-45F1-8D22-13E38F1E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endParaRPr sz="1950" b="0">
              <a:solidFill>
                <a:srgbClr val="5B6D73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1757249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一個值得實作的需求">
            <a:extLst xmlns:a="http://schemas.openxmlformats.org/drawingml/2006/main">
              <a:ext uri="{FF2B5EF4-FFF2-40B4-BE49-F238E27FC236}">
                <a16:creationId xmlns:a16="http://schemas.microsoft.com/office/drawing/2014/main" id="{9DFE4D62-19EC-4354-ABFE-141E3597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一個值得實作的需求</a:t>
            </a:r>
          </a:p>
        </p:txBody>
      </p:sp>
      <p:sp>
        <p:nvSpPr>
          <p:cNvPr id="2" name="23">
            <a:extLst xmlns:a="http://schemas.openxmlformats.org/drawingml/2006/main">
              <a:ext uri="{FF2B5EF4-FFF2-40B4-BE49-F238E27FC236}">
                <a16:creationId xmlns:a16="http://schemas.microsoft.com/office/drawing/2014/main" id="{02D4F4B7-423D-44D9-8ED4-1FEE8452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使用者">
            <a:extLst xmlns:a="http://schemas.openxmlformats.org/drawingml/2006/main">
              <a:ext uri="{FF2B5EF4-FFF2-40B4-BE49-F238E27FC236}">
                <a16:creationId xmlns:a16="http://schemas.microsoft.com/office/drawing/2014/main" id="{270126D1-99CB-460C-905B-C6AFD731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使用者</a:t>
            </a:r>
          </a:p>
        </p:txBody>
      </p:sp>
      <p:sp>
        <p:nvSpPr>
          <p:cNvPr id="4" name="誰會用？現在遇到什麼問題？">
            <a:extLst xmlns:a="http://schemas.openxmlformats.org/drawingml/2006/main">
              <a:ext uri="{FF2B5EF4-FFF2-40B4-BE49-F238E27FC236}">
                <a16:creationId xmlns:a16="http://schemas.microsoft.com/office/drawing/2014/main" id="{C0F70B9A-34F2-4535-A1DA-5F2187E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716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誰會用？現在遇到什麼問題？</a:t>
            </a:r>
          </a:p>
        </p:txBody>
      </p:sp>
      <p:sp>
        <p:nvSpPr>
          <p:cNvPr id="5" name="要求">
            <a:extLst xmlns:a="http://schemas.openxmlformats.org/drawingml/2006/main">
              <a:ext uri="{FF2B5EF4-FFF2-40B4-BE49-F238E27FC236}">
                <a16:creationId xmlns:a16="http://schemas.microsoft.com/office/drawing/2014/main" id="{8DB4BE20-15FC-404B-A57E-B72E4E25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要求</a:t>
            </a:r>
          </a:p>
        </p:txBody>
      </p:sp>
      <p:sp>
        <p:nvSpPr>
          <p:cNvPr id="6" name="使用者會怎麼說？">
            <a:extLst xmlns:a="http://schemas.openxmlformats.org/drawingml/2006/main">
              <a:ext uri="{FF2B5EF4-FFF2-40B4-BE49-F238E27FC236}">
                <a16:creationId xmlns:a16="http://schemas.microsoft.com/office/drawing/2014/main" id="{B63F6073-7B28-406A-B596-3B584F3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051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使用者會怎麼說？</a:t>
            </a:r>
          </a:p>
        </p:txBody>
      </p:sp>
      <p:sp>
        <p:nvSpPr>
          <p:cNvPr id="7" name="資料">
            <a:extLst xmlns:a="http://schemas.openxmlformats.org/drawingml/2006/main">
              <a:ext uri="{FF2B5EF4-FFF2-40B4-BE49-F238E27FC236}">
                <a16:creationId xmlns:a16="http://schemas.microsoft.com/office/drawing/2014/main" id="{CA3AF99F-0583-4746-8476-C3616EB9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</a:p>
        </p:txBody>
      </p:sp>
      <p:sp>
        <p:nvSpPr>
          <p:cNvPr id="8" name="需要讀取或改變哪些資訊？">
            <a:extLst xmlns:a="http://schemas.openxmlformats.org/drawingml/2006/main">
              <a:ext uri="{FF2B5EF4-FFF2-40B4-BE49-F238E27FC236}">
                <a16:creationId xmlns:a16="http://schemas.microsoft.com/office/drawing/2014/main" id="{F0A43ABE-FEC2-42A0-99BD-4ACCCEB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385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需要讀取或改變哪些資訊？</a:t>
            </a:r>
          </a:p>
        </p:txBody>
      </p:sp>
      <p:sp>
        <p:nvSpPr>
          <p:cNvPr id="9" name="失敗情境">
            <a:extLst xmlns:a="http://schemas.openxmlformats.org/drawingml/2006/main">
              <a:ext uri="{FF2B5EF4-FFF2-40B4-BE49-F238E27FC236}">
                <a16:creationId xmlns:a16="http://schemas.microsoft.com/office/drawing/2014/main" id="{F1B3D73B-6750-4C72-B4F0-E1701084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失敗情境</a:t>
            </a:r>
          </a:p>
        </p:txBody>
      </p:sp>
      <p:sp>
        <p:nvSpPr>
          <p:cNvPr id="10" name="什麼情況可能無法完成？">
            <a:extLst xmlns:a="http://schemas.openxmlformats.org/drawingml/2006/main">
              <a:ext uri="{FF2B5EF4-FFF2-40B4-BE49-F238E27FC236}">
                <a16:creationId xmlns:a16="http://schemas.microsoft.com/office/drawing/2014/main" id="{A7DCA6C0-9AA1-4A6D-AD16-4A9600EE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720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什麼情況可能無法完成？</a:t>
            </a:r>
          </a:p>
        </p:txBody>
      </p:sp>
    </p:spTree>
    <p:extLst>
      <p:ext uri="{BB962C8B-B14F-4D97-AF65-F5344CB8AC3E}">
        <p14:creationId xmlns:p14="http://schemas.microsoft.com/office/powerpoint/2010/main" val="5885203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課程評量">
            <a:extLst xmlns:a="http://schemas.openxmlformats.org/drawingml/2006/main">
              <a:ext uri="{FF2B5EF4-FFF2-40B4-BE49-F238E27FC236}">
                <a16:creationId xmlns:a16="http://schemas.microsoft.com/office/drawing/2014/main" id="{408AB78A-DA64-4793-9056-B20829FF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課程評量</a:t>
            </a:r>
          </a:p>
        </p:txBody>
      </p:sp>
      <p:sp>
        <p:nvSpPr>
          <p:cNvPr id="2" name="24">
            <a:extLst xmlns:a="http://schemas.openxmlformats.org/drawingml/2006/main">
              <a:ext uri="{FF2B5EF4-FFF2-40B4-BE49-F238E27FC236}">
                <a16:creationId xmlns:a16="http://schemas.microsoft.com/office/drawing/2014/main" id="{EC96D8F9-D621-4012-A166-2B340339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30%">
            <a:extLst xmlns:a="http://schemas.openxmlformats.org/drawingml/2006/main">
              <a:ext uri="{FF2B5EF4-FFF2-40B4-BE49-F238E27FC236}">
                <a16:creationId xmlns:a16="http://schemas.microsoft.com/office/drawing/2014/main" id="{80019E59-8BAD-4E54-831B-DD9166D5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30%</a:t>
            </a:r>
          </a:p>
        </p:txBody>
      </p:sp>
      <p:sp>
        <p:nvSpPr>
          <p:cNvPr id="4" name="出席及平時成績">
            <a:extLst xmlns:a="http://schemas.openxmlformats.org/drawingml/2006/main">
              <a:ext uri="{FF2B5EF4-FFF2-40B4-BE49-F238E27FC236}">
                <a16:creationId xmlns:a16="http://schemas.microsoft.com/office/drawing/2014/main" id="{64030BF2-FEAA-46FB-9E94-603C5BF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出席及平時成績</a:t>
            </a:r>
          </a:p>
        </p:txBody>
      </p:sp>
      <p:sp>
        <p:nvSpPr>
          <p:cNvPr id="5" name="30%">
            <a:extLst xmlns:a="http://schemas.openxmlformats.org/drawingml/2006/main">
              <a:ext uri="{FF2B5EF4-FFF2-40B4-BE49-F238E27FC236}">
                <a16:creationId xmlns:a16="http://schemas.microsoft.com/office/drawing/2014/main" id="{B71FE668-57CC-4EC6-ADC3-B1FEC1B3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30%</a:t>
            </a:r>
          </a:p>
        </p:txBody>
      </p:sp>
      <p:sp>
        <p:nvSpPr>
          <p:cNvPr id="6" name="期中考試">
            <a:extLst xmlns:a="http://schemas.openxmlformats.org/drawingml/2006/main">
              <a:ext uri="{FF2B5EF4-FFF2-40B4-BE49-F238E27FC236}">
                <a16:creationId xmlns:a16="http://schemas.microsoft.com/office/drawing/2014/main" id="{BEE49FD1-F329-4DF9-81D4-79245424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期中考試</a:t>
            </a:r>
          </a:p>
        </p:txBody>
      </p:sp>
      <p:sp>
        <p:nvSpPr>
          <p:cNvPr id="7" name="40%">
            <a:extLst xmlns:a="http://schemas.openxmlformats.org/drawingml/2006/main">
              <a:ext uri="{FF2B5EF4-FFF2-40B4-BE49-F238E27FC236}">
                <a16:creationId xmlns:a16="http://schemas.microsoft.com/office/drawing/2014/main" id="{0ADDFFAE-7934-46B4-923A-AA4EF99C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0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</a:p>
        </p:txBody>
      </p:sp>
      <p:sp>
        <p:nvSpPr>
          <p:cNvPr id="8" name="期末專題">
            <a:extLst xmlns:a="http://schemas.openxmlformats.org/drawingml/2006/main">
              <a:ext uri="{FF2B5EF4-FFF2-40B4-BE49-F238E27FC236}">
                <a16:creationId xmlns:a16="http://schemas.microsoft.com/office/drawing/2014/main" id="{A7B4D364-0C29-45BC-8328-ADEC8AC2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8142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期末專題</a:t>
            </a:r>
          </a:p>
        </p:txBody>
      </p:sp>
      <p:sp>
        <p:nvSpPr>
          <p:cNvPr id="9" name="第九週期中筆試。 套件作業、分組方式與細部評分標準另行公告。">
            <a:extLst xmlns:a="http://schemas.openxmlformats.org/drawingml/2006/main">
              <a:ext uri="{FF2B5EF4-FFF2-40B4-BE49-F238E27FC236}">
                <a16:creationId xmlns:a16="http://schemas.microsoft.com/office/drawing/2014/main" id="{2FEE31A5-BD23-4710-8CB2-A2AD09C2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第 9 週期中筆試。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作業與細部評分標準另行公告。</a:t>
            </a:r>
          </a:p>
        </p:txBody>
      </p:sp>
    </p:spTree>
    <p:extLst>
      <p:ext uri="{BB962C8B-B14F-4D97-AF65-F5344CB8AC3E}">
        <p14:creationId xmlns:p14="http://schemas.microsoft.com/office/powerpoint/2010/main" val="2638932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I 輔助使用原則">
            <a:extLst xmlns:a="http://schemas.openxmlformats.org/drawingml/2006/main">
              <a:ext uri="{FF2B5EF4-FFF2-40B4-BE49-F238E27FC236}">
                <a16:creationId xmlns:a16="http://schemas.microsoft.com/office/drawing/2014/main" id="{056FA843-E0DE-4327-BB83-8E42DB2D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AI 輔助使用原則</a:t>
            </a:r>
          </a:p>
        </p:txBody>
      </p:sp>
      <p:sp>
        <p:nvSpPr>
          <p:cNvPr id="2" name="26">
            <a:extLst xmlns:a="http://schemas.openxmlformats.org/drawingml/2006/main">
              <a:ext uri="{FF2B5EF4-FFF2-40B4-BE49-F238E27FC236}">
                <a16:creationId xmlns:a16="http://schemas.microsoft.com/office/drawing/2014/main" id="{0A424CD7-DFD7-4425-8FF8-C72C98D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可以協助">
            <a:extLst xmlns:a="http://schemas.openxmlformats.org/drawingml/2006/main">
              <a:ext uri="{FF2B5EF4-FFF2-40B4-BE49-F238E27FC236}">
                <a16:creationId xmlns:a16="http://schemas.microsoft.com/office/drawing/2014/main" id="{B36AFA19-1421-488E-9E61-E6A85B95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可以協助</a:t>
            </a:r>
          </a:p>
        </p:txBody>
      </p:sp>
      <p:sp>
        <p:nvSpPr>
          <p:cNvPr id="4" name="理解概念與程式 除錯、比較方案 提出測試情境">
            <a:extLst xmlns:a="http://schemas.openxmlformats.org/drawingml/2006/main">
              <a:ext uri="{FF2B5EF4-FFF2-40B4-BE49-F238E27FC236}">
                <a16:creationId xmlns:a16="http://schemas.microsoft.com/office/drawing/2014/main" id="{B7857B4D-B30C-4FFE-B8FE-44E5A0A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理解概念與程式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除錯、比較方案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提出測試情境</a:t>
            </a:r>
          </a:p>
        </p:txBody>
      </p:sp>
      <p:sp>
        <p:nvSpPr>
          <p:cNvPr id="5" name="提交者的責任">
            <a:extLst xmlns:a="http://schemas.openxmlformats.org/drawingml/2006/main">
              <a:ext uri="{FF2B5EF4-FFF2-40B4-BE49-F238E27FC236}">
                <a16:creationId xmlns:a16="http://schemas.microsoft.com/office/drawing/2014/main" id="{AA85E9A0-A807-4487-BD86-CF4A299F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7170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提交者的責任</a:t>
            </a:r>
          </a:p>
        </p:txBody>
      </p:sp>
      <p:sp>
        <p:nvSpPr>
          <p:cNvPr id="6" name="說明程式如何運作 驗證結果與限制 完成指定修改">
            <a:extLst xmlns:a="http://schemas.openxmlformats.org/drawingml/2006/main">
              <a:ext uri="{FF2B5EF4-FFF2-40B4-BE49-F238E27FC236}">
                <a16:creationId xmlns:a16="http://schemas.microsoft.com/office/drawing/2014/main" id="{D7A2A52A-FB9B-4F5A-9011-CCC8E894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7657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說明程式如何運作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驗證結果與限制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完成指定修改</a:t>
            </a:r>
          </a:p>
        </p:txBody>
      </p:sp>
      <p:sp>
        <p:nvSpPr>
          <p:cNvPr id="7" name="作業簡述 AI 協助的部分，以及你如何檢查結果。">
            <a:extLst xmlns:a="http://schemas.openxmlformats.org/drawingml/2006/main">
              <a:ext uri="{FF2B5EF4-FFF2-40B4-BE49-F238E27FC236}">
                <a16:creationId xmlns:a16="http://schemas.microsoft.com/office/drawing/2014/main" id="{2FE6547C-66C2-464D-8B5E-346CEF24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388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endParaRPr sz="2100" b="0">
              <a:solidFill>
                <a:srgbClr val="88D1C4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7553618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教材與課程聯繫">
            <a:extLst xmlns:a="http://schemas.openxmlformats.org/drawingml/2006/main">
              <a:ext uri="{FF2B5EF4-FFF2-40B4-BE49-F238E27FC236}">
                <a16:creationId xmlns:a16="http://schemas.microsoft.com/office/drawing/2014/main" id="{75330A73-1C93-4950-8345-31C96105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教材與課程聯繫</a:t>
            </a:r>
          </a:p>
        </p:txBody>
      </p:sp>
      <p:sp>
        <p:nvSpPr>
          <p:cNvPr id="2" name="27">
            <a:extLst xmlns:a="http://schemas.openxmlformats.org/drawingml/2006/main">
              <a:ext uri="{FF2B5EF4-FFF2-40B4-BE49-F238E27FC236}">
                <a16:creationId xmlns:a16="http://schemas.microsoft.com/office/drawing/2014/main" id="{4AA800BE-0894-410D-91C7-26A46261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3" name="課程教材網站">
            <a:extLst xmlns:a="http://schemas.openxmlformats.org/drawingml/2006/main">
              <a:ext uri="{FF2B5EF4-FFF2-40B4-BE49-F238E27FC236}">
                <a16:creationId xmlns:a16="http://schemas.microsoft.com/office/drawing/2014/main" id="{6E54E5C1-0662-488C-8B02-483BA5F1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課程教材網站</a:t>
            </a:r>
          </a:p>
        </p:txBody>
      </p:sp>
      <p:sp>
        <p:nvSpPr>
          <p:cNvPr id="4" name="minhuangyuntech.github.io/oo2026">
            <a:extLst xmlns:a="http://schemas.openxmlformats.org/drawingml/2006/main">
              <a:ext uri="{FF2B5EF4-FFF2-40B4-BE49-F238E27FC236}">
                <a16:creationId xmlns:a16="http://schemas.microsoft.com/office/drawing/2014/main" id="{1B966EB6-AAEE-4BCE-BE0C-540EB9FC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762a4b2133cc47f4"/>
              </a:rPr>
              <a:t>https://</a:t>
            </a: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4142604b15b84bfd"/>
              </a:rPr>
              <a:t>minhuangyuntech.github.io/oo2026</a:t>
            </a:r>
          </a:p>
        </p:txBody>
      </p:sp>
      <p:sp>
        <p:nvSpPr>
          <p:cNvPr id="5" name="課程平台">
            <a:extLst xmlns:a="http://schemas.openxmlformats.org/drawingml/2006/main">
              <a:ext uri="{FF2B5EF4-FFF2-40B4-BE49-F238E27FC236}">
                <a16:creationId xmlns:a16="http://schemas.microsoft.com/office/drawing/2014/main" id="{537AFF1E-7508-4A84-8466-2A749B8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課程平台</a:t>
            </a:r>
          </a:p>
        </p:txBody>
      </p:sp>
      <p:sp>
        <p:nvSpPr>
          <p:cNvPr id="6" name="eclass.yuntech.edu.tw">
            <a:extLst xmlns:a="http://schemas.openxmlformats.org/drawingml/2006/main">
              <a:ext uri="{FF2B5EF4-FFF2-40B4-BE49-F238E27FC236}">
                <a16:creationId xmlns:a16="http://schemas.microsoft.com/office/drawing/2014/main" id="{7905FBF9-89D6-42E3-BF4B-C4648B4B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bdd29ce418fa4bc2"/>
              </a:rPr>
              <a:t>https://</a:t>
            </a: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292f890e02f34838"/>
              </a:rPr>
              <a:t>eclass.yuntech.edu.tw</a:t>
            </a:r>
          </a:p>
        </p:txBody>
      </p:sp>
      <p:sp>
        <p:nvSpPr>
          <p:cNvPr id="7" name="何敏煌　minhuang@yuntech.edu.tw 課業輔導：週三 10:00–12:00，需預約">
            <a:extLst xmlns:a="http://schemas.openxmlformats.org/drawingml/2006/main">
              <a:ext uri="{FF2B5EF4-FFF2-40B4-BE49-F238E27FC236}">
                <a16:creationId xmlns:a16="http://schemas.microsoft.com/office/drawing/2014/main" id="{9A891CC1-4038-400C-BA99-8B5FAAB7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何敏煌　minhuang@yuntech.edu.tw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課業輔導：週三 10:00–12:00，需預約</a:t>
            </a:r>
          </a:p>
        </p:txBody>
      </p:sp>
    </p:spTree>
    <p:extLst>
      <p:ext uri="{BB962C8B-B14F-4D97-AF65-F5344CB8AC3E}">
        <p14:creationId xmlns:p14="http://schemas.microsoft.com/office/powerpoint/2010/main" val="15452927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第二週：物件導向的理論與工具">
            <a:extLst xmlns:a="http://schemas.openxmlformats.org/drawingml/2006/main">
              <a:ext uri="{FF2B5EF4-FFF2-40B4-BE49-F238E27FC236}">
                <a16:creationId xmlns:a16="http://schemas.microsoft.com/office/drawing/2014/main" id="{26AA6B1C-F90A-497A-9683-FFAEFA7E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第二週：Python 程式語言基礎複習</a:t>
            </a:r>
          </a:p>
        </p:txBody>
      </p:sp>
      <p:sp>
        <p:nvSpPr>
          <p:cNvPr id="2" name="29">
            <a:extLst xmlns:a="http://schemas.openxmlformats.org/drawingml/2006/main">
              <a:ext uri="{FF2B5EF4-FFF2-40B4-BE49-F238E27FC236}">
                <a16:creationId xmlns:a16="http://schemas.microsoft.com/office/drawing/2014/main" id="{0E8DE15F-F0BE-413F-A412-E183FC23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3" name="程式設計典範">
            <a:extLst xmlns:a="http://schemas.openxmlformats.org/drawingml/2006/main">
              <a:ext uri="{FF2B5EF4-FFF2-40B4-BE49-F238E27FC236}">
                <a16:creationId xmlns:a16="http://schemas.microsoft.com/office/drawing/2014/main" id="{E62BC9A6-D96D-4B07-B656-4C30D195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資料與控制流程</a:t>
            </a:r>
          </a:p>
        </p:txBody>
      </p:sp>
      <p:sp>
        <p:nvSpPr>
          <p:cNvPr id="4" name="程序式與物件導向的觀點。">
            <a:extLst xmlns:a="http://schemas.openxmlformats.org/drawingml/2006/main">
              <a:ext uri="{FF2B5EF4-FFF2-40B4-BE49-F238E27FC236}">
                <a16:creationId xmlns:a16="http://schemas.microsoft.com/office/drawing/2014/main" id="{D086987A-31C9-4D38-9DDA-DA6A2514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97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資料型別、運算子、條件判斷與迴圈。</a:t>
            </a:r>
          </a:p>
        </p:txBody>
      </p:sp>
      <p:sp>
        <p:nvSpPr>
          <p:cNvPr id="5" name="傳統 OOP 基礎">
            <a:extLst xmlns:a="http://schemas.openxmlformats.org/drawingml/2006/main">
              <a:ext uri="{FF2B5EF4-FFF2-40B4-BE49-F238E27FC236}">
                <a16:creationId xmlns:a16="http://schemas.microsoft.com/office/drawing/2014/main" id="{DF65A938-21A2-4F5C-A6D9-1319B845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函式與參數</a:t>
            </a:r>
          </a:p>
        </p:txBody>
      </p:sp>
      <p:sp>
        <p:nvSpPr>
          <p:cNvPr id="6" name="類別、物件與核心概念。">
            <a:extLst xmlns:a="http://schemas.openxmlformats.org/drawingml/2006/main">
              <a:ext uri="{FF2B5EF4-FFF2-40B4-BE49-F238E27FC236}">
                <a16:creationId xmlns:a16="http://schemas.microsoft.com/office/drawing/2014/main" id="{9698B67C-C31B-4ADD-8DF0-DEDC3663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051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函式、作用域、參數傳遞與回傳值。</a:t>
            </a:r>
          </a:p>
        </p:txBody>
      </p:sp>
      <p:sp>
        <p:nvSpPr>
          <p:cNvPr id="7" name="分析、設計與實作">
            <a:extLst xmlns:a="http://schemas.openxmlformats.org/drawingml/2006/main">
              <a:ext uri="{FF2B5EF4-FFF2-40B4-BE49-F238E27FC236}">
                <a16:creationId xmlns:a16="http://schemas.microsoft.com/office/drawing/2014/main" id="{2477BED6-E736-4F5B-ACE9-365CE91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容器與資料處理</a:t>
            </a:r>
          </a:p>
        </p:txBody>
      </p:sp>
      <p:sp>
        <p:nvSpPr>
          <p:cNvPr id="8" name="OOA、OOD、OOP 的差異與關係。">
            <a:extLst xmlns:a="http://schemas.openxmlformats.org/drawingml/2006/main">
              <a:ext uri="{FF2B5EF4-FFF2-40B4-BE49-F238E27FC236}">
                <a16:creationId xmlns:a16="http://schemas.microsoft.com/office/drawing/2014/main" id="{7A3BBAB8-3599-4114-9B19-611EF06F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004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list、tuple、dict、set 與容器推導式。</a:t>
            </a:r>
          </a:p>
        </p:txBody>
      </p:sp>
      <p:sp>
        <p:nvSpPr>
          <p:cNvPr id="9" name="開發與設計工具">
            <a:extLst xmlns:a="http://schemas.openxmlformats.org/drawingml/2006/main">
              <a:ext uri="{FF2B5EF4-FFF2-40B4-BE49-F238E27FC236}">
                <a16:creationId xmlns:a16="http://schemas.microsoft.com/office/drawing/2014/main" id="{DFB157F3-CBFD-4569-B00E-1370376C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從 C 轉入 Python</a:t>
            </a:r>
          </a:p>
        </p:txBody>
      </p:sp>
      <p:sp>
        <p:nvSpPr>
          <p:cNvPr id="10" name="編輯、除錯與設計表達。">
            <a:extLst xmlns:a="http://schemas.openxmlformats.org/drawingml/2006/main">
              <a:ext uri="{FF2B5EF4-FFF2-40B4-BE49-F238E27FC236}">
                <a16:creationId xmlns:a16="http://schemas.microsoft.com/office/drawing/2014/main" id="{DE3F32B3-34BC-4C90-A37B-C57BE72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958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比較語法與執行模式，以函式和容器改寫小程式。</a:t>
            </a:r>
          </a:p>
        </p:txBody>
      </p:sp>
    </p:spTree>
    <p:extLst>
      <p:ext uri="{BB962C8B-B14F-4D97-AF65-F5344CB8AC3E}">
        <p14:creationId xmlns:p14="http://schemas.microsoft.com/office/powerpoint/2010/main" val="1073563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2026-09-09T06:03:19.2760000Z</dcterms:created>
  <dcterms:modified xsi:type="dcterms:W3CDTF">2026-09-09T06:03:19.2760000Z</dcterms:modified>
</coreProperties>
</file>