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dc256dacb49ea" /><Relationship Type="http://schemas.openxmlformats.org/officeDocument/2006/relationships/extended-properties" Target="/docProps/app.xml" Id="Ra1a1079a0bf84222" /><Relationship Type="http://schemas.openxmlformats.org/officeDocument/2006/relationships/officeDocument" Target="/ppt/presentation.xml" Id="R73f6b09c4752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689f25e42e4ee0"/>
  </p:sldMasterIdLst>
  <p:notesMasterIdLst>
    <p:notesMasterId xmlns:r="http://schemas.openxmlformats.org/officeDocument/2006/relationships" r:id="R71809f8ab7674c7c"/>
  </p:notesMasterIdLst>
  <p:sldIdLst>
    <p:sldId xmlns:r="http://schemas.openxmlformats.org/officeDocument/2006/relationships" id="256" r:id="R142cb841a77440a8"/>
    <p:sldId xmlns:r="http://schemas.openxmlformats.org/officeDocument/2006/relationships" id="257" r:id="R8b672be665e04f9c"/>
    <p:sldId xmlns:r="http://schemas.openxmlformats.org/officeDocument/2006/relationships" id="258" r:id="R0b432db7c15044ba"/>
    <p:sldId xmlns:r="http://schemas.openxmlformats.org/officeDocument/2006/relationships" id="259" r:id="R7fe937ead434442b"/>
    <p:sldId xmlns:r="http://schemas.openxmlformats.org/officeDocument/2006/relationships" id="260" r:id="R2052f6872ced46bf"/>
    <p:sldId xmlns:r="http://schemas.openxmlformats.org/officeDocument/2006/relationships" id="261" r:id="R1a2ef308a3294b76"/>
    <p:sldId xmlns:r="http://schemas.openxmlformats.org/officeDocument/2006/relationships" id="262" r:id="R5999f277cba94626"/>
    <p:sldId xmlns:r="http://schemas.openxmlformats.org/officeDocument/2006/relationships" id="263" r:id="R23faf42f1a864058"/>
    <p:sldId xmlns:r="http://schemas.openxmlformats.org/officeDocument/2006/relationships" id="264" r:id="R3efcb2d2ad13454f"/>
    <p:sldId xmlns:r="http://schemas.openxmlformats.org/officeDocument/2006/relationships" id="265" r:id="R0c2c54f68e914892"/>
    <p:sldId xmlns:r="http://schemas.openxmlformats.org/officeDocument/2006/relationships" id="266" r:id="R74cba1d11f6f4336"/>
    <p:sldId xmlns:r="http://schemas.openxmlformats.org/officeDocument/2006/relationships" id="267" r:id="Rcd3ae4d3708940b2"/>
    <p:sldId xmlns:r="http://schemas.openxmlformats.org/officeDocument/2006/relationships" id="268" r:id="Rc40827869bca4b17"/>
    <p:sldId xmlns:r="http://schemas.openxmlformats.org/officeDocument/2006/relationships" id="269" r:id="R4e81c686c5404a57"/>
    <p:sldId xmlns:r="http://schemas.openxmlformats.org/officeDocument/2006/relationships" id="270" r:id="Re83f2f946ad048ba"/>
    <p:sldId xmlns:r="http://schemas.openxmlformats.org/officeDocument/2006/relationships" id="271" r:id="R5f4a9bced7384f50"/>
    <p:sldId xmlns:r="http://schemas.openxmlformats.org/officeDocument/2006/relationships" id="272" r:id="R0215c3a1adda4488"/>
    <p:sldId xmlns:r="http://schemas.openxmlformats.org/officeDocument/2006/relationships" id="273" r:id="Rf7553c1344c14e46"/>
    <p:sldId xmlns:r="http://schemas.openxmlformats.org/officeDocument/2006/relationships" id="274" r:id="Rfa66633904e049c9"/>
    <p:sldId xmlns:r="http://schemas.openxmlformats.org/officeDocument/2006/relationships" id="275" r:id="R75e5bddbe0e74156"/>
    <p:sldId xmlns:r="http://schemas.openxmlformats.org/officeDocument/2006/relationships" id="276" r:id="R86fd6c08a6e440cb"/>
    <p:sldId xmlns:r="http://schemas.openxmlformats.org/officeDocument/2006/relationships" id="277" r:id="R2a519ec075004865"/>
    <p:sldId xmlns:r="http://schemas.openxmlformats.org/officeDocument/2006/relationships" id="278" r:id="R307ab0be680c4202"/>
    <p:sldId xmlns:r="http://schemas.openxmlformats.org/officeDocument/2006/relationships" id="279" r:id="R44b58966b14946e2"/>
    <p:sldId xmlns:r="http://schemas.openxmlformats.org/officeDocument/2006/relationships" id="280" r:id="R24fec9a7773a4110"/>
    <p:sldId xmlns:r="http://schemas.openxmlformats.org/officeDocument/2006/relationships" id="281" r:id="R18bccbc0b1e64db4"/>
    <p:sldId xmlns:r="http://schemas.openxmlformats.org/officeDocument/2006/relationships" id="282" r:id="R49f6b63a8fcb4f75"/>
    <p:sldId xmlns:r="http://schemas.openxmlformats.org/officeDocument/2006/relationships" id="283" r:id="R4469d37535a849e7"/>
    <p:sldId xmlns:r="http://schemas.openxmlformats.org/officeDocument/2006/relationships" id="284" r:id="Rd9931576dae0418d"/>
    <p:sldId xmlns:r="http://schemas.openxmlformats.org/officeDocument/2006/relationships" id="285" r:id="R47c633721d4a4fae"/>
    <p:sldId xmlns:r="http://schemas.openxmlformats.org/officeDocument/2006/relationships" id="286" r:id="R81d86a8b0ce147aa"/>
    <p:sldId xmlns:r="http://schemas.openxmlformats.org/officeDocument/2006/relationships" id="287" r:id="Rc39f0dee7399496d"/>
    <p:sldId xmlns:r="http://schemas.openxmlformats.org/officeDocument/2006/relationships" id="288" r:id="R4768b79bbdf6453c"/>
    <p:sldId xmlns:r="http://schemas.openxmlformats.org/officeDocument/2006/relationships" id="289" r:id="Rfc54bb97e4894b0e"/>
    <p:sldId xmlns:r="http://schemas.openxmlformats.org/officeDocument/2006/relationships" id="290" r:id="R2893df2d6bac4485"/>
    <p:sldId xmlns:r="http://schemas.openxmlformats.org/officeDocument/2006/relationships" id="291" r:id="Re5e1a0dbc0ff4c17"/>
    <p:sldId xmlns:r="http://schemas.openxmlformats.org/officeDocument/2006/relationships" id="292" r:id="R1c5084fe5c5440dc"/>
    <p:sldId xmlns:r="http://schemas.openxmlformats.org/officeDocument/2006/relationships" id="293" r:id="Re608bbc2841f4417"/>
    <p:sldId xmlns:r="http://schemas.openxmlformats.org/officeDocument/2006/relationships" id="294" r:id="Rabfb9430e1884ef0"/>
    <p:sldId xmlns:r="http://schemas.openxmlformats.org/officeDocument/2006/relationships" id="295" r:id="R22c7650d42264135"/>
    <p:sldId xmlns:r="http://schemas.openxmlformats.org/officeDocument/2006/relationships" id="296" r:id="R88ca83ef763d448e"/>
    <p:sldId xmlns:r="http://schemas.openxmlformats.org/officeDocument/2006/relationships" id="297" r:id="R490b2eac00734f84"/>
    <p:sldId xmlns:r="http://schemas.openxmlformats.org/officeDocument/2006/relationships" id="298" r:id="R63394f7786014dc7"/>
    <p:sldId xmlns:r="http://schemas.openxmlformats.org/officeDocument/2006/relationships" id="299" r:id="Ra3b7a939ffad40eb"/>
    <p:sldId xmlns:r="http://schemas.openxmlformats.org/officeDocument/2006/relationships" id="300" r:id="Rafabd6e5f9ea49c7"/>
    <p:sldId xmlns:r="http://schemas.openxmlformats.org/officeDocument/2006/relationships" id="301" r:id="R2dbc1cd9e46e4ee1"/>
    <p:sldId xmlns:r="http://schemas.openxmlformats.org/officeDocument/2006/relationships" id="302" r:id="R32e92da72fc84955"/>
    <p:sldId xmlns:r="http://schemas.openxmlformats.org/officeDocument/2006/relationships" id="303" r:id="Rb58990a76d2149dc"/>
    <p:sldId xmlns:r="http://schemas.openxmlformats.org/officeDocument/2006/relationships" id="304" r:id="R68f0a75ebd674211"/>
    <p:sldId xmlns:r="http://schemas.openxmlformats.org/officeDocument/2006/relationships" id="305" r:id="Ra93f8b954ee445ce"/>
    <p:sldId xmlns:r="http://schemas.openxmlformats.org/officeDocument/2006/relationships" id="306" r:id="R8279cf76bee447eb"/>
    <p:sldId xmlns:r="http://schemas.openxmlformats.org/officeDocument/2006/relationships" id="307" r:id="Rcdd36959e9bb4bab"/>
    <p:sldId xmlns:r="http://schemas.openxmlformats.org/officeDocument/2006/relationships" id="308" r:id="R7cff8c0cada543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8235f1b8c4223" /><Relationship Type="http://schemas.openxmlformats.org/officeDocument/2006/relationships/slideMaster" Target="/ppt/slideMasters/slideMaster1.xml" Id="Rb7689f25e42e4ee0" /><Relationship Type="http://schemas.openxmlformats.org/officeDocument/2006/relationships/notesMaster" Target="/ppt/notesMasters/notesMaster1.xml" Id="R71809f8ab7674c7c" /><Relationship Type="http://schemas.openxmlformats.org/officeDocument/2006/relationships/presProps" Target="/ppt/presProps.xml" Id="Rfdb0baa3bdb64695" /><Relationship Type="http://schemas.openxmlformats.org/officeDocument/2006/relationships/tableStyles" Target="/ppt/tableStyles.xml" Id="R9780b048530b472c" /><Relationship Type="http://schemas.openxmlformats.org/officeDocument/2006/relationships/slide" Target="/ppt/slides/slide1.xml" Id="R142cb841a77440a8" /><Relationship Type="http://schemas.openxmlformats.org/officeDocument/2006/relationships/slide" Target="/ppt/slides/slide2.xml" Id="R8b672be665e04f9c" /><Relationship Type="http://schemas.openxmlformats.org/officeDocument/2006/relationships/slide" Target="/ppt/slides/slide3.xml" Id="R0b432db7c15044ba" /><Relationship Type="http://schemas.openxmlformats.org/officeDocument/2006/relationships/slide" Target="/ppt/slides/slide4.xml" Id="R7fe937ead434442b" /><Relationship Type="http://schemas.openxmlformats.org/officeDocument/2006/relationships/slide" Target="/ppt/slides/slide5.xml" Id="R2052f6872ced46bf" /><Relationship Type="http://schemas.openxmlformats.org/officeDocument/2006/relationships/slide" Target="/ppt/slides/slide6.xml" Id="R1a2ef308a3294b76" /><Relationship Type="http://schemas.openxmlformats.org/officeDocument/2006/relationships/slide" Target="/ppt/slides/slide7.xml" Id="R5999f277cba94626" /><Relationship Type="http://schemas.openxmlformats.org/officeDocument/2006/relationships/slide" Target="/ppt/slides/slide8.xml" Id="R23faf42f1a864058" /><Relationship Type="http://schemas.openxmlformats.org/officeDocument/2006/relationships/slide" Target="/ppt/slides/slide9.xml" Id="R3efcb2d2ad13454f" /><Relationship Type="http://schemas.openxmlformats.org/officeDocument/2006/relationships/slide" Target="/ppt/slides/slide10.xml" Id="R0c2c54f68e914892" /><Relationship Type="http://schemas.openxmlformats.org/officeDocument/2006/relationships/slide" Target="/ppt/slides/slide11.xml" Id="R74cba1d11f6f4336" /><Relationship Type="http://schemas.openxmlformats.org/officeDocument/2006/relationships/slide" Target="/ppt/slides/slide12.xml" Id="Rcd3ae4d3708940b2" /><Relationship Type="http://schemas.openxmlformats.org/officeDocument/2006/relationships/slide" Target="/ppt/slides/slide13.xml" Id="Rc40827869bca4b17" /><Relationship Type="http://schemas.openxmlformats.org/officeDocument/2006/relationships/slide" Target="/ppt/slides/slide14.xml" Id="R4e81c686c5404a57" /><Relationship Type="http://schemas.openxmlformats.org/officeDocument/2006/relationships/slide" Target="/ppt/slides/slide15.xml" Id="Re83f2f946ad048ba" /><Relationship Type="http://schemas.openxmlformats.org/officeDocument/2006/relationships/slide" Target="/ppt/slides/slide16.xml" Id="R5f4a9bced7384f50" /><Relationship Type="http://schemas.openxmlformats.org/officeDocument/2006/relationships/slide" Target="/ppt/slides/slide17.xml" Id="R0215c3a1adda4488" /><Relationship Type="http://schemas.openxmlformats.org/officeDocument/2006/relationships/slide" Target="/ppt/slides/slide18.xml" Id="Rf7553c1344c14e46" /><Relationship Type="http://schemas.openxmlformats.org/officeDocument/2006/relationships/slide" Target="/ppt/slides/slide19.xml" Id="Rfa66633904e049c9" /><Relationship Type="http://schemas.openxmlformats.org/officeDocument/2006/relationships/slide" Target="/ppt/slides/slide20.xml" Id="R75e5bddbe0e74156" /><Relationship Type="http://schemas.openxmlformats.org/officeDocument/2006/relationships/slide" Target="/ppt/slides/slide21.xml" Id="R86fd6c08a6e440cb" /><Relationship Type="http://schemas.openxmlformats.org/officeDocument/2006/relationships/slide" Target="/ppt/slides/slide22.xml" Id="R2a519ec075004865" /><Relationship Type="http://schemas.openxmlformats.org/officeDocument/2006/relationships/slide" Target="/ppt/slides/slide23.xml" Id="R307ab0be680c4202" /><Relationship Type="http://schemas.openxmlformats.org/officeDocument/2006/relationships/slide" Target="/ppt/slides/slide24.xml" Id="R44b58966b14946e2" /><Relationship Type="http://schemas.openxmlformats.org/officeDocument/2006/relationships/slide" Target="/ppt/slides/slide25.xml" Id="R24fec9a7773a4110" /><Relationship Type="http://schemas.openxmlformats.org/officeDocument/2006/relationships/slide" Target="/ppt/slides/slide26.xml" Id="R18bccbc0b1e64db4" /><Relationship Type="http://schemas.openxmlformats.org/officeDocument/2006/relationships/slide" Target="/ppt/slides/slide27.xml" Id="R49f6b63a8fcb4f75" /><Relationship Type="http://schemas.openxmlformats.org/officeDocument/2006/relationships/slide" Target="/ppt/slides/slide28.xml" Id="R4469d37535a849e7" /><Relationship Type="http://schemas.openxmlformats.org/officeDocument/2006/relationships/slide" Target="/ppt/slides/slide29.xml" Id="Rd9931576dae0418d" /><Relationship Type="http://schemas.openxmlformats.org/officeDocument/2006/relationships/slide" Target="/ppt/slides/slide30.xml" Id="R47c633721d4a4fae" /><Relationship Type="http://schemas.openxmlformats.org/officeDocument/2006/relationships/slide" Target="/ppt/slides/slide31.xml" Id="R81d86a8b0ce147aa" /><Relationship Type="http://schemas.openxmlformats.org/officeDocument/2006/relationships/slide" Target="/ppt/slides/slide32.xml" Id="Rc39f0dee7399496d" /><Relationship Type="http://schemas.openxmlformats.org/officeDocument/2006/relationships/slide" Target="/ppt/slides/slide33.xml" Id="R4768b79bbdf6453c" /><Relationship Type="http://schemas.openxmlformats.org/officeDocument/2006/relationships/slide" Target="/ppt/slides/slide34.xml" Id="Rfc54bb97e4894b0e" /><Relationship Type="http://schemas.openxmlformats.org/officeDocument/2006/relationships/slide" Target="/ppt/slides/slide35.xml" Id="R2893df2d6bac4485" /><Relationship Type="http://schemas.openxmlformats.org/officeDocument/2006/relationships/slide" Target="/ppt/slides/slide36.xml" Id="Re5e1a0dbc0ff4c17" /><Relationship Type="http://schemas.openxmlformats.org/officeDocument/2006/relationships/slide" Target="/ppt/slides/slide37.xml" Id="R1c5084fe5c5440dc" /><Relationship Type="http://schemas.openxmlformats.org/officeDocument/2006/relationships/slide" Target="/ppt/slides/slide38.xml" Id="Re608bbc2841f4417" /><Relationship Type="http://schemas.openxmlformats.org/officeDocument/2006/relationships/slide" Target="/ppt/slides/slide39.xml" Id="Rabfb9430e1884ef0" /><Relationship Type="http://schemas.openxmlformats.org/officeDocument/2006/relationships/slide" Target="/ppt/slides/slide40.xml" Id="R22c7650d42264135" /><Relationship Type="http://schemas.openxmlformats.org/officeDocument/2006/relationships/slide" Target="/ppt/slides/slide41.xml" Id="R88ca83ef763d448e" /><Relationship Type="http://schemas.openxmlformats.org/officeDocument/2006/relationships/slide" Target="/ppt/slides/slide42.xml" Id="R490b2eac00734f84" /><Relationship Type="http://schemas.openxmlformats.org/officeDocument/2006/relationships/slide" Target="/ppt/slides/slide43.xml" Id="R63394f7786014dc7" /><Relationship Type="http://schemas.openxmlformats.org/officeDocument/2006/relationships/slide" Target="/ppt/slides/slide44.xml" Id="Ra3b7a939ffad40eb" /><Relationship Type="http://schemas.openxmlformats.org/officeDocument/2006/relationships/slide" Target="/ppt/slides/slide45.xml" Id="Rafabd6e5f9ea49c7" /><Relationship Type="http://schemas.openxmlformats.org/officeDocument/2006/relationships/slide" Target="/ppt/slides/slide46.xml" Id="R2dbc1cd9e46e4ee1" /><Relationship Type="http://schemas.openxmlformats.org/officeDocument/2006/relationships/slide" Target="/ppt/slides/slide47.xml" Id="R32e92da72fc84955" /><Relationship Type="http://schemas.openxmlformats.org/officeDocument/2006/relationships/slide" Target="/ppt/slides/slide48.xml" Id="Rb58990a76d2149dc" /><Relationship Type="http://schemas.openxmlformats.org/officeDocument/2006/relationships/slide" Target="/ppt/slides/slide49.xml" Id="R68f0a75ebd674211" /><Relationship Type="http://schemas.openxmlformats.org/officeDocument/2006/relationships/slide" Target="/ppt/slides/slide50.xml" Id="Ra93f8b954ee445ce" /><Relationship Type="http://schemas.openxmlformats.org/officeDocument/2006/relationships/slide" Target="/ppt/slides/slide51.xml" Id="R8279cf76bee447eb" /><Relationship Type="http://schemas.openxmlformats.org/officeDocument/2006/relationships/slide" Target="/ppt/slides/slide52.xml" Id="Rcdd36959e9bb4bab" /><Relationship Type="http://schemas.openxmlformats.org/officeDocument/2006/relationships/slide" Target="/ppt/slides/slide53.xml" Id="R7cff8c0cada5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021232da754a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3d5f58c6e48ba" /><Relationship Type="http://schemas.openxmlformats.org/officeDocument/2006/relationships/notesMaster" Target="/ppt/notesMasters/notesMaster1.xml" Id="R2640c0e97afe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156778eb942c6" /><Relationship Type="http://schemas.openxmlformats.org/officeDocument/2006/relationships/notesMaster" Target="/ppt/notesMasters/notesMaster1.xml" Id="Re1f42e86816e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d9e0d909d4817" /><Relationship Type="http://schemas.openxmlformats.org/officeDocument/2006/relationships/notesMaster" Target="/ppt/notesMasters/notesMaster1.xml" Id="R1461b9d7ddd443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0d4b1713941fd" /><Relationship Type="http://schemas.openxmlformats.org/officeDocument/2006/relationships/notesMaster" Target="/ppt/notesMasters/notesMaster1.xml" Id="Rc2278f1597aa4d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5bda989a64d94" /><Relationship Type="http://schemas.openxmlformats.org/officeDocument/2006/relationships/notesMaster" Target="/ppt/notesMasters/notesMaster1.xml" Id="Rdb11566747a345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04b5d0df824725" /><Relationship Type="http://schemas.openxmlformats.org/officeDocument/2006/relationships/notesMaster" Target="/ppt/notesMasters/notesMaster1.xml" Id="R347f702fa5d042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294f8802b4d15" /><Relationship Type="http://schemas.openxmlformats.org/officeDocument/2006/relationships/notesMaster" Target="/ppt/notesMasters/notesMaster1.xml" Id="R9531c04651ca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fdada6c484959" /><Relationship Type="http://schemas.openxmlformats.org/officeDocument/2006/relationships/notesMaster" Target="/ppt/notesMasters/notesMaster1.xml" Id="Rdea6bcedaf2947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9167da0a3f4f7f" /><Relationship Type="http://schemas.openxmlformats.org/officeDocument/2006/relationships/notesMaster" Target="/ppt/notesMasters/notesMaster1.xml" Id="R08be58685acd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94b849fa75442f" /><Relationship Type="http://schemas.openxmlformats.org/officeDocument/2006/relationships/notesMaster" Target="/ppt/notesMasters/notesMaster1.xml" Id="Redb8b32ee5ad41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71bfa1d1fd4d78" /><Relationship Type="http://schemas.openxmlformats.org/officeDocument/2006/relationships/notesMaster" Target="/ppt/notesMasters/notesMaster1.xml" Id="R36894867bcbc4a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e01b6490594b95" /><Relationship Type="http://schemas.openxmlformats.org/officeDocument/2006/relationships/notesMaster" Target="/ppt/notesMasters/notesMaster1.xml" Id="Rae94f50d315a45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28d0d3f2cb4f83" /><Relationship Type="http://schemas.openxmlformats.org/officeDocument/2006/relationships/notesMaster" Target="/ppt/notesMasters/notesMaster1.xml" Id="Rad85eb0147fb41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8896f9ede24a29" /><Relationship Type="http://schemas.openxmlformats.org/officeDocument/2006/relationships/notesMaster" Target="/ppt/notesMasters/notesMaster1.xml" Id="Rec16dc8388d540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0b0af654814986" /><Relationship Type="http://schemas.openxmlformats.org/officeDocument/2006/relationships/notesMaster" Target="/ppt/notesMasters/notesMaster1.xml" Id="R81123b60daf640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d599918f7243ab" /><Relationship Type="http://schemas.openxmlformats.org/officeDocument/2006/relationships/notesMaster" Target="/ppt/notesMasters/notesMaster1.xml" Id="R7cfaf1a8121f4d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46c9bcd3fe4bc6" /><Relationship Type="http://schemas.openxmlformats.org/officeDocument/2006/relationships/notesMaster" Target="/ppt/notesMasters/notesMaster1.xml" Id="R27b5dc72963f46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fbb1bf25bf4f78" /><Relationship Type="http://schemas.openxmlformats.org/officeDocument/2006/relationships/notesMaster" Target="/ppt/notesMasters/notesMaster1.xml" Id="R1ac8d8d107c545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5feae371254b4a" /><Relationship Type="http://schemas.openxmlformats.org/officeDocument/2006/relationships/notesMaster" Target="/ppt/notesMasters/notesMaster1.xml" Id="R3c941502d94b44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1f6662fea54c0b" /><Relationship Type="http://schemas.openxmlformats.org/officeDocument/2006/relationships/notesMaster" Target="/ppt/notesMasters/notesMaster1.xml" Id="R67b7397eabb747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046114fcf043dc" /><Relationship Type="http://schemas.openxmlformats.org/officeDocument/2006/relationships/notesMaster" Target="/ppt/notesMasters/notesMaster1.xml" Id="R1ee11ed527104f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31aa85d6994170" /><Relationship Type="http://schemas.openxmlformats.org/officeDocument/2006/relationships/notesMaster" Target="/ppt/notesMasters/notesMaster1.xml" Id="Rd203dc1172c34b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aec04816ec4a3c" /><Relationship Type="http://schemas.openxmlformats.org/officeDocument/2006/relationships/notesMaster" Target="/ppt/notesMasters/notesMaster1.xml" Id="R5111a250437149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7253cced1847f3" /><Relationship Type="http://schemas.openxmlformats.org/officeDocument/2006/relationships/notesMaster" Target="/ppt/notesMasters/notesMaster1.xml" Id="R84652324ecc844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eb9a7d00aa41aa" /><Relationship Type="http://schemas.openxmlformats.org/officeDocument/2006/relationships/notesMaster" Target="/ppt/notesMasters/notesMaster1.xml" Id="R9d39b9b3f2fd4e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291c2bdd864a7f" /><Relationship Type="http://schemas.openxmlformats.org/officeDocument/2006/relationships/notesMaster" Target="/ppt/notesMasters/notesMaster1.xml" Id="R638e5198d8d94f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ea37de9de64e0d" /><Relationship Type="http://schemas.openxmlformats.org/officeDocument/2006/relationships/notesMaster" Target="/ppt/notesMasters/notesMaster1.xml" Id="Reed317b82ed34d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70097aa11e4b76" /><Relationship Type="http://schemas.openxmlformats.org/officeDocument/2006/relationships/notesMaster" Target="/ppt/notesMasters/notesMaster1.xml" Id="Rede8916da27b4c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2f9135175c4c8e" /><Relationship Type="http://schemas.openxmlformats.org/officeDocument/2006/relationships/notesMaster" Target="/ppt/notesMasters/notesMaster1.xml" Id="R7133e8f398ba41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c165c870004af3" /><Relationship Type="http://schemas.openxmlformats.org/officeDocument/2006/relationships/notesMaster" Target="/ppt/notesMasters/notesMaster1.xml" Id="R9313b939eb92451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a9a89c88b434a43" /><Relationship Type="http://schemas.openxmlformats.org/officeDocument/2006/relationships/notesMaster" Target="/ppt/notesMasters/notesMaster1.xml" Id="R5e56dd063989409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77983e8a414e71" /><Relationship Type="http://schemas.openxmlformats.org/officeDocument/2006/relationships/notesMaster" Target="/ppt/notesMasters/notesMaster1.xml" Id="Raf192a34e47a42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37803da4e9498b" /><Relationship Type="http://schemas.openxmlformats.org/officeDocument/2006/relationships/notesMaster" Target="/ppt/notesMasters/notesMaster1.xml" Id="R240c8c22082449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4ffb2d200b4c98" /><Relationship Type="http://schemas.openxmlformats.org/officeDocument/2006/relationships/notesMaster" Target="/ppt/notesMasters/notesMaster1.xml" Id="R68e450c3060348c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fb6b83494394c60" /><Relationship Type="http://schemas.openxmlformats.org/officeDocument/2006/relationships/notesMaster" Target="/ppt/notesMasters/notesMaster1.xml" Id="Rc4a2197d631f4ee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e479034905c4923" /><Relationship Type="http://schemas.openxmlformats.org/officeDocument/2006/relationships/notesMaster" Target="/ppt/notesMasters/notesMaster1.xml" Id="R5764690b38e94fc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99ec68af19941d0" /><Relationship Type="http://schemas.openxmlformats.org/officeDocument/2006/relationships/notesMaster" Target="/ppt/notesMasters/notesMaster1.xml" Id="R031931355404457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5f8f21180c34364" /><Relationship Type="http://schemas.openxmlformats.org/officeDocument/2006/relationships/notesMaster" Target="/ppt/notesMasters/notesMaster1.xml" Id="R4fa32834d03142e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906981c81724794" /><Relationship Type="http://schemas.openxmlformats.org/officeDocument/2006/relationships/notesMaster" Target="/ppt/notesMasters/notesMaster1.xml" Id="R292d337757ac463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12a08aaae94e15" /><Relationship Type="http://schemas.openxmlformats.org/officeDocument/2006/relationships/notesMaster" Target="/ppt/notesMasters/notesMaster1.xml" Id="R95dbb218673a4bc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59508c76f047bd" /><Relationship Type="http://schemas.openxmlformats.org/officeDocument/2006/relationships/notesMaster" Target="/ppt/notesMasters/notesMaster1.xml" Id="R8099cda12c30433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a85aa507a894be2" /><Relationship Type="http://schemas.openxmlformats.org/officeDocument/2006/relationships/notesMaster" Target="/ppt/notesMasters/notesMaster1.xml" Id="Rdb549037eec74c4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b823c2b47324b8a" /><Relationship Type="http://schemas.openxmlformats.org/officeDocument/2006/relationships/notesMaster" Target="/ppt/notesMasters/notesMaster1.xml" Id="R03ab31568f11494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88d01d046344948" /><Relationship Type="http://schemas.openxmlformats.org/officeDocument/2006/relationships/notesMaster" Target="/ppt/notesMasters/notesMaster1.xml" Id="R964f45ec2697494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dc81ece9379440a" /><Relationship Type="http://schemas.openxmlformats.org/officeDocument/2006/relationships/notesMaster" Target="/ppt/notesMasters/notesMaster1.xml" Id="Re47910f187fe4a0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90f48d624f441c4" /><Relationship Type="http://schemas.openxmlformats.org/officeDocument/2006/relationships/notesMaster" Target="/ppt/notesMasters/notesMaster1.xml" Id="Rfbbd72b5f77f470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8ff05b57a274488" /><Relationship Type="http://schemas.openxmlformats.org/officeDocument/2006/relationships/notesMaster" Target="/ppt/notesMasters/notesMaster1.xml" Id="R9515106fa2d948f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c8a90bc5c784371" /><Relationship Type="http://schemas.openxmlformats.org/officeDocument/2006/relationships/notesMaster" Target="/ppt/notesMasters/notesMaster1.xml" Id="Rf01845005981472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33e37422da6420d" /><Relationship Type="http://schemas.openxmlformats.org/officeDocument/2006/relationships/notesMaster" Target="/ppt/notesMasters/notesMaster1.xml" Id="R10f52ff2730346a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a5c3c4f1bda4d88" /><Relationship Type="http://schemas.openxmlformats.org/officeDocument/2006/relationships/notesMaster" Target="/ppt/notesMasters/notesMaster1.xml" Id="R6b86c206dd5f450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9726e3eead340f6" /><Relationship Type="http://schemas.openxmlformats.org/officeDocument/2006/relationships/notesMaster" Target="/ppt/notesMasters/notesMaster1.xml" Id="Rc0fb5e3383c145f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3fd5468d0264119" /><Relationship Type="http://schemas.openxmlformats.org/officeDocument/2006/relationships/notesMaster" Target="/ppt/notesMasters/notesMaster1.xml" Id="Rfe2148497ead4d5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9d54a5b940748c1" /><Relationship Type="http://schemas.openxmlformats.org/officeDocument/2006/relationships/notesMaster" Target="/ppt/notesMasters/notesMaster1.xml" Id="Rc2ea267536b5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概念圖使用 image_gen 生成，依本課程流程校對。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參考資料：本課程建立並執行的 catalog 範例網站。</a:t>
            </a:r>
          </a:p>
          <a:p xmlns:a="http://schemas.openxmlformats.org/drawingml/2006/main">
            <a:r>
              <a:t>截圖來自本課程實際執行的 Django 5.2 網站。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參考資料：https://docs.djangoproject.com/en/5.2/intro/tutorial03/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參考資料：https://docs.python.org/3/library/venv.html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參考資料：https://docs.djangoproject.com/en/5.2/intro/install/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參考資料：https://docs.djangoproject.com/en/5.2/ref/django-admin/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參考資料：https://docs.python.org/3/tutorial/modules.html#packages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參考資料：https://docs.djangoproject.com/en/5.2/ref/settings/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參考資料：https://docs.djangoproject.com/en/5.2/ref/settings/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參考資料：https://docs.djangoproject.com/en/5.2/howto/deployment/checklist/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參考資料：https://docs.djangoproject.com/en/5.2/howto/deployment/wsgi/</a:t>
            </a:r>
          </a:p>
          <a:p xmlns:a="http://schemas.openxmlformats.org/drawingml/2006/main">
            <a:r>
              <a:t>https://docs.djangoproject.com/en/5.2/howto/deployment/asgi/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參考資料：https://docs.djangoproject.com/en/5.2/ref/applications/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參考資料：https://docs.djangoproject.com/en/5.2/topics/http/views/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參考資料：https://docs.djangoproject.com/en/5.2/topics/http/urls/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參考資料：https://docs.djangoproject.com/en/5.2/topics/http/urls/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參考資料：https://docs.djangoproject.com/en/5.2/intro/tutorial03/</a:t>
            </a:r>
          </a:p>
          <a:p xmlns:a="http://schemas.openxmlformats.org/drawingml/2006/main">
            <a:r>
              <a:t>概念圖使用 image_gen 生成，依本課程流程校對。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參考資料：https://docs.djangoproject.com/en/5.2/ref/models/fields/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參考資料：https://docs.djangoproject.com/en/5.2/ref/models/instances/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參考資料：https://docs.djangoproject.com/en/5.2/topics/migrations/</a:t>
            </a:r>
          </a:p>
          <a:p xmlns:a="http://schemas.openxmlformats.org/drawingml/2006/main">
            <a:r>
              <a:t>概念圖使用 image_gen 生成，依本課程流程校對。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參考資料：https://docs.djangoproject.com/en/5.2/topics/migrations/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參考資料：https://docs.djangoproject.com/en/5.2/topics/migrations/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參考資料：https://docs.djangoproject.com/en/5.2/topics/db/queries/</a:t>
            </a:r>
          </a:p>
          <a:p xmlns:a="http://schemas.openxmlformats.org/drawingml/2006/main">
            <a:r>
              <a:t>https://docs.djangoproject.com/en/5.2/ref/models/instances/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參考資料：https://docs.djangoproject.com/en/5.2/ref/contrib/admin/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參考資料：https://docs.djangoproject.com/en/5.2/ref/contrib/admin/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參考資料：https://docs.djangoproject.com/en/5.2/intro/tutorial03/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參考資料：https://docs.djangoproject.com/en/5.2/topics/templates/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參考資料：https://docs.djangoproject.com/en/5.2/ref/templates/language/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參考資料：https://docs.djangoproject.com/en/5.2/ref/templates/language/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參考資料：https://docs.djangoproject.com/en/5.2/howto/static-files/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參考資料：https://docs.djangoproject.com/en/5.2/topics/http/urls/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參考資料：https://docs.djangoproject.com/en/5.2/topics/http/shortcuts/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參考資料：https://docs.djangoproject.com/en/5.2/topics/forms/modelforms/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參考資料：https://docs.djangoproject.com/en/5.2/topics/forms/modelforms/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參考資料：https://docs.djangoproject.com/en/5.2/ref/csrf/</a:t>
            </a:r>
          </a:p>
          <a:p xmlns:a="http://schemas.openxmlformats.org/drawingml/2006/main">
            <a:r>
              <a:t>https://docs.djangoproject.com/en/5.2/topics/forms/modelforms/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參考資料：本課程 catalog 範例網站。</a:t>
            </a:r>
          </a:p>
          <a:p xmlns:a="http://schemas.openxmlformats.org/drawingml/2006/main">
            <a:r>
              <a:t>截圖來自本課程實際執行的 Django 5.2 網站。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參考資料：https://docs.djangoproject.com/en/5.2/topics/testing/overview/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參考資料：https://docs.djangoproject.com/en/5.2/topics/http/middleware/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參考資料：https://docs.python.org/3/library/venv.html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參考資料：本課程配套專案 README.md。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參考資料：https://docs.djangoproject.com/en/5.2/topics/http/urls/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參考資料：https://docs.djangoproject.com/en/5.2/howto/deployment/checklist/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參考資料：https://docs.djangoproject.com/en/5.2/ref/django-admin/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參考資料：https://docs.djangoproject.com/en/5.2/intro/tutorial01/</a:t>
            </a:r>
          </a:p>
          <a:p xmlns:a="http://schemas.openxmlformats.org/drawingml/2006/main">
            <a:r>
              <a:t>https://docs.djangoproject.com/en/5.2/intro/tutorial02/</a:t>
            </a:r>
          </a:p>
          <a:p xmlns:a="http://schemas.openxmlformats.org/drawingml/2006/main">
            <a:r>
              <a:t>https://docs.djangoproject.com/en/5.2/intro/tutorial03/</a:t>
            </a:r>
          </a:p>
          <a:p xmlns:a="http://schemas.openxmlformats.org/drawingml/2006/main">
            <a:r>
              <a:t>https://docs.djangoproject.com/en/5.2/topics/forms/modelforms/</a:t>
            </a:r>
          </a:p>
          <a:p xmlns:a="http://schemas.openxmlformats.org/drawingml/2006/main">
            <a:r>
              <a:t>https://docs.djangoproject.com/en/5.2/ref/settings/</a:t>
            </a:r>
          </a:p>
          <a:p xmlns:a="http://schemas.openxmlformats.org/drawingml/2006/main">
            <a:r>
              <a:t>https://docs.djangoproject.com/en/5.2/ref/applications/</a:t>
            </a:r>
          </a:p>
          <a:p xmlns:a="http://schemas.openxmlformats.org/drawingml/2006/main">
            <a:r>
              <a:t>https://docs.djangoproject.com/en/5.2/topics/http/urls/</a:t>
            </a:r>
          </a:p>
          <a:p xmlns:a="http://schemas.openxmlformats.org/drawingml/2006/main">
            <a:r>
              <a:t>https://docs.djangoproject.com/en/5.2/topics/migrations/</a:t>
            </a:r>
          </a:p>
          <a:p xmlns:a="http://schemas.openxmlformats.org/drawingml/2006/main">
            <a:r>
              <a:t>https://docs.djangoproject.com/en/5.2/ref/contrib/admin/</a:t>
            </a:r>
          </a:p>
          <a:p xmlns:a="http://schemas.openxmlformats.org/drawingml/2006/main">
            <a:r>
              <a:t>https://docs.djangoproject.com/en/5.2/ref/templates/language/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https://docs.djangoproject.com/en/5.2/topics/testing/overview/</a:t>
            </a:r>
          </a:p>
          <a:p xmlns:a="http://schemas.openxmlformats.org/drawingml/2006/main">
            <a:r>
              <a:t>https://docs.djangoproject.com/en/5.2/howto/deployment/checklist/</a:t>
            </a:r>
          </a:p>
          <a:p xmlns:a="http://schemas.openxmlformats.org/drawingml/2006/main">
            <a:r>
              <a:t>本教材涵蓋專案及 app 的預設檔案與常用新增檔案，不逐一解說 site-packages/django 的內部原始碼。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44683107f4d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e2c81bd6a847dc" /><Relationship Type="http://schemas.openxmlformats.org/officeDocument/2006/relationships/slideLayout" Target="/ppt/slideLayouts/slideLayout1.xml" Id="Rbadbcaa21e6f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bcaa21e6f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ec2c38742494e" /><Relationship Type="http://schemas.openxmlformats.org/officeDocument/2006/relationships/image" Target="/ppt/media/image.png" Id="Rb921b4cdc3604916" /><Relationship Type="http://schemas.openxmlformats.org/officeDocument/2006/relationships/notesSlide" Target="/ppt/notesSlides/notesSlide1.xml" Id="R7a884c3bfdc7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7da01978146f6" /><Relationship Type="http://schemas.openxmlformats.org/officeDocument/2006/relationships/image" Target="/ppt/media/image2.png" Id="R4c1a0ed04b184c53" /><Relationship Type="http://schemas.openxmlformats.org/officeDocument/2006/relationships/notesSlide" Target="/ppt/notesSlides/notesSlide2.xml" Id="R311486f9268d4c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8746ada104344" /><Relationship Type="http://schemas.openxmlformats.org/officeDocument/2006/relationships/notesSlide" Target="/ppt/notesSlides/notesSlide3.xml" Id="R590db58061d7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fe5de0da64f52" /><Relationship Type="http://schemas.openxmlformats.org/officeDocument/2006/relationships/notesSlide" Target="/ppt/notesSlides/notesSlide4.xml" Id="R39025a15f50948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2879a0af640d5" /><Relationship Type="http://schemas.openxmlformats.org/officeDocument/2006/relationships/notesSlide" Target="/ppt/notesSlides/notesSlide5.xml" Id="R40944ab180e140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6f2145fb44421" /><Relationship Type="http://schemas.openxmlformats.org/officeDocument/2006/relationships/notesSlide" Target="/ppt/notesSlides/notesSlide6.xml" Id="R400f12eb607a41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393e9383a4198" /><Relationship Type="http://schemas.openxmlformats.org/officeDocument/2006/relationships/notesSlide" Target="/ppt/notesSlides/notesSlide7.xml" Id="R4cc45e4dcdfe4d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93f7c9154845" /><Relationship Type="http://schemas.openxmlformats.org/officeDocument/2006/relationships/notesSlide" Target="/ppt/notesSlides/notesSlide8.xml" Id="Rbe47fee6eb2445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bddf6b4d9495e" /><Relationship Type="http://schemas.openxmlformats.org/officeDocument/2006/relationships/notesSlide" Target="/ppt/notesSlides/notesSlide9.xml" Id="Rc1d8aeaa773344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c921ad9ce42dd" /><Relationship Type="http://schemas.openxmlformats.org/officeDocument/2006/relationships/notesSlide" Target="/ppt/notesSlides/notesSlide10.xml" Id="R746f6b97faae46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f0351a4c64168" /><Relationship Type="http://schemas.openxmlformats.org/officeDocument/2006/relationships/notesSlide" Target="/ppt/notesSlides/notesSlide11.xml" Id="R8dc354104c854b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65335e904b51" /><Relationship Type="http://schemas.openxmlformats.org/officeDocument/2006/relationships/notesSlide" Target="/ppt/notesSlides/notesSlide12.xml" Id="Re018305b59bd4a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3c64d311a40f6" /><Relationship Type="http://schemas.openxmlformats.org/officeDocument/2006/relationships/notesSlide" Target="/ppt/notesSlides/notesSlide13.xml" Id="R885f4e1b511649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cdae8e1444010" /><Relationship Type="http://schemas.openxmlformats.org/officeDocument/2006/relationships/notesSlide" Target="/ppt/notesSlides/notesSlide14.xml" Id="R39f6695f5a1c44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2dd412bab414a" /><Relationship Type="http://schemas.openxmlformats.org/officeDocument/2006/relationships/notesSlide" Target="/ppt/notesSlides/notesSlide15.xml" Id="Rde89f56b759247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5cb849df24b5b" /><Relationship Type="http://schemas.openxmlformats.org/officeDocument/2006/relationships/notesSlide" Target="/ppt/notesSlides/notesSlide16.xml" Id="R5156b83d93f542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3c9783f5c4d35" /><Relationship Type="http://schemas.openxmlformats.org/officeDocument/2006/relationships/notesSlide" Target="/ppt/notesSlides/notesSlide17.xml" Id="R777253d968484e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e08632a540fd" /><Relationship Type="http://schemas.openxmlformats.org/officeDocument/2006/relationships/notesSlide" Target="/ppt/notesSlides/notesSlide18.xml" Id="Rada5b920722247a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9e0879e0c4b8f" /><Relationship Type="http://schemas.openxmlformats.org/officeDocument/2006/relationships/notesSlide" Target="/ppt/notesSlides/notesSlide19.xml" Id="Rfe8b3f1de95f4d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cb58191a84174" /><Relationship Type="http://schemas.openxmlformats.org/officeDocument/2006/relationships/notesSlide" Target="/ppt/notesSlides/notesSlide20.xml" Id="R9ccb91dd83164d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ec352682b4ba9" /><Relationship Type="http://schemas.openxmlformats.org/officeDocument/2006/relationships/notesSlide" Target="/ppt/notesSlides/notesSlide21.xml" Id="R84c24e5f0c8141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ec73219844b8f" /><Relationship Type="http://schemas.openxmlformats.org/officeDocument/2006/relationships/image" Target="/ppt/media/image3.png" Id="R36f04d26599f4326" /><Relationship Type="http://schemas.openxmlformats.org/officeDocument/2006/relationships/notesSlide" Target="/ppt/notesSlides/notesSlide22.xml" Id="R7c231e7d29f749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568389db946f6" /><Relationship Type="http://schemas.openxmlformats.org/officeDocument/2006/relationships/notesSlide" Target="/ppt/notesSlides/notesSlide23.xml" Id="Rf7215c437f2544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0909d5a8e47bc" /><Relationship Type="http://schemas.openxmlformats.org/officeDocument/2006/relationships/notesSlide" Target="/ppt/notesSlides/notesSlide24.xml" Id="R6791ece693b04b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804068f04352" /><Relationship Type="http://schemas.openxmlformats.org/officeDocument/2006/relationships/image" Target="/ppt/media/image4.png" Id="R796b951afa1c401b" /><Relationship Type="http://schemas.openxmlformats.org/officeDocument/2006/relationships/notesSlide" Target="/ppt/notesSlides/notesSlide25.xml" Id="R2c8e88eb36bc49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f5a0102614aed" /><Relationship Type="http://schemas.openxmlformats.org/officeDocument/2006/relationships/notesSlide" Target="/ppt/notesSlides/notesSlide26.xml" Id="R67f6af9025a54d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c2716e6f64efa" /><Relationship Type="http://schemas.openxmlformats.org/officeDocument/2006/relationships/notesSlide" Target="/ppt/notesSlides/notesSlide27.xml" Id="R537cb903d28e4dd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806ffd6a7463c" /><Relationship Type="http://schemas.openxmlformats.org/officeDocument/2006/relationships/notesSlide" Target="/ppt/notesSlides/notesSlide28.xml" Id="Rf11d50b7e5e24a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b89ec18404ae9" /><Relationship Type="http://schemas.openxmlformats.org/officeDocument/2006/relationships/notesSlide" Target="/ppt/notesSlides/notesSlide29.xml" Id="R5beadc64a85445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1cd170f2242e5" /><Relationship Type="http://schemas.openxmlformats.org/officeDocument/2006/relationships/notesSlide" Target="/ppt/notesSlides/notesSlide30.xml" Id="R8915cf0134c8463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f14ec0444b99" /><Relationship Type="http://schemas.openxmlformats.org/officeDocument/2006/relationships/notesSlide" Target="/ppt/notesSlides/notesSlide31.xml" Id="R2b740f289c264e3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748b2a1994cf5" /><Relationship Type="http://schemas.openxmlformats.org/officeDocument/2006/relationships/notesSlide" Target="/ppt/notesSlides/notesSlide32.xml" Id="R0bc3c4300c7a4e3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83febea134ea5" /><Relationship Type="http://schemas.openxmlformats.org/officeDocument/2006/relationships/notesSlide" Target="/ppt/notesSlides/notesSlide33.xml" Id="Rf9cee239b7714a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a4dcbd69d4838" /><Relationship Type="http://schemas.openxmlformats.org/officeDocument/2006/relationships/notesSlide" Target="/ppt/notesSlides/notesSlide34.xml" Id="Rf7a4d92ca42e4d2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52d13282447c7" /><Relationship Type="http://schemas.openxmlformats.org/officeDocument/2006/relationships/notesSlide" Target="/ppt/notesSlides/notesSlide35.xml" Id="R408f594accb640e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b8f01f4104299" /><Relationship Type="http://schemas.openxmlformats.org/officeDocument/2006/relationships/notesSlide" Target="/ppt/notesSlides/notesSlide36.xml" Id="R090253a836cb401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89a4d037f4efa" /><Relationship Type="http://schemas.openxmlformats.org/officeDocument/2006/relationships/notesSlide" Target="/ppt/notesSlides/notesSlide37.xml" Id="Rccee9d9aabed4a3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e2cb00582493a" /><Relationship Type="http://schemas.openxmlformats.org/officeDocument/2006/relationships/notesSlide" Target="/ppt/notesSlides/notesSlide38.xml" Id="Raefc7d163aea4a0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3a03c8928414d" /><Relationship Type="http://schemas.openxmlformats.org/officeDocument/2006/relationships/notesSlide" Target="/ppt/notesSlides/notesSlide39.xml" Id="R4a967576df1e467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f6575a7c64d47" /><Relationship Type="http://schemas.openxmlformats.org/officeDocument/2006/relationships/notesSlide" Target="/ppt/notesSlides/notesSlide40.xml" Id="R074e2b685f504f0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1b94088934684" /><Relationship Type="http://schemas.openxmlformats.org/officeDocument/2006/relationships/image" Target="/ppt/media/image5.png" Id="Rc653f506c48346b0" /><Relationship Type="http://schemas.openxmlformats.org/officeDocument/2006/relationships/notesSlide" Target="/ppt/notesSlides/notesSlide41.xml" Id="Rb1aee8372d954a1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cba4f5c3d477d" /><Relationship Type="http://schemas.openxmlformats.org/officeDocument/2006/relationships/notesSlide" Target="/ppt/notesSlides/notesSlide42.xml" Id="R44b865e1048641f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cc0fa48c244db" /><Relationship Type="http://schemas.openxmlformats.org/officeDocument/2006/relationships/notesSlide" Target="/ppt/notesSlides/notesSlide43.xml" Id="R9cf3d211333141e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ce58f7b7c4e41" /><Relationship Type="http://schemas.openxmlformats.org/officeDocument/2006/relationships/notesSlide" Target="/ppt/notesSlides/notesSlide44.xml" Id="R47ee833b79f34b9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66b54e71f49b8" /><Relationship Type="http://schemas.openxmlformats.org/officeDocument/2006/relationships/notesSlide" Target="/ppt/notesSlides/notesSlide45.xml" Id="R529d7fc85f604d7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582d6d2964817" /><Relationship Type="http://schemas.openxmlformats.org/officeDocument/2006/relationships/notesSlide" Target="/ppt/notesSlides/notesSlide46.xml" Id="Rc1f0f2f2c3bb455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f2e1848544010" /><Relationship Type="http://schemas.openxmlformats.org/officeDocument/2006/relationships/notesSlide" Target="/ppt/notesSlides/notesSlide47.xml" Id="Re6d117ed3a18448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b207e4d7e4de4" /><Relationship Type="http://schemas.openxmlformats.org/officeDocument/2006/relationships/notesSlide" Target="/ppt/notesSlides/notesSlide48.xml" Id="R862e039a066b48f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86bfd92574bbf" /><Relationship Type="http://schemas.openxmlformats.org/officeDocument/2006/relationships/notesSlide" Target="/ppt/notesSlides/notesSlide49.xml" Id="Re6bdada36235401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bfe69c6884b91" /><Relationship Type="http://schemas.openxmlformats.org/officeDocument/2006/relationships/notesSlide" Target="/ppt/notesSlides/notesSlide50.xml" Id="Re1f652f8703444a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edadc4ae14ce9" /><Relationship Type="http://schemas.openxmlformats.org/officeDocument/2006/relationships/notesSlide" Target="/ppt/notesSlides/notesSlide51.xml" Id="Rdc3febcd033a4fc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d25a719ea4aa3" /><Relationship Type="http://schemas.openxmlformats.org/officeDocument/2006/relationships/notesSlide" Target="/ppt/notesSlides/notesSlide52.xml" Id="Re34826c0973f46e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8c2e38c5e4eec" /><Relationship Type="http://schemas.openxmlformats.org/officeDocument/2006/relationships/notesSlide" Target="/ppt/notesSlides/notesSlide53.xml" Id="Rfb201daf7a4840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1b4cdc36049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JANGO / WEB DEVELOPMENT">
            <a:extLst xmlns:a="http://schemas.openxmlformats.org/drawingml/2006/main">
              <a:ext uri="{FF2B5EF4-FFF2-40B4-BE49-F238E27FC236}">
                <a16:creationId xmlns:a16="http://schemas.microsoft.com/office/drawing/2014/main" id="{C9BF74CC-6C0C-43F6-996D-887D9D5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DJANGO / WEB DEVELOPMENT</a:t>
            </a:r>
          </a:p>
        </p:txBody>
      </p:sp>
      <p:sp>
        <p:nvSpPr>
          <p:cNvPr id="3" name="Django 網站建立 與專案檔案解析">
            <a:extLst xmlns:a="http://schemas.openxmlformats.org/drawingml/2006/main">
              <a:ext uri="{FF2B5EF4-FFF2-40B4-BE49-F238E27FC236}">
                <a16:creationId xmlns:a16="http://schemas.microsoft.com/office/drawing/2014/main" id="{2EA4678B-1594-4370-8C55-AF27A1C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Django 網站建立</a:t>
            </a:r>
          </a:p>
          <a:p xmlns:a="http://schemas.openxmlformats.org/drawingml/2006/main">
            <a:pPr algn="l">
              <a:defRPr sz="46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與專案檔案解析</a:t>
            </a:r>
          </a:p>
        </p:txBody>
      </p:sp>
      <p:sp>
        <p:nvSpPr>
          <p:cNvPr id="4" name="從第一個網頁到資料、模板與表單">
            <a:extLst xmlns:a="http://schemas.openxmlformats.org/drawingml/2006/main">
              <a:ext uri="{FF2B5EF4-FFF2-40B4-BE49-F238E27FC236}">
                <a16:creationId xmlns:a16="http://schemas.microsoft.com/office/drawing/2014/main" id="{A3EA4ECE-C3DF-4500-88DF-C37AD0DE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從第一個網頁到資料、模板與表單</a:t>
            </a:r>
          </a:p>
        </p:txBody>
      </p:sp>
      <p:sp>
        <p:nvSpPr>
          <p:cNvPr id="5" name="物件導向程式設計　／　中文補充教材 Python 3.12　Django 5.2">
            <a:extLst xmlns:a="http://schemas.openxmlformats.org/drawingml/2006/main">
              <a:ext uri="{FF2B5EF4-FFF2-40B4-BE49-F238E27FC236}">
                <a16:creationId xmlns:a16="http://schemas.microsoft.com/office/drawing/2014/main" id="{9B255240-AEFE-4A7D-9968-2EF5BEC8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742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物件導向程式設計　／　中文補充教材</a:t>
            </a:r>
          </a:p>
          <a:p xmlns:a="http://schemas.openxmlformats.org/drawingml/2006/main">
            <a:pPr algn="l"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Python 3.12　Django 5.2</a:t>
            </a:r>
          </a:p>
        </p:txBody>
      </p:sp>
    </p:spTree>
    <p:extLst>
      <p:ext uri="{BB962C8B-B14F-4D97-AF65-F5344CB8AC3E}">
        <p14:creationId xmlns:p14="http://schemas.microsoft.com/office/powerpoint/2010/main" val="1656160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本次建立的商品目錄網站">
            <a:extLst xmlns:a="http://schemas.openxmlformats.org/drawingml/2006/main">
              <a:ext uri="{FF2B5EF4-FFF2-40B4-BE49-F238E27FC236}">
                <a16:creationId xmlns:a16="http://schemas.microsoft.com/office/drawing/2014/main" id="{2E3AAFD1-33B5-4FA9-B8B4-D1A7E2B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本次建立的商品目錄網站</a:t>
            </a:r>
          </a:p>
        </p:txBody>
      </p:sp>
      <p:sp>
        <p:nvSpPr>
          <p:cNvPr id="2" name="一個可執行的專案，連結所有檔案的用途">
            <a:extLst xmlns:a="http://schemas.openxmlformats.org/drawingml/2006/main">
              <a:ext uri="{FF2B5EF4-FFF2-40B4-BE49-F238E27FC236}">
                <a16:creationId xmlns:a16="http://schemas.microsoft.com/office/drawing/2014/main" id="{E2878EDA-5E89-4785-8A19-18C06BA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一個可執行的專案，連結所有檔案的用途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360CE27-0DC8-47EB-9E22-559C66D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a0ed04b184c53"/>
          <a:stretch xmlns:a="http://schemas.openxmlformats.org/drawingml/2006/main"/>
        </p:blipFill>
        <p:spPr>
          <a:xfrm xmlns:a="http://schemas.openxmlformats.org/drawingml/2006/main">
            <a:off x="612457" y="1743075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瀏覽商品">
            <a:extLst xmlns:a="http://schemas.openxmlformats.org/drawingml/2006/main">
              <a:ext uri="{FF2B5EF4-FFF2-40B4-BE49-F238E27FC236}">
                <a16:creationId xmlns:a16="http://schemas.microsoft.com/office/drawing/2014/main" id="{8986DE33-8D1F-4B40-A6C3-C967C5A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瀏覽商品</a:t>
            </a:r>
          </a:p>
        </p:txBody>
      </p:sp>
      <p:sp>
        <p:nvSpPr>
          <p:cNvPr id="6" name="列表、價格與庫存狀態">
            <a:extLst xmlns:a="http://schemas.openxmlformats.org/drawingml/2006/main">
              <a:ext uri="{FF2B5EF4-FFF2-40B4-BE49-F238E27FC236}">
                <a16:creationId xmlns:a16="http://schemas.microsoft.com/office/drawing/2014/main" id="{528E1A30-F650-4BA0-B9F9-15A1568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列表、價格與庫存狀態</a:t>
            </a:r>
          </a:p>
        </p:txBody>
      </p:sp>
      <p:sp>
        <p:nvSpPr>
          <p:cNvPr id="7" name="查看內容">
            <a:extLst xmlns:a="http://schemas.openxmlformats.org/drawingml/2006/main">
              <a:ext uri="{FF2B5EF4-FFF2-40B4-BE49-F238E27FC236}">
                <a16:creationId xmlns:a16="http://schemas.microsoft.com/office/drawing/2014/main" id="{CB508732-EFF1-440F-B83E-E9A4725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86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查看內容</a:t>
            </a:r>
          </a:p>
        </p:txBody>
      </p:sp>
      <p:sp>
        <p:nvSpPr>
          <p:cNvPr id="8" name="以商品編號取得單筆資料">
            <a:extLst xmlns:a="http://schemas.openxmlformats.org/drawingml/2006/main">
              <a:ext uri="{FF2B5EF4-FFF2-40B4-BE49-F238E27FC236}">
                <a16:creationId xmlns:a16="http://schemas.microsoft.com/office/drawing/2014/main" id="{F42B5CAF-B5C8-45BA-B010-F7F0E20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以商品編號取得單筆資料</a:t>
            </a:r>
          </a:p>
        </p:txBody>
      </p:sp>
      <p:sp>
        <p:nvSpPr>
          <p:cNvPr id="9" name="新增資料">
            <a:extLst xmlns:a="http://schemas.openxmlformats.org/drawingml/2006/main">
              <a:ext uri="{FF2B5EF4-FFF2-40B4-BE49-F238E27FC236}">
                <a16:creationId xmlns:a16="http://schemas.microsoft.com/office/drawing/2014/main" id="{50B2758B-50AC-42DC-8AA7-693EB386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76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新增資料</a:t>
            </a:r>
          </a:p>
        </p:txBody>
      </p:sp>
      <p:sp>
        <p:nvSpPr>
          <p:cNvPr id="10" name="表單驗證後寫入資料庫">
            <a:extLst xmlns:a="http://schemas.openxmlformats.org/drawingml/2006/main">
              <a:ext uri="{FF2B5EF4-FFF2-40B4-BE49-F238E27FC236}">
                <a16:creationId xmlns:a16="http://schemas.microsoft.com/office/drawing/2014/main" id="{9D1A922B-D03D-4F83-8393-23CFF94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339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表單驗證後寫入資料庫</a:t>
            </a:r>
          </a:p>
        </p:txBody>
      </p:sp>
      <p:sp>
        <p:nvSpPr>
          <p:cNvPr id="11" name="完成版範例：Django_網站入門_範例.zip">
            <a:extLst xmlns:a="http://schemas.openxmlformats.org/drawingml/2006/main">
              <a:ext uri="{FF2B5EF4-FFF2-40B4-BE49-F238E27FC236}">
                <a16:creationId xmlns:a16="http://schemas.microsoft.com/office/drawing/2014/main" id="{A2C20628-7CD7-4FA3-82C8-3798939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完成版範例：Django_網站入門_範例.zip</a:t>
            </a:r>
          </a:p>
        </p:txBody>
      </p:sp>
    </p:spTree>
    <p:extLst>
      <p:ext uri="{BB962C8B-B14F-4D97-AF65-F5344CB8AC3E}">
        <p14:creationId xmlns:p14="http://schemas.microsoft.com/office/powerpoint/2010/main" val="473680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網站運作的基本概念">
            <a:extLst xmlns:a="http://schemas.openxmlformats.org/drawingml/2006/main">
              <a:ext uri="{FF2B5EF4-FFF2-40B4-BE49-F238E27FC236}">
                <a16:creationId xmlns:a16="http://schemas.microsoft.com/office/drawing/2014/main" id="{DDD0BA85-AA03-4F59-B308-96F5446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網站運作的基本概念</a:t>
            </a:r>
          </a:p>
        </p:txBody>
      </p:sp>
      <p:sp>
        <p:nvSpPr>
          <p:cNvPr id="2" name="瀏覽器與伺服器各有不同工作">
            <a:extLst xmlns:a="http://schemas.openxmlformats.org/drawingml/2006/main">
              <a:ext uri="{FF2B5EF4-FFF2-40B4-BE49-F238E27FC236}">
                <a16:creationId xmlns:a16="http://schemas.microsoft.com/office/drawing/2014/main" id="{AF5B6E2A-0366-4F5D-B436-3DD6BEE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瀏覽器與伺服器各有不同工作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CC67FA7-4C87-4AFC-930C-C30ABBB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瀏覽器">
            <a:extLst xmlns:a="http://schemas.openxmlformats.org/drawingml/2006/main">
              <a:ext uri="{FF2B5EF4-FFF2-40B4-BE49-F238E27FC236}">
                <a16:creationId xmlns:a16="http://schemas.microsoft.com/office/drawing/2014/main" id="{856306FA-9193-4D45-884B-F3F658D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5" name="送出 HTTP 請求，顯示 HTML，套用 CSS 與 JavaScript。">
            <a:extLst xmlns:a="http://schemas.openxmlformats.org/drawingml/2006/main">
              <a:ext uri="{FF2B5EF4-FFF2-40B4-BE49-F238E27FC236}">
                <a16:creationId xmlns:a16="http://schemas.microsoft.com/office/drawing/2014/main" id="{E3286711-651E-4607-983B-CDD97985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送出 HTTP 請求，顯示 HTML，套用 CSS 與 JavaScript。</a:t>
            </a:r>
          </a:p>
        </p:txBody>
      </p:sp>
      <p:sp>
        <p:nvSpPr>
          <p:cNvPr id="6" name="Django">
            <a:extLst xmlns:a="http://schemas.openxmlformats.org/drawingml/2006/main">
              <a:ext uri="{FF2B5EF4-FFF2-40B4-BE49-F238E27FC236}">
                <a16:creationId xmlns:a16="http://schemas.microsoft.com/office/drawing/2014/main" id="{E41BB450-0462-44EA-9227-0F23B74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Django</a:t>
            </a:r>
          </a:p>
        </p:txBody>
      </p:sp>
      <p:sp>
        <p:nvSpPr>
          <p:cNvPr id="7" name="在伺服器執行 Python，處理路由、資料與回應。">
            <a:extLst xmlns:a="http://schemas.openxmlformats.org/drawingml/2006/main">
              <a:ext uri="{FF2B5EF4-FFF2-40B4-BE49-F238E27FC236}">
                <a16:creationId xmlns:a16="http://schemas.microsoft.com/office/drawing/2014/main" id="{F4311AE7-92E0-484E-AC96-A46B9F9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在伺服器執行 Python，處理路由、資料與回應。</a:t>
            </a:r>
          </a:p>
        </p:txBody>
      </p:sp>
      <p:sp>
        <p:nvSpPr>
          <p:cNvPr id="8" name="資料庫">
            <a:extLst xmlns:a="http://schemas.openxmlformats.org/drawingml/2006/main">
              <a:ext uri="{FF2B5EF4-FFF2-40B4-BE49-F238E27FC236}">
                <a16:creationId xmlns:a16="http://schemas.microsoft.com/office/drawing/2014/main" id="{B45B1448-A3DF-4323-8CFC-D79E0B7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</p:txBody>
      </p:sp>
      <p:sp>
        <p:nvSpPr>
          <p:cNvPr id="9" name="儲存商品資料，讓資料在程式重新啟動後仍可保留。">
            <a:extLst xmlns:a="http://schemas.openxmlformats.org/drawingml/2006/main">
              <a:ext uri="{FF2B5EF4-FFF2-40B4-BE49-F238E27FC236}">
                <a16:creationId xmlns:a16="http://schemas.microsoft.com/office/drawing/2014/main" id="{674C5C44-C614-4253-AFD3-731178E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儲存商品資料，讓資料在程式重新啟動後仍可保留。</a:t>
            </a:r>
          </a:p>
        </p:txBody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2193E78A-D565-41DD-8153-FEEC24A4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URL</a:t>
            </a:r>
          </a:p>
        </p:txBody>
      </p:sp>
      <p:sp>
        <p:nvSpPr>
          <p:cNvPr id="11" name="例如 /products/，由路由規則決定交給哪個函式。">
            <a:extLst xmlns:a="http://schemas.openxmlformats.org/drawingml/2006/main">
              <a:ext uri="{FF2B5EF4-FFF2-40B4-BE49-F238E27FC236}">
                <a16:creationId xmlns:a16="http://schemas.microsoft.com/office/drawing/2014/main" id="{5284A46E-A4DA-4064-ADF5-D230EA73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例如 /products/，由路由規則決定交給哪個函式。</a:t>
            </a:r>
          </a:p>
        </p:txBody>
      </p:sp>
      <p:sp>
        <p:nvSpPr>
          <p:cNvPr id="12" name="瀏覽器收到的是回應內容，不會直接執行伺服器上的 Python。">
            <a:extLst xmlns:a="http://schemas.openxmlformats.org/drawingml/2006/main">
              <a:ext uri="{FF2B5EF4-FFF2-40B4-BE49-F238E27FC236}">
                <a16:creationId xmlns:a16="http://schemas.microsoft.com/office/drawing/2014/main" id="{F2805499-B3FF-4DA7-AEF7-8D708DF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瀏覽器收到的是回應內容，不會直接執行伺服器上的 Python。</a:t>
            </a:r>
          </a:p>
        </p:txBody>
      </p:sp>
    </p:spTree>
    <p:extLst>
      <p:ext uri="{BB962C8B-B14F-4D97-AF65-F5344CB8AC3E}">
        <p14:creationId xmlns:p14="http://schemas.microsoft.com/office/powerpoint/2010/main" val="223214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jango 的 Model、View 與 Template">
            <a:extLst xmlns:a="http://schemas.openxmlformats.org/drawingml/2006/main">
              <a:ext uri="{FF2B5EF4-FFF2-40B4-BE49-F238E27FC236}">
                <a16:creationId xmlns:a16="http://schemas.microsoft.com/office/drawing/2014/main" id="{FF9C46DA-DE5A-4D0B-949B-A95F10F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Django 的 Model、View 與 Template</a:t>
            </a:r>
          </a:p>
        </p:txBody>
      </p:sp>
      <p:sp>
        <p:nvSpPr>
          <p:cNvPr id="2" name="MVT 是理解網站責任分工的起點">
            <a:extLst xmlns:a="http://schemas.openxmlformats.org/drawingml/2006/main">
              <a:ext uri="{FF2B5EF4-FFF2-40B4-BE49-F238E27FC236}">
                <a16:creationId xmlns:a16="http://schemas.microsoft.com/office/drawing/2014/main" id="{6A0DD917-FAB5-40A6-8267-50A99BD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MVT 是理解網站責任分工的起點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BF02E14-6951-4E2A-8BE2-47B9225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286250"/>
                <a:gridCol w="47815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本範例位置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主要責任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catalog/models.py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定義資料欄位與物件行為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View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catalog/views.py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接收請求、協調資料、產生回應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Template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catalog/templates/catalog/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將資料套入 HTML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URLconf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config/urls.py、catalog/urls.py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把網址對應到 view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Django 的 view 通常負責處理請求；畫面結構主要放在 template。">
            <a:extLst xmlns:a="http://schemas.openxmlformats.org/drawingml/2006/main">
              <a:ext uri="{FF2B5EF4-FFF2-40B4-BE49-F238E27FC236}">
                <a16:creationId xmlns:a16="http://schemas.microsoft.com/office/drawing/2014/main" id="{B49EFB70-1F90-460B-88AC-B04E795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Django 的 view 通常負責處理請求；畫面結構主要放在 template。</a:t>
            </a:r>
          </a:p>
        </p:txBody>
      </p:sp>
    </p:spTree>
    <p:extLst>
      <p:ext uri="{BB962C8B-B14F-4D97-AF65-F5344CB8AC3E}">
        <p14:creationId xmlns:p14="http://schemas.microsoft.com/office/powerpoint/2010/main" val="768765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環境與版本">
            <a:extLst xmlns:a="http://schemas.openxmlformats.org/drawingml/2006/main">
              <a:ext uri="{FF2B5EF4-FFF2-40B4-BE49-F238E27FC236}">
                <a16:creationId xmlns:a16="http://schemas.microsoft.com/office/drawing/2014/main" id="{B764CD55-0469-47B7-BF1E-F99087F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環境與版本</a:t>
            </a:r>
          </a:p>
        </p:txBody>
      </p:sp>
      <p:sp>
        <p:nvSpPr>
          <p:cNvPr id="2" name="本教材使用 Python 3.12 與 Django 5.2">
            <a:extLst xmlns:a="http://schemas.openxmlformats.org/drawingml/2006/main">
              <a:ext uri="{FF2B5EF4-FFF2-40B4-BE49-F238E27FC236}">
                <a16:creationId xmlns:a16="http://schemas.microsoft.com/office/drawing/2014/main" id="{63730656-91DC-4928-98F5-B5250DC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本教材使用 Python 3.12 與 Django 5.2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F92D005E-0EF2-462B-8C27-12754FD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Python">
            <a:extLst xmlns:a="http://schemas.openxmlformats.org/drawingml/2006/main">
              <a:ext uri="{FF2B5EF4-FFF2-40B4-BE49-F238E27FC236}">
                <a16:creationId xmlns:a16="http://schemas.microsoft.com/office/drawing/2014/main" id="{5463490B-1BC9-40CA-BCCE-90FD4A6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</a:t>
            </a:r>
          </a:p>
        </p:txBody>
      </p:sp>
      <p:sp>
        <p:nvSpPr>
          <p:cNvPr id="5" name="執行網站的語言環境。先確認 python --version。">
            <a:extLst xmlns:a="http://schemas.openxmlformats.org/drawingml/2006/main">
              <a:ext uri="{FF2B5EF4-FFF2-40B4-BE49-F238E27FC236}">
                <a16:creationId xmlns:a16="http://schemas.microsoft.com/office/drawing/2014/main" id="{10A48F63-0C47-4701-A3F5-E644999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執行網站的語言環境。先確認 python --version。</a:t>
            </a:r>
          </a:p>
        </p:txBody>
      </p:sp>
      <p:sp>
        <p:nvSpPr>
          <p:cNvPr id="6" name="虛擬環境">
            <a:extLst xmlns:a="http://schemas.openxmlformats.org/drawingml/2006/main">
              <a:ext uri="{FF2B5EF4-FFF2-40B4-BE49-F238E27FC236}">
                <a16:creationId xmlns:a16="http://schemas.microsoft.com/office/drawing/2014/main" id="{0253EDA4-B5AB-4A5E-A010-08E864A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虛擬環境</a:t>
            </a:r>
          </a:p>
        </p:txBody>
      </p:sp>
      <p:sp>
        <p:nvSpPr>
          <p:cNvPr id="7" name="每個專案使用自己的套件，避免不同課程互相影響。">
            <a:extLst xmlns:a="http://schemas.openxmlformats.org/drawingml/2006/main">
              <a:ext uri="{FF2B5EF4-FFF2-40B4-BE49-F238E27FC236}">
                <a16:creationId xmlns:a16="http://schemas.microsoft.com/office/drawing/2014/main" id="{252CDEBE-1868-4CCD-9A22-33FC13E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每個專案使用自己的套件，避免不同課程互相影響。</a:t>
            </a:r>
          </a:p>
        </p:txBody>
      </p:sp>
      <p:sp>
        <p:nvSpPr>
          <p:cNvPr id="8" name="編輯器與終端機">
            <a:extLst xmlns:a="http://schemas.openxmlformats.org/drawingml/2006/main">
              <a:ext uri="{FF2B5EF4-FFF2-40B4-BE49-F238E27FC236}">
                <a16:creationId xmlns:a16="http://schemas.microsoft.com/office/drawing/2014/main" id="{CE2FEBBB-29A2-435C-957C-92CBDFF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編輯器與終端機</a:t>
            </a:r>
          </a:p>
        </p:txBody>
      </p:sp>
      <p:sp>
        <p:nvSpPr>
          <p:cNvPr id="9" name="用 VS Code 編輯程式，在 PowerShell 執行命令。">
            <a:extLst xmlns:a="http://schemas.openxmlformats.org/drawingml/2006/main">
              <a:ext uri="{FF2B5EF4-FFF2-40B4-BE49-F238E27FC236}">
                <a16:creationId xmlns:a16="http://schemas.microsoft.com/office/drawing/2014/main" id="{876CA2E4-4F87-481D-B20D-6CF81E7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用 VS Code 編輯程式，在 PowerShell 執行命令。</a:t>
            </a:r>
          </a:p>
        </p:txBody>
      </p:sp>
      <p:sp>
        <p:nvSpPr>
          <p:cNvPr id="10" name="瀏覽器">
            <a:extLst xmlns:a="http://schemas.openxmlformats.org/drawingml/2006/main">
              <a:ext uri="{FF2B5EF4-FFF2-40B4-BE49-F238E27FC236}">
                <a16:creationId xmlns:a16="http://schemas.microsoft.com/office/drawing/2014/main" id="{EBB5049B-6F0D-4E96-8046-1FFCCB1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11" name="開啟 http://127.0.0.1:8000/ 檢查網站。">
            <a:extLst xmlns:a="http://schemas.openxmlformats.org/drawingml/2006/main">
              <a:ext uri="{FF2B5EF4-FFF2-40B4-BE49-F238E27FC236}">
                <a16:creationId xmlns:a16="http://schemas.microsoft.com/office/drawing/2014/main" id="{11CBA5ED-4C2D-44D1-B753-265A66D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開啟 http://127.0.0.1:8000/ 檢查網站。</a:t>
            </a:r>
          </a:p>
        </p:txBody>
      </p:sp>
      <p:sp>
        <p:nvSpPr>
          <p:cNvPr id="12" name="範例指令以 Windows PowerShell 為主。">
            <a:extLst xmlns:a="http://schemas.openxmlformats.org/drawingml/2006/main">
              <a:ext uri="{FF2B5EF4-FFF2-40B4-BE49-F238E27FC236}">
                <a16:creationId xmlns:a16="http://schemas.microsoft.com/office/drawing/2014/main" id="{02520DE1-9730-4BFA-AD78-DBFA9757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範例指令以 Windows PowerShell 為主。</a:t>
            </a:r>
          </a:p>
        </p:txBody>
      </p:sp>
    </p:spTree>
    <p:extLst>
      <p:ext uri="{BB962C8B-B14F-4D97-AF65-F5344CB8AC3E}">
        <p14:creationId xmlns:p14="http://schemas.microsoft.com/office/powerpoint/2010/main" val="1693951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立工作目錄與虛擬環境">
            <a:extLst xmlns:a="http://schemas.openxmlformats.org/drawingml/2006/main">
              <a:ext uri="{FF2B5EF4-FFF2-40B4-BE49-F238E27FC236}">
                <a16:creationId xmlns:a16="http://schemas.microsoft.com/office/drawing/2014/main" id="{E2F0E2FD-C557-45B7-93D8-5DD9647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建立工作目錄與虛擬環境</a:t>
            </a:r>
          </a:p>
        </p:txBody>
      </p:sp>
      <p:sp>
        <p:nvSpPr>
          <p:cNvPr id="2" name="PowerShell：先選擇要存放專案的位置">
            <a:extLst xmlns:a="http://schemas.openxmlformats.org/drawingml/2006/main">
              <a:ext uri="{FF2B5EF4-FFF2-40B4-BE49-F238E27FC236}">
                <a16:creationId xmlns:a16="http://schemas.microsoft.com/office/drawing/2014/main" id="{8473C6CC-3EF9-47DE-92FD-B364143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PowerShell：先選擇要存放專案的位置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6698893D-9367-4342-968B-521E8695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mkdir django_shop">
            <a:extLst xmlns:a="http://schemas.openxmlformats.org/drawingml/2006/main">
              <a:ext uri="{FF2B5EF4-FFF2-40B4-BE49-F238E27FC236}">
                <a16:creationId xmlns:a16="http://schemas.microsoft.com/office/drawing/2014/main" id="{00DA5B04-8C1C-4A48-B92E-0DD69A0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mkdir django_shop</a:t>
            </a:r>
          </a:p>
        </p:txBody>
      </p:sp>
      <p:sp>
        <p:nvSpPr>
          <p:cNvPr id="5" name="cd django_shop">
            <a:extLst xmlns:a="http://schemas.openxmlformats.org/drawingml/2006/main">
              <a:ext uri="{FF2B5EF4-FFF2-40B4-BE49-F238E27FC236}">
                <a16:creationId xmlns:a16="http://schemas.microsoft.com/office/drawing/2014/main" id="{63EB96BE-85F0-4581-A07C-28A6F65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cd django_shop</a:t>
            </a:r>
          </a:p>
        </p:txBody>
      </p:sp>
      <p:sp>
        <p:nvSpPr>
          <p:cNvPr id="6" name="python --version">
            <a:extLst xmlns:a="http://schemas.openxmlformats.org/drawingml/2006/main">
              <a:ext uri="{FF2B5EF4-FFF2-40B4-BE49-F238E27FC236}">
                <a16:creationId xmlns:a16="http://schemas.microsoft.com/office/drawing/2014/main" id="{B1A170C9-A34B-4597-88F2-E338FFC8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--version</a:t>
            </a:r>
          </a:p>
        </p:txBody>
      </p:sp>
      <p:sp>
        <p:nvSpPr>
          <p:cNvPr id="7" name="python -m venv .venv">
            <a:extLst xmlns:a="http://schemas.openxmlformats.org/drawingml/2006/main">
              <a:ext uri="{FF2B5EF4-FFF2-40B4-BE49-F238E27FC236}">
                <a16:creationId xmlns:a16="http://schemas.microsoft.com/office/drawing/2014/main" id="{4E6A156A-2B6A-4363-9587-433A456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-m venv .venv</a:t>
            </a:r>
          </a:p>
        </p:txBody>
      </p:sp>
      <p:sp>
        <p:nvSpPr>
          <p:cNvPr id="8" name=".\.venv\Scripts\Activate.ps1">
            <a:extLst xmlns:a="http://schemas.openxmlformats.org/drawingml/2006/main">
              <a:ext uri="{FF2B5EF4-FFF2-40B4-BE49-F238E27FC236}">
                <a16:creationId xmlns:a16="http://schemas.microsoft.com/office/drawing/2014/main" id="{E7AF1C92-241F-4524-AEE6-747BAD0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.\.venv\Scripts\Activate.ps1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5D35C-8A10-44E3-80E9-5DF102B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ython -c &quot;import sys; print(sys.executable)&quot;">
            <a:extLst xmlns:a="http://schemas.openxmlformats.org/drawingml/2006/main">
              <a:ext uri="{FF2B5EF4-FFF2-40B4-BE49-F238E27FC236}">
                <a16:creationId xmlns:a16="http://schemas.microsoft.com/office/drawing/2014/main" id="{AC8B05FC-B3D8-48CC-A20E-A7A141B7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-c "import sys; print(sys.executable)"</a:t>
            </a:r>
          </a:p>
        </p:txBody>
      </p:sp>
      <p:sp>
        <p:nvSpPr>
          <p:cNvPr id="11" name="確認執行環境">
            <a:extLst xmlns:a="http://schemas.openxmlformats.org/drawingml/2006/main">
              <a:ext uri="{FF2B5EF4-FFF2-40B4-BE49-F238E27FC236}">
                <a16:creationId xmlns:a16="http://schemas.microsoft.com/office/drawing/2014/main" id="{499387ED-26E3-403E-9AE7-C9E7CDC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確認執行環境</a:t>
            </a:r>
          </a:p>
        </p:txBody>
      </p:sp>
      <p:sp>
        <p:nvSpPr>
          <p:cNvPr id="12" name="最後一行應顯示 .venv 裡的 Python 路徑。">
            <a:extLst xmlns:a="http://schemas.openxmlformats.org/drawingml/2006/main">
              <a:ext uri="{FF2B5EF4-FFF2-40B4-BE49-F238E27FC236}">
                <a16:creationId xmlns:a16="http://schemas.microsoft.com/office/drawing/2014/main" id="{FA8D35B6-A9A4-4D89-866D-89E7A7F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最後一行應顯示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.venv 裡的 Python 路徑。</a:t>
            </a:r>
          </a:p>
        </p:txBody>
      </p:sp>
      <p:sp>
        <p:nvSpPr>
          <p:cNvPr id="13" name="無法啟用時">
            <a:extLst xmlns:a="http://schemas.openxmlformats.org/drawingml/2006/main">
              <a:ext uri="{FF2B5EF4-FFF2-40B4-BE49-F238E27FC236}">
                <a16:creationId xmlns:a16="http://schemas.microsoft.com/office/drawing/2014/main" id="{3BD43891-3E28-49F1-BD97-C0D2706E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無法啟用時</a:t>
            </a:r>
          </a:p>
        </p:txBody>
      </p:sp>
      <p:sp>
        <p:nvSpPr>
          <p:cNvPr id="14" name="可直接執行 .\.venv\Scripts\python.exe 搭配後續命令。">
            <a:extLst xmlns:a="http://schemas.openxmlformats.org/drawingml/2006/main">
              <a:ext uri="{FF2B5EF4-FFF2-40B4-BE49-F238E27FC236}">
                <a16:creationId xmlns:a16="http://schemas.microsoft.com/office/drawing/2014/main" id="{B3D870B4-E84B-4BF1-9429-A6AC1D2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可直接執行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.\.venv\Scripts\python.exe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搭配後續命令。</a:t>
            </a:r>
          </a:p>
        </p:txBody>
      </p:sp>
      <p:sp>
        <p:nvSpPr>
          <p:cNvPr id="15" name="macOS / Linux：python3 -m venv .venv，再執行 source .venv/bin/activate。">
            <a:extLst xmlns:a="http://schemas.openxmlformats.org/drawingml/2006/main">
              <a:ext uri="{FF2B5EF4-FFF2-40B4-BE49-F238E27FC236}">
                <a16:creationId xmlns:a16="http://schemas.microsoft.com/office/drawing/2014/main" id="{1518E608-D826-439D-B6D3-ECF087E9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macOS / Linux：python3 -m venv .venv，再執行 source .venv/bin/activate。</a:t>
            </a:r>
          </a:p>
        </p:txBody>
      </p:sp>
    </p:spTree>
    <p:extLst>
      <p:ext uri="{BB962C8B-B14F-4D97-AF65-F5344CB8AC3E}">
        <p14:creationId xmlns:p14="http://schemas.microsoft.com/office/powerpoint/2010/main" val="787787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安裝 Django 與記錄依賴">
            <a:extLst xmlns:a="http://schemas.openxmlformats.org/drawingml/2006/main">
              <a:ext uri="{FF2B5EF4-FFF2-40B4-BE49-F238E27FC236}">
                <a16:creationId xmlns:a16="http://schemas.microsoft.com/office/drawing/2014/main" id="{F1EF1E8F-AE3E-4D54-B4AF-0BAA40A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安裝 Django 與記錄依賴</a:t>
            </a:r>
          </a:p>
        </p:txBody>
      </p:sp>
      <p:sp>
        <p:nvSpPr>
          <p:cNvPr id="2" name="後續命令都在已啟用的虛擬環境中執行">
            <a:extLst xmlns:a="http://schemas.openxmlformats.org/drawingml/2006/main">
              <a:ext uri="{FF2B5EF4-FFF2-40B4-BE49-F238E27FC236}">
                <a16:creationId xmlns:a16="http://schemas.microsoft.com/office/drawing/2014/main" id="{CB279F81-CF54-41DC-9977-6EA9697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後續命令都在已啟用的虛擬環境中執行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4EFD05E-C6F8-4FA2-8B1E-9BD3CD50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python -m pip install &quot;Django&gt;=5.2,&lt;5.3&quot;">
            <a:extLst xmlns:a="http://schemas.openxmlformats.org/drawingml/2006/main">
              <a:ext uri="{FF2B5EF4-FFF2-40B4-BE49-F238E27FC236}">
                <a16:creationId xmlns:a16="http://schemas.microsoft.com/office/drawing/2014/main" id="{52B9148D-AC3E-4234-801F-9909E8B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pip install "Django&gt;=5.2,&lt;5.3"</a:t>
            </a:r>
          </a:p>
        </p:txBody>
      </p:sp>
      <p:sp>
        <p:nvSpPr>
          <p:cNvPr id="5" name="python -m django --version">
            <a:extLst xmlns:a="http://schemas.openxmlformats.org/drawingml/2006/main">
              <a:ext uri="{FF2B5EF4-FFF2-40B4-BE49-F238E27FC236}">
                <a16:creationId xmlns:a16="http://schemas.microsoft.com/office/drawing/2014/main" id="{0524F578-3BBA-43B3-93C9-160EBAD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django --version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D3176-BD12-460B-AC7F-65D863D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requirements.txt 的內容">
            <a:extLst xmlns:a="http://schemas.openxmlformats.org/drawingml/2006/main">
              <a:ext uri="{FF2B5EF4-FFF2-40B4-BE49-F238E27FC236}">
                <a16:creationId xmlns:a16="http://schemas.microsoft.com/office/drawing/2014/main" id="{2D75B754-A2D0-46AD-8E24-7352BB3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requirements.txt 的內容</a:t>
            </a:r>
          </a:p>
        </p:txBody>
      </p:sp>
      <p:sp>
        <p:nvSpPr>
          <p:cNvPr id="8" name="Django&gt;=5.2,&lt;5.3">
            <a:extLst xmlns:a="http://schemas.openxmlformats.org/drawingml/2006/main">
              <a:ext uri="{FF2B5EF4-FFF2-40B4-BE49-F238E27FC236}">
                <a16:creationId xmlns:a16="http://schemas.microsoft.com/office/drawing/2014/main" id="{237120B6-B11F-4E1F-98E3-99FD829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Django&gt;=5.2,&lt;5.3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C1F05-FF0D-4B8E-8CE0-C093AA89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取得別人的專案後，安裝所需套件">
            <a:extLst xmlns:a="http://schemas.openxmlformats.org/drawingml/2006/main">
              <a:ext uri="{FF2B5EF4-FFF2-40B4-BE49-F238E27FC236}">
                <a16:creationId xmlns:a16="http://schemas.microsoft.com/office/drawing/2014/main" id="{642ABED2-E03D-411C-ADEC-C48A02C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取得別人的專案後，安裝所需套件</a:t>
            </a:r>
          </a:p>
        </p:txBody>
      </p:sp>
      <p:sp>
        <p:nvSpPr>
          <p:cNvPr id="11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F52999E4-2C72-4CFB-9D1B-115907D8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12" name="版本範圍">
            <a:extLst xmlns:a="http://schemas.openxmlformats.org/drawingml/2006/main">
              <a:ext uri="{FF2B5EF4-FFF2-40B4-BE49-F238E27FC236}">
                <a16:creationId xmlns:a16="http://schemas.microsoft.com/office/drawing/2014/main" id="{C06965D5-642E-4AE7-BB43-9954532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版本範圍</a:t>
            </a:r>
          </a:p>
        </p:txBody>
      </p:sp>
      <p:sp>
        <p:nvSpPr>
          <p:cNvPr id="13" name="固定使用 5.2 系列， 保留更新修補版的空間。">
            <a:extLst xmlns:a="http://schemas.openxmlformats.org/drawingml/2006/main">
              <a:ext uri="{FF2B5EF4-FFF2-40B4-BE49-F238E27FC236}">
                <a16:creationId xmlns:a16="http://schemas.microsoft.com/office/drawing/2014/main" id="{6918B897-B064-4703-B53E-DD5865D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固定使用 5.2 系列，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保留更新修補版的空間。</a:t>
            </a:r>
          </a:p>
        </p:txBody>
      </p:sp>
      <p:sp>
        <p:nvSpPr>
          <p:cNvPr id="14" name="檔案用途">
            <a:extLst xmlns:a="http://schemas.openxmlformats.org/drawingml/2006/main">
              <a:ext uri="{FF2B5EF4-FFF2-40B4-BE49-F238E27FC236}">
                <a16:creationId xmlns:a16="http://schemas.microsoft.com/office/drawing/2014/main" id="{478AB24A-97B3-428C-A920-1E5B224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檔案用途</a:t>
            </a:r>
          </a:p>
        </p:txBody>
      </p:sp>
      <p:sp>
        <p:nvSpPr>
          <p:cNvPr id="15" name="requirements.txt 自行建立。 記錄套件需求， 不是 Django 自動產生。">
            <a:extLst xmlns:a="http://schemas.openxmlformats.org/drawingml/2006/main">
              <a:ext uri="{FF2B5EF4-FFF2-40B4-BE49-F238E27FC236}">
                <a16:creationId xmlns:a16="http://schemas.microsoft.com/office/drawing/2014/main" id="{F0DAF4AB-2651-44CB-B022-EA9B331B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requirements.txt 自行建立。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記錄套件需求，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不是 Django 自動產生。</a:t>
            </a:r>
          </a:p>
        </p:txBody>
      </p:sp>
      <p:sp>
        <p:nvSpPr>
          <p:cNvPr id="16" name="查詢套件：python -m pip show Django。">
            <a:extLst xmlns:a="http://schemas.openxmlformats.org/drawingml/2006/main">
              <a:ext uri="{FF2B5EF4-FFF2-40B4-BE49-F238E27FC236}">
                <a16:creationId xmlns:a16="http://schemas.microsoft.com/office/drawing/2014/main" id="{6B9F1DC8-5C6D-4E18-AF30-41616D7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查詢套件：python -m pip show Django。</a:t>
            </a:r>
          </a:p>
        </p:txBody>
      </p:sp>
    </p:spTree>
    <p:extLst>
      <p:ext uri="{BB962C8B-B14F-4D97-AF65-F5344CB8AC3E}">
        <p14:creationId xmlns:p14="http://schemas.microsoft.com/office/powerpoint/2010/main" val="958531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建立 Django project">
            <a:extLst xmlns:a="http://schemas.openxmlformats.org/drawingml/2006/main">
              <a:ext uri="{FF2B5EF4-FFF2-40B4-BE49-F238E27FC236}">
                <a16:creationId xmlns:a16="http://schemas.microsoft.com/office/drawing/2014/main" id="{85EDF3EC-4EF3-4470-9C32-9F410CE9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建立 Django project</a:t>
            </a:r>
          </a:p>
        </p:txBody>
      </p:sp>
      <p:sp>
        <p:nvSpPr>
          <p:cNvPr id="2" name="在 django_shop 目錄執行">
            <a:extLst xmlns:a="http://schemas.openxmlformats.org/drawingml/2006/main">
              <a:ext uri="{FF2B5EF4-FFF2-40B4-BE49-F238E27FC236}">
                <a16:creationId xmlns:a16="http://schemas.microsoft.com/office/drawing/2014/main" id="{FCEECFC4-A249-4AE5-8159-7DA3DCBB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在 django_shop 目錄執行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BF039572-2121-4F17-BEC7-2A0246D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python -m django startproject config .">
            <a:extLst xmlns:a="http://schemas.openxmlformats.org/drawingml/2006/main">
              <a:ext uri="{FF2B5EF4-FFF2-40B4-BE49-F238E27FC236}">
                <a16:creationId xmlns:a16="http://schemas.microsoft.com/office/drawing/2014/main" id="{5F4949AB-AE5A-411E-920A-21512F6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-m django startproject config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85770-C53E-45B5-A696-EC38FBD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jango_shop/">
            <a:extLst xmlns:a="http://schemas.openxmlformats.org/drawingml/2006/main">
              <a:ext uri="{FF2B5EF4-FFF2-40B4-BE49-F238E27FC236}">
                <a16:creationId xmlns:a16="http://schemas.microsoft.com/office/drawing/2014/main" id="{9E19979B-3A05-4FFB-90A8-5BE68AF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django_shop/</a:t>
            </a:r>
          </a:p>
        </p:txBody>
      </p:sp>
      <p:sp>
        <p:nvSpPr>
          <p:cNvPr id="7" name="    manage.py">
            <a:extLst xmlns:a="http://schemas.openxmlformats.org/drawingml/2006/main">
              <a:ext uri="{FF2B5EF4-FFF2-40B4-BE49-F238E27FC236}">
                <a16:creationId xmlns:a16="http://schemas.microsoft.com/office/drawing/2014/main" id="{432058F5-86BD-4BCD-8FC0-5D5628E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manage.py</a:t>
            </a:r>
          </a:p>
        </p:txBody>
      </p:sp>
      <p:sp>
        <p:nvSpPr>
          <p:cNvPr id="8" name="    config/">
            <a:extLst xmlns:a="http://schemas.openxmlformats.org/drawingml/2006/main">
              <a:ext uri="{FF2B5EF4-FFF2-40B4-BE49-F238E27FC236}">
                <a16:creationId xmlns:a16="http://schemas.microsoft.com/office/drawing/2014/main" id="{6B68BBBD-6431-40AF-ACDB-ED2E4F3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config/</a:t>
            </a:r>
          </a:p>
        </p:txBody>
      </p:sp>
      <p:sp>
        <p:nvSpPr>
          <p:cNvPr id="9" name="        __init__.py">
            <a:extLst xmlns:a="http://schemas.openxmlformats.org/drawingml/2006/main">
              <a:ext uri="{FF2B5EF4-FFF2-40B4-BE49-F238E27FC236}">
                <a16:creationId xmlns:a16="http://schemas.microsoft.com/office/drawing/2014/main" id="{A0D2479C-1ACE-4684-829E-EF0A42FD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__init__.py</a:t>
            </a:r>
          </a:p>
        </p:txBody>
      </p:sp>
      <p:sp>
        <p:nvSpPr>
          <p:cNvPr id="10" name="        settings.py">
            <a:extLst xmlns:a="http://schemas.openxmlformats.org/drawingml/2006/main">
              <a:ext uri="{FF2B5EF4-FFF2-40B4-BE49-F238E27FC236}">
                <a16:creationId xmlns:a16="http://schemas.microsoft.com/office/drawing/2014/main" id="{2CE6C8D6-27D3-4BEF-8EA4-F3F9357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settings.py</a:t>
            </a:r>
          </a:p>
        </p:txBody>
      </p:sp>
      <p:sp>
        <p:nvSpPr>
          <p:cNvPr id="11" name="        urls.py">
            <a:extLst xmlns:a="http://schemas.openxmlformats.org/drawingml/2006/main">
              <a:ext uri="{FF2B5EF4-FFF2-40B4-BE49-F238E27FC236}">
                <a16:creationId xmlns:a16="http://schemas.microsoft.com/office/drawing/2014/main" id="{29BA1E3A-E1A0-4A5B-A615-948328F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urls.py</a:t>
            </a:r>
          </a:p>
        </p:txBody>
      </p:sp>
      <p:sp>
        <p:nvSpPr>
          <p:cNvPr id="12" name="        asgi.py">
            <a:extLst xmlns:a="http://schemas.openxmlformats.org/drawingml/2006/main">
              <a:ext uri="{FF2B5EF4-FFF2-40B4-BE49-F238E27FC236}">
                <a16:creationId xmlns:a16="http://schemas.microsoft.com/office/drawing/2014/main" id="{B31DC0F5-BEE8-40B5-9FF1-F23A5BE3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asgi.py</a:t>
            </a:r>
          </a:p>
        </p:txBody>
      </p:sp>
      <p:sp>
        <p:nvSpPr>
          <p:cNvPr id="13" name="        wsgi.py">
            <a:extLst xmlns:a="http://schemas.openxmlformats.org/drawingml/2006/main">
              <a:ext uri="{FF2B5EF4-FFF2-40B4-BE49-F238E27FC236}">
                <a16:creationId xmlns:a16="http://schemas.microsoft.com/office/drawing/2014/main" id="{5613B126-BF25-4F9C-9339-1D15B3CE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wsgi.py</a:t>
            </a:r>
          </a:p>
        </p:txBody>
      </p:sp>
      <p:sp>
        <p:nvSpPr>
          <p:cNvPr id="14" name="句點的意思">
            <a:extLst xmlns:a="http://schemas.openxmlformats.org/drawingml/2006/main">
              <a:ext uri="{FF2B5EF4-FFF2-40B4-BE49-F238E27FC236}">
                <a16:creationId xmlns:a16="http://schemas.microsoft.com/office/drawing/2014/main" id="{41B98178-6308-47A1-8FE8-2BE410E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句點的意思</a:t>
            </a:r>
          </a:p>
        </p:txBody>
      </p:sp>
      <p:sp>
        <p:nvSpPr>
          <p:cNvPr id="15" name="結尾的 . 表示使用目前目錄， 避免多包一層資料夾。">
            <a:extLst xmlns:a="http://schemas.openxmlformats.org/drawingml/2006/main">
              <a:ext uri="{FF2B5EF4-FFF2-40B4-BE49-F238E27FC236}">
                <a16:creationId xmlns:a16="http://schemas.microsoft.com/office/drawing/2014/main" id="{FF99C090-0B0B-40C3-8495-B63C261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結尾的 . 表示使用目前目錄，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避免多包一層資料夾。</a:t>
            </a:r>
          </a:p>
        </p:txBody>
      </p:sp>
      <p:sp>
        <p:nvSpPr>
          <p:cNvPr id="16" name="兩個名稱">
            <a:extLst xmlns:a="http://schemas.openxmlformats.org/drawingml/2006/main">
              <a:ext uri="{FF2B5EF4-FFF2-40B4-BE49-F238E27FC236}">
                <a16:creationId xmlns:a16="http://schemas.microsoft.com/office/drawing/2014/main" id="{822FD5BB-75B9-4279-A7A5-289D39D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兩個名稱</a:t>
            </a:r>
          </a:p>
        </p:txBody>
      </p:sp>
      <p:sp>
        <p:nvSpPr>
          <p:cNvPr id="17" name="django_shop 是工作目錄。 config 是專案設定套件， 名稱可以自行選擇。">
            <a:extLst xmlns:a="http://schemas.openxmlformats.org/drawingml/2006/main">
              <a:ext uri="{FF2B5EF4-FFF2-40B4-BE49-F238E27FC236}">
                <a16:creationId xmlns:a16="http://schemas.microsoft.com/office/drawing/2014/main" id="{F6DA37F4-114C-4CFF-9CBB-8F378E3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django_shop 是工作目錄。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config 是專案設定套件，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名稱可以自行選擇。</a:t>
            </a:r>
          </a:p>
        </p:txBody>
      </p:sp>
      <p:sp>
        <p:nvSpPr>
          <p:cNvPr id="18" name="上方為 startproject 新增的檔案，不包含先前建立的 .venv 與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86AA5982-3D0D-4851-98A4-8D80096F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上方為 startproject 新增的檔案，不包含先前建立的 .venv 與 requirements.txt。</a:t>
            </a:r>
          </a:p>
        </p:txBody>
      </p:sp>
    </p:spTree>
    <p:extLst>
      <p:ext uri="{BB962C8B-B14F-4D97-AF65-F5344CB8AC3E}">
        <p14:creationId xmlns:p14="http://schemas.microsoft.com/office/powerpoint/2010/main" val="1854785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ject 與 App 的差異">
            <a:extLst xmlns:a="http://schemas.openxmlformats.org/drawingml/2006/main">
              <a:ext uri="{FF2B5EF4-FFF2-40B4-BE49-F238E27FC236}">
                <a16:creationId xmlns:a16="http://schemas.microsoft.com/office/drawing/2014/main" id="{255D875E-C04B-4A59-974A-5A9DAE11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Project 與 App 的差異</a:t>
            </a:r>
          </a:p>
        </p:txBody>
      </p:sp>
      <p:sp>
        <p:nvSpPr>
          <p:cNvPr id="2" name="網站整體設定與業務功能分開">
            <a:extLst xmlns:a="http://schemas.openxmlformats.org/drawingml/2006/main">
              <a:ext uri="{FF2B5EF4-FFF2-40B4-BE49-F238E27FC236}">
                <a16:creationId xmlns:a16="http://schemas.microsoft.com/office/drawing/2014/main" id="{A913FDF5-9735-40FF-8EA2-923026A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網站整體設定與業務功能分開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7DCDEE5-B334-47C7-B505-6B883CA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29150"/>
                <a:gridCol w="46291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Project：config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App：catalog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網站的整體組態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一組相關的業務功能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常見內容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設定、總路由、伺服器入口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模型、view、表單、模板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建立命令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startproject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startapp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關係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整合多個 app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可以在不同 project 重用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教材先建立一個 project，再加入一個 catalog app。">
            <a:extLst xmlns:a="http://schemas.openxmlformats.org/drawingml/2006/main">
              <a:ext uri="{FF2B5EF4-FFF2-40B4-BE49-F238E27FC236}">
                <a16:creationId xmlns:a16="http://schemas.microsoft.com/office/drawing/2014/main" id="{DB388E7D-B178-4C4A-8FB0-56C14839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本教材先建立一個 project，再加入一個 catalog app。</a:t>
            </a:r>
          </a:p>
        </p:txBody>
      </p:sp>
    </p:spTree>
    <p:extLst>
      <p:ext uri="{BB962C8B-B14F-4D97-AF65-F5344CB8AC3E}">
        <p14:creationId xmlns:p14="http://schemas.microsoft.com/office/powerpoint/2010/main" val="449815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nage.py：專案的命令入口">
            <a:extLst xmlns:a="http://schemas.openxmlformats.org/drawingml/2006/main">
              <a:ext uri="{FF2B5EF4-FFF2-40B4-BE49-F238E27FC236}">
                <a16:creationId xmlns:a16="http://schemas.microsoft.com/office/drawing/2014/main" id="{53D710B0-4A91-442A-8E31-44DECBE0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manage.py：專案的命令入口</a:t>
            </a:r>
          </a:p>
        </p:txBody>
      </p:sp>
      <p:sp>
        <p:nvSpPr>
          <p:cNvPr id="2" name="位於工作目錄，通常保留產生時的內容">
            <a:extLst xmlns:a="http://schemas.openxmlformats.org/drawingml/2006/main">
              <a:ext uri="{FF2B5EF4-FFF2-40B4-BE49-F238E27FC236}">
                <a16:creationId xmlns:a16="http://schemas.microsoft.com/office/drawing/2014/main" id="{3A312ABB-C8A9-4F74-953F-F7B82B5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位於工作目錄，通常保留產生時的內容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E52DA593-A6E5-4841-AE3A-F1EB446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python manage.py check">
            <a:extLst xmlns:a="http://schemas.openxmlformats.org/drawingml/2006/main">
              <a:ext uri="{FF2B5EF4-FFF2-40B4-BE49-F238E27FC236}">
                <a16:creationId xmlns:a16="http://schemas.microsoft.com/office/drawing/2014/main" id="{76B6C082-DE94-45EE-B19B-D77292A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check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5D7C6E00-FFB0-4714-B9F2-C1FE38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python manage.py startapp catalog">
            <a:extLst xmlns:a="http://schemas.openxmlformats.org/drawingml/2006/main">
              <a:ext uri="{FF2B5EF4-FFF2-40B4-BE49-F238E27FC236}">
                <a16:creationId xmlns:a16="http://schemas.microsoft.com/office/drawing/2014/main" id="{80F27D19-6AD8-4248-AC4E-4894D321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startapp catalog</a:t>
            </a:r>
          </a:p>
        </p:txBody>
      </p:sp>
      <p:sp>
        <p:nvSpPr>
          <p:cNvPr id="7" name="python manage.py makemigrations">
            <a:extLst xmlns:a="http://schemas.openxmlformats.org/drawingml/2006/main">
              <a:ext uri="{FF2B5EF4-FFF2-40B4-BE49-F238E27FC236}">
                <a16:creationId xmlns:a16="http://schemas.microsoft.com/office/drawing/2014/main" id="{CBCE6E1D-4D26-44FC-B844-4AB4819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makemigrations</a:t>
            </a:r>
          </a:p>
        </p:txBody>
      </p:sp>
      <p:sp>
        <p:nvSpPr>
          <p:cNvPr id="8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DD44DF01-B9F6-497C-A36C-5116096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9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C39E6053-B5D5-470B-AB69-421EC0A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10" name="python manage.py shell">
            <a:extLst xmlns:a="http://schemas.openxmlformats.org/drawingml/2006/main">
              <a:ext uri="{FF2B5EF4-FFF2-40B4-BE49-F238E27FC236}">
                <a16:creationId xmlns:a16="http://schemas.microsoft.com/office/drawing/2014/main" id="{A1655FDA-8F5A-475B-8E4F-3F0E6FD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shell</a:t>
            </a:r>
          </a:p>
        </p:txBody>
      </p:sp>
      <p:sp>
        <p:nvSpPr>
          <p:cNvPr id="11" name="python manage.py test">
            <a:extLst xmlns:a="http://schemas.openxmlformats.org/drawingml/2006/main">
              <a:ext uri="{FF2B5EF4-FFF2-40B4-BE49-F238E27FC236}">
                <a16:creationId xmlns:a16="http://schemas.microsoft.com/office/drawing/2014/main" id="{FE527ABE-FED3-4C15-A0E1-CB0AED56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test</a:t>
            </a:r>
          </a:p>
        </p:txBody>
      </p:sp>
      <p:sp>
        <p:nvSpPr>
          <p:cNvPr id="12" name="它做什麼">
            <a:extLst xmlns:a="http://schemas.openxmlformats.org/drawingml/2006/main">
              <a:ext uri="{FF2B5EF4-FFF2-40B4-BE49-F238E27FC236}">
                <a16:creationId xmlns:a16="http://schemas.microsoft.com/office/drawing/2014/main" id="{5A52B9AA-11AF-4EA2-94CF-2E17287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它做什麼</a:t>
            </a:r>
          </a:p>
        </p:txBody>
      </p:sp>
      <p:sp>
        <p:nvSpPr>
          <p:cNvPr id="13" name="載入 config.settings 設定， 將命令交給 Django 執行。 通常不需修改此入口檔。">
            <a:extLst xmlns:a="http://schemas.openxmlformats.org/drawingml/2006/main">
              <a:ext uri="{FF2B5EF4-FFF2-40B4-BE49-F238E27FC236}">
                <a16:creationId xmlns:a16="http://schemas.microsoft.com/office/drawing/2014/main" id="{80F33F61-3DD3-42AD-A96E-A2393B16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載入 config.settings 設定，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將命令交給 Django 執行。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通常不需修改此入口檔。</a:t>
            </a:r>
          </a:p>
        </p:txBody>
      </p:sp>
      <p:sp>
        <p:nvSpPr>
          <p:cNvPr id="14" name="操作位置">
            <a:extLst xmlns:a="http://schemas.openxmlformats.org/drawingml/2006/main">
              <a:ext uri="{FF2B5EF4-FFF2-40B4-BE49-F238E27FC236}">
                <a16:creationId xmlns:a16="http://schemas.microsoft.com/office/drawing/2014/main" id="{5352E48C-0BB8-4303-9973-0FD045E5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操作位置</a:t>
            </a:r>
          </a:p>
        </p:txBody>
      </p:sp>
      <p:sp>
        <p:nvSpPr>
          <p:cNvPr id="15" name="執行命令時，工作目錄應 包含 manage.py， 否則必須提供完整路徑。">
            <a:extLst xmlns:a="http://schemas.openxmlformats.org/drawingml/2006/main">
              <a:ext uri="{FF2B5EF4-FFF2-40B4-BE49-F238E27FC236}">
                <a16:creationId xmlns:a16="http://schemas.microsoft.com/office/drawing/2014/main" id="{D8369F2A-D529-41D0-A7E7-0A84DF01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執行命令時，工作目錄應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包含 manage.py，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否則必須提供完整路徑。</a:t>
            </a:r>
          </a:p>
        </p:txBody>
      </p:sp>
      <p:sp>
        <p:nvSpPr>
          <p:cNvPr id="16" name="它是操作工具，業務邏輯通常放在 app 中。">
            <a:extLst xmlns:a="http://schemas.openxmlformats.org/drawingml/2006/main">
              <a:ext uri="{FF2B5EF4-FFF2-40B4-BE49-F238E27FC236}">
                <a16:creationId xmlns:a16="http://schemas.microsoft.com/office/drawing/2014/main" id="{0674C39A-3C4F-47CD-8E96-B6E2E58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它是操作工具，業務邏輯通常放在 app 中。</a:t>
            </a:r>
          </a:p>
        </p:txBody>
      </p:sp>
    </p:spTree>
    <p:extLst>
      <p:ext uri="{BB962C8B-B14F-4D97-AF65-F5344CB8AC3E}">
        <p14:creationId xmlns:p14="http://schemas.microsoft.com/office/powerpoint/2010/main" val="1496263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__init__.py：Python 套件標記">
            <a:extLst xmlns:a="http://schemas.openxmlformats.org/drawingml/2006/main">
              <a:ext uri="{FF2B5EF4-FFF2-40B4-BE49-F238E27FC236}">
                <a16:creationId xmlns:a16="http://schemas.microsoft.com/office/drawing/2014/main" id="{51879DE7-31D3-49C1-ADE8-A87DAA5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__init__.py：Python 套件標記</a:t>
            </a:r>
          </a:p>
        </p:txBody>
      </p:sp>
      <p:sp>
        <p:nvSpPr>
          <p:cNvPr id="2" name="config、catalog、migrations 內都會出現">
            <a:extLst xmlns:a="http://schemas.openxmlformats.org/drawingml/2006/main">
              <a:ext uri="{FF2B5EF4-FFF2-40B4-BE49-F238E27FC236}">
                <a16:creationId xmlns:a16="http://schemas.microsoft.com/office/drawing/2014/main" id="{1D76B00B-781B-4E8F-AC21-6627DB9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config、catalog、migrations 內都會出現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3FB35C37-7B1A-4B5D-A858-EBDC487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config/__init__.py">
            <a:extLst xmlns:a="http://schemas.openxmlformats.org/drawingml/2006/main">
              <a:ext uri="{FF2B5EF4-FFF2-40B4-BE49-F238E27FC236}">
                <a16:creationId xmlns:a16="http://schemas.microsoft.com/office/drawing/2014/main" id="{CCFF4EFF-80BC-44D0-B829-20E9146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config/__init__.py</a:t>
            </a:r>
          </a:p>
        </p:txBody>
      </p:sp>
      <p:sp>
        <p:nvSpPr>
          <p:cNvPr id="5" name="讓 config 成為一般 Python 套件，例如匯入 config.settings。">
            <a:extLst xmlns:a="http://schemas.openxmlformats.org/drawingml/2006/main">
              <a:ext uri="{FF2B5EF4-FFF2-40B4-BE49-F238E27FC236}">
                <a16:creationId xmlns:a16="http://schemas.microsoft.com/office/drawing/2014/main" id="{6104CA63-E1CE-423C-8035-C2B7374F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讓 config 成為一般 Python 套件，例如匯入 config.settings。</a:t>
            </a:r>
          </a:p>
        </p:txBody>
      </p:sp>
      <p:sp>
        <p:nvSpPr>
          <p:cNvPr id="6" name="catalog/__init__.py">
            <a:extLst xmlns:a="http://schemas.openxmlformats.org/drawingml/2006/main">
              <a:ext uri="{FF2B5EF4-FFF2-40B4-BE49-F238E27FC236}">
                <a16:creationId xmlns:a16="http://schemas.microsoft.com/office/drawing/2014/main" id="{30E0BF76-F9B5-474F-925B-6C8D825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catalog/__init__.py</a:t>
            </a:r>
          </a:p>
        </p:txBody>
      </p:sp>
      <p:sp>
        <p:nvSpPr>
          <p:cNvPr id="7" name="標示 app 的 Python 套件，通常保持空白。">
            <a:extLst xmlns:a="http://schemas.openxmlformats.org/drawingml/2006/main">
              <a:ext uri="{FF2B5EF4-FFF2-40B4-BE49-F238E27FC236}">
                <a16:creationId xmlns:a16="http://schemas.microsoft.com/office/drawing/2014/main" id="{DBCB8398-BB28-4E08-90F9-D9BB9DC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標示 app 的 Python 套件，通常保持空白。</a:t>
            </a:r>
          </a:p>
        </p:txBody>
      </p:sp>
      <p:sp>
        <p:nvSpPr>
          <p:cNvPr id="8" name="migrations/__init__.py">
            <a:extLst xmlns:a="http://schemas.openxmlformats.org/drawingml/2006/main">
              <a:ext uri="{FF2B5EF4-FFF2-40B4-BE49-F238E27FC236}">
                <a16:creationId xmlns:a16="http://schemas.microsoft.com/office/drawing/2014/main" id="{C12D8E30-89F1-4B32-89E8-2C20382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migrations/__init__.py</a:t>
            </a:r>
          </a:p>
        </p:txBody>
      </p:sp>
      <p:sp>
        <p:nvSpPr>
          <p:cNvPr id="9" name="標示 migration 模組所在的套件，與遷移檔一起保留。">
            <a:extLst xmlns:a="http://schemas.openxmlformats.org/drawingml/2006/main">
              <a:ext uri="{FF2B5EF4-FFF2-40B4-BE49-F238E27FC236}">
                <a16:creationId xmlns:a16="http://schemas.microsoft.com/office/drawing/2014/main" id="{97EB956E-FB7E-41A0-9A7C-2CECA0A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標示 migration 模組所在的套件，與遷移檔一起保留。</a:t>
            </a:r>
          </a:p>
        </p:txBody>
      </p:sp>
      <p:sp>
        <p:nvSpPr>
          <p:cNvPr id="10" name="與 __init__ 的差別">
            <a:extLst xmlns:a="http://schemas.openxmlformats.org/drawingml/2006/main">
              <a:ext uri="{FF2B5EF4-FFF2-40B4-BE49-F238E27FC236}">
                <a16:creationId xmlns:a16="http://schemas.microsoft.com/office/drawing/2014/main" id="{3E1A8CFB-1C56-4FD7-B167-4EC9759C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與 __init__ 的差別</a:t>
            </a:r>
          </a:p>
        </p:txBody>
      </p:sp>
      <p:sp>
        <p:nvSpPr>
          <p:cNvPr id="11" name="__init__.py 是檔名；class 的 __init__() 是實例初始化方法。">
            <a:extLst xmlns:a="http://schemas.openxmlformats.org/drawingml/2006/main">
              <a:ext uri="{FF2B5EF4-FFF2-40B4-BE49-F238E27FC236}">
                <a16:creationId xmlns:a16="http://schemas.microsoft.com/office/drawing/2014/main" id="{9394A133-358C-42A2-B80A-8693442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__init__.py 是檔名；class 的 __init__() 是實例初始化方法。</a:t>
            </a:r>
          </a:p>
        </p:txBody>
      </p:sp>
      <p:sp>
        <p:nvSpPr>
          <p:cNvPr id="12" name="這些空檔案有結構上的用途，不需要為了「填滿」而加入程式。">
            <a:extLst xmlns:a="http://schemas.openxmlformats.org/drawingml/2006/main">
              <a:ext uri="{FF2B5EF4-FFF2-40B4-BE49-F238E27FC236}">
                <a16:creationId xmlns:a16="http://schemas.microsoft.com/office/drawing/2014/main" id="{540B1988-919E-407F-A0D1-31C1C49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這些空檔案有結構上的用途，不需要為了「填滿」而加入程式。</a:t>
            </a:r>
          </a:p>
        </p:txBody>
      </p:sp>
    </p:spTree>
    <p:extLst>
      <p:ext uri="{BB962C8B-B14F-4D97-AF65-F5344CB8AC3E}">
        <p14:creationId xmlns:p14="http://schemas.microsoft.com/office/powerpoint/2010/main" val="505581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ttings.py：網站設定中心">
            <a:extLst xmlns:a="http://schemas.openxmlformats.org/drawingml/2006/main">
              <a:ext uri="{FF2B5EF4-FFF2-40B4-BE49-F238E27FC236}">
                <a16:creationId xmlns:a16="http://schemas.microsoft.com/office/drawing/2014/main" id="{DC8D983E-42F2-4B52-805E-12D94B6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settings.py：網站設定中心</a:t>
            </a:r>
          </a:p>
        </p:txBody>
      </p:sp>
      <p:sp>
        <p:nvSpPr>
          <p:cNvPr id="2" name="先認識每個設定負責的事情">
            <a:extLst xmlns:a="http://schemas.openxmlformats.org/drawingml/2006/main">
              <a:ext uri="{FF2B5EF4-FFF2-40B4-BE49-F238E27FC236}">
                <a16:creationId xmlns:a16="http://schemas.microsoft.com/office/drawing/2014/main" id="{946158AE-62BD-4A71-8CD9-4D3D7E0F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先認識每個設定負責的事情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7B6632E1-AE40-469A-AF55-B63B19E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4333875"/>
                <a:gridCol w="36861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設定名稱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本範例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BASE_DIR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組合專案內的檔案路徑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工作目錄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INSTALLED_APPS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啟用 app 與 Django 內建功能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CatalogConfig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ROOT_URLCONF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指定網站總路由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config.urls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DATABASES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資料庫連線設定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SQLite / db.sqlite3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TEMPLATES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模板引擎與搜尋方式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APP_DIRS=True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設定值是 Python 物件，字串、list 與 dict 都有各自語法。">
            <a:extLst xmlns:a="http://schemas.openxmlformats.org/drawingml/2006/main">
              <a:ext uri="{FF2B5EF4-FFF2-40B4-BE49-F238E27FC236}">
                <a16:creationId xmlns:a16="http://schemas.microsoft.com/office/drawing/2014/main" id="{DDAD5D58-C7AD-4332-9C6B-723FC0F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設定值是 Python 物件，字串、list 與 dict 都有各自語法。</a:t>
            </a:r>
          </a:p>
        </p:txBody>
      </p:sp>
    </p:spTree>
    <p:extLst>
      <p:ext uri="{BB962C8B-B14F-4D97-AF65-F5344CB8AC3E}">
        <p14:creationId xmlns:p14="http://schemas.microsoft.com/office/powerpoint/2010/main" val="1001521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ttings.py：其他預設設定">
            <a:extLst xmlns:a="http://schemas.openxmlformats.org/drawingml/2006/main">
              <a:ext uri="{FF2B5EF4-FFF2-40B4-BE49-F238E27FC236}">
                <a16:creationId xmlns:a16="http://schemas.microsoft.com/office/drawing/2014/main" id="{FDC5AA0E-6F94-4A35-956F-1685F27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settings.py：其他預設設定</a:t>
            </a:r>
          </a:p>
        </p:txBody>
      </p:sp>
      <p:sp>
        <p:nvSpPr>
          <p:cNvPr id="2" name="startproject 產生的設定也有明確用途">
            <a:extLst xmlns:a="http://schemas.openxmlformats.org/drawingml/2006/main">
              <a:ext uri="{FF2B5EF4-FFF2-40B4-BE49-F238E27FC236}">
                <a16:creationId xmlns:a16="http://schemas.microsoft.com/office/drawing/2014/main" id="{6CD42BC8-F6B2-45A3-A869-9D3FA7B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startproject 產生的設定也有明確用途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16EB51D4-219B-44DA-B750-41C34EC2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29125"/>
                <a:gridCol w="6543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設定名稱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MIDDLEWARE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請求與回應經過的處理鏈，例如驗證與 session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AUTH_PASSWORD_VALIDATORS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密碼驗證規則，供建立帳號等流程使用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LANGUAGE_CODE / TIME_ZONE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介面語言與網站預設時區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USE_I18N / USE_TZ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啟用翻譯支援與時區感知時間處理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STATIC_URL / DEFAULT_AUTO_FIELD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靜態資源網址前綴／自動主鍵欄位型別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本範例使用 zh-hant、Asia/Taipei；保留預設中介軟體與密碼驗證器。">
            <a:extLst xmlns:a="http://schemas.openxmlformats.org/drawingml/2006/main">
              <a:ext uri="{FF2B5EF4-FFF2-40B4-BE49-F238E27FC236}">
                <a16:creationId xmlns:a16="http://schemas.microsoft.com/office/drawing/2014/main" id="{D2551771-BE2E-42C2-939F-8371790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本範例使用 zh-hant、Asia/Taipei；保留預設中介軟體與密碼驗證器。</a:t>
            </a:r>
          </a:p>
        </p:txBody>
      </p:sp>
    </p:spTree>
    <p:extLst>
      <p:ext uri="{BB962C8B-B14F-4D97-AF65-F5344CB8AC3E}">
        <p14:creationId xmlns:p14="http://schemas.microsoft.com/office/powerpoint/2010/main" val="794958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開發設定與網站入口">
            <a:extLst xmlns:a="http://schemas.openxmlformats.org/drawingml/2006/main">
              <a:ext uri="{FF2B5EF4-FFF2-40B4-BE49-F238E27FC236}">
                <a16:creationId xmlns:a16="http://schemas.microsoft.com/office/drawing/2014/main" id="{26B80CBB-CECB-4085-8B67-B28DAD37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開發設定與網站入口</a:t>
            </a:r>
          </a:p>
        </p:txBody>
      </p:sp>
      <p:sp>
        <p:nvSpPr>
          <p:cNvPr id="2" name="設定會影響網站行為，但不取代 view">
            <a:extLst xmlns:a="http://schemas.openxmlformats.org/drawingml/2006/main">
              <a:ext uri="{FF2B5EF4-FFF2-40B4-BE49-F238E27FC236}">
                <a16:creationId xmlns:a16="http://schemas.microsoft.com/office/drawing/2014/main" id="{C5D11427-AFC9-4598-B3AE-58F62C9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設定會影響網站行為，但不取代 view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11F0E0-965F-4F98-9287-378C72D3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DEBUG">
            <a:extLst xmlns:a="http://schemas.openxmlformats.org/drawingml/2006/main">
              <a:ext uri="{FF2B5EF4-FFF2-40B4-BE49-F238E27FC236}">
                <a16:creationId xmlns:a16="http://schemas.microsoft.com/office/drawing/2014/main" id="{E888D4C8-3430-4EFC-B49C-C1591EA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DEBUG</a:t>
            </a:r>
          </a:p>
        </p:txBody>
      </p:sp>
      <p:sp>
        <p:nvSpPr>
          <p:cNvPr id="5" name="本機設 True 方便除錯，正式環境須關閉。">
            <a:extLst xmlns:a="http://schemas.openxmlformats.org/drawingml/2006/main">
              <a:ext uri="{FF2B5EF4-FFF2-40B4-BE49-F238E27FC236}">
                <a16:creationId xmlns:a16="http://schemas.microsoft.com/office/drawing/2014/main" id="{C7D80699-1181-44D6-887D-2330ECF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本機設 True 方便除錯，正式環境須關閉。</a:t>
            </a:r>
          </a:p>
        </p:txBody>
      </p:sp>
      <p:sp>
        <p:nvSpPr>
          <p:cNvPr id="6" name="ALLOWED_HOSTS">
            <a:extLst xmlns:a="http://schemas.openxmlformats.org/drawingml/2006/main">
              <a:ext uri="{FF2B5EF4-FFF2-40B4-BE49-F238E27FC236}">
                <a16:creationId xmlns:a16="http://schemas.microsoft.com/office/drawing/2014/main" id="{E7F881E1-1B4F-4BB7-BEE5-5A83B9F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ALLOWED_HOSTS</a:t>
            </a:r>
          </a:p>
        </p:txBody>
      </p:sp>
      <p:sp>
        <p:nvSpPr>
          <p:cNvPr id="7" name="填可接受的主機名稱，例如 localhost、127.0.0.1，不含通訊埠。">
            <a:extLst xmlns:a="http://schemas.openxmlformats.org/drawingml/2006/main">
              <a:ext uri="{FF2B5EF4-FFF2-40B4-BE49-F238E27FC236}">
                <a16:creationId xmlns:a16="http://schemas.microsoft.com/office/drawing/2014/main" id="{FCAD31C1-9AAD-4D59-98BF-3413590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填可接受的主機名稱，例如 localhost、127.0.0.1，不含通訊埠。</a:t>
            </a:r>
          </a:p>
        </p:txBody>
      </p:sp>
      <p:sp>
        <p:nvSpPr>
          <p:cNvPr id="8" name="SECRET_KEY">
            <a:extLst xmlns:a="http://schemas.openxmlformats.org/drawingml/2006/main">
              <a:ext uri="{FF2B5EF4-FFF2-40B4-BE49-F238E27FC236}">
                <a16:creationId xmlns:a16="http://schemas.microsoft.com/office/drawing/2014/main" id="{5CE400F3-3E7C-4D18-B805-17D6153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SECRET_KEY</a:t>
            </a:r>
          </a:p>
        </p:txBody>
      </p:sp>
      <p:sp>
        <p:nvSpPr>
          <p:cNvPr id="9" name="供簽章等功能使用。範例值僅供本機，正式環境另行保管。">
            <a:extLst xmlns:a="http://schemas.openxmlformats.org/drawingml/2006/main">
              <a:ext uri="{FF2B5EF4-FFF2-40B4-BE49-F238E27FC236}">
                <a16:creationId xmlns:a16="http://schemas.microsoft.com/office/drawing/2014/main" id="{A2491B0D-F257-4CA8-AD91-A922173C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供簽章等功能使用。範例值僅供本機，正式環境另行保管。</a:t>
            </a:r>
          </a:p>
        </p:txBody>
      </p:sp>
      <p:sp>
        <p:nvSpPr>
          <p:cNvPr id="10" name="WSGI_APPLICATION">
            <a:extLst xmlns:a="http://schemas.openxmlformats.org/drawingml/2006/main">
              <a:ext uri="{FF2B5EF4-FFF2-40B4-BE49-F238E27FC236}">
                <a16:creationId xmlns:a16="http://schemas.microsoft.com/office/drawing/2014/main" id="{C2C05E61-5135-49C8-AA36-84EF699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WSGI_APPLICATION</a:t>
            </a:r>
          </a:p>
        </p:txBody>
      </p:sp>
      <p:sp>
        <p:nvSpPr>
          <p:cNvPr id="11" name="預設指向 config.wsgi.application，供 WSGI 相關載入使用。">
            <a:extLst xmlns:a="http://schemas.openxmlformats.org/drawingml/2006/main">
              <a:ext uri="{FF2B5EF4-FFF2-40B4-BE49-F238E27FC236}">
                <a16:creationId xmlns:a16="http://schemas.microsoft.com/office/drawing/2014/main" id="{5AC1DDBF-7D2F-4028-BA1E-9E94036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預設指向 config.wsgi.application，供 WSGI 相關載入使用。</a:t>
            </a:r>
          </a:p>
        </p:txBody>
      </p:sp>
      <p:sp>
        <p:nvSpPr>
          <p:cNvPr id="12" name="不要把正式環境的祕密金鑰或密碼提交到公開版本庫。">
            <a:extLst xmlns:a="http://schemas.openxmlformats.org/drawingml/2006/main">
              <a:ext uri="{FF2B5EF4-FFF2-40B4-BE49-F238E27FC236}">
                <a16:creationId xmlns:a16="http://schemas.microsoft.com/office/drawing/2014/main" id="{28D184AD-FFAD-455D-8456-7CE24DD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不要把正式環境的祕密金鑰或密碼提交到公開版本庫。</a:t>
            </a:r>
          </a:p>
        </p:txBody>
      </p:sp>
    </p:spTree>
    <p:extLst>
      <p:ext uri="{BB962C8B-B14F-4D97-AF65-F5344CB8AC3E}">
        <p14:creationId xmlns:p14="http://schemas.microsoft.com/office/powerpoint/2010/main" val="552095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wsgi.py 與 asgi.py：伺服器入口">
            <a:extLst xmlns:a="http://schemas.openxmlformats.org/drawingml/2006/main">
              <a:ext uri="{FF2B5EF4-FFF2-40B4-BE49-F238E27FC236}">
                <a16:creationId xmlns:a16="http://schemas.microsoft.com/office/drawing/2014/main" id="{B5D6980B-4127-48D5-AB62-E4B6969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wsgi.py 與 asgi.py：伺服器入口</a:t>
            </a:r>
          </a:p>
        </p:txBody>
      </p:sp>
      <p:sp>
        <p:nvSpPr>
          <p:cNvPr id="2" name="startproject 同時產生兩個檔案">
            <a:extLst xmlns:a="http://schemas.openxmlformats.org/drawingml/2006/main">
              <a:ext uri="{FF2B5EF4-FFF2-40B4-BE49-F238E27FC236}">
                <a16:creationId xmlns:a16="http://schemas.microsoft.com/office/drawing/2014/main" id="{F6552290-9726-4906-AEF3-F6685F6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startproject 同時產生兩個檔案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18F36ECE-B71D-446A-B9B1-F50E87B0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5715000"/>
                <a:gridCol w="24955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初學階段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config/wsgi.py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WSGI application，供 WSGI 伺服器載入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通常保持原樣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config/asgi.py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ASGI application，供 ASGI 伺服器載入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通常保持原樣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兩者共同點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載入 Django 設定並提供 application 物件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不是網址對應表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ASGI 支援非同步介面；即時通訊仍需相應的應用與伺服器配置。">
            <a:extLst xmlns:a="http://schemas.openxmlformats.org/drawingml/2006/main">
              <a:ext uri="{FF2B5EF4-FFF2-40B4-BE49-F238E27FC236}">
                <a16:creationId xmlns:a16="http://schemas.microsoft.com/office/drawing/2014/main" id="{0A5F0E17-39C3-4053-B30E-510FFA3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ASGI 支援非同步介面；即時通訊仍需相應的應用與伺服器配置。</a:t>
            </a:r>
          </a:p>
        </p:txBody>
      </p:sp>
    </p:spTree>
    <p:extLst>
      <p:ext uri="{BB962C8B-B14F-4D97-AF65-F5344CB8AC3E}">
        <p14:creationId xmlns:p14="http://schemas.microsoft.com/office/powerpoint/2010/main" val="448892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第一次啟動網站">
            <a:extLst xmlns:a="http://schemas.openxmlformats.org/drawingml/2006/main">
              <a:ext uri="{FF2B5EF4-FFF2-40B4-BE49-F238E27FC236}">
                <a16:creationId xmlns:a16="http://schemas.microsoft.com/office/drawing/2014/main" id="{042D032D-F4EE-4B8F-B76B-FCEB766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第一次啟動網站</a:t>
            </a:r>
          </a:p>
        </p:txBody>
      </p:sp>
      <p:sp>
        <p:nvSpPr>
          <p:cNvPr id="2" name="此時尚未更動預設 config/urls.py">
            <a:extLst xmlns:a="http://schemas.openxmlformats.org/drawingml/2006/main">
              <a:ext uri="{FF2B5EF4-FFF2-40B4-BE49-F238E27FC236}">
                <a16:creationId xmlns:a16="http://schemas.microsoft.com/office/drawing/2014/main" id="{301DE85C-EC8E-40BB-9BCB-44A5AF8F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此時尚未更動預設 config/urls.py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DF47651C-215F-4AA1-8DBF-CA96AB4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55867A57-E191-4642-8AC2-1A16271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0CCF2146-2501-4520-BAE5-F8BF1C1A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9EFCC-521B-4C1E-92A1-0B49874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在瀏覽器開啟">
            <a:extLst xmlns:a="http://schemas.openxmlformats.org/drawingml/2006/main">
              <a:ext uri="{FF2B5EF4-FFF2-40B4-BE49-F238E27FC236}">
                <a16:creationId xmlns:a16="http://schemas.microsoft.com/office/drawing/2014/main" id="{65240512-4909-464F-944D-4F0BA980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在瀏覽器開啟</a:t>
            </a:r>
          </a:p>
        </p:txBody>
      </p:sp>
      <p:sp>
        <p:nvSpPr>
          <p:cNvPr id="8" name="http://127.0.0.1:8000/">
            <a:extLst xmlns:a="http://schemas.openxmlformats.org/drawingml/2006/main">
              <a:ext uri="{FF2B5EF4-FFF2-40B4-BE49-F238E27FC236}">
                <a16:creationId xmlns:a16="http://schemas.microsoft.com/office/drawing/2014/main" id="{BFA99E24-51F7-4875-8ABE-60204C5E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http://127.0.0.1:8000/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BA748-8A0B-4052-828B-181CC02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停止伺服器：在終端機按 Ctrl+C">
            <a:extLst xmlns:a="http://schemas.openxmlformats.org/drawingml/2006/main">
              <a:ext uri="{FF2B5EF4-FFF2-40B4-BE49-F238E27FC236}">
                <a16:creationId xmlns:a16="http://schemas.microsoft.com/office/drawing/2014/main" id="{24B33AF6-49F0-4472-A07E-6D6D60D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停止伺服器：在終端機按 Ctrl+C</a:t>
            </a:r>
          </a:p>
        </p:txBody>
      </p:sp>
      <p:sp>
        <p:nvSpPr>
          <p:cNvPr id="11" name="migrate">
            <a:extLst xmlns:a="http://schemas.openxmlformats.org/drawingml/2006/main">
              <a:ext uri="{FF2B5EF4-FFF2-40B4-BE49-F238E27FC236}">
                <a16:creationId xmlns:a16="http://schemas.microsoft.com/office/drawing/2014/main" id="{AC010FDD-D624-4DBA-8E87-159275B8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migrate</a:t>
            </a:r>
          </a:p>
        </p:txBody>
      </p:sp>
      <p:sp>
        <p:nvSpPr>
          <p:cNvPr id="12" name="先建立 auth、session 等 內建 app 需要的資料表。">
            <a:extLst xmlns:a="http://schemas.openxmlformats.org/drawingml/2006/main">
              <a:ext uri="{FF2B5EF4-FFF2-40B4-BE49-F238E27FC236}">
                <a16:creationId xmlns:a16="http://schemas.microsoft.com/office/drawing/2014/main" id="{93DAF128-2EB2-468B-A763-E650789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先建立 auth、session 等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內建 app 需要的資料表。</a:t>
            </a:r>
          </a:p>
        </p:txBody>
      </p:sp>
      <p:sp>
        <p:nvSpPr>
          <p:cNvPr id="13" name="runserver">
            <a:extLst xmlns:a="http://schemas.openxmlformats.org/drawingml/2006/main">
              <a:ext uri="{FF2B5EF4-FFF2-40B4-BE49-F238E27FC236}">
                <a16:creationId xmlns:a16="http://schemas.microsoft.com/office/drawing/2014/main" id="{80C6B603-1114-4890-875D-DAE48F3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runserver</a:t>
            </a:r>
          </a:p>
        </p:txBody>
      </p:sp>
      <p:sp>
        <p:nvSpPr>
          <p:cNvPr id="14" name="啟動本機開發伺服器， 終端機須保持執行。 它不是正式部署伺服器。">
            <a:extLst xmlns:a="http://schemas.openxmlformats.org/drawingml/2006/main">
              <a:ext uri="{FF2B5EF4-FFF2-40B4-BE49-F238E27FC236}">
                <a16:creationId xmlns:a16="http://schemas.microsoft.com/office/drawing/2014/main" id="{DCCBC842-B2DF-4FD4-B7D5-FC26E83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啟動本機開發伺服器，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終端機須保持執行。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它不是正式部署伺服器。</a:t>
            </a:r>
          </a:p>
        </p:txBody>
      </p:sp>
      <p:sp>
        <p:nvSpPr>
          <p:cNvPr id="15" name="預設路由尚未修改時會顯示 Django 歡迎頁；後續改用 /products/。">
            <a:extLst xmlns:a="http://schemas.openxmlformats.org/drawingml/2006/main">
              <a:ext uri="{FF2B5EF4-FFF2-40B4-BE49-F238E27FC236}">
                <a16:creationId xmlns:a16="http://schemas.microsoft.com/office/drawing/2014/main" id="{2E0951EE-9C45-4C15-A3BB-0707440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預設路由尚未修改時會顯示 Django 歡迎頁；後續改用 /products/。</a:t>
            </a:r>
          </a:p>
        </p:txBody>
      </p:sp>
    </p:spTree>
    <p:extLst>
      <p:ext uri="{BB962C8B-B14F-4D97-AF65-F5344CB8AC3E}">
        <p14:creationId xmlns:p14="http://schemas.microsoft.com/office/powerpoint/2010/main" val="3351109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建立 catalog app">
            <a:extLst xmlns:a="http://schemas.openxmlformats.org/drawingml/2006/main">
              <a:ext uri="{FF2B5EF4-FFF2-40B4-BE49-F238E27FC236}">
                <a16:creationId xmlns:a16="http://schemas.microsoft.com/office/drawing/2014/main" id="{858E62BB-1629-42E4-AD2B-DC3BD4F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建立 catalog app</a:t>
            </a:r>
          </a:p>
        </p:txBody>
      </p:sp>
      <p:sp>
        <p:nvSpPr>
          <p:cNvPr id="2" name="在包含 manage.py 的目錄執行">
            <a:extLst xmlns:a="http://schemas.openxmlformats.org/drawingml/2006/main">
              <a:ext uri="{FF2B5EF4-FFF2-40B4-BE49-F238E27FC236}">
                <a16:creationId xmlns:a16="http://schemas.microsoft.com/office/drawing/2014/main" id="{CA35968B-C9FF-4CCE-9C09-D0502BFD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在包含 manage.py 的目錄執行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FCC1413B-6F44-4FE8-B8AA-269CA14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python manage.py startapp catalog">
            <a:extLst xmlns:a="http://schemas.openxmlformats.org/drawingml/2006/main">
              <a:ext uri="{FF2B5EF4-FFF2-40B4-BE49-F238E27FC236}">
                <a16:creationId xmlns:a16="http://schemas.microsoft.com/office/drawing/2014/main" id="{18844ADD-8F25-4722-82F9-7655285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startapp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5C24E-A130-4832-9206-58E30BA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atalog/">
            <a:extLst xmlns:a="http://schemas.openxmlformats.org/drawingml/2006/main">
              <a:ext uri="{FF2B5EF4-FFF2-40B4-BE49-F238E27FC236}">
                <a16:creationId xmlns:a16="http://schemas.microsoft.com/office/drawing/2014/main" id="{5F5565A1-516E-4F8B-A3C1-E673AF3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</a:t>
            </a:r>
          </a:p>
        </p:txBody>
      </p:sp>
      <p:sp>
        <p:nvSpPr>
          <p:cNvPr id="7" name="    __init__.py">
            <a:extLst xmlns:a="http://schemas.openxmlformats.org/drawingml/2006/main">
              <a:ext uri="{FF2B5EF4-FFF2-40B4-BE49-F238E27FC236}">
                <a16:creationId xmlns:a16="http://schemas.microsoft.com/office/drawing/2014/main" id="{CB2D96FA-B208-4D99-BB46-F697FC20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__init__.py</a:t>
            </a:r>
          </a:p>
        </p:txBody>
      </p:sp>
      <p:sp>
        <p:nvSpPr>
          <p:cNvPr id="8" name="    admin.py">
            <a:extLst xmlns:a="http://schemas.openxmlformats.org/drawingml/2006/main">
              <a:ext uri="{FF2B5EF4-FFF2-40B4-BE49-F238E27FC236}">
                <a16:creationId xmlns:a16="http://schemas.microsoft.com/office/drawing/2014/main" id="{65CE9F29-182B-42BB-A14A-D08400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admin.py</a:t>
            </a:r>
          </a:p>
        </p:txBody>
      </p:sp>
      <p:sp>
        <p:nvSpPr>
          <p:cNvPr id="9" name="    apps.py">
            <a:extLst xmlns:a="http://schemas.openxmlformats.org/drawingml/2006/main">
              <a:ext uri="{FF2B5EF4-FFF2-40B4-BE49-F238E27FC236}">
                <a16:creationId xmlns:a16="http://schemas.microsoft.com/office/drawing/2014/main" id="{84B3C8B2-AEE0-4534-B462-FC8F5E6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apps.py</a:t>
            </a:r>
          </a:p>
        </p:txBody>
      </p:sp>
      <p:sp>
        <p:nvSpPr>
          <p:cNvPr id="10" name="    migrations/">
            <a:extLst xmlns:a="http://schemas.openxmlformats.org/drawingml/2006/main">
              <a:ext uri="{FF2B5EF4-FFF2-40B4-BE49-F238E27FC236}">
                <a16:creationId xmlns:a16="http://schemas.microsoft.com/office/drawing/2014/main" id="{0D8BD164-38F3-4EE1-936B-34CDB65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migrations/</a:t>
            </a:r>
          </a:p>
        </p:txBody>
      </p:sp>
      <p:sp>
        <p:nvSpPr>
          <p:cNvPr id="11" name="        __init__.py">
            <a:extLst xmlns:a="http://schemas.openxmlformats.org/drawingml/2006/main">
              <a:ext uri="{FF2B5EF4-FFF2-40B4-BE49-F238E27FC236}">
                <a16:creationId xmlns:a16="http://schemas.microsoft.com/office/drawing/2014/main" id="{574EB6A4-9178-48D6-850F-6C1D2DDB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__init__.py</a:t>
            </a:r>
          </a:p>
        </p:txBody>
      </p:sp>
      <p:sp>
        <p:nvSpPr>
          <p:cNvPr id="12" name="    models.py">
            <a:extLst xmlns:a="http://schemas.openxmlformats.org/drawingml/2006/main">
              <a:ext uri="{FF2B5EF4-FFF2-40B4-BE49-F238E27FC236}">
                <a16:creationId xmlns:a16="http://schemas.microsoft.com/office/drawing/2014/main" id="{BDBDB799-0900-4F44-B6D1-F0AAC08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models.py</a:t>
            </a:r>
          </a:p>
        </p:txBody>
      </p:sp>
      <p:sp>
        <p:nvSpPr>
          <p:cNvPr id="13" name="    tests.py">
            <a:extLst xmlns:a="http://schemas.openxmlformats.org/drawingml/2006/main">
              <a:ext uri="{FF2B5EF4-FFF2-40B4-BE49-F238E27FC236}">
                <a16:creationId xmlns:a16="http://schemas.microsoft.com/office/drawing/2014/main" id="{9AFA6BD3-A531-47F4-8AAC-7DF9C1A5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tests.py</a:t>
            </a:r>
          </a:p>
        </p:txBody>
      </p:sp>
      <p:sp>
        <p:nvSpPr>
          <p:cNvPr id="14" name="    views.py">
            <a:extLst xmlns:a="http://schemas.openxmlformats.org/drawingml/2006/main">
              <a:ext uri="{FF2B5EF4-FFF2-40B4-BE49-F238E27FC236}">
                <a16:creationId xmlns:a16="http://schemas.microsoft.com/office/drawing/2014/main" id="{6E2BA2D1-7289-4034-B132-3742661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views.py</a:t>
            </a:r>
          </a:p>
        </p:txBody>
      </p:sp>
      <p:sp>
        <p:nvSpPr>
          <p:cNvPr id="15" name="預設骨架">
            <a:extLst xmlns:a="http://schemas.openxmlformats.org/drawingml/2006/main">
              <a:ext uri="{FF2B5EF4-FFF2-40B4-BE49-F238E27FC236}">
                <a16:creationId xmlns:a16="http://schemas.microsoft.com/office/drawing/2014/main" id="{22200C39-99F6-4A1F-BAC8-EA288AD1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預設骨架</a:t>
            </a:r>
          </a:p>
        </p:txBody>
      </p:sp>
      <p:sp>
        <p:nvSpPr>
          <p:cNvPr id="16" name="程式檔先建立， 主要功能由開發者補上。">
            <a:extLst xmlns:a="http://schemas.openxmlformats.org/drawingml/2006/main">
              <a:ext uri="{FF2B5EF4-FFF2-40B4-BE49-F238E27FC236}">
                <a16:creationId xmlns:a16="http://schemas.microsoft.com/office/drawing/2014/main" id="{CC869189-CA2D-439D-A323-EB5A463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程式檔先建立，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主要功能由開發者補上。</a:t>
            </a:r>
          </a:p>
        </p:txBody>
      </p:sp>
      <p:sp>
        <p:nvSpPr>
          <p:cNvPr id="17" name="不會自動建立">
            <a:extLst xmlns:a="http://schemas.openxmlformats.org/drawingml/2006/main">
              <a:ext uri="{FF2B5EF4-FFF2-40B4-BE49-F238E27FC236}">
                <a16:creationId xmlns:a16="http://schemas.microsoft.com/office/drawing/2014/main" id="{CFB3CD28-A574-4409-AA03-A08BDCB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不會自動建立</a:t>
            </a:r>
          </a:p>
        </p:txBody>
      </p:sp>
      <p:sp>
        <p:nvSpPr>
          <p:cNvPr id="18" name="urls.py、forms.py、 templates/、static/ 需要後續自行加入。">
            <a:extLst xmlns:a="http://schemas.openxmlformats.org/drawingml/2006/main">
              <a:ext uri="{FF2B5EF4-FFF2-40B4-BE49-F238E27FC236}">
                <a16:creationId xmlns:a16="http://schemas.microsoft.com/office/drawing/2014/main" id="{4DE79638-113B-4F20-A27F-77F8D4C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urls.py、forms.py、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templates/、static/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需要後續自行加入。</a:t>
            </a:r>
          </a:p>
        </p:txBody>
      </p:sp>
      <p:sp>
        <p:nvSpPr>
          <p:cNvPr id="19" name="catalog 代表商品目錄功能，不是整個網站的名稱。">
            <a:extLst xmlns:a="http://schemas.openxmlformats.org/drawingml/2006/main">
              <a:ext uri="{FF2B5EF4-FFF2-40B4-BE49-F238E27FC236}">
                <a16:creationId xmlns:a16="http://schemas.microsoft.com/office/drawing/2014/main" id="{5A528649-037C-4EF9-9B47-3A0A373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 代表商品目錄功能，不是整個網站的名稱。</a:t>
            </a:r>
          </a:p>
        </p:txBody>
      </p:sp>
    </p:spTree>
    <p:extLst>
      <p:ext uri="{BB962C8B-B14F-4D97-AF65-F5344CB8AC3E}">
        <p14:creationId xmlns:p14="http://schemas.microsoft.com/office/powerpoint/2010/main" val="36870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pps.py：App 的設定類別">
            <a:extLst xmlns:a="http://schemas.openxmlformats.org/drawingml/2006/main">
              <a:ext uri="{FF2B5EF4-FFF2-40B4-BE49-F238E27FC236}">
                <a16:creationId xmlns:a16="http://schemas.microsoft.com/office/drawing/2014/main" id="{B6186188-7010-4D1D-9809-68A60C0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apps.py：App 的設定類別</a:t>
            </a:r>
          </a:p>
        </p:txBody>
      </p:sp>
      <p:sp>
        <p:nvSpPr>
          <p:cNvPr id="2" name="catalog/apps.py 與 config/settings.py">
            <a:extLst xmlns:a="http://schemas.openxmlformats.org/drawingml/2006/main">
              <a:ext uri="{FF2B5EF4-FFF2-40B4-BE49-F238E27FC236}">
                <a16:creationId xmlns:a16="http://schemas.microsoft.com/office/drawing/2014/main" id="{6FB8F474-D978-4279-9DC3-A844FAE4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catalog/apps.py 與 config/settings.py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8ADC07BB-8BDC-4A50-86FC-302BD76E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# catalog/apps.py">
            <a:extLst xmlns:a="http://schemas.openxmlformats.org/drawingml/2006/main">
              <a:ext uri="{FF2B5EF4-FFF2-40B4-BE49-F238E27FC236}">
                <a16:creationId xmlns:a16="http://schemas.microsoft.com/office/drawing/2014/main" id="{FD1C23D3-31FF-4E88-A78F-0D67265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catalog/apps.py</a:t>
            </a:r>
          </a:p>
        </p:txBody>
      </p:sp>
      <p:sp>
        <p:nvSpPr>
          <p:cNvPr id="5" name="from django.apps import AppConfig">
            <a:extLst xmlns:a="http://schemas.openxmlformats.org/drawingml/2006/main">
              <a:ext uri="{FF2B5EF4-FFF2-40B4-BE49-F238E27FC236}">
                <a16:creationId xmlns:a16="http://schemas.microsoft.com/office/drawing/2014/main" id="{4E2F70FB-80CB-46A6-B205-04FDB65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django.apps import AppConfig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99F52-4E43-450C-A8DE-797821F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ass CatalogConfig(AppConfig):">
            <a:extLst xmlns:a="http://schemas.openxmlformats.org/drawingml/2006/main">
              <a:ext uri="{FF2B5EF4-FFF2-40B4-BE49-F238E27FC236}">
                <a16:creationId xmlns:a16="http://schemas.microsoft.com/office/drawing/2014/main" id="{E31C9ED9-F5BC-41D8-9E79-0A9AAB5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CatalogConfig(AppConfig):</a:t>
            </a:r>
          </a:p>
        </p:txBody>
      </p:sp>
      <p:sp>
        <p:nvSpPr>
          <p:cNvPr id="8" name="    default_auto_field = &quot;django.db.models.BigAutoField&quot;">
            <a:extLst xmlns:a="http://schemas.openxmlformats.org/drawingml/2006/main">
              <a:ext uri="{FF2B5EF4-FFF2-40B4-BE49-F238E27FC236}">
                <a16:creationId xmlns:a16="http://schemas.microsoft.com/office/drawing/2014/main" id="{FAB65699-53C7-496C-833B-C0679EF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default_auto_field = "django.db.models.BigAutoField"</a:t>
            </a:r>
          </a:p>
        </p:txBody>
      </p:sp>
      <p:sp>
        <p:nvSpPr>
          <p:cNvPr id="9" name="    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F596DC0C-C770-4FD3-8589-0C3DD25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"catalog"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C887C-D082-47DE-A7E3-87EAA6CB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# config/settings.py：加入既有 INSTALLED_APPS">
            <a:extLst xmlns:a="http://schemas.openxmlformats.org/drawingml/2006/main">
              <a:ext uri="{FF2B5EF4-FFF2-40B4-BE49-F238E27FC236}">
                <a16:creationId xmlns:a16="http://schemas.microsoft.com/office/drawing/2014/main" id="{D7D04C52-7136-4DC4-923C-AAB7CA61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config/settings.py：加入既有 INSTALLED_APPS</a:t>
            </a:r>
          </a:p>
        </p:txBody>
      </p:sp>
      <p:sp>
        <p:nvSpPr>
          <p:cNvPr id="12" name="&quot;catalog.apps.CatalogConfig&quot;,">
            <a:extLst xmlns:a="http://schemas.openxmlformats.org/drawingml/2006/main">
              <a:ext uri="{FF2B5EF4-FFF2-40B4-BE49-F238E27FC236}">
                <a16:creationId xmlns:a16="http://schemas.microsoft.com/office/drawing/2014/main" id="{F54925CE-1CB1-4599-9B61-0AAC77E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"catalog.apps.CatalogConfig",</a:t>
            </a:r>
          </a:p>
        </p:txBody>
      </p:sp>
      <p:sp>
        <p:nvSpPr>
          <p:cNvPr id="13" name="AppConfig">
            <a:extLst xmlns:a="http://schemas.openxmlformats.org/drawingml/2006/main">
              <a:ext uri="{FF2B5EF4-FFF2-40B4-BE49-F238E27FC236}">
                <a16:creationId xmlns:a16="http://schemas.microsoft.com/office/drawing/2014/main" id="{30677EDE-2671-472A-AF28-F041DC7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AppConfig</a:t>
            </a:r>
          </a:p>
        </p:txBody>
      </p:sp>
      <p:sp>
        <p:nvSpPr>
          <p:cNvPr id="14" name="name 指定 app 的 Python 路徑。 default_auto_field 設定 自動主鍵的預設型別。">
            <a:extLst xmlns:a="http://schemas.openxmlformats.org/drawingml/2006/main">
              <a:ext uri="{FF2B5EF4-FFF2-40B4-BE49-F238E27FC236}">
                <a16:creationId xmlns:a16="http://schemas.microsoft.com/office/drawing/2014/main" id="{302534C9-C219-41F5-B51E-D4EBA8F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 指定 app 的 Python 路徑。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default_auto_field 設定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自動主鍵的預設型別。</a:t>
            </a:r>
          </a:p>
        </p:txBody>
      </p:sp>
      <p:sp>
        <p:nvSpPr>
          <p:cNvPr id="15" name="註冊 app">
            <a:extLst xmlns:a="http://schemas.openxmlformats.org/drawingml/2006/main">
              <a:ext uri="{FF2B5EF4-FFF2-40B4-BE49-F238E27FC236}">
                <a16:creationId xmlns:a16="http://schemas.microsoft.com/office/drawing/2014/main" id="{5517D9E8-974C-4AC1-A508-CA4EED2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註冊 app</a:t>
            </a:r>
          </a:p>
        </p:txBody>
      </p:sp>
      <p:sp>
        <p:nvSpPr>
          <p:cNvPr id="16" name="將設定類別加入既有清單， 保留 admin、auth、 staticfiles 等預設項目。">
            <a:extLst xmlns:a="http://schemas.openxmlformats.org/drawingml/2006/main">
              <a:ext uri="{FF2B5EF4-FFF2-40B4-BE49-F238E27FC236}">
                <a16:creationId xmlns:a16="http://schemas.microsoft.com/office/drawing/2014/main" id="{83C35008-2F04-4B38-B2D9-FDD0026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將設定類別加入既有清單，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保留 admin、auth、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staticfiles 等預設項目。</a:t>
            </a:r>
          </a:p>
        </p:txBody>
      </p:sp>
      <p:sp>
        <p:nvSpPr>
          <p:cNvPr id="17" name="只有建立資料夾，並不代表 Django 已經啟用這個 app。">
            <a:extLst xmlns:a="http://schemas.openxmlformats.org/drawingml/2006/main">
              <a:ext uri="{FF2B5EF4-FFF2-40B4-BE49-F238E27FC236}">
                <a16:creationId xmlns:a16="http://schemas.microsoft.com/office/drawing/2014/main" id="{A9DEC94F-750B-467E-9902-E1746C4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只有建立資料夾，並不代表 Django 已經啟用這個 app。</a:t>
            </a:r>
          </a:p>
        </p:txBody>
      </p:sp>
    </p:spTree>
    <p:extLst>
      <p:ext uri="{BB962C8B-B14F-4D97-AF65-F5344CB8AC3E}">
        <p14:creationId xmlns:p14="http://schemas.microsoft.com/office/powerpoint/2010/main" val="1015334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iews.py：第一個回應函式">
            <a:extLst xmlns:a="http://schemas.openxmlformats.org/drawingml/2006/main">
              <a:ext uri="{FF2B5EF4-FFF2-40B4-BE49-F238E27FC236}">
                <a16:creationId xmlns:a16="http://schemas.microsoft.com/office/drawing/2014/main" id="{DECBFBBD-0B2A-444D-8594-121F5AC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views.py：第一個回應函式</a:t>
            </a:r>
          </a:p>
        </p:txBody>
      </p:sp>
      <p:sp>
        <p:nvSpPr>
          <p:cNvPr id="2" name="先加入最簡單的 hello view">
            <a:extLst xmlns:a="http://schemas.openxmlformats.org/drawingml/2006/main">
              <a:ext uri="{FF2B5EF4-FFF2-40B4-BE49-F238E27FC236}">
                <a16:creationId xmlns:a16="http://schemas.microsoft.com/office/drawing/2014/main" id="{B70189BF-B65D-4674-9E3A-9E61116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先加入最簡單的 hello view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2833D33-BA48-453C-9B6C-52550A3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from django.http import HttpResponse">
            <a:extLst xmlns:a="http://schemas.openxmlformats.org/drawingml/2006/main">
              <a:ext uri="{FF2B5EF4-FFF2-40B4-BE49-F238E27FC236}">
                <a16:creationId xmlns:a16="http://schemas.microsoft.com/office/drawing/2014/main" id="{EF36B267-3B2E-41C6-BEC7-C632AEE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django.http import HttpResponse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527A-F10F-457D-8A69-3336AB5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hello(request):">
            <a:extLst xmlns:a="http://schemas.openxmlformats.org/drawingml/2006/main">
              <a:ext uri="{FF2B5EF4-FFF2-40B4-BE49-F238E27FC236}">
                <a16:creationId xmlns:a16="http://schemas.microsoft.com/office/drawing/2014/main" id="{FFC793D6-4352-4E73-BF21-EA67FB2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hello(request):</a:t>
            </a:r>
          </a:p>
        </p:txBody>
      </p:sp>
      <p:sp>
        <p:nvSpPr>
          <p:cNvPr id="7" name="    return HttpResponse(&quot;Hello, Django!&quot;)">
            <a:extLst xmlns:a="http://schemas.openxmlformats.org/drawingml/2006/main">
              <a:ext uri="{FF2B5EF4-FFF2-40B4-BE49-F238E27FC236}">
                <a16:creationId xmlns:a16="http://schemas.microsoft.com/office/drawing/2014/main" id="{C8529DF7-FE14-41FB-88D7-1C0A0F4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HttpResponse("Hello, Django!")</a:t>
            </a:r>
          </a:p>
        </p:txBody>
      </p:sp>
      <p:sp>
        <p:nvSpPr>
          <p:cNvPr id="8" name="輸入">
            <a:extLst xmlns:a="http://schemas.openxmlformats.org/drawingml/2006/main">
              <a:ext uri="{FF2B5EF4-FFF2-40B4-BE49-F238E27FC236}">
                <a16:creationId xmlns:a16="http://schemas.microsoft.com/office/drawing/2014/main" id="{E9377C05-B8D2-4EA7-AB60-93A7E6E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9" name="request 包含 HTTP 方法、 網址資訊與送出的資料。">
            <a:extLst xmlns:a="http://schemas.openxmlformats.org/drawingml/2006/main">
              <a:ext uri="{FF2B5EF4-FFF2-40B4-BE49-F238E27FC236}">
                <a16:creationId xmlns:a16="http://schemas.microsoft.com/office/drawing/2014/main" id="{4EAD11F3-B66D-4085-B4E7-F2DDCD0E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request 包含 HTTP 方法、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網址資訊與送出的資料。</a:t>
            </a:r>
          </a:p>
        </p:txBody>
      </p:sp>
      <p:sp>
        <p:nvSpPr>
          <p:cNvPr id="10" name="輸出">
            <a:extLst xmlns:a="http://schemas.openxmlformats.org/drawingml/2006/main">
              <a:ext uri="{FF2B5EF4-FFF2-40B4-BE49-F238E27FC236}">
                <a16:creationId xmlns:a16="http://schemas.microsoft.com/office/drawing/2014/main" id="{59D4A210-40AD-45F4-B3B5-5E75855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1" name="view 回傳 HttpResponse。 這個例子直接回傳文字， 尚未使用資料庫或模板。">
            <a:extLst xmlns:a="http://schemas.openxmlformats.org/drawingml/2006/main">
              <a:ext uri="{FF2B5EF4-FFF2-40B4-BE49-F238E27FC236}">
                <a16:creationId xmlns:a16="http://schemas.microsoft.com/office/drawing/2014/main" id="{797A2A2A-EA9A-4A78-83EE-FCE5CDF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view 回傳 HttpResponse。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這個例子直接回傳文字，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尚未使用資料庫或模板。</a:t>
            </a:r>
          </a:p>
        </p:txBody>
      </p:sp>
      <p:sp>
        <p:nvSpPr>
          <p:cNvPr id="12" name="建立 view 之後，還需要路由讓瀏覽器找到它。">
            <a:extLst xmlns:a="http://schemas.openxmlformats.org/drawingml/2006/main">
              <a:ext uri="{FF2B5EF4-FFF2-40B4-BE49-F238E27FC236}">
                <a16:creationId xmlns:a16="http://schemas.microsoft.com/office/drawing/2014/main" id="{5D28D78D-1F02-4CC7-99C2-4E64B93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 view 之後，還需要路由讓瀏覽器找到它。</a:t>
            </a:r>
          </a:p>
        </p:txBody>
      </p:sp>
    </p:spTree>
    <p:extLst>
      <p:ext uri="{BB962C8B-B14F-4D97-AF65-F5344CB8AC3E}">
        <p14:creationId xmlns:p14="http://schemas.microsoft.com/office/powerpoint/2010/main" val="11493392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atalog/urls.py：App 的路由">
            <a:extLst xmlns:a="http://schemas.openxmlformats.org/drawingml/2006/main">
              <a:ext uri="{FF2B5EF4-FFF2-40B4-BE49-F238E27FC236}">
                <a16:creationId xmlns:a16="http://schemas.microsoft.com/office/drawing/2014/main" id="{8699E0EF-0DDA-4E5C-BDA9-4C0BF2D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catalog/urls.py：App 的路由</a:t>
            </a:r>
          </a:p>
        </p:txBody>
      </p:sp>
      <p:sp>
        <p:nvSpPr>
          <p:cNvPr id="2" name="這是自行新增的檔案">
            <a:extLst xmlns:a="http://schemas.openxmlformats.org/drawingml/2006/main">
              <a:ext uri="{FF2B5EF4-FFF2-40B4-BE49-F238E27FC236}">
                <a16:creationId xmlns:a16="http://schemas.microsoft.com/office/drawing/2014/main" id="{5F7F2DA5-1288-4E13-9C2C-80F138C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這是自行新增的檔案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07E2E159-2777-45A4-B21F-91D8F04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from django.urls import path">
            <a:extLst xmlns:a="http://schemas.openxmlformats.org/drawingml/2006/main">
              <a:ext uri="{FF2B5EF4-FFF2-40B4-BE49-F238E27FC236}">
                <a16:creationId xmlns:a16="http://schemas.microsoft.com/office/drawing/2014/main" id="{62A7C579-C090-42AF-B5C3-AB1EFE5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path</a:t>
            </a:r>
          </a:p>
        </p:txBody>
      </p:sp>
      <p:sp>
        <p:nvSpPr>
          <p:cNvPr id="5" name="from . import views">
            <a:extLst xmlns:a="http://schemas.openxmlformats.org/drawingml/2006/main">
              <a:ext uri="{FF2B5EF4-FFF2-40B4-BE49-F238E27FC236}">
                <a16:creationId xmlns:a16="http://schemas.microsoft.com/office/drawing/2014/main" id="{F77AC083-4C3E-4845-A28E-E18EE11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 import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205CB-6BC1-4202-8FE7-8D6A176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pp_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BC521DC7-AEB9-422A-A278-77D1D8D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app_name = "catalog"</a:t>
            </a:r>
          </a:p>
        </p:txBody>
      </p:sp>
      <p:sp>
        <p:nvSpPr>
          <p:cNvPr id="8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CB5334D9-E35C-4A97-A8D9-2605A2A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9" name="    path(&quot;hello/&quot;, views.hello, name=&quot;hello&quot;),">
            <a:extLst xmlns:a="http://schemas.openxmlformats.org/drawingml/2006/main">
              <a:ext uri="{FF2B5EF4-FFF2-40B4-BE49-F238E27FC236}">
                <a16:creationId xmlns:a16="http://schemas.microsoft.com/office/drawing/2014/main" id="{96423E9E-3808-48A7-A672-96E7209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path("hello/", views.hello, name="hello"),</a:t>
            </a:r>
          </a:p>
        </p:txBody>
      </p:sp>
      <p:sp>
        <p:nvSpPr>
          <p:cNvPr id="10" name="]">
            <a:extLst xmlns:a="http://schemas.openxmlformats.org/drawingml/2006/main">
              <a:ext uri="{FF2B5EF4-FFF2-40B4-BE49-F238E27FC236}">
                <a16:creationId xmlns:a16="http://schemas.microsoft.com/office/drawing/2014/main" id="{1AD3C398-15B1-4BFB-B3EC-6545ABF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路徑與函式">
            <a:extLst xmlns:a="http://schemas.openxmlformats.org/drawingml/2006/main">
              <a:ext uri="{FF2B5EF4-FFF2-40B4-BE49-F238E27FC236}">
                <a16:creationId xmlns:a16="http://schemas.microsoft.com/office/drawing/2014/main" id="{1017771B-D3FB-4171-BE19-7D9A867C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路徑與函式</a:t>
            </a:r>
          </a:p>
        </p:txBody>
      </p:sp>
      <p:sp>
        <p:nvSpPr>
          <p:cNvPr id="12" name="hello/ 對應 views.hello。 此處傳函式本身， 不寫成 views.hello()。">
            <a:extLst xmlns:a="http://schemas.openxmlformats.org/drawingml/2006/main">
              <a:ext uri="{FF2B5EF4-FFF2-40B4-BE49-F238E27FC236}">
                <a16:creationId xmlns:a16="http://schemas.microsoft.com/office/drawing/2014/main" id="{DE40E4DD-C7BF-4E25-8999-37466193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hello/ 對應 views.hello。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此處傳函式本身，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不寫成 views.hello()。</a:t>
            </a:r>
          </a:p>
        </p:txBody>
      </p:sp>
      <p:sp>
        <p:nvSpPr>
          <p:cNvPr id="13" name="路由名稱">
            <a:extLst xmlns:a="http://schemas.openxmlformats.org/drawingml/2006/main">
              <a:ext uri="{FF2B5EF4-FFF2-40B4-BE49-F238E27FC236}">
                <a16:creationId xmlns:a16="http://schemas.microsoft.com/office/drawing/2014/main" id="{B2119461-40FA-42FE-BA7D-843C73B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路由名稱</a:t>
            </a:r>
          </a:p>
        </p:txBody>
      </p:sp>
      <p:sp>
        <p:nvSpPr>
          <p:cNvPr id="14" name="name 用於反向產生網址。 app_name 避免不同 app 出現相同路由名稱。">
            <a:extLst xmlns:a="http://schemas.openxmlformats.org/drawingml/2006/main">
              <a:ext uri="{FF2B5EF4-FFF2-40B4-BE49-F238E27FC236}">
                <a16:creationId xmlns:a16="http://schemas.microsoft.com/office/drawing/2014/main" id="{C0C3574A-2946-460F-A252-536825D3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 用於反向產生網址。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app_name 避免不同 app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出現相同路由名稱。</a:t>
            </a:r>
          </a:p>
        </p:txBody>
      </p:sp>
      <p:sp>
        <p:nvSpPr>
          <p:cNvPr id="15" name="此處只有 app 內部的路徑，尚未決定網站上的前綴。">
            <a:extLst xmlns:a="http://schemas.openxmlformats.org/drawingml/2006/main">
              <a:ext uri="{FF2B5EF4-FFF2-40B4-BE49-F238E27FC236}">
                <a16:creationId xmlns:a16="http://schemas.microsoft.com/office/drawing/2014/main" id="{633E0A1D-ED7B-46D6-943D-D896A6D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此處只有 app 內部的路徑，尚未決定網站上的前綴。</a:t>
            </a:r>
          </a:p>
        </p:txBody>
      </p:sp>
    </p:spTree>
    <p:extLst>
      <p:ext uri="{BB962C8B-B14F-4D97-AF65-F5344CB8AC3E}">
        <p14:creationId xmlns:p14="http://schemas.microsoft.com/office/powerpoint/2010/main" val="1268416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fig/urls.py：網站的總路由">
            <a:extLst xmlns:a="http://schemas.openxmlformats.org/drawingml/2006/main">
              <a:ext uri="{FF2B5EF4-FFF2-40B4-BE49-F238E27FC236}">
                <a16:creationId xmlns:a16="http://schemas.microsoft.com/office/drawing/2014/main" id="{49C74AB2-DA08-460B-88FA-79ED2707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config/urls.py：網站的總路由</a:t>
            </a:r>
          </a:p>
        </p:txBody>
      </p:sp>
      <p:sp>
        <p:nvSpPr>
          <p:cNvPr id="2" name="將 /products/ 交給 catalog app">
            <a:extLst xmlns:a="http://schemas.openxmlformats.org/drawingml/2006/main">
              <a:ext uri="{FF2B5EF4-FFF2-40B4-BE49-F238E27FC236}">
                <a16:creationId xmlns:a16="http://schemas.microsoft.com/office/drawing/2014/main" id="{C6570155-2BA3-40CE-A49E-2BCC3C2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將 /products/ 交給 catalog app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D91B9E9A-DEB5-42B1-9240-3131A99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from django.contrib import admin">
            <a:extLst xmlns:a="http://schemas.openxmlformats.org/drawingml/2006/main">
              <a:ext uri="{FF2B5EF4-FFF2-40B4-BE49-F238E27FC236}">
                <a16:creationId xmlns:a16="http://schemas.microsoft.com/office/drawing/2014/main" id="{7F66B7DF-B1FC-4304-BDC4-00A0FD7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django.contrib import admin</a:t>
            </a:r>
          </a:p>
        </p:txBody>
      </p:sp>
      <p:sp>
        <p:nvSpPr>
          <p:cNvPr id="5" name="from django.urls import include, path">
            <a:extLst xmlns:a="http://schemas.openxmlformats.org/drawingml/2006/main">
              <a:ext uri="{FF2B5EF4-FFF2-40B4-BE49-F238E27FC236}">
                <a16:creationId xmlns:a16="http://schemas.microsoft.com/office/drawing/2014/main" id="{5406EC61-B059-4AAE-8271-3DF3E81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include,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F392-63AD-4956-BBA8-A181B44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A7ACCF56-DAEB-4747-AE30-F74ADAB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8" name="    path(&quot;products/&quot;, include(&quot;catalog.urls&quot;)),">
            <a:extLst xmlns:a="http://schemas.openxmlformats.org/drawingml/2006/main">
              <a:ext uri="{FF2B5EF4-FFF2-40B4-BE49-F238E27FC236}">
                <a16:creationId xmlns:a16="http://schemas.microsoft.com/office/drawing/2014/main" id="{1EED7FAC-0CCB-415E-8FA9-63E9856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path("products/", include("catalog.urls")),</a:t>
            </a:r>
          </a:p>
        </p:txBody>
      </p:sp>
      <p:sp>
        <p:nvSpPr>
          <p:cNvPr id="9" name="    path(&quot;admin/&quot;, admin.site.urls),">
            <a:extLst xmlns:a="http://schemas.openxmlformats.org/drawingml/2006/main">
              <a:ext uri="{FF2B5EF4-FFF2-40B4-BE49-F238E27FC236}">
                <a16:creationId xmlns:a16="http://schemas.microsoft.com/office/drawing/2014/main" id="{99F22B03-A885-4E4A-8A64-E5D2E3D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path("admin/", admin.site.urls),</a:t>
            </a:r>
          </a:p>
        </p:txBody>
      </p:sp>
      <p:sp>
        <p:nvSpPr>
          <p:cNvPr id="10" name="]">
            <a:extLst xmlns:a="http://schemas.openxmlformats.org/drawingml/2006/main">
              <a:ext uri="{FF2B5EF4-FFF2-40B4-BE49-F238E27FC236}">
                <a16:creationId xmlns:a16="http://schemas.microsoft.com/office/drawing/2014/main" id="{F04E4CF1-172D-4E42-BF93-6DB0574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include()">
            <a:extLst xmlns:a="http://schemas.openxmlformats.org/drawingml/2006/main">
              <a:ext uri="{FF2B5EF4-FFF2-40B4-BE49-F238E27FC236}">
                <a16:creationId xmlns:a16="http://schemas.microsoft.com/office/drawing/2014/main" id="{4B6A624C-B31F-4008-97DC-7FF3B75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include()</a:t>
            </a:r>
          </a:p>
        </p:txBody>
      </p:sp>
      <p:sp>
        <p:nvSpPr>
          <p:cNvPr id="12" name="前綴 products/ 匹配後， 剩餘路徑由 app 路由處理。">
            <a:extLst xmlns:a="http://schemas.openxmlformats.org/drawingml/2006/main">
              <a:ext uri="{FF2B5EF4-FFF2-40B4-BE49-F238E27FC236}">
                <a16:creationId xmlns:a16="http://schemas.microsoft.com/office/drawing/2014/main" id="{84CEFB59-F4C9-4005-AD6C-DF19096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前綴 products/ 匹配後，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剩餘路徑由 app 路由處理。</a:t>
            </a:r>
          </a:p>
        </p:txBody>
      </p:sp>
      <p:sp>
        <p:nvSpPr>
          <p:cNvPr id="13" name="第一個可用網址">
            <a:extLst xmlns:a="http://schemas.openxmlformats.org/drawingml/2006/main">
              <a:ext uri="{FF2B5EF4-FFF2-40B4-BE49-F238E27FC236}">
                <a16:creationId xmlns:a16="http://schemas.microsoft.com/office/drawing/2014/main" id="{4AE88D99-22B1-4DCB-BB85-1A2312A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第一個可用網址</a:t>
            </a:r>
          </a:p>
        </p:txBody>
      </p:sp>
      <p:sp>
        <p:nvSpPr>
          <p:cNvPr id="14" name="/products/hello/ 會執行 hello(request)， 顯示 Hello, Django!。">
            <a:extLst xmlns:a="http://schemas.openxmlformats.org/drawingml/2006/main">
              <a:ext uri="{FF2B5EF4-FFF2-40B4-BE49-F238E27FC236}">
                <a16:creationId xmlns:a16="http://schemas.microsoft.com/office/drawing/2014/main" id="{02A854F9-2DF3-4115-A73C-73DEF52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/products/hello/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會執行 hello(request)，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顯示 Hello, Django!。</a:t>
            </a:r>
          </a:p>
        </p:txBody>
      </p:sp>
      <p:sp>
        <p:nvSpPr>
          <p:cNvPr id="15" name="此設定尚未定義根路徑 /；根路徑出現 404 並不表示伺服器壞了。">
            <a:extLst xmlns:a="http://schemas.openxmlformats.org/drawingml/2006/main">
              <a:ext uri="{FF2B5EF4-FFF2-40B4-BE49-F238E27FC236}">
                <a16:creationId xmlns:a16="http://schemas.microsoft.com/office/drawing/2014/main" id="{DA9B70BC-EA11-4D95-9BFD-210DAE1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此設定尚未定義根路徑 /；根路徑出現 404 並不表示伺服器壞了。</a:t>
            </a:r>
          </a:p>
        </p:txBody>
      </p:sp>
    </p:spTree>
    <p:extLst>
      <p:ext uri="{BB962C8B-B14F-4D97-AF65-F5344CB8AC3E}">
        <p14:creationId xmlns:p14="http://schemas.microsoft.com/office/powerpoint/2010/main" val="20176762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次網頁請求的流程">
            <a:extLst xmlns:a="http://schemas.openxmlformats.org/drawingml/2006/main">
              <a:ext uri="{FF2B5EF4-FFF2-40B4-BE49-F238E27FC236}">
                <a16:creationId xmlns:a16="http://schemas.microsoft.com/office/drawing/2014/main" id="{D4BFD974-1340-492C-B6A1-A29304B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一次網頁請求的流程</a:t>
            </a:r>
          </a:p>
        </p:txBody>
      </p:sp>
      <p:sp>
        <p:nvSpPr>
          <p:cNvPr id="2" name="商品列表完成後，檔案如何共同工作">
            <a:extLst xmlns:a="http://schemas.openxmlformats.org/drawingml/2006/main">
              <a:ext uri="{FF2B5EF4-FFF2-40B4-BE49-F238E27FC236}">
                <a16:creationId xmlns:a16="http://schemas.microsoft.com/office/drawing/2014/main" id="{077875A5-A033-4AC7-B844-29E8E02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商品列表完成後，檔案如何共同工作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F15C5CC4-D44D-442F-A902-DFC8F50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04d26599f4326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圖中簡化中介軟體與伺服器入口。View 協調模型查詢，再以模板與資料產生 HTML。">
            <a:extLst xmlns:a="http://schemas.openxmlformats.org/drawingml/2006/main">
              <a:ext uri="{FF2B5EF4-FFF2-40B4-BE49-F238E27FC236}">
                <a16:creationId xmlns:a16="http://schemas.microsoft.com/office/drawing/2014/main" id="{A53332C5-A828-4BD4-AAC6-2E1F3D16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圖中簡化中介軟體與伺服器入口。View 協調模型查詢，再以模板與資料產生 HTML。</a:t>
            </a:r>
          </a:p>
        </p:txBody>
      </p:sp>
    </p:spTree>
    <p:extLst>
      <p:ext uri="{BB962C8B-B14F-4D97-AF65-F5344CB8AC3E}">
        <p14:creationId xmlns:p14="http://schemas.microsoft.com/office/powerpoint/2010/main" val="11097753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odels.py：定義商品資料">
            <a:extLst xmlns:a="http://schemas.openxmlformats.org/drawingml/2006/main">
              <a:ext uri="{FF2B5EF4-FFF2-40B4-BE49-F238E27FC236}">
                <a16:creationId xmlns:a16="http://schemas.microsoft.com/office/drawing/2014/main" id="{138DC509-0DDE-43C2-9983-8A5673E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models.py：定義商品資料</a:t>
            </a:r>
          </a:p>
        </p:txBody>
      </p:sp>
      <p:sp>
        <p:nvSpPr>
          <p:cNvPr id="2" name="Product 類別的資料欄位">
            <a:extLst xmlns:a="http://schemas.openxmlformats.org/drawingml/2006/main">
              <a:ext uri="{FF2B5EF4-FFF2-40B4-BE49-F238E27FC236}">
                <a16:creationId xmlns:a16="http://schemas.microsoft.com/office/drawing/2014/main" id="{0E10A741-53A7-4DFF-96AA-6082316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Product 類別的資料欄位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3A417BA-314E-4039-B46E-E588EDC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from decimal import Decimal">
            <a:extLst xmlns:a="http://schemas.openxmlformats.org/drawingml/2006/main">
              <a:ext uri="{FF2B5EF4-FFF2-40B4-BE49-F238E27FC236}">
                <a16:creationId xmlns:a16="http://schemas.microsoft.com/office/drawing/2014/main" id="{9E0EF248-9BF3-4E73-9E0B-AE01923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decimal import Decimal</a:t>
            </a:r>
          </a:p>
        </p:txBody>
      </p:sp>
      <p:sp>
        <p:nvSpPr>
          <p:cNvPr id="5" name="from django.core.validators import MinValueValidator">
            <a:extLst xmlns:a="http://schemas.openxmlformats.org/drawingml/2006/main">
              <a:ext uri="{FF2B5EF4-FFF2-40B4-BE49-F238E27FC236}">
                <a16:creationId xmlns:a16="http://schemas.microsoft.com/office/drawing/2014/main" id="{022F5E69-151E-406F-891B-B4BF5E2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django.core.validators import MinValueValidator</a:t>
            </a:r>
          </a:p>
        </p:txBody>
      </p:sp>
      <p:sp>
        <p:nvSpPr>
          <p:cNvPr id="6" name="from django.db import models">
            <a:extLst xmlns:a="http://schemas.openxmlformats.org/drawingml/2006/main">
              <a:ext uri="{FF2B5EF4-FFF2-40B4-BE49-F238E27FC236}">
                <a16:creationId xmlns:a16="http://schemas.microsoft.com/office/drawing/2014/main" id="{4B862F91-9FED-4E18-AEA5-628D6C0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django.db import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5E7E5-1B12-4E96-961D-F5818E8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Product(models.Model):">
            <a:extLst xmlns:a="http://schemas.openxmlformats.org/drawingml/2006/main">
              <a:ext uri="{FF2B5EF4-FFF2-40B4-BE49-F238E27FC236}">
                <a16:creationId xmlns:a16="http://schemas.microsoft.com/office/drawing/2014/main" id="{186FF126-3B51-4966-B1D1-3752486F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Product(models.Model):</a:t>
            </a:r>
          </a:p>
        </p:txBody>
      </p:sp>
      <p:sp>
        <p:nvSpPr>
          <p:cNvPr id="9" name="    name = models.CharField(max_length=80)">
            <a:extLst xmlns:a="http://schemas.openxmlformats.org/drawingml/2006/main">
              <a:ext uri="{FF2B5EF4-FFF2-40B4-BE49-F238E27FC236}">
                <a16:creationId xmlns:a16="http://schemas.microsoft.com/office/drawing/2014/main" id="{F9439E94-E341-4EB1-A22E-47C649AF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models.CharField(max_length=80)</a:t>
            </a:r>
          </a:p>
        </p:txBody>
      </p:sp>
      <p:sp>
        <p:nvSpPr>
          <p:cNvPr id="10" name="    price = models.DecimalField(">
            <a:extLst xmlns:a="http://schemas.openxmlformats.org/drawingml/2006/main">
              <a:ext uri="{FF2B5EF4-FFF2-40B4-BE49-F238E27FC236}">
                <a16:creationId xmlns:a16="http://schemas.microsoft.com/office/drawing/2014/main" id="{1D4495C3-57A1-4731-8BA3-F6B9E952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price = models.DecimalField(</a:t>
            </a:r>
          </a:p>
        </p:txBody>
      </p:sp>
      <p:sp>
        <p:nvSpPr>
          <p:cNvPr id="11" name="        max_digits=8, decimal_places=2,">
            <a:extLst xmlns:a="http://schemas.openxmlformats.org/drawingml/2006/main">
              <a:ext uri="{FF2B5EF4-FFF2-40B4-BE49-F238E27FC236}">
                <a16:creationId xmlns:a16="http://schemas.microsoft.com/office/drawing/2014/main" id="{50122E83-0007-4A59-B346-CB5BE2B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max_digits=8, decimal_places=2,</a:t>
            </a:r>
          </a:p>
        </p:txBody>
      </p:sp>
      <p:sp>
        <p:nvSpPr>
          <p:cNvPr id="12" name="        validators=[MinValueValidator(Decimal(&quot;0&quot;))],">
            <a:extLst xmlns:a="http://schemas.openxmlformats.org/drawingml/2006/main">
              <a:ext uri="{FF2B5EF4-FFF2-40B4-BE49-F238E27FC236}">
                <a16:creationId xmlns:a16="http://schemas.microsoft.com/office/drawing/2014/main" id="{EE7B089C-E670-4DC9-831B-4904272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validators=[MinValueValidator(Decimal("0"))],</a:t>
            </a:r>
          </a:p>
        </p:txBody>
      </p:sp>
      <p:sp>
        <p:nvSpPr>
          <p:cNvPr id="13" name="    )">
            <a:extLst xmlns:a="http://schemas.openxmlformats.org/drawingml/2006/main">
              <a:ext uri="{FF2B5EF4-FFF2-40B4-BE49-F238E27FC236}">
                <a16:creationId xmlns:a16="http://schemas.microsoft.com/office/drawing/2014/main" id="{905CDD0F-361A-496B-AF93-113DDE2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4" name="    stock = models.PositiveIntegerField(default=0)">
            <a:extLst xmlns:a="http://schemas.openxmlformats.org/drawingml/2006/main">
              <a:ext uri="{FF2B5EF4-FFF2-40B4-BE49-F238E27FC236}">
                <a16:creationId xmlns:a16="http://schemas.microsoft.com/office/drawing/2014/main" id="{CC6A56A4-8CE0-48E3-9048-FBB2945C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stock = models.PositiveIntegerField(default=0)</a:t>
            </a:r>
          </a:p>
        </p:txBody>
      </p:sp>
      <p:sp>
        <p:nvSpPr>
          <p:cNvPr id="15" name="資料欄位">
            <a:extLst xmlns:a="http://schemas.openxmlformats.org/drawingml/2006/main">
              <a:ext uri="{FF2B5EF4-FFF2-40B4-BE49-F238E27FC236}">
                <a16:creationId xmlns:a16="http://schemas.microsoft.com/office/drawing/2014/main" id="{04BF1BA8-9936-4D40-89FA-2DD0424E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資料欄位</a:t>
            </a:r>
          </a:p>
        </p:txBody>
      </p:sp>
      <p:sp>
        <p:nvSpPr>
          <p:cNvPr id="16" name="name 是文字，price 是十進位數， stock 是非負整數。 Django 預設另加主鍵 id。">
            <a:extLst xmlns:a="http://schemas.openxmlformats.org/drawingml/2006/main">
              <a:ext uri="{FF2B5EF4-FFF2-40B4-BE49-F238E27FC236}">
                <a16:creationId xmlns:a16="http://schemas.microsoft.com/office/drawing/2014/main" id="{F13C2C3D-E3E7-499E-9281-F74989CC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name 是文字，price 是十進位數，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stock 是非負整數。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Django 預設另加主鍵 id。</a:t>
            </a:r>
          </a:p>
        </p:txBody>
      </p:sp>
      <p:sp>
        <p:nvSpPr>
          <p:cNvPr id="17" name="類別與資料表">
            <a:extLst xmlns:a="http://schemas.openxmlformats.org/drawingml/2006/main">
              <a:ext uri="{FF2B5EF4-FFF2-40B4-BE49-F238E27FC236}">
                <a16:creationId xmlns:a16="http://schemas.microsoft.com/office/drawing/2014/main" id="{CB6FEED7-DD2B-4BE9-B634-AF561BBB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類別與資料表</a:t>
            </a:r>
          </a:p>
        </p:txBody>
      </p:sp>
      <p:sp>
        <p:nvSpPr>
          <p:cNvPr id="18" name="Product 描述資料結構。 Product 實例對應單筆商品， 建表仍需執行 migration。">
            <a:extLst xmlns:a="http://schemas.openxmlformats.org/drawingml/2006/main">
              <a:ext uri="{FF2B5EF4-FFF2-40B4-BE49-F238E27FC236}">
                <a16:creationId xmlns:a16="http://schemas.microsoft.com/office/drawing/2014/main" id="{B8AF23C8-2276-48E5-B171-183DE338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Product 描述資料結構。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Product 實例對應單筆商品，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建表仍需執行 migration。</a:t>
            </a:r>
          </a:p>
        </p:txBody>
      </p:sp>
      <p:sp>
        <p:nvSpPr>
          <p:cNvPr id="19" name="validators 在模型或表單驗證時執行；直接指定欄位不會立即呼叫它。">
            <a:extLst xmlns:a="http://schemas.openxmlformats.org/drawingml/2006/main">
              <a:ext uri="{FF2B5EF4-FFF2-40B4-BE49-F238E27FC236}">
                <a16:creationId xmlns:a16="http://schemas.microsoft.com/office/drawing/2014/main" id="{5AD0379B-2FDC-4309-8D66-0DA89549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validators 在模型或表單驗證時執行；直接指定欄位不會立即呼叫它。</a:t>
            </a:r>
          </a:p>
        </p:txBody>
      </p:sp>
    </p:spTree>
    <p:extLst>
      <p:ext uri="{BB962C8B-B14F-4D97-AF65-F5344CB8AC3E}">
        <p14:creationId xmlns:p14="http://schemas.microsoft.com/office/powerpoint/2010/main" val="1157349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odel 中的物件行為">
            <a:extLst xmlns:a="http://schemas.openxmlformats.org/drawingml/2006/main">
              <a:ext uri="{FF2B5EF4-FFF2-40B4-BE49-F238E27FC236}">
                <a16:creationId xmlns:a16="http://schemas.microsoft.com/office/drawing/2014/main" id="{EBC2DA2F-D8F6-4C61-BD67-71955A5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Model 中的物件行為</a:t>
            </a:r>
          </a:p>
        </p:txBody>
      </p:sp>
      <p:sp>
        <p:nvSpPr>
          <p:cNvPr id="2" name="加入 Product 類別內，延續物件導向觀念">
            <a:extLst xmlns:a="http://schemas.openxmlformats.org/drawingml/2006/main">
              <a:ext uri="{FF2B5EF4-FFF2-40B4-BE49-F238E27FC236}">
                <a16:creationId xmlns:a16="http://schemas.microsoft.com/office/drawing/2014/main" id="{D41A1B14-B138-4F2A-BAA7-61CB5E5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加入 Product 類別內，延續物件導向觀念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A84D06F-B740-47A3-B76E-A2A84B5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737BD3C-DB70-4D41-9B15-661F622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5" name="    def in_stock(self):">
            <a:extLst xmlns:a="http://schemas.openxmlformats.org/drawingml/2006/main">
              <a:ext uri="{FF2B5EF4-FFF2-40B4-BE49-F238E27FC236}">
                <a16:creationId xmlns:a16="http://schemas.microsoft.com/office/drawing/2014/main" id="{533A288D-D308-49B3-A038-6FAA791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in_stock(self):</a:t>
            </a:r>
          </a:p>
        </p:txBody>
      </p:sp>
      <p:sp>
        <p:nvSpPr>
          <p:cNvPr id="6" name="        return self.stock &gt; 0">
            <a:extLst xmlns:a="http://schemas.openxmlformats.org/drawingml/2006/main">
              <a:ext uri="{FF2B5EF4-FFF2-40B4-BE49-F238E27FC236}">
                <a16:creationId xmlns:a16="http://schemas.microsoft.com/office/drawing/2014/main" id="{9F9A2D7A-51C5-4673-BEC8-417DFBC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self.stock &gt;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07069-7C69-42BD-B58A-A4FF55F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__str__(self):">
            <a:extLst xmlns:a="http://schemas.openxmlformats.org/drawingml/2006/main">
              <a:ext uri="{FF2B5EF4-FFF2-40B4-BE49-F238E27FC236}">
                <a16:creationId xmlns:a16="http://schemas.microsoft.com/office/drawing/2014/main" id="{BD2EB4B0-FFAB-4F96-A075-9BADD50E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__str__(self):</a:t>
            </a:r>
          </a:p>
        </p:txBody>
      </p:sp>
      <p:sp>
        <p:nvSpPr>
          <p:cNvPr id="9" name="        return self.name">
            <a:extLst xmlns:a="http://schemas.openxmlformats.org/drawingml/2006/main">
              <a:ext uri="{FF2B5EF4-FFF2-40B4-BE49-F238E27FC236}">
                <a16:creationId xmlns:a16="http://schemas.microsoft.com/office/drawing/2014/main" id="{9BDA65AC-E9DF-4648-B468-4CAC0E17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self.name</a:t>
            </a:r>
          </a:p>
        </p:txBody>
      </p:sp>
      <p:sp>
        <p:nvSpPr>
          <p:cNvPr id="10" name="in_stock">
            <a:extLst xmlns:a="http://schemas.openxmlformats.org/drawingml/2006/main">
              <a:ext uri="{FF2B5EF4-FFF2-40B4-BE49-F238E27FC236}">
                <a16:creationId xmlns:a16="http://schemas.microsoft.com/office/drawing/2014/main" id="{B1F9ECB0-5F21-4F79-B11A-4BE695E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in_stock</a:t>
            </a:r>
          </a:p>
        </p:txBody>
      </p:sp>
      <p:sp>
        <p:nvSpPr>
          <p:cNvPr id="11" name="計算目前是否有庫存， 不需要額外儲存欄位。 模板可讀取 product.in_stock。">
            <a:extLst xmlns:a="http://schemas.openxmlformats.org/drawingml/2006/main">
              <a:ext uri="{FF2B5EF4-FFF2-40B4-BE49-F238E27FC236}">
                <a16:creationId xmlns:a16="http://schemas.microsoft.com/office/drawing/2014/main" id="{835450EA-082C-4388-9D35-8D8994E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計算目前是否有庫存，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不需要額外儲存欄位。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模板可讀取 product.in_stock。</a:t>
            </a:r>
          </a:p>
        </p:txBody>
      </p:sp>
      <p:sp>
        <p:nvSpPr>
          <p:cNvPr id="12" name="__str__()">
            <a:extLst xmlns:a="http://schemas.openxmlformats.org/drawingml/2006/main">
              <a:ext uri="{FF2B5EF4-FFF2-40B4-BE49-F238E27FC236}">
                <a16:creationId xmlns:a16="http://schemas.microsoft.com/office/drawing/2014/main" id="{95859A81-06F5-474D-930A-672BF5C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__str__()</a:t>
            </a:r>
          </a:p>
        </p:txBody>
      </p:sp>
      <p:sp>
        <p:nvSpPr>
          <p:cNvPr id="13" name="定義物件的文字表示。 在 admin 或 shell 顯示商品時， 可看到名稱而非預設物件文字。">
            <a:extLst xmlns:a="http://schemas.openxmlformats.org/drawingml/2006/main">
              <a:ext uri="{FF2B5EF4-FFF2-40B4-BE49-F238E27FC236}">
                <a16:creationId xmlns:a16="http://schemas.microsoft.com/office/drawing/2014/main" id="{C696387F-3E13-4ECE-A58C-70E6E9E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定義物件的文字表示。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在 admin 或 shell 顯示商品時，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可看到名稱而非預設物件文字。</a:t>
            </a:r>
          </a:p>
        </p:txBody>
      </p:sp>
      <p:sp>
        <p:nvSpPr>
          <p:cNvPr id="14" name="本例的 property 只有 getter，不能直接指定 in_stock。">
            <a:extLst xmlns:a="http://schemas.openxmlformats.org/drawingml/2006/main">
              <a:ext uri="{FF2B5EF4-FFF2-40B4-BE49-F238E27FC236}">
                <a16:creationId xmlns:a16="http://schemas.microsoft.com/office/drawing/2014/main" id="{3EC87EFB-D88E-46D4-B422-6CF3CF6B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本例的 property 只有 getter，不能直接指定 in_stock。</a:t>
            </a:r>
          </a:p>
        </p:txBody>
      </p:sp>
    </p:spTree>
    <p:extLst>
      <p:ext uri="{BB962C8B-B14F-4D97-AF65-F5344CB8AC3E}">
        <p14:creationId xmlns:p14="http://schemas.microsoft.com/office/powerpoint/2010/main" val="13274466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gration 與資料表的關係">
            <a:extLst xmlns:a="http://schemas.openxmlformats.org/drawingml/2006/main">
              <a:ext uri="{FF2B5EF4-FFF2-40B4-BE49-F238E27FC236}">
                <a16:creationId xmlns:a16="http://schemas.microsoft.com/office/drawing/2014/main" id="{E14656DB-DCE0-4F8E-8A22-3A79484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Migration 與資料表的關係</a:t>
            </a:r>
          </a:p>
        </p:txBody>
      </p:sp>
      <p:sp>
        <p:nvSpPr>
          <p:cNvPr id="2" name="模型定義、變更檔案與資料庫是不同層次">
            <a:extLst xmlns:a="http://schemas.openxmlformats.org/drawingml/2006/main">
              <a:ext uri="{FF2B5EF4-FFF2-40B4-BE49-F238E27FC236}">
                <a16:creationId xmlns:a16="http://schemas.microsoft.com/office/drawing/2014/main" id="{8710718C-E980-40D7-889B-1304B1C5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模型定義、變更檔案與資料庫是不同層次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0E24DFD0-BD9A-4DBE-B88B-123FADE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b951afa1c401b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修改 models.py 後，先產生 migration，再將 migration 套用到資料庫。">
            <a:extLst xmlns:a="http://schemas.openxmlformats.org/drawingml/2006/main">
              <a:ext uri="{FF2B5EF4-FFF2-40B4-BE49-F238E27FC236}">
                <a16:creationId xmlns:a16="http://schemas.microsoft.com/office/drawing/2014/main" id="{94B43605-6BDC-4CA4-B9E2-8393CE3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修改 models.py 後，先產生 migration，再將 migration 套用到資料庫。</a:t>
            </a:r>
          </a:p>
        </p:txBody>
      </p:sp>
    </p:spTree>
    <p:extLst>
      <p:ext uri="{BB962C8B-B14F-4D97-AF65-F5344CB8AC3E}">
        <p14:creationId xmlns:p14="http://schemas.microsoft.com/office/powerpoint/2010/main" val="3157307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立商品資料表">
            <a:extLst xmlns:a="http://schemas.openxmlformats.org/drawingml/2006/main">
              <a:ext uri="{FF2B5EF4-FFF2-40B4-BE49-F238E27FC236}">
                <a16:creationId xmlns:a16="http://schemas.microsoft.com/office/drawing/2014/main" id="{482B27C0-AD35-4750-8A6D-6CFF73B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建立商品資料表</a:t>
            </a:r>
          </a:p>
        </p:txBody>
      </p:sp>
      <p:sp>
        <p:nvSpPr>
          <p:cNvPr id="2" name="migrations/ 會開始出現版本化的 Python 檔案">
            <a:extLst xmlns:a="http://schemas.openxmlformats.org/drawingml/2006/main">
              <a:ext uri="{FF2B5EF4-FFF2-40B4-BE49-F238E27FC236}">
                <a16:creationId xmlns:a16="http://schemas.microsoft.com/office/drawing/2014/main" id="{A7122A3A-7914-4106-8F28-0399298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migrations/ 會開始出現版本化的 Python 檔案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F9701DE-B53B-4EB4-AB06-BC93F44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python manage.py makemigrations catalog">
            <a:extLst xmlns:a="http://schemas.openxmlformats.org/drawingml/2006/main">
              <a:ext uri="{FF2B5EF4-FFF2-40B4-BE49-F238E27FC236}">
                <a16:creationId xmlns:a16="http://schemas.microsoft.com/office/drawing/2014/main" id="{4BDCF0F8-70DB-4E4B-ABCC-1431C31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makemigrations catalog</a:t>
            </a:r>
          </a:p>
        </p:txBody>
      </p:sp>
      <p:sp>
        <p:nvSpPr>
          <p:cNvPr id="5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43DD8A70-473A-4F5D-A31B-133B8A5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6" name="python manage.py showmigrations catalog">
            <a:extLst xmlns:a="http://schemas.openxmlformats.org/drawingml/2006/main">
              <a:ext uri="{FF2B5EF4-FFF2-40B4-BE49-F238E27FC236}">
                <a16:creationId xmlns:a16="http://schemas.microsoft.com/office/drawing/2014/main" id="{42F1A3A1-A85A-4885-8B5F-D6EAFCA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showmigrations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6A24E-B107-4C9E-87BC-C726BEDB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atalog/migrations/">
            <a:extLst xmlns:a="http://schemas.openxmlformats.org/drawingml/2006/main">
              <a:ext uri="{FF2B5EF4-FFF2-40B4-BE49-F238E27FC236}">
                <a16:creationId xmlns:a16="http://schemas.microsoft.com/office/drawing/2014/main" id="{49974BE5-5C2B-4EC2-9007-F1629EDF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catalog/migrations/</a:t>
            </a:r>
          </a:p>
        </p:txBody>
      </p:sp>
      <p:sp>
        <p:nvSpPr>
          <p:cNvPr id="9" name="    __init__.py">
            <a:extLst xmlns:a="http://schemas.openxmlformats.org/drawingml/2006/main">
              <a:ext uri="{FF2B5EF4-FFF2-40B4-BE49-F238E27FC236}">
                <a16:creationId xmlns:a16="http://schemas.microsoft.com/office/drawing/2014/main" id="{833AE2BB-ACEF-4602-987B-D4AF22E5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__init__.py</a:t>
            </a:r>
          </a:p>
        </p:txBody>
      </p:sp>
      <p:sp>
        <p:nvSpPr>
          <p:cNvPr id="10" name="    0001_initial.py">
            <a:extLst xmlns:a="http://schemas.openxmlformats.org/drawingml/2006/main">
              <a:ext uri="{FF2B5EF4-FFF2-40B4-BE49-F238E27FC236}">
                <a16:creationId xmlns:a16="http://schemas.microsoft.com/office/drawing/2014/main" id="{A18CBD2D-0827-4273-AB84-D1CB275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0001_initial.py</a:t>
            </a:r>
          </a:p>
        </p:txBody>
      </p:sp>
      <p:sp>
        <p:nvSpPr>
          <p:cNvPr id="11" name="makemigrations">
            <a:extLst xmlns:a="http://schemas.openxmlformats.org/drawingml/2006/main">
              <a:ext uri="{FF2B5EF4-FFF2-40B4-BE49-F238E27FC236}">
                <a16:creationId xmlns:a16="http://schemas.microsoft.com/office/drawing/2014/main" id="{74420F5B-016A-406D-A731-D10ED47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makemigrations</a:t>
            </a:r>
          </a:p>
        </p:txBody>
      </p:sp>
      <p:sp>
        <p:nvSpPr>
          <p:cNvPr id="12" name="比較目前模型與既有 migration 的狀態，產生變更檔案。">
            <a:extLst xmlns:a="http://schemas.openxmlformats.org/drawingml/2006/main">
              <a:ext uri="{FF2B5EF4-FFF2-40B4-BE49-F238E27FC236}">
                <a16:creationId xmlns:a16="http://schemas.microsoft.com/office/drawing/2014/main" id="{C3F10EB6-B43E-4A7A-AAD1-5AA9268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比較目前模型與既有 migration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的狀態，產生變更檔案。</a:t>
            </a:r>
          </a:p>
        </p:txBody>
      </p:sp>
      <p:sp>
        <p:nvSpPr>
          <p:cNvPr id="13" name="migrate">
            <a:extLst xmlns:a="http://schemas.openxmlformats.org/drawingml/2006/main">
              <a:ext uri="{FF2B5EF4-FFF2-40B4-BE49-F238E27FC236}">
                <a16:creationId xmlns:a16="http://schemas.microsoft.com/office/drawing/2014/main" id="{A24AF5E6-4888-41A4-935D-259102B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migrate</a:t>
            </a:r>
          </a:p>
        </p:txBody>
      </p:sp>
      <p:sp>
        <p:nvSpPr>
          <p:cNvPr id="14" name="依依賴順序套用 migration。 showmigrations 的 [X] 表示已套用。">
            <a:extLst xmlns:a="http://schemas.openxmlformats.org/drawingml/2006/main">
              <a:ext uri="{FF2B5EF4-FFF2-40B4-BE49-F238E27FC236}">
                <a16:creationId xmlns:a16="http://schemas.microsoft.com/office/drawing/2014/main" id="{DE1D7F2D-5378-41B8-9AF8-1701537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依依賴順序套用 migration。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showmigrations 的 [X]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表示已套用。</a:t>
            </a:r>
          </a:p>
        </p:txBody>
      </p:sp>
      <p:sp>
        <p:nvSpPr>
          <p:cNvPr id="15" name="模型的結構變更需要遷移；一般商品資料更新不需要建立 migration。">
            <a:extLst xmlns:a="http://schemas.openxmlformats.org/drawingml/2006/main">
              <a:ext uri="{FF2B5EF4-FFF2-40B4-BE49-F238E27FC236}">
                <a16:creationId xmlns:a16="http://schemas.microsoft.com/office/drawing/2014/main" id="{5B65F9C1-C342-40BE-8EED-E1D308B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模型的結構變更需要遷移；一般商品資料更新不需要建立 migration。</a:t>
            </a:r>
          </a:p>
        </p:txBody>
      </p:sp>
    </p:spTree>
    <p:extLst>
      <p:ext uri="{BB962C8B-B14F-4D97-AF65-F5344CB8AC3E}">
        <p14:creationId xmlns:p14="http://schemas.microsoft.com/office/powerpoint/2010/main" val="6795522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gration 檔案與 db.sqlite3">
            <a:extLst xmlns:a="http://schemas.openxmlformats.org/drawingml/2006/main">
              <a:ext uri="{FF2B5EF4-FFF2-40B4-BE49-F238E27FC236}">
                <a16:creationId xmlns:a16="http://schemas.microsoft.com/office/drawing/2014/main" id="{FB2C4DE7-19C2-4032-957D-217EBC59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Migration 檔案與 db.sqlite3</a:t>
            </a:r>
          </a:p>
        </p:txBody>
      </p:sp>
      <p:sp>
        <p:nvSpPr>
          <p:cNvPr id="2" name="程式版本與執行資料分別保存">
            <a:extLst xmlns:a="http://schemas.openxmlformats.org/drawingml/2006/main">
              <a:ext uri="{FF2B5EF4-FFF2-40B4-BE49-F238E27FC236}">
                <a16:creationId xmlns:a16="http://schemas.microsoft.com/office/drawing/2014/main" id="{0C4C00D3-789A-4BAB-95AE-CCB2A1B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程式版本與執行資料分別保存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FE06BD31-3581-4A51-9D5F-5C2B383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4591050"/>
                <a:gridCol w="31432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位置／內容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處理方式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migrations/__init__.py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套件標記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保留並納入版本控制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0001_initial.py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第一次建表的變更描述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閱讀、檢查並納入版本控制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dependencies / operations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遷移相依關係與要執行的變更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通常由 Django 產生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db.sqlite3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SQLite 資料庫，包含資料與套用紀錄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本機範例不納入 Git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不要把刪除 migration 或資料庫當作例行修復方式，已有資料的專案須另行評估。">
            <a:extLst xmlns:a="http://schemas.openxmlformats.org/drawingml/2006/main">
              <a:ext uri="{FF2B5EF4-FFF2-40B4-BE49-F238E27FC236}">
                <a16:creationId xmlns:a16="http://schemas.microsoft.com/office/drawing/2014/main" id="{BD8A14D8-61A6-48F7-914D-54E244F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不要把刪除 migration 或資料庫當作例行修復方式，已有資料的專案須另行評估。</a:t>
            </a:r>
          </a:p>
        </p:txBody>
      </p:sp>
    </p:spTree>
    <p:extLst>
      <p:ext uri="{BB962C8B-B14F-4D97-AF65-F5344CB8AC3E}">
        <p14:creationId xmlns:p14="http://schemas.microsoft.com/office/powerpoint/2010/main" val="13564213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以 ORM 建立與查詢資料">
            <a:extLst xmlns:a="http://schemas.openxmlformats.org/drawingml/2006/main">
              <a:ext uri="{FF2B5EF4-FFF2-40B4-BE49-F238E27FC236}">
                <a16:creationId xmlns:a16="http://schemas.microsoft.com/office/drawing/2014/main" id="{3D2DD9B3-AFF4-49FB-A48A-DC305AC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 ORM 建立與查詢資料</a:t>
            </a:r>
          </a:p>
        </p:txBody>
      </p:sp>
      <p:sp>
        <p:nvSpPr>
          <p:cNvPr id="2" name="先執行 python manage.py shell，再輸入 Python">
            <a:extLst xmlns:a="http://schemas.openxmlformats.org/drawingml/2006/main">
              <a:ext uri="{FF2B5EF4-FFF2-40B4-BE49-F238E27FC236}">
                <a16:creationId xmlns:a16="http://schemas.microsoft.com/office/drawing/2014/main" id="{76E3211F-22B6-4A3A-AD58-043F6EC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先執行 python manage.py shell，再輸入 Python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EC5AB3A4-F8D2-40BD-877D-5E1B232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from decimal import Decimal">
            <a:extLst xmlns:a="http://schemas.openxmlformats.org/drawingml/2006/main">
              <a:ext uri="{FF2B5EF4-FFF2-40B4-BE49-F238E27FC236}">
                <a16:creationId xmlns:a16="http://schemas.microsoft.com/office/drawing/2014/main" id="{D24F492C-EC98-45D7-B3C5-7300472C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decimal import Decimal</a:t>
            </a:r>
          </a:p>
        </p:txBody>
      </p:sp>
      <p:sp>
        <p:nvSpPr>
          <p:cNvPr id="5" name="from catalog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B00FE2A1-6F25-434B-B97E-4E66D80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catalog.models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49C0-1070-4D07-B27E-A95F299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 = Product(name=&quot;Keyboard&quot;,">
            <a:extLst xmlns:a="http://schemas.openxmlformats.org/drawingml/2006/main">
              <a:ext uri="{FF2B5EF4-FFF2-40B4-BE49-F238E27FC236}">
                <a16:creationId xmlns:a16="http://schemas.microsoft.com/office/drawing/2014/main" id="{3C2F61A6-8F2A-4D57-8C1C-534B9F3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 = Product(name="Keyboard",</a:t>
            </a:r>
          </a:p>
        </p:txBody>
      </p:sp>
      <p:sp>
        <p:nvSpPr>
          <p:cNvPr id="8" name="    price=Decimal(&quot;1290.00&quot;), stock=8)">
            <a:extLst xmlns:a="http://schemas.openxmlformats.org/drawingml/2006/main">
              <a:ext uri="{FF2B5EF4-FFF2-40B4-BE49-F238E27FC236}">
                <a16:creationId xmlns:a16="http://schemas.microsoft.com/office/drawing/2014/main" id="{7A340777-449F-4F1A-A62F-9639E739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price=Decimal("1290.00"), stock=8)</a:t>
            </a:r>
          </a:p>
        </p:txBody>
      </p:sp>
      <p:sp>
        <p:nvSpPr>
          <p:cNvPr id="9" name="p.full_clean()">
            <a:extLst xmlns:a="http://schemas.openxmlformats.org/drawingml/2006/main">
              <a:ext uri="{FF2B5EF4-FFF2-40B4-BE49-F238E27FC236}">
                <a16:creationId xmlns:a16="http://schemas.microsoft.com/office/drawing/2014/main" id="{E9203614-2E2E-417F-BA5E-83D34D89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p.full_clean()</a:t>
            </a:r>
          </a:p>
        </p:txBody>
      </p:sp>
      <p:sp>
        <p:nvSpPr>
          <p:cNvPr id="10" name="p.save()">
            <a:extLst xmlns:a="http://schemas.openxmlformats.org/drawingml/2006/main">
              <a:ext uri="{FF2B5EF4-FFF2-40B4-BE49-F238E27FC236}">
                <a16:creationId xmlns:a16="http://schemas.microsoft.com/office/drawing/2014/main" id="{D0E20A1D-EC77-444D-8247-0CF86FB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p.save()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E2635-6005-4DE9-9E62-57B5F78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oduct.objects.all()">
            <a:extLst xmlns:a="http://schemas.openxmlformats.org/drawingml/2006/main">
              <a:ext uri="{FF2B5EF4-FFF2-40B4-BE49-F238E27FC236}">
                <a16:creationId xmlns:a16="http://schemas.microsoft.com/office/drawing/2014/main" id="{6E516804-B1E6-4848-A263-7CEB568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Product.objects.all()</a:t>
            </a:r>
          </a:p>
        </p:txBody>
      </p:sp>
      <p:sp>
        <p:nvSpPr>
          <p:cNvPr id="13" name="Product.objects.filter(stock__gt=0)">
            <a:extLst xmlns:a="http://schemas.openxmlformats.org/drawingml/2006/main">
              <a:ext uri="{FF2B5EF4-FFF2-40B4-BE49-F238E27FC236}">
                <a16:creationId xmlns:a16="http://schemas.microsoft.com/office/drawing/2014/main" id="{4003746E-C22B-4AE9-B315-2B318D2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Product.objects.filter(stock__gt=0)</a:t>
            </a:r>
          </a:p>
        </p:txBody>
      </p:sp>
      <p:sp>
        <p:nvSpPr>
          <p:cNvPr id="14" name="Product.objects.get(pk=p.pk)">
            <a:extLst xmlns:a="http://schemas.openxmlformats.org/drawingml/2006/main">
              <a:ext uri="{FF2B5EF4-FFF2-40B4-BE49-F238E27FC236}">
                <a16:creationId xmlns:a16="http://schemas.microsoft.com/office/drawing/2014/main" id="{E2086E71-46D2-4296-9FB4-305B4E7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Product.objects.get(pk=p.pk)</a:t>
            </a:r>
          </a:p>
        </p:txBody>
      </p:sp>
      <p:sp>
        <p:nvSpPr>
          <p:cNvPr id="15" name="ORM">
            <a:extLst xmlns:a="http://schemas.openxmlformats.org/drawingml/2006/main">
              <a:ext uri="{FF2B5EF4-FFF2-40B4-BE49-F238E27FC236}">
                <a16:creationId xmlns:a16="http://schemas.microsoft.com/office/drawing/2014/main" id="{6101D8CF-503F-438E-8FB0-9D660BB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ORM</a:t>
            </a:r>
          </a:p>
        </p:txBody>
      </p:sp>
      <p:sp>
        <p:nvSpPr>
          <p:cNvPr id="16" name="以 Python 模型與查詢方法 操作資料，Django 轉成 適合資料庫的查詢。">
            <a:extLst xmlns:a="http://schemas.openxmlformats.org/drawingml/2006/main">
              <a:ext uri="{FF2B5EF4-FFF2-40B4-BE49-F238E27FC236}">
                <a16:creationId xmlns:a16="http://schemas.microsoft.com/office/drawing/2014/main" id="{55BE0FDA-BF16-46E7-98DC-346450B6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 Python 模型與查詢方法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操作資料，Django 轉成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適合資料庫的查詢。</a:t>
            </a:r>
          </a:p>
        </p:txBody>
      </p:sp>
      <p:sp>
        <p:nvSpPr>
          <p:cNvPr id="17" name="驗證與儲存">
            <a:extLst xmlns:a="http://schemas.openxmlformats.org/drawingml/2006/main">
              <a:ext uri="{FF2B5EF4-FFF2-40B4-BE49-F238E27FC236}">
                <a16:creationId xmlns:a16="http://schemas.microsoft.com/office/drawing/2014/main" id="{2276B238-27BF-4543-A4D4-C36A3B1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驗證與儲存</a:t>
            </a:r>
          </a:p>
        </p:txBody>
      </p:sp>
      <p:sp>
        <p:nvSpPr>
          <p:cNvPr id="18" name="本例明確呼叫 full_clean()。 save() 不會自動執行 完整模型驗證。">
            <a:extLst xmlns:a="http://schemas.openxmlformats.org/drawingml/2006/main">
              <a:ext uri="{FF2B5EF4-FFF2-40B4-BE49-F238E27FC236}">
                <a16:creationId xmlns:a16="http://schemas.microsoft.com/office/drawing/2014/main" id="{F32653DF-794E-4641-9803-F3C7E9E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本例明確呼叫 full_clean()。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save() 不會自動執行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完整模型驗證。</a:t>
            </a:r>
          </a:p>
        </p:txBody>
      </p:sp>
      <p:sp>
        <p:nvSpPr>
          <p:cNvPr id="19" name="pk 是主鍵的通用名稱；預設 Product 使用 id 欄位。">
            <a:extLst xmlns:a="http://schemas.openxmlformats.org/drawingml/2006/main">
              <a:ext uri="{FF2B5EF4-FFF2-40B4-BE49-F238E27FC236}">
                <a16:creationId xmlns:a16="http://schemas.microsoft.com/office/drawing/2014/main" id="{B28E706F-83C6-4D07-BA50-1B12F725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pk 是主鍵的通用名稱；預設 Product 使用 id 欄位。</a:t>
            </a:r>
          </a:p>
        </p:txBody>
      </p:sp>
    </p:spTree>
    <p:extLst>
      <p:ext uri="{BB962C8B-B14F-4D97-AF65-F5344CB8AC3E}">
        <p14:creationId xmlns:p14="http://schemas.microsoft.com/office/powerpoint/2010/main" val="1175665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dmin.py：註冊管理介面">
            <a:extLst xmlns:a="http://schemas.openxmlformats.org/drawingml/2006/main">
              <a:ext uri="{FF2B5EF4-FFF2-40B4-BE49-F238E27FC236}">
                <a16:creationId xmlns:a16="http://schemas.microsoft.com/office/drawing/2014/main" id="{ADD18DC0-D0E7-44FF-B0DB-4DB0647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admin.py：註冊管理介面</a:t>
            </a:r>
          </a:p>
        </p:txBody>
      </p:sp>
      <p:sp>
        <p:nvSpPr>
          <p:cNvPr id="2" name="catalog/admin.py">
            <a:extLst xmlns:a="http://schemas.openxmlformats.org/drawingml/2006/main">
              <a:ext uri="{FF2B5EF4-FFF2-40B4-BE49-F238E27FC236}">
                <a16:creationId xmlns:a16="http://schemas.microsoft.com/office/drawing/2014/main" id="{FB9C5485-FCF7-43DA-B976-440B297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catalog/admin.py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EAFD3EE8-BF89-449F-AC36-C2C627F8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from django.contrib import admin">
            <a:extLst xmlns:a="http://schemas.openxmlformats.org/drawingml/2006/main">
              <a:ext uri="{FF2B5EF4-FFF2-40B4-BE49-F238E27FC236}">
                <a16:creationId xmlns:a16="http://schemas.microsoft.com/office/drawing/2014/main" id="{64A9E855-08FF-4A9D-8951-8D3C2B7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django.contrib import admin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48B9DFDF-7508-4CC9-B678-5EF6750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D60FD-AD77-43FE-B874-4A7B7C5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@admin.register(Product)">
            <a:extLst xmlns:a="http://schemas.openxmlformats.org/drawingml/2006/main">
              <a:ext uri="{FF2B5EF4-FFF2-40B4-BE49-F238E27FC236}">
                <a16:creationId xmlns:a16="http://schemas.microsoft.com/office/drawing/2014/main" id="{91DCAA5D-2A57-4B4C-9C71-A873B42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@admin.register(Product)</a:t>
            </a:r>
          </a:p>
        </p:txBody>
      </p:sp>
      <p:sp>
        <p:nvSpPr>
          <p:cNvPr id="8" name="class ProductAdmin(admin.ModelAdmin):">
            <a:extLst xmlns:a="http://schemas.openxmlformats.org/drawingml/2006/main">
              <a:ext uri="{FF2B5EF4-FFF2-40B4-BE49-F238E27FC236}">
                <a16:creationId xmlns:a16="http://schemas.microsoft.com/office/drawing/2014/main" id="{D3B08997-6162-4795-8E09-3B04D8B4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ProductAdmin(admin.ModelAdmin):</a:t>
            </a:r>
          </a:p>
        </p:txBody>
      </p:sp>
      <p:sp>
        <p:nvSpPr>
          <p:cNvPr id="9" name="    list_display = (&quot;name&quot;, &quot;price&quot;, &quot;stock&quot;)">
            <a:extLst xmlns:a="http://schemas.openxmlformats.org/drawingml/2006/main">
              <a:ext uri="{FF2B5EF4-FFF2-40B4-BE49-F238E27FC236}">
                <a16:creationId xmlns:a16="http://schemas.microsoft.com/office/drawing/2014/main" id="{71F35985-DE9A-44E2-8AD5-BAF2F06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list_display = ("name", "price", "stock")</a:t>
            </a:r>
          </a:p>
        </p:txBody>
      </p:sp>
      <p:sp>
        <p:nvSpPr>
          <p:cNvPr id="10" name="    search_fields = (&quot;name&quot;,)">
            <a:extLst xmlns:a="http://schemas.openxmlformats.org/drawingml/2006/main">
              <a:ext uri="{FF2B5EF4-FFF2-40B4-BE49-F238E27FC236}">
                <a16:creationId xmlns:a16="http://schemas.microsoft.com/office/drawing/2014/main" id="{94FC789D-96E1-4A6B-9335-D87A045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search_fields = ("name",)</a:t>
            </a:r>
          </a:p>
        </p:txBody>
      </p:sp>
      <p:sp>
        <p:nvSpPr>
          <p:cNvPr id="11" name="註冊模型">
            <a:extLst xmlns:a="http://schemas.openxmlformats.org/drawingml/2006/main">
              <a:ext uri="{FF2B5EF4-FFF2-40B4-BE49-F238E27FC236}">
                <a16:creationId xmlns:a16="http://schemas.microsoft.com/office/drawing/2014/main" id="{8C5325AA-1FC5-49AC-B929-509212F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註冊模型</a:t>
            </a:r>
          </a:p>
        </p:txBody>
      </p:sp>
      <p:sp>
        <p:nvSpPr>
          <p:cNvPr id="12" name="讓 Product 出現在 Django 內建後台。">
            <a:extLst xmlns:a="http://schemas.openxmlformats.org/drawingml/2006/main">
              <a:ext uri="{FF2B5EF4-FFF2-40B4-BE49-F238E27FC236}">
                <a16:creationId xmlns:a16="http://schemas.microsoft.com/office/drawing/2014/main" id="{1EB124C1-8EE8-4EF0-B715-8FA8582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讓 Product 出現在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Django 內建後台。</a:t>
            </a:r>
          </a:p>
        </p:txBody>
      </p:sp>
      <p:sp>
        <p:nvSpPr>
          <p:cNvPr id="13" name="自訂顯示">
            <a:extLst xmlns:a="http://schemas.openxmlformats.org/drawingml/2006/main">
              <a:ext uri="{FF2B5EF4-FFF2-40B4-BE49-F238E27FC236}">
                <a16:creationId xmlns:a16="http://schemas.microsoft.com/office/drawing/2014/main" id="{C369801E-A941-4F06-941E-F2C85D5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自訂顯示</a:t>
            </a:r>
          </a:p>
        </p:txBody>
      </p:sp>
      <p:sp>
        <p:nvSpPr>
          <p:cNvPr id="14" name="list_display 決定清單欄位， search_fields 啟用 指定欄位的搜尋。">
            <a:extLst xmlns:a="http://schemas.openxmlformats.org/drawingml/2006/main">
              <a:ext uri="{FF2B5EF4-FFF2-40B4-BE49-F238E27FC236}">
                <a16:creationId xmlns:a16="http://schemas.microsoft.com/office/drawing/2014/main" id="{FCB02247-E90C-4F3A-BC06-D9E9F3F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list_display 決定清單欄位，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search_fields 啟用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指定欄位的搜尋。</a:t>
            </a:r>
          </a:p>
        </p:txBody>
      </p:sp>
      <p:sp>
        <p:nvSpPr>
          <p:cNvPr id="15" name="admin.py 處理後台設定，公開網站的商品頁仍由自己的 view 與 template 負責。">
            <a:extLst xmlns:a="http://schemas.openxmlformats.org/drawingml/2006/main">
              <a:ext uri="{FF2B5EF4-FFF2-40B4-BE49-F238E27FC236}">
                <a16:creationId xmlns:a16="http://schemas.microsoft.com/office/drawing/2014/main" id="{D1D32942-2A0C-4FD9-B6CB-92D34E3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admin.py 處理後台設定，公開網站的商品頁仍由自己的 view 與 template 負責。</a:t>
            </a:r>
          </a:p>
        </p:txBody>
      </p:sp>
    </p:spTree>
    <p:extLst>
      <p:ext uri="{BB962C8B-B14F-4D97-AF65-F5344CB8AC3E}">
        <p14:creationId xmlns:p14="http://schemas.microsoft.com/office/powerpoint/2010/main" val="11303837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建立管理員與登入後台">
            <a:extLst xmlns:a="http://schemas.openxmlformats.org/drawingml/2006/main">
              <a:ext uri="{FF2B5EF4-FFF2-40B4-BE49-F238E27FC236}">
                <a16:creationId xmlns:a16="http://schemas.microsoft.com/office/drawing/2014/main" id="{C8BEF035-3577-4EC0-8660-F3C54EF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建立管理員與登入後台</a:t>
            </a:r>
          </a:p>
        </p:txBody>
      </p:sp>
      <p:sp>
        <p:nvSpPr>
          <p:cNvPr id="2" name="在一般終端機執行，非 manage.py shell 內">
            <a:extLst xmlns:a="http://schemas.openxmlformats.org/drawingml/2006/main">
              <a:ext uri="{FF2B5EF4-FFF2-40B4-BE49-F238E27FC236}">
                <a16:creationId xmlns:a16="http://schemas.microsoft.com/office/drawing/2014/main" id="{4148B36B-753C-4165-B4F9-F576CF2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在一般終端機執行，非 manage.py shell 內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CFEB2F92-4D70-4591-B006-079033F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4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AF304D58-9C51-4F2C-A4CB-EDBEC01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D01B996F-BE81-4B5C-82A0-CBF3252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165B7-AAC9-4D25-9977-0E2C5A8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瀏覽器開啟">
            <a:extLst xmlns:a="http://schemas.openxmlformats.org/drawingml/2006/main">
              <a:ext uri="{FF2B5EF4-FFF2-40B4-BE49-F238E27FC236}">
                <a16:creationId xmlns:a16="http://schemas.microsoft.com/office/drawing/2014/main" id="{B09CC260-D94C-498A-8DF1-47E1DAE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瀏覽器開啟</a:t>
            </a:r>
          </a:p>
        </p:txBody>
      </p:sp>
      <p:sp>
        <p:nvSpPr>
          <p:cNvPr id="8" name="http://127.0.0.1:8000/admin/">
            <a:extLst xmlns:a="http://schemas.openxmlformats.org/drawingml/2006/main">
              <a:ext uri="{FF2B5EF4-FFF2-40B4-BE49-F238E27FC236}">
                <a16:creationId xmlns:a16="http://schemas.microsoft.com/office/drawing/2014/main" id="{3F7EE1EF-B382-4410-B795-6BEE26B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http://127.0.0.1:8000/admin/</a:t>
            </a:r>
          </a:p>
        </p:txBody>
      </p:sp>
      <p:sp>
        <p:nvSpPr>
          <p:cNvPr id="9" name="建立帳號">
            <a:extLst xmlns:a="http://schemas.openxmlformats.org/drawingml/2006/main">
              <a:ext uri="{FF2B5EF4-FFF2-40B4-BE49-F238E27FC236}">
                <a16:creationId xmlns:a16="http://schemas.microsoft.com/office/drawing/2014/main" id="{D0E88623-8F35-40F0-8EFA-C0EAA44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建立帳號</a:t>
            </a:r>
          </a:p>
        </p:txBody>
      </p:sp>
      <p:sp>
        <p:nvSpPr>
          <p:cNvPr id="10" name="依提示輸入使用者名稱、 Email 與密碼。 密碼輸入不會顯示字元。">
            <a:extLst xmlns:a="http://schemas.openxmlformats.org/drawingml/2006/main">
              <a:ext uri="{FF2B5EF4-FFF2-40B4-BE49-F238E27FC236}">
                <a16:creationId xmlns:a16="http://schemas.microsoft.com/office/drawing/2014/main" id="{52944025-4332-4E16-BECE-4B5FF76F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依提示輸入使用者名稱、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Email 與密碼。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密碼輸入不會顯示字元。</a:t>
            </a:r>
          </a:p>
        </p:txBody>
      </p:sp>
      <p:sp>
        <p:nvSpPr>
          <p:cNvPr id="11" name="管理資料">
            <a:extLst xmlns:a="http://schemas.openxmlformats.org/drawingml/2006/main">
              <a:ext uri="{FF2B5EF4-FFF2-40B4-BE49-F238E27FC236}">
                <a16:creationId xmlns:a16="http://schemas.microsoft.com/office/drawing/2014/main" id="{8468043A-D7C4-4AD2-8CB3-711C269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管理資料</a:t>
            </a:r>
          </a:p>
        </p:txBody>
      </p:sp>
      <p:sp>
        <p:nvSpPr>
          <p:cNvPr id="12" name="登入後可新增、修改商品。 資料表與模型註冊均完成後， 才能看到商品管理功能。">
            <a:extLst xmlns:a="http://schemas.openxmlformats.org/drawingml/2006/main">
              <a:ext uri="{FF2B5EF4-FFF2-40B4-BE49-F238E27FC236}">
                <a16:creationId xmlns:a16="http://schemas.microsoft.com/office/drawing/2014/main" id="{A4AFD75B-B334-4625-AD89-6326247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登入後可新增、修改商品。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資料表與模型註冊均完成後，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才能看到商品管理功能。</a:t>
            </a:r>
          </a:p>
        </p:txBody>
      </p:sp>
      <p:sp>
        <p:nvSpPr>
          <p:cNvPr id="13" name="教材不預設共用帳號或密碼，由使用者在本機自行建立。">
            <a:extLst xmlns:a="http://schemas.openxmlformats.org/drawingml/2006/main">
              <a:ext uri="{FF2B5EF4-FFF2-40B4-BE49-F238E27FC236}">
                <a16:creationId xmlns:a16="http://schemas.microsoft.com/office/drawing/2014/main" id="{77C9A030-8F17-411C-9C99-8A4E383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教材不預設共用帳號或密碼，由使用者在本機自行建立。</a:t>
            </a:r>
          </a:p>
        </p:txBody>
      </p:sp>
    </p:spTree>
    <p:extLst>
      <p:ext uri="{BB962C8B-B14F-4D97-AF65-F5344CB8AC3E}">
        <p14:creationId xmlns:p14="http://schemas.microsoft.com/office/powerpoint/2010/main" val="19201139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以 View 顯示商品列表">
            <a:extLst xmlns:a="http://schemas.openxmlformats.org/drawingml/2006/main">
              <a:ext uri="{FF2B5EF4-FFF2-40B4-BE49-F238E27FC236}">
                <a16:creationId xmlns:a16="http://schemas.microsoft.com/office/drawing/2014/main" id="{8816B5D2-7BD8-4877-BFC3-6EE2A6A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 View 顯示商品列表</a:t>
            </a:r>
          </a:p>
        </p:txBody>
      </p:sp>
      <p:sp>
        <p:nvSpPr>
          <p:cNvPr id="2" name="在 catalog/views.py 加入 product_list">
            <a:extLst xmlns:a="http://schemas.openxmlformats.org/drawingml/2006/main">
              <a:ext uri="{FF2B5EF4-FFF2-40B4-BE49-F238E27FC236}">
                <a16:creationId xmlns:a16="http://schemas.microsoft.com/office/drawing/2014/main" id="{217A6A3A-1D40-4BFF-9E30-C386D6A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在 catalog/views.py 加入 product_list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BD2779D5-1C3B-40F3-B909-6E702C2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from django.shortcuts import render">
            <a:extLst xmlns:a="http://schemas.openxmlformats.org/drawingml/2006/main">
              <a:ext uri="{FF2B5EF4-FFF2-40B4-BE49-F238E27FC236}">
                <a16:creationId xmlns:a16="http://schemas.microsoft.com/office/drawing/2014/main" id="{B8F2B604-F4B2-4165-9CBA-5B411DA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django.shortcuts import render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5B66ABD6-9EC7-4531-A46F-4889E3E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56B5-0DE9-42C5-BDBA-989DB13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product_list(request):">
            <a:extLst xmlns:a="http://schemas.openxmlformats.org/drawingml/2006/main">
              <a:ext uri="{FF2B5EF4-FFF2-40B4-BE49-F238E27FC236}">
                <a16:creationId xmlns:a16="http://schemas.microsoft.com/office/drawing/2014/main" id="{B3563BCD-2D0C-4BF1-AD19-B89C22C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product_list(request):</a:t>
            </a:r>
          </a:p>
        </p:txBody>
      </p:sp>
      <p:sp>
        <p:nvSpPr>
          <p:cNvPr id="8" name="    products = Product.objects.order_by(&quot;name&quot;)">
            <a:extLst xmlns:a="http://schemas.openxmlformats.org/drawingml/2006/main">
              <a:ext uri="{FF2B5EF4-FFF2-40B4-BE49-F238E27FC236}">
                <a16:creationId xmlns:a16="http://schemas.microsoft.com/office/drawing/2014/main" id="{F4A6024D-D42B-4E80-A0C9-87C4DFA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products = Product.objects.order_by("name")</a:t>
            </a:r>
          </a:p>
        </p:txBody>
      </p:sp>
      <p:sp>
        <p:nvSpPr>
          <p:cNvPr id="9" name="    return render(">
            <a:extLst xmlns:a="http://schemas.openxmlformats.org/drawingml/2006/main">
              <a:ext uri="{FF2B5EF4-FFF2-40B4-BE49-F238E27FC236}">
                <a16:creationId xmlns:a16="http://schemas.microsoft.com/office/drawing/2014/main" id="{1D9DB38E-6247-4BC7-A589-9BA5DAA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render(</a:t>
            </a:r>
          </a:p>
        </p:txBody>
      </p:sp>
      <p:sp>
        <p:nvSpPr>
          <p:cNvPr id="10" name="        request,">
            <a:extLst xmlns:a="http://schemas.openxmlformats.org/drawingml/2006/main">
              <a:ext uri="{FF2B5EF4-FFF2-40B4-BE49-F238E27FC236}">
                <a16:creationId xmlns:a16="http://schemas.microsoft.com/office/drawing/2014/main" id="{118E9D07-6F1B-4C8A-B869-394A01B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request,</a:t>
            </a:r>
          </a:p>
        </p:txBody>
      </p:sp>
      <p:sp>
        <p:nvSpPr>
          <p:cNvPr id="11" name="        &quot;catalog/product_list.html&quot;,">
            <a:extLst xmlns:a="http://schemas.openxmlformats.org/drawingml/2006/main">
              <a:ext uri="{FF2B5EF4-FFF2-40B4-BE49-F238E27FC236}">
                <a16:creationId xmlns:a16="http://schemas.microsoft.com/office/drawing/2014/main" id="{4C07D315-2DE7-48A4-AB34-A2D515D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"catalog/product_list.html",</a:t>
            </a:r>
          </a:p>
        </p:txBody>
      </p:sp>
      <p:sp>
        <p:nvSpPr>
          <p:cNvPr id="12" name="        {&quot;products&quot;: products},">
            <a:extLst xmlns:a="http://schemas.openxmlformats.org/drawingml/2006/main">
              <a:ext uri="{FF2B5EF4-FFF2-40B4-BE49-F238E27FC236}">
                <a16:creationId xmlns:a16="http://schemas.microsoft.com/office/drawing/2014/main" id="{D32EA3E8-5993-43E2-A52E-519B15DF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{"products": products},</a:t>
            </a:r>
          </a:p>
        </p:txBody>
      </p:sp>
      <p:sp>
        <p:nvSpPr>
          <p:cNvPr id="13" name="    )">
            <a:extLst xmlns:a="http://schemas.openxmlformats.org/drawingml/2006/main">
              <a:ext uri="{FF2B5EF4-FFF2-40B4-BE49-F238E27FC236}">
                <a16:creationId xmlns:a16="http://schemas.microsoft.com/office/drawing/2014/main" id="{359B301E-20E5-4872-BC62-8DB92A0D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4" name="取得資料">
            <a:extLst xmlns:a="http://schemas.openxmlformats.org/drawingml/2006/main">
              <a:ext uri="{FF2B5EF4-FFF2-40B4-BE49-F238E27FC236}">
                <a16:creationId xmlns:a16="http://schemas.microsoft.com/office/drawing/2014/main" id="{60847E24-A940-4319-B5E3-AA0C505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取得資料</a:t>
            </a:r>
          </a:p>
        </p:txBody>
      </p:sp>
      <p:sp>
        <p:nvSpPr>
          <p:cNvPr id="15" name="QuerySet 描述商品查詢， 依名稱排序，交給模板使用。">
            <a:extLst xmlns:a="http://schemas.openxmlformats.org/drawingml/2006/main">
              <a:ext uri="{FF2B5EF4-FFF2-40B4-BE49-F238E27FC236}">
                <a16:creationId xmlns:a16="http://schemas.microsoft.com/office/drawing/2014/main" id="{FAF82EA1-B7F1-40A9-8DD7-4B6487C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QuerySet 描述商品查詢，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依名稱排序，交給模板使用。</a:t>
            </a:r>
          </a:p>
        </p:txBody>
      </p:sp>
      <p:sp>
        <p:nvSpPr>
          <p:cNvPr id="16" name="render()">
            <a:extLst xmlns:a="http://schemas.openxmlformats.org/drawingml/2006/main">
              <a:ext uri="{FF2B5EF4-FFF2-40B4-BE49-F238E27FC236}">
                <a16:creationId xmlns:a16="http://schemas.microsoft.com/office/drawing/2014/main" id="{DC6D9237-CC3B-44E2-B01D-89F10BE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render()</a:t>
            </a:r>
          </a:p>
        </p:txBody>
      </p:sp>
      <p:sp>
        <p:nvSpPr>
          <p:cNvPr id="17" name="指定模板名稱與 context， 將模板渲染成 HTML， 回傳 HttpResponse。">
            <a:extLst xmlns:a="http://schemas.openxmlformats.org/drawingml/2006/main">
              <a:ext uri="{FF2B5EF4-FFF2-40B4-BE49-F238E27FC236}">
                <a16:creationId xmlns:a16="http://schemas.microsoft.com/office/drawing/2014/main" id="{099E5DF6-9AB4-4AC1-84D9-F76FF3F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指定模板名稱與 context，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將模板渲染成 HTML，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回傳 HttpResponse。</a:t>
            </a:r>
          </a:p>
        </p:txBody>
      </p:sp>
      <p:sp>
        <p:nvSpPr>
          <p:cNvPr id="18" name="下一步建立模板，並把 app 內的空路徑接到這個 view。">
            <a:extLst xmlns:a="http://schemas.openxmlformats.org/drawingml/2006/main">
              <a:ext uri="{FF2B5EF4-FFF2-40B4-BE49-F238E27FC236}">
                <a16:creationId xmlns:a16="http://schemas.microsoft.com/office/drawing/2014/main" id="{53987081-0637-4E7E-97B1-C26C7BB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下一步建立模板，並把 app 內的空路徑接到這個 view。</a:t>
            </a:r>
          </a:p>
        </p:txBody>
      </p:sp>
    </p:spTree>
    <p:extLst>
      <p:ext uri="{BB962C8B-B14F-4D97-AF65-F5344CB8AC3E}">
        <p14:creationId xmlns:p14="http://schemas.microsoft.com/office/powerpoint/2010/main" val="19041422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s 的目錄結構">
            <a:extLst xmlns:a="http://schemas.openxmlformats.org/drawingml/2006/main">
              <a:ext uri="{FF2B5EF4-FFF2-40B4-BE49-F238E27FC236}">
                <a16:creationId xmlns:a16="http://schemas.microsoft.com/office/drawing/2014/main" id="{4FF6D03A-7B1E-4715-AB30-3773683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Templates 的目錄結構</a:t>
            </a:r>
          </a:p>
        </p:txBody>
      </p:sp>
      <p:sp>
        <p:nvSpPr>
          <p:cNvPr id="2" name="templates/ 與其中的檔案需要自行建立">
            <a:extLst xmlns:a="http://schemas.openxmlformats.org/drawingml/2006/main">
              <a:ext uri="{FF2B5EF4-FFF2-40B4-BE49-F238E27FC236}">
                <a16:creationId xmlns:a16="http://schemas.microsoft.com/office/drawing/2014/main" id="{B8DA829C-D70C-4BE8-B036-465051A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templates/ 與其中的檔案需要自行建立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5094C1CD-3083-47F0-88CD-77C8386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catalog/">
            <a:extLst xmlns:a="http://schemas.openxmlformats.org/drawingml/2006/main">
              <a:ext uri="{FF2B5EF4-FFF2-40B4-BE49-F238E27FC236}">
                <a16:creationId xmlns:a16="http://schemas.microsoft.com/office/drawing/2014/main" id="{65C78038-3B4E-40CB-8E7B-B5400902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</a:t>
            </a:r>
          </a:p>
        </p:txBody>
      </p:sp>
      <p:sp>
        <p:nvSpPr>
          <p:cNvPr id="5" name="    templates/">
            <a:extLst xmlns:a="http://schemas.openxmlformats.org/drawingml/2006/main">
              <a:ext uri="{FF2B5EF4-FFF2-40B4-BE49-F238E27FC236}">
                <a16:creationId xmlns:a16="http://schemas.microsoft.com/office/drawing/2014/main" id="{FDAA23D4-E538-431B-86E0-2F18E29A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templates/</a:t>
            </a:r>
          </a:p>
        </p:txBody>
      </p:sp>
      <p:sp>
        <p:nvSpPr>
          <p:cNvPr id="6" name="        catalog/">
            <a:extLst xmlns:a="http://schemas.openxmlformats.org/drawingml/2006/main">
              <a:ext uri="{FF2B5EF4-FFF2-40B4-BE49-F238E27FC236}">
                <a16:creationId xmlns:a16="http://schemas.microsoft.com/office/drawing/2014/main" id="{8EA567EB-CF09-442C-8E67-E711484E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catalog/</a:t>
            </a:r>
          </a:p>
        </p:txBody>
      </p:sp>
      <p:sp>
        <p:nvSpPr>
          <p:cNvPr id="7" name="            base.html">
            <a:extLst xmlns:a="http://schemas.openxmlformats.org/drawingml/2006/main">
              <a:ext uri="{FF2B5EF4-FFF2-40B4-BE49-F238E27FC236}">
                <a16:creationId xmlns:a16="http://schemas.microsoft.com/office/drawing/2014/main" id="{52C014A7-A682-44E8-8EAD-0BA19B5A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base.html</a:t>
            </a:r>
          </a:p>
        </p:txBody>
      </p:sp>
      <p:sp>
        <p:nvSpPr>
          <p:cNvPr id="8" name="            product_list.html">
            <a:extLst xmlns:a="http://schemas.openxmlformats.org/drawingml/2006/main">
              <a:ext uri="{FF2B5EF4-FFF2-40B4-BE49-F238E27FC236}">
                <a16:creationId xmlns:a16="http://schemas.microsoft.com/office/drawing/2014/main" id="{42925D28-0648-43BB-8674-2DB7B3A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product_list.html</a:t>
            </a:r>
          </a:p>
        </p:txBody>
      </p:sp>
      <p:sp>
        <p:nvSpPr>
          <p:cNvPr id="9" name="            product_detail.html">
            <a:extLst xmlns:a="http://schemas.openxmlformats.org/drawingml/2006/main">
              <a:ext uri="{FF2B5EF4-FFF2-40B4-BE49-F238E27FC236}">
                <a16:creationId xmlns:a16="http://schemas.microsoft.com/office/drawing/2014/main" id="{5EBD771C-F5E4-422E-8134-EFB1297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product_detail.html</a:t>
            </a:r>
          </a:p>
        </p:txBody>
      </p:sp>
      <p:sp>
        <p:nvSpPr>
          <p:cNvPr id="10" name="            product_form.html">
            <a:extLst xmlns:a="http://schemas.openxmlformats.org/drawingml/2006/main">
              <a:ext uri="{FF2B5EF4-FFF2-40B4-BE49-F238E27FC236}">
                <a16:creationId xmlns:a16="http://schemas.microsoft.com/office/drawing/2014/main" id="{E5E217BC-A5F7-4EE0-ABB2-8DB9A4C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product_form.html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DF0EC-EAAF-4DC0-9AE1-786AEFA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config/settings.py 的既有 TEMPLATES 設定">
            <a:extLst xmlns:a="http://schemas.openxmlformats.org/drawingml/2006/main">
              <a:ext uri="{FF2B5EF4-FFF2-40B4-BE49-F238E27FC236}">
                <a16:creationId xmlns:a16="http://schemas.microsoft.com/office/drawing/2014/main" id="{98173A85-8586-4B91-9186-7260F8A9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config/settings.py 的既有 TEMPLATES 設定</a:t>
            </a:r>
          </a:p>
        </p:txBody>
      </p:sp>
      <p:sp>
        <p:nvSpPr>
          <p:cNvPr id="13" name="&quot;APP_DIRS&quot;: True">
            <a:extLst xmlns:a="http://schemas.openxmlformats.org/drawingml/2006/main">
              <a:ext uri="{FF2B5EF4-FFF2-40B4-BE49-F238E27FC236}">
                <a16:creationId xmlns:a16="http://schemas.microsoft.com/office/drawing/2014/main" id="{A3C198D5-C145-48EA-A081-D00545CF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"APP_DIRS": True</a:t>
            </a:r>
          </a:p>
        </p:txBody>
      </p:sp>
      <p:sp>
        <p:nvSpPr>
          <p:cNvPr id="14" name="第二層 catalog">
            <a:extLst xmlns:a="http://schemas.openxmlformats.org/drawingml/2006/main">
              <a:ext uri="{FF2B5EF4-FFF2-40B4-BE49-F238E27FC236}">
                <a16:creationId xmlns:a16="http://schemas.microsoft.com/office/drawing/2014/main" id="{478CDBAC-B28F-4E98-B66B-C3082DC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第二層 catalog</a:t>
            </a:r>
          </a:p>
        </p:txBody>
      </p:sp>
      <p:sp>
        <p:nvSpPr>
          <p:cNvPr id="15" name="作為模板名稱空間， 避免不同 app 的 同名 HTML 檔互相衝突。">
            <a:extLst xmlns:a="http://schemas.openxmlformats.org/drawingml/2006/main">
              <a:ext uri="{FF2B5EF4-FFF2-40B4-BE49-F238E27FC236}">
                <a16:creationId xmlns:a16="http://schemas.microsoft.com/office/drawing/2014/main" id="{AE11C47D-E429-46D3-8FE6-64810EF8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作為模板名稱空間，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避免不同 app 的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同名 HTML 檔互相衝突。</a:t>
            </a:r>
          </a:p>
        </p:txBody>
      </p:sp>
      <p:sp>
        <p:nvSpPr>
          <p:cNvPr id="16" name="Django 如何找到">
            <a:extLst xmlns:a="http://schemas.openxmlformats.org/drawingml/2006/main">
              <a:ext uri="{FF2B5EF4-FFF2-40B4-BE49-F238E27FC236}">
                <a16:creationId xmlns:a16="http://schemas.microsoft.com/office/drawing/2014/main" id="{9AD37D3F-7C02-4A02-A517-C99BBEF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Django 如何找到</a:t>
            </a:r>
          </a:p>
        </p:txBody>
      </p:sp>
      <p:sp>
        <p:nvSpPr>
          <p:cNvPr id="17" name="app 已加入 INSTALLED_APPS， 且 APP_DIRS=True 時， 會搜尋 app 的 templates/。">
            <a:extLst xmlns:a="http://schemas.openxmlformats.org/drawingml/2006/main">
              <a:ext uri="{FF2B5EF4-FFF2-40B4-BE49-F238E27FC236}">
                <a16:creationId xmlns:a16="http://schemas.microsoft.com/office/drawing/2014/main" id="{7884730C-508C-4163-A0BC-EC53BAF4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 已加入 INSTALLED_APPS，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且 APP_DIRS=True 時，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會搜尋 app 的 templates/。</a:t>
            </a:r>
          </a:p>
        </p:txBody>
      </p:sp>
      <p:sp>
        <p:nvSpPr>
          <p:cNvPr id="18" name="render() 使用 catalog/product_list.html，不需要寫磁碟上的完整路徑。">
            <a:extLst xmlns:a="http://schemas.openxmlformats.org/drawingml/2006/main">
              <a:ext uri="{FF2B5EF4-FFF2-40B4-BE49-F238E27FC236}">
                <a16:creationId xmlns:a16="http://schemas.microsoft.com/office/drawing/2014/main" id="{DB0A4A6B-995B-4B98-8EC3-0EC5D3A1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render() 使用 catalog/product_list.html，不需要寫磁碟上的完整路徑。</a:t>
            </a:r>
          </a:p>
        </p:txBody>
      </p:sp>
    </p:spTree>
    <p:extLst>
      <p:ext uri="{BB962C8B-B14F-4D97-AF65-F5344CB8AC3E}">
        <p14:creationId xmlns:p14="http://schemas.microsoft.com/office/powerpoint/2010/main" val="19817425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se.html：共用網頁骨架">
            <a:extLst xmlns:a="http://schemas.openxmlformats.org/drawingml/2006/main">
              <a:ext uri="{FF2B5EF4-FFF2-40B4-BE49-F238E27FC236}">
                <a16:creationId xmlns:a16="http://schemas.microsoft.com/office/drawing/2014/main" id="{84930845-FC5E-4836-A363-497D0CCB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base.html：共用網頁骨架</a:t>
            </a:r>
          </a:p>
        </p:txBody>
      </p:sp>
      <p:sp>
        <p:nvSpPr>
          <p:cNvPr id="2" name="catalog/templates/catalog/base.html 節錄">
            <a:extLst xmlns:a="http://schemas.openxmlformats.org/drawingml/2006/main">
              <a:ext uri="{FF2B5EF4-FFF2-40B4-BE49-F238E27FC236}">
                <a16:creationId xmlns:a16="http://schemas.microsoft.com/office/drawing/2014/main" id="{8C7E8EF2-D741-4DA4-8328-2A1C1F4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catalog/templates/catalog/base.html 節錄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3B63BC45-C85F-4211-977D-21380AF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{% load static %}">
            <a:extLst xmlns:a="http://schemas.openxmlformats.org/drawingml/2006/main">
              <a:ext uri="{FF2B5EF4-FFF2-40B4-BE49-F238E27FC236}">
                <a16:creationId xmlns:a16="http://schemas.microsoft.com/office/drawing/2014/main" id="{BE2C7C40-2001-4B90-B207-1373F05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{% load static %}</a:t>
            </a:r>
          </a:p>
        </p:txBody>
      </p:sp>
      <p:sp>
        <p:nvSpPr>
          <p:cNvPr id="5" name="&lt;!doctype html&gt;">
            <a:extLst xmlns:a="http://schemas.openxmlformats.org/drawingml/2006/main">
              <a:ext uri="{FF2B5EF4-FFF2-40B4-BE49-F238E27FC236}">
                <a16:creationId xmlns:a16="http://schemas.microsoft.com/office/drawing/2014/main" id="{D12376C2-BCBA-4022-B166-0C6F9A9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666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</p:txBody>
      </p:sp>
      <p:sp>
        <p:nvSpPr>
          <p:cNvPr id="6" name="&lt;html lang=&quot;zh-Hant&quot;&gt;">
            <a:extLst xmlns:a="http://schemas.openxmlformats.org/drawingml/2006/main">
              <a:ext uri="{FF2B5EF4-FFF2-40B4-BE49-F238E27FC236}">
                <a16:creationId xmlns:a16="http://schemas.microsoft.com/office/drawing/2014/main" id="{E94C753F-D2E8-4939-AA2C-DFF4A97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121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&lt;html lang="zh-Hant"&gt;</a:t>
            </a:r>
          </a:p>
        </p:txBody>
      </p:sp>
      <p:sp>
        <p:nvSpPr>
          <p:cNvPr id="7" name="&lt;head&gt;">
            <a:extLst xmlns:a="http://schemas.openxmlformats.org/drawingml/2006/main">
              <a:ext uri="{FF2B5EF4-FFF2-40B4-BE49-F238E27FC236}">
                <a16:creationId xmlns:a16="http://schemas.microsoft.com/office/drawing/2014/main" id="{C185EB98-806B-4E1C-A88F-29A51D3D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5752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&lt;head&gt;</a:t>
            </a:r>
          </a:p>
        </p:txBody>
      </p:sp>
      <p:sp>
        <p:nvSpPr>
          <p:cNvPr id="8" name="  &lt;meta charset=&quot;utf-8&quot;&gt;">
            <a:extLst xmlns:a="http://schemas.openxmlformats.org/drawingml/2006/main">
              <a:ext uri="{FF2B5EF4-FFF2-40B4-BE49-F238E27FC236}">
                <a16:creationId xmlns:a16="http://schemas.microsoft.com/office/drawing/2014/main" id="{16F54324-6A1C-4C45-96FB-BCFDB400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0294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</p:txBody>
      </p:sp>
      <p:sp>
        <p:nvSpPr>
          <p:cNvPr id="9" name="  &lt;title&gt;{% block title %}商品目錄{% endblock %}&lt;/title&gt;">
            <a:extLst xmlns:a="http://schemas.openxmlformats.org/drawingml/2006/main">
              <a:ext uri="{FF2B5EF4-FFF2-40B4-BE49-F238E27FC236}">
                <a16:creationId xmlns:a16="http://schemas.microsoft.com/office/drawing/2014/main" id="{3B902CCC-1D23-4727-9D49-7F4B225A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483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&lt;title&gt;{% block title %}商品目錄{% endblock %}&lt;/title&gt;</a:t>
            </a:r>
          </a:p>
        </p:txBody>
      </p:sp>
      <p:sp>
        <p:nvSpPr>
          <p:cNvPr id="10" name="  &lt;link rel=&quot;stylesheet&quot;">
            <a:extLst xmlns:a="http://schemas.openxmlformats.org/drawingml/2006/main">
              <a:ext uri="{FF2B5EF4-FFF2-40B4-BE49-F238E27FC236}">
                <a16:creationId xmlns:a16="http://schemas.microsoft.com/office/drawing/2014/main" id="{55DE292F-BDB7-4790-8CD5-53BADB5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379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&lt;link rel="stylesheet"</a:t>
            </a:r>
          </a:p>
        </p:txBody>
      </p:sp>
      <p:sp>
        <p:nvSpPr>
          <p:cNvPr id="11" name="    href=&quot;{% static 'catalog/site.css' %}&quot;&gt;">
            <a:extLst xmlns:a="http://schemas.openxmlformats.org/drawingml/2006/main">
              <a:ext uri="{FF2B5EF4-FFF2-40B4-BE49-F238E27FC236}">
                <a16:creationId xmlns:a16="http://schemas.microsoft.com/office/drawing/2014/main" id="{C3B3975D-F790-45A4-B9CF-2B7A98E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3921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href="{% static 'catalog/site.css' %}"&gt;</a:t>
            </a:r>
          </a:p>
        </p:txBody>
      </p:sp>
      <p:sp>
        <p:nvSpPr>
          <p:cNvPr id="12" name="&lt;/head&gt;">
            <a:extLst xmlns:a="http://schemas.openxmlformats.org/drawingml/2006/main">
              <a:ext uri="{FF2B5EF4-FFF2-40B4-BE49-F238E27FC236}">
                <a16:creationId xmlns:a16="http://schemas.microsoft.com/office/drawing/2014/main" id="{D1A63662-8A0C-4886-9733-D6DB48E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846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&lt;/head&gt;</a:t>
            </a:r>
          </a:p>
        </p:txBody>
      </p:sp>
      <p:sp>
        <p:nvSpPr>
          <p:cNvPr id="13" name="&lt;body&gt;">
            <a:extLst xmlns:a="http://schemas.openxmlformats.org/drawingml/2006/main">
              <a:ext uri="{FF2B5EF4-FFF2-40B4-BE49-F238E27FC236}">
                <a16:creationId xmlns:a16="http://schemas.microsoft.com/office/drawing/2014/main" id="{E8B20285-72F0-4F4A-B738-6334400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006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&lt;body&gt;</a:t>
            </a:r>
          </a:p>
        </p:txBody>
      </p:sp>
      <p:sp>
        <p:nvSpPr>
          <p:cNvPr id="14" name="  {% block content %}{% endblock %}">
            <a:extLst xmlns:a="http://schemas.openxmlformats.org/drawingml/2006/main">
              <a:ext uri="{FF2B5EF4-FFF2-40B4-BE49-F238E27FC236}">
                <a16:creationId xmlns:a16="http://schemas.microsoft.com/office/drawing/2014/main" id="{F09C2190-D4F3-4615-B9C1-778C3F9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548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{% block content %}{% endblock %}</a:t>
            </a:r>
          </a:p>
        </p:txBody>
      </p:sp>
      <p:sp>
        <p:nvSpPr>
          <p:cNvPr id="15" name="&lt;/body&gt;">
            <a:extLst xmlns:a="http://schemas.openxmlformats.org/drawingml/2006/main">
              <a:ext uri="{FF2B5EF4-FFF2-40B4-BE49-F238E27FC236}">
                <a16:creationId xmlns:a16="http://schemas.microsoft.com/office/drawing/2014/main" id="{B40E0097-3031-4FBC-82FA-3899088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09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&lt;/body&gt;</a:t>
            </a:r>
          </a:p>
        </p:txBody>
      </p:sp>
      <p:sp>
        <p:nvSpPr>
          <p:cNvPr id="16" name="&lt;/html&gt;">
            <a:extLst xmlns:a="http://schemas.openxmlformats.org/drawingml/2006/main">
              <a:ext uri="{FF2B5EF4-FFF2-40B4-BE49-F238E27FC236}">
                <a16:creationId xmlns:a16="http://schemas.microsoft.com/office/drawing/2014/main" id="{D0A3DB28-16E2-4BB2-93CA-5D9467BD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663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7" name="模板繼承">
            <a:extLst xmlns:a="http://schemas.openxmlformats.org/drawingml/2006/main">
              <a:ext uri="{FF2B5EF4-FFF2-40B4-BE49-F238E27FC236}">
                <a16:creationId xmlns:a16="http://schemas.microsoft.com/office/drawing/2014/main" id="{FF56AD03-29BC-4726-80FA-A5EDBD6C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模板繼承</a:t>
            </a:r>
          </a:p>
        </p:txBody>
      </p:sp>
      <p:sp>
        <p:nvSpPr>
          <p:cNvPr id="18" name="共用 head、導覽列等結構， 不同頁面替換 block 區塊。">
            <a:extLst xmlns:a="http://schemas.openxmlformats.org/drawingml/2006/main">
              <a:ext uri="{FF2B5EF4-FFF2-40B4-BE49-F238E27FC236}">
                <a16:creationId xmlns:a16="http://schemas.microsoft.com/office/drawing/2014/main" id="{2373ABBA-E0B8-4672-93ED-CD3FEEF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共用 head、導覽列等結構，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不同頁面替換 block 區塊。</a:t>
            </a:r>
          </a:p>
        </p:txBody>
      </p:sp>
      <p:sp>
        <p:nvSpPr>
          <p:cNvPr id="19" name="static 標籤">
            <a:extLst xmlns:a="http://schemas.openxmlformats.org/drawingml/2006/main">
              <a:ext uri="{FF2B5EF4-FFF2-40B4-BE49-F238E27FC236}">
                <a16:creationId xmlns:a16="http://schemas.microsoft.com/office/drawing/2014/main" id="{88915403-6B18-4F73-A640-E45D19C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static 標籤</a:t>
            </a:r>
          </a:p>
        </p:txBody>
      </p:sp>
      <p:sp>
        <p:nvSpPr>
          <p:cNvPr id="20" name="依 STATIC_URL 等設定 產生靜態檔案網址。 它不會把 CSS 內容貼進 HTML。">
            <a:extLst xmlns:a="http://schemas.openxmlformats.org/drawingml/2006/main">
              <a:ext uri="{FF2B5EF4-FFF2-40B4-BE49-F238E27FC236}">
                <a16:creationId xmlns:a16="http://schemas.microsoft.com/office/drawing/2014/main" id="{6899F8F7-E39E-41D0-B8EA-BC608A6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依 STATIC_URL 等設定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產生靜態檔案網址。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它不會把 CSS 內容貼進 HTML。</a:t>
            </a:r>
          </a:p>
        </p:txBody>
      </p:sp>
      <p:sp>
        <p:nvSpPr>
          <p:cNvPr id="21" name="完整範例另有 viewport、導覽列與頁尾，皆放在同一個 base.html。">
            <a:extLst xmlns:a="http://schemas.openxmlformats.org/drawingml/2006/main">
              <a:ext uri="{FF2B5EF4-FFF2-40B4-BE49-F238E27FC236}">
                <a16:creationId xmlns:a16="http://schemas.microsoft.com/office/drawing/2014/main" id="{C3FD993E-7CF1-43E0-B324-A292B3D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完整範例另有 viewport、導覽列與頁尾，皆放在同一個 base.html。</a:t>
            </a:r>
          </a:p>
        </p:txBody>
      </p:sp>
    </p:spTree>
    <p:extLst>
      <p:ext uri="{BB962C8B-B14F-4D97-AF65-F5344CB8AC3E}">
        <p14:creationId xmlns:p14="http://schemas.microsoft.com/office/powerpoint/2010/main" val="19428461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duct_list.html：迴圈與資料呈現">
            <a:extLst xmlns:a="http://schemas.openxmlformats.org/drawingml/2006/main">
              <a:ext uri="{FF2B5EF4-FFF2-40B4-BE49-F238E27FC236}">
                <a16:creationId xmlns:a16="http://schemas.microsoft.com/office/drawing/2014/main" id="{0059BC29-F11B-4AFA-8730-CF3C149A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product_list.html：迴圈與資料呈現</a:t>
            </a:r>
          </a:p>
        </p:txBody>
      </p:sp>
      <p:sp>
        <p:nvSpPr>
          <p:cNvPr id="2" name="catalog/templates/catalog/product_list.html 核心內容">
            <a:extLst xmlns:a="http://schemas.openxmlformats.org/drawingml/2006/main">
              <a:ext uri="{FF2B5EF4-FFF2-40B4-BE49-F238E27FC236}">
                <a16:creationId xmlns:a16="http://schemas.microsoft.com/office/drawing/2014/main" id="{81BDE5E9-B649-450A-9719-A0DC29D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catalog/templates/catalog/product_list.html 核心內容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65490D37-46F7-49E0-B89E-A551FCC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{% extends &quot;catalog/base.html&quot; %}">
            <a:extLst xmlns:a="http://schemas.openxmlformats.org/drawingml/2006/main">
              <a:ext uri="{FF2B5EF4-FFF2-40B4-BE49-F238E27FC236}">
                <a16:creationId xmlns:a16="http://schemas.microsoft.com/office/drawing/2014/main" id="{1B6B80FC-1407-4BC4-B2E0-D74062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extends "catalog/base.html" %}</a:t>
            </a:r>
          </a:p>
        </p:txBody>
      </p:sp>
      <p:sp>
        <p:nvSpPr>
          <p:cNvPr id="5" name="{% block content %}">
            <a:extLst xmlns:a="http://schemas.openxmlformats.org/drawingml/2006/main">
              <a:ext uri="{FF2B5EF4-FFF2-40B4-BE49-F238E27FC236}">
                <a16:creationId xmlns:a16="http://schemas.microsoft.com/office/drawing/2014/main" id="{07727F6C-5080-476A-A17B-AD8F90C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666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block content %}</a:t>
            </a:r>
          </a:p>
        </p:txBody>
      </p:sp>
      <p:sp>
        <p:nvSpPr>
          <p:cNvPr id="6" name="&lt;h1&gt;商品目錄&lt;/h1&gt;">
            <a:extLst xmlns:a="http://schemas.openxmlformats.org/drawingml/2006/main">
              <a:ext uri="{FF2B5EF4-FFF2-40B4-BE49-F238E27FC236}">
                <a16:creationId xmlns:a16="http://schemas.microsoft.com/office/drawing/2014/main" id="{181686A2-9F42-4553-B528-5EBF597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121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&lt;h1&gt;商品目錄&lt;/h1&gt;</a:t>
            </a:r>
          </a:p>
        </p:txBody>
      </p:sp>
      <p:sp>
        <p:nvSpPr>
          <p:cNvPr id="7" name="&lt;ul&gt;">
            <a:extLst xmlns:a="http://schemas.openxmlformats.org/drawingml/2006/main">
              <a:ext uri="{FF2B5EF4-FFF2-40B4-BE49-F238E27FC236}">
                <a16:creationId xmlns:a16="http://schemas.microsoft.com/office/drawing/2014/main" id="{C15E4067-9740-47FA-9C8C-B0EA0734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5752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&lt;ul&gt;</a:t>
            </a:r>
          </a:p>
        </p:txBody>
      </p:sp>
      <p:sp>
        <p:nvSpPr>
          <p:cNvPr id="8" name="{% for product in products %}">
            <a:extLst xmlns:a="http://schemas.openxmlformats.org/drawingml/2006/main">
              <a:ext uri="{FF2B5EF4-FFF2-40B4-BE49-F238E27FC236}">
                <a16:creationId xmlns:a16="http://schemas.microsoft.com/office/drawing/2014/main" id="{D49FD90B-6D0B-4AFE-BAA1-AF0A133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0294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for product in products %}</a:t>
            </a:r>
          </a:p>
        </p:txBody>
      </p:sp>
      <p:sp>
        <p:nvSpPr>
          <p:cNvPr id="9" name="  &lt;li&gt;{{ product.name }} / {{ product.price }}">
            <a:extLst xmlns:a="http://schemas.openxmlformats.org/drawingml/2006/main">
              <a:ext uri="{FF2B5EF4-FFF2-40B4-BE49-F238E27FC236}">
                <a16:creationId xmlns:a16="http://schemas.microsoft.com/office/drawing/2014/main" id="{97270744-CC7A-4535-B086-034C0A4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483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&lt;li&gt;{{ product.name }} / {{ product.price }}</a:t>
            </a:r>
          </a:p>
        </p:txBody>
      </p:sp>
      <p:sp>
        <p:nvSpPr>
          <p:cNvPr id="10" name="    {% if product.in_stock %}有庫存{% endif %}">
            <a:extLst xmlns:a="http://schemas.openxmlformats.org/drawingml/2006/main">
              <a:ext uri="{FF2B5EF4-FFF2-40B4-BE49-F238E27FC236}">
                <a16:creationId xmlns:a16="http://schemas.microsoft.com/office/drawing/2014/main" id="{4D9BF0C9-EF35-4A9C-9AF5-0815916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379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{% if product.in_stock %}有庫存{% endif %}</a:t>
            </a:r>
          </a:p>
        </p:txBody>
      </p:sp>
      <p:sp>
        <p:nvSpPr>
          <p:cNvPr id="11" name="  &lt;/li&gt;">
            <a:extLst xmlns:a="http://schemas.openxmlformats.org/drawingml/2006/main">
              <a:ext uri="{FF2B5EF4-FFF2-40B4-BE49-F238E27FC236}">
                <a16:creationId xmlns:a16="http://schemas.microsoft.com/office/drawing/2014/main" id="{F6285107-94FE-4BE6-B6EE-8A0F60F2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3921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&lt;/li&gt;</a:t>
            </a:r>
          </a:p>
        </p:txBody>
      </p:sp>
      <p:sp>
        <p:nvSpPr>
          <p:cNvPr id="12" name="{% empty %}">
            <a:extLst xmlns:a="http://schemas.openxmlformats.org/drawingml/2006/main">
              <a:ext uri="{FF2B5EF4-FFF2-40B4-BE49-F238E27FC236}">
                <a16:creationId xmlns:a16="http://schemas.microsoft.com/office/drawing/2014/main" id="{E28D7741-BE6C-4495-8A38-7349F83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846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empty %}</a:t>
            </a:r>
          </a:p>
        </p:txBody>
      </p:sp>
      <p:sp>
        <p:nvSpPr>
          <p:cNvPr id="13" name="  &lt;li&gt;目前沒有商品&lt;/li&gt;">
            <a:extLst xmlns:a="http://schemas.openxmlformats.org/drawingml/2006/main">
              <a:ext uri="{FF2B5EF4-FFF2-40B4-BE49-F238E27FC236}">
                <a16:creationId xmlns:a16="http://schemas.microsoft.com/office/drawing/2014/main" id="{6AAD18F0-55D0-488C-AAB2-BA4DB02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006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&lt;li&gt;目前沒有商品&lt;/li&gt;</a:t>
            </a:r>
          </a:p>
        </p:txBody>
      </p:sp>
      <p:sp>
        <p:nvSpPr>
          <p:cNvPr id="14" name="{% endfor %}">
            <a:extLst xmlns:a="http://schemas.openxmlformats.org/drawingml/2006/main">
              <a:ext uri="{FF2B5EF4-FFF2-40B4-BE49-F238E27FC236}">
                <a16:creationId xmlns:a16="http://schemas.microsoft.com/office/drawing/2014/main" id="{1A077891-3847-4E8F-82D6-CB279DB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548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endfor %}</a:t>
            </a:r>
          </a:p>
        </p:txBody>
      </p:sp>
      <p:sp>
        <p:nvSpPr>
          <p:cNvPr id="15" name="&lt;/ul&gt;">
            <a:extLst xmlns:a="http://schemas.openxmlformats.org/drawingml/2006/main">
              <a:ext uri="{FF2B5EF4-FFF2-40B4-BE49-F238E27FC236}">
                <a16:creationId xmlns:a16="http://schemas.microsoft.com/office/drawing/2014/main" id="{3E74D999-EB9C-460C-B5FE-0F1A682B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09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&lt;/ul&gt;</a:t>
            </a:r>
          </a:p>
        </p:txBody>
      </p:sp>
      <p:sp>
        <p:nvSpPr>
          <p:cNvPr id="16" name="{% endblock %}">
            <a:extLst xmlns:a="http://schemas.openxmlformats.org/drawingml/2006/main">
              <a:ext uri="{FF2B5EF4-FFF2-40B4-BE49-F238E27FC236}">
                <a16:creationId xmlns:a16="http://schemas.microsoft.com/office/drawing/2014/main" id="{B0A51123-75B8-4830-BC47-D2336125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663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endblock %}</a:t>
            </a:r>
          </a:p>
        </p:txBody>
      </p:sp>
      <p:sp>
        <p:nvSpPr>
          <p:cNvPr id="17" name="兩種語法">
            <a:extLst xmlns:a="http://schemas.openxmlformats.org/drawingml/2006/main">
              <a:ext uri="{FF2B5EF4-FFF2-40B4-BE49-F238E27FC236}">
                <a16:creationId xmlns:a16="http://schemas.microsoft.com/office/drawing/2014/main" id="{303F9DFC-A601-4151-BFEE-F0A58EE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兩種語法</a:t>
            </a:r>
          </a:p>
        </p:txBody>
      </p:sp>
      <p:sp>
        <p:nvSpPr>
          <p:cNvPr id="18" name="{{ ... }} 顯示值。 {% ... %} 執行模板標籤， 例如 for、if、block。">
            <a:extLst xmlns:a="http://schemas.openxmlformats.org/drawingml/2006/main">
              <a:ext uri="{FF2B5EF4-FFF2-40B4-BE49-F238E27FC236}">
                <a16:creationId xmlns:a16="http://schemas.microsoft.com/office/drawing/2014/main" id="{B6552039-5131-4244-9863-56B1D29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{{ ... }} 顯示值。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{% ... %} 執行模板標籤，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例如 for、if、block。</a:t>
            </a:r>
          </a:p>
        </p:txBody>
      </p:sp>
      <p:sp>
        <p:nvSpPr>
          <p:cNvPr id="19" name="資料的來源">
            <a:extLst xmlns:a="http://schemas.openxmlformats.org/drawingml/2006/main">
              <a:ext uri="{FF2B5EF4-FFF2-40B4-BE49-F238E27FC236}">
                <a16:creationId xmlns:a16="http://schemas.microsoft.com/office/drawing/2014/main" id="{C8222372-97D7-4C53-A0F2-C99AE58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資料的來源</a:t>
            </a:r>
          </a:p>
        </p:txBody>
      </p:sp>
      <p:sp>
        <p:nvSpPr>
          <p:cNvPr id="20" name="products 來自 view 傳入的 context dict。 變數名稱必須一致。">
            <a:extLst xmlns:a="http://schemas.openxmlformats.org/drawingml/2006/main">
              <a:ext uri="{FF2B5EF4-FFF2-40B4-BE49-F238E27FC236}">
                <a16:creationId xmlns:a16="http://schemas.microsoft.com/office/drawing/2014/main" id="{FEC7F5F5-6F53-454C-8473-EF25195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products 來自 view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傳入的 context dict。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變數名稱必須一致。</a:t>
            </a:r>
          </a:p>
        </p:txBody>
      </p:sp>
      <p:sp>
        <p:nvSpPr>
          <p:cNvPr id="21" name="模板不是任意 Python 程式。預設 HTML 自動跳脫，不要隨意關閉。">
            <a:extLst xmlns:a="http://schemas.openxmlformats.org/drawingml/2006/main">
              <a:ext uri="{FF2B5EF4-FFF2-40B4-BE49-F238E27FC236}">
                <a16:creationId xmlns:a16="http://schemas.microsoft.com/office/drawing/2014/main" id="{40F0783F-2FA4-4780-B1F6-B15E8183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模板不是任意 Python 程式。預設 HTML 自動跳脫，不要隨意關閉。</a:t>
            </a:r>
          </a:p>
        </p:txBody>
      </p:sp>
    </p:spTree>
    <p:extLst>
      <p:ext uri="{BB962C8B-B14F-4D97-AF65-F5344CB8AC3E}">
        <p14:creationId xmlns:p14="http://schemas.microsoft.com/office/powerpoint/2010/main" val="328302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atic/ 與 site.css：網頁外觀">
            <a:extLst xmlns:a="http://schemas.openxmlformats.org/drawingml/2006/main">
              <a:ext uri="{FF2B5EF4-FFF2-40B4-BE49-F238E27FC236}">
                <a16:creationId xmlns:a16="http://schemas.microsoft.com/office/drawing/2014/main" id="{3DDFE3F5-381D-4BD7-B194-7D029BB1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static/ 與 site.css：網頁外觀</a:t>
            </a:r>
          </a:p>
        </p:txBody>
      </p:sp>
      <p:sp>
        <p:nvSpPr>
          <p:cNvPr id="2" name="自行建立 catalog/static/catalog/site.css">
            <a:extLst xmlns:a="http://schemas.openxmlformats.org/drawingml/2006/main">
              <a:ext uri="{FF2B5EF4-FFF2-40B4-BE49-F238E27FC236}">
                <a16:creationId xmlns:a16="http://schemas.microsoft.com/office/drawing/2014/main" id="{11413C55-DC32-425F-94B2-6BF1191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自行建立 catalog/static/catalog/site.css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ABCCDF6F-7B6D-4F57-8A46-06CAF1E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/* catalog/static/catalog/site.css */">
            <a:extLst xmlns:a="http://schemas.openxmlformats.org/drawingml/2006/main">
              <a:ext uri="{FF2B5EF4-FFF2-40B4-BE49-F238E27FC236}">
                <a16:creationId xmlns:a16="http://schemas.microsoft.com/office/drawing/2014/main" id="{25911818-F35E-489D-9BB3-09ABDC9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/* catalog/static/catalog/site.css */</a:t>
            </a:r>
          </a:p>
        </p:txBody>
      </p:sp>
      <p:sp>
        <p:nvSpPr>
          <p:cNvPr id="5" name="body {">
            <a:extLst xmlns:a="http://schemas.openxmlformats.org/drawingml/2006/main">
              <a:ext uri="{FF2B5EF4-FFF2-40B4-BE49-F238E27FC236}">
                <a16:creationId xmlns:a16="http://schemas.microsoft.com/office/drawing/2014/main" id="{B2390C89-745A-4F9D-A53C-9E08E2C9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body {</a:t>
            </a:r>
          </a:p>
        </p:txBody>
      </p:sp>
      <p:sp>
        <p:nvSpPr>
          <p:cNvPr id="6" name="  color: #132b3a;">
            <a:extLst xmlns:a="http://schemas.openxmlformats.org/drawingml/2006/main">
              <a:ext uri="{FF2B5EF4-FFF2-40B4-BE49-F238E27FC236}">
                <a16:creationId xmlns:a16="http://schemas.microsoft.com/office/drawing/2014/main" id="{1040DE2F-7D28-4189-9F7F-1677D42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color: #132b3a;</a:t>
            </a:r>
          </a:p>
        </p:txBody>
      </p:sp>
      <p:sp>
        <p:nvSpPr>
          <p:cNvPr id="7" name="  background: #f5f2eb;">
            <a:extLst xmlns:a="http://schemas.openxmlformats.org/drawingml/2006/main">
              <a:ext uri="{FF2B5EF4-FFF2-40B4-BE49-F238E27FC236}">
                <a16:creationId xmlns:a16="http://schemas.microsoft.com/office/drawing/2014/main" id="{A59F819F-ECA8-4A2B-A3C2-7F4ECEB0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background: #f5f2eb;</a:t>
            </a:r>
          </a:p>
        </p:txBody>
      </p:sp>
      <p:sp>
        <p:nvSpPr>
          <p:cNvPr id="8" name="  font-family: &quot;Microsoft JhengHei&quot;, sans-serif;">
            <a:extLst xmlns:a="http://schemas.openxmlformats.org/drawingml/2006/main">
              <a:ext uri="{FF2B5EF4-FFF2-40B4-BE49-F238E27FC236}">
                <a16:creationId xmlns:a16="http://schemas.microsoft.com/office/drawing/2014/main" id="{3FA78EA7-FD37-4F7C-923B-DEB1C91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font-family: "Microsoft JhengHei", sans-serif;</a:t>
            </a:r>
          </a:p>
        </p:txBody>
      </p:sp>
      <p:sp>
        <p:nvSpPr>
          <p:cNvPr id="9" name="}">
            <a:extLst xmlns:a="http://schemas.openxmlformats.org/drawingml/2006/main">
              <a:ext uri="{FF2B5EF4-FFF2-40B4-BE49-F238E27FC236}">
                <a16:creationId xmlns:a16="http://schemas.microsoft.com/office/drawing/2014/main" id="{5E3847BF-9010-4BEE-8832-7BC449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名稱空間">
            <a:extLst xmlns:a="http://schemas.openxmlformats.org/drawingml/2006/main">
              <a:ext uri="{FF2B5EF4-FFF2-40B4-BE49-F238E27FC236}">
                <a16:creationId xmlns:a16="http://schemas.microsoft.com/office/drawing/2014/main" id="{73D56EDF-5A91-41DE-8002-1CC3BE9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名稱空間</a:t>
            </a:r>
          </a:p>
        </p:txBody>
      </p:sp>
      <p:sp>
        <p:nvSpPr>
          <p:cNvPr id="11" name="第二層 catalog 避免 多個 app 的 CSS 同名。">
            <a:extLst xmlns:a="http://schemas.openxmlformats.org/drawingml/2006/main">
              <a:ext uri="{FF2B5EF4-FFF2-40B4-BE49-F238E27FC236}">
                <a16:creationId xmlns:a16="http://schemas.microsoft.com/office/drawing/2014/main" id="{7A61C174-F239-422B-AF08-9A5F9CBF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第二層 catalog 避免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多個 app 的 CSS 同名。</a:t>
            </a:r>
          </a:p>
        </p:txBody>
      </p:sp>
      <p:sp>
        <p:nvSpPr>
          <p:cNvPr id="12" name="開發時載入">
            <a:extLst xmlns:a="http://schemas.openxmlformats.org/drawingml/2006/main">
              <a:ext uri="{FF2B5EF4-FFF2-40B4-BE49-F238E27FC236}">
                <a16:creationId xmlns:a16="http://schemas.microsoft.com/office/drawing/2014/main" id="{FF63A93E-C9F1-4C10-8256-50B1C352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開發時載入</a:t>
            </a:r>
          </a:p>
        </p:txBody>
      </p:sp>
      <p:sp>
        <p:nvSpPr>
          <p:cNvPr id="13" name="啟用 staticfiles、DEBUG=True， runserver 可提供靜態檔。 正式環境需要另外部署。">
            <a:extLst xmlns:a="http://schemas.openxmlformats.org/drawingml/2006/main">
              <a:ext uri="{FF2B5EF4-FFF2-40B4-BE49-F238E27FC236}">
                <a16:creationId xmlns:a16="http://schemas.microsoft.com/office/drawing/2014/main" id="{971328AC-0D93-487D-AEFD-BFA9C41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啟用 staticfiles、DEBUG=True，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runserver 可提供靜態檔。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正式環境需要另外部署。</a:t>
            </a:r>
          </a:p>
        </p:txBody>
      </p:sp>
      <p:sp>
        <p:nvSpPr>
          <p:cNvPr id="14" name="settings.py 保留 STATIC_URL = &quot;static/&quot;；上方 CSS 程式只放在 site.css。">
            <a:extLst xmlns:a="http://schemas.openxmlformats.org/drawingml/2006/main">
              <a:ext uri="{FF2B5EF4-FFF2-40B4-BE49-F238E27FC236}">
                <a16:creationId xmlns:a16="http://schemas.microsoft.com/office/drawing/2014/main" id="{48E3D98A-5AD5-4C39-BAEC-7BF169C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settings.py 保留 STATIC_URL = "static/"；上方 CSS 程式只放在 site.css。</a:t>
            </a:r>
          </a:p>
        </p:txBody>
      </p:sp>
    </p:spTree>
    <p:extLst>
      <p:ext uri="{BB962C8B-B14F-4D97-AF65-F5344CB8AC3E}">
        <p14:creationId xmlns:p14="http://schemas.microsoft.com/office/powerpoint/2010/main" val="16503859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完成版的 catalog/urls.py">
            <a:extLst xmlns:a="http://schemas.openxmlformats.org/drawingml/2006/main">
              <a:ext uri="{FF2B5EF4-FFF2-40B4-BE49-F238E27FC236}">
                <a16:creationId xmlns:a16="http://schemas.microsoft.com/office/drawing/2014/main" id="{2AD921F2-85F1-41C0-89BD-CAF4494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完成版的 catalog/urls.py</a:t>
            </a:r>
          </a:p>
        </p:txBody>
      </p:sp>
      <p:sp>
        <p:nvSpPr>
          <p:cNvPr id="2" name="將列表、詳細頁與新增頁接上路由">
            <a:extLst xmlns:a="http://schemas.openxmlformats.org/drawingml/2006/main">
              <a:ext uri="{FF2B5EF4-FFF2-40B4-BE49-F238E27FC236}">
                <a16:creationId xmlns:a16="http://schemas.microsoft.com/office/drawing/2014/main" id="{FC8CA389-7CDD-4422-B2E1-5334F33E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將列表、詳細頁與新增頁接上路由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CF6B036F-5051-4201-9F6F-23279A2E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from django.urls import path">
            <a:extLst xmlns:a="http://schemas.openxmlformats.org/drawingml/2006/main">
              <a:ext uri="{FF2B5EF4-FFF2-40B4-BE49-F238E27FC236}">
                <a16:creationId xmlns:a16="http://schemas.microsoft.com/office/drawing/2014/main" id="{4C814C0E-0027-42B9-A438-CE66A38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path</a:t>
            </a:r>
          </a:p>
        </p:txBody>
      </p:sp>
      <p:sp>
        <p:nvSpPr>
          <p:cNvPr id="5" name="from . import views">
            <a:extLst xmlns:a="http://schemas.openxmlformats.org/drawingml/2006/main">
              <a:ext uri="{FF2B5EF4-FFF2-40B4-BE49-F238E27FC236}">
                <a16:creationId xmlns:a16="http://schemas.microsoft.com/office/drawing/2014/main" id="{BD3298D6-107D-49AE-B7FA-C1F049F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 import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F90B-8975-48AD-8605-DB7835DC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pp_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191C410A-07CC-479B-B2AB-62263CA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app_name = "catalog"</a:t>
            </a:r>
          </a:p>
        </p:txBody>
      </p:sp>
      <p:sp>
        <p:nvSpPr>
          <p:cNvPr id="8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D5846293-4D3A-4C56-9C98-E4E289B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9" name="    path(&quot;hello/&quot;, views.hello, name=&quot;hello&quot;),">
            <a:extLst xmlns:a="http://schemas.openxmlformats.org/drawingml/2006/main">
              <a:ext uri="{FF2B5EF4-FFF2-40B4-BE49-F238E27FC236}">
                <a16:creationId xmlns:a16="http://schemas.microsoft.com/office/drawing/2014/main" id="{585CB820-BDFC-4357-8514-6768E59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path("hello/", views.hello, name="hello"),</a:t>
            </a:r>
          </a:p>
        </p:txBody>
      </p:sp>
      <p:sp>
        <p:nvSpPr>
          <p:cNvPr id="10" name="    path(&quot;&quot;, views.product_list, name=&quot;product_list&quot;),">
            <a:extLst xmlns:a="http://schemas.openxmlformats.org/drawingml/2006/main">
              <a:ext uri="{FF2B5EF4-FFF2-40B4-BE49-F238E27FC236}">
                <a16:creationId xmlns:a16="http://schemas.microsoft.com/office/drawing/2014/main" id="{6D5501B0-F624-4023-83C7-95BC835F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path("", views.product_list, name="product_list"),</a:t>
            </a:r>
          </a:p>
        </p:txBody>
      </p:sp>
      <p:sp>
        <p:nvSpPr>
          <p:cNvPr id="11" name="    path(&quot;new/&quot;, views.product_create,">
            <a:extLst xmlns:a="http://schemas.openxmlformats.org/drawingml/2006/main">
              <a:ext uri="{FF2B5EF4-FFF2-40B4-BE49-F238E27FC236}">
                <a16:creationId xmlns:a16="http://schemas.microsoft.com/office/drawing/2014/main" id="{7680ADF0-4E43-446B-8FCF-2D030A5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path("new/", views.product_create,</a:t>
            </a:r>
          </a:p>
        </p:txBody>
      </p:sp>
      <p:sp>
        <p:nvSpPr>
          <p:cNvPr id="12" name="         name=&quot;product_create&quot;),">
            <a:extLst xmlns:a="http://schemas.openxmlformats.org/drawingml/2006/main">
              <a:ext uri="{FF2B5EF4-FFF2-40B4-BE49-F238E27FC236}">
                <a16:creationId xmlns:a16="http://schemas.microsoft.com/office/drawing/2014/main" id="{ACC6A038-9DF3-4B4B-8FF6-B9EF21F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name="product_create"),</a:t>
            </a:r>
          </a:p>
        </p:txBody>
      </p:sp>
      <p:sp>
        <p:nvSpPr>
          <p:cNvPr id="13" name="    path(&quot;&lt;int:pk&gt;/&quot;, views.product_detail,">
            <a:extLst xmlns:a="http://schemas.openxmlformats.org/drawingml/2006/main">
              <a:ext uri="{FF2B5EF4-FFF2-40B4-BE49-F238E27FC236}">
                <a16:creationId xmlns:a16="http://schemas.microsoft.com/office/drawing/2014/main" id="{070660EB-08C5-4461-8A8E-2FDF846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path("&lt;int:pk&gt;/", views.product_detail,</a:t>
            </a:r>
          </a:p>
        </p:txBody>
      </p:sp>
      <p:sp>
        <p:nvSpPr>
          <p:cNvPr id="14" name="         name=&quot;product_detail&quot;),">
            <a:extLst xmlns:a="http://schemas.openxmlformats.org/drawingml/2006/main">
              <a:ext uri="{FF2B5EF4-FFF2-40B4-BE49-F238E27FC236}">
                <a16:creationId xmlns:a16="http://schemas.microsoft.com/office/drawing/2014/main" id="{30BBA647-DD74-4F39-864D-99AD9FE7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name="product_detail"),</a:t>
            </a:r>
          </a:p>
        </p:txBody>
      </p:sp>
      <p:sp>
        <p:nvSpPr>
          <p:cNvPr id="15" name="]">
            <a:extLst xmlns:a="http://schemas.openxmlformats.org/drawingml/2006/main">
              <a:ext uri="{FF2B5EF4-FFF2-40B4-BE49-F238E27FC236}">
                <a16:creationId xmlns:a16="http://schemas.microsoft.com/office/drawing/2014/main" id="{9A85F439-3371-432D-BD16-53EC706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6" name="路徑參數">
            <a:extLst xmlns:a="http://schemas.openxmlformats.org/drawingml/2006/main">
              <a:ext uri="{FF2B5EF4-FFF2-40B4-BE49-F238E27FC236}">
                <a16:creationId xmlns:a16="http://schemas.microsoft.com/office/drawing/2014/main" id="{CC96FBA8-DB29-4138-9552-43F5265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路徑參數</a:t>
            </a:r>
          </a:p>
        </p:txBody>
      </p:sp>
      <p:sp>
        <p:nvSpPr>
          <p:cNvPr id="17" name="&lt;int:pk&gt; 轉為整數， 再傳給 view 的 pk 參數。">
            <a:extLst xmlns:a="http://schemas.openxmlformats.org/drawingml/2006/main">
              <a:ext uri="{FF2B5EF4-FFF2-40B4-BE49-F238E27FC236}">
                <a16:creationId xmlns:a16="http://schemas.microsoft.com/office/drawing/2014/main" id="{F8D0A3D3-E25F-43B5-BBC0-2014870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&lt;int:pk&gt; 轉為整數，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再傳給 view 的 pk 參數。</a:t>
            </a:r>
          </a:p>
        </p:txBody>
      </p:sp>
      <p:sp>
        <p:nvSpPr>
          <p:cNvPr id="18" name="建立順序">
            <a:extLst xmlns:a="http://schemas.openxmlformats.org/drawingml/2006/main">
              <a:ext uri="{FF2B5EF4-FFF2-40B4-BE49-F238E27FC236}">
                <a16:creationId xmlns:a16="http://schemas.microsoft.com/office/drawing/2014/main" id="{9AC985A5-0779-44E5-B76D-59F3BE8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建立順序</a:t>
            </a:r>
          </a:p>
        </p:txBody>
      </p:sp>
      <p:sp>
        <p:nvSpPr>
          <p:cNvPr id="19" name="先完成對應 view 再加入路由， 避免匯入時找不到函式。 完成版範例已包含全部函式。">
            <a:extLst xmlns:a="http://schemas.openxmlformats.org/drawingml/2006/main">
              <a:ext uri="{FF2B5EF4-FFF2-40B4-BE49-F238E27FC236}">
                <a16:creationId xmlns:a16="http://schemas.microsoft.com/office/drawing/2014/main" id="{9EF809CA-D475-4E20-8A2F-C6D3E84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先完成對應 view 再加入路由，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避免匯入時找不到函式。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完成版範例已包含全部函式。</a:t>
            </a:r>
          </a:p>
        </p:txBody>
      </p:sp>
      <p:sp>
        <p:nvSpPr>
          <p:cNvPr id="20" name="列表：/products/　新增：/products/new/　單筆：/products/1/">
            <a:extLst xmlns:a="http://schemas.openxmlformats.org/drawingml/2006/main">
              <a:ext uri="{FF2B5EF4-FFF2-40B4-BE49-F238E27FC236}">
                <a16:creationId xmlns:a16="http://schemas.microsoft.com/office/drawing/2014/main" id="{1A3846E4-3F70-4224-A0E3-71B96DB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列表：/products/　新增：/products/new/　單筆：/products/1/</a:t>
            </a:r>
          </a:p>
        </p:txBody>
      </p:sp>
    </p:spTree>
    <p:extLst>
      <p:ext uri="{BB962C8B-B14F-4D97-AF65-F5344CB8AC3E}">
        <p14:creationId xmlns:p14="http://schemas.microsoft.com/office/powerpoint/2010/main" val="16448719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詳細頁與找不到資料的處理">
            <a:extLst xmlns:a="http://schemas.openxmlformats.org/drawingml/2006/main">
              <a:ext uri="{FF2B5EF4-FFF2-40B4-BE49-F238E27FC236}">
                <a16:creationId xmlns:a16="http://schemas.microsoft.com/office/drawing/2014/main" id="{9DDCD221-C6AA-41BE-A986-D91B57C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詳細頁與找不到資料的處理</a:t>
            </a:r>
          </a:p>
        </p:txBody>
      </p:sp>
      <p:sp>
        <p:nvSpPr>
          <p:cNvPr id="2" name="catalog/views.py 加入 product_detail">
            <a:extLst xmlns:a="http://schemas.openxmlformats.org/drawingml/2006/main">
              <a:ext uri="{FF2B5EF4-FFF2-40B4-BE49-F238E27FC236}">
                <a16:creationId xmlns:a16="http://schemas.microsoft.com/office/drawing/2014/main" id="{3CECB042-5291-4ABE-922D-0D3BF75C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catalog/views.py 加入 product_detail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92FE850F-5ABC-4564-B574-8BFC5D3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from django.shortcuts import get_object_or_404">
            <a:extLst xmlns:a="http://schemas.openxmlformats.org/drawingml/2006/main">
              <a:ext uri="{FF2B5EF4-FFF2-40B4-BE49-F238E27FC236}">
                <a16:creationId xmlns:a16="http://schemas.microsoft.com/office/drawing/2014/main" id="{9F69A557-4FA3-48FA-8B41-1771623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django.shortcuts import get_object_or_404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831B3-1342-473B-8711-241AE83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product_detail(request, pk):">
            <a:extLst xmlns:a="http://schemas.openxmlformats.org/drawingml/2006/main">
              <a:ext uri="{FF2B5EF4-FFF2-40B4-BE49-F238E27FC236}">
                <a16:creationId xmlns:a16="http://schemas.microsoft.com/office/drawing/2014/main" id="{A078D05D-A49F-424E-9481-F2A362F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product_detail(request, pk):</a:t>
            </a:r>
          </a:p>
        </p:txBody>
      </p:sp>
      <p:sp>
        <p:nvSpPr>
          <p:cNvPr id="7" name="    product = get_object_or_404(Product, pk=pk)">
            <a:extLst xmlns:a="http://schemas.openxmlformats.org/drawingml/2006/main">
              <a:ext uri="{FF2B5EF4-FFF2-40B4-BE49-F238E27FC236}">
                <a16:creationId xmlns:a16="http://schemas.microsoft.com/office/drawing/2014/main" id="{6D65112F-FD3A-4BD9-830E-E61FD80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product = get_object_or_404(Product, pk=pk)</a:t>
            </a:r>
          </a:p>
        </p:txBody>
      </p:sp>
      <p:sp>
        <p:nvSpPr>
          <p:cNvPr id="8" name="    return render(request,">
            <a:extLst xmlns:a="http://schemas.openxmlformats.org/drawingml/2006/main">
              <a:ext uri="{FF2B5EF4-FFF2-40B4-BE49-F238E27FC236}">
                <a16:creationId xmlns:a16="http://schemas.microsoft.com/office/drawing/2014/main" id="{4D708C50-39F4-4056-9D8B-2F751C6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render(request,</a:t>
            </a:r>
          </a:p>
        </p:txBody>
      </p:sp>
      <p:sp>
        <p:nvSpPr>
          <p:cNvPr id="9" name="        &quot;catalog/product_detail.html&quot;,">
            <a:extLst xmlns:a="http://schemas.openxmlformats.org/drawingml/2006/main">
              <a:ext uri="{FF2B5EF4-FFF2-40B4-BE49-F238E27FC236}">
                <a16:creationId xmlns:a16="http://schemas.microsoft.com/office/drawing/2014/main" id="{45E00887-3C0D-41B6-A46B-301CE8F7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"catalog/product_detail.html",</a:t>
            </a:r>
          </a:p>
        </p:txBody>
      </p:sp>
      <p:sp>
        <p:nvSpPr>
          <p:cNvPr id="10" name="        {&quot;product&quot;: product})">
            <a:extLst xmlns:a="http://schemas.openxmlformats.org/drawingml/2006/main">
              <a:ext uri="{FF2B5EF4-FFF2-40B4-BE49-F238E27FC236}">
                <a16:creationId xmlns:a16="http://schemas.microsoft.com/office/drawing/2014/main" id="{8DA8D689-1917-4F09-B8B0-772BE26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{"product": product})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FB473-B2AF-4358-9A9C-1895BF7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product_detail.html 的核心內容">
            <a:extLst xmlns:a="http://schemas.openxmlformats.org/drawingml/2006/main">
              <a:ext uri="{FF2B5EF4-FFF2-40B4-BE49-F238E27FC236}">
                <a16:creationId xmlns:a16="http://schemas.microsoft.com/office/drawing/2014/main" id="{0B21756B-608A-4E2F-BCBA-5B1C64C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product_detail.html 的核心內容</a:t>
            </a:r>
          </a:p>
        </p:txBody>
      </p:sp>
      <p:sp>
        <p:nvSpPr>
          <p:cNvPr id="13" name="&lt;h1&gt;{{ product.name }}&lt;/h1&gt;">
            <a:extLst xmlns:a="http://schemas.openxmlformats.org/drawingml/2006/main">
              <a:ext uri="{FF2B5EF4-FFF2-40B4-BE49-F238E27FC236}">
                <a16:creationId xmlns:a16="http://schemas.microsoft.com/office/drawing/2014/main" id="{D0B4C0FC-B435-4934-9951-D9AD96C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&lt;h1&gt;{{ product.name }}&lt;/h1&gt;</a:t>
            </a:r>
          </a:p>
        </p:txBody>
      </p:sp>
      <p:sp>
        <p:nvSpPr>
          <p:cNvPr id="14" name="&lt;p&gt;價格：{{ product.price }}&lt;/p&gt;">
            <a:extLst xmlns:a="http://schemas.openxmlformats.org/drawingml/2006/main">
              <a:ext uri="{FF2B5EF4-FFF2-40B4-BE49-F238E27FC236}">
                <a16:creationId xmlns:a16="http://schemas.microsoft.com/office/drawing/2014/main" id="{62F1F57D-24EA-4243-8FF2-8E2CD32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&lt;p&gt;價格：{{ product.price }}&lt;/p&gt;</a:t>
            </a:r>
          </a:p>
        </p:txBody>
      </p:sp>
      <p:sp>
        <p:nvSpPr>
          <p:cNvPr id="15" name="&lt;p&gt;庫存：{{ product.stock }}&lt;/p&gt;">
            <a:extLst xmlns:a="http://schemas.openxmlformats.org/drawingml/2006/main">
              <a:ext uri="{FF2B5EF4-FFF2-40B4-BE49-F238E27FC236}">
                <a16:creationId xmlns:a16="http://schemas.microsoft.com/office/drawing/2014/main" id="{072CD51C-95B6-4E0D-9AAA-6E09624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&lt;p&gt;庫存：{{ product.stock }}&lt;/p&gt;</a:t>
            </a:r>
          </a:p>
        </p:txBody>
      </p:sp>
      <p:sp>
        <p:nvSpPr>
          <p:cNvPr id="16" name="取得單筆">
            <a:extLst xmlns:a="http://schemas.openxmlformats.org/drawingml/2006/main">
              <a:ext uri="{FF2B5EF4-FFF2-40B4-BE49-F238E27FC236}">
                <a16:creationId xmlns:a16="http://schemas.microsoft.com/office/drawing/2014/main" id="{C334FEEF-DC71-421B-8278-18FAA7BB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取得單筆</a:t>
            </a:r>
          </a:p>
        </p:txBody>
      </p:sp>
      <p:sp>
        <p:nvSpPr>
          <p:cNvPr id="17" name="找到商品就回傳物件， 找不到則產生 404 回應。">
            <a:extLst xmlns:a="http://schemas.openxmlformats.org/drawingml/2006/main">
              <a:ext uri="{FF2B5EF4-FFF2-40B4-BE49-F238E27FC236}">
                <a16:creationId xmlns:a16="http://schemas.microsoft.com/office/drawing/2014/main" id="{C5703838-5637-4ECB-9699-6E34DC1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找到商品就回傳物件，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找不到則產生 404 回應。</a:t>
            </a:r>
          </a:p>
        </p:txBody>
      </p:sp>
      <p:sp>
        <p:nvSpPr>
          <p:cNvPr id="18" name="模板連結">
            <a:extLst xmlns:a="http://schemas.openxmlformats.org/drawingml/2006/main">
              <a:ext uri="{FF2B5EF4-FFF2-40B4-BE49-F238E27FC236}">
                <a16:creationId xmlns:a16="http://schemas.microsoft.com/office/drawing/2014/main" id="{5AAF3265-AFF4-441B-807A-4A936F65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模板連結</a:t>
            </a:r>
          </a:p>
        </p:txBody>
      </p:sp>
      <p:sp>
        <p:nvSpPr>
          <p:cNvPr id="19" name="以路由名稱與商品 pk 產生詳細頁網址， 避免手寫固定 URL。">
            <a:extLst xmlns:a="http://schemas.openxmlformats.org/drawingml/2006/main">
              <a:ext uri="{FF2B5EF4-FFF2-40B4-BE49-F238E27FC236}">
                <a16:creationId xmlns:a16="http://schemas.microsoft.com/office/drawing/2014/main" id="{E87C49D0-F209-47A1-8AB0-A8BD780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以路由名稱與商品 pk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產生詳細頁網址，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避免手寫固定 URL。</a:t>
            </a:r>
          </a:p>
        </p:txBody>
      </p:sp>
      <p:sp>
        <p:nvSpPr>
          <p:cNvPr id="20" name="模板連結：{% url 'catalog:product_detail' product.pk %}">
            <a:extLst xmlns:a="http://schemas.openxmlformats.org/drawingml/2006/main">
              <a:ext uri="{FF2B5EF4-FFF2-40B4-BE49-F238E27FC236}">
                <a16:creationId xmlns:a16="http://schemas.microsoft.com/office/drawing/2014/main" id="{44A1237E-6C22-488C-80C0-B6196C2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模板連結：{% url 'catalog:product_detail' product.pk %}</a:t>
            </a:r>
          </a:p>
        </p:txBody>
      </p:sp>
    </p:spTree>
    <p:extLst>
      <p:ext uri="{BB962C8B-B14F-4D97-AF65-F5344CB8AC3E}">
        <p14:creationId xmlns:p14="http://schemas.microsoft.com/office/powerpoint/2010/main" val="6475638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rms.py：輸入與資料驗證">
            <a:extLst xmlns:a="http://schemas.openxmlformats.org/drawingml/2006/main">
              <a:ext uri="{FF2B5EF4-FFF2-40B4-BE49-F238E27FC236}">
                <a16:creationId xmlns:a16="http://schemas.microsoft.com/office/drawing/2014/main" id="{D676383D-5DDC-4A17-8483-1B86E6BD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forms.py：輸入與資料驗證</a:t>
            </a:r>
          </a:p>
        </p:txBody>
      </p:sp>
      <p:sp>
        <p:nvSpPr>
          <p:cNvPr id="2" name="catalog/forms.py 是自行新增的檔案">
            <a:extLst xmlns:a="http://schemas.openxmlformats.org/drawingml/2006/main">
              <a:ext uri="{FF2B5EF4-FFF2-40B4-BE49-F238E27FC236}">
                <a16:creationId xmlns:a16="http://schemas.microsoft.com/office/drawing/2014/main" id="{03C16CB8-3529-44F7-8C0A-F088209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catalog/forms.py 是自行新增的檔案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D9D3AD31-5017-47EE-9397-E127039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4" name="from django import forms">
            <a:extLst xmlns:a="http://schemas.openxmlformats.org/drawingml/2006/main">
              <a:ext uri="{FF2B5EF4-FFF2-40B4-BE49-F238E27FC236}">
                <a16:creationId xmlns:a16="http://schemas.microsoft.com/office/drawing/2014/main" id="{B5358070-76F7-4665-85CA-9DEF84D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 import forms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BAAC9DD9-BA70-4EE4-B908-954B2BB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5887A-6C8E-4E75-8491-869B874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ass ProductForm(forms.ModelForm):">
            <a:extLst xmlns:a="http://schemas.openxmlformats.org/drawingml/2006/main">
              <a:ext uri="{FF2B5EF4-FFF2-40B4-BE49-F238E27FC236}">
                <a16:creationId xmlns:a16="http://schemas.microsoft.com/office/drawing/2014/main" id="{4E12A483-9DEB-4A41-B80E-F50F269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ProductForm(forms.ModelForm):</a:t>
            </a:r>
          </a:p>
        </p:txBody>
      </p:sp>
      <p:sp>
        <p:nvSpPr>
          <p:cNvPr id="8" name="    class Meta:">
            <a:extLst xmlns:a="http://schemas.openxmlformats.org/drawingml/2006/main">
              <a:ext uri="{FF2B5EF4-FFF2-40B4-BE49-F238E27FC236}">
                <a16:creationId xmlns:a16="http://schemas.microsoft.com/office/drawing/2014/main" id="{1F3585F8-41FA-48F5-B03F-8C415733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class Meta:</a:t>
            </a:r>
          </a:p>
        </p:txBody>
      </p:sp>
      <p:sp>
        <p:nvSpPr>
          <p:cNvPr id="9" name="        model = Product">
            <a:extLst xmlns:a="http://schemas.openxmlformats.org/drawingml/2006/main">
              <a:ext uri="{FF2B5EF4-FFF2-40B4-BE49-F238E27FC236}">
                <a16:creationId xmlns:a16="http://schemas.microsoft.com/office/drawing/2014/main" id="{5854E12A-9B5E-4868-97EF-0C6ADB8A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model = Product</a:t>
            </a:r>
          </a:p>
        </p:txBody>
      </p:sp>
      <p:sp>
        <p:nvSpPr>
          <p:cNvPr id="10" name="        fields = [&quot;name&quot;, &quot;price&quot;, &quot;stock&quot;]">
            <a:extLst xmlns:a="http://schemas.openxmlformats.org/drawingml/2006/main">
              <a:ext uri="{FF2B5EF4-FFF2-40B4-BE49-F238E27FC236}">
                <a16:creationId xmlns:a16="http://schemas.microsoft.com/office/drawing/2014/main" id="{7AB5D3B8-F924-4EE2-BD29-C0BFABF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fields = ["name", "price", "stock"]</a:t>
            </a:r>
          </a:p>
        </p:txBody>
      </p:sp>
      <p:sp>
        <p:nvSpPr>
          <p:cNvPr id="11" name="        labels = {">
            <a:extLst xmlns:a="http://schemas.openxmlformats.org/drawingml/2006/main">
              <a:ext uri="{FF2B5EF4-FFF2-40B4-BE49-F238E27FC236}">
                <a16:creationId xmlns:a16="http://schemas.microsoft.com/office/drawing/2014/main" id="{C6DEE89B-E7A2-461F-99B3-8008BEA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labels = {</a:t>
            </a:r>
          </a:p>
        </p:txBody>
      </p:sp>
      <p:sp>
        <p:nvSpPr>
          <p:cNvPr id="12" name="            &quot;name&quot;: &quot;商品名稱&quot;,">
            <a:extLst xmlns:a="http://schemas.openxmlformats.org/drawingml/2006/main">
              <a:ext uri="{FF2B5EF4-FFF2-40B4-BE49-F238E27FC236}">
                <a16:creationId xmlns:a16="http://schemas.microsoft.com/office/drawing/2014/main" id="{DF97E7AE-F8FB-49A0-B2F4-43BB2DA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"name": "商品名稱",</a:t>
            </a:r>
          </a:p>
        </p:txBody>
      </p:sp>
      <p:sp>
        <p:nvSpPr>
          <p:cNvPr id="13" name="            &quot;price&quot;: &quot;價格&quot;,">
            <a:extLst xmlns:a="http://schemas.openxmlformats.org/drawingml/2006/main">
              <a:ext uri="{FF2B5EF4-FFF2-40B4-BE49-F238E27FC236}">
                <a16:creationId xmlns:a16="http://schemas.microsoft.com/office/drawing/2014/main" id="{5BE45204-D630-4EFC-BE3B-ABEF3C4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"price": "價格",</a:t>
            </a:r>
          </a:p>
        </p:txBody>
      </p:sp>
      <p:sp>
        <p:nvSpPr>
          <p:cNvPr id="14" name="            &quot;stock&quot;: &quot;庫存&quot;,">
            <a:extLst xmlns:a="http://schemas.openxmlformats.org/drawingml/2006/main">
              <a:ext uri="{FF2B5EF4-FFF2-40B4-BE49-F238E27FC236}">
                <a16:creationId xmlns:a16="http://schemas.microsoft.com/office/drawing/2014/main" id="{A5BE1A8A-98A8-4F90-B9A1-44B565C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"stock": "庫存",</a:t>
            </a:r>
          </a:p>
        </p:txBody>
      </p:sp>
      <p:sp>
        <p:nvSpPr>
          <p:cNvPr id="15" name="        }">
            <a:extLst xmlns:a="http://schemas.openxmlformats.org/drawingml/2006/main">
              <a:ext uri="{FF2B5EF4-FFF2-40B4-BE49-F238E27FC236}">
                <a16:creationId xmlns:a16="http://schemas.microsoft.com/office/drawing/2014/main" id="{B3E48BEE-21C3-431A-B42E-0E1D019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6" name="ModelForm">
            <a:extLst xmlns:a="http://schemas.openxmlformats.org/drawingml/2006/main">
              <a:ext uri="{FF2B5EF4-FFF2-40B4-BE49-F238E27FC236}">
                <a16:creationId xmlns:a16="http://schemas.microsoft.com/office/drawing/2014/main" id="{A25FCC8B-998D-4790-80D4-63CFBEE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ModelForm</a:t>
            </a:r>
          </a:p>
        </p:txBody>
      </p:sp>
      <p:sp>
        <p:nvSpPr>
          <p:cNvPr id="17" name="依模型建立表單欄位， 把字串輸入轉成適當型別， 並執行相關驗證。">
            <a:extLst xmlns:a="http://schemas.openxmlformats.org/drawingml/2006/main">
              <a:ext uri="{FF2B5EF4-FFF2-40B4-BE49-F238E27FC236}">
                <a16:creationId xmlns:a16="http://schemas.microsoft.com/office/drawing/2014/main" id="{67136034-3E2A-427E-99EA-3C814E4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依模型建立表單欄位，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把字串輸入轉成適當型別，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並執行相關驗證。</a:t>
            </a:r>
          </a:p>
        </p:txBody>
      </p:sp>
      <p:sp>
        <p:nvSpPr>
          <p:cNvPr id="18" name="明確選擇欄位">
            <a:extLst xmlns:a="http://schemas.openxmlformats.org/drawingml/2006/main">
              <a:ext uri="{FF2B5EF4-FFF2-40B4-BE49-F238E27FC236}">
                <a16:creationId xmlns:a16="http://schemas.microsoft.com/office/drawing/2014/main" id="{992DA543-DBEF-4090-AECA-FE066A1A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明確選擇欄位</a:t>
            </a:r>
          </a:p>
        </p:txBody>
      </p:sp>
      <p:sp>
        <p:nvSpPr>
          <p:cNvPr id="19" name="fields 指定允許使用者 提交的欄位，避免不必要的 資料暴露在表單中。">
            <a:extLst xmlns:a="http://schemas.openxmlformats.org/drawingml/2006/main">
              <a:ext uri="{FF2B5EF4-FFF2-40B4-BE49-F238E27FC236}">
                <a16:creationId xmlns:a16="http://schemas.microsoft.com/office/drawing/2014/main" id="{E8D32515-1651-4618-8C38-D33BABA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fields 指定允許使用者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提交的欄位，避免不必要的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資料暴露在表單中。</a:t>
            </a:r>
          </a:p>
        </p:txBody>
      </p:sp>
      <p:sp>
        <p:nvSpPr>
          <p:cNvPr id="20" name="表單物件本身不是 HTML 檔案；HTML 由模板負責呈現。">
            <a:extLst xmlns:a="http://schemas.openxmlformats.org/drawingml/2006/main">
              <a:ext uri="{FF2B5EF4-FFF2-40B4-BE49-F238E27FC236}">
                <a16:creationId xmlns:a16="http://schemas.microsoft.com/office/drawing/2014/main" id="{C5847C40-B31B-4912-8210-72D939C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表單物件本身不是 HTML 檔案；HTML 由模板負責呈現。</a:t>
            </a:r>
          </a:p>
        </p:txBody>
      </p:sp>
    </p:spTree>
    <p:extLst>
      <p:ext uri="{BB962C8B-B14F-4D97-AF65-F5344CB8AC3E}">
        <p14:creationId xmlns:p14="http://schemas.microsoft.com/office/powerpoint/2010/main" val="17996358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新增商品的 View">
            <a:extLst xmlns:a="http://schemas.openxmlformats.org/drawingml/2006/main">
              <a:ext uri="{FF2B5EF4-FFF2-40B4-BE49-F238E27FC236}">
                <a16:creationId xmlns:a16="http://schemas.microsoft.com/office/drawing/2014/main" id="{2F7E41CB-E6EF-449A-84B5-D0113420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新增商品的 View</a:t>
            </a:r>
          </a:p>
        </p:txBody>
      </p:sp>
      <p:sp>
        <p:nvSpPr>
          <p:cNvPr id="2" name="catalog/views.py：依 GET 與 POST 處理">
            <a:extLst xmlns:a="http://schemas.openxmlformats.org/drawingml/2006/main">
              <a:ext uri="{FF2B5EF4-FFF2-40B4-BE49-F238E27FC236}">
                <a16:creationId xmlns:a16="http://schemas.microsoft.com/office/drawing/2014/main" id="{368B4413-83C0-4CE2-ADAD-B69D98F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catalog/views.py：依 GET 與 POST 處理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C51E1888-257D-4357-A45D-FB57543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@require_http_methods([&quot;GET&quot;, &quot;POST&quot;])">
            <a:extLst xmlns:a="http://schemas.openxmlformats.org/drawingml/2006/main">
              <a:ext uri="{FF2B5EF4-FFF2-40B4-BE49-F238E27FC236}">
                <a16:creationId xmlns:a16="http://schemas.microsoft.com/office/drawing/2014/main" id="{586399F4-A367-4036-AA3C-4D44515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@require_http_methods(["GET", "POST"])</a:t>
            </a:r>
          </a:p>
        </p:txBody>
      </p:sp>
      <p:sp>
        <p:nvSpPr>
          <p:cNvPr id="5" name="def product_create(request):">
            <a:extLst xmlns:a="http://schemas.openxmlformats.org/drawingml/2006/main">
              <a:ext uri="{FF2B5EF4-FFF2-40B4-BE49-F238E27FC236}">
                <a16:creationId xmlns:a16="http://schemas.microsoft.com/office/drawing/2014/main" id="{4827DE66-3CCC-4273-A99B-44096DB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product_create(request):</a:t>
            </a:r>
          </a:p>
        </p:txBody>
      </p:sp>
      <p:sp>
        <p:nvSpPr>
          <p:cNvPr id="6" name="    if request.method == &quot;POST&quot;:">
            <a:extLst xmlns:a="http://schemas.openxmlformats.org/drawingml/2006/main">
              <a:ext uri="{FF2B5EF4-FFF2-40B4-BE49-F238E27FC236}">
                <a16:creationId xmlns:a16="http://schemas.microsoft.com/office/drawing/2014/main" id="{0FC015AD-795B-4CB4-81EB-0FB6890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request.method == "POST":</a:t>
            </a:r>
          </a:p>
        </p:txBody>
      </p:sp>
      <p:sp>
        <p:nvSpPr>
          <p:cNvPr id="7" name="        form = ProductForm(request.POST)">
            <a:extLst xmlns:a="http://schemas.openxmlformats.org/drawingml/2006/main">
              <a:ext uri="{FF2B5EF4-FFF2-40B4-BE49-F238E27FC236}">
                <a16:creationId xmlns:a16="http://schemas.microsoft.com/office/drawing/2014/main" id="{8F28166C-DE02-45C3-B87A-2B98AB6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form = ProductForm(request.POST)</a:t>
            </a:r>
          </a:p>
        </p:txBody>
      </p:sp>
      <p:sp>
        <p:nvSpPr>
          <p:cNvPr id="8" name="        if form.is_valid():">
            <a:extLst xmlns:a="http://schemas.openxmlformats.org/drawingml/2006/main">
              <a:ext uri="{FF2B5EF4-FFF2-40B4-BE49-F238E27FC236}">
                <a16:creationId xmlns:a16="http://schemas.microsoft.com/office/drawing/2014/main" id="{A9680A21-0997-417B-8CC9-7478257C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form.is_valid():</a:t>
            </a:r>
          </a:p>
        </p:txBody>
      </p:sp>
      <p:sp>
        <p:nvSpPr>
          <p:cNvPr id="9" name="            form.save()">
            <a:extLst xmlns:a="http://schemas.openxmlformats.org/drawingml/2006/main">
              <a:ext uri="{FF2B5EF4-FFF2-40B4-BE49-F238E27FC236}">
                <a16:creationId xmlns:a16="http://schemas.microsoft.com/office/drawing/2014/main" id="{7E7A3109-1449-4DE3-8B5D-7F5A398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form.save()</a:t>
            </a:r>
          </a:p>
        </p:txBody>
      </p:sp>
      <p:sp>
        <p:nvSpPr>
          <p:cNvPr id="10" name="            return redirect(&quot;catalog:product_list&quot;)">
            <a:extLst xmlns:a="http://schemas.openxmlformats.org/drawingml/2006/main">
              <a:ext uri="{FF2B5EF4-FFF2-40B4-BE49-F238E27FC236}">
                <a16:creationId xmlns:a16="http://schemas.microsoft.com/office/drawing/2014/main" id="{C3702903-219D-4D15-BFA8-919AB5B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return redirect("catalog:product_list")</a:t>
            </a:r>
          </a:p>
        </p:txBody>
      </p:sp>
      <p:sp>
        <p:nvSpPr>
          <p:cNvPr id="11" name="    else:">
            <a:extLst xmlns:a="http://schemas.openxmlformats.org/drawingml/2006/main">
              <a:ext uri="{FF2B5EF4-FFF2-40B4-BE49-F238E27FC236}">
                <a16:creationId xmlns:a16="http://schemas.microsoft.com/office/drawing/2014/main" id="{A427723F-E56B-45BB-9084-7F3488AA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2" name="        form = ProductForm()">
            <a:extLst xmlns:a="http://schemas.openxmlformats.org/drawingml/2006/main">
              <a:ext uri="{FF2B5EF4-FFF2-40B4-BE49-F238E27FC236}">
                <a16:creationId xmlns:a16="http://schemas.microsoft.com/office/drawing/2014/main" id="{E604446E-B095-477D-B384-69CE997E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form = ProductForm()</a:t>
            </a:r>
          </a:p>
        </p:txBody>
      </p:sp>
      <p:sp>
        <p:nvSpPr>
          <p:cNvPr id="13" name="    return render(request,">
            <a:extLst xmlns:a="http://schemas.openxmlformats.org/drawingml/2006/main">
              <a:ext uri="{FF2B5EF4-FFF2-40B4-BE49-F238E27FC236}">
                <a16:creationId xmlns:a16="http://schemas.microsoft.com/office/drawing/2014/main" id="{A36BF401-3EBD-48C3-B6BE-E515EFB6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render(request,</a:t>
            </a:r>
          </a:p>
        </p:txBody>
      </p:sp>
      <p:sp>
        <p:nvSpPr>
          <p:cNvPr id="14" name="        &quot;catalog/product_form.html&quot;,">
            <a:extLst xmlns:a="http://schemas.openxmlformats.org/drawingml/2006/main">
              <a:ext uri="{FF2B5EF4-FFF2-40B4-BE49-F238E27FC236}">
                <a16:creationId xmlns:a16="http://schemas.microsoft.com/office/drawing/2014/main" id="{8511BC03-51FE-4399-B64B-E846657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"catalog/product_form.html",</a:t>
            </a:r>
          </a:p>
        </p:txBody>
      </p:sp>
      <p:sp>
        <p:nvSpPr>
          <p:cNvPr id="15" name="        {&quot;form&quot;: form})">
            <a:extLst xmlns:a="http://schemas.openxmlformats.org/drawingml/2006/main">
              <a:ext uri="{FF2B5EF4-FFF2-40B4-BE49-F238E27FC236}">
                <a16:creationId xmlns:a16="http://schemas.microsoft.com/office/drawing/2014/main" id="{A315F6B8-4502-42C4-9D0A-E239BCC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{"form": form})</a:t>
            </a:r>
          </a:p>
        </p:txBody>
      </p:sp>
      <p:sp>
        <p:nvSpPr>
          <p:cNvPr id="16" name="GET">
            <a:extLst xmlns:a="http://schemas.openxmlformats.org/drawingml/2006/main">
              <a:ext uri="{FF2B5EF4-FFF2-40B4-BE49-F238E27FC236}">
                <a16:creationId xmlns:a16="http://schemas.microsoft.com/office/drawing/2014/main" id="{B3F9F21D-8EA1-4B7C-9BDE-9FB4529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GET</a:t>
            </a:r>
          </a:p>
        </p:txBody>
      </p:sp>
      <p:sp>
        <p:nvSpPr>
          <p:cNvPr id="17" name="建立空表單，顯示輸入頁。">
            <a:extLst xmlns:a="http://schemas.openxmlformats.org/drawingml/2006/main">
              <a:ext uri="{FF2B5EF4-FFF2-40B4-BE49-F238E27FC236}">
                <a16:creationId xmlns:a16="http://schemas.microsoft.com/office/drawing/2014/main" id="{8032E71A-ADEE-4FA9-8722-4B479BD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建立空表單，顯示輸入頁。</a:t>
            </a:r>
          </a:p>
        </p:txBody>
      </p:sp>
      <p:sp>
        <p:nvSpPr>
          <p:cNvPr id="18" name="POST">
            <a:extLst xmlns:a="http://schemas.openxmlformats.org/drawingml/2006/main">
              <a:ext uri="{FF2B5EF4-FFF2-40B4-BE49-F238E27FC236}">
                <a16:creationId xmlns:a16="http://schemas.microsoft.com/office/drawing/2014/main" id="{79A04000-8607-4526-9ECB-F9CA223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POST</a:t>
            </a:r>
          </a:p>
        </p:txBody>
      </p:sp>
      <p:sp>
        <p:nvSpPr>
          <p:cNvPr id="19" name="把輸入交給表單驗證。 成功後儲存並重新導向； 失敗則顯示同一表單的錯誤。">
            <a:extLst xmlns:a="http://schemas.openxmlformats.org/drawingml/2006/main">
              <a:ext uri="{FF2B5EF4-FFF2-40B4-BE49-F238E27FC236}">
                <a16:creationId xmlns:a16="http://schemas.microsoft.com/office/drawing/2014/main" id="{26DD1D6B-AB03-4343-9628-F23D404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把輸入交給表單驗證。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成功後儲存並重新導向；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失敗則顯示同一表單的錯誤。</a:t>
            </a:r>
          </a:p>
        </p:txBody>
      </p:sp>
      <p:sp>
        <p:nvSpPr>
          <p:cNvPr id="20" name="所需匯入：ProductForm、render、redirect、require_http_methods，完整檔案已提供。">
            <a:extLst xmlns:a="http://schemas.openxmlformats.org/drawingml/2006/main">
              <a:ext uri="{FF2B5EF4-FFF2-40B4-BE49-F238E27FC236}">
                <a16:creationId xmlns:a16="http://schemas.microsoft.com/office/drawing/2014/main" id="{2D350E01-7273-46A2-B92C-3B768D9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所需匯入：ProductForm、render、redirect、require_http_methods，完整檔案已提供。</a:t>
            </a:r>
          </a:p>
        </p:txBody>
      </p:sp>
    </p:spTree>
    <p:extLst>
      <p:ext uri="{BB962C8B-B14F-4D97-AF65-F5344CB8AC3E}">
        <p14:creationId xmlns:p14="http://schemas.microsoft.com/office/powerpoint/2010/main" val="12018552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duct_form.html：提交表單">
            <a:extLst xmlns:a="http://schemas.openxmlformats.org/drawingml/2006/main">
              <a:ext uri="{FF2B5EF4-FFF2-40B4-BE49-F238E27FC236}">
                <a16:creationId xmlns:a16="http://schemas.microsoft.com/office/drawing/2014/main" id="{3437AB88-E736-4BDF-AD1B-54ED08F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product_form.html：提交表單</a:t>
            </a:r>
          </a:p>
        </p:txBody>
      </p:sp>
      <p:sp>
        <p:nvSpPr>
          <p:cNvPr id="2" name="catalog/templates/catalog/product_form.html">
            <a:extLst xmlns:a="http://schemas.openxmlformats.org/drawingml/2006/main">
              <a:ext uri="{FF2B5EF4-FFF2-40B4-BE49-F238E27FC236}">
                <a16:creationId xmlns:a16="http://schemas.microsoft.com/office/drawing/2014/main" id="{2407D914-163A-4178-8BE6-DF5B7F4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catalog/templates/catalog/product_form.html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FBEF0009-8A9D-4FFA-91C4-567DA6E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4" name="{% extends &quot;catalog/base.html&quot; %}">
            <a:extLst xmlns:a="http://schemas.openxmlformats.org/drawingml/2006/main">
              <a:ext uri="{FF2B5EF4-FFF2-40B4-BE49-F238E27FC236}">
                <a16:creationId xmlns:a16="http://schemas.microsoft.com/office/drawing/2014/main" id="{547750D9-CBF1-45FE-A053-8EBB88F0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extends "catalog/base.html" %}</a:t>
            </a:r>
          </a:p>
        </p:txBody>
      </p:sp>
      <p:sp>
        <p:nvSpPr>
          <p:cNvPr id="5" name="{% block content %}">
            <a:extLst xmlns:a="http://schemas.openxmlformats.org/drawingml/2006/main">
              <a:ext uri="{FF2B5EF4-FFF2-40B4-BE49-F238E27FC236}">
                <a16:creationId xmlns:a16="http://schemas.microsoft.com/office/drawing/2014/main" id="{0AE85C25-4F29-40ED-9D66-3452329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block content %}</a:t>
            </a:r>
          </a:p>
        </p:txBody>
      </p:sp>
      <p:sp>
        <p:nvSpPr>
          <p:cNvPr id="6" name="&lt;h1&gt;新增商品&lt;/h1&gt;">
            <a:extLst xmlns:a="http://schemas.openxmlformats.org/drawingml/2006/main">
              <a:ext uri="{FF2B5EF4-FFF2-40B4-BE49-F238E27FC236}">
                <a16:creationId xmlns:a16="http://schemas.microsoft.com/office/drawing/2014/main" id="{946D7653-B8F4-42E7-86A9-00C98E6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&lt;h1&gt;新增商品&lt;/h1&gt;</a:t>
            </a:r>
          </a:p>
        </p:txBody>
      </p:sp>
      <p:sp>
        <p:nvSpPr>
          <p:cNvPr id="7" name="&lt;form method=&quot;post&quot;&gt;">
            <a:extLst xmlns:a="http://schemas.openxmlformats.org/drawingml/2006/main">
              <a:ext uri="{FF2B5EF4-FFF2-40B4-BE49-F238E27FC236}">
                <a16:creationId xmlns:a16="http://schemas.microsoft.com/office/drawing/2014/main" id="{AD257DD5-807B-494D-84AA-CF4E8E4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</p:txBody>
      </p:sp>
      <p:sp>
        <p:nvSpPr>
          <p:cNvPr id="8" name="  {% csrf_token %}">
            <a:extLst xmlns:a="http://schemas.openxmlformats.org/drawingml/2006/main">
              <a:ext uri="{FF2B5EF4-FFF2-40B4-BE49-F238E27FC236}">
                <a16:creationId xmlns:a16="http://schemas.microsoft.com/office/drawing/2014/main" id="{828D0078-F0F1-4BA8-AFC3-791CAC9B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{% csrf_token %}</a:t>
            </a:r>
          </a:p>
        </p:txBody>
      </p:sp>
      <p:sp>
        <p:nvSpPr>
          <p:cNvPr id="9" name="  {{ form.as_p }}">
            <a:extLst xmlns:a="http://schemas.openxmlformats.org/drawingml/2006/main">
              <a:ext uri="{FF2B5EF4-FFF2-40B4-BE49-F238E27FC236}">
                <a16:creationId xmlns:a16="http://schemas.microsoft.com/office/drawing/2014/main" id="{25ACC3E8-0946-4D3D-A196-4A66658D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{{ form.as_p }}</a:t>
            </a:r>
          </a:p>
        </p:txBody>
      </p:sp>
      <p:sp>
        <p:nvSpPr>
          <p:cNvPr id="10" name="  &lt;button type=&quot;submit&quot;&gt;儲存商品&lt;/button&gt;">
            <a:extLst xmlns:a="http://schemas.openxmlformats.org/drawingml/2006/main">
              <a:ext uri="{FF2B5EF4-FFF2-40B4-BE49-F238E27FC236}">
                <a16:creationId xmlns:a16="http://schemas.microsoft.com/office/drawing/2014/main" id="{D18C9419-CC41-45DE-B2DC-E242D6B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&lt;button type="submit"&gt;儲存商品&lt;/button&gt;</a:t>
            </a:r>
          </a:p>
        </p:txBody>
      </p:sp>
      <p:sp>
        <p:nvSpPr>
          <p:cNvPr id="11" name="&lt;/form&gt;">
            <a:extLst xmlns:a="http://schemas.openxmlformats.org/drawingml/2006/main">
              <a:ext uri="{FF2B5EF4-FFF2-40B4-BE49-F238E27FC236}">
                <a16:creationId xmlns:a16="http://schemas.microsoft.com/office/drawing/2014/main" id="{8611DEEF-2BE8-48EE-92AC-9DD897E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  <p:sp>
        <p:nvSpPr>
          <p:cNvPr id="12" name="{% endblock %}">
            <a:extLst xmlns:a="http://schemas.openxmlformats.org/drawingml/2006/main">
              <a:ext uri="{FF2B5EF4-FFF2-40B4-BE49-F238E27FC236}">
                <a16:creationId xmlns:a16="http://schemas.microsoft.com/office/drawing/2014/main" id="{905CD3C8-E6C3-4DD2-8BBD-3E75780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endblock %}</a:t>
            </a:r>
          </a:p>
        </p:txBody>
      </p:sp>
      <p:sp>
        <p:nvSpPr>
          <p:cNvPr id="13" name="CSRF token">
            <a:extLst xmlns:a="http://schemas.openxmlformats.org/drawingml/2006/main">
              <a:ext uri="{FF2B5EF4-FFF2-40B4-BE49-F238E27FC236}">
                <a16:creationId xmlns:a16="http://schemas.microsoft.com/office/drawing/2014/main" id="{FC029244-514C-449A-996E-C133E45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CSRF token</a:t>
            </a:r>
          </a:p>
        </p:txBody>
      </p:sp>
      <p:sp>
        <p:nvSpPr>
          <p:cNvPr id="14" name="與預設 CSRF 中介軟體配合， 保護站內 POST 表單。 驗證失敗時不可直接移除它。">
            <a:extLst xmlns:a="http://schemas.openxmlformats.org/drawingml/2006/main">
              <a:ext uri="{FF2B5EF4-FFF2-40B4-BE49-F238E27FC236}">
                <a16:creationId xmlns:a16="http://schemas.microsoft.com/office/drawing/2014/main" id="{0C209289-D4C1-4190-BBE9-B8E3CD9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與預設 CSRF 中介軟體配合，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保護站內 POST 表單。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驗證失敗時不可直接移除它。</a:t>
            </a:r>
          </a:p>
        </p:txBody>
      </p:sp>
      <p:sp>
        <p:nvSpPr>
          <p:cNvPr id="15" name="form.as_p">
            <a:extLst xmlns:a="http://schemas.openxmlformats.org/drawingml/2006/main">
              <a:ext uri="{FF2B5EF4-FFF2-40B4-BE49-F238E27FC236}">
                <a16:creationId xmlns:a16="http://schemas.microsoft.com/office/drawing/2014/main" id="{C16F6C31-E9FF-4BC1-B32B-B75BFFF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form.as_p</a:t>
            </a:r>
          </a:p>
        </p:txBody>
      </p:sp>
      <p:sp>
        <p:nvSpPr>
          <p:cNvPr id="16" name="輸出欄位、標籤與錯誤訊息。 使用者看得到驗證結果， 不需自己重寫所有 HTML。">
            <a:extLst xmlns:a="http://schemas.openxmlformats.org/drawingml/2006/main">
              <a:ext uri="{FF2B5EF4-FFF2-40B4-BE49-F238E27FC236}">
                <a16:creationId xmlns:a16="http://schemas.microsoft.com/office/drawing/2014/main" id="{342E4C6D-6021-4F7A-AF35-365457F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輸出欄位、標籤與錯誤訊息。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使用者看得到驗證結果，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不需自己重寫所有 HTML。</a:t>
            </a:r>
          </a:p>
        </p:txBody>
      </p:sp>
      <p:sp>
        <p:nvSpPr>
          <p:cNvPr id="17" name="本機範例允許新增商品；公開網站應另外安排登入、權限與操作規則。">
            <a:extLst xmlns:a="http://schemas.openxmlformats.org/drawingml/2006/main">
              <a:ext uri="{FF2B5EF4-FFF2-40B4-BE49-F238E27FC236}">
                <a16:creationId xmlns:a16="http://schemas.microsoft.com/office/drawing/2014/main" id="{6F894C9A-075B-4BF8-BE6F-F50F2215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本機範例允許新增商品；公開網站應另外安排登入、權限與操作規則。</a:t>
            </a:r>
          </a:p>
        </p:txBody>
      </p:sp>
    </p:spTree>
    <p:extLst>
      <p:ext uri="{BB962C8B-B14F-4D97-AF65-F5344CB8AC3E}">
        <p14:creationId xmlns:p14="http://schemas.microsoft.com/office/powerpoint/2010/main" val="17343451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完成後的新增商品頁">
            <a:extLst xmlns:a="http://schemas.openxmlformats.org/drawingml/2006/main">
              <a:ext uri="{FF2B5EF4-FFF2-40B4-BE49-F238E27FC236}">
                <a16:creationId xmlns:a16="http://schemas.microsoft.com/office/drawing/2014/main" id="{5E74BDAF-2ECF-46E5-93A5-464F48C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完成後的新增商品頁</a:t>
            </a:r>
          </a:p>
        </p:txBody>
      </p:sp>
      <p:sp>
        <p:nvSpPr>
          <p:cNvPr id="2" name="同一個表單連接模型、view 與 template">
            <a:extLst xmlns:a="http://schemas.openxmlformats.org/drawingml/2006/main">
              <a:ext uri="{FF2B5EF4-FFF2-40B4-BE49-F238E27FC236}">
                <a16:creationId xmlns:a16="http://schemas.microsoft.com/office/drawing/2014/main" id="{11311D7D-40EC-4B6D-8A27-43ABD99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同一個表單連接模型、view 與 template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BB7386D2-B392-4B40-9D30-D45F809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3f506c48346b0"/>
          <a:stretch xmlns:a="http://schemas.openxmlformats.org/drawingml/2006/main"/>
        </p:blipFill>
        <p:spPr>
          <a:xfrm xmlns:a="http://schemas.openxmlformats.org/drawingml/2006/main">
            <a:off x="612457" y="1743075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畫面">
            <a:extLst xmlns:a="http://schemas.openxmlformats.org/drawingml/2006/main">
              <a:ext uri="{FF2B5EF4-FFF2-40B4-BE49-F238E27FC236}">
                <a16:creationId xmlns:a16="http://schemas.microsoft.com/office/drawing/2014/main" id="{4EF66F1F-BA2D-4282-B3F8-3017FCE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畫面</a:t>
            </a:r>
          </a:p>
        </p:txBody>
      </p:sp>
      <p:sp>
        <p:nvSpPr>
          <p:cNvPr id="6" name="product_form.html 顯示表單">
            <a:extLst xmlns:a="http://schemas.openxmlformats.org/drawingml/2006/main">
              <a:ext uri="{FF2B5EF4-FFF2-40B4-BE49-F238E27FC236}">
                <a16:creationId xmlns:a16="http://schemas.microsoft.com/office/drawing/2014/main" id="{5100EEA8-C7B2-4559-AF8A-6EBA2F2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product_form.html 顯示表單</a:t>
            </a:r>
          </a:p>
        </p:txBody>
      </p:sp>
      <p:sp>
        <p:nvSpPr>
          <p:cNvPr id="7" name="驗證">
            <a:extLst xmlns:a="http://schemas.openxmlformats.org/drawingml/2006/main">
              <a:ext uri="{FF2B5EF4-FFF2-40B4-BE49-F238E27FC236}">
                <a16:creationId xmlns:a16="http://schemas.microsoft.com/office/drawing/2014/main" id="{864B3BA5-58D8-45B0-B9C9-D0675A9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86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8" name="ProductForm 檢查輸入">
            <a:extLst xmlns:a="http://schemas.openxmlformats.org/drawingml/2006/main">
              <a:ext uri="{FF2B5EF4-FFF2-40B4-BE49-F238E27FC236}">
                <a16:creationId xmlns:a16="http://schemas.microsoft.com/office/drawing/2014/main" id="{00B52655-DB39-4AE4-B320-694B7CF4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ProductForm 檢查輸入</a:t>
            </a:r>
          </a:p>
        </p:txBody>
      </p:sp>
      <p:sp>
        <p:nvSpPr>
          <p:cNvPr id="9" name="成功">
            <a:extLst xmlns:a="http://schemas.openxmlformats.org/drawingml/2006/main">
              <a:ext uri="{FF2B5EF4-FFF2-40B4-BE49-F238E27FC236}">
                <a16:creationId xmlns:a16="http://schemas.microsoft.com/office/drawing/2014/main" id="{2D8DB7F3-2820-48F9-AA8F-5D2680A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76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成功</a:t>
            </a:r>
          </a:p>
        </p:txBody>
      </p:sp>
      <p:sp>
        <p:nvSpPr>
          <p:cNvPr id="10" name="save() 儲存，再回到列表">
            <a:extLst xmlns:a="http://schemas.openxmlformats.org/drawingml/2006/main">
              <a:ext uri="{FF2B5EF4-FFF2-40B4-BE49-F238E27FC236}">
                <a16:creationId xmlns:a16="http://schemas.microsoft.com/office/drawing/2014/main" id="{CE4EEC3B-1A5E-4B2D-A5E8-C10E40D6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339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save() 儲存，再回到列表</a:t>
            </a:r>
          </a:p>
        </p:txBody>
      </p:sp>
      <p:sp>
        <p:nvSpPr>
          <p:cNvPr id="11" name="可在本機輸入負價格，觀察錯誤訊息與資料未儲存的結果。">
            <a:extLst xmlns:a="http://schemas.openxmlformats.org/drawingml/2006/main">
              <a:ext uri="{FF2B5EF4-FFF2-40B4-BE49-F238E27FC236}">
                <a16:creationId xmlns:a16="http://schemas.microsoft.com/office/drawing/2014/main" id="{7D0CC0A7-AB88-4A13-BDC1-9D6B30F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可在本機輸入負價格，觀察錯誤訊息與資料未儲存的結果。</a:t>
            </a:r>
          </a:p>
        </p:txBody>
      </p:sp>
    </p:spTree>
    <p:extLst>
      <p:ext uri="{BB962C8B-B14F-4D97-AF65-F5344CB8AC3E}">
        <p14:creationId xmlns:p14="http://schemas.microsoft.com/office/powerpoint/2010/main" val="1989630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sts.py：可重複執行的網站檢查">
            <a:extLst xmlns:a="http://schemas.openxmlformats.org/drawingml/2006/main">
              <a:ext uri="{FF2B5EF4-FFF2-40B4-BE49-F238E27FC236}">
                <a16:creationId xmlns:a16="http://schemas.microsoft.com/office/drawing/2014/main" id="{F32D9371-6D42-4C02-902C-997A498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tests.py：可重複執行的網站檢查</a:t>
            </a:r>
          </a:p>
        </p:txBody>
      </p:sp>
      <p:sp>
        <p:nvSpPr>
          <p:cNvPr id="2" name="catalog/tests.py 節錄，測試使用獨立資料庫">
            <a:extLst xmlns:a="http://schemas.openxmlformats.org/drawingml/2006/main">
              <a:ext uri="{FF2B5EF4-FFF2-40B4-BE49-F238E27FC236}">
                <a16:creationId xmlns:a16="http://schemas.microsoft.com/office/drawing/2014/main" id="{6B261C05-5B7E-4771-9C2B-7230066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catalog/tests.py 節錄，測試使用獨立資料庫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5E1C3A63-9562-4B74-B37B-DE1E6C0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4" name="from django.test import TestCase">
            <a:extLst xmlns:a="http://schemas.openxmlformats.org/drawingml/2006/main">
              <a:ext uri="{FF2B5EF4-FFF2-40B4-BE49-F238E27FC236}">
                <a16:creationId xmlns:a16="http://schemas.microsoft.com/office/drawing/2014/main" id="{05720474-D1DB-4E16-AFBD-4D38066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django.test import TestCase</a:t>
            </a:r>
          </a:p>
        </p:txBody>
      </p:sp>
      <p:sp>
        <p:nvSpPr>
          <p:cNvPr id="5" name="from django.urls import reverse">
            <a:extLst xmlns:a="http://schemas.openxmlformats.org/drawingml/2006/main">
              <a:ext uri="{FF2B5EF4-FFF2-40B4-BE49-F238E27FC236}">
                <a16:creationId xmlns:a16="http://schemas.microsoft.com/office/drawing/2014/main" id="{97A0F420-1FBE-421D-B998-0D08DAD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reverse</a:t>
            </a:r>
          </a:p>
        </p:txBody>
      </p:sp>
      <p:sp>
        <p:nvSpPr>
          <p:cNvPr id="6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C8712FF7-14D4-4356-B995-F95DFF68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5A4F1-8249-44AE-BA1A-BBFAE3F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CatalogTests(TestCase):">
            <a:extLst xmlns:a="http://schemas.openxmlformats.org/drawingml/2006/main">
              <a:ext uri="{FF2B5EF4-FFF2-40B4-BE49-F238E27FC236}">
                <a16:creationId xmlns:a16="http://schemas.microsoft.com/office/drawing/2014/main" id="{F7195DB8-9655-4755-8A7B-FAE7E9E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CatalogTests(TestCase):</a:t>
            </a:r>
          </a:p>
        </p:txBody>
      </p:sp>
      <p:sp>
        <p:nvSpPr>
          <p:cNvPr id="9" name="    def test_list(self):">
            <a:extLst xmlns:a="http://schemas.openxmlformats.org/drawingml/2006/main">
              <a:ext uri="{FF2B5EF4-FFF2-40B4-BE49-F238E27FC236}">
                <a16:creationId xmlns:a16="http://schemas.microsoft.com/office/drawing/2014/main" id="{3CD9F33F-1108-4BC0-AE5A-E8C031BD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test_list(self):</a:t>
            </a:r>
          </a:p>
        </p:txBody>
      </p:sp>
      <p:sp>
        <p:nvSpPr>
          <p:cNvPr id="10" name="        Product.objects.create(">
            <a:extLst xmlns:a="http://schemas.openxmlformats.org/drawingml/2006/main">
              <a:ext uri="{FF2B5EF4-FFF2-40B4-BE49-F238E27FC236}">
                <a16:creationId xmlns:a16="http://schemas.microsoft.com/office/drawing/2014/main" id="{C9DD1B49-E186-4F21-9CC6-8D7B707B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Product.objects.create(</a:t>
            </a:r>
          </a:p>
        </p:txBody>
      </p:sp>
      <p:sp>
        <p:nvSpPr>
          <p:cNvPr id="11" name="            name=&quot;Keyboard&quot;, price=&quot;1290&quot;, stock=8)">
            <a:extLst xmlns:a="http://schemas.openxmlformats.org/drawingml/2006/main">
              <a:ext uri="{FF2B5EF4-FFF2-40B4-BE49-F238E27FC236}">
                <a16:creationId xmlns:a16="http://schemas.microsoft.com/office/drawing/2014/main" id="{BC10B0E6-22C8-491F-B70D-F81455C5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name="Keyboard", price="1290", stock=8)</a:t>
            </a:r>
          </a:p>
        </p:txBody>
      </p:sp>
      <p:sp>
        <p:nvSpPr>
          <p:cNvPr id="12" name="        response = self.client.get(">
            <a:extLst xmlns:a="http://schemas.openxmlformats.org/drawingml/2006/main">
              <a:ext uri="{FF2B5EF4-FFF2-40B4-BE49-F238E27FC236}">
                <a16:creationId xmlns:a16="http://schemas.microsoft.com/office/drawing/2014/main" id="{CC837B13-5E65-4A71-90EF-7B3293E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response = self.client.get(</a:t>
            </a:r>
          </a:p>
        </p:txBody>
      </p:sp>
      <p:sp>
        <p:nvSpPr>
          <p:cNvPr id="13" name="            reverse(&quot;catalog:product_list&quot;))">
            <a:extLst xmlns:a="http://schemas.openxmlformats.org/drawingml/2006/main">
              <a:ext uri="{FF2B5EF4-FFF2-40B4-BE49-F238E27FC236}">
                <a16:creationId xmlns:a16="http://schemas.microsoft.com/office/drawing/2014/main" id="{6EA351E1-78B7-4847-A0FF-81F00A0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reverse("catalog:product_list"))</a:t>
            </a:r>
          </a:p>
        </p:txBody>
      </p:sp>
      <p:sp>
        <p:nvSpPr>
          <p:cNvPr id="14" name="        self.assertEqual(response.status_code, 200)">
            <a:extLst xmlns:a="http://schemas.openxmlformats.org/drawingml/2006/main">
              <a:ext uri="{FF2B5EF4-FFF2-40B4-BE49-F238E27FC236}">
                <a16:creationId xmlns:a16="http://schemas.microsoft.com/office/drawing/2014/main" id="{ED525608-B045-411B-82B8-6103E03D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self.assertEqual(response.status_code, 200)</a:t>
            </a:r>
          </a:p>
        </p:txBody>
      </p:sp>
      <p:sp>
        <p:nvSpPr>
          <p:cNvPr id="15" name="        self.assertContains(response, &quot;Keyboard&quot;)">
            <a:extLst xmlns:a="http://schemas.openxmlformats.org/drawingml/2006/main">
              <a:ext uri="{FF2B5EF4-FFF2-40B4-BE49-F238E27FC236}">
                <a16:creationId xmlns:a16="http://schemas.microsoft.com/office/drawing/2014/main" id="{AAA96D5F-8E55-4456-AD16-B18674F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self.assertContains(response, "Keyboard")</a:t>
            </a:r>
          </a:p>
        </p:txBody>
      </p:sp>
      <p:sp>
        <p:nvSpPr>
          <p:cNvPr id="16" name="測試客戶端">
            <a:extLst xmlns:a="http://schemas.openxmlformats.org/drawingml/2006/main">
              <a:ext uri="{FF2B5EF4-FFF2-40B4-BE49-F238E27FC236}">
                <a16:creationId xmlns:a16="http://schemas.microsoft.com/office/drawing/2014/main" id="{12057FD3-206A-48BB-90CB-D3A22B3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測試客戶端</a:t>
            </a:r>
          </a:p>
        </p:txBody>
      </p:sp>
      <p:sp>
        <p:nvSpPr>
          <p:cNvPr id="17" name="不用啟動 runserver， 也能呼叫路由並檢查回應。">
            <a:extLst xmlns:a="http://schemas.openxmlformats.org/drawingml/2006/main">
              <a:ext uri="{FF2B5EF4-FFF2-40B4-BE49-F238E27FC236}">
                <a16:creationId xmlns:a16="http://schemas.microsoft.com/office/drawing/2014/main" id="{AE58F27A-F911-43E4-B42F-9E80F09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不用啟動 runserver，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也能呼叫路由並檢查回應。</a:t>
            </a:r>
          </a:p>
        </p:txBody>
      </p:sp>
      <p:sp>
        <p:nvSpPr>
          <p:cNvPr id="18" name="執行命令">
            <a:extLst xmlns:a="http://schemas.openxmlformats.org/drawingml/2006/main">
              <a:ext uri="{FF2B5EF4-FFF2-40B4-BE49-F238E27FC236}">
                <a16:creationId xmlns:a16="http://schemas.microsoft.com/office/drawing/2014/main" id="{798E717E-4F14-4D24-AF87-CD1047B2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執行命令</a:t>
            </a:r>
          </a:p>
        </p:txBody>
      </p:sp>
      <p:sp>
        <p:nvSpPr>
          <p:cNvPr id="19" name="在終端機執行下方命令。 預設測試結束後， Django 會移除測試資料庫。">
            <a:extLst xmlns:a="http://schemas.openxmlformats.org/drawingml/2006/main">
              <a:ext uri="{FF2B5EF4-FFF2-40B4-BE49-F238E27FC236}">
                <a16:creationId xmlns:a16="http://schemas.microsoft.com/office/drawing/2014/main" id="{78340CA9-4737-480E-8771-350196CA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在終端機執行下方命令。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預設測試結束後，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Django 會移除測試資料庫。</a:t>
            </a:r>
          </a:p>
        </p:txBody>
      </p:sp>
      <p:sp>
        <p:nvSpPr>
          <p:cNvPr id="20" name="執行：python manage.py test catalog。配套另含表單、404、重新導向與 CSRF 測試。">
            <a:extLst xmlns:a="http://schemas.openxmlformats.org/drawingml/2006/main">
              <a:ext uri="{FF2B5EF4-FFF2-40B4-BE49-F238E27FC236}">
                <a16:creationId xmlns:a16="http://schemas.microsoft.com/office/drawing/2014/main" id="{9F65304A-8EBD-4798-B7AC-24EA1B07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執行：python manage.py test catalog。配套另含表單、404、重新導向與 CSRF 測試。</a:t>
            </a:r>
          </a:p>
        </p:txBody>
      </p:sp>
    </p:spTree>
    <p:extLst>
      <p:ext uri="{BB962C8B-B14F-4D97-AF65-F5344CB8AC3E}">
        <p14:creationId xmlns:p14="http://schemas.microsoft.com/office/powerpoint/2010/main" val="46464433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IDDLEWARE：共用的請求處理">
            <a:extLst xmlns:a="http://schemas.openxmlformats.org/drawingml/2006/main">
              <a:ext uri="{FF2B5EF4-FFF2-40B4-BE49-F238E27FC236}">
                <a16:creationId xmlns:a16="http://schemas.microsoft.com/office/drawing/2014/main" id="{AF047BD8-87AB-4FAF-BFE7-CAEC9D3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MIDDLEWARE：共用的請求處理</a:t>
            </a:r>
          </a:p>
        </p:txBody>
      </p:sp>
      <p:sp>
        <p:nvSpPr>
          <p:cNvPr id="2" name="設定清單在 config/settings.py">
            <a:extLst xmlns:a="http://schemas.openxmlformats.org/drawingml/2006/main">
              <a:ext uri="{FF2B5EF4-FFF2-40B4-BE49-F238E27FC236}">
                <a16:creationId xmlns:a16="http://schemas.microsoft.com/office/drawing/2014/main" id="{396F6097-7AD1-4ACC-B82E-81C5030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設定清單在 config/settings.py</a:t>
            </a:r>
          </a:p>
        </p:txBody>
      </p:sp>
      <p:sp>
        <p:nvSpPr>
          <p:cNvPr id="3" name="43">
            <a:extLst xmlns:a="http://schemas.openxmlformats.org/drawingml/2006/main">
              <a:ext uri="{FF2B5EF4-FFF2-40B4-BE49-F238E27FC236}">
                <a16:creationId xmlns:a16="http://schemas.microsoft.com/office/drawing/2014/main" id="{6E19FDA3-60A1-425B-8E76-673D2FC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sp>
        <p:nvSpPr>
          <p:cNvPr id="4" name="SessionMiddleware">
            <a:extLst xmlns:a="http://schemas.openxmlformats.org/drawingml/2006/main">
              <a:ext uri="{FF2B5EF4-FFF2-40B4-BE49-F238E27FC236}">
                <a16:creationId xmlns:a16="http://schemas.microsoft.com/office/drawing/2014/main" id="{AA499F6B-4269-4CCD-9598-1DCFF86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SessionMiddleware</a:t>
            </a:r>
          </a:p>
        </p:txBody>
      </p:sp>
      <p:sp>
        <p:nvSpPr>
          <p:cNvPr id="5" name="讓請求可使用 session，保存跨請求的狀態。">
            <a:extLst xmlns:a="http://schemas.openxmlformats.org/drawingml/2006/main">
              <a:ext uri="{FF2B5EF4-FFF2-40B4-BE49-F238E27FC236}">
                <a16:creationId xmlns:a16="http://schemas.microsoft.com/office/drawing/2014/main" id="{8FD0012E-4D5B-4DCE-83A4-9475F74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讓請求可使用 session，保存跨請求的狀態。</a:t>
            </a:r>
          </a:p>
        </p:txBody>
      </p:sp>
      <p:sp>
        <p:nvSpPr>
          <p:cNvPr id="6" name="使用者驗證">
            <a:extLst xmlns:a="http://schemas.openxmlformats.org/drawingml/2006/main">
              <a:ext uri="{FF2B5EF4-FFF2-40B4-BE49-F238E27FC236}">
                <a16:creationId xmlns:a16="http://schemas.microsoft.com/office/drawing/2014/main" id="{C3C4E65F-F3FA-4508-B4CB-DC2FBA6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使用者驗證</a:t>
            </a:r>
          </a:p>
        </p:txBody>
      </p:sp>
      <p:sp>
        <p:nvSpPr>
          <p:cNvPr id="7" name="AuthenticationMiddleware 在 request 提供目前使用者資訊，依賴 session。">
            <a:extLst xmlns:a="http://schemas.openxmlformats.org/drawingml/2006/main">
              <a:ext uri="{FF2B5EF4-FFF2-40B4-BE49-F238E27FC236}">
                <a16:creationId xmlns:a16="http://schemas.microsoft.com/office/drawing/2014/main" id="{964E43EA-8A47-4189-9999-1A9C88E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AuthenticationMiddleware 在 request 提供目前使用者資訊，依賴 session。</a:t>
            </a:r>
          </a:p>
        </p:txBody>
      </p:sp>
      <p:sp>
        <p:nvSpPr>
          <p:cNvPr id="8" name="CsrfViewMiddleware">
            <a:extLst xmlns:a="http://schemas.openxmlformats.org/drawingml/2006/main">
              <a:ext uri="{FF2B5EF4-FFF2-40B4-BE49-F238E27FC236}">
                <a16:creationId xmlns:a16="http://schemas.microsoft.com/office/drawing/2014/main" id="{9CCC4407-8B63-4C1B-94FB-A90908B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CsrfViewMiddleware</a:t>
            </a:r>
          </a:p>
        </p:txBody>
      </p:sp>
      <p:sp>
        <p:nvSpPr>
          <p:cNvPr id="9" name="在需要時檢查 CSRF，與模板中的 token 配合。">
            <a:extLst xmlns:a="http://schemas.openxmlformats.org/drawingml/2006/main">
              <a:ext uri="{FF2B5EF4-FFF2-40B4-BE49-F238E27FC236}">
                <a16:creationId xmlns:a16="http://schemas.microsoft.com/office/drawing/2014/main" id="{ABB8C506-0008-4D44-A1DA-1650C52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在需要時檢查 CSRF，與模板中的 token 配合。</a:t>
            </a:r>
          </a:p>
        </p:txBody>
      </p:sp>
      <p:sp>
        <p:nvSpPr>
          <p:cNvPr id="10" name="其他預設項目">
            <a:extLst xmlns:a="http://schemas.openxmlformats.org/drawingml/2006/main">
              <a:ext uri="{FF2B5EF4-FFF2-40B4-BE49-F238E27FC236}">
                <a16:creationId xmlns:a16="http://schemas.microsoft.com/office/drawing/2014/main" id="{929FC58E-ADE2-4AF8-9A1D-0305FCD8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其他預設項目</a:t>
            </a:r>
          </a:p>
        </p:txBody>
      </p:sp>
      <p:sp>
        <p:nvSpPr>
          <p:cNvPr id="11" name="Security、Common、Message、XFrameOptions 各負其責。">
            <a:extLst xmlns:a="http://schemas.openxmlformats.org/drawingml/2006/main">
              <a:ext uri="{FF2B5EF4-FFF2-40B4-BE49-F238E27FC236}">
                <a16:creationId xmlns:a16="http://schemas.microsoft.com/office/drawing/2014/main" id="{80D276C0-E3DE-40C0-B58B-8DC86CB7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Security、Common、Message、XFrameOptions 各負其責。</a:t>
            </a:r>
          </a:p>
        </p:txBody>
      </p:sp>
      <p:sp>
        <p:nvSpPr>
          <p:cNvPr id="12" name="請求通常依清單順序進入，回應反向返回；中介軟體也可能提前產生回應。">
            <a:extLst xmlns:a="http://schemas.openxmlformats.org/drawingml/2006/main">
              <a:ext uri="{FF2B5EF4-FFF2-40B4-BE49-F238E27FC236}">
                <a16:creationId xmlns:a16="http://schemas.microsoft.com/office/drawing/2014/main" id="{68662142-2AED-433C-AC8C-800D6CD8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請求通常依清單順序進入，回應反向返回；中介軟體也可能提前產生回應。</a:t>
            </a:r>
          </a:p>
        </p:txBody>
      </p:sp>
    </p:spTree>
    <p:extLst>
      <p:ext uri="{BB962C8B-B14F-4D97-AF65-F5344CB8AC3E}">
        <p14:creationId xmlns:p14="http://schemas.microsoft.com/office/powerpoint/2010/main" val="12830243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Project">
            <a:extLst xmlns:a="http://schemas.openxmlformats.org/drawingml/2006/main">
              <a:ext uri="{FF2B5EF4-FFF2-40B4-BE49-F238E27FC236}">
                <a16:creationId xmlns:a16="http://schemas.microsoft.com/office/drawing/2014/main" id="{C2D00980-C77B-4DC0-969D-AC5946C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完整檔案索引：Project</a:t>
            </a:r>
          </a:p>
        </p:txBody>
      </p:sp>
      <p:sp>
        <p:nvSpPr>
          <p:cNvPr id="2" name="由 startproject 產生，通常放在專案根目錄附近">
            <a:extLst xmlns:a="http://schemas.openxmlformats.org/drawingml/2006/main">
              <a:ext uri="{FF2B5EF4-FFF2-40B4-BE49-F238E27FC236}">
                <a16:creationId xmlns:a16="http://schemas.microsoft.com/office/drawing/2014/main" id="{7981F109-9912-4623-AA65-6F66730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由 startproject 產生，通常放在專案根目錄附近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AF3E202B-AFDA-49D1-A53E-4166587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19500"/>
                <a:gridCol w="4667250"/>
                <a:gridCol w="268605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何時修改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manage.py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執行專案管理命令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通常不改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config/__init__.py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套件標記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通常空白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config/settings.py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功能、資料庫與環境設定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app、設定環境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config/urls.py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網站總路由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接入 app 或網站入口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config/wsgi.py、asgi.py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載入 application 的伺服器入口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特殊部署需求時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ASGI 與 WSGI 檔案同時存在，不表示要同時啟動兩種伺服器。">
            <a:extLst xmlns:a="http://schemas.openxmlformats.org/drawingml/2006/main">
              <a:ext uri="{FF2B5EF4-FFF2-40B4-BE49-F238E27FC236}">
                <a16:creationId xmlns:a16="http://schemas.microsoft.com/office/drawing/2014/main" id="{1CC5DF9D-A183-4DB0-B427-1A878FD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ASGI 與 WSGI 檔案同時存在，不表示要同時啟動兩種伺服器。</a:t>
            </a:r>
          </a:p>
        </p:txBody>
      </p:sp>
    </p:spTree>
    <p:extLst>
      <p:ext uri="{BB962C8B-B14F-4D97-AF65-F5344CB8AC3E}">
        <p14:creationId xmlns:p14="http://schemas.microsoft.com/office/powerpoint/2010/main" val="13914501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App 預設骨架">
            <a:extLst xmlns:a="http://schemas.openxmlformats.org/drawingml/2006/main">
              <a:ext uri="{FF2B5EF4-FFF2-40B4-BE49-F238E27FC236}">
                <a16:creationId xmlns:a16="http://schemas.microsoft.com/office/drawing/2014/main" id="{D5766D4D-D079-48A8-AD80-BD86994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完整檔案索引：App 預設骨架</a:t>
            </a:r>
          </a:p>
        </p:txBody>
      </p:sp>
      <p:sp>
        <p:nvSpPr>
          <p:cNvPr id="2" name="由 startapp catalog 產生">
            <a:extLst xmlns:a="http://schemas.openxmlformats.org/drawingml/2006/main">
              <a:ext uri="{FF2B5EF4-FFF2-40B4-BE49-F238E27FC236}">
                <a16:creationId xmlns:a16="http://schemas.microsoft.com/office/drawing/2014/main" id="{4C341916-19D9-4A3A-8697-BB2E0AB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由 startapp catalog 產生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78E9F91F-8559-4DA8-9907-2BAA462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10125"/>
                <a:gridCol w="6162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catalog/__init__.py、apps.py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套件標記與 AppConfig 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catalog/models.py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資料模型與物件行為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catalog/views.py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接收請求與產生回應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catalog/admin.py、tests.py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後台註冊與自動化測試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catalog/migrations/__init__.py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migration 套件；後續版本檔由 makemigrations 產生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這些檔案的用途不同，請不要把所有功能都集中到 views.py。">
            <a:extLst xmlns:a="http://schemas.openxmlformats.org/drawingml/2006/main">
              <a:ext uri="{FF2B5EF4-FFF2-40B4-BE49-F238E27FC236}">
                <a16:creationId xmlns:a16="http://schemas.microsoft.com/office/drawing/2014/main" id="{16E379F0-911B-4332-93E6-858B310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這些檔案的用途不同，請不要把所有功能都集中到 views.py。</a:t>
            </a:r>
          </a:p>
        </p:txBody>
      </p:sp>
    </p:spTree>
    <p:extLst>
      <p:ext uri="{BB962C8B-B14F-4D97-AF65-F5344CB8AC3E}">
        <p14:creationId xmlns:p14="http://schemas.microsoft.com/office/powerpoint/2010/main" val="3658972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自行加入的內容">
            <a:extLst xmlns:a="http://schemas.openxmlformats.org/drawingml/2006/main">
              <a:ext uri="{FF2B5EF4-FFF2-40B4-BE49-F238E27FC236}">
                <a16:creationId xmlns:a16="http://schemas.microsoft.com/office/drawing/2014/main" id="{DCD8C750-C26A-444F-99BC-C82E5415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完整檔案索引：自行加入的內容</a:t>
            </a:r>
          </a:p>
        </p:txBody>
      </p:sp>
      <p:sp>
        <p:nvSpPr>
          <p:cNvPr id="2" name="檔名或路徑慣例，協助 Django 與開發者找到內容">
            <a:extLst xmlns:a="http://schemas.openxmlformats.org/drawingml/2006/main">
              <a:ext uri="{FF2B5EF4-FFF2-40B4-BE49-F238E27FC236}">
                <a16:creationId xmlns:a16="http://schemas.microsoft.com/office/drawing/2014/main" id="{667B374B-15CD-480E-8198-76E6783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檔名或路徑慣例，協助 Django 與開發者找到內容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C7064B9A-3828-4FC2-B626-41CCBF19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5095875"/>
                <a:gridCol w="1971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catalog/urls.py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 的網址規則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自行新增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catalog/forms.py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表單與輸入驗證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自行新增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templates/catalog/*.html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base、列表、詳細頁、表單模板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自行新增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static/catalog/site.css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本站樣式；同目錄亦可放 JS 與圖片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自行新增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migrations/0001_initial.py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模型變更紀錄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makemigrations 產生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templates/ 與 static/ 在本例都位於 catalog/ app 內。">
            <a:extLst xmlns:a="http://schemas.openxmlformats.org/drawingml/2006/main">
              <a:ext uri="{FF2B5EF4-FFF2-40B4-BE49-F238E27FC236}">
                <a16:creationId xmlns:a16="http://schemas.microsoft.com/office/drawing/2014/main" id="{908489E3-21AE-4035-BCA0-F683270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templates/ 與 static/ 在本例都位於 catalog/ app 內。</a:t>
            </a:r>
          </a:p>
        </p:txBody>
      </p:sp>
    </p:spTree>
    <p:extLst>
      <p:ext uri="{BB962C8B-B14F-4D97-AF65-F5344CB8AC3E}">
        <p14:creationId xmlns:p14="http://schemas.microsoft.com/office/powerpoint/2010/main" val="199051299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環境、資料與版本控制檔案">
            <a:extLst xmlns:a="http://schemas.openxmlformats.org/drawingml/2006/main">
              <a:ext uri="{FF2B5EF4-FFF2-40B4-BE49-F238E27FC236}">
                <a16:creationId xmlns:a16="http://schemas.microsoft.com/office/drawing/2014/main" id="{D6C9551B-0034-4D56-A429-02B02F10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環境、資料與版本控制檔案</a:t>
            </a:r>
          </a:p>
        </p:txBody>
      </p:sp>
      <p:sp>
        <p:nvSpPr>
          <p:cNvPr id="2" name="這些檔案並非 Django 業務程式碼">
            <a:extLst xmlns:a="http://schemas.openxmlformats.org/drawingml/2006/main">
              <a:ext uri="{FF2B5EF4-FFF2-40B4-BE49-F238E27FC236}">
                <a16:creationId xmlns:a16="http://schemas.microsoft.com/office/drawing/2014/main" id="{92CBBB7F-6FD9-4439-86FC-E70A163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這些檔案並非 Django 業務程式碼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9D73A160-19EF-48F2-8400-2205A443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5257800"/>
                <a:gridCol w="190500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檔案／目錄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版本控制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requirements.txt、README.md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套件需求與專案執行說明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通常提交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.gitignore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 Git 要忽略的檔案模式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通常提交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.venv/、__pycache__/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隔離套件環境與 Python 位元組碼快取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不提交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db.sqlite3、media/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本機資料庫／使用者上傳檔案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依資料保存政策處理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.env（選用）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存放環境設定；Django 不會自動載入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不提交真實機密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本範例未加入上傳功能，也不依賴 .env；不要把 media 與 static 混為一談。">
            <a:extLst xmlns:a="http://schemas.openxmlformats.org/drawingml/2006/main">
              <a:ext uri="{FF2B5EF4-FFF2-40B4-BE49-F238E27FC236}">
                <a16:creationId xmlns:a16="http://schemas.microsoft.com/office/drawing/2014/main" id="{0EF38DB6-01FB-49E3-B463-5DB0FEE6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本範例未加入上傳功能，也不依賴 .env；不要把 media 與 static 混為一談。</a:t>
            </a:r>
          </a:p>
        </p:txBody>
      </p:sp>
    </p:spTree>
    <p:extLst>
      <p:ext uri="{BB962C8B-B14F-4D97-AF65-F5344CB8AC3E}">
        <p14:creationId xmlns:p14="http://schemas.microsoft.com/office/powerpoint/2010/main" val="76166441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完成版範例的使用方式">
            <a:extLst xmlns:a="http://schemas.openxmlformats.org/drawingml/2006/main">
              <a:ext uri="{FF2B5EF4-FFF2-40B4-BE49-F238E27FC236}">
                <a16:creationId xmlns:a16="http://schemas.microsoft.com/office/drawing/2014/main" id="{AB7F6EB8-4362-4298-A76D-9E0426A6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完成版範例的使用方式</a:t>
            </a:r>
          </a:p>
        </p:txBody>
      </p:sp>
      <p:sp>
        <p:nvSpPr>
          <p:cNvPr id="2" name="解壓縮後，進入含 manage.py 的 django_shop 目錄">
            <a:extLst xmlns:a="http://schemas.openxmlformats.org/drawingml/2006/main">
              <a:ext uri="{FF2B5EF4-FFF2-40B4-BE49-F238E27FC236}">
                <a16:creationId xmlns:a16="http://schemas.microsoft.com/office/drawing/2014/main" id="{E53E0D2A-EA9F-4EA5-8D73-8F83ED8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解壓縮後，進入含 manage.py 的 django_shop 目錄</a:t>
            </a:r>
          </a:p>
        </p:txBody>
      </p:sp>
      <p:sp>
        <p:nvSpPr>
          <p:cNvPr id="3" name="48">
            <a:extLst xmlns:a="http://schemas.openxmlformats.org/drawingml/2006/main">
              <a:ext uri="{FF2B5EF4-FFF2-40B4-BE49-F238E27FC236}">
                <a16:creationId xmlns:a16="http://schemas.microsoft.com/office/drawing/2014/main" id="{665A2901-0BFA-4A71-94A0-FA59AFCC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4" name="安裝套件">
            <a:extLst xmlns:a="http://schemas.openxmlformats.org/drawingml/2006/main">
              <a:ext uri="{FF2B5EF4-FFF2-40B4-BE49-F238E27FC236}">
                <a16:creationId xmlns:a16="http://schemas.microsoft.com/office/drawing/2014/main" id="{252A89FD-4F87-42E7-81E0-1BAE0AF8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安裝套件</a:t>
            </a:r>
          </a:p>
        </p:txBody>
      </p:sp>
      <p:sp>
        <p:nvSpPr>
          <p:cNvPr id="5" name="建立並啟用 .venv，執行 python -m pip install -r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7305ADB7-9C0C-49EA-8FF2-4834859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建立並啟用 .venv，執行 python -m pip install -r requirements.txt。</a:t>
            </a:r>
          </a:p>
        </p:txBody>
      </p:sp>
      <p:sp>
        <p:nvSpPr>
          <p:cNvPr id="6" name="建立資料表">
            <a:extLst xmlns:a="http://schemas.openxmlformats.org/drawingml/2006/main">
              <a:ext uri="{FF2B5EF4-FFF2-40B4-BE49-F238E27FC236}">
                <a16:creationId xmlns:a16="http://schemas.microsoft.com/office/drawing/2014/main" id="{1C1E3B63-AFE5-4006-BAA0-9BDE843E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建立資料表</a:t>
            </a:r>
          </a:p>
        </p:txBody>
      </p:sp>
      <p:sp>
        <p:nvSpPr>
          <p:cNvPr id="7" name="執行 python manage.py migrate；範例已附 0001_initial.py。">
            <a:extLst xmlns:a="http://schemas.openxmlformats.org/drawingml/2006/main">
              <a:ext uri="{FF2B5EF4-FFF2-40B4-BE49-F238E27FC236}">
                <a16:creationId xmlns:a16="http://schemas.microsoft.com/office/drawing/2014/main" id="{2DA984F2-252F-4B36-B5A0-CB25E3E6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執行 python manage.py migrate；範例已附 0001_initial.py。</a:t>
            </a:r>
          </a:p>
        </p:txBody>
      </p:sp>
      <p:sp>
        <p:nvSpPr>
          <p:cNvPr id="8" name="加入資料">
            <a:extLst xmlns:a="http://schemas.openxmlformats.org/drawingml/2006/main">
              <a:ext uri="{FF2B5EF4-FFF2-40B4-BE49-F238E27FC236}">
                <a16:creationId xmlns:a16="http://schemas.microsoft.com/office/drawing/2014/main" id="{B581034F-DECB-4738-8FFF-BFA75D5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加入資料</a:t>
            </a:r>
          </a:p>
        </p:txBody>
      </p:sp>
      <p:sp>
        <p:nvSpPr>
          <p:cNvPr id="9" name="可用 admin 新增，或在網站 /products/new/ 提交表單。">
            <a:extLst xmlns:a="http://schemas.openxmlformats.org/drawingml/2006/main">
              <a:ext uri="{FF2B5EF4-FFF2-40B4-BE49-F238E27FC236}">
                <a16:creationId xmlns:a16="http://schemas.microsoft.com/office/drawing/2014/main" id="{C2EF465A-654C-44BF-B45A-145825C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可用 admin 新增，或在網站 /products/new/ 提交表單。</a:t>
            </a:r>
          </a:p>
        </p:txBody>
      </p:sp>
      <p:sp>
        <p:nvSpPr>
          <p:cNvPr id="10" name="啟動與檢查">
            <a:extLst xmlns:a="http://schemas.openxmlformats.org/drawingml/2006/main">
              <a:ext uri="{FF2B5EF4-FFF2-40B4-BE49-F238E27FC236}">
                <a16:creationId xmlns:a16="http://schemas.microsoft.com/office/drawing/2014/main" id="{802CB75D-44A3-4466-B9B5-3ED2C2C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啟動與檢查</a:t>
            </a:r>
          </a:p>
        </p:txBody>
      </p:sp>
      <p:sp>
        <p:nvSpPr>
          <p:cNvPr id="11" name="執行 runserver，開啟 /products/；test catalog 可執行測試。">
            <a:extLst xmlns:a="http://schemas.openxmlformats.org/drawingml/2006/main">
              <a:ext uri="{FF2B5EF4-FFF2-40B4-BE49-F238E27FC236}">
                <a16:creationId xmlns:a16="http://schemas.microsoft.com/office/drawing/2014/main" id="{E0EEAF3D-E878-4506-BCA3-8667E721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執行 runserver，開啟 /products/；test catalog 可執行測試。</a:t>
            </a:r>
          </a:p>
        </p:txBody>
      </p:sp>
      <p:sp>
        <p:nvSpPr>
          <p:cNvPr id="12" name="完成版已具備所有檔案，不需重新執行 startproject 或 startapp。">
            <a:extLst xmlns:a="http://schemas.openxmlformats.org/drawingml/2006/main">
              <a:ext uri="{FF2B5EF4-FFF2-40B4-BE49-F238E27FC236}">
                <a16:creationId xmlns:a16="http://schemas.microsoft.com/office/drawing/2014/main" id="{D8838C4B-FC6C-4D39-AE94-5458A41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完成版已具備所有檔案，不需重新執行 startproject 或 startapp。</a:t>
            </a:r>
          </a:p>
        </p:txBody>
      </p:sp>
    </p:spTree>
    <p:extLst>
      <p:ext uri="{BB962C8B-B14F-4D97-AF65-F5344CB8AC3E}">
        <p14:creationId xmlns:p14="http://schemas.microsoft.com/office/powerpoint/2010/main" val="4474269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問題與檢查位置">
            <a:extLst xmlns:a="http://schemas.openxmlformats.org/drawingml/2006/main">
              <a:ext uri="{FF2B5EF4-FFF2-40B4-BE49-F238E27FC236}">
                <a16:creationId xmlns:a16="http://schemas.microsoft.com/office/drawing/2014/main" id="{4D32DFF5-0F96-4FA7-AD99-9620EA2B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常見問題與檢查位置</a:t>
            </a:r>
          </a:p>
        </p:txBody>
      </p:sp>
      <p:sp>
        <p:nvSpPr>
          <p:cNvPr id="2" name="從錯誤訊息判斷應該查看哪個檔案">
            <a:extLst xmlns:a="http://schemas.openxmlformats.org/drawingml/2006/main">
              <a:ext uri="{FF2B5EF4-FFF2-40B4-BE49-F238E27FC236}">
                <a16:creationId xmlns:a16="http://schemas.microsoft.com/office/drawing/2014/main" id="{ECE46FBF-52EB-4292-8F9C-499F145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從錯誤訊息判斷應該查看哪個檔案</a:t>
            </a:r>
          </a:p>
        </p:txBody>
      </p:sp>
      <p:sp>
        <p:nvSpPr>
          <p:cNvPr id="3" name="49">
            <a:extLst xmlns:a="http://schemas.openxmlformats.org/drawingml/2006/main">
              <a:ext uri="{FF2B5EF4-FFF2-40B4-BE49-F238E27FC236}">
                <a16:creationId xmlns:a16="http://schemas.microsoft.com/office/drawing/2014/main" id="{9FF8D3BF-FFEA-4C57-AB62-F9544D0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678180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現象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優先檢查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 module named django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虛擬環境、Python 路徑、套件是否安裝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404／NoReverseMatch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總路由、app 路由、name、app_name 與參數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TemplateDoesNotExist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模板路徑、INSTALLED_APPS、APP_DIRS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 such table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migration 是否產生、是否已 migrate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CSS 未載入／CSRF 403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static 路徑與載入標籤／CSRF token 與中介軟體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先保留完整錯誤訊息，再定位原因；不要用刪檔或關閉保護代替修正。">
            <a:extLst xmlns:a="http://schemas.openxmlformats.org/drawingml/2006/main">
              <a:ext uri="{FF2B5EF4-FFF2-40B4-BE49-F238E27FC236}">
                <a16:creationId xmlns:a16="http://schemas.microsoft.com/office/drawing/2014/main" id="{015FE630-9819-46FA-AA39-2A2A59C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先保留完整錯誤訊息，再定位原因；不要用刪檔或關閉保護代替修正。</a:t>
            </a:r>
          </a:p>
        </p:txBody>
      </p:sp>
    </p:spTree>
    <p:extLst>
      <p:ext uri="{BB962C8B-B14F-4D97-AF65-F5344CB8AC3E}">
        <p14:creationId xmlns:p14="http://schemas.microsoft.com/office/powerpoint/2010/main" val="168361463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機開發與正式部署">
            <a:extLst xmlns:a="http://schemas.openxmlformats.org/drawingml/2006/main">
              <a:ext uri="{FF2B5EF4-FFF2-40B4-BE49-F238E27FC236}">
                <a16:creationId xmlns:a16="http://schemas.microsoft.com/office/drawing/2014/main" id="{CB518BBE-31DE-4A72-A65E-B940A9B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本機開發與正式部署</a:t>
            </a:r>
          </a:p>
        </p:txBody>
      </p:sp>
      <p:sp>
        <p:nvSpPr>
          <p:cNvPr id="2" name="上線時需要另外配置的項目">
            <a:extLst xmlns:a="http://schemas.openxmlformats.org/drawingml/2006/main">
              <a:ext uri="{FF2B5EF4-FFF2-40B4-BE49-F238E27FC236}">
                <a16:creationId xmlns:a16="http://schemas.microsoft.com/office/drawing/2014/main" id="{DF383CAD-1894-4A10-B968-EB9EAE6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上線時需要另外配置的項目</a:t>
            </a:r>
          </a:p>
        </p:txBody>
      </p:sp>
      <p:sp>
        <p:nvSpPr>
          <p:cNvPr id="3" name="50">
            <a:extLst xmlns:a="http://schemas.openxmlformats.org/drawingml/2006/main">
              <a:ext uri="{FF2B5EF4-FFF2-40B4-BE49-F238E27FC236}">
                <a16:creationId xmlns:a16="http://schemas.microsoft.com/office/drawing/2014/main" id="{16CBC60E-F3F8-404A-9456-F462957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  <p:sp>
        <p:nvSpPr>
          <p:cNvPr id="4" name="伺服器入口">
            <a:extLst xmlns:a="http://schemas.openxmlformats.org/drawingml/2006/main">
              <a:ext uri="{FF2B5EF4-FFF2-40B4-BE49-F238E27FC236}">
                <a16:creationId xmlns:a16="http://schemas.microsoft.com/office/drawing/2014/main" id="{EF0DA099-24BF-4649-ADB0-971F918D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伺服器入口</a:t>
            </a:r>
          </a:p>
        </p:txBody>
      </p:sp>
      <p:sp>
        <p:nvSpPr>
          <p:cNvPr id="5" name="使用適合的 WSGI 或 ASGI 伺服器，載入對應 application。">
            <a:extLst xmlns:a="http://schemas.openxmlformats.org/drawingml/2006/main">
              <a:ext uri="{FF2B5EF4-FFF2-40B4-BE49-F238E27FC236}">
                <a16:creationId xmlns:a16="http://schemas.microsoft.com/office/drawing/2014/main" id="{0E405B5D-0A04-4AF6-BFEF-F4E0F3AB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使用適合的 WSGI 或 ASGI 伺服器，載入對應 application。</a:t>
            </a:r>
          </a:p>
        </p:txBody>
      </p:sp>
      <p:sp>
        <p:nvSpPr>
          <p:cNvPr id="6" name="環境設定">
            <a:extLst xmlns:a="http://schemas.openxmlformats.org/drawingml/2006/main">
              <a:ext uri="{FF2B5EF4-FFF2-40B4-BE49-F238E27FC236}">
                <a16:creationId xmlns:a16="http://schemas.microsoft.com/office/drawing/2014/main" id="{43A92087-BBF9-43FE-A063-63B4F84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環境設定</a:t>
            </a:r>
          </a:p>
        </p:txBody>
      </p:sp>
      <p:sp>
        <p:nvSpPr>
          <p:cNvPr id="7" name="關閉 DEBUG，設定允許主機、祕密金鑰與資料庫連線。">
            <a:extLst xmlns:a="http://schemas.openxmlformats.org/drawingml/2006/main">
              <a:ext uri="{FF2B5EF4-FFF2-40B4-BE49-F238E27FC236}">
                <a16:creationId xmlns:a16="http://schemas.microsoft.com/office/drawing/2014/main" id="{A70C977C-E13E-4859-A86A-435356C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關閉 DEBUG，設定允許主機、祕密金鑰與資料庫連線。</a:t>
            </a:r>
          </a:p>
        </p:txBody>
      </p:sp>
      <p:sp>
        <p:nvSpPr>
          <p:cNvPr id="8" name="靜態檔案">
            <a:extLst xmlns:a="http://schemas.openxmlformats.org/drawingml/2006/main">
              <a:ext uri="{FF2B5EF4-FFF2-40B4-BE49-F238E27FC236}">
                <a16:creationId xmlns:a16="http://schemas.microsoft.com/office/drawing/2014/main" id="{2EABC479-876F-4FCB-9A66-7B795A7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靜態檔案</a:t>
            </a:r>
          </a:p>
        </p:txBody>
      </p:sp>
      <p:sp>
        <p:nvSpPr>
          <p:cNvPr id="9" name="配置 STATIC_ROOT，執行 collectstatic，再由適當服務提供檔案。">
            <a:extLst xmlns:a="http://schemas.openxmlformats.org/drawingml/2006/main">
              <a:ext uri="{FF2B5EF4-FFF2-40B4-BE49-F238E27FC236}">
                <a16:creationId xmlns:a16="http://schemas.microsoft.com/office/drawing/2014/main" id="{463512A7-0EFE-4B5B-9945-C633EF3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配置 STATIC_ROOT，執行 collectstatic，再由適當服務提供檔案。</a:t>
            </a:r>
          </a:p>
        </p:txBody>
      </p:sp>
      <p:sp>
        <p:nvSpPr>
          <p:cNvPr id="10" name="資料與存取">
            <a:extLst xmlns:a="http://schemas.openxmlformats.org/drawingml/2006/main">
              <a:ext uri="{FF2B5EF4-FFF2-40B4-BE49-F238E27FC236}">
                <a16:creationId xmlns:a16="http://schemas.microsoft.com/office/drawing/2014/main" id="{82470E76-34D9-4882-B7BF-85F2D83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資料與存取</a:t>
            </a:r>
          </a:p>
        </p:txBody>
      </p:sp>
      <p:sp>
        <p:nvSpPr>
          <p:cNvPr id="11" name="安排 HTTPS、使用者權限、資料備份與上傳檔案的保存。">
            <a:extLst xmlns:a="http://schemas.openxmlformats.org/drawingml/2006/main">
              <a:ext uri="{FF2B5EF4-FFF2-40B4-BE49-F238E27FC236}">
                <a16:creationId xmlns:a16="http://schemas.microsoft.com/office/drawing/2014/main" id="{47C3D011-3836-45D7-B202-B434F3EA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安排 HTTPS、使用者權限、資料備份與上傳檔案的保存。</a:t>
            </a:r>
          </a:p>
        </p:txBody>
      </p:sp>
      <p:sp>
        <p:nvSpPr>
          <p:cNvPr id="12" name="runserver 用於開發。本教材先完成本機網站，正式部署須依平台另行設定。">
            <a:extLst xmlns:a="http://schemas.openxmlformats.org/drawingml/2006/main">
              <a:ext uri="{FF2B5EF4-FFF2-40B4-BE49-F238E27FC236}">
                <a16:creationId xmlns:a16="http://schemas.microsoft.com/office/drawing/2014/main" id="{37C0E02B-DB8A-4F6C-9B8A-E5A9A70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runserver 用於開發。本教材先完成本機網站，正式部署須依平台另行設定。</a:t>
            </a:r>
          </a:p>
        </p:txBody>
      </p:sp>
    </p:spTree>
    <p:extLst>
      <p:ext uri="{BB962C8B-B14F-4D97-AF65-F5344CB8AC3E}">
        <p14:creationId xmlns:p14="http://schemas.microsoft.com/office/powerpoint/2010/main" val="84802908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用命令速查">
            <a:extLst xmlns:a="http://schemas.openxmlformats.org/drawingml/2006/main">
              <a:ext uri="{FF2B5EF4-FFF2-40B4-BE49-F238E27FC236}">
                <a16:creationId xmlns:a16="http://schemas.microsoft.com/office/drawing/2014/main" id="{1AB0237C-9915-449E-AE02-85727BF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常用命令速查</a:t>
            </a:r>
          </a:p>
        </p:txBody>
      </p:sp>
      <p:sp>
        <p:nvSpPr>
          <p:cNvPr id="2" name="先確認目前位於包含 manage.py 的目錄">
            <a:extLst xmlns:a="http://schemas.openxmlformats.org/drawingml/2006/main">
              <a:ext uri="{FF2B5EF4-FFF2-40B4-BE49-F238E27FC236}">
                <a16:creationId xmlns:a16="http://schemas.microsoft.com/office/drawing/2014/main" id="{7C933D3E-4316-44B4-A6C6-6C3293A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先確認目前位於包含 manage.py 的目錄</a:t>
            </a:r>
          </a:p>
        </p:txBody>
      </p:sp>
      <p:sp>
        <p:nvSpPr>
          <p:cNvPr id="3" name="51">
            <a:extLst xmlns:a="http://schemas.openxmlformats.org/drawingml/2006/main">
              <a:ext uri="{FF2B5EF4-FFF2-40B4-BE49-F238E27FC236}">
                <a16:creationId xmlns:a16="http://schemas.microsoft.com/office/drawing/2014/main" id="{742D84D1-2774-484E-ACA7-CD44912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191250"/>
                <a:gridCol w="4781550"/>
              </a:tblGrid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命令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manage.py runserver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啟動本機開發伺服器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manage.py makemigrations catalog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將模型結構變更寫成 migration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manage.py migrate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 migration 套用到資料庫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manage.py createsuperuser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建立管理員帳號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manage.py check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執行基本系統檢查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manage.py test catalog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 catalog 的測試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每列為一個完整命令；在已啟用的虛擬環境執行。">
            <a:extLst xmlns:a="http://schemas.openxmlformats.org/drawingml/2006/main">
              <a:ext uri="{FF2B5EF4-FFF2-40B4-BE49-F238E27FC236}">
                <a16:creationId xmlns:a16="http://schemas.microsoft.com/office/drawing/2014/main" id="{D922398E-9C02-4136-9642-0B81075D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每列為一個完整命令；在已啟用的虛擬環境執行。</a:t>
            </a:r>
          </a:p>
        </p:txBody>
      </p:sp>
    </p:spTree>
    <p:extLst>
      <p:ext uri="{BB962C8B-B14F-4D97-AF65-F5344CB8AC3E}">
        <p14:creationId xmlns:p14="http://schemas.microsoft.com/office/powerpoint/2010/main" val="7599221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檔案與網站功能的對照">
            <a:extLst xmlns:a="http://schemas.openxmlformats.org/drawingml/2006/main">
              <a:ext uri="{FF2B5EF4-FFF2-40B4-BE49-F238E27FC236}">
                <a16:creationId xmlns:a16="http://schemas.microsoft.com/office/drawing/2014/main" id="{A3CEEC74-2D4E-4F40-B179-5CC44001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檔案與網站功能的對照</a:t>
            </a:r>
          </a:p>
        </p:txBody>
      </p:sp>
      <p:sp>
        <p:nvSpPr>
          <p:cNvPr id="2" name="讀懂專案後，就能判斷下一步該改哪裡">
            <a:extLst xmlns:a="http://schemas.openxmlformats.org/drawingml/2006/main">
              <a:ext uri="{FF2B5EF4-FFF2-40B4-BE49-F238E27FC236}">
                <a16:creationId xmlns:a16="http://schemas.microsoft.com/office/drawing/2014/main" id="{F389637F-EBC7-43AE-AF94-074FF79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讀懂專案後，就能判斷下一步該改哪裡</a:t>
            </a:r>
          </a:p>
        </p:txBody>
      </p:sp>
      <p:sp>
        <p:nvSpPr>
          <p:cNvPr id="3" name="52">
            <a:extLst xmlns:a="http://schemas.openxmlformats.org/drawingml/2006/main">
              <a:ext uri="{FF2B5EF4-FFF2-40B4-BE49-F238E27FC236}">
                <a16:creationId xmlns:a16="http://schemas.microsoft.com/office/drawing/2014/main" id="{F92DD6D0-9EAB-4829-B7F7-3216BBB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  <p:sp>
        <p:nvSpPr>
          <p:cNvPr id="4" name="新增網址">
            <a:extLst xmlns:a="http://schemas.openxmlformats.org/drawingml/2006/main">
              <a:ext uri="{FF2B5EF4-FFF2-40B4-BE49-F238E27FC236}">
                <a16:creationId xmlns:a16="http://schemas.microsoft.com/office/drawing/2014/main" id="{638EA866-8927-4FA9-987F-C28021C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新增網址</a:t>
            </a:r>
          </a:p>
        </p:txBody>
      </p:sp>
      <p:sp>
        <p:nvSpPr>
          <p:cNvPr id="5" name="修改 app 的 urls.py，必要時接入 config/urls.py。">
            <a:extLst xmlns:a="http://schemas.openxmlformats.org/drawingml/2006/main">
              <a:ext uri="{FF2B5EF4-FFF2-40B4-BE49-F238E27FC236}">
                <a16:creationId xmlns:a16="http://schemas.microsoft.com/office/drawing/2014/main" id="{80222815-BE02-4D52-8334-9922583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修改 app 的 urls.py，必要時接入 config/urls.py。</a:t>
            </a:r>
          </a:p>
        </p:txBody>
      </p:sp>
      <p:sp>
        <p:nvSpPr>
          <p:cNvPr id="6" name="新增資料欄位">
            <a:extLst xmlns:a="http://schemas.openxmlformats.org/drawingml/2006/main">
              <a:ext uri="{FF2B5EF4-FFF2-40B4-BE49-F238E27FC236}">
                <a16:creationId xmlns:a16="http://schemas.microsoft.com/office/drawing/2014/main" id="{FF7821A4-7132-4561-B9A7-33E909C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新增資料欄位</a:t>
            </a:r>
          </a:p>
        </p:txBody>
      </p:sp>
      <p:sp>
        <p:nvSpPr>
          <p:cNvPr id="7" name="修改 models.py，再建立並套用 migration。">
            <a:extLst xmlns:a="http://schemas.openxmlformats.org/drawingml/2006/main">
              <a:ext uri="{FF2B5EF4-FFF2-40B4-BE49-F238E27FC236}">
                <a16:creationId xmlns:a16="http://schemas.microsoft.com/office/drawing/2014/main" id="{8CA9F7D8-D187-4E8E-909F-07279A9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修改 models.py，再建立並套用 migration。</a:t>
            </a:r>
          </a:p>
        </p:txBody>
      </p:sp>
      <p:sp>
        <p:nvSpPr>
          <p:cNvPr id="8" name="修改畫面與輸入">
            <a:extLst xmlns:a="http://schemas.openxmlformats.org/drawingml/2006/main">
              <a:ext uri="{FF2B5EF4-FFF2-40B4-BE49-F238E27FC236}">
                <a16:creationId xmlns:a16="http://schemas.microsoft.com/office/drawing/2014/main" id="{656790E0-98FB-411A-AEBC-C68B0DB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修改畫面與輸入</a:t>
            </a:r>
          </a:p>
        </p:txBody>
      </p:sp>
      <p:sp>
        <p:nvSpPr>
          <p:cNvPr id="9" name="調整 templates、static 或 forms.py，view 負責協調。">
            <a:extLst xmlns:a="http://schemas.openxmlformats.org/drawingml/2006/main">
              <a:ext uri="{FF2B5EF4-FFF2-40B4-BE49-F238E27FC236}">
                <a16:creationId xmlns:a16="http://schemas.microsoft.com/office/drawing/2014/main" id="{F70DBE85-E09C-402E-B0AF-6915CE50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調整 templates、static 或 forms.py，view 負責協調。</a:t>
            </a:r>
          </a:p>
        </p:txBody>
      </p:sp>
      <p:sp>
        <p:nvSpPr>
          <p:cNvPr id="10" name="確認行為">
            <a:extLst xmlns:a="http://schemas.openxmlformats.org/drawingml/2006/main">
              <a:ext uri="{FF2B5EF4-FFF2-40B4-BE49-F238E27FC236}">
                <a16:creationId xmlns:a16="http://schemas.microsoft.com/office/drawing/2014/main" id="{DE0ADD2D-FF39-4076-9391-2DC985FC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確認行為</a:t>
            </a:r>
          </a:p>
        </p:txBody>
      </p:sp>
      <p:sp>
        <p:nvSpPr>
          <p:cNvPr id="11" name="在 tests.py 建立可重複檢查，再執行測試。">
            <a:extLst xmlns:a="http://schemas.openxmlformats.org/drawingml/2006/main">
              <a:ext uri="{FF2B5EF4-FFF2-40B4-BE49-F238E27FC236}">
                <a16:creationId xmlns:a16="http://schemas.microsoft.com/office/drawing/2014/main" id="{676186A0-782E-4018-9398-B77D15E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在 tests.py 建立可重複檢查，再執行測試。</a:t>
            </a:r>
          </a:p>
        </p:txBody>
      </p:sp>
      <p:sp>
        <p:nvSpPr>
          <p:cNvPr id="12" name="先理解檔案責任，再逐步加入 Django 與物件導向設計的進階能力。">
            <a:extLst xmlns:a="http://schemas.openxmlformats.org/drawingml/2006/main">
              <a:ext uri="{FF2B5EF4-FFF2-40B4-BE49-F238E27FC236}">
                <a16:creationId xmlns:a16="http://schemas.microsoft.com/office/drawing/2014/main" id="{CDA3E4B2-E17E-47DC-AD84-ED883FE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先理解檔案責任，再逐步加入 Django 與物件導向設計的進階能力。</a:t>
            </a:r>
          </a:p>
        </p:txBody>
      </p:sp>
    </p:spTree>
    <p:extLst>
      <p:ext uri="{BB962C8B-B14F-4D97-AF65-F5344CB8AC3E}">
        <p14:creationId xmlns:p14="http://schemas.microsoft.com/office/powerpoint/2010/main" val="5693771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參考資料與版本">
            <a:extLst xmlns:a="http://schemas.openxmlformats.org/drawingml/2006/main">
              <a:ext uri="{FF2B5EF4-FFF2-40B4-BE49-F238E27FC236}">
                <a16:creationId xmlns:a16="http://schemas.microsoft.com/office/drawing/2014/main" id="{3244B38B-2D18-412C-8E73-6296D3E1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參考資料與版本</a:t>
            </a:r>
          </a:p>
        </p:txBody>
      </p:sp>
      <p:sp>
        <p:nvSpPr>
          <p:cNvPr id="2" name="Django 5.2 官方文件與本課程可執行專案">
            <a:extLst xmlns:a="http://schemas.openxmlformats.org/drawingml/2006/main">
              <a:ext uri="{FF2B5EF4-FFF2-40B4-BE49-F238E27FC236}">
                <a16:creationId xmlns:a16="http://schemas.microsoft.com/office/drawing/2014/main" id="{C99BD06F-6F54-4DF3-A6A0-C90375CB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Django 5.2 官方文件與本課程可執行專案</a:t>
            </a:r>
          </a:p>
        </p:txBody>
      </p:sp>
      <p:sp>
        <p:nvSpPr>
          <p:cNvPr id="3" name="53">
            <a:extLst xmlns:a="http://schemas.openxmlformats.org/drawingml/2006/main">
              <a:ext uri="{FF2B5EF4-FFF2-40B4-BE49-F238E27FC236}">
                <a16:creationId xmlns:a16="http://schemas.microsoft.com/office/drawing/2014/main" id="{1CC23358-BB0C-4194-AE8E-4610F33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  <p:sp>
        <p:nvSpPr>
          <p:cNvPr id="4" name="入門教學">
            <a:extLst xmlns:a="http://schemas.openxmlformats.org/drawingml/2006/main">
              <a:ext uri="{FF2B5EF4-FFF2-40B4-BE49-F238E27FC236}">
                <a16:creationId xmlns:a16="http://schemas.microsoft.com/office/drawing/2014/main" id="{AD0F31EE-C9B0-4536-A000-D1C2709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入門教學</a:t>
            </a:r>
          </a:p>
        </p:txBody>
      </p:sp>
      <p:sp>
        <p:nvSpPr>
          <p:cNvPr id="5" name="docs.djangoproject.com/en/5.2/intro/">
            <a:extLst xmlns:a="http://schemas.openxmlformats.org/drawingml/2006/main">
              <a:ext uri="{FF2B5EF4-FFF2-40B4-BE49-F238E27FC236}">
                <a16:creationId xmlns:a16="http://schemas.microsoft.com/office/drawing/2014/main" id="{A64FF0BA-674A-4672-95BE-C8EFD33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docs.djangoproject.com/en/5.2/intro/</a:t>
            </a:r>
          </a:p>
        </p:txBody>
      </p:sp>
      <p:sp>
        <p:nvSpPr>
          <p:cNvPr id="6" name="路由、模型、模板與表單">
            <a:extLst xmlns:a="http://schemas.openxmlformats.org/drawingml/2006/main">
              <a:ext uri="{FF2B5EF4-FFF2-40B4-BE49-F238E27FC236}">
                <a16:creationId xmlns:a16="http://schemas.microsoft.com/office/drawing/2014/main" id="{F2871F2E-6526-4ED3-9D92-20292DD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38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路由、模型、模板與表單</a:t>
            </a:r>
          </a:p>
        </p:txBody>
      </p:sp>
      <p:sp>
        <p:nvSpPr>
          <p:cNvPr id="7" name="docs.djangoproject.com/en/5.2/topics/">
            <a:extLst xmlns:a="http://schemas.openxmlformats.org/drawingml/2006/main">
              <a:ext uri="{FF2B5EF4-FFF2-40B4-BE49-F238E27FC236}">
                <a16:creationId xmlns:a16="http://schemas.microsoft.com/office/drawing/2014/main" id="{EF6A264B-8993-4438-9BD0-A8BC865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860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docs.djangoproject.com/en/5.2/topics/</a:t>
            </a:r>
          </a:p>
        </p:txBody>
      </p:sp>
      <p:sp>
        <p:nvSpPr>
          <p:cNvPr id="8" name="設定、App 與管理後台">
            <a:extLst xmlns:a="http://schemas.openxmlformats.org/drawingml/2006/main">
              <a:ext uri="{FF2B5EF4-FFF2-40B4-BE49-F238E27FC236}">
                <a16:creationId xmlns:a16="http://schemas.microsoft.com/office/drawing/2014/main" id="{209863E2-3D89-45E6-96F0-4995EE71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設定、App 與管理後台</a:t>
            </a:r>
          </a:p>
        </p:txBody>
      </p:sp>
      <p:sp>
        <p:nvSpPr>
          <p:cNvPr id="9" name="docs.djangoproject.com/en/5.2/ref/">
            <a:extLst xmlns:a="http://schemas.openxmlformats.org/drawingml/2006/main">
              <a:ext uri="{FF2B5EF4-FFF2-40B4-BE49-F238E27FC236}">
                <a16:creationId xmlns:a16="http://schemas.microsoft.com/office/drawing/2014/main" id="{5C3B302B-F597-4371-99B9-222E460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95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docs.djangoproject.com/en/5.2/ref/</a:t>
            </a:r>
          </a:p>
        </p:txBody>
      </p:sp>
      <p:sp>
        <p:nvSpPr>
          <p:cNvPr id="10" name="測試與部署">
            <a:extLst xmlns:a="http://schemas.openxmlformats.org/drawingml/2006/main">
              <a:ext uri="{FF2B5EF4-FFF2-40B4-BE49-F238E27FC236}">
                <a16:creationId xmlns:a16="http://schemas.microsoft.com/office/drawing/2014/main" id="{BD1DCDDA-A195-45F2-80AA-9700E08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05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測試與部署</a:t>
            </a:r>
          </a:p>
        </p:txBody>
      </p:sp>
      <p:sp>
        <p:nvSpPr>
          <p:cNvPr id="11" name="docs.djangoproject.com/en/5.2/howto/">
            <a:extLst xmlns:a="http://schemas.openxmlformats.org/drawingml/2006/main">
              <a:ext uri="{FF2B5EF4-FFF2-40B4-BE49-F238E27FC236}">
                <a16:creationId xmlns:a16="http://schemas.microsoft.com/office/drawing/2014/main" id="{67232C8F-BA96-45D3-892B-B30581FF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529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docs.djangoproject.com/en/5.2/howto/</a:t>
            </a:r>
          </a:p>
        </p:txBody>
      </p:sp>
      <p:sp>
        <p:nvSpPr>
          <p:cNvPr id="12" name="各頁備註附對應來源。範例以 Python 3.12、Django 5.2.18 驗證。">
            <a:extLst xmlns:a="http://schemas.openxmlformats.org/drawingml/2006/main">
              <a:ext uri="{FF2B5EF4-FFF2-40B4-BE49-F238E27FC236}">
                <a16:creationId xmlns:a16="http://schemas.microsoft.com/office/drawing/2014/main" id="{4188180F-4187-45B9-94A6-72A566D3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各頁備註附對應來源。範例以 Python 3.12、Django 5.2.18 驗證。</a:t>
            </a:r>
          </a:p>
        </p:txBody>
      </p:sp>
    </p:spTree>
    <p:extLst>
      <p:ext uri="{BB962C8B-B14F-4D97-AF65-F5344CB8AC3E}">
        <p14:creationId xmlns:p14="http://schemas.microsoft.com/office/powerpoint/2010/main" val="211452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2026-10-07T03:11:57.5680000Z</dcterms:created>
  <dcterms:modified xsi:type="dcterms:W3CDTF">2026-10-07T03:11:57.5680000Z</dcterms:modified>
</coreProperties>
</file>