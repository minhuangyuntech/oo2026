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  <Override PartName="/ppt/slides/slide62.xml" ContentType="application/vnd.openxmlformats-officedocument.presentationml.slide+xml"/>
  <Override PartName="/ppt/notesSlides/notesSlide62.xml" ContentType="application/vnd.openxmlformats-officedocument.presentationml.notesSlide+xml"/>
  <Override PartName="/ppt/slides/slide63.xml" ContentType="application/vnd.openxmlformats-officedocument.presentationml.slide+xml"/>
  <Override PartName="/ppt/notesSlides/notesSlide63.xml" ContentType="application/vnd.openxmlformats-officedocument.presentationml.notesSlide+xml"/>
  <Override PartName="/ppt/slides/slide64.xml" ContentType="application/vnd.openxmlformats-officedocument.presentationml.slide+xml"/>
  <Override PartName="/ppt/notesSlides/notesSlide64.xml" ContentType="application/vnd.openxmlformats-officedocument.presentationml.notesSlide+xml"/>
  <Override PartName="/ppt/slides/slide65.xml" ContentType="application/vnd.openxmlformats-officedocument.presentationml.slide+xml"/>
  <Override PartName="/ppt/notesSlides/notesSlide65.xml" ContentType="application/vnd.openxmlformats-officedocument.presentationml.notesSlide+xml"/>
  <Override PartName="/ppt/slides/slide66.xml" ContentType="application/vnd.openxmlformats-officedocument.presentationml.slide+xml"/>
  <Override PartName="/ppt/notesSlides/notesSlide66.xml" ContentType="application/vnd.openxmlformats-officedocument.presentationml.notesSlide+xml"/>
  <Override PartName="/ppt/slides/slide67.xml" ContentType="application/vnd.openxmlformats-officedocument.presentationml.slide+xml"/>
  <Override PartName="/ppt/notesSlides/notesSlide6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4eeda1a109540a6" /><Relationship Type="http://schemas.openxmlformats.org/officeDocument/2006/relationships/extended-properties" Target="/docProps/app.xml" Id="R409a0403aab04e2e" /><Relationship Type="http://schemas.openxmlformats.org/officeDocument/2006/relationships/officeDocument" Target="/ppt/presentation.xml" Id="Re6d1ca563dd24f7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82d69c67ed4559"/>
  </p:sldMasterIdLst>
  <p:notesMasterIdLst>
    <p:notesMasterId xmlns:r="http://schemas.openxmlformats.org/officeDocument/2006/relationships" r:id="Rafaac9783ce34000"/>
  </p:notesMasterIdLst>
  <p:sldIdLst>
    <p:sldId xmlns:r="http://schemas.openxmlformats.org/officeDocument/2006/relationships" id="256" r:id="R3a05f4ae255b425d"/>
    <p:sldId xmlns:r="http://schemas.openxmlformats.org/officeDocument/2006/relationships" id="257" r:id="Rafaf97bb5de74626"/>
    <p:sldId xmlns:r="http://schemas.openxmlformats.org/officeDocument/2006/relationships" id="258" r:id="R8cce6b6bec76453d"/>
    <p:sldId xmlns:r="http://schemas.openxmlformats.org/officeDocument/2006/relationships" id="259" r:id="R37be014ce60e4fd9"/>
    <p:sldId xmlns:r="http://schemas.openxmlformats.org/officeDocument/2006/relationships" id="260" r:id="Ra26c575a1b8f455d"/>
    <p:sldId xmlns:r="http://schemas.openxmlformats.org/officeDocument/2006/relationships" id="261" r:id="Ra9c62d01e651413c"/>
    <p:sldId xmlns:r="http://schemas.openxmlformats.org/officeDocument/2006/relationships" id="262" r:id="R52bc12782fa84d7b"/>
    <p:sldId xmlns:r="http://schemas.openxmlformats.org/officeDocument/2006/relationships" id="263" r:id="Rd1855b0db35e47c2"/>
    <p:sldId xmlns:r="http://schemas.openxmlformats.org/officeDocument/2006/relationships" id="264" r:id="R92707189d0ca413c"/>
    <p:sldId xmlns:r="http://schemas.openxmlformats.org/officeDocument/2006/relationships" id="265" r:id="R2c8fe2f9d8984ebe"/>
    <p:sldId xmlns:r="http://schemas.openxmlformats.org/officeDocument/2006/relationships" id="266" r:id="Re56336ecfa1644a3"/>
    <p:sldId xmlns:r="http://schemas.openxmlformats.org/officeDocument/2006/relationships" id="267" r:id="Rc294f050893c4d67"/>
    <p:sldId xmlns:r="http://schemas.openxmlformats.org/officeDocument/2006/relationships" id="268" r:id="Rfdf72470feb84fda"/>
    <p:sldId xmlns:r="http://schemas.openxmlformats.org/officeDocument/2006/relationships" id="269" r:id="R7e313da8a87947b4"/>
    <p:sldId xmlns:r="http://schemas.openxmlformats.org/officeDocument/2006/relationships" id="270" r:id="Re3bb8ee51aed49a6"/>
    <p:sldId xmlns:r="http://schemas.openxmlformats.org/officeDocument/2006/relationships" id="271" r:id="R07c7c2e00f354706"/>
    <p:sldId xmlns:r="http://schemas.openxmlformats.org/officeDocument/2006/relationships" id="272" r:id="Rc07ee543efc24fe5"/>
    <p:sldId xmlns:r="http://schemas.openxmlformats.org/officeDocument/2006/relationships" id="273" r:id="R5344e9a7bb7b4ecb"/>
    <p:sldId xmlns:r="http://schemas.openxmlformats.org/officeDocument/2006/relationships" id="274" r:id="Rb144cf2e93d748bc"/>
    <p:sldId xmlns:r="http://schemas.openxmlformats.org/officeDocument/2006/relationships" id="275" r:id="R44c4f7a0c71e4954"/>
    <p:sldId xmlns:r="http://schemas.openxmlformats.org/officeDocument/2006/relationships" id="276" r:id="R946721484b9d4fc7"/>
    <p:sldId xmlns:r="http://schemas.openxmlformats.org/officeDocument/2006/relationships" id="277" r:id="Rd47ec04e5500474f"/>
    <p:sldId xmlns:r="http://schemas.openxmlformats.org/officeDocument/2006/relationships" id="278" r:id="R68cc7030db384bb6"/>
    <p:sldId xmlns:r="http://schemas.openxmlformats.org/officeDocument/2006/relationships" id="279" r:id="Rcc032f24673d4f39"/>
    <p:sldId xmlns:r="http://schemas.openxmlformats.org/officeDocument/2006/relationships" id="280" r:id="Ra09ef69e4b154d17"/>
    <p:sldId xmlns:r="http://schemas.openxmlformats.org/officeDocument/2006/relationships" id="281" r:id="R6620ea6933534600"/>
    <p:sldId xmlns:r="http://schemas.openxmlformats.org/officeDocument/2006/relationships" id="282" r:id="R74ce6f696d674e95"/>
    <p:sldId xmlns:r="http://schemas.openxmlformats.org/officeDocument/2006/relationships" id="283" r:id="Ree6238bda3834f7f"/>
    <p:sldId xmlns:r="http://schemas.openxmlformats.org/officeDocument/2006/relationships" id="284" r:id="Rd1ca90f1e9b048f3"/>
    <p:sldId xmlns:r="http://schemas.openxmlformats.org/officeDocument/2006/relationships" id="285" r:id="Re9d3faff903a43d2"/>
    <p:sldId xmlns:r="http://schemas.openxmlformats.org/officeDocument/2006/relationships" id="286" r:id="Rff74bd259dde477b"/>
    <p:sldId xmlns:r="http://schemas.openxmlformats.org/officeDocument/2006/relationships" id="287" r:id="Rfdc58ca3c14949e5"/>
    <p:sldId xmlns:r="http://schemas.openxmlformats.org/officeDocument/2006/relationships" id="288" r:id="R2c64781dde664a9b"/>
    <p:sldId xmlns:r="http://schemas.openxmlformats.org/officeDocument/2006/relationships" id="289" r:id="Rde31c20e68f54dab"/>
    <p:sldId xmlns:r="http://schemas.openxmlformats.org/officeDocument/2006/relationships" id="290" r:id="R608100428d474126"/>
    <p:sldId xmlns:r="http://schemas.openxmlformats.org/officeDocument/2006/relationships" id="291" r:id="R6571b1066df44152"/>
    <p:sldId xmlns:r="http://schemas.openxmlformats.org/officeDocument/2006/relationships" id="292" r:id="R402551edb38d4f26"/>
    <p:sldId xmlns:r="http://schemas.openxmlformats.org/officeDocument/2006/relationships" id="293" r:id="R36af07b72f84494a"/>
    <p:sldId xmlns:r="http://schemas.openxmlformats.org/officeDocument/2006/relationships" id="294" r:id="R77442355246f4046"/>
    <p:sldId xmlns:r="http://schemas.openxmlformats.org/officeDocument/2006/relationships" id="295" r:id="R1bd0345830c74b63"/>
    <p:sldId xmlns:r="http://schemas.openxmlformats.org/officeDocument/2006/relationships" id="296" r:id="R10a52005670f4ddb"/>
    <p:sldId xmlns:r="http://schemas.openxmlformats.org/officeDocument/2006/relationships" id="297" r:id="Re3f9e84af9694b90"/>
    <p:sldId xmlns:r="http://schemas.openxmlformats.org/officeDocument/2006/relationships" id="298" r:id="R760a54dccabf4e28"/>
    <p:sldId xmlns:r="http://schemas.openxmlformats.org/officeDocument/2006/relationships" id="299" r:id="R7c4c8c9866584c5b"/>
    <p:sldId xmlns:r="http://schemas.openxmlformats.org/officeDocument/2006/relationships" id="300" r:id="Ra90cc6ef42c247d9"/>
    <p:sldId xmlns:r="http://schemas.openxmlformats.org/officeDocument/2006/relationships" id="301" r:id="R3685147169d54d4e"/>
    <p:sldId xmlns:r="http://schemas.openxmlformats.org/officeDocument/2006/relationships" id="302" r:id="Rafadc964757340d6"/>
    <p:sldId xmlns:r="http://schemas.openxmlformats.org/officeDocument/2006/relationships" id="303" r:id="R4755980d12314e94"/>
    <p:sldId xmlns:r="http://schemas.openxmlformats.org/officeDocument/2006/relationships" id="304" r:id="R0dd83b39ba624337"/>
    <p:sldId xmlns:r="http://schemas.openxmlformats.org/officeDocument/2006/relationships" id="305" r:id="R424985ff4317461c"/>
    <p:sldId xmlns:r="http://schemas.openxmlformats.org/officeDocument/2006/relationships" id="306" r:id="R84db9dbae60b469c"/>
    <p:sldId xmlns:r="http://schemas.openxmlformats.org/officeDocument/2006/relationships" id="307" r:id="Re26974014df94fa7"/>
    <p:sldId xmlns:r="http://schemas.openxmlformats.org/officeDocument/2006/relationships" id="308" r:id="R728e16dd29b94573"/>
    <p:sldId xmlns:r="http://schemas.openxmlformats.org/officeDocument/2006/relationships" id="309" r:id="Ree552243e92d4ca5"/>
    <p:sldId xmlns:r="http://schemas.openxmlformats.org/officeDocument/2006/relationships" id="310" r:id="R7d61e73d5d1545e7"/>
    <p:sldId xmlns:r="http://schemas.openxmlformats.org/officeDocument/2006/relationships" id="311" r:id="Rd04558fcc1274dd2"/>
    <p:sldId xmlns:r="http://schemas.openxmlformats.org/officeDocument/2006/relationships" id="312" r:id="R2b1bf95209ea40d6"/>
    <p:sldId xmlns:r="http://schemas.openxmlformats.org/officeDocument/2006/relationships" id="313" r:id="Rba5a4b75947b41c4"/>
    <p:sldId xmlns:r="http://schemas.openxmlformats.org/officeDocument/2006/relationships" id="314" r:id="R215ed51895c6483e"/>
    <p:sldId xmlns:r="http://schemas.openxmlformats.org/officeDocument/2006/relationships" id="315" r:id="R05f809c059d64dcb"/>
    <p:sldId xmlns:r="http://schemas.openxmlformats.org/officeDocument/2006/relationships" id="316" r:id="R83c85e8692964c1a"/>
    <p:sldId xmlns:r="http://schemas.openxmlformats.org/officeDocument/2006/relationships" id="317" r:id="Rad65331d034e4968"/>
    <p:sldId xmlns:r="http://schemas.openxmlformats.org/officeDocument/2006/relationships" id="318" r:id="R97f25c934fb648a9"/>
    <p:sldId xmlns:r="http://schemas.openxmlformats.org/officeDocument/2006/relationships" id="319" r:id="R6b06489efd2e43ce"/>
    <p:sldId xmlns:r="http://schemas.openxmlformats.org/officeDocument/2006/relationships" id="320" r:id="Re82ed3ab81924f16"/>
    <p:sldId xmlns:r="http://schemas.openxmlformats.org/officeDocument/2006/relationships" id="321" r:id="Rf2b9c37039b04039"/>
    <p:sldId xmlns:r="http://schemas.openxmlformats.org/officeDocument/2006/relationships" id="322" r:id="R8890c3f2e36b436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8587dd3be44ad1" /><Relationship Type="http://schemas.openxmlformats.org/officeDocument/2006/relationships/slideMaster" Target="/ppt/slideMasters/slideMaster1.xml" Id="Rd282d69c67ed4559" /><Relationship Type="http://schemas.openxmlformats.org/officeDocument/2006/relationships/notesMaster" Target="/ppt/notesMasters/notesMaster1.xml" Id="Rafaac9783ce34000" /><Relationship Type="http://schemas.openxmlformats.org/officeDocument/2006/relationships/presProps" Target="/ppt/presProps.xml" Id="R4d6b09d72c7e4049" /><Relationship Type="http://schemas.openxmlformats.org/officeDocument/2006/relationships/tableStyles" Target="/ppt/tableStyles.xml" Id="R2979b556007543e7" /><Relationship Type="http://schemas.openxmlformats.org/officeDocument/2006/relationships/slide" Target="/ppt/slides/slide1.xml" Id="R3a05f4ae255b425d" /><Relationship Type="http://schemas.openxmlformats.org/officeDocument/2006/relationships/slide" Target="/ppt/slides/slide2.xml" Id="Rafaf97bb5de74626" /><Relationship Type="http://schemas.openxmlformats.org/officeDocument/2006/relationships/slide" Target="/ppt/slides/slide3.xml" Id="R8cce6b6bec76453d" /><Relationship Type="http://schemas.openxmlformats.org/officeDocument/2006/relationships/slide" Target="/ppt/slides/slide4.xml" Id="R37be014ce60e4fd9" /><Relationship Type="http://schemas.openxmlformats.org/officeDocument/2006/relationships/slide" Target="/ppt/slides/slide5.xml" Id="Ra26c575a1b8f455d" /><Relationship Type="http://schemas.openxmlformats.org/officeDocument/2006/relationships/slide" Target="/ppt/slides/slide6.xml" Id="Ra9c62d01e651413c" /><Relationship Type="http://schemas.openxmlformats.org/officeDocument/2006/relationships/slide" Target="/ppt/slides/slide7.xml" Id="R52bc12782fa84d7b" /><Relationship Type="http://schemas.openxmlformats.org/officeDocument/2006/relationships/slide" Target="/ppt/slides/slide8.xml" Id="Rd1855b0db35e47c2" /><Relationship Type="http://schemas.openxmlformats.org/officeDocument/2006/relationships/slide" Target="/ppt/slides/slide9.xml" Id="R92707189d0ca413c" /><Relationship Type="http://schemas.openxmlformats.org/officeDocument/2006/relationships/slide" Target="/ppt/slides/slide10.xml" Id="R2c8fe2f9d8984ebe" /><Relationship Type="http://schemas.openxmlformats.org/officeDocument/2006/relationships/slide" Target="/ppt/slides/slide11.xml" Id="Re56336ecfa1644a3" /><Relationship Type="http://schemas.openxmlformats.org/officeDocument/2006/relationships/slide" Target="/ppt/slides/slide12.xml" Id="Rc294f050893c4d67" /><Relationship Type="http://schemas.openxmlformats.org/officeDocument/2006/relationships/slide" Target="/ppt/slides/slide13.xml" Id="Rfdf72470feb84fda" /><Relationship Type="http://schemas.openxmlformats.org/officeDocument/2006/relationships/slide" Target="/ppt/slides/slide14.xml" Id="R7e313da8a87947b4" /><Relationship Type="http://schemas.openxmlformats.org/officeDocument/2006/relationships/slide" Target="/ppt/slides/slide15.xml" Id="Re3bb8ee51aed49a6" /><Relationship Type="http://schemas.openxmlformats.org/officeDocument/2006/relationships/slide" Target="/ppt/slides/slide16.xml" Id="R07c7c2e00f354706" /><Relationship Type="http://schemas.openxmlformats.org/officeDocument/2006/relationships/slide" Target="/ppt/slides/slide17.xml" Id="Rc07ee543efc24fe5" /><Relationship Type="http://schemas.openxmlformats.org/officeDocument/2006/relationships/slide" Target="/ppt/slides/slide18.xml" Id="R5344e9a7bb7b4ecb" /><Relationship Type="http://schemas.openxmlformats.org/officeDocument/2006/relationships/slide" Target="/ppt/slides/slide19.xml" Id="Rb144cf2e93d748bc" /><Relationship Type="http://schemas.openxmlformats.org/officeDocument/2006/relationships/slide" Target="/ppt/slides/slide20.xml" Id="R44c4f7a0c71e4954" /><Relationship Type="http://schemas.openxmlformats.org/officeDocument/2006/relationships/slide" Target="/ppt/slides/slide21.xml" Id="R946721484b9d4fc7" /><Relationship Type="http://schemas.openxmlformats.org/officeDocument/2006/relationships/slide" Target="/ppt/slides/slide22.xml" Id="Rd47ec04e5500474f" /><Relationship Type="http://schemas.openxmlformats.org/officeDocument/2006/relationships/slide" Target="/ppt/slides/slide23.xml" Id="R68cc7030db384bb6" /><Relationship Type="http://schemas.openxmlformats.org/officeDocument/2006/relationships/slide" Target="/ppt/slides/slide24.xml" Id="Rcc032f24673d4f39" /><Relationship Type="http://schemas.openxmlformats.org/officeDocument/2006/relationships/slide" Target="/ppt/slides/slide25.xml" Id="Ra09ef69e4b154d17" /><Relationship Type="http://schemas.openxmlformats.org/officeDocument/2006/relationships/slide" Target="/ppt/slides/slide26.xml" Id="R6620ea6933534600" /><Relationship Type="http://schemas.openxmlformats.org/officeDocument/2006/relationships/slide" Target="/ppt/slides/slide27.xml" Id="R74ce6f696d674e95" /><Relationship Type="http://schemas.openxmlformats.org/officeDocument/2006/relationships/slide" Target="/ppt/slides/slide28.xml" Id="Ree6238bda3834f7f" /><Relationship Type="http://schemas.openxmlformats.org/officeDocument/2006/relationships/slide" Target="/ppt/slides/slide29.xml" Id="Rd1ca90f1e9b048f3" /><Relationship Type="http://schemas.openxmlformats.org/officeDocument/2006/relationships/slide" Target="/ppt/slides/slide30.xml" Id="Re9d3faff903a43d2" /><Relationship Type="http://schemas.openxmlformats.org/officeDocument/2006/relationships/slide" Target="/ppt/slides/slide31.xml" Id="Rff74bd259dde477b" /><Relationship Type="http://schemas.openxmlformats.org/officeDocument/2006/relationships/slide" Target="/ppt/slides/slide32.xml" Id="Rfdc58ca3c14949e5" /><Relationship Type="http://schemas.openxmlformats.org/officeDocument/2006/relationships/slide" Target="/ppt/slides/slide33.xml" Id="R2c64781dde664a9b" /><Relationship Type="http://schemas.openxmlformats.org/officeDocument/2006/relationships/slide" Target="/ppt/slides/slide34.xml" Id="Rde31c20e68f54dab" /><Relationship Type="http://schemas.openxmlformats.org/officeDocument/2006/relationships/slide" Target="/ppt/slides/slide35.xml" Id="R608100428d474126" /><Relationship Type="http://schemas.openxmlformats.org/officeDocument/2006/relationships/slide" Target="/ppt/slides/slide36.xml" Id="R6571b1066df44152" /><Relationship Type="http://schemas.openxmlformats.org/officeDocument/2006/relationships/slide" Target="/ppt/slides/slide37.xml" Id="R402551edb38d4f26" /><Relationship Type="http://schemas.openxmlformats.org/officeDocument/2006/relationships/slide" Target="/ppt/slides/slide38.xml" Id="R36af07b72f84494a" /><Relationship Type="http://schemas.openxmlformats.org/officeDocument/2006/relationships/slide" Target="/ppt/slides/slide39.xml" Id="R77442355246f4046" /><Relationship Type="http://schemas.openxmlformats.org/officeDocument/2006/relationships/slide" Target="/ppt/slides/slide40.xml" Id="R1bd0345830c74b63" /><Relationship Type="http://schemas.openxmlformats.org/officeDocument/2006/relationships/slide" Target="/ppt/slides/slide41.xml" Id="R10a52005670f4ddb" /><Relationship Type="http://schemas.openxmlformats.org/officeDocument/2006/relationships/slide" Target="/ppt/slides/slide42.xml" Id="Re3f9e84af9694b90" /><Relationship Type="http://schemas.openxmlformats.org/officeDocument/2006/relationships/slide" Target="/ppt/slides/slide43.xml" Id="R760a54dccabf4e28" /><Relationship Type="http://schemas.openxmlformats.org/officeDocument/2006/relationships/slide" Target="/ppt/slides/slide44.xml" Id="R7c4c8c9866584c5b" /><Relationship Type="http://schemas.openxmlformats.org/officeDocument/2006/relationships/slide" Target="/ppt/slides/slide45.xml" Id="Ra90cc6ef42c247d9" /><Relationship Type="http://schemas.openxmlformats.org/officeDocument/2006/relationships/slide" Target="/ppt/slides/slide46.xml" Id="R3685147169d54d4e" /><Relationship Type="http://schemas.openxmlformats.org/officeDocument/2006/relationships/slide" Target="/ppt/slides/slide47.xml" Id="Rafadc964757340d6" /><Relationship Type="http://schemas.openxmlformats.org/officeDocument/2006/relationships/slide" Target="/ppt/slides/slide48.xml" Id="R4755980d12314e94" /><Relationship Type="http://schemas.openxmlformats.org/officeDocument/2006/relationships/slide" Target="/ppt/slides/slide49.xml" Id="R0dd83b39ba624337" /><Relationship Type="http://schemas.openxmlformats.org/officeDocument/2006/relationships/slide" Target="/ppt/slides/slide50.xml" Id="R424985ff4317461c" /><Relationship Type="http://schemas.openxmlformats.org/officeDocument/2006/relationships/slide" Target="/ppt/slides/slide51.xml" Id="R84db9dbae60b469c" /><Relationship Type="http://schemas.openxmlformats.org/officeDocument/2006/relationships/slide" Target="/ppt/slides/slide52.xml" Id="Re26974014df94fa7" /><Relationship Type="http://schemas.openxmlformats.org/officeDocument/2006/relationships/slide" Target="/ppt/slides/slide53.xml" Id="R728e16dd29b94573" /><Relationship Type="http://schemas.openxmlformats.org/officeDocument/2006/relationships/slide" Target="/ppt/slides/slide54.xml" Id="Ree552243e92d4ca5" /><Relationship Type="http://schemas.openxmlformats.org/officeDocument/2006/relationships/slide" Target="/ppt/slides/slide55.xml" Id="R7d61e73d5d1545e7" /><Relationship Type="http://schemas.openxmlformats.org/officeDocument/2006/relationships/slide" Target="/ppt/slides/slide56.xml" Id="Rd04558fcc1274dd2" /><Relationship Type="http://schemas.openxmlformats.org/officeDocument/2006/relationships/slide" Target="/ppt/slides/slide57.xml" Id="R2b1bf95209ea40d6" /><Relationship Type="http://schemas.openxmlformats.org/officeDocument/2006/relationships/slide" Target="/ppt/slides/slide58.xml" Id="Rba5a4b75947b41c4" /><Relationship Type="http://schemas.openxmlformats.org/officeDocument/2006/relationships/slide" Target="/ppt/slides/slide59.xml" Id="R215ed51895c6483e" /><Relationship Type="http://schemas.openxmlformats.org/officeDocument/2006/relationships/slide" Target="/ppt/slides/slide60.xml" Id="R05f809c059d64dcb" /><Relationship Type="http://schemas.openxmlformats.org/officeDocument/2006/relationships/slide" Target="/ppt/slides/slide61.xml" Id="R83c85e8692964c1a" /><Relationship Type="http://schemas.openxmlformats.org/officeDocument/2006/relationships/slide" Target="/ppt/slides/slide62.xml" Id="Rad65331d034e4968" /><Relationship Type="http://schemas.openxmlformats.org/officeDocument/2006/relationships/slide" Target="/ppt/slides/slide63.xml" Id="R97f25c934fb648a9" /><Relationship Type="http://schemas.openxmlformats.org/officeDocument/2006/relationships/slide" Target="/ppt/slides/slide64.xml" Id="R6b06489efd2e43ce" /><Relationship Type="http://schemas.openxmlformats.org/officeDocument/2006/relationships/slide" Target="/ppt/slides/slide65.xml" Id="Re82ed3ab81924f16" /><Relationship Type="http://schemas.openxmlformats.org/officeDocument/2006/relationships/slide" Target="/ppt/slides/slide66.xml" Id="Rf2b9c37039b04039" /><Relationship Type="http://schemas.openxmlformats.org/officeDocument/2006/relationships/slide" Target="/ppt/slides/slide67.xml" Id="R8890c3f2e36b43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bfe140e5ce431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efc924a5fce4252" /><Relationship Type="http://schemas.openxmlformats.org/officeDocument/2006/relationships/notesMaster" Target="/ppt/notesMasters/notesMaster1.xml" Id="R74fe4f7b414745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3abffa1f104143" /><Relationship Type="http://schemas.openxmlformats.org/officeDocument/2006/relationships/notesMaster" Target="/ppt/notesMasters/notesMaster1.xml" Id="Re329b87d63d949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bb09341a19488a" /><Relationship Type="http://schemas.openxmlformats.org/officeDocument/2006/relationships/notesMaster" Target="/ppt/notesMasters/notesMaster1.xml" Id="Rc25ae0d6180248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2725a331b74a78" /><Relationship Type="http://schemas.openxmlformats.org/officeDocument/2006/relationships/notesMaster" Target="/ppt/notesMasters/notesMaster1.xml" Id="R8db93334ffb04b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e4e2ac8d2d947d3" /><Relationship Type="http://schemas.openxmlformats.org/officeDocument/2006/relationships/notesMaster" Target="/ppt/notesMasters/notesMaster1.xml" Id="R3f32d8b9b94e43c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db910684434930" /><Relationship Type="http://schemas.openxmlformats.org/officeDocument/2006/relationships/notesMaster" Target="/ppt/notesMasters/notesMaster1.xml" Id="Re343f00ab1b0436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2eb0e49389f4bee" /><Relationship Type="http://schemas.openxmlformats.org/officeDocument/2006/relationships/notesMaster" Target="/ppt/notesMasters/notesMaster1.xml" Id="Re7545484ffb0485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dcc6e558b44e36" /><Relationship Type="http://schemas.openxmlformats.org/officeDocument/2006/relationships/notesMaster" Target="/ppt/notesMasters/notesMaster1.xml" Id="Ree18fd05b67446b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ee9cb1090a04b37" /><Relationship Type="http://schemas.openxmlformats.org/officeDocument/2006/relationships/notesMaster" Target="/ppt/notesMasters/notesMaster1.xml" Id="Rf40c83e93d4446c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aa39aaf89b840fa" /><Relationship Type="http://schemas.openxmlformats.org/officeDocument/2006/relationships/notesMaster" Target="/ppt/notesMasters/notesMaster1.xml" Id="R85c8b2f867044db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9d30f35c358431a" /><Relationship Type="http://schemas.openxmlformats.org/officeDocument/2006/relationships/notesMaster" Target="/ppt/notesMasters/notesMaster1.xml" Id="Ra331f8eb7a12423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096a90d3bb14172" /><Relationship Type="http://schemas.openxmlformats.org/officeDocument/2006/relationships/notesMaster" Target="/ppt/notesMasters/notesMaster1.xml" Id="R1f327c7da9a2453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0a11bcfefd24a28" /><Relationship Type="http://schemas.openxmlformats.org/officeDocument/2006/relationships/notesMaster" Target="/ppt/notesMasters/notesMaster1.xml" Id="R843a6e3c5eeb4e5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b9a84919f944c63" /><Relationship Type="http://schemas.openxmlformats.org/officeDocument/2006/relationships/notesMaster" Target="/ppt/notesMasters/notesMaster1.xml" Id="Re2e952883e7a4c6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22f90446b854d2b" /><Relationship Type="http://schemas.openxmlformats.org/officeDocument/2006/relationships/notesMaster" Target="/ppt/notesMasters/notesMaster1.xml" Id="R164c129eebc04eb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de78f08240e4b20" /><Relationship Type="http://schemas.openxmlformats.org/officeDocument/2006/relationships/notesMaster" Target="/ppt/notesMasters/notesMaster1.xml" Id="R64549a266017456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b06e7d7b8c04e74" /><Relationship Type="http://schemas.openxmlformats.org/officeDocument/2006/relationships/notesMaster" Target="/ppt/notesMasters/notesMaster1.xml" Id="Rd81eb0e122d9468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f4adcb5ada242fc" /><Relationship Type="http://schemas.openxmlformats.org/officeDocument/2006/relationships/notesMaster" Target="/ppt/notesMasters/notesMaster1.xml" Id="R9188acc1730b476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2a39f3663b940f4" /><Relationship Type="http://schemas.openxmlformats.org/officeDocument/2006/relationships/notesMaster" Target="/ppt/notesMasters/notesMaster1.xml" Id="R20ecfcf69847419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2897170419a404d" /><Relationship Type="http://schemas.openxmlformats.org/officeDocument/2006/relationships/notesMaster" Target="/ppt/notesMasters/notesMaster1.xml" Id="R4fa909fd4b984c35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188a7b6f4d3a478b" /><Relationship Type="http://schemas.openxmlformats.org/officeDocument/2006/relationships/notesMaster" Target="/ppt/notesMasters/notesMaster1.xml" Id="R1a70f6194a0a4c9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be877c11314463a" /><Relationship Type="http://schemas.openxmlformats.org/officeDocument/2006/relationships/notesMaster" Target="/ppt/notesMasters/notesMaster1.xml" Id="R416920fd6e4848f6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2584c469a0d4d2c" /><Relationship Type="http://schemas.openxmlformats.org/officeDocument/2006/relationships/notesMaster" Target="/ppt/notesMasters/notesMaster1.xml" Id="R41afe136d76a45cf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54e0f19f4f894185" /><Relationship Type="http://schemas.openxmlformats.org/officeDocument/2006/relationships/notesMaster" Target="/ppt/notesMasters/notesMaster1.xml" Id="Rb4935f73c86747f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ce2922f66974aae" /><Relationship Type="http://schemas.openxmlformats.org/officeDocument/2006/relationships/notesMaster" Target="/ppt/notesMasters/notesMaster1.xml" Id="R47a8e699edfd4845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98a83b7066e420a" /><Relationship Type="http://schemas.openxmlformats.org/officeDocument/2006/relationships/notesMaster" Target="/ppt/notesMasters/notesMaster1.xml" Id="Rff777471903a432b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2aafc883ea140bf" /><Relationship Type="http://schemas.openxmlformats.org/officeDocument/2006/relationships/notesMaster" Target="/ppt/notesMasters/notesMaster1.xml" Id="R6098431713484fc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ec42eecf9ba450d" /><Relationship Type="http://schemas.openxmlformats.org/officeDocument/2006/relationships/notesMaster" Target="/ppt/notesMasters/notesMaster1.xml" Id="Rde141707fd42473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f5d8d57b8ab412a" /><Relationship Type="http://schemas.openxmlformats.org/officeDocument/2006/relationships/notesMaster" Target="/ppt/notesMasters/notesMaster1.xml" Id="Rb7d0793a1afe4568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3e3550dd3ea3456b" /><Relationship Type="http://schemas.openxmlformats.org/officeDocument/2006/relationships/notesMaster" Target="/ppt/notesMasters/notesMaster1.xml" Id="R1995b5f5069c44f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083ef32c860481a" /><Relationship Type="http://schemas.openxmlformats.org/officeDocument/2006/relationships/notesMaster" Target="/ppt/notesMasters/notesMaster1.xml" Id="R083b80d7adb44d6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2971930123584099" /><Relationship Type="http://schemas.openxmlformats.org/officeDocument/2006/relationships/notesMaster" Target="/ppt/notesMasters/notesMaster1.xml" Id="R816cf1c67f1f404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608bfe06087b49f2" /><Relationship Type="http://schemas.openxmlformats.org/officeDocument/2006/relationships/notesMaster" Target="/ppt/notesMasters/notesMaster1.xml" Id="R4e55914370a0469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daadd7fd26c4491" /><Relationship Type="http://schemas.openxmlformats.org/officeDocument/2006/relationships/notesMaster" Target="/ppt/notesMasters/notesMaster1.xml" Id="Rf9c7edcf95214df7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d6820fb83f64d97" /><Relationship Type="http://schemas.openxmlformats.org/officeDocument/2006/relationships/notesMaster" Target="/ppt/notesMasters/notesMaster1.xml" Id="R06cc30726e0d4fb2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fae8768852724c2b" /><Relationship Type="http://schemas.openxmlformats.org/officeDocument/2006/relationships/notesMaster" Target="/ppt/notesMasters/notesMaster1.xml" Id="R5e57ec6360fc479c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e7ad19ffb5fd4f39" /><Relationship Type="http://schemas.openxmlformats.org/officeDocument/2006/relationships/notesMaster" Target="/ppt/notesMasters/notesMaster1.xml" Id="R3c29a810f8a344ba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b19dde23d6944aba" /><Relationship Type="http://schemas.openxmlformats.org/officeDocument/2006/relationships/notesMaster" Target="/ppt/notesMasters/notesMaster1.xml" Id="R8e623f238d274e9f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b84f4f6145f34e29" /><Relationship Type="http://schemas.openxmlformats.org/officeDocument/2006/relationships/notesMaster" Target="/ppt/notesMasters/notesMaster1.xml" Id="Rccff0eae9ebc49e8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625593f3882449a4" /><Relationship Type="http://schemas.openxmlformats.org/officeDocument/2006/relationships/notesMaster" Target="/ppt/notesMasters/notesMaster1.xml" Id="Rf6d335bbe195453b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303abcd758634420" /><Relationship Type="http://schemas.openxmlformats.org/officeDocument/2006/relationships/notesMaster" Target="/ppt/notesMasters/notesMaster1.xml" Id="R66d22008d9154546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f6887f400f5e472d" /><Relationship Type="http://schemas.openxmlformats.org/officeDocument/2006/relationships/notesMaster" Target="/ppt/notesMasters/notesMaster1.xml" Id="Re216e683414f4eae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e675f2332ac4425d" /><Relationship Type="http://schemas.openxmlformats.org/officeDocument/2006/relationships/notesMaster" Target="/ppt/notesMasters/notesMaster1.xml" Id="R003a449aa4b2420f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b927e5926e174955" /><Relationship Type="http://schemas.openxmlformats.org/officeDocument/2006/relationships/notesMaster" Target="/ppt/notesMasters/notesMaster1.xml" Id="R2a8425003b4b4c3e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035dd0f4b0e24307" /><Relationship Type="http://schemas.openxmlformats.org/officeDocument/2006/relationships/notesMaster" Target="/ppt/notesMasters/notesMaster1.xml" Id="Rd7886a436b874394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8b5bd3b4a4b440b2" /><Relationship Type="http://schemas.openxmlformats.org/officeDocument/2006/relationships/notesMaster" Target="/ppt/notesMasters/notesMaster1.xml" Id="Raf70e44bf7df4652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eb25e2c985154de7" /><Relationship Type="http://schemas.openxmlformats.org/officeDocument/2006/relationships/notesMaster" Target="/ppt/notesMasters/notesMaster1.xml" Id="Rfada5d74fca043d6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cadbdebc150747c1" /><Relationship Type="http://schemas.openxmlformats.org/officeDocument/2006/relationships/notesMaster" Target="/ppt/notesMasters/notesMaster1.xml" Id="R8d52b40dd4534b68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2f69b1f4b48e46dd" /><Relationship Type="http://schemas.openxmlformats.org/officeDocument/2006/relationships/notesMaster" Target="/ppt/notesMasters/notesMaster1.xml" Id="R9eefe3ec698f43e3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60c2c381c0fb4acb" /><Relationship Type="http://schemas.openxmlformats.org/officeDocument/2006/relationships/notesMaster" Target="/ppt/notesMasters/notesMaster1.xml" Id="R1f5ef12fb50c4668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fc45067715d94f38" /><Relationship Type="http://schemas.openxmlformats.org/officeDocument/2006/relationships/notesMaster" Target="/ppt/notesMasters/notesMaster1.xml" Id="R7f05a59b9a8340d8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76e8ba31f4314431" /><Relationship Type="http://schemas.openxmlformats.org/officeDocument/2006/relationships/notesMaster" Target="/ppt/notesMasters/notesMaster1.xml" Id="Rff90d610d7094a6e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059c57887b24404d" /><Relationship Type="http://schemas.openxmlformats.org/officeDocument/2006/relationships/notesMaster" Target="/ppt/notesMasters/notesMaster1.xml" Id="Re3ea170f015441d4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cf77cb72e6824d58" /><Relationship Type="http://schemas.openxmlformats.org/officeDocument/2006/relationships/notesMaster" Target="/ppt/notesMasters/notesMaster1.xml" Id="Rdaa5e5b7d92f4cf9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9971f31e864e49a0" /><Relationship Type="http://schemas.openxmlformats.org/officeDocument/2006/relationships/notesMaster" Target="/ppt/notesMasters/notesMaster1.xml" Id="R23778275866d4b21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ba2c7e2647ca439c" /><Relationship Type="http://schemas.openxmlformats.org/officeDocument/2006/relationships/notesMaster" Target="/ppt/notesMasters/notesMaster1.xml" Id="R77f5f44b4f95476e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dcb678e287714c88" /><Relationship Type="http://schemas.openxmlformats.org/officeDocument/2006/relationships/notesMaster" Target="/ppt/notesMasters/notesMaster1.xml" Id="R0374628a8eb24161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847bde5bef9f4b77" /><Relationship Type="http://schemas.openxmlformats.org/officeDocument/2006/relationships/notesMaster" Target="/ppt/notesMasters/notesMaster1.xml" Id="R8840bbcc76c84825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5cac880619dd437f" /><Relationship Type="http://schemas.openxmlformats.org/officeDocument/2006/relationships/notesMaster" Target="/ppt/notesMasters/notesMaster1.xml" Id="Rea3d06c6e3b54728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234c38aa04af4c23" /><Relationship Type="http://schemas.openxmlformats.org/officeDocument/2006/relationships/notesMaster" Target="/ppt/notesMasters/notesMaster1.xml" Id="Rd38fbf68882345a7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08bfab31c19a4d36" /><Relationship Type="http://schemas.openxmlformats.org/officeDocument/2006/relationships/notesMaster" Target="/ppt/notesMasters/notesMaster1.xml" Id="R0128e56ce0774585" /></Relationships>
</file>

<file path=ppt/notesSlides/_rels/notesSlide62.xml.rels>&#65279;<?xml version="1.0" encoding="utf-8"?><Relationships xmlns="http://schemas.openxmlformats.org/package/2006/relationships"><Relationship Type="http://schemas.openxmlformats.org/officeDocument/2006/relationships/slide" Target="/ppt/slides/slide62.xml" Id="R92c7081daa7a441d" /><Relationship Type="http://schemas.openxmlformats.org/officeDocument/2006/relationships/notesMaster" Target="/ppt/notesMasters/notesMaster1.xml" Id="Rabbc69244d264027" /></Relationships>
</file>

<file path=ppt/notesSlides/_rels/notesSlide63.xml.rels>&#65279;<?xml version="1.0" encoding="utf-8"?><Relationships xmlns="http://schemas.openxmlformats.org/package/2006/relationships"><Relationship Type="http://schemas.openxmlformats.org/officeDocument/2006/relationships/slide" Target="/ppt/slides/slide63.xml" Id="Refbf8f49ffdc434f" /><Relationship Type="http://schemas.openxmlformats.org/officeDocument/2006/relationships/notesMaster" Target="/ppt/notesMasters/notesMaster1.xml" Id="R79f53486ee15473e" /></Relationships>
</file>

<file path=ppt/notesSlides/_rels/notesSlide64.xml.rels>&#65279;<?xml version="1.0" encoding="utf-8"?><Relationships xmlns="http://schemas.openxmlformats.org/package/2006/relationships"><Relationship Type="http://schemas.openxmlformats.org/officeDocument/2006/relationships/slide" Target="/ppt/slides/slide64.xml" Id="R91c2018341474b6e" /><Relationship Type="http://schemas.openxmlformats.org/officeDocument/2006/relationships/notesMaster" Target="/ppt/notesMasters/notesMaster1.xml" Id="Rfaf94927e75a4360" /></Relationships>
</file>

<file path=ppt/notesSlides/_rels/notesSlide65.xml.rels>&#65279;<?xml version="1.0" encoding="utf-8"?><Relationships xmlns="http://schemas.openxmlformats.org/package/2006/relationships"><Relationship Type="http://schemas.openxmlformats.org/officeDocument/2006/relationships/slide" Target="/ppt/slides/slide65.xml" Id="R8b24be79e0c94826" /><Relationship Type="http://schemas.openxmlformats.org/officeDocument/2006/relationships/notesMaster" Target="/ppt/notesMasters/notesMaster1.xml" Id="Rf7901bdb37624175" /></Relationships>
</file>

<file path=ppt/notesSlides/_rels/notesSlide66.xml.rels>&#65279;<?xml version="1.0" encoding="utf-8"?><Relationships xmlns="http://schemas.openxmlformats.org/package/2006/relationships"><Relationship Type="http://schemas.openxmlformats.org/officeDocument/2006/relationships/slide" Target="/ppt/slides/slide66.xml" Id="R9a7da36c89bd4d55" /><Relationship Type="http://schemas.openxmlformats.org/officeDocument/2006/relationships/notesMaster" Target="/ppt/notesMasters/notesMaster1.xml" Id="R9f57f239478a4128" /></Relationships>
</file>

<file path=ppt/notesSlides/_rels/notesSlide67.xml.rels>&#65279;<?xml version="1.0" encoding="utf-8"?><Relationships xmlns="http://schemas.openxmlformats.org/package/2006/relationships"><Relationship Type="http://schemas.openxmlformats.org/officeDocument/2006/relationships/slide" Target="/ppt/slides/slide67.xml" Id="R1d976a82c1924d1b" /><Relationship Type="http://schemas.openxmlformats.org/officeDocument/2006/relationships/notesMaster" Target="/ppt/notesMasters/notesMaster1.xml" Id="Rb2a86b2b47c946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出典：https://docs.python.org/3/tutorial/</a:t>
            </a:r>
          </a:p>
          <a:p xmlns:a="http://schemas.openxmlformats.org/drawingml/2006/main">
            <a:r>
              <a:t>文法例は Python 3.12+ を使用。</a:t>
            </a:r>
          </a:p>
          <a:p xmlns:a="http://schemas.openxmlformats.org/drawingml/2006/main">
            <a:r>
              <a:t>挿絵は第1週の原資料から再利用。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出典：https://docs.python.org/3/tutorial/</a:t>
            </a:r>
          </a:p>
          <a:p xmlns:a="http://schemas.openxmlformats.org/drawingml/2006/main">
            <a:r>
              <a:t>文法例は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出典：https://docs.python.org/3/tutorial/controlflow.html</a:t>
            </a:r>
          </a:p>
          <a:p xmlns:a="http://schemas.openxmlformats.org/drawingml/2006/main">
            <a:r>
              <a:t>文法例は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出典：https://docs.python.org/3/library/functions.html</a:t>
            </a:r>
          </a:p>
          <a:p xmlns:a="http://schemas.openxmlformats.org/drawingml/2006/main">
            <a:r>
              <a:t>文法例は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出典：https://docs.python.org/3/library/stdtypes.html</a:t>
            </a:r>
          </a:p>
          <a:p xmlns:a="http://schemas.openxmlformats.org/drawingml/2006/main">
            <a:r>
              <a:t>文法例は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出典：https://docs.python.org/3/tutorial/introduction.html</a:t>
            </a:r>
          </a:p>
          <a:p xmlns:a="http://schemas.openxmlformats.org/drawingml/2006/main">
            <a:r>
              <a:t>文法例は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出典：https://docs.python.org/3/library/stdtypes.html</a:t>
            </a:r>
          </a:p>
          <a:p xmlns:a="http://schemas.openxmlformats.org/drawingml/2006/main">
            <a:r>
              <a:t>文法例は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出典：https://docs.python.org/3/library/stdtypes.html</a:t>
            </a:r>
          </a:p>
          <a:p xmlns:a="http://schemas.openxmlformats.org/drawingml/2006/main">
            <a:r>
              <a:t>文法例は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出典：https://docs.python.org/3/tutorial/classes.html</a:t>
            </a:r>
          </a:p>
          <a:p xmlns:a="http://schemas.openxmlformats.org/drawingml/2006/main">
            <a:r>
              <a:t>文法例は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出典：https://docs.python.org/3/tutorial/controlflow.html</a:t>
            </a:r>
          </a:p>
          <a:p xmlns:a="http://schemas.openxmlformats.org/drawingml/2006/main">
            <a:r>
              <a:t>文法例は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出典：https://docs.python.org/3/tutorial/introduction.html</a:t>
            </a:r>
          </a:p>
          <a:p xmlns:a="http://schemas.openxmlformats.org/drawingml/2006/main">
            <a:r>
              <a:t>文法例は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出典：https://docs.python.org/3/library/stdtypes.html</a:t>
            </a:r>
          </a:p>
          <a:p xmlns:a="http://schemas.openxmlformats.org/drawingml/2006/main">
            <a:r>
              <a:t>文法例は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出典：https://docs.python.org/3/library/stdtypes.html</a:t>
            </a:r>
          </a:p>
          <a:p xmlns:a="http://schemas.openxmlformats.org/drawingml/2006/main">
            <a:r>
              <a:t>文法例は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出典：https://docs.python.org/3/library/stdtypes.html</a:t>
            </a:r>
          </a:p>
          <a:p xmlns:a="http://schemas.openxmlformats.org/drawingml/2006/main">
            <a:r>
              <a:t>文法例は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出典：https://docs.python.org/3/library/stdtypes.html</a:t>
            </a:r>
          </a:p>
          <a:p xmlns:a="http://schemas.openxmlformats.org/drawingml/2006/main">
            <a:r>
              <a:t>文法例は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出典：https://docs.python.org/3/tutorial/controlflow.html</a:t>
            </a:r>
          </a:p>
          <a:p xmlns:a="http://schemas.openxmlformats.org/drawingml/2006/main">
            <a:r>
              <a:t>文法例は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出典：https://docs.python.org/3/tutorial/controlflow.html</a:t>
            </a:r>
          </a:p>
          <a:p xmlns:a="http://schemas.openxmlformats.org/drawingml/2006/main">
            <a:r>
              <a:t>文法例は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出典：https://docs.python.org/3/tutorial/controlflow.html</a:t>
            </a:r>
          </a:p>
          <a:p xmlns:a="http://schemas.openxmlformats.org/drawingml/2006/main">
            <a:r>
              <a:t>文法例は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出典：https://docs.python.org/3/tutorial/controlflow.html</a:t>
            </a:r>
          </a:p>
          <a:p xmlns:a="http://schemas.openxmlformats.org/drawingml/2006/main">
            <a:r>
              <a:t>文法例は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出典：https://docs.python.org/3/reference/compound_stmts.html</a:t>
            </a:r>
          </a:p>
          <a:p xmlns:a="http://schemas.openxmlformats.org/drawingml/2006/main">
            <a:r>
              <a:t>文法例は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出典：https://docs.python.org/3/tutorial/datastructures.html</a:t>
            </a:r>
          </a:p>
          <a:p xmlns:a="http://schemas.openxmlformats.org/drawingml/2006/main">
            <a:r>
              <a:t>文法例は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出典：https://docs.python.org/3/tutorial/datastructures.html</a:t>
            </a:r>
          </a:p>
          <a:p xmlns:a="http://schemas.openxmlformats.org/drawingml/2006/main">
            <a:r>
              <a:t>文法例は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出典：https://docs.python.org/3/tutorial/datastructures.html</a:t>
            </a:r>
          </a:p>
          <a:p xmlns:a="http://schemas.openxmlformats.org/drawingml/2006/main">
            <a:r>
              <a:t>文法例は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出典：https://docs.python.org/3/tutorial/datastructures.html</a:t>
            </a:r>
          </a:p>
          <a:p xmlns:a="http://schemas.openxmlformats.org/drawingml/2006/main">
            <a:r>
              <a:t>文法例は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出典：https://docs.python.org/3/tutorial/datastructures.html</a:t>
            </a:r>
          </a:p>
          <a:p xmlns:a="http://schemas.openxmlformats.org/drawingml/2006/main">
            <a:r>
              <a:t>文法例は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出典：https://docs.python.org/3/tutorial/datastructures.html</a:t>
            </a:r>
          </a:p>
          <a:p xmlns:a="http://schemas.openxmlformats.org/drawingml/2006/main">
            <a:r>
              <a:t>文法例は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出典：https://docs.python.org/3/tutorial/datastructures.html</a:t>
            </a:r>
          </a:p>
          <a:p xmlns:a="http://schemas.openxmlformats.org/drawingml/2006/main">
            <a:r>
              <a:t>文法例は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出典：https://docs.python.org/3/tutorial/datastructures.html</a:t>
            </a:r>
          </a:p>
          <a:p xmlns:a="http://schemas.openxmlformats.org/drawingml/2006/main">
            <a:r>
              <a:t>文法例は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出典：https://docs.python.org/3/tutorial/controlflow.html</a:t>
            </a:r>
          </a:p>
          <a:p xmlns:a="http://schemas.openxmlformats.org/drawingml/2006/main">
            <a:r>
              <a:t>文法例は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出典：https://docs.python.org/3/tutorial/controlflow.html</a:t>
            </a:r>
          </a:p>
          <a:p xmlns:a="http://schemas.openxmlformats.org/drawingml/2006/main">
            <a:r>
              <a:t>文法例は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出典：https://docs.python.org/3/tutorial/controlflow.html</a:t>
            </a:r>
          </a:p>
          <a:p xmlns:a="http://schemas.openxmlformats.org/drawingml/2006/main">
            <a:r>
              <a:t>文法例は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出典：https://docs.python.org/3/tutorial/controlflow.html</a:t>
            </a:r>
          </a:p>
          <a:p xmlns:a="http://schemas.openxmlformats.org/drawingml/2006/main">
            <a:r>
              <a:t>文法例は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出典：https://docs.python.org/3/tutorial/classes.html</a:t>
            </a:r>
          </a:p>
          <a:p xmlns:a="http://schemas.openxmlformats.org/drawingml/2006/main">
            <a:r>
              <a:t>文法例は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出典：https://docs.python.org/3/tutorial/classes.html</a:t>
            </a:r>
          </a:p>
          <a:p xmlns:a="http://schemas.openxmlformats.org/drawingml/2006/main">
            <a:r>
              <a:t>文法例は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出典：https://docs.python.org/3/tutorial/classes.html</a:t>
            </a:r>
          </a:p>
          <a:p xmlns:a="http://schemas.openxmlformats.org/drawingml/2006/main">
            <a:r>
              <a:t>文法例は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出典：https://docs.python.org/3/library/copy.html</a:t>
            </a:r>
          </a:p>
          <a:p xmlns:a="http://schemas.openxmlformats.org/drawingml/2006/main">
            <a:r>
              <a:t>文法例は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出典：https://docs.python.org/3/tutorial/controlflow.html</a:t>
            </a:r>
          </a:p>
          <a:p xmlns:a="http://schemas.openxmlformats.org/drawingml/2006/main">
            <a:r>
              <a:t>文法例は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出典：https://docs.python.org/3/reference/compound_stmts.html</a:t>
            </a:r>
          </a:p>
          <a:p xmlns:a="http://schemas.openxmlformats.org/drawingml/2006/main">
            <a:r>
              <a:t>文法例は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出典：https://docs.python.org/3/library/functions.html</a:t>
            </a:r>
          </a:p>
          <a:p xmlns:a="http://schemas.openxmlformats.org/drawingml/2006/main">
            <a:r>
              <a:t>文法例は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出典：https://docs.python.org/3/tutorial/classes.html</a:t>
            </a:r>
          </a:p>
          <a:p xmlns:a="http://schemas.openxmlformats.org/drawingml/2006/main">
            <a:r>
              <a:t>文法例は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出典：https://docs.python.org/3/tutorial/modules.html</a:t>
            </a:r>
          </a:p>
          <a:p xmlns:a="http://schemas.openxmlformats.org/drawingml/2006/main">
            <a:r>
              <a:t>文法例は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出典：https://docs.python.org/3/tutorial/modules.html</a:t>
            </a:r>
          </a:p>
          <a:p xmlns:a="http://schemas.openxmlformats.org/drawingml/2006/main">
            <a:r>
              <a:t>文法例は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出典：https://docs.python.org/3/tutorial/venv.html</a:t>
            </a:r>
          </a:p>
          <a:p xmlns:a="http://schemas.openxmlformats.org/drawingml/2006/main">
            <a:r>
              <a:t>文法例は Python 3.12+ を使用。</a:t>
            </a:r>
          </a:p>
          <a:p xmlns:a="http://schemas.openxmlformats.org/drawingml/2006/main">
            <a:r>
              <a:t>挿絵は第1週の原資料から再利用。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出典：https://docs.python.org/3/library/pathlib.html</a:t>
            </a:r>
          </a:p>
          <a:p xmlns:a="http://schemas.openxmlformats.org/drawingml/2006/main">
            <a:r>
              <a:t>文法例は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出典：https://docs.python.org/3/tutorial/inputoutput.html</a:t>
            </a:r>
          </a:p>
          <a:p xmlns:a="http://schemas.openxmlformats.org/drawingml/2006/main">
            <a:r>
              <a:t>文法例は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出典：https://docs.python.org/3/tutorial/inputoutput.html</a:t>
            </a:r>
          </a:p>
          <a:p xmlns:a="http://schemas.openxmlformats.org/drawingml/2006/main">
            <a:r>
              <a:t>文法例は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出典：https://docs.python.org/3/library/csv.html</a:t>
            </a:r>
          </a:p>
          <a:p xmlns:a="http://schemas.openxmlformats.org/drawingml/2006/main">
            <a:r>
              <a:t>文法例は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出典：https://docs.python.org/3/library/json.html</a:t>
            </a:r>
          </a:p>
          <a:p xmlns:a="http://schemas.openxmlformats.org/drawingml/2006/main">
            <a:r>
              <a:t>文法例は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出典：https://docs.python.org/3/tutorial/errors.html</a:t>
            </a:r>
          </a:p>
          <a:p xmlns:a="http://schemas.openxmlformats.org/drawingml/2006/main">
            <a:r>
              <a:t>文法例は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出典：https://docs.python.org/3/tutorial/errors.html</a:t>
            </a:r>
          </a:p>
          <a:p xmlns:a="http://schemas.openxmlformats.org/drawingml/2006/main">
            <a:r>
              <a:t>文法例は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出典：https://docs.python.org/3/tutorial/errors.html</a:t>
            </a:r>
          </a:p>
          <a:p xmlns:a="http://schemas.openxmlformats.org/drawingml/2006/main">
            <a:r>
              <a:t>文法例は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出典：https://docs.python.org/3/tutorial/errors.html</a:t>
            </a:r>
          </a:p>
          <a:p xmlns:a="http://schemas.openxmlformats.org/drawingml/2006/main">
            <a:r>
              <a:t>文法例は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出典：https://docs.python.org/3/tutorial/classes.html</a:t>
            </a:r>
          </a:p>
          <a:p xmlns:a="http://schemas.openxmlformats.org/drawingml/2006/main">
            <a:r>
              <a:t>文法例は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出典：https://docs.python.org/3/tutorial/classes.html</a:t>
            </a:r>
          </a:p>
          <a:p xmlns:a="http://schemas.openxmlformats.org/drawingml/2006/main">
            <a:r>
              <a:t>文法例は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出典：https://docs.python.org/3/tutorial/classes.html</a:t>
            </a:r>
          </a:p>
          <a:p xmlns:a="http://schemas.openxmlformats.org/drawingml/2006/main">
            <a:r>
              <a:t>文法例は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出典：https://docs.python.org/3/library/functions.html</a:t>
            </a:r>
          </a:p>
          <a:p xmlns:a="http://schemas.openxmlformats.org/drawingml/2006/main">
            <a:r>
              <a:t>文法例は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出典：https://docs.python.org/3/library/functions.html</a:t>
            </a:r>
          </a:p>
          <a:p xmlns:a="http://schemas.openxmlformats.org/drawingml/2006/main">
            <a:r>
              <a:t>文法例は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出典：https://docs.python.org/3/reference/datamodel.html</a:t>
            </a:r>
          </a:p>
          <a:p xmlns:a="http://schemas.openxmlformats.org/drawingml/2006/main">
            <a:r>
              <a:t>文法例は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出典：https://docs.python.org/3/library/dataclasses.html</a:t>
            </a:r>
          </a:p>
          <a:p xmlns:a="http://schemas.openxmlformats.org/drawingml/2006/main">
            <a:r>
              <a:t>文法例は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出典：https://docs.python.org/3/library/typing.html</a:t>
            </a:r>
          </a:p>
          <a:p xmlns:a="http://schemas.openxmlformats.org/drawingml/2006/main">
            <a:r>
              <a:t>文法例は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出典：https://docs.python.org/3/library/typing.html</a:t>
            </a:r>
          </a:p>
          <a:p xmlns:a="http://schemas.openxmlformats.org/drawingml/2006/main">
            <a:r>
              <a:t>文法例は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出典：https://docs.python.org/3/library/asyncio-task.html</a:t>
            </a:r>
          </a:p>
          <a:p xmlns:a="http://schemas.openxmlformats.org/drawingml/2006/main">
            <a:r>
              <a:t>文法例は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出典：https://docs.python.org/3/reference/compound_stmts.html</a:t>
            </a:r>
          </a:p>
          <a:p xmlns:a="http://schemas.openxmlformats.org/drawingml/2006/main">
            <a:r>
              <a:t>文法例は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出典：https://docs.python.org/3/reference/compound_stmts.html</a:t>
            </a:r>
          </a:p>
          <a:p xmlns:a="http://schemas.openxmlformats.org/drawingml/2006/main">
            <a:r>
              <a:t>文法例は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出典：https://docs.python.org/3/library/stdtypes.html</a:t>
            </a:r>
          </a:p>
          <a:p xmlns:a="http://schemas.openxmlformats.org/drawingml/2006/main">
            <a:r>
              <a:t>文法例は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出典：https://docs.python.org/3/tutorial/classes.html</a:t>
            </a:r>
          </a:p>
          <a:p xmlns:a="http://schemas.openxmlformats.org/drawingml/2006/main">
            <a:r>
              <a:t>文法例は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出典：https://docs.python.org/3/tutorial/</a:t>
            </a:r>
          </a:p>
          <a:p xmlns:a="http://schemas.openxmlformats.org/drawingml/2006/main">
            <a:r>
              <a:t>文法例は Python 3.12+ を使用。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1834fb438a42a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3d11f6249834fad" /><Relationship Type="http://schemas.openxmlformats.org/officeDocument/2006/relationships/slideLayout" Target="/ppt/slideLayouts/slideLayout1.xml" Id="Rdb6bd2706b6b4d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6bd2706b6b4d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92a77afdb04b1b" /><Relationship Type="http://schemas.openxmlformats.org/officeDocument/2006/relationships/image" Target="/ppt/media/image.png" Id="R2514b8025c9040d0" /><Relationship Type="http://schemas.openxmlformats.org/officeDocument/2006/relationships/notesSlide" Target="/ppt/notesSlides/notesSlide1.xml" Id="R8c9bc8f6e2c84d3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0fd0623b094c62" /><Relationship Type="http://schemas.openxmlformats.org/officeDocument/2006/relationships/notesSlide" Target="/ppt/notesSlides/notesSlide2.xml" Id="R2e53326f7c89429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1de64873fb4a6b" /><Relationship Type="http://schemas.openxmlformats.org/officeDocument/2006/relationships/notesSlide" Target="/ppt/notesSlides/notesSlide3.xml" Id="R9dd22f3229ae4c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070e4ed32d4ede" /><Relationship Type="http://schemas.openxmlformats.org/officeDocument/2006/relationships/notesSlide" Target="/ppt/notesSlides/notesSlide4.xml" Id="R42b34fe6d43341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c21f225ccc477a" /><Relationship Type="http://schemas.openxmlformats.org/officeDocument/2006/relationships/notesSlide" Target="/ppt/notesSlides/notesSlide5.xml" Id="R7898efaeea5f40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b46fd4eff248fb" /><Relationship Type="http://schemas.openxmlformats.org/officeDocument/2006/relationships/notesSlide" Target="/ppt/notesSlides/notesSlide6.xml" Id="R946681eb9f4a4a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5b9c9cad894c39" /><Relationship Type="http://schemas.openxmlformats.org/officeDocument/2006/relationships/notesSlide" Target="/ppt/notesSlides/notesSlide7.xml" Id="Rae61555e0f3746f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dd4143a8914687" /><Relationship Type="http://schemas.openxmlformats.org/officeDocument/2006/relationships/notesSlide" Target="/ppt/notesSlides/notesSlide8.xml" Id="R9d1c979a7e3c484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fbebcd427548a9" /><Relationship Type="http://schemas.openxmlformats.org/officeDocument/2006/relationships/notesSlide" Target="/ppt/notesSlides/notesSlide9.xml" Id="Rb987949cfa2b4bb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46b629c014418f" /><Relationship Type="http://schemas.openxmlformats.org/officeDocument/2006/relationships/notesSlide" Target="/ppt/notesSlides/notesSlide10.xml" Id="R274eb1f6d40747b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efbc6046944214" /><Relationship Type="http://schemas.openxmlformats.org/officeDocument/2006/relationships/notesSlide" Target="/ppt/notesSlides/notesSlide11.xml" Id="Re973950070644c1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d88a326ce74bc8" /><Relationship Type="http://schemas.openxmlformats.org/officeDocument/2006/relationships/notesSlide" Target="/ppt/notesSlides/notesSlide12.xml" Id="R70a709cf0053481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c4a4e386074e3e" /><Relationship Type="http://schemas.openxmlformats.org/officeDocument/2006/relationships/notesSlide" Target="/ppt/notesSlides/notesSlide13.xml" Id="R6abfbf6e67bc4fa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2e6e2038834535" /><Relationship Type="http://schemas.openxmlformats.org/officeDocument/2006/relationships/notesSlide" Target="/ppt/notesSlides/notesSlide14.xml" Id="R002b787dd7974a7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04e6c87a674eb9" /><Relationship Type="http://schemas.openxmlformats.org/officeDocument/2006/relationships/notesSlide" Target="/ppt/notesSlides/notesSlide15.xml" Id="R715e7a2c11744eb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507cf46e404c83" /><Relationship Type="http://schemas.openxmlformats.org/officeDocument/2006/relationships/notesSlide" Target="/ppt/notesSlides/notesSlide16.xml" Id="Rbe7a666a29434c4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89ce209be24ac4" /><Relationship Type="http://schemas.openxmlformats.org/officeDocument/2006/relationships/notesSlide" Target="/ppt/notesSlides/notesSlide17.xml" Id="Rd0f7d2e6856c426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fa30998da14bde" /><Relationship Type="http://schemas.openxmlformats.org/officeDocument/2006/relationships/notesSlide" Target="/ppt/notesSlides/notesSlide18.xml" Id="R4b9477dc3bb34286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037ff54cf04741" /><Relationship Type="http://schemas.openxmlformats.org/officeDocument/2006/relationships/notesSlide" Target="/ppt/notesSlides/notesSlide19.xml" Id="R88fd30f87cdc46e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28ba3ba98d4007" /><Relationship Type="http://schemas.openxmlformats.org/officeDocument/2006/relationships/notesSlide" Target="/ppt/notesSlides/notesSlide20.xml" Id="R6e128578515e491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da190ad11846e2" /><Relationship Type="http://schemas.openxmlformats.org/officeDocument/2006/relationships/notesSlide" Target="/ppt/notesSlides/notesSlide21.xml" Id="R24aeb0e0bd664ae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274cccb4bc49aa" /><Relationship Type="http://schemas.openxmlformats.org/officeDocument/2006/relationships/notesSlide" Target="/ppt/notesSlides/notesSlide22.xml" Id="R0f0dece7c17544fe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78bb94b1194220" /><Relationship Type="http://schemas.openxmlformats.org/officeDocument/2006/relationships/notesSlide" Target="/ppt/notesSlides/notesSlide23.xml" Id="R29fc0a9746964eb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bbb174513c477c" /><Relationship Type="http://schemas.openxmlformats.org/officeDocument/2006/relationships/notesSlide" Target="/ppt/notesSlides/notesSlide24.xml" Id="Rd0911d7f98f54367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74946c084f476d" /><Relationship Type="http://schemas.openxmlformats.org/officeDocument/2006/relationships/notesSlide" Target="/ppt/notesSlides/notesSlide25.xml" Id="R7cdb949917e2444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63b3392867401d" /><Relationship Type="http://schemas.openxmlformats.org/officeDocument/2006/relationships/notesSlide" Target="/ppt/notesSlides/notesSlide26.xml" Id="Ra6639f032ead423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2ff176b9c34072" /><Relationship Type="http://schemas.openxmlformats.org/officeDocument/2006/relationships/notesSlide" Target="/ppt/notesSlides/notesSlide27.xml" Id="R0750bd598a7f4e84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744a6ae26e4e72" /><Relationship Type="http://schemas.openxmlformats.org/officeDocument/2006/relationships/notesSlide" Target="/ppt/notesSlides/notesSlide28.xml" Id="R3ab286f7b04749a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2406121c904986" /><Relationship Type="http://schemas.openxmlformats.org/officeDocument/2006/relationships/notesSlide" Target="/ppt/notesSlides/notesSlide29.xml" Id="R997454c6e67c40e7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36d48ecae24be9" /><Relationship Type="http://schemas.openxmlformats.org/officeDocument/2006/relationships/notesSlide" Target="/ppt/notesSlides/notesSlide30.xml" Id="Rfb859fc60a8f40e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c0ca60d3b8406e" /><Relationship Type="http://schemas.openxmlformats.org/officeDocument/2006/relationships/notesSlide" Target="/ppt/notesSlides/notesSlide31.xml" Id="R99f41916073f445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4773060237491b" /><Relationship Type="http://schemas.openxmlformats.org/officeDocument/2006/relationships/notesSlide" Target="/ppt/notesSlides/notesSlide32.xml" Id="Rf6ef89de7f1a41ba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f6947c2c314d03" /><Relationship Type="http://schemas.openxmlformats.org/officeDocument/2006/relationships/notesSlide" Target="/ppt/notesSlides/notesSlide33.xml" Id="R5656233620d44c25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4e2bc8ca9a41e6" /><Relationship Type="http://schemas.openxmlformats.org/officeDocument/2006/relationships/notesSlide" Target="/ppt/notesSlides/notesSlide34.xml" Id="R04164b42c8dc4f51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5e08d8ed514fb0" /><Relationship Type="http://schemas.openxmlformats.org/officeDocument/2006/relationships/notesSlide" Target="/ppt/notesSlides/notesSlide35.xml" Id="R29e3eb8369e6454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cefc3827ee4ae3" /><Relationship Type="http://schemas.openxmlformats.org/officeDocument/2006/relationships/notesSlide" Target="/ppt/notesSlides/notesSlide36.xml" Id="R4c8937b3cb3f4376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58afed337042bb" /><Relationship Type="http://schemas.openxmlformats.org/officeDocument/2006/relationships/notesSlide" Target="/ppt/notesSlides/notesSlide37.xml" Id="R1387ab624c0b4d9a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b900dd5a2a4766" /><Relationship Type="http://schemas.openxmlformats.org/officeDocument/2006/relationships/notesSlide" Target="/ppt/notesSlides/notesSlide38.xml" Id="Ra90b835d4f034be5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00f349f3334f57" /><Relationship Type="http://schemas.openxmlformats.org/officeDocument/2006/relationships/notesSlide" Target="/ppt/notesSlides/notesSlide39.xml" Id="Ree9671ed3124406c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c3787fc93d464b" /><Relationship Type="http://schemas.openxmlformats.org/officeDocument/2006/relationships/notesSlide" Target="/ppt/notesSlides/notesSlide40.xml" Id="R3a6024c423db4e76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95ee3707c04f94" /><Relationship Type="http://schemas.openxmlformats.org/officeDocument/2006/relationships/notesSlide" Target="/ppt/notesSlides/notesSlide41.xml" Id="R02746bc5fdb54bf9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f4fc0c871949ee" /><Relationship Type="http://schemas.openxmlformats.org/officeDocument/2006/relationships/notesSlide" Target="/ppt/notesSlides/notesSlide42.xml" Id="Rd8c2faf1569f474a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0dc61da58848db" /><Relationship Type="http://schemas.openxmlformats.org/officeDocument/2006/relationships/image" Target="/ppt/media/image2.png" Id="R8939bbdffb19471b" /><Relationship Type="http://schemas.openxmlformats.org/officeDocument/2006/relationships/notesSlide" Target="/ppt/notesSlides/notesSlide43.xml" Id="Rfde3eb546df048af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863a7c7d704d06" /><Relationship Type="http://schemas.openxmlformats.org/officeDocument/2006/relationships/notesSlide" Target="/ppt/notesSlides/notesSlide44.xml" Id="Rce1b431bb7694add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7a09de1f834b01" /><Relationship Type="http://schemas.openxmlformats.org/officeDocument/2006/relationships/notesSlide" Target="/ppt/notesSlides/notesSlide45.xml" Id="Re467045c8bb14575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2c2dabcdd641f8" /><Relationship Type="http://schemas.openxmlformats.org/officeDocument/2006/relationships/notesSlide" Target="/ppt/notesSlides/notesSlide46.xml" Id="Red983e4111bc4102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326b62a54e485f" /><Relationship Type="http://schemas.openxmlformats.org/officeDocument/2006/relationships/notesSlide" Target="/ppt/notesSlides/notesSlide47.xml" Id="Ref7ca7002dcc4474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7890da83b2406e" /><Relationship Type="http://schemas.openxmlformats.org/officeDocument/2006/relationships/notesSlide" Target="/ppt/notesSlides/notesSlide48.xml" Id="R64d202e3899c4e9f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e332da03f04a9c" /><Relationship Type="http://schemas.openxmlformats.org/officeDocument/2006/relationships/notesSlide" Target="/ppt/notesSlides/notesSlide49.xml" Id="R52163db0fffa4c47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678593b6d6422d" /><Relationship Type="http://schemas.openxmlformats.org/officeDocument/2006/relationships/notesSlide" Target="/ppt/notesSlides/notesSlide50.xml" Id="R0389e6ba3fd945f0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a7a0a744924c61" /><Relationship Type="http://schemas.openxmlformats.org/officeDocument/2006/relationships/notesSlide" Target="/ppt/notesSlides/notesSlide51.xml" Id="Rdc4a91fdc58d4603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19504025004469" /><Relationship Type="http://schemas.openxmlformats.org/officeDocument/2006/relationships/notesSlide" Target="/ppt/notesSlides/notesSlide52.xml" Id="R40d5747995f04339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4fe83f0dad4321" /><Relationship Type="http://schemas.openxmlformats.org/officeDocument/2006/relationships/notesSlide" Target="/ppt/notesSlides/notesSlide53.xml" Id="Ref892f529fa64fc7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445a15dcd245fd" /><Relationship Type="http://schemas.openxmlformats.org/officeDocument/2006/relationships/notesSlide" Target="/ppt/notesSlides/notesSlide54.xml" Id="Rb5cd064d02c7483e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26f2af5fdb4898" /><Relationship Type="http://schemas.openxmlformats.org/officeDocument/2006/relationships/notesSlide" Target="/ppt/notesSlides/notesSlide55.xml" Id="R65790d82b9e44d1f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309766f0ea4cb8" /><Relationship Type="http://schemas.openxmlformats.org/officeDocument/2006/relationships/notesSlide" Target="/ppt/notesSlides/notesSlide56.xml" Id="R30b4ff5156da4d8d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0a61679db04b11" /><Relationship Type="http://schemas.openxmlformats.org/officeDocument/2006/relationships/notesSlide" Target="/ppt/notesSlides/notesSlide57.xml" Id="Rd314bbe728d141b8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ee2bdd20d4450c" /><Relationship Type="http://schemas.openxmlformats.org/officeDocument/2006/relationships/notesSlide" Target="/ppt/notesSlides/notesSlide58.xml" Id="R143bd80607fd4b49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df7bceff6f4fbd" /><Relationship Type="http://schemas.openxmlformats.org/officeDocument/2006/relationships/notesSlide" Target="/ppt/notesSlides/notesSlide59.xml" Id="Rc168386db7ee44fe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15be24e3074eed" /><Relationship Type="http://schemas.openxmlformats.org/officeDocument/2006/relationships/notesSlide" Target="/ppt/notesSlides/notesSlide60.xml" Id="R47104ce2bacc4493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8ea62e22464d69" /><Relationship Type="http://schemas.openxmlformats.org/officeDocument/2006/relationships/notesSlide" Target="/ppt/notesSlides/notesSlide61.xml" Id="R910602a174924394" /></Relationships>
</file>

<file path=ppt/slides/_rels/slide6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47f40d68734af9" /><Relationship Type="http://schemas.openxmlformats.org/officeDocument/2006/relationships/notesSlide" Target="/ppt/notesSlides/notesSlide62.xml" Id="Rd2025f432574403a" /></Relationships>
</file>

<file path=ppt/slides/_rels/slide6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2ccad297b24811" /><Relationship Type="http://schemas.openxmlformats.org/officeDocument/2006/relationships/notesSlide" Target="/ppt/notesSlides/notesSlide63.xml" Id="Rddaaf850d3e34091" /></Relationships>
</file>

<file path=ppt/slides/_rels/slide6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688e23004749bb" /><Relationship Type="http://schemas.openxmlformats.org/officeDocument/2006/relationships/notesSlide" Target="/ppt/notesSlides/notesSlide64.xml" Id="R4ce5b48561184395" /></Relationships>
</file>

<file path=ppt/slides/_rels/slide6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14a30e510d417b" /><Relationship Type="http://schemas.openxmlformats.org/officeDocument/2006/relationships/notesSlide" Target="/ppt/notesSlides/notesSlide65.xml" Id="Re8c8658453784126" /></Relationships>
</file>

<file path=ppt/slides/_rels/slide6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3bdb6fd7324383" /><Relationship Type="http://schemas.openxmlformats.org/officeDocument/2006/relationships/notesSlide" Target="/ppt/notesSlides/notesSlide66.xml" Id="Ra29f26a9a9a54947" /></Relationships>
</file>

<file path=ppt/slides/_rels/slide6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24ba695a4e4616" /><Relationship Type="http://schemas.openxmlformats.org/officeDocument/2006/relationships/notesSlide" Target="/ppt/notesSlides/notesSlide67.xml" Id="R06b98fb7b4e04f8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14b8025c9040d0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WEEK 02">
            <a:extLst xmlns:a="http://schemas.openxmlformats.org/drawingml/2006/main">
              <a:ext uri="{FF2B5EF4-FFF2-40B4-BE49-F238E27FC236}">
                <a16:creationId xmlns:a16="http://schemas.microsoft.com/office/drawing/2014/main" id="{EFD110C7-5B13-431D-9A07-CBCBC1E9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2865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第2週</a:t>
            </a:r>
          </a:p>
        </p:txBody>
      </p:sp>
      <p:sp>
        <p:nvSpPr>
          <p:cNvPr id="3" name="Python 語法 完整複習">
            <a:extLst xmlns:a="http://schemas.openxmlformats.org/drawingml/2006/main">
              <a:ext uri="{FF2B5EF4-FFF2-40B4-BE49-F238E27FC236}">
                <a16:creationId xmlns:a16="http://schemas.microsoft.com/office/drawing/2014/main" id="{FD9A0E45-D6E9-4F1D-A8E5-F9C244373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76425"/>
            <a:ext cx="704850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4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540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Python 文法</a:t>
            </a:r>
          </a:p>
          <a:p xmlns:a="http://schemas.openxmlformats.org/drawingml/2006/main">
            <a:pPr algn="l">
              <a:buNone/>
              <a:defRPr sz="54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540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総復習</a:t>
            </a:r>
          </a:p>
        </p:txBody>
      </p:sp>
      <p:sp>
        <p:nvSpPr>
          <p:cNvPr id="4" name="物件導向程式設計">
            <a:extLst xmlns:a="http://schemas.openxmlformats.org/drawingml/2006/main">
              <a:ext uri="{FF2B5EF4-FFF2-40B4-BE49-F238E27FC236}">
                <a16:creationId xmlns:a16="http://schemas.microsoft.com/office/drawing/2014/main" id="{1D08CAC0-8258-4893-AD88-7A679E3F5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48175"/>
            <a:ext cx="6572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オブジェクト指向プログラミング</a:t>
            </a:r>
          </a:p>
        </p:txBody>
      </p:sp>
      <p:sp>
        <p:nvSpPr>
          <p:cNvPr id="5" name="國立雲林科技大學 電子工程系 115 學年度第 1 學期　何敏煌">
            <a:extLst xmlns:a="http://schemas.openxmlformats.org/drawingml/2006/main">
              <a:ext uri="{FF2B5EF4-FFF2-40B4-BE49-F238E27FC236}">
                <a16:creationId xmlns:a16="http://schemas.microsoft.com/office/drawing/2014/main" id="{570B8A0B-A16C-4BE8-A67D-4E70159E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524500"/>
            <a:ext cx="6667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BDC7C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BDC7CD"/>
                </a:solidFill>
                <a:latin typeface="Yu Gothic"/>
                <a:ea typeface="Yu Gothic"/>
                <a:cs typeface="Yu Gothic"/>
              </a:rPr>
              <a:t>国立雲林科技大学　電子工学科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BDC7C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BDC7CD"/>
                </a:solidFill>
                <a:latin typeface="Yu Gothic"/>
                <a:ea typeface="Yu Gothic"/>
                <a:cs typeface="Yu Gothic"/>
              </a:rPr>
              <a:t>115学年度　第1学期　何敏煌（Min-Huang Ho）</a:t>
            </a:r>
          </a:p>
        </p:txBody>
      </p:sp>
    </p:spTree>
    <p:extLst>
      <p:ext uri="{BB962C8B-B14F-4D97-AF65-F5344CB8AC3E}">
        <p14:creationId xmlns:p14="http://schemas.microsoft.com/office/powerpoint/2010/main" val="10680287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本週語法範圍">
            <a:extLst xmlns:a="http://schemas.openxmlformats.org/drawingml/2006/main">
              <a:ext uri="{FF2B5EF4-FFF2-40B4-BE49-F238E27FC236}">
                <a16:creationId xmlns:a16="http://schemas.microsoft.com/office/drawing/2014/main" id="{50BAEAE7-861C-49F1-822B-081768B8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今週の復習範囲</a:t>
            </a:r>
          </a:p>
        </p:txBody>
      </p:sp>
      <p:sp>
        <p:nvSpPr>
          <p:cNvPr id="2" name="02">
            <a:extLst xmlns:a="http://schemas.openxmlformats.org/drawingml/2006/main">
              <a:ext uri="{FF2B5EF4-FFF2-40B4-BE49-F238E27FC236}">
                <a16:creationId xmlns:a16="http://schemas.microsoft.com/office/drawing/2014/main" id="{4EFC4A20-5215-4279-B6A0-6B6D36316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3" name="基礎與文字">
            <a:extLst xmlns:a="http://schemas.openxmlformats.org/drawingml/2006/main">
              <a:ext uri="{FF2B5EF4-FFF2-40B4-BE49-F238E27FC236}">
                <a16:creationId xmlns:a16="http://schemas.microsoft.com/office/drawing/2014/main" id="{406374B9-0B18-48E1-9DD2-C898C88D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7145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基礎と文字列</a:t>
            </a:r>
          </a:p>
        </p:txBody>
      </p:sp>
      <p:sp>
        <p:nvSpPr>
          <p:cNvPr id="4" name="程式結構、型別、運算子、字串">
            <a:extLst xmlns:a="http://schemas.openxmlformats.org/drawingml/2006/main">
              <a:ext uri="{FF2B5EF4-FFF2-40B4-BE49-F238E27FC236}">
                <a16:creationId xmlns:a16="http://schemas.microsoft.com/office/drawing/2014/main" id="{97932DE5-7901-4E1F-A228-DA5D5420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1743075"/>
            <a:ext cx="785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プログラム構造、型、演算子、文字列</a:t>
            </a:r>
          </a:p>
        </p:txBody>
      </p:sp>
      <p:sp>
        <p:nvSpPr>
          <p:cNvPr id="5" name="流程與資料">
            <a:extLst xmlns:a="http://schemas.openxmlformats.org/drawingml/2006/main">
              <a:ext uri="{FF2B5EF4-FFF2-40B4-BE49-F238E27FC236}">
                <a16:creationId xmlns:a16="http://schemas.microsoft.com/office/drawing/2014/main" id="{5B0B7B6B-2F77-4EF5-981D-CDA3C3E3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50507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制御とデータ</a:t>
            </a:r>
          </a:p>
        </p:txBody>
      </p:sp>
      <p:sp>
        <p:nvSpPr>
          <p:cNvPr id="6" name="條件、迴圈、容器、推導式">
            <a:extLst xmlns:a="http://schemas.openxmlformats.org/drawingml/2006/main">
              <a:ext uri="{FF2B5EF4-FFF2-40B4-BE49-F238E27FC236}">
                <a16:creationId xmlns:a16="http://schemas.microsoft.com/office/drawing/2014/main" id="{58EA66F2-B5C2-4140-BFF6-349449E0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2533650"/>
            <a:ext cx="785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条件分岐、ループ、コンテナ、内包表記</a:t>
            </a:r>
          </a:p>
        </p:txBody>
      </p:sp>
      <p:sp>
        <p:nvSpPr>
          <p:cNvPr id="7" name="函式與組織">
            <a:extLst xmlns:a="http://schemas.openxmlformats.org/drawingml/2006/main">
              <a:ext uri="{FF2B5EF4-FFF2-40B4-BE49-F238E27FC236}">
                <a16:creationId xmlns:a16="http://schemas.microsoft.com/office/drawing/2014/main" id="{EB6DA0DF-0332-4BFD-93FC-D7386FD9E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2956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関数と構成</a:t>
            </a:r>
          </a:p>
        </p:txBody>
      </p:sp>
      <p:sp>
        <p:nvSpPr>
          <p:cNvPr id="8" name="參數、作用域、生成器、模組">
            <a:extLst xmlns:a="http://schemas.openxmlformats.org/drawingml/2006/main">
              <a:ext uri="{FF2B5EF4-FFF2-40B4-BE49-F238E27FC236}">
                <a16:creationId xmlns:a16="http://schemas.microsoft.com/office/drawing/2014/main" id="{42B2D027-9CDC-4CB0-A030-B9CCA7D17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324225"/>
            <a:ext cx="785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引数、スコープ、ジェネレータ、モジュール</a:t>
            </a:r>
          </a:p>
        </p:txBody>
      </p:sp>
      <p:sp>
        <p:nvSpPr>
          <p:cNvPr id="9" name="輸入輸出">
            <a:extLst xmlns:a="http://schemas.openxmlformats.org/drawingml/2006/main">
              <a:ext uri="{FF2B5EF4-FFF2-40B4-BE49-F238E27FC236}">
                <a16:creationId xmlns:a16="http://schemas.microsoft.com/office/drawing/2014/main" id="{92AD70A0-03F1-4076-8168-039142141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086225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入出力</a:t>
            </a:r>
          </a:p>
        </p:txBody>
      </p:sp>
      <p:sp>
        <p:nvSpPr>
          <p:cNvPr id="10" name="路徑、檔案、CSV、JSON、例外">
            <a:extLst xmlns:a="http://schemas.openxmlformats.org/drawingml/2006/main">
              <a:ext uri="{FF2B5EF4-FFF2-40B4-BE49-F238E27FC236}">
                <a16:creationId xmlns:a16="http://schemas.microsoft.com/office/drawing/2014/main" id="{6F20B36C-AACF-4718-8FB5-1C244A6A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114800"/>
            <a:ext cx="785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パス、ファイル、CSV、JSON、例外</a:t>
            </a:r>
          </a:p>
        </p:txBody>
      </p:sp>
      <p:sp>
        <p:nvSpPr>
          <p:cNvPr id="11" name="物件與進階">
            <a:extLst xmlns:a="http://schemas.openxmlformats.org/drawingml/2006/main">
              <a:ext uri="{FF2B5EF4-FFF2-40B4-BE49-F238E27FC236}">
                <a16:creationId xmlns:a16="http://schemas.microsoft.com/office/drawing/2014/main" id="{8873D13A-5FD8-456A-910D-4C01D1FB6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87680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オブジェクトと応用</a:t>
            </a:r>
          </a:p>
        </p:txBody>
      </p:sp>
      <p:sp>
        <p:nvSpPr>
          <p:cNvPr id="12" name="類別、型別提示、非同步語法">
            <a:extLst xmlns:a="http://schemas.openxmlformats.org/drawingml/2006/main">
              <a:ext uri="{FF2B5EF4-FFF2-40B4-BE49-F238E27FC236}">
                <a16:creationId xmlns:a16="http://schemas.microsoft.com/office/drawing/2014/main" id="{467D3914-F884-484F-91F7-C3A13AA04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4905375"/>
            <a:ext cx="7858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950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クラス、型ヒント、非同期処理の文法</a:t>
            </a:r>
          </a:p>
        </p:txBody>
      </p:sp>
      <p:sp>
        <p:nvSpPr>
          <p:cNvPr id="13" name="範例採 Python 3.12+ 語法。每段程式獨立閱讀，特殊環境另行註明。">
            <a:extLst xmlns:a="http://schemas.openxmlformats.org/drawingml/2006/main">
              <a:ext uri="{FF2B5EF4-FFF2-40B4-BE49-F238E27FC236}">
                <a16:creationId xmlns:a16="http://schemas.microsoft.com/office/drawing/2014/main" id="{D3900457-EB94-4969-8239-8039EFCBD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991225"/>
            <a:ext cx="10763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B6D73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5B6D73"/>
                </a:solidFill>
                <a:latin typeface="Yu Gothic"/>
                <a:ea typeface="Yu Gothic"/>
                <a:cs typeface="Yu Gothic"/>
              </a:rPr>
              <a:t>例は Python 3.12+ を使用。各コードは独立した例です。特殊な実行環境は別途明記します。</a:t>
            </a:r>
          </a:p>
        </p:txBody>
      </p:sp>
    </p:spTree>
    <p:extLst>
      <p:ext uri="{BB962C8B-B14F-4D97-AF65-F5344CB8AC3E}">
        <p14:creationId xmlns:p14="http://schemas.microsoft.com/office/powerpoint/2010/main" val="5963762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縮排與程式區塊">
            <a:extLst xmlns:a="http://schemas.openxmlformats.org/drawingml/2006/main">
              <a:ext uri="{FF2B5EF4-FFF2-40B4-BE49-F238E27FC236}">
                <a16:creationId xmlns:a16="http://schemas.microsoft.com/office/drawing/2014/main" id="{13453933-E9AF-4EFE-AB4F-DEAFD50A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インデントとコードブロック</a:t>
            </a:r>
          </a:p>
        </p:txBody>
      </p:sp>
      <p:sp>
        <p:nvSpPr>
          <p:cNvPr id="2" name="基礎語法">
            <a:extLst xmlns:a="http://schemas.openxmlformats.org/drawingml/2006/main">
              <a:ext uri="{FF2B5EF4-FFF2-40B4-BE49-F238E27FC236}">
                <a16:creationId xmlns:a16="http://schemas.microsoft.com/office/drawing/2014/main" id="{22A539B9-891B-48D0-8308-208F80B56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基本文法</a:t>
            </a:r>
          </a:p>
        </p:txBody>
      </p:sp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083188B3-867F-4B14-BF49-71E2C839D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sp>
        <p:nvSpPr>
          <p:cNvPr id="4" name="score = 85">
            <a:extLst xmlns:a="http://schemas.openxmlformats.org/drawingml/2006/main">
              <a:ext uri="{FF2B5EF4-FFF2-40B4-BE49-F238E27FC236}">
                <a16:creationId xmlns:a16="http://schemas.microsoft.com/office/drawing/2014/main" id="{84CD09F0-DB04-4DD2-B376-0609E41BE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score = 85</a:t>
            </a:r>
          </a:p>
        </p:txBody>
      </p:sp>
      <p:sp>
        <p:nvSpPr>
          <p:cNvPr id="5" name="if score &gt;= 60:">
            <a:extLst xmlns:a="http://schemas.openxmlformats.org/drawingml/2006/main">
              <a:ext uri="{FF2B5EF4-FFF2-40B4-BE49-F238E27FC236}">
                <a16:creationId xmlns:a16="http://schemas.microsoft.com/office/drawing/2014/main" id="{14DADD96-C00B-4095-B0F8-DD5D2602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if score &gt;= 60:</a:t>
            </a:r>
          </a:p>
        </p:txBody>
      </p:sp>
      <p:sp>
        <p:nvSpPr>
          <p:cNvPr id="6" name="    print(&quot;Pass&quot;)">
            <a:extLst xmlns:a="http://schemas.openxmlformats.org/drawingml/2006/main">
              <a:ext uri="{FF2B5EF4-FFF2-40B4-BE49-F238E27FC236}">
                <a16:creationId xmlns:a16="http://schemas.microsoft.com/office/drawing/2014/main" id="{F5FAD2F9-CF10-4543-AD39-2C8A0F6D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print("Pass")</a:t>
            </a:r>
          </a:p>
        </p:txBody>
      </p:sp>
      <p:sp>
        <p:nvSpPr>
          <p:cNvPr id="7" name="    print(&quot;Next course&quot;)">
            <a:extLst xmlns:a="http://schemas.openxmlformats.org/drawingml/2006/main">
              <a:ext uri="{FF2B5EF4-FFF2-40B4-BE49-F238E27FC236}">
                <a16:creationId xmlns:a16="http://schemas.microsoft.com/office/drawing/2014/main" id="{C65F91BE-97B4-4F19-BBEB-A42732E8B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print("Next course")</a:t>
            </a:r>
          </a:p>
        </p:txBody>
      </p:sp>
      <p:sp>
        <p:nvSpPr>
          <p:cNvPr id="8" name="print(&quot;Done&quot;)">
            <a:extLst xmlns:a="http://schemas.openxmlformats.org/drawingml/2006/main">
              <a:ext uri="{FF2B5EF4-FFF2-40B4-BE49-F238E27FC236}">
                <a16:creationId xmlns:a16="http://schemas.microsoft.com/office/drawing/2014/main" id="{2D4D6740-5721-4648-8FB3-2A9B3B614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print("Done")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F393AD-8CF6-4C19-B8C0-5299FFD92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total = (">
            <a:extLst xmlns:a="http://schemas.openxmlformats.org/drawingml/2006/main">
              <a:ext uri="{FF2B5EF4-FFF2-40B4-BE49-F238E27FC236}">
                <a16:creationId xmlns:a16="http://schemas.microsoft.com/office/drawing/2014/main" id="{AFF66B81-B3E5-41D2-A523-9334E0A59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total = (</a:t>
            </a:r>
          </a:p>
        </p:txBody>
      </p:sp>
      <p:sp>
        <p:nvSpPr>
          <p:cNvPr id="11" name="    10 + 20">
            <a:extLst xmlns:a="http://schemas.openxmlformats.org/drawingml/2006/main">
              <a:ext uri="{FF2B5EF4-FFF2-40B4-BE49-F238E27FC236}">
                <a16:creationId xmlns:a16="http://schemas.microsoft.com/office/drawing/2014/main" id="{A4AD3A20-2191-41BF-9BB0-5765F547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10 + 20</a:t>
            </a:r>
          </a:p>
        </p:txBody>
      </p:sp>
      <p:sp>
        <p:nvSpPr>
          <p:cNvPr id="12" name="    + 30">
            <a:extLst xmlns:a="http://schemas.openxmlformats.org/drawingml/2006/main">
              <a:ext uri="{FF2B5EF4-FFF2-40B4-BE49-F238E27FC236}">
                <a16:creationId xmlns:a16="http://schemas.microsoft.com/office/drawing/2014/main" id="{1CE9F959-B796-4809-B4C6-5282F661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+ 30</a:t>
            </a:r>
          </a:p>
        </p:txBody>
      </p:sp>
      <p:sp>
        <p:nvSpPr>
          <p:cNvPr id="13" name=")">
            <a:extLst xmlns:a="http://schemas.openxmlformats.org/drawingml/2006/main">
              <a:ext uri="{FF2B5EF4-FFF2-40B4-BE49-F238E27FC236}">
                <a16:creationId xmlns:a16="http://schemas.microsoft.com/office/drawing/2014/main" id="{20191340-28AE-4106-953C-07F6705E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)</a:t>
            </a:r>
          </a:p>
        </p:txBody>
      </p:sp>
      <p:sp>
        <p:nvSpPr>
          <p:cNvPr id="14" name="print(total)">
            <a:extLst xmlns:a="http://schemas.openxmlformats.org/drawingml/2006/main">
              <a:ext uri="{FF2B5EF4-FFF2-40B4-BE49-F238E27FC236}">
                <a16:creationId xmlns:a16="http://schemas.microsoft.com/office/drawing/2014/main" id="{A8B6A356-0AEB-47BA-9682-EF065A5E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print(total)</a:t>
            </a:r>
          </a:p>
        </p:txBody>
      </p:sp>
      <p:sp>
        <p:nvSpPr>
          <p:cNvPr id="15" name="縮排具有語法意義">
            <a:extLst xmlns:a="http://schemas.openxmlformats.org/drawingml/2006/main">
              <a:ext uri="{FF2B5EF4-FFF2-40B4-BE49-F238E27FC236}">
                <a16:creationId xmlns:a16="http://schemas.microsoft.com/office/drawing/2014/main" id="{4EDA400F-C78F-419C-979D-0108AD0D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インデントの文法上の意味</a:t>
            </a:r>
          </a:p>
        </p:txBody>
      </p:sp>
      <p:sp>
        <p:nvSpPr>
          <p:cNvPr id="16" name="同一區塊保持一致縮排。 慣例使用四個空白。">
            <a:extLst xmlns:a="http://schemas.openxmlformats.org/drawingml/2006/main">
              <a:ext uri="{FF2B5EF4-FFF2-40B4-BE49-F238E27FC236}">
                <a16:creationId xmlns:a16="http://schemas.microsoft.com/office/drawing/2014/main" id="{24271E90-1CB6-4EC2-8B51-993FD4C0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同じブロックでは字下げを統一。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慣例として半角空白を4つ使う。</a:t>
            </a:r>
          </a:p>
        </p:txBody>
      </p:sp>
      <p:sp>
        <p:nvSpPr>
          <p:cNvPr id="17" name="括號內可以換行">
            <a:extLst xmlns:a="http://schemas.openxmlformats.org/drawingml/2006/main">
              <a:ext uri="{FF2B5EF4-FFF2-40B4-BE49-F238E27FC236}">
                <a16:creationId xmlns:a16="http://schemas.microsoft.com/office/drawing/2014/main" id="{91A5F980-B71C-4EB9-BD86-A9ED47B3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括弧の中では改行できる</a:t>
            </a:r>
          </a:p>
        </p:txBody>
      </p:sp>
      <p:sp>
        <p:nvSpPr>
          <p:cNvPr id="18" name="註解以 # 開始。 pass 是不執行工作的佔位敘述。">
            <a:extLst xmlns:a="http://schemas.openxmlformats.org/drawingml/2006/main">
              <a:ext uri="{FF2B5EF4-FFF2-40B4-BE49-F238E27FC236}">
                <a16:creationId xmlns:a16="http://schemas.microsoft.com/office/drawing/2014/main" id="{CBBAFB08-31AF-48F1-845F-C6740FBF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コメントは # で始める。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pass は何も実行しない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プレースホルダー文。</a:t>
            </a:r>
          </a:p>
        </p:txBody>
      </p:sp>
      <p:sp>
        <p:nvSpPr>
          <p:cNvPr id="19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974449E5-CDD9-4AB4-8D61-AFEAC7A3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20" name="Pass    Next course    Done    60">
            <a:extLst xmlns:a="http://schemas.openxmlformats.org/drawingml/2006/main">
              <a:ext uri="{FF2B5EF4-FFF2-40B4-BE49-F238E27FC236}">
                <a16:creationId xmlns:a16="http://schemas.microsoft.com/office/drawing/2014/main" id="{85899F3D-7E7A-4C91-9202-199ED78A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Pass    Next course    Done    60</a:t>
            </a:r>
          </a:p>
        </p:txBody>
      </p:sp>
    </p:spTree>
    <p:extLst>
      <p:ext uri="{BB962C8B-B14F-4D97-AF65-F5344CB8AC3E}">
        <p14:creationId xmlns:p14="http://schemas.microsoft.com/office/powerpoint/2010/main" val="45549159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命名、關鍵字與基本輸入輸出">
            <a:extLst xmlns:a="http://schemas.openxmlformats.org/drawingml/2006/main">
              <a:ext uri="{FF2B5EF4-FFF2-40B4-BE49-F238E27FC236}">
                <a16:creationId xmlns:a16="http://schemas.microsoft.com/office/drawing/2014/main" id="{AA98F750-C1CF-4D9B-9E4B-3E244AC5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名前、キーワードと基本的な入出力</a:t>
            </a:r>
          </a:p>
        </p:txBody>
      </p:sp>
      <p:sp>
        <p:nvSpPr>
          <p:cNvPr id="2" name="基礎語法">
            <a:extLst xmlns:a="http://schemas.openxmlformats.org/drawingml/2006/main">
              <a:ext uri="{FF2B5EF4-FFF2-40B4-BE49-F238E27FC236}">
                <a16:creationId xmlns:a16="http://schemas.microsoft.com/office/drawing/2014/main" id="{B8904AAE-4F46-4CAF-B620-46E498C5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基本文法</a:t>
            </a:r>
          </a:p>
        </p:txBody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1945A3FD-54F1-4380-978F-6FF9D643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00250"/>
                <a:gridCol w="4667250"/>
                <a:gridCol w="4305300"/>
              </a:tblGrid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項目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文法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説明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名前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student_name、MAX_SIZE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大文字と小文字を区別。</a:t>
                      </a:r>
                    </a:p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数字で始めることはできない。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予約語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if、for、def、class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通常の変数名には使えない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空の文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pass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文が必要な位置を埋める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入力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raw = input("Name: ")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str を返す。数値には明示的に変換。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出力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print("A", "B", sep=",")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sep は区切り、end は末尾を指定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  <p:sp>
        <p:nvSpPr>
          <p:cNvPr id="5" name="名稱可使用 Unicode。函式與變數慣用 snake_case，類別慣用 PascalCase。">
            <a:extLst xmlns:a="http://schemas.openxmlformats.org/drawingml/2006/main">
              <a:ext uri="{FF2B5EF4-FFF2-40B4-BE49-F238E27FC236}">
                <a16:creationId xmlns:a16="http://schemas.microsoft.com/office/drawing/2014/main" id="{6204CD69-F56A-496D-9A9E-3C9A7A277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29325"/>
            <a:ext cx="10706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D73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B6D73"/>
                </a:solidFill>
                <a:latin typeface="Yu Gothic"/>
                <a:ea typeface="Yu Gothic"/>
                <a:cs typeface="Yu Gothic"/>
              </a:rPr>
              <a:t>Unicode の名前も使用可能。関数と変数は snake_case、クラスは PascalCase が慣例。</a:t>
            </a:r>
          </a:p>
        </p:txBody>
      </p:sp>
    </p:spTree>
    <p:extLst>
      <p:ext uri="{BB962C8B-B14F-4D97-AF65-F5344CB8AC3E}">
        <p14:creationId xmlns:p14="http://schemas.microsoft.com/office/powerpoint/2010/main" val="24280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名稱、值與基本型別">
            <a:extLst xmlns:a="http://schemas.openxmlformats.org/drawingml/2006/main">
              <a:ext uri="{FF2B5EF4-FFF2-40B4-BE49-F238E27FC236}">
                <a16:creationId xmlns:a16="http://schemas.microsoft.com/office/drawing/2014/main" id="{597E8B57-A554-48F6-B7A6-424925C4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名前、値と基本型</a:t>
            </a:r>
          </a:p>
        </p:txBody>
      </p:sp>
      <p:sp>
        <p:nvSpPr>
          <p:cNvPr id="2" name="基礎語法">
            <a:extLst xmlns:a="http://schemas.openxmlformats.org/drawingml/2006/main">
              <a:ext uri="{FF2B5EF4-FFF2-40B4-BE49-F238E27FC236}">
                <a16:creationId xmlns:a16="http://schemas.microsoft.com/office/drawing/2014/main" id="{7A5EEB78-BA46-42E0-A3A9-FED7246A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基本文法</a:t>
            </a:r>
          </a:p>
        </p:txBody>
      </p:sp>
      <p:sp>
        <p:nvSpPr>
          <p:cNvPr id="3" name="05">
            <a:extLst xmlns:a="http://schemas.openxmlformats.org/drawingml/2006/main">
              <a:ext uri="{FF2B5EF4-FFF2-40B4-BE49-F238E27FC236}">
                <a16:creationId xmlns:a16="http://schemas.microsoft.com/office/drawing/2014/main" id="{3ADD9C10-294E-468D-8603-FF3CB7BF6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286000"/>
                <a:gridCol w="3476625"/>
                <a:gridCol w="5210175"/>
              </a:tblGrid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型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例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意味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int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42、0b1010、0xFF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整数。精度は利用可能なメモリに制約される。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float / complex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3.14、2 + 3j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浮動小数点数／複素数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bool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True、False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真偽値。bool は int のサブクラス。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str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"Python"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変更不可の Unicode テキスト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NoneType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None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値がないことを表す単一のオブジェクト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  <p:sp>
        <p:nvSpPr>
          <p:cNvPr id="5" name="名稱可重新繫結到不同型別。type(x) 觀察型別，isinstance(x, T) 考量繼承。">
            <a:extLst xmlns:a="http://schemas.openxmlformats.org/drawingml/2006/main">
              <a:ext uri="{FF2B5EF4-FFF2-40B4-BE49-F238E27FC236}">
                <a16:creationId xmlns:a16="http://schemas.microsoft.com/office/drawing/2014/main" id="{D982830D-646E-4058-A4CF-8FD3E7F69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29325"/>
            <a:ext cx="10706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D73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B6D73"/>
                </a:solidFill>
                <a:latin typeface="Yu Gothic"/>
                <a:ea typeface="Yu Gothic"/>
                <a:cs typeface="Yu Gothic"/>
              </a:rPr>
              <a:t>名前は別の型にも再束縛できる。type(x) は型を示し、isinstance(x, T) は継承も考慮する。</a:t>
            </a:r>
          </a:p>
        </p:txBody>
      </p:sp>
    </p:spTree>
    <p:extLst>
      <p:ext uri="{BB962C8B-B14F-4D97-AF65-F5344CB8AC3E}">
        <p14:creationId xmlns:p14="http://schemas.microsoft.com/office/powerpoint/2010/main" val="12298943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數值運算與明確轉型">
            <a:extLst xmlns:a="http://schemas.openxmlformats.org/drawingml/2006/main">
              <a:ext uri="{FF2B5EF4-FFF2-40B4-BE49-F238E27FC236}">
                <a16:creationId xmlns:a16="http://schemas.microsoft.com/office/drawing/2014/main" id="{F059950F-917E-419C-9771-BD3564DF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数値演算と明示的な型変換</a:t>
            </a:r>
          </a:p>
        </p:txBody>
      </p:sp>
      <p:sp>
        <p:nvSpPr>
          <p:cNvPr id="2" name="基礎語法">
            <a:extLst xmlns:a="http://schemas.openxmlformats.org/drawingml/2006/main">
              <a:ext uri="{FF2B5EF4-FFF2-40B4-BE49-F238E27FC236}">
                <a16:creationId xmlns:a16="http://schemas.microsoft.com/office/drawing/2014/main" id="{39F1524F-FBE5-46F3-9C7D-9AA20805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基本文法</a:t>
            </a:r>
          </a:p>
        </p:txBody>
      </p:sp>
      <p:sp>
        <p:nvSpPr>
          <p:cNvPr id="3" name="06">
            <a:extLst xmlns:a="http://schemas.openxmlformats.org/drawingml/2006/main">
              <a:ext uri="{FF2B5EF4-FFF2-40B4-BE49-F238E27FC236}">
                <a16:creationId xmlns:a16="http://schemas.microsoft.com/office/drawing/2014/main" id="{DDE35134-638F-42EF-8EF2-9BE18749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06</a:t>
            </a:r>
          </a:p>
        </p:txBody>
      </p:sp>
      <p:sp>
        <p:nvSpPr>
          <p:cNvPr id="4" name="print(7 / 2, 7 // 2)">
            <a:extLst xmlns:a="http://schemas.openxmlformats.org/drawingml/2006/main">
              <a:ext uri="{FF2B5EF4-FFF2-40B4-BE49-F238E27FC236}">
                <a16:creationId xmlns:a16="http://schemas.microsoft.com/office/drawing/2014/main" id="{E692A68E-AE25-4BCC-89C8-E607F5916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print(7 / 2, 7 // 2)</a:t>
            </a:r>
          </a:p>
        </p:txBody>
      </p:sp>
      <p:sp>
        <p:nvSpPr>
          <p:cNvPr id="5" name="print(-7 // 2, -7 % 2)">
            <a:extLst xmlns:a="http://schemas.openxmlformats.org/drawingml/2006/main">
              <a:ext uri="{FF2B5EF4-FFF2-40B4-BE49-F238E27FC236}">
                <a16:creationId xmlns:a16="http://schemas.microsoft.com/office/drawing/2014/main" id="{159EDAB9-8D2A-4F4B-B12C-936CDAAF2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print(-7 // 2, -7 % 2)</a:t>
            </a:r>
          </a:p>
        </p:txBody>
      </p:sp>
      <p:sp>
        <p:nvSpPr>
          <p:cNvPr id="6" name="print(2 ** 3)">
            <a:extLst xmlns:a="http://schemas.openxmlformats.org/drawingml/2006/main">
              <a:ext uri="{FF2B5EF4-FFF2-40B4-BE49-F238E27FC236}">
                <a16:creationId xmlns:a16="http://schemas.microsoft.com/office/drawing/2014/main" id="{FA8B2D3B-8E57-44C0-8FDE-1FB021FD9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print(2 ** 3)</a:t>
            </a:r>
          </a:p>
        </p:txBody>
      </p:sp>
      <p:sp>
        <p:nvSpPr>
          <p:cNvPr id="7" name="print(int(&quot;12&quot;) + 3)">
            <a:extLst xmlns:a="http://schemas.openxmlformats.org/drawingml/2006/main">
              <a:ext uri="{FF2B5EF4-FFF2-40B4-BE49-F238E27FC236}">
                <a16:creationId xmlns:a16="http://schemas.microsoft.com/office/drawing/2014/main" id="{9FFE97AC-0ED9-4138-9CF7-AA5AED567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print(int("12") + 3)</a:t>
            </a:r>
          </a:p>
        </p:txBody>
      </p:sp>
      <p:sp>
        <p:nvSpPr>
          <p:cNvPr id="8" name="print(int(3.9))">
            <a:extLst xmlns:a="http://schemas.openxmlformats.org/drawingml/2006/main">
              <a:ext uri="{FF2B5EF4-FFF2-40B4-BE49-F238E27FC236}">
                <a16:creationId xmlns:a16="http://schemas.microsoft.com/office/drawing/2014/main" id="{2ADB6302-3D29-45AE-8083-7846DD1B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print(int(3.9))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D2728F-9F22-4CC7-ADD8-B24AA560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from math import isclose">
            <a:extLst xmlns:a="http://schemas.openxmlformats.org/drawingml/2006/main">
              <a:ext uri="{FF2B5EF4-FFF2-40B4-BE49-F238E27FC236}">
                <a16:creationId xmlns:a16="http://schemas.microsoft.com/office/drawing/2014/main" id="{774CFCA0-CE47-4FD6-B1E3-8F23DB006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math import isclose</a:t>
            </a:r>
          </a:p>
        </p:txBody>
      </p:sp>
      <p:sp>
        <p:nvSpPr>
          <p:cNvPr id="11" name="print(0.1 + 0.2 == 0.3)">
            <a:extLst xmlns:a="http://schemas.openxmlformats.org/drawingml/2006/main">
              <a:ext uri="{FF2B5EF4-FFF2-40B4-BE49-F238E27FC236}">
                <a16:creationId xmlns:a16="http://schemas.microsoft.com/office/drawing/2014/main" id="{998EF373-464C-4AC9-8CB8-FAB806A2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print(0.1 + 0.2 == 0.3)</a:t>
            </a:r>
          </a:p>
        </p:txBody>
      </p:sp>
      <p:sp>
        <p:nvSpPr>
          <p:cNvPr id="12" name="print(isclose(0.1 + 0.2, 0.3))">
            <a:extLst xmlns:a="http://schemas.openxmlformats.org/drawingml/2006/main">
              <a:ext uri="{FF2B5EF4-FFF2-40B4-BE49-F238E27FC236}">
                <a16:creationId xmlns:a16="http://schemas.microsoft.com/office/drawing/2014/main" id="{C6005101-283C-4617-9FC0-2C32ABFA4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print(isclose(0.1 + 0.2, 0.3))</a:t>
            </a:r>
          </a:p>
        </p:txBody>
      </p:sp>
      <p:sp>
        <p:nvSpPr>
          <p:cNvPr id="13" name="除法的差異">
            <a:extLst xmlns:a="http://schemas.openxmlformats.org/drawingml/2006/main">
              <a:ext uri="{FF2B5EF4-FFF2-40B4-BE49-F238E27FC236}">
                <a16:creationId xmlns:a16="http://schemas.microsoft.com/office/drawing/2014/main" id="{21BE6887-0710-4E06-810A-13243914A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除算の違い</a:t>
            </a:r>
          </a:p>
        </p:txBody>
      </p:sp>
      <p:sp>
        <p:nvSpPr>
          <p:cNvPr id="14" name="整數 / 整數得到 float。 // 向負無限方向取整。">
            <a:extLst xmlns:a="http://schemas.openxmlformats.org/drawingml/2006/main">
              <a:ext uri="{FF2B5EF4-FFF2-40B4-BE49-F238E27FC236}">
                <a16:creationId xmlns:a16="http://schemas.microsoft.com/office/drawing/2014/main" id="{0B32C0EA-5566-4B1A-888A-EC47A4E0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整数 / 整数は float になる。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// は負の無限大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方向へ切り下げる。</a:t>
            </a:r>
          </a:p>
        </p:txBody>
      </p:sp>
      <p:sp>
        <p:nvSpPr>
          <p:cNvPr id="15" name="浮點數是近似值">
            <a:extLst xmlns:a="http://schemas.openxmlformats.org/drawingml/2006/main">
              <a:ext uri="{FF2B5EF4-FFF2-40B4-BE49-F238E27FC236}">
                <a16:creationId xmlns:a16="http://schemas.microsoft.com/office/drawing/2014/main" id="{EC894A78-0E07-4DD9-AAC1-2AA17B750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浮動小数点数は近似値</a:t>
            </a:r>
          </a:p>
        </p:txBody>
      </p:sp>
      <p:sp>
        <p:nvSpPr>
          <p:cNvPr id="16" name="int(float) 向零截斷。 近似比較需選合適容許誤差。">
            <a:extLst xmlns:a="http://schemas.openxmlformats.org/drawingml/2006/main">
              <a:ext uri="{FF2B5EF4-FFF2-40B4-BE49-F238E27FC236}">
                <a16:creationId xmlns:a16="http://schemas.microsoft.com/office/drawing/2014/main" id="{4714326D-6911-4BDB-9A33-787B888EF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int(float) はゼロ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方向へ切り捨てる。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近似比較には適切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な許容誤差を選ぶ。</a:t>
            </a:r>
          </a:p>
        </p:txBody>
      </p:sp>
      <p:sp>
        <p:nvSpPr>
          <p:cNvPr id="17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F38E994F-3FF8-47F0-8A08-404EECD6D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18" name="3.5 3    -4 1    8    15    3    False    True">
            <a:extLst xmlns:a="http://schemas.openxmlformats.org/drawingml/2006/main">
              <a:ext uri="{FF2B5EF4-FFF2-40B4-BE49-F238E27FC236}">
                <a16:creationId xmlns:a16="http://schemas.microsoft.com/office/drawing/2014/main" id="{098402D5-1C22-4049-8E80-9996E4D95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3.5 3    -4 1    8    15    3    False    True</a:t>
            </a:r>
          </a:p>
        </p:txBody>
      </p:sp>
    </p:spTree>
    <p:extLst>
      <p:ext uri="{BB962C8B-B14F-4D97-AF65-F5344CB8AC3E}">
        <p14:creationId xmlns:p14="http://schemas.microsoft.com/office/powerpoint/2010/main" val="135735121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運算子與優先順序">
            <a:extLst xmlns:a="http://schemas.openxmlformats.org/drawingml/2006/main">
              <a:ext uri="{FF2B5EF4-FFF2-40B4-BE49-F238E27FC236}">
                <a16:creationId xmlns:a16="http://schemas.microsoft.com/office/drawing/2014/main" id="{4203F1CC-7CC6-463F-8B7C-117363190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演算子と優先順位</a:t>
            </a:r>
          </a:p>
        </p:txBody>
      </p:sp>
      <p:sp>
        <p:nvSpPr>
          <p:cNvPr id="2" name="基礎語法">
            <a:extLst xmlns:a="http://schemas.openxmlformats.org/drawingml/2006/main">
              <a:ext uri="{FF2B5EF4-FFF2-40B4-BE49-F238E27FC236}">
                <a16:creationId xmlns:a16="http://schemas.microsoft.com/office/drawing/2014/main" id="{691EADF0-D4D5-4B69-AD08-00F821BD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基本文法</a:t>
            </a:r>
          </a:p>
        </p:txBody>
      </p:sp>
      <p:sp>
        <p:nvSpPr>
          <p:cNvPr id="3" name="07">
            <a:extLst xmlns:a="http://schemas.openxmlformats.org/drawingml/2006/main">
              <a:ext uri="{FF2B5EF4-FFF2-40B4-BE49-F238E27FC236}">
                <a16:creationId xmlns:a16="http://schemas.microsoft.com/office/drawing/2014/main" id="{DB69AF2C-8190-4F6F-97D0-B6AD94F9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07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33625"/>
                <a:gridCol w="4286250"/>
                <a:gridCol w="4352925"/>
              </a:tblGrid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分類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文法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例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算術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+  -  *  /  //  %  **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2 + 3 * 4 は 14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比較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==  !=  &lt;  &lt;=  &gt;  &gt;=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0 &lt;= score &lt;= 100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論理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not  and  or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ready and valid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ビット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&amp;  |  ^  ~  &lt;&lt;  &gt;&gt;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5 &amp; 3 は 1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所属／同一性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in  /  not in  /  is  /  is not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"a" in "cat"、x is None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  <p:sp>
        <p:nvSpPr>
          <p:cNvPr id="5" name="常見順序：算術先於比較，接著 not、and、or。複雜運算以括號明確分組。">
            <a:extLst xmlns:a="http://schemas.openxmlformats.org/drawingml/2006/main">
              <a:ext uri="{FF2B5EF4-FFF2-40B4-BE49-F238E27FC236}">
                <a16:creationId xmlns:a16="http://schemas.microsoft.com/office/drawing/2014/main" id="{073CBEE0-120F-4CBD-8F5A-0745DFC98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29325"/>
            <a:ext cx="10706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D73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B6D73"/>
                </a:solidFill>
                <a:latin typeface="Yu Gothic"/>
                <a:ea typeface="Yu Gothic"/>
                <a:cs typeface="Yu Gothic"/>
              </a:rPr>
              <a:t>基本的な順序は算術、比較、not、and、or。複雑な式は括弧でまとまりを明示する。</a:t>
            </a:r>
          </a:p>
        </p:txBody>
      </p:sp>
    </p:spTree>
    <p:extLst>
      <p:ext uri="{BB962C8B-B14F-4D97-AF65-F5344CB8AC3E}">
        <p14:creationId xmlns:p14="http://schemas.microsoft.com/office/powerpoint/2010/main" val="121921219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真值判斷與短路求值">
            <a:extLst xmlns:a="http://schemas.openxmlformats.org/drawingml/2006/main">
              <a:ext uri="{FF2B5EF4-FFF2-40B4-BE49-F238E27FC236}">
                <a16:creationId xmlns:a16="http://schemas.microsoft.com/office/drawing/2014/main" id="{D2903D96-2627-4694-B66C-BC08BFA5E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真偽値判定と短絡評価</a:t>
            </a:r>
          </a:p>
        </p:txBody>
      </p:sp>
      <p:sp>
        <p:nvSpPr>
          <p:cNvPr id="2" name="基礎語法">
            <a:extLst xmlns:a="http://schemas.openxmlformats.org/drawingml/2006/main">
              <a:ext uri="{FF2B5EF4-FFF2-40B4-BE49-F238E27FC236}">
                <a16:creationId xmlns:a16="http://schemas.microsoft.com/office/drawing/2014/main" id="{590265BB-7D0A-41D4-9402-960E24849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基本文法</a:t>
            </a:r>
          </a:p>
        </p:txBody>
      </p:sp>
      <p:sp>
        <p:nvSpPr>
          <p:cNvPr id="3" name="08">
            <a:extLst xmlns:a="http://schemas.openxmlformats.org/drawingml/2006/main">
              <a:ext uri="{FF2B5EF4-FFF2-40B4-BE49-F238E27FC236}">
                <a16:creationId xmlns:a16="http://schemas.microsoft.com/office/drawing/2014/main" id="{3F075078-BF3D-4D83-ADA5-17C33836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08</a:t>
            </a:r>
          </a:p>
        </p:txBody>
      </p:sp>
      <p:sp>
        <p:nvSpPr>
          <p:cNvPr id="4" name="print(bool(0), bool([]))">
            <a:extLst xmlns:a="http://schemas.openxmlformats.org/drawingml/2006/main">
              <a:ext uri="{FF2B5EF4-FFF2-40B4-BE49-F238E27FC236}">
                <a16:creationId xmlns:a16="http://schemas.microsoft.com/office/drawing/2014/main" id="{EC3D85AB-DB11-4D90-AC2A-B788CA1D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print(bool(0), bool([]))</a:t>
            </a:r>
          </a:p>
        </p:txBody>
      </p:sp>
      <p:sp>
        <p:nvSpPr>
          <p:cNvPr id="5" name="print(bool(&quot;False&quot;))">
            <a:extLst xmlns:a="http://schemas.openxmlformats.org/drawingml/2006/main">
              <a:ext uri="{FF2B5EF4-FFF2-40B4-BE49-F238E27FC236}">
                <a16:creationId xmlns:a16="http://schemas.microsoft.com/office/drawing/2014/main" id="{16B0A14E-714C-4902-AEDA-15525F21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print(bool("False"))</a:t>
            </a:r>
          </a:p>
        </p:txBody>
      </p:sp>
      <p:sp>
        <p:nvSpPr>
          <p:cNvPr id="6" name="print(&quot;&quot; or &quot;Guest&quot;)">
            <a:extLst xmlns:a="http://schemas.openxmlformats.org/drawingml/2006/main">
              <a:ext uri="{FF2B5EF4-FFF2-40B4-BE49-F238E27FC236}">
                <a16:creationId xmlns:a16="http://schemas.microsoft.com/office/drawing/2014/main" id="{7095D8D0-40A6-48C3-855F-7C03B86BC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print("" or "Guest")</a:t>
            </a:r>
          </a:p>
        </p:txBody>
      </p:sp>
      <p:sp>
        <p:nvSpPr>
          <p:cNvPr id="7" name="print(&quot;Amy&quot; and 7)">
            <a:extLst xmlns:a="http://schemas.openxmlformats.org/drawingml/2006/main">
              <a:ext uri="{FF2B5EF4-FFF2-40B4-BE49-F238E27FC236}">
                <a16:creationId xmlns:a16="http://schemas.microsoft.com/office/drawing/2014/main" id="{C17CA8D9-C606-4F23-8145-B941F0CC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print("Amy" and 7)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1981B3-A252-4A91-9533-4DD84B99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items = []">
            <a:extLst xmlns:a="http://schemas.openxmlformats.org/drawingml/2006/main">
              <a:ext uri="{FF2B5EF4-FFF2-40B4-BE49-F238E27FC236}">
                <a16:creationId xmlns:a16="http://schemas.microsoft.com/office/drawing/2014/main" id="{7D496ADE-6872-4EED-BD0A-AA73EC40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items = []</a:t>
            </a:r>
          </a:p>
        </p:txBody>
      </p:sp>
      <p:sp>
        <p:nvSpPr>
          <p:cNvPr id="10" name="print(bool(items) and items[0] &gt; 0)">
            <a:extLst xmlns:a="http://schemas.openxmlformats.org/drawingml/2006/main">
              <a:ext uri="{FF2B5EF4-FFF2-40B4-BE49-F238E27FC236}">
                <a16:creationId xmlns:a16="http://schemas.microsoft.com/office/drawing/2014/main" id="{AA8371FD-0963-4A3E-841B-595B7ADF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print(bool(items) and items[0] &gt; 0)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992376-EB02-467A-A50B-944AB3CB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value = 0">
            <a:extLst xmlns:a="http://schemas.openxmlformats.org/drawingml/2006/main">
              <a:ext uri="{FF2B5EF4-FFF2-40B4-BE49-F238E27FC236}">
                <a16:creationId xmlns:a16="http://schemas.microsoft.com/office/drawing/2014/main" id="{8597B388-F86C-4284-98AB-589871F60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value = 0</a:t>
            </a:r>
          </a:p>
        </p:txBody>
      </p:sp>
      <p:sp>
        <p:nvSpPr>
          <p:cNvPr id="13" name="print(value is None)">
            <a:extLst xmlns:a="http://schemas.openxmlformats.org/drawingml/2006/main">
              <a:ext uri="{FF2B5EF4-FFF2-40B4-BE49-F238E27FC236}">
                <a16:creationId xmlns:a16="http://schemas.microsoft.com/office/drawing/2014/main" id="{3B9AD9E1-17B2-489F-BE61-E749B659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print(value is None)</a:t>
            </a:r>
          </a:p>
        </p:txBody>
      </p:sp>
      <p:sp>
        <p:nvSpPr>
          <p:cNvPr id="14" name="常見假值">
            <a:extLst xmlns:a="http://schemas.openxmlformats.org/drawingml/2006/main">
              <a:ext uri="{FF2B5EF4-FFF2-40B4-BE49-F238E27FC236}">
                <a16:creationId xmlns:a16="http://schemas.microsoft.com/office/drawing/2014/main" id="{B9B88199-5899-415B-9B72-7B267D80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代表的な偽の値</a:t>
            </a:r>
          </a:p>
        </p:txBody>
      </p:sp>
      <p:sp>
        <p:nvSpPr>
          <p:cNvPr id="15" name="None、False、數值 0， 以及空字串與空容器。">
            <a:extLst xmlns:a="http://schemas.openxmlformats.org/drawingml/2006/main">
              <a:ext uri="{FF2B5EF4-FFF2-40B4-BE49-F238E27FC236}">
                <a16:creationId xmlns:a16="http://schemas.microsoft.com/office/drawing/2014/main" id="{75FB7B8A-46BC-42F7-8BDF-A037D8B4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None、False、数値の 0、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空文字列、空のコンテナ。</a:t>
            </a:r>
          </a:p>
        </p:txBody>
      </p:sp>
      <p:sp>
        <p:nvSpPr>
          <p:cNvPr id="16" name="and / or 回傳運算元">
            <a:extLst xmlns:a="http://schemas.openxmlformats.org/drawingml/2006/main">
              <a:ext uri="{FF2B5EF4-FFF2-40B4-BE49-F238E27FC236}">
                <a16:creationId xmlns:a16="http://schemas.microsoft.com/office/drawing/2014/main" id="{25CBA962-EFEF-4CA7-888D-36A764565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and / or はオペランドを返す</a:t>
            </a:r>
          </a:p>
        </p:txBody>
      </p:sp>
      <p:sp>
        <p:nvSpPr>
          <p:cNvPr id="17" name="結果可確定時，跳過右側。 數值 0 與 None 的語意不同。">
            <a:extLst xmlns:a="http://schemas.openxmlformats.org/drawingml/2006/main">
              <a:ext uri="{FF2B5EF4-FFF2-40B4-BE49-F238E27FC236}">
                <a16:creationId xmlns:a16="http://schemas.microsoft.com/office/drawing/2014/main" id="{7833264C-F3EF-49D7-8FEA-6E3F62DE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結果が決まると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右辺を評価しない。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数値の 0 と None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は意味が異なる。</a:t>
            </a:r>
          </a:p>
        </p:txBody>
      </p:sp>
      <p:sp>
        <p:nvSpPr>
          <p:cNvPr id="18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E018E29E-2BBD-46A1-A356-83FFA250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19" name="False False    True    Guest    7    False    False">
            <a:extLst xmlns:a="http://schemas.openxmlformats.org/drawingml/2006/main">
              <a:ext uri="{FF2B5EF4-FFF2-40B4-BE49-F238E27FC236}">
                <a16:creationId xmlns:a16="http://schemas.microsoft.com/office/drawing/2014/main" id="{030F2DE5-0F51-4EF8-AFF9-5FD868AC4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False False    True    Guest    7    False    False</a:t>
            </a:r>
          </a:p>
        </p:txBody>
      </p:sp>
    </p:spTree>
    <p:extLst>
      <p:ext uri="{BB962C8B-B14F-4D97-AF65-F5344CB8AC3E}">
        <p14:creationId xmlns:p14="http://schemas.microsoft.com/office/powerpoint/2010/main" val="2598088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值相等與物件身分">
            <a:extLst xmlns:a="http://schemas.openxmlformats.org/drawingml/2006/main">
              <a:ext uri="{FF2B5EF4-FFF2-40B4-BE49-F238E27FC236}">
                <a16:creationId xmlns:a16="http://schemas.microsoft.com/office/drawing/2014/main" id="{06EF67CF-B648-43BD-97B1-176F1719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値の等価性とオブジェクトの同一性</a:t>
            </a:r>
          </a:p>
        </p:txBody>
      </p:sp>
      <p:sp>
        <p:nvSpPr>
          <p:cNvPr id="2" name="基礎語法">
            <a:extLst xmlns:a="http://schemas.openxmlformats.org/drawingml/2006/main">
              <a:ext uri="{FF2B5EF4-FFF2-40B4-BE49-F238E27FC236}">
                <a16:creationId xmlns:a16="http://schemas.microsoft.com/office/drawing/2014/main" id="{FA79E111-27A3-416D-AE0B-CE5BADA7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基本文法</a:t>
            </a:r>
          </a:p>
        </p:txBody>
      </p:sp>
      <p:sp>
        <p:nvSpPr>
          <p:cNvPr id="3" name="09">
            <a:extLst xmlns:a="http://schemas.openxmlformats.org/drawingml/2006/main">
              <a:ext uri="{FF2B5EF4-FFF2-40B4-BE49-F238E27FC236}">
                <a16:creationId xmlns:a16="http://schemas.microsoft.com/office/drawing/2014/main" id="{102D69EF-619F-4124-9807-A328FAC44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09</a:t>
            </a:r>
          </a:p>
        </p:txBody>
      </p:sp>
      <p:sp>
        <p:nvSpPr>
          <p:cNvPr id="4" name="a = [1, 2]">
            <a:extLst xmlns:a="http://schemas.openxmlformats.org/drawingml/2006/main">
              <a:ext uri="{FF2B5EF4-FFF2-40B4-BE49-F238E27FC236}">
                <a16:creationId xmlns:a16="http://schemas.microsoft.com/office/drawing/2014/main" id="{57937342-2DBC-4A29-A4BF-5080E0B2D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a = [1, 2]</a:t>
            </a:r>
          </a:p>
        </p:txBody>
      </p:sp>
      <p:sp>
        <p:nvSpPr>
          <p:cNvPr id="5" name="b = [1, 2]">
            <a:extLst xmlns:a="http://schemas.openxmlformats.org/drawingml/2006/main">
              <a:ext uri="{FF2B5EF4-FFF2-40B4-BE49-F238E27FC236}">
                <a16:creationId xmlns:a16="http://schemas.microsoft.com/office/drawing/2014/main" id="{3936EEB0-6C93-4792-871E-3164E5D46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b = [1, 2]</a:t>
            </a:r>
          </a:p>
        </p:txBody>
      </p:sp>
      <p:sp>
        <p:nvSpPr>
          <p:cNvPr id="6" name="c = a">
            <a:extLst xmlns:a="http://schemas.openxmlformats.org/drawingml/2006/main">
              <a:ext uri="{FF2B5EF4-FFF2-40B4-BE49-F238E27FC236}">
                <a16:creationId xmlns:a16="http://schemas.microsoft.com/office/drawing/2014/main" id="{429C3EC8-698B-4E36-A3EA-1FAE7C734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c =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CEA4D4-EDD7-4FE6-95D9-60E9850E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print(a == b)">
            <a:extLst xmlns:a="http://schemas.openxmlformats.org/drawingml/2006/main">
              <a:ext uri="{FF2B5EF4-FFF2-40B4-BE49-F238E27FC236}">
                <a16:creationId xmlns:a16="http://schemas.microsoft.com/office/drawing/2014/main" id="{2938F211-E5E8-4C8A-9B52-DB203D300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print(a == b)</a:t>
            </a:r>
          </a:p>
        </p:txBody>
      </p:sp>
      <p:sp>
        <p:nvSpPr>
          <p:cNvPr id="9" name="print(a is b)">
            <a:extLst xmlns:a="http://schemas.openxmlformats.org/drawingml/2006/main">
              <a:ext uri="{FF2B5EF4-FFF2-40B4-BE49-F238E27FC236}">
                <a16:creationId xmlns:a16="http://schemas.microsoft.com/office/drawing/2014/main" id="{1F464BB8-794B-46AF-85AB-85CF67E13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print(a is b)</a:t>
            </a:r>
          </a:p>
        </p:txBody>
      </p:sp>
      <p:sp>
        <p:nvSpPr>
          <p:cNvPr id="10" name="print(a is c)">
            <a:extLst xmlns:a="http://schemas.openxmlformats.org/drawingml/2006/main">
              <a:ext uri="{FF2B5EF4-FFF2-40B4-BE49-F238E27FC236}">
                <a16:creationId xmlns:a16="http://schemas.microsoft.com/office/drawing/2014/main" id="{9EA62CC7-BDE0-44DA-96AC-5F42E8551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print(a is c)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4E8740-7131-4BCF-ACF5-20A38924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result = None">
            <a:extLst xmlns:a="http://schemas.openxmlformats.org/drawingml/2006/main">
              <a:ext uri="{FF2B5EF4-FFF2-40B4-BE49-F238E27FC236}">
                <a16:creationId xmlns:a16="http://schemas.microsoft.com/office/drawing/2014/main" id="{62CD4455-85AD-4DE5-93E7-F4357BA81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result = None</a:t>
            </a:r>
          </a:p>
        </p:txBody>
      </p:sp>
      <p:sp>
        <p:nvSpPr>
          <p:cNvPr id="13" name="print(result is None)">
            <a:extLst xmlns:a="http://schemas.openxmlformats.org/drawingml/2006/main">
              <a:ext uri="{FF2B5EF4-FFF2-40B4-BE49-F238E27FC236}">
                <a16:creationId xmlns:a16="http://schemas.microsoft.com/office/drawing/2014/main" id="{C2DB881D-B89C-4864-8C82-0E708BEC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print(result is None)</a:t>
            </a:r>
          </a:p>
        </p:txBody>
      </p:sp>
      <p:sp>
        <p:nvSpPr>
          <p:cNvPr id="14" name="== 比較值">
            <a:extLst xmlns:a="http://schemas.openxmlformats.org/drawingml/2006/main">
              <a:ext uri="{FF2B5EF4-FFF2-40B4-BE49-F238E27FC236}">
                <a16:creationId xmlns:a16="http://schemas.microsoft.com/office/drawing/2014/main" id="{9D8D8481-E755-4AB5-A0AA-58AAE526A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== は値を比較する</a:t>
            </a:r>
          </a:p>
        </p:txBody>
      </p:sp>
      <p:sp>
        <p:nvSpPr>
          <p:cNvPr id="15" name="兩個不同的 list 可以具有相等內容。">
            <a:extLst xmlns:a="http://schemas.openxmlformats.org/drawingml/2006/main">
              <a:ext uri="{FF2B5EF4-FFF2-40B4-BE49-F238E27FC236}">
                <a16:creationId xmlns:a16="http://schemas.microsoft.com/office/drawing/2014/main" id="{F881F1F9-7B19-4A16-80CF-87AD04D8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別々の list でも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内容が等しいことがある。</a:t>
            </a:r>
          </a:p>
        </p:txBody>
      </p:sp>
      <p:sp>
        <p:nvSpPr>
          <p:cNvPr id="16" name="is 比較身分">
            <a:extLst xmlns:a="http://schemas.openxmlformats.org/drawingml/2006/main">
              <a:ext uri="{FF2B5EF4-FFF2-40B4-BE49-F238E27FC236}">
                <a16:creationId xmlns:a16="http://schemas.microsoft.com/office/drawing/2014/main" id="{104445D3-6337-4533-A52D-76FB4A28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is は同一性を比較する</a:t>
            </a:r>
          </a:p>
        </p:txBody>
      </p:sp>
      <p:sp>
        <p:nvSpPr>
          <p:cNvPr id="17" name="c 與 a 參照同一物件。 None 常用 is 判斷。">
            <a:extLst xmlns:a="http://schemas.openxmlformats.org/drawingml/2006/main">
              <a:ext uri="{FF2B5EF4-FFF2-40B4-BE49-F238E27FC236}">
                <a16:creationId xmlns:a16="http://schemas.microsoft.com/office/drawing/2014/main" id="{F663F714-0566-44E5-88B6-1B87ABC5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c と a は同じ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オブジェクトを参照。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None の判定には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通常 is を使う。</a:t>
            </a:r>
          </a:p>
        </p:txBody>
      </p:sp>
      <p:sp>
        <p:nvSpPr>
          <p:cNvPr id="18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2B70A984-708D-47E0-9EB4-F854ED7B2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19" name="True    False    True    True">
            <a:extLst xmlns:a="http://schemas.openxmlformats.org/drawingml/2006/main">
              <a:ext uri="{FF2B5EF4-FFF2-40B4-BE49-F238E27FC236}">
                <a16:creationId xmlns:a16="http://schemas.microsoft.com/office/drawing/2014/main" id="{2C1281DA-C29C-4F80-8722-AD8EED6A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True    False    True    True</a:t>
            </a:r>
          </a:p>
        </p:txBody>
      </p:sp>
    </p:spTree>
    <p:extLst>
      <p:ext uri="{BB962C8B-B14F-4D97-AF65-F5344CB8AC3E}">
        <p14:creationId xmlns:p14="http://schemas.microsoft.com/office/powerpoint/2010/main" val="59696352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指定、條件運算式與 :=">
            <a:extLst xmlns:a="http://schemas.openxmlformats.org/drawingml/2006/main">
              <a:ext uri="{FF2B5EF4-FFF2-40B4-BE49-F238E27FC236}">
                <a16:creationId xmlns:a16="http://schemas.microsoft.com/office/drawing/2014/main" id="{0EC385FA-6969-4A51-A94D-C75CDE3D8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代入、条件式と :=</a:t>
            </a:r>
          </a:p>
        </p:txBody>
      </p:sp>
      <p:sp>
        <p:nvSpPr>
          <p:cNvPr id="2" name="基礎語法">
            <a:extLst xmlns:a="http://schemas.openxmlformats.org/drawingml/2006/main">
              <a:ext uri="{FF2B5EF4-FFF2-40B4-BE49-F238E27FC236}">
                <a16:creationId xmlns:a16="http://schemas.microsoft.com/office/drawing/2014/main" id="{48C3ACFD-8753-4354-89BC-3AD3D7A8C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基本文法</a:t>
            </a:r>
          </a:p>
        </p:txBody>
      </p:sp>
      <p:sp>
        <p:nvSpPr>
          <p:cNvPr id="3" name="10">
            <a:extLst xmlns:a="http://schemas.openxmlformats.org/drawingml/2006/main">
              <a:ext uri="{FF2B5EF4-FFF2-40B4-BE49-F238E27FC236}">
                <a16:creationId xmlns:a16="http://schemas.microsoft.com/office/drawing/2014/main" id="{4A4751A7-D6F4-417A-AA42-55F48C84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</a:p>
        </p:txBody>
      </p:sp>
      <p:sp>
        <p:nvSpPr>
          <p:cNvPr id="4" name="x, y = 10, 20">
            <a:extLst xmlns:a="http://schemas.openxmlformats.org/drawingml/2006/main">
              <a:ext uri="{FF2B5EF4-FFF2-40B4-BE49-F238E27FC236}">
                <a16:creationId xmlns:a16="http://schemas.microsoft.com/office/drawing/2014/main" id="{9A898A28-A075-4463-87E5-27AF71C9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x, y = 10, 20</a:t>
            </a:r>
          </a:p>
        </p:txBody>
      </p:sp>
      <p:sp>
        <p:nvSpPr>
          <p:cNvPr id="5" name="x, y = y, x">
            <a:extLst xmlns:a="http://schemas.openxmlformats.org/drawingml/2006/main">
              <a:ext uri="{FF2B5EF4-FFF2-40B4-BE49-F238E27FC236}">
                <a16:creationId xmlns:a16="http://schemas.microsoft.com/office/drawing/2014/main" id="{6345A8BA-74BF-434B-8589-B387ABBBE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x, y = y, x</a:t>
            </a:r>
          </a:p>
        </p:txBody>
      </p:sp>
      <p:sp>
        <p:nvSpPr>
          <p:cNvPr id="6" name="x += 5">
            <a:extLst xmlns:a="http://schemas.openxmlformats.org/drawingml/2006/main">
              <a:ext uri="{FF2B5EF4-FFF2-40B4-BE49-F238E27FC236}">
                <a16:creationId xmlns:a16="http://schemas.microsoft.com/office/drawing/2014/main" id="{2C252F4C-C60B-4C90-B262-BA388EDFD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x += 5</a:t>
            </a:r>
          </a:p>
        </p:txBody>
      </p:sp>
      <p:sp>
        <p:nvSpPr>
          <p:cNvPr id="7" name="print(x, y)">
            <a:extLst xmlns:a="http://schemas.openxmlformats.org/drawingml/2006/main">
              <a:ext uri="{FF2B5EF4-FFF2-40B4-BE49-F238E27FC236}">
                <a16:creationId xmlns:a16="http://schemas.microsoft.com/office/drawing/2014/main" id="{832BEF6F-64DB-444D-A93E-EEF7D805F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print(x, y)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3F2279-52F7-4FE5-9BAA-61D45732E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score = 75">
            <a:extLst xmlns:a="http://schemas.openxmlformats.org/drawingml/2006/main">
              <a:ext uri="{FF2B5EF4-FFF2-40B4-BE49-F238E27FC236}">
                <a16:creationId xmlns:a16="http://schemas.microsoft.com/office/drawing/2014/main" id="{A1A2216D-676E-4178-B984-3F1E6167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score = 75</a:t>
            </a:r>
          </a:p>
        </p:txBody>
      </p:sp>
      <p:sp>
        <p:nvSpPr>
          <p:cNvPr id="10" name="label = &quot;Pass&quot; if score &gt;= 60 else &quot;Fail&quot;">
            <a:extLst xmlns:a="http://schemas.openxmlformats.org/drawingml/2006/main">
              <a:ext uri="{FF2B5EF4-FFF2-40B4-BE49-F238E27FC236}">
                <a16:creationId xmlns:a16="http://schemas.microsoft.com/office/drawing/2014/main" id="{27574925-F452-4B41-A304-69D5319BA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label = "Pass" if score &gt;= 60 else "Fail"</a:t>
            </a:r>
          </a:p>
        </p:txBody>
      </p:sp>
      <p:sp>
        <p:nvSpPr>
          <p:cNvPr id="11" name="print(label)">
            <a:extLst xmlns:a="http://schemas.openxmlformats.org/drawingml/2006/main">
              <a:ext uri="{FF2B5EF4-FFF2-40B4-BE49-F238E27FC236}">
                <a16:creationId xmlns:a16="http://schemas.microsoft.com/office/drawing/2014/main" id="{BB5C212D-82F1-42BA-9963-AE18313CD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print(label)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A4D246-9E49-4B30-A1BC-676DEB8B4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text = &quot;Python&quot;">
            <a:extLst xmlns:a="http://schemas.openxmlformats.org/drawingml/2006/main">
              <a:ext uri="{FF2B5EF4-FFF2-40B4-BE49-F238E27FC236}">
                <a16:creationId xmlns:a16="http://schemas.microsoft.com/office/drawing/2014/main" id="{1A0A0425-7E46-475C-BFDD-78567258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text = "Python"</a:t>
            </a:r>
          </a:p>
        </p:txBody>
      </p:sp>
      <p:sp>
        <p:nvSpPr>
          <p:cNvPr id="14" name="if (length := len(text)) &gt; 5:">
            <a:extLst xmlns:a="http://schemas.openxmlformats.org/drawingml/2006/main">
              <a:ext uri="{FF2B5EF4-FFF2-40B4-BE49-F238E27FC236}">
                <a16:creationId xmlns:a16="http://schemas.microsoft.com/office/drawing/2014/main" id="{981A3F45-EE4D-4C5C-86D9-4EEA60052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if (length := len(text)) &gt; 5:</a:t>
            </a:r>
          </a:p>
        </p:txBody>
      </p:sp>
      <p:sp>
        <p:nvSpPr>
          <p:cNvPr id="15" name="    print(length)">
            <a:extLst xmlns:a="http://schemas.openxmlformats.org/drawingml/2006/main">
              <a:ext uri="{FF2B5EF4-FFF2-40B4-BE49-F238E27FC236}">
                <a16:creationId xmlns:a16="http://schemas.microsoft.com/office/drawing/2014/main" id="{35B67227-2096-4D5C-918D-81001C6CE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print(length)</a:t>
            </a:r>
          </a:p>
        </p:txBody>
      </p:sp>
      <p:sp>
        <p:nvSpPr>
          <p:cNvPr id="16" name="指定可以解包">
            <a:extLst xmlns:a="http://schemas.openxmlformats.org/drawingml/2006/main">
              <a:ext uri="{FF2B5EF4-FFF2-40B4-BE49-F238E27FC236}">
                <a16:creationId xmlns:a16="http://schemas.microsoft.com/office/drawing/2014/main" id="{E71C2D66-1832-4B16-898D-7F69DE003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代入でアンパックできる</a:t>
            </a:r>
          </a:p>
        </p:txBody>
      </p:sp>
      <p:sp>
        <p:nvSpPr>
          <p:cNvPr id="17" name="交換名稱不需要暫存名稱。 += 的行為也取決於物件型別。">
            <a:extLst xmlns:a="http://schemas.openxmlformats.org/drawingml/2006/main">
              <a:ext uri="{FF2B5EF4-FFF2-40B4-BE49-F238E27FC236}">
                <a16:creationId xmlns:a16="http://schemas.microsoft.com/office/drawing/2014/main" id="{EF8CA2AD-CF8A-445A-BEE6-752141F0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値の交換に一時変数は不要。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+= の動作は型にも依存する。</a:t>
            </a:r>
          </a:p>
        </p:txBody>
      </p:sp>
      <p:sp>
        <p:nvSpPr>
          <p:cNvPr id="18" name="運算式也能產生值">
            <a:extLst xmlns:a="http://schemas.openxmlformats.org/drawingml/2006/main">
              <a:ext uri="{FF2B5EF4-FFF2-40B4-BE49-F238E27FC236}">
                <a16:creationId xmlns:a16="http://schemas.microsoft.com/office/drawing/2014/main" id="{FBBEE6A0-1999-4DD1-9776-B518E0E8B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式も値を生成する</a:t>
            </a:r>
          </a:p>
        </p:txBody>
      </p:sp>
      <p:sp>
        <p:nvSpPr>
          <p:cNvPr id="19" name=":= 指定名稱並回傳該值。 條件運算式只計算選中的分支。">
            <a:extLst xmlns:a="http://schemas.openxmlformats.org/drawingml/2006/main">
              <a:ext uri="{FF2B5EF4-FFF2-40B4-BE49-F238E27FC236}">
                <a16:creationId xmlns:a16="http://schemas.microsoft.com/office/drawing/2014/main" id="{904E4623-F188-47AB-A099-945405679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:= は名前に束縛し、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その値を返す。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条件式は選択した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分岐だけを評価。</a:t>
            </a:r>
          </a:p>
        </p:txBody>
      </p:sp>
      <p:sp>
        <p:nvSpPr>
          <p:cNvPr id="20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122D0C4C-3446-4D91-A384-ABA93805A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21" name="25 10    Pass    6">
            <a:extLst xmlns:a="http://schemas.openxmlformats.org/drawingml/2006/main">
              <a:ext uri="{FF2B5EF4-FFF2-40B4-BE49-F238E27FC236}">
                <a16:creationId xmlns:a16="http://schemas.microsoft.com/office/drawing/2014/main" id="{FFECA565-4015-44A3-B621-4F6751E8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25 10    Pass    6</a:t>
            </a:r>
          </a:p>
        </p:txBody>
      </p:sp>
    </p:spTree>
    <p:extLst>
      <p:ext uri="{BB962C8B-B14F-4D97-AF65-F5344CB8AC3E}">
        <p14:creationId xmlns:p14="http://schemas.microsoft.com/office/powerpoint/2010/main" val="89754577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字串常值、索引與切片">
            <a:extLst xmlns:a="http://schemas.openxmlformats.org/drawingml/2006/main">
              <a:ext uri="{FF2B5EF4-FFF2-40B4-BE49-F238E27FC236}">
                <a16:creationId xmlns:a16="http://schemas.microsoft.com/office/drawing/2014/main" id="{B9A11E8C-9407-487D-865F-BA341C2EF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文字列リテラル、添字とスライス</a:t>
            </a:r>
          </a:p>
        </p:txBody>
      </p:sp>
      <p:sp>
        <p:nvSpPr>
          <p:cNvPr id="2" name="字串處理">
            <a:extLst xmlns:a="http://schemas.openxmlformats.org/drawingml/2006/main">
              <a:ext uri="{FF2B5EF4-FFF2-40B4-BE49-F238E27FC236}">
                <a16:creationId xmlns:a16="http://schemas.microsoft.com/office/drawing/2014/main" id="{BBAE3938-B59D-42E8-AF6C-6024D5837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文字列処理</a:t>
            </a:r>
          </a:p>
        </p:txBody>
      </p:sp>
      <p:sp>
        <p:nvSpPr>
          <p:cNvPr id="3" name="11">
            <a:extLst xmlns:a="http://schemas.openxmlformats.org/drawingml/2006/main">
              <a:ext uri="{FF2B5EF4-FFF2-40B4-BE49-F238E27FC236}">
                <a16:creationId xmlns:a16="http://schemas.microsoft.com/office/drawing/2014/main" id="{12D46B32-6C7C-42D3-8371-75EE7757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11</a:t>
            </a:r>
          </a:p>
        </p:txBody>
      </p:sp>
      <p:sp>
        <p:nvSpPr>
          <p:cNvPr id="4" name="text = &quot;Python&quot;">
            <a:extLst xmlns:a="http://schemas.openxmlformats.org/drawingml/2006/main">
              <a:ext uri="{FF2B5EF4-FFF2-40B4-BE49-F238E27FC236}">
                <a16:creationId xmlns:a16="http://schemas.microsoft.com/office/drawing/2014/main" id="{A4ED761C-D468-4E95-8928-92B10045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text = "Python"</a:t>
            </a:r>
          </a:p>
        </p:txBody>
      </p:sp>
      <p:sp>
        <p:nvSpPr>
          <p:cNvPr id="5" name="print(text[0], text[-1])">
            <a:extLst xmlns:a="http://schemas.openxmlformats.org/drawingml/2006/main">
              <a:ext uri="{FF2B5EF4-FFF2-40B4-BE49-F238E27FC236}">
                <a16:creationId xmlns:a16="http://schemas.microsoft.com/office/drawing/2014/main" id="{4F11C11B-BDED-4524-ACD7-759E2196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print(text[0], text[-1])</a:t>
            </a:r>
          </a:p>
        </p:txBody>
      </p:sp>
      <p:sp>
        <p:nvSpPr>
          <p:cNvPr id="6" name="print(text[1:4])">
            <a:extLst xmlns:a="http://schemas.openxmlformats.org/drawingml/2006/main">
              <a:ext uri="{FF2B5EF4-FFF2-40B4-BE49-F238E27FC236}">
                <a16:creationId xmlns:a16="http://schemas.microsoft.com/office/drawing/2014/main" id="{5B263D70-48DD-42FA-8A47-70163EFC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print(text[1:4])</a:t>
            </a:r>
          </a:p>
        </p:txBody>
      </p:sp>
      <p:sp>
        <p:nvSpPr>
          <p:cNvPr id="7" name="print(text[::2])">
            <a:extLst xmlns:a="http://schemas.openxmlformats.org/drawingml/2006/main">
              <a:ext uri="{FF2B5EF4-FFF2-40B4-BE49-F238E27FC236}">
                <a16:creationId xmlns:a16="http://schemas.microsoft.com/office/drawing/2014/main" id="{75A2CFEF-B106-435D-A691-8AEA5645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print(text[::2])</a:t>
            </a:r>
          </a:p>
        </p:txBody>
      </p:sp>
      <p:sp>
        <p:nvSpPr>
          <p:cNvPr id="8" name="print(text[::-1])">
            <a:extLst xmlns:a="http://schemas.openxmlformats.org/drawingml/2006/main">
              <a:ext uri="{FF2B5EF4-FFF2-40B4-BE49-F238E27FC236}">
                <a16:creationId xmlns:a16="http://schemas.microsoft.com/office/drawing/2014/main" id="{616EDFDA-2FBD-4678-8F74-23C85AF2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print(text[::-1])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D7000F-0056-498D-95D3-5DCE2F208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print(&quot;A\nB&quot;)">
            <a:extLst xmlns:a="http://schemas.openxmlformats.org/drawingml/2006/main">
              <a:ext uri="{FF2B5EF4-FFF2-40B4-BE49-F238E27FC236}">
                <a16:creationId xmlns:a16="http://schemas.microsoft.com/office/drawing/2014/main" id="{BED82E03-7F3E-4B04-A741-014F1AF52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print("A\nB")</a:t>
            </a:r>
          </a:p>
        </p:txBody>
      </p:sp>
      <p:sp>
        <p:nvSpPr>
          <p:cNvPr id="11" name="print(r&quot;C:\temp\new&quot;)">
            <a:extLst xmlns:a="http://schemas.openxmlformats.org/drawingml/2006/main">
              <a:ext uri="{FF2B5EF4-FFF2-40B4-BE49-F238E27FC236}">
                <a16:creationId xmlns:a16="http://schemas.microsoft.com/office/drawing/2014/main" id="{B41B419D-8318-42BD-942D-81DAFD6BE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print(r"C:\temp\new")</a:t>
            </a:r>
          </a:p>
        </p:txBody>
      </p:sp>
      <p:sp>
        <p:nvSpPr>
          <p:cNvPr id="12" name="切片不包含終點">
            <a:extLst xmlns:a="http://schemas.openxmlformats.org/drawingml/2006/main">
              <a:ext uri="{FF2B5EF4-FFF2-40B4-BE49-F238E27FC236}">
                <a16:creationId xmlns:a16="http://schemas.microsoft.com/office/drawing/2014/main" id="{6E402BE5-162D-4E38-A97D-DCF33F4BA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スライスは終点を含まない</a:t>
            </a:r>
          </a:p>
        </p:txBody>
      </p:sp>
      <p:sp>
        <p:nvSpPr>
          <p:cNvPr id="13" name="s[start:stop:step] 負索引從尾端計算。">
            <a:extLst xmlns:a="http://schemas.openxmlformats.org/drawingml/2006/main">
              <a:ext uri="{FF2B5EF4-FFF2-40B4-BE49-F238E27FC236}">
                <a16:creationId xmlns:a16="http://schemas.microsoft.com/office/drawing/2014/main" id="{EBCB0C19-551A-4F2C-AB52-2B75A3DD9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s[start:stop:step]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負の添字は末尾から数える。</a:t>
            </a:r>
          </a:p>
        </p:txBody>
      </p:sp>
      <p:sp>
        <p:nvSpPr>
          <p:cNvPr id="14" name="字串不可變">
            <a:extLst xmlns:a="http://schemas.openxmlformats.org/drawingml/2006/main">
              <a:ext uri="{FF2B5EF4-FFF2-40B4-BE49-F238E27FC236}">
                <a16:creationId xmlns:a16="http://schemas.microsoft.com/office/drawing/2014/main" id="{9675A28D-054C-4F69-8588-BEDF49AB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文字列は変更できない</a:t>
            </a:r>
          </a:p>
        </p:txBody>
      </p:sp>
      <p:sp>
        <p:nvSpPr>
          <p:cNvPr id="15" name="單引號與雙引號都可使用。 三引號可表示多行字串。">
            <a:extLst xmlns:a="http://schemas.openxmlformats.org/drawingml/2006/main">
              <a:ext uri="{FF2B5EF4-FFF2-40B4-BE49-F238E27FC236}">
                <a16:creationId xmlns:a16="http://schemas.microsoft.com/office/drawing/2014/main" id="{42FA5837-F755-4530-9B73-5C486997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一重引用符も二重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引用符も使える。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三重引用符は複数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行の文字列を表す。</a:t>
            </a:r>
          </a:p>
        </p:txBody>
      </p:sp>
      <p:sp>
        <p:nvSpPr>
          <p:cNvPr id="16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2AE71BB5-0C49-47FC-86F5-491FECB3A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17" name="P n    yth    Pto    nohtyP    A    B    C:\temp\new">
            <a:extLst xmlns:a="http://schemas.openxmlformats.org/drawingml/2006/main">
              <a:ext uri="{FF2B5EF4-FFF2-40B4-BE49-F238E27FC236}">
                <a16:creationId xmlns:a16="http://schemas.microsoft.com/office/drawing/2014/main" id="{75152D02-132F-412E-9364-377EC96D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P n    yth    Pto    nohtyP    A    B    C:\temp\new</a:t>
            </a:r>
          </a:p>
        </p:txBody>
      </p:sp>
    </p:spTree>
    <p:extLst>
      <p:ext uri="{BB962C8B-B14F-4D97-AF65-F5344CB8AC3E}">
        <p14:creationId xmlns:p14="http://schemas.microsoft.com/office/powerpoint/2010/main" val="13513163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清理、分割與組合字串">
            <a:extLst xmlns:a="http://schemas.openxmlformats.org/drawingml/2006/main">
              <a:ext uri="{FF2B5EF4-FFF2-40B4-BE49-F238E27FC236}">
                <a16:creationId xmlns:a16="http://schemas.microsoft.com/office/drawing/2014/main" id="{F6F02121-2998-4186-A986-104750E59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文字列の整形、分割と結合</a:t>
            </a:r>
          </a:p>
        </p:txBody>
      </p:sp>
      <p:sp>
        <p:nvSpPr>
          <p:cNvPr id="2" name="字串處理">
            <a:extLst xmlns:a="http://schemas.openxmlformats.org/drawingml/2006/main">
              <a:ext uri="{FF2B5EF4-FFF2-40B4-BE49-F238E27FC236}">
                <a16:creationId xmlns:a16="http://schemas.microsoft.com/office/drawing/2014/main" id="{70852567-06D6-44AA-B1F5-626284B53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文字列処理</a:t>
            </a:r>
          </a:p>
        </p:txBody>
      </p:sp>
      <p:sp>
        <p:nvSpPr>
          <p:cNvPr id="3" name="12">
            <a:extLst xmlns:a="http://schemas.openxmlformats.org/drawingml/2006/main">
              <a:ext uri="{FF2B5EF4-FFF2-40B4-BE49-F238E27FC236}">
                <a16:creationId xmlns:a16="http://schemas.microsoft.com/office/drawing/2014/main" id="{AB680390-DC5B-45DB-A55B-0D8B6B000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</a:p>
        </p:txBody>
      </p:sp>
      <p:sp>
        <p:nvSpPr>
          <p:cNvPr id="4" name="raw = &quot;  Amy, Ben, Cindy  &quot;">
            <a:extLst xmlns:a="http://schemas.openxmlformats.org/drawingml/2006/main">
              <a:ext uri="{FF2B5EF4-FFF2-40B4-BE49-F238E27FC236}">
                <a16:creationId xmlns:a16="http://schemas.microsoft.com/office/drawing/2014/main" id="{91E36943-0D82-46D9-8293-F7640E68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raw = "  Amy, Ben, Cindy  "</a:t>
            </a:r>
          </a:p>
        </p:txBody>
      </p:sp>
      <p:sp>
        <p:nvSpPr>
          <p:cNvPr id="5" name="names = [">
            <a:extLst xmlns:a="http://schemas.openxmlformats.org/drawingml/2006/main">
              <a:ext uri="{FF2B5EF4-FFF2-40B4-BE49-F238E27FC236}">
                <a16:creationId xmlns:a16="http://schemas.microsoft.com/office/drawing/2014/main" id="{7AB389A6-04A2-4439-B21E-9C995068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names = [</a:t>
            </a:r>
          </a:p>
        </p:txBody>
      </p:sp>
      <p:sp>
        <p:nvSpPr>
          <p:cNvPr id="6" name="    part.strip()">
            <a:extLst xmlns:a="http://schemas.openxmlformats.org/drawingml/2006/main">
              <a:ext uri="{FF2B5EF4-FFF2-40B4-BE49-F238E27FC236}">
                <a16:creationId xmlns:a16="http://schemas.microsoft.com/office/drawing/2014/main" id="{3975BF5F-12C3-4F28-8446-CD289B12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part.strip()</a:t>
            </a:r>
          </a:p>
        </p:txBody>
      </p:sp>
      <p:sp>
        <p:nvSpPr>
          <p:cNvPr id="7" name="    for part in raw.strip().split(&quot;,&quot;)">
            <a:extLst xmlns:a="http://schemas.openxmlformats.org/drawingml/2006/main">
              <a:ext uri="{FF2B5EF4-FFF2-40B4-BE49-F238E27FC236}">
                <a16:creationId xmlns:a16="http://schemas.microsoft.com/office/drawing/2014/main" id="{2DF2FF61-2A3F-48D1-ABBC-6B19074B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for part in raw.strip().split(",")</a:t>
            </a:r>
          </a:p>
        </p:txBody>
      </p:sp>
      <p:sp>
        <p:nvSpPr>
          <p:cNvPr id="8" name="]">
            <a:extLst xmlns:a="http://schemas.openxmlformats.org/drawingml/2006/main">
              <a:ext uri="{FF2B5EF4-FFF2-40B4-BE49-F238E27FC236}">
                <a16:creationId xmlns:a16="http://schemas.microsoft.com/office/drawing/2014/main" id="{210DF7CE-A5D9-4247-A2BA-0AD211ED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]</a:t>
            </a:r>
          </a:p>
        </p:txBody>
      </p:sp>
      <p:sp>
        <p:nvSpPr>
          <p:cNvPr id="9" name="print(names)">
            <a:extLst xmlns:a="http://schemas.openxmlformats.org/drawingml/2006/main">
              <a:ext uri="{FF2B5EF4-FFF2-40B4-BE49-F238E27FC236}">
                <a16:creationId xmlns:a16="http://schemas.microsoft.com/office/drawing/2014/main" id="{8B6DD233-BB5F-473C-8D04-3C2529F3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print(names)</a:t>
            </a:r>
          </a:p>
        </p:txBody>
      </p:sp>
      <p:sp>
        <p:nvSpPr>
          <p:cNvPr id="10" name="print(&quot; / &quot;.join(names))">
            <a:extLst xmlns:a="http://schemas.openxmlformats.org/drawingml/2006/main">
              <a:ext uri="{FF2B5EF4-FFF2-40B4-BE49-F238E27FC236}">
                <a16:creationId xmlns:a16="http://schemas.microsoft.com/office/drawing/2014/main" id="{37FC796E-E6F3-45ED-B81C-C5AA3C42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print(" / ".join(names))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423B03-E032-428D-A2DA-CC096037A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print(&quot;A   B&quot;.split())">
            <a:extLst xmlns:a="http://schemas.openxmlformats.org/drawingml/2006/main">
              <a:ext uri="{FF2B5EF4-FFF2-40B4-BE49-F238E27FC236}">
                <a16:creationId xmlns:a16="http://schemas.microsoft.com/office/drawing/2014/main" id="{8ED09607-A20B-4437-B3F3-55699BCA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print("A   B".split())</a:t>
            </a:r>
          </a:p>
        </p:txBody>
      </p:sp>
      <p:sp>
        <p:nvSpPr>
          <p:cNvPr id="13" name="print(&quot;A   B&quot;.split(&quot; &quot;))">
            <a:extLst xmlns:a="http://schemas.openxmlformats.org/drawingml/2006/main">
              <a:ext uri="{FF2B5EF4-FFF2-40B4-BE49-F238E27FC236}">
                <a16:creationId xmlns:a16="http://schemas.microsoft.com/office/drawing/2014/main" id="{5E271C58-75AC-49F1-ACB1-DC87CF34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print("A   B".split(" "))</a:t>
            </a:r>
          </a:p>
        </p:txBody>
      </p:sp>
      <p:sp>
        <p:nvSpPr>
          <p:cNvPr id="14" name="strip 只處理兩端">
            <a:extLst xmlns:a="http://schemas.openxmlformats.org/drawingml/2006/main">
              <a:ext uri="{FF2B5EF4-FFF2-40B4-BE49-F238E27FC236}">
                <a16:creationId xmlns:a16="http://schemas.microsoft.com/office/drawing/2014/main" id="{04B5FF03-8255-4DDB-9293-4F42F115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strip は両端だけを処理する</a:t>
            </a:r>
          </a:p>
        </p:txBody>
      </p:sp>
      <p:sp>
        <p:nvSpPr>
          <p:cNvPr id="15" name="沒有傳入參數時去除空白。 strip(&quot;ab&quot;) 移除兩端的 a、b 字元。">
            <a:extLst xmlns:a="http://schemas.openxmlformats.org/drawingml/2006/main">
              <a:ext uri="{FF2B5EF4-FFF2-40B4-BE49-F238E27FC236}">
                <a16:creationId xmlns:a16="http://schemas.microsoft.com/office/drawing/2014/main" id="{12993B8E-0D35-44D2-9E97-6BA2CE22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引数なしなら空白を除去。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strip("ab") は両端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の文字 a、b を除去。</a:t>
            </a:r>
          </a:p>
        </p:txBody>
      </p:sp>
      <p:sp>
        <p:nvSpPr>
          <p:cNvPr id="16" name="split 的分隔方式">
            <a:extLst xmlns:a="http://schemas.openxmlformats.org/drawingml/2006/main">
              <a:ext uri="{FF2B5EF4-FFF2-40B4-BE49-F238E27FC236}">
                <a16:creationId xmlns:a16="http://schemas.microsoft.com/office/drawing/2014/main" id="{8B76CAC4-7643-4C1C-B34D-A99EA948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split の区切り方</a:t>
            </a:r>
          </a:p>
        </p:txBody>
      </p:sp>
      <p:sp>
        <p:nvSpPr>
          <p:cNvPr id="17" name="省略分隔符會合併連續空白。 join 接受字串元素的 iterable。">
            <a:extLst xmlns:a="http://schemas.openxmlformats.org/drawingml/2006/main">
              <a:ext uri="{FF2B5EF4-FFF2-40B4-BE49-F238E27FC236}">
                <a16:creationId xmlns:a16="http://schemas.microsoft.com/office/drawing/2014/main" id="{1BD82336-B77D-46BE-BE83-4F2B0CB91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区切り省略時は連続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空白をまとめる。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join は文字列の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iterable を受け取る。</a:t>
            </a:r>
          </a:p>
        </p:txBody>
      </p:sp>
      <p:sp>
        <p:nvSpPr>
          <p:cNvPr id="18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11FCF83C-A8E0-4908-9848-740FEFA4D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19" name="['Amy', 'Ben', 'Cindy']    Amy / Ben / Cindy    ['A', '">
            <a:extLst xmlns:a="http://schemas.openxmlformats.org/drawingml/2006/main">
              <a:ext uri="{FF2B5EF4-FFF2-40B4-BE49-F238E27FC236}">
                <a16:creationId xmlns:a16="http://schemas.microsoft.com/office/drawing/2014/main" id="{8A050675-3DC8-42D3-9F3D-FFF7EB567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['Amy', 'Ben', 'Cindy']    Amy / Ben / Cindy    ['A', 'B']    ['A', '', '', 'B']</a:t>
            </a:r>
          </a:p>
        </p:txBody>
      </p:sp>
    </p:spTree>
    <p:extLst>
      <p:ext uri="{BB962C8B-B14F-4D97-AF65-F5344CB8AC3E}">
        <p14:creationId xmlns:p14="http://schemas.microsoft.com/office/powerpoint/2010/main" val="47721624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搜尋、替換與字串格式化">
            <a:extLst xmlns:a="http://schemas.openxmlformats.org/drawingml/2006/main">
              <a:ext uri="{FF2B5EF4-FFF2-40B4-BE49-F238E27FC236}">
                <a16:creationId xmlns:a16="http://schemas.microsoft.com/office/drawing/2014/main" id="{F2BDB9B1-B62E-4672-839B-8BC939448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検索、置換と文字列の書式設定</a:t>
            </a:r>
          </a:p>
        </p:txBody>
      </p:sp>
      <p:sp>
        <p:nvSpPr>
          <p:cNvPr id="2" name="字串處理">
            <a:extLst xmlns:a="http://schemas.openxmlformats.org/drawingml/2006/main">
              <a:ext uri="{FF2B5EF4-FFF2-40B4-BE49-F238E27FC236}">
                <a16:creationId xmlns:a16="http://schemas.microsoft.com/office/drawing/2014/main" id="{0DC2EF68-B019-4243-897C-6356AB8EB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文字列処理</a:t>
            </a:r>
          </a:p>
        </p:txBody>
      </p:sp>
      <p:sp>
        <p:nvSpPr>
          <p:cNvPr id="3" name="13">
            <a:extLst xmlns:a="http://schemas.openxmlformats.org/drawingml/2006/main">
              <a:ext uri="{FF2B5EF4-FFF2-40B4-BE49-F238E27FC236}">
                <a16:creationId xmlns:a16="http://schemas.microsoft.com/office/drawing/2014/main" id="{2E5B66E5-874B-4F36-9653-38B748D75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13</a:t>
            </a:r>
          </a:p>
        </p:txBody>
      </p:sp>
      <p:sp>
        <p:nvSpPr>
          <p:cNvPr id="4" name="name = &quot;Python&quot;">
            <a:extLst xmlns:a="http://schemas.openxmlformats.org/drawingml/2006/main">
              <a:ext uri="{FF2B5EF4-FFF2-40B4-BE49-F238E27FC236}">
                <a16:creationId xmlns:a16="http://schemas.microsoft.com/office/drawing/2014/main" id="{3F248350-92F3-45F3-B887-B76F3BA2A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name = "Python"</a:t>
            </a:r>
          </a:p>
        </p:txBody>
      </p:sp>
      <p:sp>
        <p:nvSpPr>
          <p:cNvPr id="5" name="print(&quot;th&quot; in name)">
            <a:extLst xmlns:a="http://schemas.openxmlformats.org/drawingml/2006/main">
              <a:ext uri="{FF2B5EF4-FFF2-40B4-BE49-F238E27FC236}">
                <a16:creationId xmlns:a16="http://schemas.microsoft.com/office/drawing/2014/main" id="{E96E1EEA-9DB7-4BDA-9375-68FB1F41C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print("th" in name)</a:t>
            </a:r>
          </a:p>
        </p:txBody>
      </p:sp>
      <p:sp>
        <p:nvSpPr>
          <p:cNvPr id="6" name="print(name.find(&quot;z&quot;))">
            <a:extLst xmlns:a="http://schemas.openxmlformats.org/drawingml/2006/main">
              <a:ext uri="{FF2B5EF4-FFF2-40B4-BE49-F238E27FC236}">
                <a16:creationId xmlns:a16="http://schemas.microsoft.com/office/drawing/2014/main" id="{F4870F08-1ED8-410A-A226-EA042AD4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print(name.find("z"))</a:t>
            </a:r>
          </a:p>
        </p:txBody>
      </p:sp>
      <p:sp>
        <p:nvSpPr>
          <p:cNvPr id="7" name="print(name.startswith(&quot;Py&quot;))">
            <a:extLst xmlns:a="http://schemas.openxmlformats.org/drawingml/2006/main">
              <a:ext uri="{FF2B5EF4-FFF2-40B4-BE49-F238E27FC236}">
                <a16:creationId xmlns:a16="http://schemas.microsoft.com/office/drawing/2014/main" id="{1B53DE60-D911-47AE-A261-AC72A31A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print(name.startswith("Py"))</a:t>
            </a:r>
          </a:p>
        </p:txBody>
      </p:sp>
      <p:sp>
        <p:nvSpPr>
          <p:cNvPr id="8" name="print(name.replace(&quot;Py&quot;, &quot;J&quot;))">
            <a:extLst xmlns:a="http://schemas.openxmlformats.org/drawingml/2006/main">
              <a:ext uri="{FF2B5EF4-FFF2-40B4-BE49-F238E27FC236}">
                <a16:creationId xmlns:a16="http://schemas.microsoft.com/office/drawing/2014/main" id="{1332CE09-6603-4AEA-B255-CCF5740C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print(name.replace("Py", "J"))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32784C-47BC-4D8D-821C-2B3DDAC88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score = 85.678">
            <a:extLst xmlns:a="http://schemas.openxmlformats.org/drawingml/2006/main">
              <a:ext uri="{FF2B5EF4-FFF2-40B4-BE49-F238E27FC236}">
                <a16:creationId xmlns:a16="http://schemas.microsoft.com/office/drawing/2014/main" id="{527F4A72-B053-48FC-92E7-8980A0131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score = 85.678</a:t>
            </a:r>
          </a:p>
        </p:txBody>
      </p:sp>
      <p:sp>
        <p:nvSpPr>
          <p:cNvPr id="11" name="print(f&quot;{name:&gt;8}: {score:.2f}&quot;)">
            <a:extLst xmlns:a="http://schemas.openxmlformats.org/drawingml/2006/main">
              <a:ext uri="{FF2B5EF4-FFF2-40B4-BE49-F238E27FC236}">
                <a16:creationId xmlns:a16="http://schemas.microsoft.com/office/drawing/2014/main" id="{47F7781B-3201-4A78-A623-70F20A90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print(f"{name:&gt;8}: {score:.2f}")</a:t>
            </a:r>
          </a:p>
        </p:txBody>
      </p:sp>
      <p:sp>
        <p:nvSpPr>
          <p:cNvPr id="12" name="print(f&quot;{42:04d}&quot;)">
            <a:extLst xmlns:a="http://schemas.openxmlformats.org/drawingml/2006/main">
              <a:ext uri="{FF2B5EF4-FFF2-40B4-BE49-F238E27FC236}">
                <a16:creationId xmlns:a16="http://schemas.microsoft.com/office/drawing/2014/main" id="{28D0FB0A-DC81-42F3-B6FD-86F7CDB67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print(f"{42:04d}")</a:t>
            </a:r>
          </a:p>
        </p:txBody>
      </p:sp>
      <p:sp>
        <p:nvSpPr>
          <p:cNvPr id="13" name="print(&quot;{} / {}&quot;.format(&quot;A&quot;, &quot;B&quot;))">
            <a:extLst xmlns:a="http://schemas.openxmlformats.org/drawingml/2006/main">
              <a:ext uri="{FF2B5EF4-FFF2-40B4-BE49-F238E27FC236}">
                <a16:creationId xmlns:a16="http://schemas.microsoft.com/office/drawing/2014/main" id="{751F2879-8DBD-4F9C-B64C-D677FED7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print("{} / {}".format("A", "B"))</a:t>
            </a:r>
          </a:p>
        </p:txBody>
      </p:sp>
      <p:sp>
        <p:nvSpPr>
          <p:cNvPr id="14" name="搜尋與替換">
            <a:extLst xmlns:a="http://schemas.openxmlformats.org/drawingml/2006/main">
              <a:ext uri="{FF2B5EF4-FFF2-40B4-BE49-F238E27FC236}">
                <a16:creationId xmlns:a16="http://schemas.microsoft.com/office/drawing/2014/main" id="{8AB432A5-477F-47CC-BE16-4CE8D25C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検索と置換</a:t>
            </a:r>
          </a:p>
        </p:txBody>
      </p:sp>
      <p:sp>
        <p:nvSpPr>
          <p:cNvPr id="15" name="find 找不到時回傳 -1。 replace 回傳新字串。">
            <a:extLst xmlns:a="http://schemas.openxmlformats.org/drawingml/2006/main">
              <a:ext uri="{FF2B5EF4-FFF2-40B4-BE49-F238E27FC236}">
                <a16:creationId xmlns:a16="http://schemas.microsoft.com/office/drawing/2014/main" id="{92C9C861-2716-4D00-959E-A6BCC6579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find は未検出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なら -1 を返す。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replace は新しい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文字列を返す。</a:t>
            </a:r>
          </a:p>
        </p:txBody>
      </p:sp>
      <p:sp>
        <p:nvSpPr>
          <p:cNvPr id="16" name="格式規格">
            <a:extLst xmlns:a="http://schemas.openxmlformats.org/drawingml/2006/main">
              <a:ext uri="{FF2B5EF4-FFF2-40B4-BE49-F238E27FC236}">
                <a16:creationId xmlns:a16="http://schemas.microsoft.com/office/drawing/2014/main" id="{AAAC5B60-B1DF-405D-B814-9FD19AFE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書式指定</a:t>
            </a:r>
          </a:p>
        </p:txBody>
      </p:sp>
      <p:sp>
        <p:nvSpPr>
          <p:cNvPr id="17" name="&gt;8 靠右、.2f 兩位小數。 04d 以零補足四位整數。">
            <a:extLst xmlns:a="http://schemas.openxmlformats.org/drawingml/2006/main">
              <a:ext uri="{FF2B5EF4-FFF2-40B4-BE49-F238E27FC236}">
                <a16:creationId xmlns:a16="http://schemas.microsoft.com/office/drawing/2014/main" id="{2BC2014B-4FC0-4770-BD3F-2116B8D9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&gt;8 は右寄せ、.2f は小数2桁。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04d は整数をゼロ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埋めで4桁にする。</a:t>
            </a:r>
          </a:p>
        </p:txBody>
      </p:sp>
      <p:sp>
        <p:nvSpPr>
          <p:cNvPr id="18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DD0F7F6E-D5B9-4FDC-8882-725E80AF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19" name="True    -1    True    Jthon      Python: 85.68    0042 ">
            <a:extLst xmlns:a="http://schemas.openxmlformats.org/drawingml/2006/main">
              <a:ext uri="{FF2B5EF4-FFF2-40B4-BE49-F238E27FC236}">
                <a16:creationId xmlns:a16="http://schemas.microsoft.com/office/drawing/2014/main" id="{45473644-E0C4-40AB-BAB3-F676D0DB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True    -1    True    Jthon      Python: 85.68    0042    A / B</a:t>
            </a:r>
          </a:p>
        </p:txBody>
      </p:sp>
    </p:spTree>
    <p:extLst>
      <p:ext uri="{BB962C8B-B14F-4D97-AF65-F5344CB8AC3E}">
        <p14:creationId xmlns:p14="http://schemas.microsoft.com/office/powerpoint/2010/main" val="194386598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常用字串方法">
            <a:extLst xmlns:a="http://schemas.openxmlformats.org/drawingml/2006/main">
              <a:ext uri="{FF2B5EF4-FFF2-40B4-BE49-F238E27FC236}">
                <a16:creationId xmlns:a16="http://schemas.microsoft.com/office/drawing/2014/main" id="{257DD0FF-7823-4129-9D28-DD799D219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よく使う文字列メソッド</a:t>
            </a:r>
          </a:p>
        </p:txBody>
      </p:sp>
      <p:sp>
        <p:nvSpPr>
          <p:cNvPr id="2" name="字串處理">
            <a:extLst xmlns:a="http://schemas.openxmlformats.org/drawingml/2006/main">
              <a:ext uri="{FF2B5EF4-FFF2-40B4-BE49-F238E27FC236}">
                <a16:creationId xmlns:a16="http://schemas.microsoft.com/office/drawing/2014/main" id="{F469707D-7447-401A-B0C9-4016C315A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文字列処理</a:t>
            </a:r>
          </a:p>
        </p:txBody>
      </p:sp>
      <p:sp>
        <p:nvSpPr>
          <p:cNvPr id="3" name="14">
            <a:extLst xmlns:a="http://schemas.openxmlformats.org/drawingml/2006/main">
              <a:ext uri="{FF2B5EF4-FFF2-40B4-BE49-F238E27FC236}">
                <a16:creationId xmlns:a16="http://schemas.microsoft.com/office/drawing/2014/main" id="{C7B96E9F-2C9A-4D70-9CDB-47455D5B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00250"/>
                <a:gridCol w="4905375"/>
                <a:gridCol w="4067175"/>
              </a:tblGrid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用途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文法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結果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大文字・小文字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Consolas"/>
                          <a:ea typeface="Consolas"/>
                          <a:cs typeface="Consolas"/>
                        </a:rPr>
                        <a:t>"Py".lower() / "Py".upper()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"py" / "PY"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接頭辞・接尾辞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Consolas"/>
                          <a:ea typeface="Consolas"/>
                          <a:cs typeface="Consolas"/>
                        </a:rPr>
                        <a:t>"a.py".endswith(".py")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True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出現回数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Consolas"/>
                          <a:ea typeface="Consolas"/>
                          <a:cs typeface="Consolas"/>
                        </a:rPr>
                        <a:t>"banana".count("an")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行単位で分割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Consolas"/>
                          <a:ea typeface="Consolas"/>
                          <a:cs typeface="Consolas"/>
                        </a:rPr>
                        <a:t>"A\nB".splitlines()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["A", "B"]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位置の検索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Consolas"/>
                          <a:ea typeface="Consolas"/>
                          <a:cs typeface="Consolas"/>
                        </a:rPr>
                        <a:t>"banana".index("na")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2。未検出なら ValueError。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  <p:sp>
        <p:nvSpPr>
          <p:cNvPr id="5" name="字串方法回傳結果。若要保留改變，需將結果繫結到名稱。">
            <a:extLst xmlns:a="http://schemas.openxmlformats.org/drawingml/2006/main">
              <a:ext uri="{FF2B5EF4-FFF2-40B4-BE49-F238E27FC236}">
                <a16:creationId xmlns:a16="http://schemas.microsoft.com/office/drawing/2014/main" id="{EDF6052E-5766-47EA-90AB-80AB217F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29325"/>
            <a:ext cx="10706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D73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B6D73"/>
                </a:solidFill>
                <a:latin typeface="Yu Gothic"/>
                <a:ea typeface="Yu Gothic"/>
                <a:cs typeface="Yu Gothic"/>
              </a:rPr>
              <a:t>文字列メソッドは結果を返す。変更を保持するには結果を名前に束縛する。</a:t>
            </a:r>
          </a:p>
        </p:txBody>
      </p:sp>
    </p:spTree>
    <p:extLst>
      <p:ext uri="{BB962C8B-B14F-4D97-AF65-F5344CB8AC3E}">
        <p14:creationId xmlns:p14="http://schemas.microsoft.com/office/powerpoint/2010/main" val="203627524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Unicode、str 與 bytes">
            <a:extLst xmlns:a="http://schemas.openxmlformats.org/drawingml/2006/main">
              <a:ext uri="{FF2B5EF4-FFF2-40B4-BE49-F238E27FC236}">
                <a16:creationId xmlns:a16="http://schemas.microsoft.com/office/drawing/2014/main" id="{CA396FFB-E9B2-4BD3-AFEC-DF095EAAA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Unicode、str と bytes</a:t>
            </a:r>
          </a:p>
        </p:txBody>
      </p:sp>
      <p:sp>
        <p:nvSpPr>
          <p:cNvPr id="2" name="字串處理">
            <a:extLst xmlns:a="http://schemas.openxmlformats.org/drawingml/2006/main">
              <a:ext uri="{FF2B5EF4-FFF2-40B4-BE49-F238E27FC236}">
                <a16:creationId xmlns:a16="http://schemas.microsoft.com/office/drawing/2014/main" id="{E7BD7D67-19DC-4D7E-A47A-9A1FA42D4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文字列処理</a:t>
            </a:r>
          </a:p>
        </p:txBody>
      </p:sp>
      <p:sp>
        <p:nvSpPr>
          <p:cNvPr id="3" name="15">
            <a:extLst xmlns:a="http://schemas.openxmlformats.org/drawingml/2006/main">
              <a:ext uri="{FF2B5EF4-FFF2-40B4-BE49-F238E27FC236}">
                <a16:creationId xmlns:a16="http://schemas.microsoft.com/office/drawing/2014/main" id="{6B610E64-C7F9-40FC-AF2C-54253402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15</a:t>
            </a:r>
          </a:p>
        </p:txBody>
      </p:sp>
      <p:sp>
        <p:nvSpPr>
          <p:cNvPr id="4" name="text = &quot;你好&quot;">
            <a:extLst xmlns:a="http://schemas.openxmlformats.org/drawingml/2006/main">
              <a:ext uri="{FF2B5EF4-FFF2-40B4-BE49-F238E27FC236}">
                <a16:creationId xmlns:a16="http://schemas.microsoft.com/office/drawing/2014/main" id="{F6CD1257-23DE-450F-8D5D-9A43A3A2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text = "你好"</a:t>
            </a:r>
          </a:p>
        </p:txBody>
      </p:sp>
      <p:sp>
        <p:nvSpPr>
          <p:cNvPr id="5" name="data = text.encode(&quot;utf-8&quot;)">
            <a:extLst xmlns:a="http://schemas.openxmlformats.org/drawingml/2006/main">
              <a:ext uri="{FF2B5EF4-FFF2-40B4-BE49-F238E27FC236}">
                <a16:creationId xmlns:a16="http://schemas.microsoft.com/office/drawing/2014/main" id="{DE44879F-32D5-48E0-A000-71D2615B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data = text.encode("utf-8")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417E5F-BD14-4558-8EC2-0AF919721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print(len(text))">
            <a:extLst xmlns:a="http://schemas.openxmlformats.org/drawingml/2006/main">
              <a:ext uri="{FF2B5EF4-FFF2-40B4-BE49-F238E27FC236}">
                <a16:creationId xmlns:a16="http://schemas.microsoft.com/office/drawing/2014/main" id="{4F1BAA17-12BF-48CE-B520-4893B9361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print(len(text))</a:t>
            </a:r>
          </a:p>
        </p:txBody>
      </p:sp>
      <p:sp>
        <p:nvSpPr>
          <p:cNvPr id="8" name="print(len(data))">
            <a:extLst xmlns:a="http://schemas.openxmlformats.org/drawingml/2006/main">
              <a:ext uri="{FF2B5EF4-FFF2-40B4-BE49-F238E27FC236}">
                <a16:creationId xmlns:a16="http://schemas.microsoft.com/office/drawing/2014/main" id="{555CA635-4A63-43E6-B135-A43D97CE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print(len(data))</a:t>
            </a:r>
          </a:p>
        </p:txBody>
      </p:sp>
      <p:sp>
        <p:nvSpPr>
          <p:cNvPr id="9" name="print(data.decode(&quot;utf-8&quot;))">
            <a:extLst xmlns:a="http://schemas.openxmlformats.org/drawingml/2006/main">
              <a:ext uri="{FF2B5EF4-FFF2-40B4-BE49-F238E27FC236}">
                <a16:creationId xmlns:a16="http://schemas.microsoft.com/office/drawing/2014/main" id="{6A2F9F8C-6124-4423-B840-AD379825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print(data.decode("utf-8"))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F51D3F-3A27-4AEF-BAD2-D2B17A8E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print(&quot;straße&quot;.casefold())">
            <a:extLst xmlns:a="http://schemas.openxmlformats.org/drawingml/2006/main">
              <a:ext uri="{FF2B5EF4-FFF2-40B4-BE49-F238E27FC236}">
                <a16:creationId xmlns:a16="http://schemas.microsoft.com/office/drawing/2014/main" id="{D2AB73AB-E389-4B97-9943-B1B6AD4CE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print("straße".casefold())</a:t>
            </a:r>
          </a:p>
        </p:txBody>
      </p:sp>
      <p:sp>
        <p:nvSpPr>
          <p:cNvPr id="12" name="str 保存文字">
            <a:extLst xmlns:a="http://schemas.openxmlformats.org/drawingml/2006/main">
              <a:ext uri="{FF2B5EF4-FFF2-40B4-BE49-F238E27FC236}">
                <a16:creationId xmlns:a16="http://schemas.microsoft.com/office/drawing/2014/main" id="{87A0FD8A-E749-4CEC-A268-66DB87818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str はテキストを保持する</a:t>
            </a:r>
          </a:p>
        </p:txBody>
      </p:sp>
      <p:sp>
        <p:nvSpPr>
          <p:cNvPr id="13" name="len(str) 計算 Unicode 碼點， 不一定等於畫面字形數量。">
            <a:extLst xmlns:a="http://schemas.openxmlformats.org/drawingml/2006/main">
              <a:ext uri="{FF2B5EF4-FFF2-40B4-BE49-F238E27FC236}">
                <a16:creationId xmlns:a16="http://schemas.microsoft.com/office/drawing/2014/main" id="{8E013AFE-D08D-4D13-A28A-ACF6E6AEC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len(str) は Unicode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コードポイント数。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表示上の字形数とは限らない。</a:t>
            </a:r>
          </a:p>
        </p:txBody>
      </p:sp>
      <p:sp>
        <p:nvSpPr>
          <p:cNvPr id="14" name="bytes 保存位元組">
            <a:extLst xmlns:a="http://schemas.openxmlformats.org/drawingml/2006/main">
              <a:ext uri="{FF2B5EF4-FFF2-40B4-BE49-F238E27FC236}">
                <a16:creationId xmlns:a16="http://schemas.microsoft.com/office/drawing/2014/main" id="{EF4EF7BA-6618-457D-9592-B5C7332BE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bytes はバイト列を保持する</a:t>
            </a:r>
          </a:p>
        </p:txBody>
      </p:sp>
      <p:sp>
        <p:nvSpPr>
          <p:cNvPr id="15" name="encode 編碼，decode 解碼。 解碼需要符合原始資料的編碼。">
            <a:extLst xmlns:a="http://schemas.openxmlformats.org/drawingml/2006/main">
              <a:ext uri="{FF2B5EF4-FFF2-40B4-BE49-F238E27FC236}">
                <a16:creationId xmlns:a16="http://schemas.microsoft.com/office/drawing/2014/main" id="{FC76C218-96C3-4949-9FCC-048C4A9F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encode で符号化、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decode で復号。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元データに合う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文字コードを使う。</a:t>
            </a:r>
          </a:p>
        </p:txBody>
      </p:sp>
      <p:sp>
        <p:nvSpPr>
          <p:cNvPr id="16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619635B6-1D89-4AC3-B816-BE7F6C20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17" name="2    6    你好    strasse">
            <a:extLst xmlns:a="http://schemas.openxmlformats.org/drawingml/2006/main">
              <a:ext uri="{FF2B5EF4-FFF2-40B4-BE49-F238E27FC236}">
                <a16:creationId xmlns:a16="http://schemas.microsoft.com/office/drawing/2014/main" id="{3E40CA5D-4ECC-43BF-950E-306F8D96C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2    6    你好    strasse</a:t>
            </a:r>
          </a:p>
        </p:txBody>
      </p:sp>
    </p:spTree>
    <p:extLst>
      <p:ext uri="{BB962C8B-B14F-4D97-AF65-F5344CB8AC3E}">
        <p14:creationId xmlns:p14="http://schemas.microsoft.com/office/powerpoint/2010/main" val="40765366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if、elif、else">
            <a:extLst xmlns:a="http://schemas.openxmlformats.org/drawingml/2006/main">
              <a:ext uri="{FF2B5EF4-FFF2-40B4-BE49-F238E27FC236}">
                <a16:creationId xmlns:a16="http://schemas.microsoft.com/office/drawing/2014/main" id="{BC891CBA-2E59-4FC4-B3FD-BAF12BE0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if、elif、else</a:t>
            </a:r>
          </a:p>
        </p:txBody>
      </p:sp>
      <p:sp>
        <p:nvSpPr>
          <p:cNvPr id="2" name="控制流程">
            <a:extLst xmlns:a="http://schemas.openxmlformats.org/drawingml/2006/main">
              <a:ext uri="{FF2B5EF4-FFF2-40B4-BE49-F238E27FC236}">
                <a16:creationId xmlns:a16="http://schemas.microsoft.com/office/drawing/2014/main" id="{100044C6-7487-4D93-82D8-0CD47B0CA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制御フロー</a:t>
            </a:r>
          </a:p>
        </p:txBody>
      </p:sp>
      <p:sp>
        <p:nvSpPr>
          <p:cNvPr id="3" name="16">
            <a:extLst xmlns:a="http://schemas.openxmlformats.org/drawingml/2006/main">
              <a:ext uri="{FF2B5EF4-FFF2-40B4-BE49-F238E27FC236}">
                <a16:creationId xmlns:a16="http://schemas.microsoft.com/office/drawing/2014/main" id="{744C2D81-2D3C-4BEE-A073-723AEF974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</a:p>
        </p:txBody>
      </p:sp>
      <p:sp>
        <p:nvSpPr>
          <p:cNvPr id="4" name="score = 85">
            <a:extLst xmlns:a="http://schemas.openxmlformats.org/drawingml/2006/main">
              <a:ext uri="{FF2B5EF4-FFF2-40B4-BE49-F238E27FC236}">
                <a16:creationId xmlns:a16="http://schemas.microsoft.com/office/drawing/2014/main" id="{937A460B-17AB-453E-A025-3FC62D405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score = 85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BBDD29-1E81-46C4-AA18-08ECA2EB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if not 0 &lt;= score &lt;= 100:">
            <a:extLst xmlns:a="http://schemas.openxmlformats.org/drawingml/2006/main">
              <a:ext uri="{FF2B5EF4-FFF2-40B4-BE49-F238E27FC236}">
                <a16:creationId xmlns:a16="http://schemas.microsoft.com/office/drawing/2014/main" id="{9F93F407-0540-4352-AF94-5F3C916D3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if not 0 &lt;= score &lt;= 100:</a:t>
            </a:r>
          </a:p>
        </p:txBody>
      </p:sp>
      <p:sp>
        <p:nvSpPr>
          <p:cNvPr id="7" name="    grade = &quot;Invalid&quot;">
            <a:extLst xmlns:a="http://schemas.openxmlformats.org/drawingml/2006/main">
              <a:ext uri="{FF2B5EF4-FFF2-40B4-BE49-F238E27FC236}">
                <a16:creationId xmlns:a16="http://schemas.microsoft.com/office/drawing/2014/main" id="{87C19021-D9B4-4FE6-A9C6-E622DA7B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grade = "Invalid"</a:t>
            </a:r>
          </a:p>
        </p:txBody>
      </p:sp>
      <p:sp>
        <p:nvSpPr>
          <p:cNvPr id="8" name="elif score &gt;= 90:">
            <a:extLst xmlns:a="http://schemas.openxmlformats.org/drawingml/2006/main">
              <a:ext uri="{FF2B5EF4-FFF2-40B4-BE49-F238E27FC236}">
                <a16:creationId xmlns:a16="http://schemas.microsoft.com/office/drawing/2014/main" id="{C2C3755C-431A-46E2-996A-12DF04AF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elif score &gt;= 90:</a:t>
            </a:r>
          </a:p>
        </p:txBody>
      </p:sp>
      <p:sp>
        <p:nvSpPr>
          <p:cNvPr id="9" name="    grade = &quot;A&quot;">
            <a:extLst xmlns:a="http://schemas.openxmlformats.org/drawingml/2006/main">
              <a:ext uri="{FF2B5EF4-FFF2-40B4-BE49-F238E27FC236}">
                <a16:creationId xmlns:a16="http://schemas.microsoft.com/office/drawing/2014/main" id="{78BE02D4-69EC-409E-A9FD-D93ED3894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grade = "A"</a:t>
            </a:r>
          </a:p>
        </p:txBody>
      </p:sp>
      <p:sp>
        <p:nvSpPr>
          <p:cNvPr id="10" name="elif score &gt;= 80:">
            <a:extLst xmlns:a="http://schemas.openxmlformats.org/drawingml/2006/main">
              <a:ext uri="{FF2B5EF4-FFF2-40B4-BE49-F238E27FC236}">
                <a16:creationId xmlns:a16="http://schemas.microsoft.com/office/drawing/2014/main" id="{D219913B-EF86-4AE2-B4BB-A3CFCD32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elif score &gt;= 80:</a:t>
            </a:r>
          </a:p>
        </p:txBody>
      </p:sp>
      <p:sp>
        <p:nvSpPr>
          <p:cNvPr id="11" name="    grade = &quot;B&quot;">
            <a:extLst xmlns:a="http://schemas.openxmlformats.org/drawingml/2006/main">
              <a:ext uri="{FF2B5EF4-FFF2-40B4-BE49-F238E27FC236}">
                <a16:creationId xmlns:a16="http://schemas.microsoft.com/office/drawing/2014/main" id="{F0376A2A-DD4A-4814-A438-474731EC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grade = "B"</a:t>
            </a:r>
          </a:p>
        </p:txBody>
      </p:sp>
      <p:sp>
        <p:nvSpPr>
          <p:cNvPr id="12" name="else:">
            <a:extLst xmlns:a="http://schemas.openxmlformats.org/drawingml/2006/main">
              <a:ext uri="{FF2B5EF4-FFF2-40B4-BE49-F238E27FC236}">
                <a16:creationId xmlns:a16="http://schemas.microsoft.com/office/drawing/2014/main" id="{5CFFC4EA-C7DE-435C-BD5C-814F8705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else:</a:t>
            </a:r>
          </a:p>
        </p:txBody>
      </p:sp>
      <p:sp>
        <p:nvSpPr>
          <p:cNvPr id="13" name="    grade = &quot;C or below&quot;">
            <a:extLst xmlns:a="http://schemas.openxmlformats.org/drawingml/2006/main">
              <a:ext uri="{FF2B5EF4-FFF2-40B4-BE49-F238E27FC236}">
                <a16:creationId xmlns:a16="http://schemas.microsoft.com/office/drawing/2014/main" id="{6D3D4A93-F91D-49DB-9B6D-0400E3E9E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grade = "C or below"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B3A371-52F7-417C-8DF4-39F69BAE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print(grade)">
            <a:extLst xmlns:a="http://schemas.openxmlformats.org/drawingml/2006/main">
              <a:ext uri="{FF2B5EF4-FFF2-40B4-BE49-F238E27FC236}">
                <a16:creationId xmlns:a16="http://schemas.microsoft.com/office/drawing/2014/main" id="{1A58D748-4966-4DF5-825B-2C8891BD2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print(grade)</a:t>
            </a:r>
          </a:p>
        </p:txBody>
      </p:sp>
      <p:sp>
        <p:nvSpPr>
          <p:cNvPr id="16" name="分支按順序判斷">
            <a:extLst xmlns:a="http://schemas.openxmlformats.org/drawingml/2006/main">
              <a:ext uri="{FF2B5EF4-FFF2-40B4-BE49-F238E27FC236}">
                <a16:creationId xmlns:a16="http://schemas.microsoft.com/office/drawing/2014/main" id="{46D45740-FD75-4384-9737-2326819A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分岐は順番に判定する</a:t>
            </a:r>
          </a:p>
        </p:txBody>
      </p:sp>
      <p:sp>
        <p:nvSpPr>
          <p:cNvPr id="17" name="第一個成立的分支執行後， 略過其餘 elif 與 else。">
            <a:extLst xmlns:a="http://schemas.openxmlformats.org/drawingml/2006/main">
              <a:ext uri="{FF2B5EF4-FFF2-40B4-BE49-F238E27FC236}">
                <a16:creationId xmlns:a16="http://schemas.microsoft.com/office/drawing/2014/main" id="{8417070B-1E8E-46D6-B4E1-F5A7147F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最初に真となる分岐を実行し、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残りの elif と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else は飛ばす。</a:t>
            </a:r>
          </a:p>
        </p:txBody>
      </p:sp>
      <p:sp>
        <p:nvSpPr>
          <p:cNvPr id="18" name="縮排決定歸屬">
            <a:extLst xmlns:a="http://schemas.openxmlformats.org/drawingml/2006/main">
              <a:ext uri="{FF2B5EF4-FFF2-40B4-BE49-F238E27FC236}">
                <a16:creationId xmlns:a16="http://schemas.microsoft.com/office/drawing/2014/main" id="{5DE6D968-AE0C-41ED-BE6A-8BB938CBC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インデントが所属を決める</a:t>
            </a:r>
          </a:p>
        </p:txBody>
      </p:sp>
      <p:sp>
        <p:nvSpPr>
          <p:cNvPr id="19" name="多個獨立 if 各自判斷。 巢狀 if 表達另一層條件。">
            <a:extLst xmlns:a="http://schemas.openxmlformats.org/drawingml/2006/main">
              <a:ext uri="{FF2B5EF4-FFF2-40B4-BE49-F238E27FC236}">
                <a16:creationId xmlns:a16="http://schemas.microsoft.com/office/drawing/2014/main" id="{F974019B-C2FC-41AA-8ED8-C8233A24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独立した if はそれぞれ判定。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入れ子の if は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次の条件を表す。</a:t>
            </a:r>
          </a:p>
        </p:txBody>
      </p:sp>
      <p:sp>
        <p:nvSpPr>
          <p:cNvPr id="20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FAB1BF9E-7C53-42A2-88A8-9FE28A287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21" name="B">
            <a:extLst xmlns:a="http://schemas.openxmlformats.org/drawingml/2006/main">
              <a:ext uri="{FF2B5EF4-FFF2-40B4-BE49-F238E27FC236}">
                <a16:creationId xmlns:a16="http://schemas.microsoft.com/office/drawing/2014/main" id="{C882B560-B82A-4A01-9246-D398A533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205151616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for、range 與走訪工具">
            <a:extLst xmlns:a="http://schemas.openxmlformats.org/drawingml/2006/main">
              <a:ext uri="{FF2B5EF4-FFF2-40B4-BE49-F238E27FC236}">
                <a16:creationId xmlns:a16="http://schemas.microsoft.com/office/drawing/2014/main" id="{C407B5F8-092A-4FBD-94B6-B9EB972FD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for、range と反復処理の道具</a:t>
            </a:r>
          </a:p>
        </p:txBody>
      </p:sp>
      <p:sp>
        <p:nvSpPr>
          <p:cNvPr id="2" name="控制流程">
            <a:extLst xmlns:a="http://schemas.openxmlformats.org/drawingml/2006/main">
              <a:ext uri="{FF2B5EF4-FFF2-40B4-BE49-F238E27FC236}">
                <a16:creationId xmlns:a16="http://schemas.microsoft.com/office/drawing/2014/main" id="{39170A23-57A2-45E3-AD79-838E96F1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制御フロー</a:t>
            </a:r>
          </a:p>
        </p:txBody>
      </p:sp>
      <p:sp>
        <p:nvSpPr>
          <p:cNvPr id="3" name="17">
            <a:extLst xmlns:a="http://schemas.openxmlformats.org/drawingml/2006/main">
              <a:ext uri="{FF2B5EF4-FFF2-40B4-BE49-F238E27FC236}">
                <a16:creationId xmlns:a16="http://schemas.microsoft.com/office/drawing/2014/main" id="{E5013514-367E-449F-9D85-47F74380E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</a:p>
        </p:txBody>
      </p:sp>
      <p:sp>
        <p:nvSpPr>
          <p:cNvPr id="4" name="names = [&quot;Amy&quot;, &quot;Ben&quot;]">
            <a:extLst xmlns:a="http://schemas.openxmlformats.org/drawingml/2006/main">
              <a:ext uri="{FF2B5EF4-FFF2-40B4-BE49-F238E27FC236}">
                <a16:creationId xmlns:a16="http://schemas.microsoft.com/office/drawing/2014/main" id="{EE5B18FF-FAE9-4065-B76C-C1D4665C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names = ["Amy", "Ben"]</a:t>
            </a:r>
          </a:p>
        </p:txBody>
      </p:sp>
      <p:sp>
        <p:nvSpPr>
          <p:cNvPr id="5" name="scores = [85, 92]">
            <a:extLst xmlns:a="http://schemas.openxmlformats.org/drawingml/2006/main">
              <a:ext uri="{FF2B5EF4-FFF2-40B4-BE49-F238E27FC236}">
                <a16:creationId xmlns:a16="http://schemas.microsoft.com/office/drawing/2014/main" id="{C3A6D20D-43C3-4A25-BC02-5C7AD682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scores = [85, 92]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4C52E0-1DDB-4757-971F-74D0A5C42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for index, name in enumerate(names, 1):">
            <a:extLst xmlns:a="http://schemas.openxmlformats.org/drawingml/2006/main">
              <a:ext uri="{FF2B5EF4-FFF2-40B4-BE49-F238E27FC236}">
                <a16:creationId xmlns:a16="http://schemas.microsoft.com/office/drawing/2014/main" id="{6E80713C-E48E-4C0F-8961-DC36D7FC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for index, name in enumerate(names, 1):</a:t>
            </a:r>
          </a:p>
        </p:txBody>
      </p:sp>
      <p:sp>
        <p:nvSpPr>
          <p:cNvPr id="8" name="    print(index, name)">
            <a:extLst xmlns:a="http://schemas.openxmlformats.org/drawingml/2006/main">
              <a:ext uri="{FF2B5EF4-FFF2-40B4-BE49-F238E27FC236}">
                <a16:creationId xmlns:a16="http://schemas.microsoft.com/office/drawing/2014/main" id="{33095D13-6B26-4A9F-8E64-0E53B3B42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print(index, name)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0963C9-281D-4AB8-836D-5E946C74F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for name, score in zip(names, scores):">
            <a:extLst xmlns:a="http://schemas.openxmlformats.org/drawingml/2006/main">
              <a:ext uri="{FF2B5EF4-FFF2-40B4-BE49-F238E27FC236}">
                <a16:creationId xmlns:a16="http://schemas.microsoft.com/office/drawing/2014/main" id="{8DE887AF-781B-4A74-8F5C-F0F532AA5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for name, score in zip(names, scores):</a:t>
            </a:r>
          </a:p>
        </p:txBody>
      </p:sp>
      <p:sp>
        <p:nvSpPr>
          <p:cNvPr id="11" name="    print(name, score)">
            <a:extLst xmlns:a="http://schemas.openxmlformats.org/drawingml/2006/main">
              <a:ext uri="{FF2B5EF4-FFF2-40B4-BE49-F238E27FC236}">
                <a16:creationId xmlns:a16="http://schemas.microsoft.com/office/drawing/2014/main" id="{42E095C1-FE06-468F-ABBF-B030D28F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print(name, score)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D4CA55-6891-4864-B9A9-9BF00244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print(list(range(1, 6, 2)))">
            <a:extLst xmlns:a="http://schemas.openxmlformats.org/drawingml/2006/main">
              <a:ext uri="{FF2B5EF4-FFF2-40B4-BE49-F238E27FC236}">
                <a16:creationId xmlns:a16="http://schemas.microsoft.com/office/drawing/2014/main" id="{EC3CEB2F-E43E-458B-A414-DB9559CE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print(list(range(1, 6, 2)))</a:t>
            </a:r>
          </a:p>
        </p:txBody>
      </p:sp>
      <p:sp>
        <p:nvSpPr>
          <p:cNvPr id="14" name="for 逐一取得元素">
            <a:extLst xmlns:a="http://schemas.openxmlformats.org/drawingml/2006/main">
              <a:ext uri="{FF2B5EF4-FFF2-40B4-BE49-F238E27FC236}">
                <a16:creationId xmlns:a16="http://schemas.microsoft.com/office/drawing/2014/main" id="{8D759954-1760-438E-BDB5-6B91EB22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for は要素を順に取得する</a:t>
            </a:r>
          </a:p>
        </p:txBody>
      </p:sp>
      <p:sp>
        <p:nvSpPr>
          <p:cNvPr id="15" name="range 不包含 stop。 enumerate 同時提供編號。">
            <a:extLst xmlns:a="http://schemas.openxmlformats.org/drawingml/2006/main">
              <a:ext uri="{FF2B5EF4-FFF2-40B4-BE49-F238E27FC236}">
                <a16:creationId xmlns:a16="http://schemas.microsoft.com/office/drawing/2014/main" id="{86DE0DAE-71F7-4683-8F50-F6F37B03E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range は stop を含まない。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enumerate は番号も提供する。</a:t>
            </a:r>
          </a:p>
        </p:txBody>
      </p:sp>
      <p:sp>
        <p:nvSpPr>
          <p:cNvPr id="16" name="zip 配對多組資料">
            <a:extLst xmlns:a="http://schemas.openxmlformats.org/drawingml/2006/main">
              <a:ext uri="{FF2B5EF4-FFF2-40B4-BE49-F238E27FC236}">
                <a16:creationId xmlns:a16="http://schemas.microsoft.com/office/drawing/2014/main" id="{E995673C-6464-49D4-9588-3D4DB6B37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zip は複数のデータを組にする</a:t>
            </a:r>
          </a:p>
        </p:txBody>
      </p:sp>
      <p:sp>
        <p:nvSpPr>
          <p:cNvPr id="17" name="預設走到最短輸入為止。 strict=True 可檢查長度不符。">
            <a:extLst xmlns:a="http://schemas.openxmlformats.org/drawingml/2006/main">
              <a:ext uri="{FF2B5EF4-FFF2-40B4-BE49-F238E27FC236}">
                <a16:creationId xmlns:a16="http://schemas.microsoft.com/office/drawing/2014/main" id="{DF4D7BF7-1E9C-43B8-BE1C-AA8CA2F7F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既定では最短の入力で終了。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strict=True は長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さの不一致を検出。</a:t>
            </a:r>
          </a:p>
        </p:txBody>
      </p:sp>
      <p:sp>
        <p:nvSpPr>
          <p:cNvPr id="18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B8D985AB-2108-436F-A2F4-0867A9F46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19" name="1 Amy    2 Ben    Amy 85    Ben 92    [1, 3, 5]">
            <a:extLst xmlns:a="http://schemas.openxmlformats.org/drawingml/2006/main">
              <a:ext uri="{FF2B5EF4-FFF2-40B4-BE49-F238E27FC236}">
                <a16:creationId xmlns:a16="http://schemas.microsoft.com/office/drawing/2014/main" id="{C9BFA78C-CF9B-4788-AD56-3E6C17A12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1 Amy    2 Ben    Amy 85    Ben 92    [1, 3, 5]</a:t>
            </a:r>
          </a:p>
        </p:txBody>
      </p:sp>
    </p:spTree>
    <p:extLst>
      <p:ext uri="{BB962C8B-B14F-4D97-AF65-F5344CB8AC3E}">
        <p14:creationId xmlns:p14="http://schemas.microsoft.com/office/powerpoint/2010/main" val="138500467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while、break 與 continue">
            <a:extLst xmlns:a="http://schemas.openxmlformats.org/drawingml/2006/main">
              <a:ext uri="{FF2B5EF4-FFF2-40B4-BE49-F238E27FC236}">
                <a16:creationId xmlns:a16="http://schemas.microsoft.com/office/drawing/2014/main" id="{053B3245-808A-4398-8CC2-A503AB70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while、break と continue</a:t>
            </a:r>
          </a:p>
        </p:txBody>
      </p:sp>
      <p:sp>
        <p:nvSpPr>
          <p:cNvPr id="2" name="控制流程">
            <a:extLst xmlns:a="http://schemas.openxmlformats.org/drawingml/2006/main">
              <a:ext uri="{FF2B5EF4-FFF2-40B4-BE49-F238E27FC236}">
                <a16:creationId xmlns:a16="http://schemas.microsoft.com/office/drawing/2014/main" id="{8ACEAC87-2EDE-415F-8637-436D578C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制御フロー</a:t>
            </a:r>
          </a:p>
        </p:txBody>
      </p:sp>
      <p:sp>
        <p:nvSpPr>
          <p:cNvPr id="3" name="18">
            <a:extLst xmlns:a="http://schemas.openxmlformats.org/drawingml/2006/main">
              <a:ext uri="{FF2B5EF4-FFF2-40B4-BE49-F238E27FC236}">
                <a16:creationId xmlns:a16="http://schemas.microsoft.com/office/drawing/2014/main" id="{90333B79-C1B9-44DB-8767-630C8F184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</a:p>
        </p:txBody>
      </p:sp>
      <p:sp>
        <p:nvSpPr>
          <p:cNvPr id="4" name="n = 0">
            <a:extLst xmlns:a="http://schemas.openxmlformats.org/drawingml/2006/main">
              <a:ext uri="{FF2B5EF4-FFF2-40B4-BE49-F238E27FC236}">
                <a16:creationId xmlns:a16="http://schemas.microsoft.com/office/drawing/2014/main" id="{36256AED-6025-4D1D-A59F-3BC0E89D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n = 0</a:t>
            </a:r>
          </a:p>
        </p:txBody>
      </p:sp>
      <p:sp>
        <p:nvSpPr>
          <p:cNvPr id="5" name="while n &lt; 5:">
            <a:extLst xmlns:a="http://schemas.openxmlformats.org/drawingml/2006/main">
              <a:ext uri="{FF2B5EF4-FFF2-40B4-BE49-F238E27FC236}">
                <a16:creationId xmlns:a16="http://schemas.microsoft.com/office/drawing/2014/main" id="{C1683019-B94E-4826-9652-87816B226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while n &lt; 5:</a:t>
            </a:r>
          </a:p>
        </p:txBody>
      </p:sp>
      <p:sp>
        <p:nvSpPr>
          <p:cNvPr id="6" name="    n += 1">
            <a:extLst xmlns:a="http://schemas.openxmlformats.org/drawingml/2006/main">
              <a:ext uri="{FF2B5EF4-FFF2-40B4-BE49-F238E27FC236}">
                <a16:creationId xmlns:a16="http://schemas.microsoft.com/office/drawing/2014/main" id="{3995390F-4B05-46F2-BAA3-7C59B49D5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n += 1</a:t>
            </a:r>
          </a:p>
        </p:txBody>
      </p:sp>
      <p:sp>
        <p:nvSpPr>
          <p:cNvPr id="7" name="    if n == 2:">
            <a:extLst xmlns:a="http://schemas.openxmlformats.org/drawingml/2006/main">
              <a:ext uri="{FF2B5EF4-FFF2-40B4-BE49-F238E27FC236}">
                <a16:creationId xmlns:a16="http://schemas.microsoft.com/office/drawing/2014/main" id="{AA901519-1F60-4875-8C72-69E0E2F47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if n == 2:</a:t>
            </a:r>
          </a:p>
        </p:txBody>
      </p:sp>
      <p:sp>
        <p:nvSpPr>
          <p:cNvPr id="8" name="        continue">
            <a:extLst xmlns:a="http://schemas.openxmlformats.org/drawingml/2006/main">
              <a:ext uri="{FF2B5EF4-FFF2-40B4-BE49-F238E27FC236}">
                <a16:creationId xmlns:a16="http://schemas.microsoft.com/office/drawing/2014/main" id="{DFC895C7-ED02-4D29-A6BA-9D73FAA6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continue</a:t>
            </a:r>
          </a:p>
        </p:txBody>
      </p:sp>
      <p:sp>
        <p:nvSpPr>
          <p:cNvPr id="9" name="    if n == 4:">
            <a:extLst xmlns:a="http://schemas.openxmlformats.org/drawingml/2006/main">
              <a:ext uri="{FF2B5EF4-FFF2-40B4-BE49-F238E27FC236}">
                <a16:creationId xmlns:a16="http://schemas.microsoft.com/office/drawing/2014/main" id="{449E68E0-9CD9-436C-80FC-1EB86718C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if n == 4:</a:t>
            </a:r>
          </a:p>
        </p:txBody>
      </p:sp>
      <p:sp>
        <p:nvSpPr>
          <p:cNvPr id="10" name="        break">
            <a:extLst xmlns:a="http://schemas.openxmlformats.org/drawingml/2006/main">
              <a:ext uri="{FF2B5EF4-FFF2-40B4-BE49-F238E27FC236}">
                <a16:creationId xmlns:a16="http://schemas.microsoft.com/office/drawing/2014/main" id="{D6927416-6510-4AE9-8EEA-D88039F1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break</a:t>
            </a:r>
          </a:p>
        </p:txBody>
      </p:sp>
      <p:sp>
        <p:nvSpPr>
          <p:cNvPr id="11" name="    print(n)">
            <a:extLst xmlns:a="http://schemas.openxmlformats.org/drawingml/2006/main">
              <a:ext uri="{FF2B5EF4-FFF2-40B4-BE49-F238E27FC236}">
                <a16:creationId xmlns:a16="http://schemas.microsoft.com/office/drawing/2014/main" id="{FE45C9A2-932A-4CC4-A922-E41D8B5B1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print(n)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B441D5-5A8D-4459-B7B0-6C1A9D894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print(&quot;end&quot;, n)">
            <a:extLst xmlns:a="http://schemas.openxmlformats.org/drawingml/2006/main">
              <a:ext uri="{FF2B5EF4-FFF2-40B4-BE49-F238E27FC236}">
                <a16:creationId xmlns:a16="http://schemas.microsoft.com/office/drawing/2014/main" id="{B6542A7F-61BB-4B46-BA7A-7E67F4E79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print("end", n)</a:t>
            </a:r>
          </a:p>
        </p:txBody>
      </p:sp>
      <p:sp>
        <p:nvSpPr>
          <p:cNvPr id="14" name="while 先判斷條件">
            <a:extLst xmlns:a="http://schemas.openxmlformats.org/drawingml/2006/main">
              <a:ext uri="{FF2B5EF4-FFF2-40B4-BE49-F238E27FC236}">
                <a16:creationId xmlns:a16="http://schemas.microsoft.com/office/drawing/2014/main" id="{9ACACD2D-8D73-4422-80F7-AAF3ADD20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while は先に条件を判定する</a:t>
            </a:r>
          </a:p>
        </p:txBody>
      </p:sp>
      <p:sp>
        <p:nvSpPr>
          <p:cNvPr id="15" name="每次迭代都必須有機會 改變條件或離開迴圈。">
            <a:extLst xmlns:a="http://schemas.openxmlformats.org/drawingml/2006/main">
              <a:ext uri="{FF2B5EF4-FFF2-40B4-BE49-F238E27FC236}">
                <a16:creationId xmlns:a16="http://schemas.microsoft.com/office/drawing/2014/main" id="{8DCCC12E-1284-442F-BA90-90DB220C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各反復で条件が変わる、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またはループを抜ける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機会を設ける。</a:t>
            </a:r>
          </a:p>
        </p:txBody>
      </p:sp>
      <p:sp>
        <p:nvSpPr>
          <p:cNvPr id="16" name="兩種離開範圍">
            <a:extLst xmlns:a="http://schemas.openxmlformats.org/drawingml/2006/main">
              <a:ext uri="{FF2B5EF4-FFF2-40B4-BE49-F238E27FC236}">
                <a16:creationId xmlns:a16="http://schemas.microsoft.com/office/drawing/2014/main" id="{21BA5ECE-BDBD-4F8F-BB86-227EC6FD8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制御が移る範囲</a:t>
            </a:r>
          </a:p>
        </p:txBody>
      </p:sp>
      <p:sp>
        <p:nvSpPr>
          <p:cNvPr id="17" name="continue 跳過本次剩餘敘述。 break 結束最內層迴圈。">
            <a:extLst xmlns:a="http://schemas.openxmlformats.org/drawingml/2006/main">
              <a:ext uri="{FF2B5EF4-FFF2-40B4-BE49-F238E27FC236}">
                <a16:creationId xmlns:a16="http://schemas.microsoft.com/office/drawing/2014/main" id="{45F79915-CB66-4CD2-8BC5-50F25041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continue は今回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の残りを飛ばす。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break は最も内側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のループを終了。</a:t>
            </a:r>
          </a:p>
        </p:txBody>
      </p:sp>
      <p:sp>
        <p:nvSpPr>
          <p:cNvPr id="18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EC4020B9-F29C-41C0-B6C2-B44AB3A5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19" name="1    3    end 4">
            <a:extLst xmlns:a="http://schemas.openxmlformats.org/drawingml/2006/main">
              <a:ext uri="{FF2B5EF4-FFF2-40B4-BE49-F238E27FC236}">
                <a16:creationId xmlns:a16="http://schemas.microsoft.com/office/drawing/2014/main" id="{CA04AA80-D602-4E64-89D0-08426C3C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1    3    end 4</a:t>
            </a:r>
          </a:p>
        </p:txBody>
      </p:sp>
    </p:spTree>
    <p:extLst>
      <p:ext uri="{BB962C8B-B14F-4D97-AF65-F5344CB8AC3E}">
        <p14:creationId xmlns:p14="http://schemas.microsoft.com/office/powerpoint/2010/main" val="72205159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迴圈的 else">
            <a:extLst xmlns:a="http://schemas.openxmlformats.org/drawingml/2006/main">
              <a:ext uri="{FF2B5EF4-FFF2-40B4-BE49-F238E27FC236}">
                <a16:creationId xmlns:a16="http://schemas.microsoft.com/office/drawing/2014/main" id="{3E7E2422-F9C4-4E88-8A7F-2256598A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ループの else</a:t>
            </a:r>
          </a:p>
        </p:txBody>
      </p:sp>
      <p:sp>
        <p:nvSpPr>
          <p:cNvPr id="2" name="控制流程">
            <a:extLst xmlns:a="http://schemas.openxmlformats.org/drawingml/2006/main">
              <a:ext uri="{FF2B5EF4-FFF2-40B4-BE49-F238E27FC236}">
                <a16:creationId xmlns:a16="http://schemas.microsoft.com/office/drawing/2014/main" id="{BFFC94C1-2344-43E3-A68B-E01B9CB15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制御フロー</a:t>
            </a:r>
          </a:p>
        </p:txBody>
      </p:sp>
      <p:sp>
        <p:nvSpPr>
          <p:cNvPr id="3" name="19">
            <a:extLst xmlns:a="http://schemas.openxmlformats.org/drawingml/2006/main">
              <a:ext uri="{FF2B5EF4-FFF2-40B4-BE49-F238E27FC236}">
                <a16:creationId xmlns:a16="http://schemas.microsoft.com/office/drawing/2014/main" id="{33C1C014-2BCA-43A3-9FF9-763549C86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</a:p>
        </p:txBody>
      </p:sp>
      <p:sp>
        <p:nvSpPr>
          <p:cNvPr id="4" name="numbers = [1, 3, 5]">
            <a:extLst xmlns:a="http://schemas.openxmlformats.org/drawingml/2006/main">
              <a:ext uri="{FF2B5EF4-FFF2-40B4-BE49-F238E27FC236}">
                <a16:creationId xmlns:a16="http://schemas.microsoft.com/office/drawing/2014/main" id="{D299225D-7953-42A4-A3AF-09245BC6A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numbers = [1, 3, 5]</a:t>
            </a:r>
          </a:p>
        </p:txBody>
      </p:sp>
      <p:sp>
        <p:nvSpPr>
          <p:cNvPr id="5" name="for n in numbers:">
            <a:extLst xmlns:a="http://schemas.openxmlformats.org/drawingml/2006/main">
              <a:ext uri="{FF2B5EF4-FFF2-40B4-BE49-F238E27FC236}">
                <a16:creationId xmlns:a16="http://schemas.microsoft.com/office/drawing/2014/main" id="{164FA3F0-7E88-409E-82E5-0C284618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for n in numbers:</a:t>
            </a:r>
          </a:p>
        </p:txBody>
      </p:sp>
      <p:sp>
        <p:nvSpPr>
          <p:cNvPr id="6" name="    if n % 2 == 0:">
            <a:extLst xmlns:a="http://schemas.openxmlformats.org/drawingml/2006/main">
              <a:ext uri="{FF2B5EF4-FFF2-40B4-BE49-F238E27FC236}">
                <a16:creationId xmlns:a16="http://schemas.microsoft.com/office/drawing/2014/main" id="{DA49308C-B474-45A7-9574-D4C63441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if n % 2 == 0:</a:t>
            </a:r>
          </a:p>
        </p:txBody>
      </p:sp>
      <p:sp>
        <p:nvSpPr>
          <p:cNvPr id="7" name="        print(&quot;Even found&quot;)">
            <a:extLst xmlns:a="http://schemas.openxmlformats.org/drawingml/2006/main">
              <a:ext uri="{FF2B5EF4-FFF2-40B4-BE49-F238E27FC236}">
                <a16:creationId xmlns:a16="http://schemas.microsoft.com/office/drawing/2014/main" id="{6A05C07F-2042-41E7-9D30-25EF6C16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print("Even found")</a:t>
            </a:r>
          </a:p>
        </p:txBody>
      </p:sp>
      <p:sp>
        <p:nvSpPr>
          <p:cNvPr id="8" name="        break">
            <a:extLst xmlns:a="http://schemas.openxmlformats.org/drawingml/2006/main">
              <a:ext uri="{FF2B5EF4-FFF2-40B4-BE49-F238E27FC236}">
                <a16:creationId xmlns:a16="http://schemas.microsoft.com/office/drawing/2014/main" id="{D0495E7F-72FD-4123-9144-37F14D2F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break</a:t>
            </a:r>
          </a:p>
        </p:txBody>
      </p:sp>
      <p:sp>
        <p:nvSpPr>
          <p:cNvPr id="9" name="else:">
            <a:extLst xmlns:a="http://schemas.openxmlformats.org/drawingml/2006/main">
              <a:ext uri="{FF2B5EF4-FFF2-40B4-BE49-F238E27FC236}">
                <a16:creationId xmlns:a16="http://schemas.microsoft.com/office/drawing/2014/main" id="{EF5B49F3-A9F1-45B9-AC41-6B57FBC3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else:</a:t>
            </a:r>
          </a:p>
        </p:txBody>
      </p:sp>
      <p:sp>
        <p:nvSpPr>
          <p:cNvPr id="10" name="    print(&quot;No even number&quot;)">
            <a:extLst xmlns:a="http://schemas.openxmlformats.org/drawingml/2006/main">
              <a:ext uri="{FF2B5EF4-FFF2-40B4-BE49-F238E27FC236}">
                <a16:creationId xmlns:a16="http://schemas.microsoft.com/office/drawing/2014/main" id="{C879D74E-2B62-497A-8D36-AD44F9A69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print("No even number")</a:t>
            </a:r>
          </a:p>
        </p:txBody>
      </p:sp>
      <p:sp>
        <p:nvSpPr>
          <p:cNvPr id="11" name="else 屬於 for">
            <a:extLst xmlns:a="http://schemas.openxmlformats.org/drawingml/2006/main">
              <a:ext uri="{FF2B5EF4-FFF2-40B4-BE49-F238E27FC236}">
                <a16:creationId xmlns:a16="http://schemas.microsoft.com/office/drawing/2014/main" id="{E5CAD4A4-F67E-48CB-9941-B755D0C7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else は for に属する</a:t>
            </a:r>
          </a:p>
        </p:txBody>
      </p:sp>
      <p:sp>
        <p:nvSpPr>
          <p:cNvPr id="12" name="正常走完 iterable 時執行。 while 條件變假時也可執行。">
            <a:extLst xmlns:a="http://schemas.openxmlformats.org/drawingml/2006/main">
              <a:ext uri="{FF2B5EF4-FFF2-40B4-BE49-F238E27FC236}">
                <a16:creationId xmlns:a16="http://schemas.microsoft.com/office/drawing/2014/main" id="{0BFF4FB6-7074-4469-8B55-F63C6196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iterable を通常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どおり走査すると実行。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while では条件が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偽になると実行。</a:t>
            </a:r>
          </a:p>
        </p:txBody>
      </p:sp>
      <p:sp>
        <p:nvSpPr>
          <p:cNvPr id="13" name="提早退出會跳過 else">
            <a:extLst xmlns:a="http://schemas.openxmlformats.org/drawingml/2006/main">
              <a:ext uri="{FF2B5EF4-FFF2-40B4-BE49-F238E27FC236}">
                <a16:creationId xmlns:a16="http://schemas.microsoft.com/office/drawing/2014/main" id="{31AFE5D3-64A2-4F9B-A443-567B94A4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途中で抜けると else を飛ばす</a:t>
            </a:r>
          </a:p>
        </p:txBody>
      </p:sp>
      <p:sp>
        <p:nvSpPr>
          <p:cNvPr id="14" name="break、return 或向外傳播 的例外，都不會執行此 else。">
            <a:extLst xmlns:a="http://schemas.openxmlformats.org/drawingml/2006/main">
              <a:ext uri="{FF2B5EF4-FFF2-40B4-BE49-F238E27FC236}">
                <a16:creationId xmlns:a16="http://schemas.microsoft.com/office/drawing/2014/main" id="{3E17E580-D406-4CE2-AECD-B4EF90ABF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break、return、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外へ伝播する例外は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この else を実行しない。</a:t>
            </a:r>
          </a:p>
        </p:txBody>
      </p:sp>
      <p:sp>
        <p:nvSpPr>
          <p:cNvPr id="15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6F658076-83BE-4183-B5FA-8CF1B2D2D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16" name="No even number">
            <a:extLst xmlns:a="http://schemas.openxmlformats.org/drawingml/2006/main">
              <a:ext uri="{FF2B5EF4-FFF2-40B4-BE49-F238E27FC236}">
                <a16:creationId xmlns:a16="http://schemas.microsoft.com/office/drawing/2014/main" id="{41EE8471-163E-426E-B2A7-63D84E51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No even number</a:t>
            </a:r>
          </a:p>
        </p:txBody>
      </p:sp>
    </p:spTree>
    <p:extLst>
      <p:ext uri="{BB962C8B-B14F-4D97-AF65-F5344CB8AC3E}">
        <p14:creationId xmlns:p14="http://schemas.microsoft.com/office/powerpoint/2010/main" val="205789133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match / case 結構模式比對">
            <a:extLst xmlns:a="http://schemas.openxmlformats.org/drawingml/2006/main">
              <a:ext uri="{FF2B5EF4-FFF2-40B4-BE49-F238E27FC236}">
                <a16:creationId xmlns:a16="http://schemas.microsoft.com/office/drawing/2014/main" id="{F5B0F45A-335F-4982-8BC0-7D14116C1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match / case による構造的パターンマッチ</a:t>
            </a:r>
          </a:p>
        </p:txBody>
      </p:sp>
      <p:sp>
        <p:nvSpPr>
          <p:cNvPr id="2" name="控制流程">
            <a:extLst xmlns:a="http://schemas.openxmlformats.org/drawingml/2006/main">
              <a:ext uri="{FF2B5EF4-FFF2-40B4-BE49-F238E27FC236}">
                <a16:creationId xmlns:a16="http://schemas.microsoft.com/office/drawing/2014/main" id="{70C28DB1-05B2-4F41-87AC-7F24F9BC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制御フロー</a:t>
            </a:r>
          </a:p>
        </p:txBody>
      </p:sp>
      <p:sp>
        <p:nvSpPr>
          <p:cNvPr id="3" name="20">
            <a:extLst xmlns:a="http://schemas.openxmlformats.org/drawingml/2006/main">
              <a:ext uri="{FF2B5EF4-FFF2-40B4-BE49-F238E27FC236}">
                <a16:creationId xmlns:a16="http://schemas.microsoft.com/office/drawing/2014/main" id="{F61A9015-4921-46E4-829E-4E8FE4273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20</a:t>
            </a:r>
          </a:p>
        </p:txBody>
      </p:sp>
      <p:sp>
        <p:nvSpPr>
          <p:cNvPr id="4" name="command = (&quot;move&quot;, 10, 20)">
            <a:extLst xmlns:a="http://schemas.openxmlformats.org/drawingml/2006/main">
              <a:ext uri="{FF2B5EF4-FFF2-40B4-BE49-F238E27FC236}">
                <a16:creationId xmlns:a16="http://schemas.microsoft.com/office/drawing/2014/main" id="{F8B1ED92-9270-4162-AF29-36F25A625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command = ("move", 10, 20)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BBC9F3-5291-453C-8533-017BA387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match command:">
            <a:extLst xmlns:a="http://schemas.openxmlformats.org/drawingml/2006/main">
              <a:ext uri="{FF2B5EF4-FFF2-40B4-BE49-F238E27FC236}">
                <a16:creationId xmlns:a16="http://schemas.microsoft.com/office/drawing/2014/main" id="{D3D55426-032B-4CA0-980E-831FCAA6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match command:</a:t>
            </a:r>
          </a:p>
        </p:txBody>
      </p:sp>
      <p:sp>
        <p:nvSpPr>
          <p:cNvPr id="7" name="    case (&quot;move&quot;, x, y) if x &gt;= 0:">
            <a:extLst xmlns:a="http://schemas.openxmlformats.org/drawingml/2006/main">
              <a:ext uri="{FF2B5EF4-FFF2-40B4-BE49-F238E27FC236}">
                <a16:creationId xmlns:a16="http://schemas.microsoft.com/office/drawing/2014/main" id="{753A6F5C-EEFE-415E-BEC6-022248BDD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case ("move", x, y) if x &gt;= 0:</a:t>
            </a:r>
          </a:p>
        </p:txBody>
      </p:sp>
      <p:sp>
        <p:nvSpPr>
          <p:cNvPr id="8" name="        print(x, y)">
            <a:extLst xmlns:a="http://schemas.openxmlformats.org/drawingml/2006/main">
              <a:ext uri="{FF2B5EF4-FFF2-40B4-BE49-F238E27FC236}">
                <a16:creationId xmlns:a16="http://schemas.microsoft.com/office/drawing/2014/main" id="{680E7008-8E06-4917-B858-7E5CA748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print(x, y)</a:t>
            </a:r>
          </a:p>
        </p:txBody>
      </p:sp>
      <p:sp>
        <p:nvSpPr>
          <p:cNvPr id="9" name="    case (&quot;quit&quot;,):">
            <a:extLst xmlns:a="http://schemas.openxmlformats.org/drawingml/2006/main">
              <a:ext uri="{FF2B5EF4-FFF2-40B4-BE49-F238E27FC236}">
                <a16:creationId xmlns:a16="http://schemas.microsoft.com/office/drawing/2014/main" id="{4EBCB525-6D9C-4E0E-8292-B1777B36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case ("quit",):</a:t>
            </a:r>
          </a:p>
        </p:txBody>
      </p:sp>
      <p:sp>
        <p:nvSpPr>
          <p:cNvPr id="10" name="        print(&quot;Bye&quot;)">
            <a:extLst xmlns:a="http://schemas.openxmlformats.org/drawingml/2006/main">
              <a:ext uri="{FF2B5EF4-FFF2-40B4-BE49-F238E27FC236}">
                <a16:creationId xmlns:a16="http://schemas.microsoft.com/office/drawing/2014/main" id="{1DEE7ADC-AD57-4BF6-AE31-A9092D7C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print("Bye")</a:t>
            </a:r>
          </a:p>
        </p:txBody>
      </p:sp>
      <p:sp>
        <p:nvSpPr>
          <p:cNvPr id="11" name="    case _:">
            <a:extLst xmlns:a="http://schemas.openxmlformats.org/drawingml/2006/main">
              <a:ext uri="{FF2B5EF4-FFF2-40B4-BE49-F238E27FC236}">
                <a16:creationId xmlns:a16="http://schemas.microsoft.com/office/drawing/2014/main" id="{412313A7-7914-4907-92F4-5F92A28A5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case _:</a:t>
            </a:r>
          </a:p>
        </p:txBody>
      </p:sp>
      <p:sp>
        <p:nvSpPr>
          <p:cNvPr id="12" name="        print(&quot;Unknown&quot;)">
            <a:extLst xmlns:a="http://schemas.openxmlformats.org/drawingml/2006/main">
              <a:ext uri="{FF2B5EF4-FFF2-40B4-BE49-F238E27FC236}">
                <a16:creationId xmlns:a16="http://schemas.microsoft.com/office/drawing/2014/main" id="{85755954-36F7-499E-8F0D-669B949D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print("Unknown")</a:t>
            </a:r>
          </a:p>
        </p:txBody>
      </p:sp>
      <p:sp>
        <p:nvSpPr>
          <p:cNvPr id="13" name="模式可解包資料">
            <a:extLst xmlns:a="http://schemas.openxmlformats.org/drawingml/2006/main">
              <a:ext uri="{FF2B5EF4-FFF2-40B4-BE49-F238E27FC236}">
                <a16:creationId xmlns:a16="http://schemas.microsoft.com/office/drawing/2014/main" id="{E3F53C2D-BD02-4F6F-BAEC-82480E1B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パターンでデータを展開する</a:t>
            </a:r>
          </a:p>
        </p:txBody>
      </p:sp>
      <p:sp>
        <p:nvSpPr>
          <p:cNvPr id="14" name="x、y 會繫結到匹配的值。 if 是附加的 guard 條件。">
            <a:extLst xmlns:a="http://schemas.openxmlformats.org/drawingml/2006/main">
              <a:ext uri="{FF2B5EF4-FFF2-40B4-BE49-F238E27FC236}">
                <a16:creationId xmlns:a16="http://schemas.microsoft.com/office/drawing/2014/main" id="{6984CE38-7090-4C6D-94FA-B1260849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x、y は一致した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値に束縛される。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if は追加のガード条件。</a:t>
            </a:r>
          </a:p>
        </p:txBody>
      </p:sp>
      <p:sp>
        <p:nvSpPr>
          <p:cNvPr id="15" name="第一個匹配分支執行">
            <a:extLst xmlns:a="http://schemas.openxmlformats.org/drawingml/2006/main">
              <a:ext uri="{FF2B5EF4-FFF2-40B4-BE49-F238E27FC236}">
                <a16:creationId xmlns:a16="http://schemas.microsoft.com/office/drawing/2014/main" id="{C06101F8-E4E9-4127-A22F-EA9361651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最初に一致した分岐を実行する</a:t>
            </a:r>
          </a:p>
        </p:txBody>
      </p:sp>
      <p:sp>
        <p:nvSpPr>
          <p:cNvPr id="16" name="_ 表示萬用模式。 裸名稱通常是捕捉名稱。">
            <a:extLst xmlns:a="http://schemas.openxmlformats.org/drawingml/2006/main">
              <a:ext uri="{FF2B5EF4-FFF2-40B4-BE49-F238E27FC236}">
                <a16:creationId xmlns:a16="http://schemas.microsoft.com/office/drawing/2014/main" id="{B7DE63EE-7832-4E54-B09D-4BE677AF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_ はワイルドカード。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単独の名前は通常、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値を捕捉する。</a:t>
            </a:r>
          </a:p>
        </p:txBody>
      </p:sp>
      <p:sp>
        <p:nvSpPr>
          <p:cNvPr id="17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75AC6496-0F27-4837-BE84-FCB8D1915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18" name="10 20">
            <a:extLst xmlns:a="http://schemas.openxmlformats.org/drawingml/2006/main">
              <a:ext uri="{FF2B5EF4-FFF2-40B4-BE49-F238E27FC236}">
                <a16:creationId xmlns:a16="http://schemas.microsoft.com/office/drawing/2014/main" id="{43A984B6-4BB9-4FBB-8E1C-4A3F1225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10 20</a:t>
            </a:r>
          </a:p>
        </p:txBody>
      </p:sp>
    </p:spTree>
    <p:extLst>
      <p:ext uri="{BB962C8B-B14F-4D97-AF65-F5344CB8AC3E}">
        <p14:creationId xmlns:p14="http://schemas.microsoft.com/office/powerpoint/2010/main" val="190524089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核心容器的差異">
            <a:extLst xmlns:a="http://schemas.openxmlformats.org/drawingml/2006/main">
              <a:ext uri="{FF2B5EF4-FFF2-40B4-BE49-F238E27FC236}">
                <a16:creationId xmlns:a16="http://schemas.microsoft.com/office/drawing/2014/main" id="{1AC5A0A7-04F3-43A9-8E58-16FDEEFB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主要なコンテナの違い</a:t>
            </a:r>
          </a:p>
        </p:txBody>
      </p:sp>
      <p:sp>
        <p:nvSpPr>
          <p:cNvPr id="2" name="容器與資料">
            <a:extLst xmlns:a="http://schemas.openxmlformats.org/drawingml/2006/main">
              <a:ext uri="{FF2B5EF4-FFF2-40B4-BE49-F238E27FC236}">
                <a16:creationId xmlns:a16="http://schemas.microsoft.com/office/drawing/2014/main" id="{E8091E59-64FA-45BC-9A80-99F6174E4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コンテナとデータ</a:t>
            </a:r>
          </a:p>
        </p:txBody>
      </p:sp>
      <p:sp>
        <p:nvSpPr>
          <p:cNvPr id="3" name="21">
            <a:extLst xmlns:a="http://schemas.openxmlformats.org/drawingml/2006/main">
              <a:ext uri="{FF2B5EF4-FFF2-40B4-BE49-F238E27FC236}">
                <a16:creationId xmlns:a16="http://schemas.microsoft.com/office/drawing/2014/main" id="{B2D39F41-934A-4D52-B23B-ACF2CB2B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21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000250"/>
                <a:gridCol w="3952875"/>
                <a:gridCol w="5019675"/>
              </a:tblGrid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コンテナ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用途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順序と制約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list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追加・削除できるデータ列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順序あり、重複可、変更可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tuple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固定構造のデータの組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順序あり、重複可、変更不可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dict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key と value の対応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挿入順を保持。key はハッシュ可能。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set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一意な要素と集合演算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位置添字なし。要素はハッシュ可能。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frozenset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変更不可の集合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dict のキーや set の要素にできる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  <p:sp>
        <p:nvSpPr>
          <p:cNvPr id="5" name="空 list 是 []，空 tuple 是 ()，空 dict 是 {}，空 set 是 set()。">
            <a:extLst xmlns:a="http://schemas.openxmlformats.org/drawingml/2006/main">
              <a:ext uri="{FF2B5EF4-FFF2-40B4-BE49-F238E27FC236}">
                <a16:creationId xmlns:a16="http://schemas.microsoft.com/office/drawing/2014/main" id="{9DDBF3D0-8938-47D9-8922-47DEA3A1C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29325"/>
            <a:ext cx="10706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D73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B6D73"/>
                </a:solidFill>
                <a:latin typeface="Yu Gothic"/>
                <a:ea typeface="Yu Gothic"/>
                <a:cs typeface="Yu Gothic"/>
              </a:rPr>
              <a:t>空のコンテナ：list は []、tuple は ()、dict は {}、set は set()。</a:t>
            </a:r>
          </a:p>
        </p:txBody>
      </p:sp>
    </p:spTree>
    <p:extLst>
      <p:ext uri="{BB962C8B-B14F-4D97-AF65-F5344CB8AC3E}">
        <p14:creationId xmlns:p14="http://schemas.microsoft.com/office/powerpoint/2010/main" val="30098965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list 的新增、刪除與切片">
            <a:extLst xmlns:a="http://schemas.openxmlformats.org/drawingml/2006/main">
              <a:ext uri="{FF2B5EF4-FFF2-40B4-BE49-F238E27FC236}">
                <a16:creationId xmlns:a16="http://schemas.microsoft.com/office/drawing/2014/main" id="{071EA19E-933B-401B-A325-6A879FF7E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list の追加、削除とスライス</a:t>
            </a:r>
          </a:p>
        </p:txBody>
      </p:sp>
      <p:sp>
        <p:nvSpPr>
          <p:cNvPr id="2" name="容器與資料">
            <a:extLst xmlns:a="http://schemas.openxmlformats.org/drawingml/2006/main">
              <a:ext uri="{FF2B5EF4-FFF2-40B4-BE49-F238E27FC236}">
                <a16:creationId xmlns:a16="http://schemas.microsoft.com/office/drawing/2014/main" id="{C76A152D-3E64-489E-AFD9-0431AB57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コンテナとデータ</a:t>
            </a:r>
          </a:p>
        </p:txBody>
      </p:sp>
      <p:sp>
        <p:nvSpPr>
          <p:cNvPr id="3" name="22">
            <a:extLst xmlns:a="http://schemas.openxmlformats.org/drawingml/2006/main">
              <a:ext uri="{FF2B5EF4-FFF2-40B4-BE49-F238E27FC236}">
                <a16:creationId xmlns:a16="http://schemas.microsoft.com/office/drawing/2014/main" id="{572D858B-F251-4199-847B-3D7016B1F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22</a:t>
            </a:r>
          </a:p>
        </p:txBody>
      </p:sp>
      <p:sp>
        <p:nvSpPr>
          <p:cNvPr id="4" name="items = [10, 20]">
            <a:extLst xmlns:a="http://schemas.openxmlformats.org/drawingml/2006/main">
              <a:ext uri="{FF2B5EF4-FFF2-40B4-BE49-F238E27FC236}">
                <a16:creationId xmlns:a16="http://schemas.microsoft.com/office/drawing/2014/main" id="{A925DD95-EB1F-46C1-ABBC-CC2C06A3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items = [10, 20]</a:t>
            </a:r>
          </a:p>
        </p:txBody>
      </p:sp>
      <p:sp>
        <p:nvSpPr>
          <p:cNvPr id="5" name="items.append([30, 40])">
            <a:extLst xmlns:a="http://schemas.openxmlformats.org/drawingml/2006/main">
              <a:ext uri="{FF2B5EF4-FFF2-40B4-BE49-F238E27FC236}">
                <a16:creationId xmlns:a16="http://schemas.microsoft.com/office/drawing/2014/main" id="{8CCC3C9E-8C24-4BFC-A611-2AC4A943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items.append([30, 40])</a:t>
            </a:r>
          </a:p>
        </p:txBody>
      </p:sp>
      <p:sp>
        <p:nvSpPr>
          <p:cNvPr id="6" name="items.extend([50, 60])">
            <a:extLst xmlns:a="http://schemas.openxmlformats.org/drawingml/2006/main">
              <a:ext uri="{FF2B5EF4-FFF2-40B4-BE49-F238E27FC236}">
                <a16:creationId xmlns:a16="http://schemas.microsoft.com/office/drawing/2014/main" id="{28127CF4-6A5A-42F8-923F-73C6AE0A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items.extend([50, 60])</a:t>
            </a:r>
          </a:p>
        </p:txBody>
      </p:sp>
      <p:sp>
        <p:nvSpPr>
          <p:cNvPr id="7" name="print(items)">
            <a:extLst xmlns:a="http://schemas.openxmlformats.org/drawingml/2006/main">
              <a:ext uri="{FF2B5EF4-FFF2-40B4-BE49-F238E27FC236}">
                <a16:creationId xmlns:a16="http://schemas.microsoft.com/office/drawing/2014/main" id="{FC6E6B0D-25DA-4DDB-A2E1-D18E4B68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print(items)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B2170D-D06F-4587-94DB-C8601A1C9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last = items.pop()">
            <a:extLst xmlns:a="http://schemas.openxmlformats.org/drawingml/2006/main">
              <a:ext uri="{FF2B5EF4-FFF2-40B4-BE49-F238E27FC236}">
                <a16:creationId xmlns:a16="http://schemas.microsoft.com/office/drawing/2014/main" id="{4DE8A037-4740-4D3F-9FA4-E6294C8C1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last = items.pop()</a:t>
            </a:r>
          </a:p>
        </p:txBody>
      </p:sp>
      <p:sp>
        <p:nvSpPr>
          <p:cNvPr id="10" name="items.remove(20)">
            <a:extLst xmlns:a="http://schemas.openxmlformats.org/drawingml/2006/main">
              <a:ext uri="{FF2B5EF4-FFF2-40B4-BE49-F238E27FC236}">
                <a16:creationId xmlns:a16="http://schemas.microsoft.com/office/drawing/2014/main" id="{472C2A73-787A-4ACE-89D4-EE8EC43B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items.remove(20)</a:t>
            </a:r>
          </a:p>
        </p:txBody>
      </p:sp>
      <p:sp>
        <p:nvSpPr>
          <p:cNvPr id="11" name="del items[0]">
            <a:extLst xmlns:a="http://schemas.openxmlformats.org/drawingml/2006/main">
              <a:ext uri="{FF2B5EF4-FFF2-40B4-BE49-F238E27FC236}">
                <a16:creationId xmlns:a16="http://schemas.microsoft.com/office/drawing/2014/main" id="{FF94DE0C-BF71-4007-9582-40B8F6BF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del items[0]</a:t>
            </a:r>
          </a:p>
        </p:txBody>
      </p:sp>
      <p:sp>
        <p:nvSpPr>
          <p:cNvPr id="12" name="print(last, items)">
            <a:extLst xmlns:a="http://schemas.openxmlformats.org/drawingml/2006/main">
              <a:ext uri="{FF2B5EF4-FFF2-40B4-BE49-F238E27FC236}">
                <a16:creationId xmlns:a16="http://schemas.microsoft.com/office/drawing/2014/main" id="{7F40A43C-ED67-47E1-97B4-D820AE8BF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print(last, items)</a:t>
            </a:r>
          </a:p>
        </p:txBody>
      </p:sp>
      <p:sp>
        <p:nvSpPr>
          <p:cNvPr id="13" name="print(items[:1])">
            <a:extLst xmlns:a="http://schemas.openxmlformats.org/drawingml/2006/main">
              <a:ext uri="{FF2B5EF4-FFF2-40B4-BE49-F238E27FC236}">
                <a16:creationId xmlns:a16="http://schemas.microsoft.com/office/drawing/2014/main" id="{0BEAC484-E0F0-49B7-AF18-D83BA1A74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print(items[:1])</a:t>
            </a:r>
          </a:p>
        </p:txBody>
      </p:sp>
      <p:sp>
        <p:nvSpPr>
          <p:cNvPr id="14" name="append 與 extend">
            <a:extLst xmlns:a="http://schemas.openxmlformats.org/drawingml/2006/main">
              <a:ext uri="{FF2B5EF4-FFF2-40B4-BE49-F238E27FC236}">
                <a16:creationId xmlns:a16="http://schemas.microsoft.com/office/drawing/2014/main" id="{FA1CD7AF-2494-4D9F-BDC9-3E0195038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append と extend</a:t>
            </a:r>
          </a:p>
        </p:txBody>
      </p:sp>
      <p:sp>
        <p:nvSpPr>
          <p:cNvPr id="15" name="append 加入一個元素。 extend 逐項加入 iterable。">
            <a:extLst xmlns:a="http://schemas.openxmlformats.org/drawingml/2006/main">
              <a:ext uri="{FF2B5EF4-FFF2-40B4-BE49-F238E27FC236}">
                <a16:creationId xmlns:a16="http://schemas.microsoft.com/office/drawing/2014/main" id="{2C59DEA2-C17D-4025-AD42-E5B64FA41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append は1つの要素を追加。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extend は iterable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の各要素を追加。</a:t>
            </a:r>
          </a:p>
        </p:txBody>
      </p:sp>
      <p:sp>
        <p:nvSpPr>
          <p:cNvPr id="16" name="刪除與取值">
            <a:extLst xmlns:a="http://schemas.openxmlformats.org/drawingml/2006/main">
              <a:ext uri="{FF2B5EF4-FFF2-40B4-BE49-F238E27FC236}">
                <a16:creationId xmlns:a16="http://schemas.microsoft.com/office/drawing/2014/main" id="{8CEBAA2A-7B9D-4984-ADA4-999AB9743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削除と値の取得</a:t>
            </a:r>
          </a:p>
        </p:txBody>
      </p:sp>
      <p:sp>
        <p:nvSpPr>
          <p:cNvPr id="17" name="pop 刪除並回傳元素。 remove 刪除首個相等值。">
            <a:extLst xmlns:a="http://schemas.openxmlformats.org/drawingml/2006/main">
              <a:ext uri="{FF2B5EF4-FFF2-40B4-BE49-F238E27FC236}">
                <a16:creationId xmlns:a16="http://schemas.microsoft.com/office/drawing/2014/main" id="{82894DF5-D0F6-438B-8119-F827C9479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pop は要素を削除して返す。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remove は最初の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等しい値を削除。</a:t>
            </a:r>
          </a:p>
        </p:txBody>
      </p:sp>
      <p:sp>
        <p:nvSpPr>
          <p:cNvPr id="18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EF824924-EAC8-499E-86AB-7691CFAE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19" name="[10, 20, [30, 40], 50, 60]    60 [[30, 40], 50]    [[30">
            <a:extLst xmlns:a="http://schemas.openxmlformats.org/drawingml/2006/main">
              <a:ext uri="{FF2B5EF4-FFF2-40B4-BE49-F238E27FC236}">
                <a16:creationId xmlns:a16="http://schemas.microsoft.com/office/drawing/2014/main" id="{5DACE9B2-BBD1-44C4-9EE4-BDBED8A7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[10, 20, [30, 40], 50, 60]    60 [[30, 40], 50]    [[30, 40]]</a:t>
            </a:r>
          </a:p>
        </p:txBody>
      </p:sp>
    </p:spTree>
    <p:extLst>
      <p:ext uri="{BB962C8B-B14F-4D97-AF65-F5344CB8AC3E}">
        <p14:creationId xmlns:p14="http://schemas.microsoft.com/office/powerpoint/2010/main" val="1890199808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原地排序與建立新序列">
            <a:extLst xmlns:a="http://schemas.openxmlformats.org/drawingml/2006/main">
              <a:ext uri="{FF2B5EF4-FFF2-40B4-BE49-F238E27FC236}">
                <a16:creationId xmlns:a16="http://schemas.microsoft.com/office/drawing/2014/main" id="{303AE565-6340-445F-A9F1-79213A58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その場でのソートと新しいリスト</a:t>
            </a:r>
          </a:p>
        </p:txBody>
      </p:sp>
      <p:sp>
        <p:nvSpPr>
          <p:cNvPr id="2" name="容器與資料">
            <a:extLst xmlns:a="http://schemas.openxmlformats.org/drawingml/2006/main">
              <a:ext uri="{FF2B5EF4-FFF2-40B4-BE49-F238E27FC236}">
                <a16:creationId xmlns:a16="http://schemas.microsoft.com/office/drawing/2014/main" id="{89440172-3465-43A0-8E31-684FDF958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コンテナとデータ</a:t>
            </a:r>
          </a:p>
        </p:txBody>
      </p:sp>
      <p:sp>
        <p:nvSpPr>
          <p:cNvPr id="3" name="23">
            <a:extLst xmlns:a="http://schemas.openxmlformats.org/drawingml/2006/main">
              <a:ext uri="{FF2B5EF4-FFF2-40B4-BE49-F238E27FC236}">
                <a16:creationId xmlns:a16="http://schemas.microsoft.com/office/drawing/2014/main" id="{242243D2-9DD7-41F0-9BA9-1DF682366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23</a:t>
            </a:r>
          </a:p>
        </p:txBody>
      </p:sp>
      <p:sp>
        <p:nvSpPr>
          <p:cNvPr id="4" name="values = [3, 1, 2]">
            <a:extLst xmlns:a="http://schemas.openxmlformats.org/drawingml/2006/main">
              <a:ext uri="{FF2B5EF4-FFF2-40B4-BE49-F238E27FC236}">
                <a16:creationId xmlns:a16="http://schemas.microsoft.com/office/drawing/2014/main" id="{5C6E0440-9C5B-4D61-9BDD-7CBB0C63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values = [3, 1, 2]</a:t>
            </a:r>
          </a:p>
        </p:txBody>
      </p:sp>
      <p:sp>
        <p:nvSpPr>
          <p:cNvPr id="5" name="ordered = sorted(values)">
            <a:extLst xmlns:a="http://schemas.openxmlformats.org/drawingml/2006/main">
              <a:ext uri="{FF2B5EF4-FFF2-40B4-BE49-F238E27FC236}">
                <a16:creationId xmlns:a16="http://schemas.microsoft.com/office/drawing/2014/main" id="{873A367A-60C2-457E-988B-4BEFF15C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ordered = sorted(values)</a:t>
            </a:r>
          </a:p>
        </p:txBody>
      </p:sp>
      <p:sp>
        <p:nvSpPr>
          <p:cNvPr id="6" name="print(values, ordered)">
            <a:extLst xmlns:a="http://schemas.openxmlformats.org/drawingml/2006/main">
              <a:ext uri="{FF2B5EF4-FFF2-40B4-BE49-F238E27FC236}">
                <a16:creationId xmlns:a16="http://schemas.microsoft.com/office/drawing/2014/main" id="{EEE036AD-F955-4A14-95B4-0FB0CF3F9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print(values, ordered)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F2020C-24E1-4923-82A4-8594DB41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result = values.sort(reverse=True)">
            <a:extLst xmlns:a="http://schemas.openxmlformats.org/drawingml/2006/main">
              <a:ext uri="{FF2B5EF4-FFF2-40B4-BE49-F238E27FC236}">
                <a16:creationId xmlns:a16="http://schemas.microsoft.com/office/drawing/2014/main" id="{53B72E43-1316-43F8-A19D-8E3F6BFD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result = values.sort(reverse=True)</a:t>
            </a:r>
          </a:p>
        </p:txBody>
      </p:sp>
      <p:sp>
        <p:nvSpPr>
          <p:cNvPr id="9" name="print(values)">
            <a:extLst xmlns:a="http://schemas.openxmlformats.org/drawingml/2006/main">
              <a:ext uri="{FF2B5EF4-FFF2-40B4-BE49-F238E27FC236}">
                <a16:creationId xmlns:a16="http://schemas.microsoft.com/office/drawing/2014/main" id="{C3089AAC-4620-48E3-A00D-10A9D6814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print(values)</a:t>
            </a:r>
          </a:p>
        </p:txBody>
      </p:sp>
      <p:sp>
        <p:nvSpPr>
          <p:cNvPr id="10" name="print(result)">
            <a:extLst xmlns:a="http://schemas.openxmlformats.org/drawingml/2006/main">
              <a:ext uri="{FF2B5EF4-FFF2-40B4-BE49-F238E27FC236}">
                <a16:creationId xmlns:a16="http://schemas.microsoft.com/office/drawing/2014/main" id="{2EF0D6C0-B675-4D4A-9692-AB758A8B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print(result)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A3C11D-A096-417B-88F9-15CBD91B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print(list(reversed(values)))">
            <a:extLst xmlns:a="http://schemas.openxmlformats.org/drawingml/2006/main">
              <a:ext uri="{FF2B5EF4-FFF2-40B4-BE49-F238E27FC236}">
                <a16:creationId xmlns:a16="http://schemas.microsoft.com/office/drawing/2014/main" id="{4555F674-0E05-4905-A8BA-B4195002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print(list(reversed(values)))</a:t>
            </a:r>
          </a:p>
        </p:txBody>
      </p:sp>
      <p:sp>
        <p:nvSpPr>
          <p:cNvPr id="13" name="sorted 接受 iterable">
            <a:extLst xmlns:a="http://schemas.openxmlformats.org/drawingml/2006/main">
              <a:ext uri="{FF2B5EF4-FFF2-40B4-BE49-F238E27FC236}">
                <a16:creationId xmlns:a16="http://schemas.microsoft.com/office/drawing/2014/main" id="{C201156A-47B7-4386-B316-1BD5516A4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sorted は iterable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を受け取る</a:t>
            </a:r>
          </a:p>
        </p:txBody>
      </p:sp>
      <p:sp>
        <p:nvSpPr>
          <p:cNvPr id="14" name="回傳新的 list， 保留原本 values 的順序。">
            <a:extLst xmlns:a="http://schemas.openxmlformats.org/drawingml/2006/main">
              <a:ext uri="{FF2B5EF4-FFF2-40B4-BE49-F238E27FC236}">
                <a16:creationId xmlns:a16="http://schemas.microsoft.com/office/drawing/2014/main" id="{B876105C-808D-4500-AF9E-19D8AD1C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新しい list を返す。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元の values の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順序は保持する。</a:t>
            </a:r>
          </a:p>
        </p:txBody>
      </p:sp>
      <p:sp>
        <p:nvSpPr>
          <p:cNvPr id="15" name="sort 修改原 list">
            <a:extLst xmlns:a="http://schemas.openxmlformats.org/drawingml/2006/main">
              <a:ext uri="{FF2B5EF4-FFF2-40B4-BE49-F238E27FC236}">
                <a16:creationId xmlns:a16="http://schemas.microsoft.com/office/drawing/2014/main" id="{C094AE15-4A91-449F-8FAF-36AC9B80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sort は元の list を変更する</a:t>
            </a:r>
          </a:p>
        </p:txBody>
      </p:sp>
      <p:sp>
        <p:nvSpPr>
          <p:cNvPr id="16" name="sort 的回傳值是 None。 reversed 回傳反向迭代器。">
            <a:extLst xmlns:a="http://schemas.openxmlformats.org/drawingml/2006/main">
              <a:ext uri="{FF2B5EF4-FFF2-40B4-BE49-F238E27FC236}">
                <a16:creationId xmlns:a16="http://schemas.microsoft.com/office/drawing/2014/main" id="{3A9A91B3-8162-4A89-956B-F073EFFAF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sort の戻り値は None。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reversed は逆順の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イテレータを返す。</a:t>
            </a:r>
          </a:p>
        </p:txBody>
      </p:sp>
      <p:sp>
        <p:nvSpPr>
          <p:cNvPr id="17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0AE4AD3F-4A15-4BB9-BB5A-15AAEEA8C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18" name="[3, 1, 2] [1, 2, 3]    [3, 2, 1]    None    [1, 2, 3]">
            <a:extLst xmlns:a="http://schemas.openxmlformats.org/drawingml/2006/main">
              <a:ext uri="{FF2B5EF4-FFF2-40B4-BE49-F238E27FC236}">
                <a16:creationId xmlns:a16="http://schemas.microsoft.com/office/drawing/2014/main" id="{DB291544-CACF-433E-A7FC-27CC25CD3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[3, 1, 2] [1, 2, 3]    [3, 2, 1]    None    [1, 2, 3]</a:t>
            </a:r>
          </a:p>
        </p:txBody>
      </p:sp>
    </p:spTree>
    <p:extLst>
      <p:ext uri="{BB962C8B-B14F-4D97-AF65-F5344CB8AC3E}">
        <p14:creationId xmlns:p14="http://schemas.microsoft.com/office/powerpoint/2010/main" val="202202472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uple、打包與解包">
            <a:extLst xmlns:a="http://schemas.openxmlformats.org/drawingml/2006/main">
              <a:ext uri="{FF2B5EF4-FFF2-40B4-BE49-F238E27FC236}">
                <a16:creationId xmlns:a16="http://schemas.microsoft.com/office/drawing/2014/main" id="{0810E94F-4577-44EE-BE23-405CA31F9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tuple、パックとアンパック</a:t>
            </a:r>
          </a:p>
        </p:txBody>
      </p:sp>
      <p:sp>
        <p:nvSpPr>
          <p:cNvPr id="2" name="容器與資料">
            <a:extLst xmlns:a="http://schemas.openxmlformats.org/drawingml/2006/main">
              <a:ext uri="{FF2B5EF4-FFF2-40B4-BE49-F238E27FC236}">
                <a16:creationId xmlns:a16="http://schemas.microsoft.com/office/drawing/2014/main" id="{7CDF6D40-DF86-4D34-89EC-BF88ACAA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コンテナとデータ</a:t>
            </a:r>
          </a:p>
        </p:txBody>
      </p:sp>
      <p:sp>
        <p:nvSpPr>
          <p:cNvPr id="3" name="24">
            <a:extLst xmlns:a="http://schemas.openxmlformats.org/drawingml/2006/main">
              <a:ext uri="{FF2B5EF4-FFF2-40B4-BE49-F238E27FC236}">
                <a16:creationId xmlns:a16="http://schemas.microsoft.com/office/drawing/2014/main" id="{EB1C8329-3F9C-4658-B327-145DF7FB4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24</a:t>
            </a:r>
          </a:p>
        </p:txBody>
      </p:sp>
      <p:sp>
        <p:nvSpPr>
          <p:cNvPr id="4" name="point = 10, 20">
            <a:extLst xmlns:a="http://schemas.openxmlformats.org/drawingml/2006/main">
              <a:ext uri="{FF2B5EF4-FFF2-40B4-BE49-F238E27FC236}">
                <a16:creationId xmlns:a16="http://schemas.microsoft.com/office/drawing/2014/main" id="{4EE57E79-ECCD-4E10-9DAB-0310A5B26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point = 10, 20</a:t>
            </a:r>
          </a:p>
        </p:txBody>
      </p:sp>
      <p:sp>
        <p:nvSpPr>
          <p:cNvPr id="5" name="x, y = point">
            <a:extLst xmlns:a="http://schemas.openxmlformats.org/drawingml/2006/main">
              <a:ext uri="{FF2B5EF4-FFF2-40B4-BE49-F238E27FC236}">
                <a16:creationId xmlns:a16="http://schemas.microsoft.com/office/drawing/2014/main" id="{76475514-CAC1-486A-8901-43AB0F46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x, y = point</a:t>
            </a:r>
          </a:p>
        </p:txBody>
      </p:sp>
      <p:sp>
        <p:nvSpPr>
          <p:cNvPr id="6" name="print(x, y)">
            <a:extLst xmlns:a="http://schemas.openxmlformats.org/drawingml/2006/main">
              <a:ext uri="{FF2B5EF4-FFF2-40B4-BE49-F238E27FC236}">
                <a16:creationId xmlns:a16="http://schemas.microsoft.com/office/drawing/2014/main" id="{00F1FE9A-BAD2-444F-9685-F5875C48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print(x, y)</a:t>
            </a:r>
          </a:p>
        </p:txBody>
      </p:sp>
      <p:sp>
        <p:nvSpPr>
          <p:cNvPr id="7" name="print(type((10,)).__name__)">
            <a:extLst xmlns:a="http://schemas.openxmlformats.org/drawingml/2006/main">
              <a:ext uri="{FF2B5EF4-FFF2-40B4-BE49-F238E27FC236}">
                <a16:creationId xmlns:a16="http://schemas.microsoft.com/office/drawing/2014/main" id="{7499FC34-5390-4DB7-BBBF-A11D9B84B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print(type((10,)).__name__)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97562A-DC11-4A89-9E82-FF9F133A3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record = (&quot;Amy&quot;, [80, 90])">
            <a:extLst xmlns:a="http://schemas.openxmlformats.org/drawingml/2006/main">
              <a:ext uri="{FF2B5EF4-FFF2-40B4-BE49-F238E27FC236}">
                <a16:creationId xmlns:a16="http://schemas.microsoft.com/office/drawing/2014/main" id="{997F8611-C524-40BC-8E4C-8E3A4E62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record = ("Amy", [80, 90])</a:t>
            </a:r>
          </a:p>
        </p:txBody>
      </p:sp>
      <p:sp>
        <p:nvSpPr>
          <p:cNvPr id="10" name="record[1].append(100)">
            <a:extLst xmlns:a="http://schemas.openxmlformats.org/drawingml/2006/main">
              <a:ext uri="{FF2B5EF4-FFF2-40B4-BE49-F238E27FC236}">
                <a16:creationId xmlns:a16="http://schemas.microsoft.com/office/drawing/2014/main" id="{8503D8B2-DFA6-479F-834C-E6B4A1FF4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record[1].append(100)</a:t>
            </a:r>
          </a:p>
        </p:txBody>
      </p:sp>
      <p:sp>
        <p:nvSpPr>
          <p:cNvPr id="11" name="print(record)">
            <a:extLst xmlns:a="http://schemas.openxmlformats.org/drawingml/2006/main">
              <a:ext uri="{FF2B5EF4-FFF2-40B4-BE49-F238E27FC236}">
                <a16:creationId xmlns:a16="http://schemas.microsoft.com/office/drawing/2014/main" id="{EB8318DE-6F16-4D86-A425-7FFA7EF4F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print(record)</a:t>
            </a:r>
          </a:p>
        </p:txBody>
      </p:sp>
      <p:sp>
        <p:nvSpPr>
          <p:cNvPr id="12" name="逗號形成 tuple">
            <a:extLst xmlns:a="http://schemas.openxmlformats.org/drawingml/2006/main">
              <a:ext uri="{FF2B5EF4-FFF2-40B4-BE49-F238E27FC236}">
                <a16:creationId xmlns:a16="http://schemas.microsoft.com/office/drawing/2014/main" id="{8D410005-6066-4DA7-A676-B871479AB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コンマが tuple を作る</a:t>
            </a:r>
          </a:p>
        </p:txBody>
      </p:sp>
      <p:sp>
        <p:nvSpPr>
          <p:cNvPr id="13" name="(10,) 是單元素 tuple。 (10) 只是加上括號的整數。">
            <a:extLst xmlns:a="http://schemas.openxmlformats.org/drawingml/2006/main">
              <a:ext uri="{FF2B5EF4-FFF2-40B4-BE49-F238E27FC236}">
                <a16:creationId xmlns:a16="http://schemas.microsoft.com/office/drawing/2014/main" id="{8097015E-217F-4CF2-88A9-21A469BA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(10,) は要素が1つの tuple。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(10) は括弧を付けた整数。</a:t>
            </a:r>
          </a:p>
        </p:txBody>
      </p:sp>
      <p:sp>
        <p:nvSpPr>
          <p:cNvPr id="14" name="外層不可變">
            <a:extLst xmlns:a="http://schemas.openxmlformats.org/drawingml/2006/main">
              <a:ext uri="{FF2B5EF4-FFF2-40B4-BE49-F238E27FC236}">
                <a16:creationId xmlns:a16="http://schemas.microsoft.com/office/drawing/2014/main" id="{0133AD42-E26E-49B7-8CC7-C5C5BA7F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外側の構造は変更できない</a:t>
            </a:r>
          </a:p>
        </p:txBody>
      </p:sp>
      <p:sp>
        <p:nvSpPr>
          <p:cNvPr id="15" name="tuple 內的 list 仍可修改。 元素全可雜湊，tuple 才可雜湊。">
            <a:extLst xmlns:a="http://schemas.openxmlformats.org/drawingml/2006/main">
              <a:ext uri="{FF2B5EF4-FFF2-40B4-BE49-F238E27FC236}">
                <a16:creationId xmlns:a16="http://schemas.microsoft.com/office/drawing/2014/main" id="{59D3CB41-9343-43CB-A42B-90985C16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内部の list は変更できる。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全要素がハッシュ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可能な場合のみ、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tuple もハッシュ可能。</a:t>
            </a:r>
          </a:p>
        </p:txBody>
      </p:sp>
      <p:sp>
        <p:nvSpPr>
          <p:cNvPr id="16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EF3B73B0-A4D1-4E8F-AC2D-4CE9585C3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17" name="10 20    tuple    ('Amy', [80, 90, 100])">
            <a:extLst xmlns:a="http://schemas.openxmlformats.org/drawingml/2006/main">
              <a:ext uri="{FF2B5EF4-FFF2-40B4-BE49-F238E27FC236}">
                <a16:creationId xmlns:a16="http://schemas.microsoft.com/office/drawing/2014/main" id="{5936FD19-5944-4A8F-8586-750D214C7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10 20    tuple    ('Amy', [80, 90, 100])</a:t>
            </a:r>
          </a:p>
        </p:txBody>
      </p:sp>
    </p:spTree>
    <p:extLst>
      <p:ext uri="{BB962C8B-B14F-4D97-AF65-F5344CB8AC3E}">
        <p14:creationId xmlns:p14="http://schemas.microsoft.com/office/powerpoint/2010/main" val="195364171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dict 的查找與走訪">
            <a:extLst xmlns:a="http://schemas.openxmlformats.org/drawingml/2006/main">
              <a:ext uri="{FF2B5EF4-FFF2-40B4-BE49-F238E27FC236}">
                <a16:creationId xmlns:a16="http://schemas.microsoft.com/office/drawing/2014/main" id="{1C89291A-D100-4D9B-ABD1-947C2964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dict の検索と反復処理</a:t>
            </a:r>
          </a:p>
        </p:txBody>
      </p:sp>
      <p:sp>
        <p:nvSpPr>
          <p:cNvPr id="2" name="容器與資料">
            <a:extLst xmlns:a="http://schemas.openxmlformats.org/drawingml/2006/main">
              <a:ext uri="{FF2B5EF4-FFF2-40B4-BE49-F238E27FC236}">
                <a16:creationId xmlns:a16="http://schemas.microsoft.com/office/drawing/2014/main" id="{AF74D1D1-3401-4E83-AEA0-C7C06CCDD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コンテナとデータ</a:t>
            </a:r>
          </a:p>
        </p:txBody>
      </p:sp>
      <p:sp>
        <p:nvSpPr>
          <p:cNvPr id="3" name="25">
            <a:extLst xmlns:a="http://schemas.openxmlformats.org/drawingml/2006/main">
              <a:ext uri="{FF2B5EF4-FFF2-40B4-BE49-F238E27FC236}">
                <a16:creationId xmlns:a16="http://schemas.microsoft.com/office/drawing/2014/main" id="{8065E9E2-BCF6-4C84-8D19-4897B5794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25</a:t>
            </a:r>
          </a:p>
        </p:txBody>
      </p:sp>
      <p:sp>
        <p:nvSpPr>
          <p:cNvPr id="4" name="student = {&quot;name&quot;: &quot;Amy&quot;, &quot;score&quot;: 85}">
            <a:extLst xmlns:a="http://schemas.openxmlformats.org/drawingml/2006/main">
              <a:ext uri="{FF2B5EF4-FFF2-40B4-BE49-F238E27FC236}">
                <a16:creationId xmlns:a16="http://schemas.microsoft.com/office/drawing/2014/main" id="{97B9C283-3DB0-40CD-AB99-24C9C60AA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student = {"name": "Amy", "score": 85}</a:t>
            </a:r>
          </a:p>
        </p:txBody>
      </p:sp>
      <p:sp>
        <p:nvSpPr>
          <p:cNvPr id="5" name="student[&quot;score&quot;] = 90">
            <a:extLst xmlns:a="http://schemas.openxmlformats.org/drawingml/2006/main">
              <a:ext uri="{FF2B5EF4-FFF2-40B4-BE49-F238E27FC236}">
                <a16:creationId xmlns:a16="http://schemas.microsoft.com/office/drawing/2014/main" id="{34C819D1-8E67-46A1-9059-FB8923E4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student["score"] = 90</a:t>
            </a:r>
          </a:p>
        </p:txBody>
      </p:sp>
      <p:sp>
        <p:nvSpPr>
          <p:cNvPr id="6" name="print(student.get(&quot;age&quot;, &quot;Unknown&quot;))">
            <a:extLst xmlns:a="http://schemas.openxmlformats.org/drawingml/2006/main">
              <a:ext uri="{FF2B5EF4-FFF2-40B4-BE49-F238E27FC236}">
                <a16:creationId xmlns:a16="http://schemas.microsoft.com/office/drawing/2014/main" id="{0D14003E-71E1-4697-BDFF-58483A50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print(student.get("age", "Unknown"))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8929E1-F73C-4429-9191-4A389726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for key, value in student.items():">
            <a:extLst xmlns:a="http://schemas.openxmlformats.org/drawingml/2006/main">
              <a:ext uri="{FF2B5EF4-FFF2-40B4-BE49-F238E27FC236}">
                <a16:creationId xmlns:a16="http://schemas.microsoft.com/office/drawing/2014/main" id="{9FCD71E4-080D-4F6C-B3C5-787FDECB5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for key, value in student.items():</a:t>
            </a:r>
          </a:p>
        </p:txBody>
      </p:sp>
      <p:sp>
        <p:nvSpPr>
          <p:cNvPr id="9" name="    print(key, value)">
            <a:extLst xmlns:a="http://schemas.openxmlformats.org/drawingml/2006/main">
              <a:ext uri="{FF2B5EF4-FFF2-40B4-BE49-F238E27FC236}">
                <a16:creationId xmlns:a16="http://schemas.microsoft.com/office/drawing/2014/main" id="{6FBE33EC-5971-4B70-974F-22BBBB9F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print(key, value)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F8C97E-707E-4617-826D-823072E38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print(&quot;name&quot; in student)">
            <a:extLst xmlns:a="http://schemas.openxmlformats.org/drawingml/2006/main">
              <a:ext uri="{FF2B5EF4-FFF2-40B4-BE49-F238E27FC236}">
                <a16:creationId xmlns:a16="http://schemas.microsoft.com/office/drawing/2014/main" id="{CD2C27FC-0E07-41B0-ADCA-23AC16A3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print("name" in student)</a:t>
            </a:r>
          </a:p>
        </p:txBody>
      </p:sp>
      <p:sp>
        <p:nvSpPr>
          <p:cNvPr id="12" name="print(student.pop(&quot;score&quot;))">
            <a:extLst xmlns:a="http://schemas.openxmlformats.org/drawingml/2006/main">
              <a:ext uri="{FF2B5EF4-FFF2-40B4-BE49-F238E27FC236}">
                <a16:creationId xmlns:a16="http://schemas.microsoft.com/office/drawing/2014/main" id="{D27E9EA7-E8AD-4184-A6F9-5A6F310D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print(student.pop("score"))</a:t>
            </a:r>
          </a:p>
        </p:txBody>
      </p:sp>
      <p:sp>
        <p:nvSpPr>
          <p:cNvPr id="13" name="鍵值對應">
            <a:extLst xmlns:a="http://schemas.openxmlformats.org/drawingml/2006/main">
              <a:ext uri="{FF2B5EF4-FFF2-40B4-BE49-F238E27FC236}">
                <a16:creationId xmlns:a16="http://schemas.microsoft.com/office/drawing/2014/main" id="{CCC5A68B-2FD7-4BAE-8B53-96A918406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キーと値の対応</a:t>
            </a:r>
          </a:p>
        </p:txBody>
      </p:sp>
      <p:sp>
        <p:nvSpPr>
          <p:cNvPr id="14" name="d[key] 缺少鍵時產生 KeyError。 get 可指定缺少鍵時的結果。">
            <a:extLst xmlns:a="http://schemas.openxmlformats.org/drawingml/2006/main">
              <a:ext uri="{FF2B5EF4-FFF2-40B4-BE49-F238E27FC236}">
                <a16:creationId xmlns:a16="http://schemas.microsoft.com/office/drawing/2014/main" id="{9B96AE7A-36DE-40C7-B887-0E2C3F36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d[key] はキー不在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で KeyError。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get は不在時の既定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値を指定できる。</a:t>
            </a:r>
          </a:p>
        </p:txBody>
      </p:sp>
      <p:sp>
        <p:nvSpPr>
          <p:cNvPr id="15" name="in 檢查鍵">
            <a:extLst xmlns:a="http://schemas.openxmlformats.org/drawingml/2006/main">
              <a:ext uri="{FF2B5EF4-FFF2-40B4-BE49-F238E27FC236}">
                <a16:creationId xmlns:a16="http://schemas.microsoft.com/office/drawing/2014/main" id="{49A2FE4C-5E28-41D2-9E60-BCAF171D4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in はキーを調べる</a:t>
            </a:r>
          </a:p>
        </p:txBody>
      </p:sp>
      <p:sp>
        <p:nvSpPr>
          <p:cNvPr id="16" name="items 產生鍵值配對。 鍵必須可雜湊，例如 str、int。">
            <a:extLst xmlns:a="http://schemas.openxmlformats.org/drawingml/2006/main">
              <a:ext uri="{FF2B5EF4-FFF2-40B4-BE49-F238E27FC236}">
                <a16:creationId xmlns:a16="http://schemas.microsoft.com/office/drawing/2014/main" id="{94CAEE09-C584-4BB7-A6C8-C690263A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items はキーと値の組を返す。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キーは str、int など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ハッシュ可能な値。</a:t>
            </a:r>
          </a:p>
        </p:txBody>
      </p:sp>
      <p:sp>
        <p:nvSpPr>
          <p:cNvPr id="17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CA1A974B-D8AE-41FB-94B6-F663D83F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18" name="Unknown    name Amy    score 90    True    90">
            <a:extLst xmlns:a="http://schemas.openxmlformats.org/drawingml/2006/main">
              <a:ext uri="{FF2B5EF4-FFF2-40B4-BE49-F238E27FC236}">
                <a16:creationId xmlns:a16="http://schemas.microsoft.com/office/drawing/2014/main" id="{B5ECD728-5601-4165-99F1-0D49E6D7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Unknown    name Amy    score 90    True    90</a:t>
            </a:r>
          </a:p>
        </p:txBody>
      </p:sp>
    </p:spTree>
    <p:extLst>
      <p:ext uri="{BB962C8B-B14F-4D97-AF65-F5344CB8AC3E}">
        <p14:creationId xmlns:p14="http://schemas.microsoft.com/office/powerpoint/2010/main" val="35491819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t 與集合運算">
            <a:extLst xmlns:a="http://schemas.openxmlformats.org/drawingml/2006/main">
              <a:ext uri="{FF2B5EF4-FFF2-40B4-BE49-F238E27FC236}">
                <a16:creationId xmlns:a16="http://schemas.microsoft.com/office/drawing/2014/main" id="{FD0583D4-3AFB-4DF3-BE6A-8CA25B014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set と集合演算</a:t>
            </a:r>
          </a:p>
        </p:txBody>
      </p:sp>
      <p:sp>
        <p:nvSpPr>
          <p:cNvPr id="2" name="容器與資料">
            <a:extLst xmlns:a="http://schemas.openxmlformats.org/drawingml/2006/main">
              <a:ext uri="{FF2B5EF4-FFF2-40B4-BE49-F238E27FC236}">
                <a16:creationId xmlns:a16="http://schemas.microsoft.com/office/drawing/2014/main" id="{96EBB034-3EFA-4F93-A74F-B014A671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コンテナとデータ</a:t>
            </a:r>
          </a:p>
        </p:txBody>
      </p:sp>
      <p:sp>
        <p:nvSpPr>
          <p:cNvPr id="3" name="26">
            <a:extLst xmlns:a="http://schemas.openxmlformats.org/drawingml/2006/main">
              <a:ext uri="{FF2B5EF4-FFF2-40B4-BE49-F238E27FC236}">
                <a16:creationId xmlns:a16="http://schemas.microsoft.com/office/drawing/2014/main" id="{4231058F-2604-429F-9B66-1FB4FC09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26</a:t>
            </a:r>
          </a:p>
        </p:txBody>
      </p:sp>
      <p:sp>
        <p:nvSpPr>
          <p:cNvPr id="4" name="a = {1, 2, 3}">
            <a:extLst xmlns:a="http://schemas.openxmlformats.org/drawingml/2006/main">
              <a:ext uri="{FF2B5EF4-FFF2-40B4-BE49-F238E27FC236}">
                <a16:creationId xmlns:a16="http://schemas.microsoft.com/office/drawing/2014/main" id="{8624E3AC-2190-4413-B143-2DC85FB9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 = {1, 2, 3}</a:t>
            </a:r>
          </a:p>
        </p:txBody>
      </p:sp>
      <p:sp>
        <p:nvSpPr>
          <p:cNvPr id="5" name="b = {3, 4}">
            <a:extLst xmlns:a="http://schemas.openxmlformats.org/drawingml/2006/main">
              <a:ext uri="{FF2B5EF4-FFF2-40B4-BE49-F238E27FC236}">
                <a16:creationId xmlns:a16="http://schemas.microsoft.com/office/drawing/2014/main" id="{4CB5ADB9-2B5C-423B-B397-0300AC26A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b = {3, 4}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6D0F01-A7B4-4326-BB72-D4CD75273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print(sorted(a | b))">
            <a:extLst xmlns:a="http://schemas.openxmlformats.org/drawingml/2006/main">
              <a:ext uri="{FF2B5EF4-FFF2-40B4-BE49-F238E27FC236}">
                <a16:creationId xmlns:a16="http://schemas.microsoft.com/office/drawing/2014/main" id="{7994A95E-9538-46A5-A794-DE8E5467E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print(sorted(a | b))</a:t>
            </a:r>
          </a:p>
        </p:txBody>
      </p:sp>
      <p:sp>
        <p:nvSpPr>
          <p:cNvPr id="8" name="print(sorted(a &amp; b))">
            <a:extLst xmlns:a="http://schemas.openxmlformats.org/drawingml/2006/main">
              <a:ext uri="{FF2B5EF4-FFF2-40B4-BE49-F238E27FC236}">
                <a16:creationId xmlns:a16="http://schemas.microsoft.com/office/drawing/2014/main" id="{4B00BE94-CF77-4555-B4BD-4BA1D9F60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print(sorted(a &amp; b))</a:t>
            </a:r>
          </a:p>
        </p:txBody>
      </p:sp>
      <p:sp>
        <p:nvSpPr>
          <p:cNvPr id="9" name="print(sorted(a - b))">
            <a:extLst xmlns:a="http://schemas.openxmlformats.org/drawingml/2006/main">
              <a:ext uri="{FF2B5EF4-FFF2-40B4-BE49-F238E27FC236}">
                <a16:creationId xmlns:a16="http://schemas.microsoft.com/office/drawing/2014/main" id="{191D848F-951D-4F1E-BC45-84AEEA3B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print(sorted(a - b))</a:t>
            </a:r>
          </a:p>
        </p:txBody>
      </p:sp>
      <p:sp>
        <p:nvSpPr>
          <p:cNvPr id="10" name="print(sorted(a ^ b))">
            <a:extLst xmlns:a="http://schemas.openxmlformats.org/drawingml/2006/main">
              <a:ext uri="{FF2B5EF4-FFF2-40B4-BE49-F238E27FC236}">
                <a16:creationId xmlns:a16="http://schemas.microsoft.com/office/drawing/2014/main" id="{CE71C09E-830E-44E1-968A-CDBCE64E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print(sorted(a ^ b))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228ACA-844B-4992-8FD3-E8D7B3AC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a.add(4)">
            <a:extLst xmlns:a="http://schemas.openxmlformats.org/drawingml/2006/main">
              <a:ext uri="{FF2B5EF4-FFF2-40B4-BE49-F238E27FC236}">
                <a16:creationId xmlns:a16="http://schemas.microsoft.com/office/drawing/2014/main" id="{72C73572-F125-451B-9053-8A276AFC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a.add(4)</a:t>
            </a:r>
          </a:p>
        </p:txBody>
      </p:sp>
      <p:sp>
        <p:nvSpPr>
          <p:cNvPr id="13" name="a.discard(99)">
            <a:extLst xmlns:a="http://schemas.openxmlformats.org/drawingml/2006/main">
              <a:ext uri="{FF2B5EF4-FFF2-40B4-BE49-F238E27FC236}">
                <a16:creationId xmlns:a16="http://schemas.microsoft.com/office/drawing/2014/main" id="{ED6BDDEB-582C-409C-8B47-D28AF8B4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a.discard(99)</a:t>
            </a:r>
          </a:p>
        </p:txBody>
      </p:sp>
      <p:sp>
        <p:nvSpPr>
          <p:cNvPr id="14" name="print(4 in a)">
            <a:extLst xmlns:a="http://schemas.openxmlformats.org/drawingml/2006/main">
              <a:ext uri="{FF2B5EF4-FFF2-40B4-BE49-F238E27FC236}">
                <a16:creationId xmlns:a16="http://schemas.microsoft.com/office/drawing/2014/main" id="{5031EF8E-9353-47E0-A318-24B1E57E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print(4 in a)</a:t>
            </a:r>
          </a:p>
        </p:txBody>
      </p:sp>
      <p:sp>
        <p:nvSpPr>
          <p:cNvPr id="15" name="唯一值與成員判斷">
            <a:extLst xmlns:a="http://schemas.openxmlformats.org/drawingml/2006/main">
              <a:ext uri="{FF2B5EF4-FFF2-40B4-BE49-F238E27FC236}">
                <a16:creationId xmlns:a16="http://schemas.microsoft.com/office/drawing/2014/main" id="{8174F32A-8074-41F8-8D0D-AC6B2C83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一意な値と所属判定</a:t>
            </a:r>
          </a:p>
        </p:txBody>
      </p:sp>
      <p:sp>
        <p:nvSpPr>
          <p:cNvPr id="16" name="| 聯集、&amp; 交集。 - 差集、^ 對稱差集。">
            <a:extLst xmlns:a="http://schemas.openxmlformats.org/drawingml/2006/main">
              <a:ext uri="{FF2B5EF4-FFF2-40B4-BE49-F238E27FC236}">
                <a16:creationId xmlns:a16="http://schemas.microsoft.com/office/drawing/2014/main" id="{D73A1E45-6BAA-4FC0-8B1C-99C655641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| 和集合、&amp; 共通部分。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- 差集合、^ 対称差。</a:t>
            </a:r>
          </a:p>
        </p:txBody>
      </p:sp>
      <p:sp>
        <p:nvSpPr>
          <p:cNvPr id="17" name="集合沒有索引">
            <a:extLst xmlns:a="http://schemas.openxmlformats.org/drawingml/2006/main">
              <a:ext uri="{FF2B5EF4-FFF2-40B4-BE49-F238E27FC236}">
                <a16:creationId xmlns:a16="http://schemas.microsoft.com/office/drawing/2014/main" id="{76122610-C938-474B-96ED-14A1F8404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集合には添字がない</a:t>
            </a:r>
          </a:p>
        </p:txBody>
      </p:sp>
      <p:sp>
        <p:nvSpPr>
          <p:cNvPr id="18" name="輸出前 sorted 可固定順序。 discard 缺少元素時不報錯。">
            <a:extLst xmlns:a="http://schemas.openxmlformats.org/drawingml/2006/main">
              <a:ext uri="{FF2B5EF4-FFF2-40B4-BE49-F238E27FC236}">
                <a16:creationId xmlns:a16="http://schemas.microsoft.com/office/drawing/2014/main" id="{BC504456-8ED0-4F64-BEC2-B9B2297EB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出力前に sorted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で順序を固定。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discard は要素不在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でも失敗しない。</a:t>
            </a:r>
          </a:p>
        </p:txBody>
      </p:sp>
      <p:sp>
        <p:nvSpPr>
          <p:cNvPr id="19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7C11E4A4-D32F-476E-9DE2-F4A894255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20" name="[1, 2, 3, 4]    [3]    [1, 2]    [1, 2, 4]    True">
            <a:extLst xmlns:a="http://schemas.openxmlformats.org/drawingml/2006/main">
              <a:ext uri="{FF2B5EF4-FFF2-40B4-BE49-F238E27FC236}">
                <a16:creationId xmlns:a16="http://schemas.microsoft.com/office/drawing/2014/main" id="{0416F349-D27E-4E79-AE27-2051183D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[1, 2, 3, 4]    [3]    [1, 2]    [1, 2, 4]    True</a:t>
            </a:r>
          </a:p>
        </p:txBody>
      </p:sp>
    </p:spTree>
    <p:extLst>
      <p:ext uri="{BB962C8B-B14F-4D97-AF65-F5344CB8AC3E}">
        <p14:creationId xmlns:p14="http://schemas.microsoft.com/office/powerpoint/2010/main" val="49284863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星號解包與資料合併">
            <a:extLst xmlns:a="http://schemas.openxmlformats.org/drawingml/2006/main">
              <a:ext uri="{FF2B5EF4-FFF2-40B4-BE49-F238E27FC236}">
                <a16:creationId xmlns:a16="http://schemas.microsoft.com/office/drawing/2014/main" id="{E4E3CBCE-40C3-40E5-9793-6901461C5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星印による展開とデータの結合</a:t>
            </a:r>
          </a:p>
        </p:txBody>
      </p:sp>
      <p:sp>
        <p:nvSpPr>
          <p:cNvPr id="2" name="容器與資料">
            <a:extLst xmlns:a="http://schemas.openxmlformats.org/drawingml/2006/main">
              <a:ext uri="{FF2B5EF4-FFF2-40B4-BE49-F238E27FC236}">
                <a16:creationId xmlns:a16="http://schemas.microsoft.com/office/drawing/2014/main" id="{E45EAE34-80DD-4398-8DA1-51A2A042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コンテナとデータ</a:t>
            </a:r>
          </a:p>
        </p:txBody>
      </p:sp>
      <p:sp>
        <p:nvSpPr>
          <p:cNvPr id="3" name="27">
            <a:extLst xmlns:a="http://schemas.openxmlformats.org/drawingml/2006/main">
              <a:ext uri="{FF2B5EF4-FFF2-40B4-BE49-F238E27FC236}">
                <a16:creationId xmlns:a16="http://schemas.microsoft.com/office/drawing/2014/main" id="{CBD27472-0B1B-4E0E-A7DC-28F21B486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27</a:t>
            </a:r>
          </a:p>
        </p:txBody>
      </p:sp>
      <p:sp>
        <p:nvSpPr>
          <p:cNvPr id="4" name="first, *middle, last = [1, 2, 3, 4]">
            <a:extLst xmlns:a="http://schemas.openxmlformats.org/drawingml/2006/main">
              <a:ext uri="{FF2B5EF4-FFF2-40B4-BE49-F238E27FC236}">
                <a16:creationId xmlns:a16="http://schemas.microsoft.com/office/drawing/2014/main" id="{C59100CF-2E64-4CE4-9269-F5666E6B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first, *middle, last = [1, 2, 3, 4]</a:t>
            </a:r>
          </a:p>
        </p:txBody>
      </p:sp>
      <p:sp>
        <p:nvSpPr>
          <p:cNvPr id="5" name="print(first, middle, last)">
            <a:extLst xmlns:a="http://schemas.openxmlformats.org/drawingml/2006/main">
              <a:ext uri="{FF2B5EF4-FFF2-40B4-BE49-F238E27FC236}">
                <a16:creationId xmlns:a16="http://schemas.microsoft.com/office/drawing/2014/main" id="{9E88F7A6-0DBF-4668-9983-89C33A957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print(first, middle, last)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4068FF-ED04-4B8F-AB88-1F810FAE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a = [1, 2]">
            <a:extLst xmlns:a="http://schemas.openxmlformats.org/drawingml/2006/main">
              <a:ext uri="{FF2B5EF4-FFF2-40B4-BE49-F238E27FC236}">
                <a16:creationId xmlns:a16="http://schemas.microsoft.com/office/drawing/2014/main" id="{0119C05B-3506-4E35-AAC8-D6CDC80A1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 = [1, 2]</a:t>
            </a:r>
          </a:p>
        </p:txBody>
      </p:sp>
      <p:sp>
        <p:nvSpPr>
          <p:cNvPr id="8" name="print([0, *a, 3])">
            <a:extLst xmlns:a="http://schemas.openxmlformats.org/drawingml/2006/main">
              <a:ext uri="{FF2B5EF4-FFF2-40B4-BE49-F238E27FC236}">
                <a16:creationId xmlns:a16="http://schemas.microsoft.com/office/drawing/2014/main" id="{D4644B0F-9A5E-40CD-B867-82CCCBEA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print([0, *a, 3])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2608E7-7776-442D-B37E-9741C4E1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base = {&quot;color&quot;: &quot;blue&quot;, &quot;size&quot;: 2}">
            <a:extLst xmlns:a="http://schemas.openxmlformats.org/drawingml/2006/main">
              <a:ext uri="{FF2B5EF4-FFF2-40B4-BE49-F238E27FC236}">
                <a16:creationId xmlns:a16="http://schemas.microsoft.com/office/drawing/2014/main" id="{2BA124A8-FCEF-484C-A51E-F63A0858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base = {"color": "blue", "size": 2}</a:t>
            </a:r>
          </a:p>
        </p:txBody>
      </p:sp>
      <p:sp>
        <p:nvSpPr>
          <p:cNvPr id="11" name="merged = {**base, &quot;size&quot;: 3}">
            <a:extLst xmlns:a="http://schemas.openxmlformats.org/drawingml/2006/main">
              <a:ext uri="{FF2B5EF4-FFF2-40B4-BE49-F238E27FC236}">
                <a16:creationId xmlns:a16="http://schemas.microsoft.com/office/drawing/2014/main" id="{DE615899-C820-4C7A-B442-4A5791EA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merged = {**base, "size": 3}</a:t>
            </a:r>
          </a:p>
        </p:txBody>
      </p:sp>
      <p:sp>
        <p:nvSpPr>
          <p:cNvPr id="12" name="print(merged)">
            <a:extLst xmlns:a="http://schemas.openxmlformats.org/drawingml/2006/main">
              <a:ext uri="{FF2B5EF4-FFF2-40B4-BE49-F238E27FC236}">
                <a16:creationId xmlns:a16="http://schemas.microsoft.com/office/drawing/2014/main" id="{080B4ECE-9388-4889-91EA-A904BE3F7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print(merged)</a:t>
            </a:r>
          </a:p>
        </p:txBody>
      </p:sp>
      <p:sp>
        <p:nvSpPr>
          <p:cNvPr id="13" name="* 收集或展開序列">
            <a:extLst xmlns:a="http://schemas.openxmlformats.org/drawingml/2006/main">
              <a:ext uri="{FF2B5EF4-FFF2-40B4-BE49-F238E27FC236}">
                <a16:creationId xmlns:a16="http://schemas.microsoft.com/office/drawing/2014/main" id="{1210DCBD-6B3A-4582-AD81-A19287DB3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* は収集または展開する</a:t>
            </a:r>
          </a:p>
        </p:txBody>
      </p:sp>
      <p:sp>
        <p:nvSpPr>
          <p:cNvPr id="14" name="指定時的星號目標得到 list。 呼叫函式時也可用 * 展開。">
            <a:extLst xmlns:a="http://schemas.openxmlformats.org/drawingml/2006/main">
              <a:ext uri="{FF2B5EF4-FFF2-40B4-BE49-F238E27FC236}">
                <a16:creationId xmlns:a16="http://schemas.microsoft.com/office/drawing/2014/main" id="{0092637E-1D69-444A-BADA-2FE58DE39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代入の星印付き対象は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list を受け取る。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関数呼び出しでも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* で展開できる。</a:t>
            </a:r>
          </a:p>
        </p:txBody>
      </p:sp>
      <p:sp>
        <p:nvSpPr>
          <p:cNvPr id="15" name="** 展開鍵值對">
            <a:extLst xmlns:a="http://schemas.openxmlformats.org/drawingml/2006/main">
              <a:ext uri="{FF2B5EF4-FFF2-40B4-BE49-F238E27FC236}">
                <a16:creationId xmlns:a16="http://schemas.microsoft.com/office/drawing/2014/main" id="{927BF182-F7BA-4225-A59C-E0C4BEE1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** はキーと値を展開する</a:t>
            </a:r>
          </a:p>
        </p:txBody>
      </p:sp>
      <p:sp>
        <p:nvSpPr>
          <p:cNvPr id="16" name="字典常值中較後的同名鍵 覆蓋前面的值。">
            <a:extLst xmlns:a="http://schemas.openxmlformats.org/drawingml/2006/main">
              <a:ext uri="{FF2B5EF4-FFF2-40B4-BE49-F238E27FC236}">
                <a16:creationId xmlns:a16="http://schemas.microsoft.com/office/drawing/2014/main" id="{45881383-2711-4AFD-B77F-7648E4139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辞書リテラルで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同じキーが続くと、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後の値が前の値を上書きする。</a:t>
            </a:r>
          </a:p>
        </p:txBody>
      </p:sp>
      <p:sp>
        <p:nvSpPr>
          <p:cNvPr id="17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9592EE93-D609-4702-8706-72A8AB00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18" name="1 [2, 3] 4    [0, 1, 2, 3]    {'color': 'blue', 'size':">
            <a:extLst xmlns:a="http://schemas.openxmlformats.org/drawingml/2006/main">
              <a:ext uri="{FF2B5EF4-FFF2-40B4-BE49-F238E27FC236}">
                <a16:creationId xmlns:a16="http://schemas.microsoft.com/office/drawing/2014/main" id="{475F9ECB-E783-4086-95E5-B4C950733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1 [2, 3] 4    [0, 1, 2, 3]    {'color': 'blue', 'size': 3}</a:t>
            </a:r>
          </a:p>
        </p:txBody>
      </p:sp>
    </p:spTree>
    <p:extLst>
      <p:ext uri="{BB962C8B-B14F-4D97-AF65-F5344CB8AC3E}">
        <p14:creationId xmlns:p14="http://schemas.microsoft.com/office/powerpoint/2010/main" val="158747665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list、dict 與 set 推導式">
            <a:extLst xmlns:a="http://schemas.openxmlformats.org/drawingml/2006/main">
              <a:ext uri="{FF2B5EF4-FFF2-40B4-BE49-F238E27FC236}">
                <a16:creationId xmlns:a16="http://schemas.microsoft.com/office/drawing/2014/main" id="{AFC37511-3055-4B19-BD1D-7C4DD7C6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list、dict と set の内包表記</a:t>
            </a:r>
          </a:p>
        </p:txBody>
      </p:sp>
      <p:sp>
        <p:nvSpPr>
          <p:cNvPr id="2" name="容器與資料">
            <a:extLst xmlns:a="http://schemas.openxmlformats.org/drawingml/2006/main">
              <a:ext uri="{FF2B5EF4-FFF2-40B4-BE49-F238E27FC236}">
                <a16:creationId xmlns:a16="http://schemas.microsoft.com/office/drawing/2014/main" id="{33295E7E-AC4C-44A1-9468-0A1C9B26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コンテナとデータ</a:t>
            </a:r>
          </a:p>
        </p:txBody>
      </p:sp>
      <p:sp>
        <p:nvSpPr>
          <p:cNvPr id="3" name="28">
            <a:extLst xmlns:a="http://schemas.openxmlformats.org/drawingml/2006/main">
              <a:ext uri="{FF2B5EF4-FFF2-40B4-BE49-F238E27FC236}">
                <a16:creationId xmlns:a16="http://schemas.microsoft.com/office/drawing/2014/main" id="{F422E9C3-BD6A-40F9-9D48-378263B4E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28</a:t>
            </a:r>
          </a:p>
        </p:txBody>
      </p:sp>
      <p:sp>
        <p:nvSpPr>
          <p:cNvPr id="4" name="nums = [1, 2, 2, 3]">
            <a:extLst xmlns:a="http://schemas.openxmlformats.org/drawingml/2006/main">
              <a:ext uri="{FF2B5EF4-FFF2-40B4-BE49-F238E27FC236}">
                <a16:creationId xmlns:a16="http://schemas.microsoft.com/office/drawing/2014/main" id="{A9C910C8-9919-49EB-9B9E-BC63DF34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nums = [1, 2, 2, 3]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D2CCA9-E3C6-4949-BAF9-9F231DBBE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print([n * n for n in nums if n &gt; 1])">
            <a:extLst xmlns:a="http://schemas.openxmlformats.org/drawingml/2006/main">
              <a:ext uri="{FF2B5EF4-FFF2-40B4-BE49-F238E27FC236}">
                <a16:creationId xmlns:a16="http://schemas.microsoft.com/office/drawing/2014/main" id="{34620536-D318-43CF-B6DE-13D87C55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print([n * n for n in nums if n &gt; 1])</a:t>
            </a:r>
          </a:p>
        </p:txBody>
      </p:sp>
      <p:sp>
        <p:nvSpPr>
          <p:cNvPr id="7" name="print({n: n * n for n in nums})">
            <a:extLst xmlns:a="http://schemas.openxmlformats.org/drawingml/2006/main">
              <a:ext uri="{FF2B5EF4-FFF2-40B4-BE49-F238E27FC236}">
                <a16:creationId xmlns:a16="http://schemas.microsoft.com/office/drawing/2014/main" id="{794C15C9-09E4-40D2-908E-649CD8434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print({n: n * n for n in nums})</a:t>
            </a:r>
          </a:p>
        </p:txBody>
      </p:sp>
      <p:sp>
        <p:nvSpPr>
          <p:cNvPr id="8" name="print(sorted({n % 2 for n in nums}))">
            <a:extLst xmlns:a="http://schemas.openxmlformats.org/drawingml/2006/main">
              <a:ext uri="{FF2B5EF4-FFF2-40B4-BE49-F238E27FC236}">
                <a16:creationId xmlns:a16="http://schemas.microsoft.com/office/drawing/2014/main" id="{DEC5EA64-9DEE-43B1-BA44-1ECD0EDF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print(sorted({n % 2 for n in nums}))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C9A230-ADF8-438B-92ED-9D6E62E42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grid = [[1, 2], [3, 4]]">
            <a:extLst xmlns:a="http://schemas.openxmlformats.org/drawingml/2006/main">
              <a:ext uri="{FF2B5EF4-FFF2-40B4-BE49-F238E27FC236}">
                <a16:creationId xmlns:a16="http://schemas.microsoft.com/office/drawing/2014/main" id="{6A13AAD8-F44E-4C69-A0C8-BFC696456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grid = [[1, 2], [3, 4]]</a:t>
            </a:r>
          </a:p>
        </p:txBody>
      </p:sp>
      <p:sp>
        <p:nvSpPr>
          <p:cNvPr id="11" name="print([x for row in grid for x in row])">
            <a:extLst xmlns:a="http://schemas.openxmlformats.org/drawingml/2006/main">
              <a:ext uri="{FF2B5EF4-FFF2-40B4-BE49-F238E27FC236}">
                <a16:creationId xmlns:a16="http://schemas.microsoft.com/office/drawing/2014/main" id="{9146B401-5AE1-4807-8E5C-FFACC409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print([x for row in grid for x in row])</a:t>
            </a:r>
          </a:p>
        </p:txBody>
      </p:sp>
      <p:sp>
        <p:nvSpPr>
          <p:cNvPr id="12" name="轉換與篩選">
            <a:extLst xmlns:a="http://schemas.openxmlformats.org/drawingml/2006/main">
              <a:ext uri="{FF2B5EF4-FFF2-40B4-BE49-F238E27FC236}">
                <a16:creationId xmlns:a16="http://schemas.microsoft.com/office/drawing/2014/main" id="{338F7982-7A62-4253-AC40-BCD96A27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変換と抽出</a:t>
            </a:r>
          </a:p>
        </p:txBody>
      </p:sp>
      <p:sp>
        <p:nvSpPr>
          <p:cNvPr id="13" name="for 指定資料來源， 尾端 if 決定保留哪些元素。">
            <a:extLst xmlns:a="http://schemas.openxmlformats.org/drawingml/2006/main">
              <a:ext uri="{FF2B5EF4-FFF2-40B4-BE49-F238E27FC236}">
                <a16:creationId xmlns:a16="http://schemas.microsoft.com/office/drawing/2014/main" id="{71152757-CDAB-4E6A-9C04-E8E057A0B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for がデータ源を指定。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末尾の if が残す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要素を決める。</a:t>
            </a:r>
          </a:p>
        </p:txBody>
      </p:sp>
      <p:sp>
        <p:nvSpPr>
          <p:cNvPr id="14" name="巢狀順序由左到右">
            <a:extLst xmlns:a="http://schemas.openxmlformats.org/drawingml/2006/main">
              <a:ext uri="{FF2B5EF4-FFF2-40B4-BE49-F238E27FC236}">
                <a16:creationId xmlns:a16="http://schemas.microsoft.com/office/drawing/2014/main" id="{570D6A42-4B5B-426E-9152-D98DC791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入れ子の順序は左から右</a:t>
            </a:r>
          </a:p>
        </p:txBody>
      </p:sp>
      <p:sp>
        <p:nvSpPr>
          <p:cNvPr id="15" name="先取得 row，再走訪 row。 複雜邏輯可改寫成一般迴圈。">
            <a:extLst xmlns:a="http://schemas.openxmlformats.org/drawingml/2006/main">
              <a:ext uri="{FF2B5EF4-FFF2-40B4-BE49-F238E27FC236}">
                <a16:creationId xmlns:a16="http://schemas.microsoft.com/office/drawing/2014/main" id="{0DC260FA-1D02-4D66-A957-28B5A209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row を取得して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から内部を走査。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複雑な処理は通常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のループに分ける。</a:t>
            </a:r>
          </a:p>
        </p:txBody>
      </p:sp>
      <p:sp>
        <p:nvSpPr>
          <p:cNvPr id="16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9C4EDCEF-A5F4-4C24-A26E-3BC9FB80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17" name="[4, 4, 9]    {1: 1, 2: 4, 3: 9}    [0, 1]    [1, 2, 3, ">
            <a:extLst xmlns:a="http://schemas.openxmlformats.org/drawingml/2006/main">
              <a:ext uri="{FF2B5EF4-FFF2-40B4-BE49-F238E27FC236}">
                <a16:creationId xmlns:a16="http://schemas.microsoft.com/office/drawing/2014/main" id="{95419422-6E3A-447A-9F76-79001F4F2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[4, 4, 9]    {1: 1, 2: 4, 3: 9}    [0, 1]    [1, 2, 3, 4]</a:t>
            </a:r>
          </a:p>
        </p:txBody>
      </p:sp>
    </p:spTree>
    <p:extLst>
      <p:ext uri="{BB962C8B-B14F-4D97-AF65-F5344CB8AC3E}">
        <p14:creationId xmlns:p14="http://schemas.microsoft.com/office/powerpoint/2010/main" val="1587713081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def、return 與 docstring">
            <a:extLst xmlns:a="http://schemas.openxmlformats.org/drawingml/2006/main">
              <a:ext uri="{FF2B5EF4-FFF2-40B4-BE49-F238E27FC236}">
                <a16:creationId xmlns:a16="http://schemas.microsoft.com/office/drawing/2014/main" id="{A1FD1D83-16A8-474F-BC2C-8A4990D5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def、return と docstring</a:t>
            </a:r>
          </a:p>
        </p:txBody>
      </p:sp>
      <p:sp>
        <p:nvSpPr>
          <p:cNvPr id="2" name="函式與參考">
            <a:extLst xmlns:a="http://schemas.openxmlformats.org/drawingml/2006/main">
              <a:ext uri="{FF2B5EF4-FFF2-40B4-BE49-F238E27FC236}">
                <a16:creationId xmlns:a16="http://schemas.microsoft.com/office/drawing/2014/main" id="{E6445369-AF09-4247-95AE-284FFFB7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関数と参照</a:t>
            </a:r>
          </a:p>
        </p:txBody>
      </p:sp>
      <p:sp>
        <p:nvSpPr>
          <p:cNvPr id="3" name="29">
            <a:extLst xmlns:a="http://schemas.openxmlformats.org/drawingml/2006/main">
              <a:ext uri="{FF2B5EF4-FFF2-40B4-BE49-F238E27FC236}">
                <a16:creationId xmlns:a16="http://schemas.microsoft.com/office/drawing/2014/main" id="{F62FA6A1-0925-45F1-9F9B-AA13C9EB8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29</a:t>
            </a:r>
          </a:p>
        </p:txBody>
      </p:sp>
      <p:sp>
        <p:nvSpPr>
          <p:cNvPr id="4" name="def bounds(values):">
            <a:extLst xmlns:a="http://schemas.openxmlformats.org/drawingml/2006/main">
              <a:ext uri="{FF2B5EF4-FFF2-40B4-BE49-F238E27FC236}">
                <a16:creationId xmlns:a16="http://schemas.microsoft.com/office/drawing/2014/main" id="{56D78E83-7957-4B0A-B601-8E4D19740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def bounds(values):</a:t>
            </a:r>
          </a:p>
        </p:txBody>
      </p:sp>
      <p:sp>
        <p:nvSpPr>
          <p:cNvPr id="5" name="    &quot;&quot;&quot;Return the smallest and largest.&quot;&quot;&quot;">
            <a:extLst xmlns:a="http://schemas.openxmlformats.org/drawingml/2006/main">
              <a:ext uri="{FF2B5EF4-FFF2-40B4-BE49-F238E27FC236}">
                <a16:creationId xmlns:a16="http://schemas.microsoft.com/office/drawing/2014/main" id="{FCE10C69-BEDB-497D-8CB9-439A6B29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"""Return the smallest and largest."""</a:t>
            </a:r>
          </a:p>
        </p:txBody>
      </p:sp>
      <p:sp>
        <p:nvSpPr>
          <p:cNvPr id="6" name="    return min(values), max(values)">
            <a:extLst xmlns:a="http://schemas.openxmlformats.org/drawingml/2006/main">
              <a:ext uri="{FF2B5EF4-FFF2-40B4-BE49-F238E27FC236}">
                <a16:creationId xmlns:a16="http://schemas.microsoft.com/office/drawing/2014/main" id="{7ACCCBEA-70D6-48CC-8A91-D22C93DE1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return min(values), max(values)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4587D2-83B5-4FCB-BF19-7207A8C6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low, high = bounds([3, 1, 8])">
            <a:extLst xmlns:a="http://schemas.openxmlformats.org/drawingml/2006/main">
              <a:ext uri="{FF2B5EF4-FFF2-40B4-BE49-F238E27FC236}">
                <a16:creationId xmlns:a16="http://schemas.microsoft.com/office/drawing/2014/main" id="{6CA6E5D7-AC80-48DC-B94D-E66A1467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low, high = bounds([3, 1, 8])</a:t>
            </a:r>
          </a:p>
        </p:txBody>
      </p:sp>
      <p:sp>
        <p:nvSpPr>
          <p:cNvPr id="9" name="print(low, high)">
            <a:extLst xmlns:a="http://schemas.openxmlformats.org/drawingml/2006/main">
              <a:ext uri="{FF2B5EF4-FFF2-40B4-BE49-F238E27FC236}">
                <a16:creationId xmlns:a16="http://schemas.microsoft.com/office/drawing/2014/main" id="{1D803DBF-08C3-4636-A9BC-BDBB4C20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print(low, high)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7B32FE-6F91-4B8B-8B5C-1BB3E6CAB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def greet():">
            <a:extLst xmlns:a="http://schemas.openxmlformats.org/drawingml/2006/main">
              <a:ext uri="{FF2B5EF4-FFF2-40B4-BE49-F238E27FC236}">
                <a16:creationId xmlns:a16="http://schemas.microsoft.com/office/drawing/2014/main" id="{0FA0F476-A282-408D-8017-1C836B3CE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def greet():</a:t>
            </a:r>
          </a:p>
        </p:txBody>
      </p:sp>
      <p:sp>
        <p:nvSpPr>
          <p:cNvPr id="12" name="    print(&quot;Hello&quot;)">
            <a:extLst xmlns:a="http://schemas.openxmlformats.org/drawingml/2006/main">
              <a:ext uri="{FF2B5EF4-FFF2-40B4-BE49-F238E27FC236}">
                <a16:creationId xmlns:a16="http://schemas.microsoft.com/office/drawing/2014/main" id="{5F71C16B-124F-410F-BE7B-04D48E3EF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print("Hello")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560F64-18B8-4915-9EF4-75372D7DF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print(greet())">
            <a:extLst xmlns:a="http://schemas.openxmlformats.org/drawingml/2006/main">
              <a:ext uri="{FF2B5EF4-FFF2-40B4-BE49-F238E27FC236}">
                <a16:creationId xmlns:a16="http://schemas.microsoft.com/office/drawing/2014/main" id="{60F21A45-8E48-4811-879D-DB5C4DF1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print(greet())</a:t>
            </a:r>
          </a:p>
        </p:txBody>
      </p:sp>
      <p:sp>
        <p:nvSpPr>
          <p:cNvPr id="15" name="回傳多值是 tuple 解包">
            <a:extLst xmlns:a="http://schemas.openxmlformats.org/drawingml/2006/main">
              <a:ext uri="{FF2B5EF4-FFF2-40B4-BE49-F238E27FC236}">
                <a16:creationId xmlns:a16="http://schemas.microsoft.com/office/drawing/2014/main" id="{D0796BD1-C0D8-4F4B-8138-620DFF62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複数の戻り値は tuple を展開</a:t>
            </a:r>
          </a:p>
        </p:txBody>
      </p:sp>
      <p:sp>
        <p:nvSpPr>
          <p:cNvPr id="16" name="return 結束函式呼叫。 未指定回傳值時得到 None。">
            <a:extLst xmlns:a="http://schemas.openxmlformats.org/drawingml/2006/main">
              <a:ext uri="{FF2B5EF4-FFF2-40B4-BE49-F238E27FC236}">
                <a16:creationId xmlns:a16="http://schemas.microsoft.com/office/drawing/2014/main" id="{58A149A1-84E9-4D9E-AEC3-65C0FCCC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return は関数呼び出しを終了。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戻り値の指定がなければ None。</a:t>
            </a:r>
          </a:p>
        </p:txBody>
      </p:sp>
      <p:sp>
        <p:nvSpPr>
          <p:cNvPr id="17" name="docstring 說明用途">
            <a:extLst xmlns:a="http://schemas.openxmlformats.org/drawingml/2006/main">
              <a:ext uri="{FF2B5EF4-FFF2-40B4-BE49-F238E27FC236}">
                <a16:creationId xmlns:a16="http://schemas.microsoft.com/office/drawing/2014/main" id="{50CD00E5-32B1-4E8F-85B3-20490336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docstring は用途を説明する</a:t>
            </a:r>
          </a:p>
        </p:txBody>
      </p:sp>
      <p:sp>
        <p:nvSpPr>
          <p:cNvPr id="18" name="函式內可呼叫自己形成遞迴。 遞迴需有停止條件。">
            <a:extLst xmlns:a="http://schemas.openxmlformats.org/drawingml/2006/main">
              <a:ext uri="{FF2B5EF4-FFF2-40B4-BE49-F238E27FC236}">
                <a16:creationId xmlns:a16="http://schemas.microsoft.com/office/drawing/2014/main" id="{3F16D319-063C-4131-9514-BD2EDAB1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自分自身を呼び出す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と再帰になる。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再帰には停止条件が必要。</a:t>
            </a:r>
          </a:p>
        </p:txBody>
      </p:sp>
      <p:sp>
        <p:nvSpPr>
          <p:cNvPr id="19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59618410-127C-4796-A31A-CF905B5D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20" name="1 8    Hello    None">
            <a:extLst xmlns:a="http://schemas.openxmlformats.org/drawingml/2006/main">
              <a:ext uri="{FF2B5EF4-FFF2-40B4-BE49-F238E27FC236}">
                <a16:creationId xmlns:a16="http://schemas.microsoft.com/office/drawing/2014/main" id="{AED0B222-302B-4472-ACD1-E8F56DC2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1 8    Hello    None</a:t>
            </a:r>
          </a:p>
        </p:txBody>
      </p:sp>
    </p:spTree>
    <p:extLst>
      <p:ext uri="{BB962C8B-B14F-4D97-AF65-F5344CB8AC3E}">
        <p14:creationId xmlns:p14="http://schemas.microsoft.com/office/powerpoint/2010/main" val="1021843321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位置、關鍵字與預設參數">
            <a:extLst xmlns:a="http://schemas.openxmlformats.org/drawingml/2006/main">
              <a:ext uri="{FF2B5EF4-FFF2-40B4-BE49-F238E27FC236}">
                <a16:creationId xmlns:a16="http://schemas.microsoft.com/office/drawing/2014/main" id="{2AC142A3-DF01-40F6-983B-ADC077C6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位置引数、キーワード引数と既定値</a:t>
            </a:r>
          </a:p>
        </p:txBody>
      </p:sp>
      <p:sp>
        <p:nvSpPr>
          <p:cNvPr id="2" name="函式與參考">
            <a:extLst xmlns:a="http://schemas.openxmlformats.org/drawingml/2006/main">
              <a:ext uri="{FF2B5EF4-FFF2-40B4-BE49-F238E27FC236}">
                <a16:creationId xmlns:a16="http://schemas.microsoft.com/office/drawing/2014/main" id="{224D7D5D-538C-438F-8505-99E538C1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関数と参照</a:t>
            </a:r>
          </a:p>
        </p:txBody>
      </p:sp>
      <p:sp>
        <p:nvSpPr>
          <p:cNvPr id="3" name="30">
            <a:extLst xmlns:a="http://schemas.openxmlformats.org/drawingml/2006/main">
              <a:ext uri="{FF2B5EF4-FFF2-40B4-BE49-F238E27FC236}">
                <a16:creationId xmlns:a16="http://schemas.microsoft.com/office/drawing/2014/main" id="{6C625540-C33A-4287-8BEB-22A8B21D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30</a:t>
            </a:r>
          </a:p>
        </p:txBody>
      </p:sp>
      <p:sp>
        <p:nvSpPr>
          <p:cNvPr id="4" name="def scale(value, /, factor=2, *, unit=&quot;m&quot;):">
            <a:extLst xmlns:a="http://schemas.openxmlformats.org/drawingml/2006/main">
              <a:ext uri="{FF2B5EF4-FFF2-40B4-BE49-F238E27FC236}">
                <a16:creationId xmlns:a16="http://schemas.microsoft.com/office/drawing/2014/main" id="{547D83EA-A1EC-48D8-AAB5-1C46D32B5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def scale(value, /, factor=2, *, unit="m"):</a:t>
            </a:r>
          </a:p>
        </p:txBody>
      </p:sp>
      <p:sp>
        <p:nvSpPr>
          <p:cNvPr id="5" name="    return f&quot;{value * factor}{unit}&quot;">
            <a:extLst xmlns:a="http://schemas.openxmlformats.org/drawingml/2006/main">
              <a:ext uri="{FF2B5EF4-FFF2-40B4-BE49-F238E27FC236}">
                <a16:creationId xmlns:a16="http://schemas.microsoft.com/office/drawing/2014/main" id="{4C355200-A14E-4A5C-85E9-B777E5AC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return f"{value * factor}{unit}"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9FCC8C-4D5F-44F3-922D-50C6F1881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print(scale(3))">
            <a:extLst xmlns:a="http://schemas.openxmlformats.org/drawingml/2006/main">
              <a:ext uri="{FF2B5EF4-FFF2-40B4-BE49-F238E27FC236}">
                <a16:creationId xmlns:a16="http://schemas.microsoft.com/office/drawing/2014/main" id="{C5414A71-6B98-477A-BA70-3EBAF8C1B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print(scale(3))</a:t>
            </a:r>
          </a:p>
        </p:txBody>
      </p:sp>
      <p:sp>
        <p:nvSpPr>
          <p:cNvPr id="8" name="print(scale(3, factor=4, unit=&quot;cm&quot;))">
            <a:extLst xmlns:a="http://schemas.openxmlformats.org/drawingml/2006/main">
              <a:ext uri="{FF2B5EF4-FFF2-40B4-BE49-F238E27FC236}">
                <a16:creationId xmlns:a16="http://schemas.microsoft.com/office/drawing/2014/main" id="{4E653559-1BC7-461F-B1A1-695F99A22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print(scale(3, factor=4, unit="cm"))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523600-AE26-421D-AE1C-2D659A15E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# scale(value=3)">
            <a:extLst xmlns:a="http://schemas.openxmlformats.org/drawingml/2006/main">
              <a:ext uri="{FF2B5EF4-FFF2-40B4-BE49-F238E27FC236}">
                <a16:creationId xmlns:a16="http://schemas.microsoft.com/office/drawing/2014/main" id="{F470EC43-7066-46E9-BC11-B3F9DED42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A9BDC7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A9BDC7"/>
                </a:solidFill>
                <a:latin typeface="Consolas"/>
                <a:ea typeface="Consolas"/>
                <a:cs typeface="Consolas"/>
              </a:rPr>
              <a:t># scale(value=3)</a:t>
            </a:r>
          </a:p>
        </p:txBody>
      </p:sp>
      <p:sp>
        <p:nvSpPr>
          <p:cNvPr id="11" name="# scale(3, 4, &quot;cm&quot;)">
            <a:extLst xmlns:a="http://schemas.openxmlformats.org/drawingml/2006/main">
              <a:ext uri="{FF2B5EF4-FFF2-40B4-BE49-F238E27FC236}">
                <a16:creationId xmlns:a16="http://schemas.microsoft.com/office/drawing/2014/main" id="{70BB1304-EF93-4161-9853-BFC91F3C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A9BDC7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A9BDC7"/>
                </a:solidFill>
                <a:latin typeface="Consolas"/>
                <a:ea typeface="Consolas"/>
                <a:cs typeface="Consolas"/>
              </a:rPr>
              <a:t># scale(3, 4, "cm")</a:t>
            </a:r>
          </a:p>
        </p:txBody>
      </p:sp>
      <p:sp>
        <p:nvSpPr>
          <p:cNvPr id="12" name="/ 左側只接受位置參數">
            <a:extLst xmlns:a="http://schemas.openxmlformats.org/drawingml/2006/main">
              <a:ext uri="{FF2B5EF4-FFF2-40B4-BE49-F238E27FC236}">
                <a16:creationId xmlns:a16="http://schemas.microsoft.com/office/drawing/2014/main" id="{B52BA045-80D4-455E-8D24-906D6DCF7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/ の左側は位置引数のみ</a:t>
            </a:r>
          </a:p>
        </p:txBody>
      </p:sp>
      <p:sp>
        <p:nvSpPr>
          <p:cNvPr id="13" name="value 必須按位置傳入。 factor 可用位置或關鍵字。">
            <a:extLst xmlns:a="http://schemas.openxmlformats.org/drawingml/2006/main">
              <a:ext uri="{FF2B5EF4-FFF2-40B4-BE49-F238E27FC236}">
                <a16:creationId xmlns:a16="http://schemas.microsoft.com/office/drawing/2014/main" id="{B2F28310-1C4A-4B27-BB58-370E492D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value は位置で渡す。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factor は位置でも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名前でも渡せる。</a:t>
            </a:r>
          </a:p>
        </p:txBody>
      </p:sp>
      <p:sp>
        <p:nvSpPr>
          <p:cNvPr id="14" name="* 右側只接受關鍵字">
            <a:extLst xmlns:a="http://schemas.openxmlformats.org/drawingml/2006/main">
              <a:ext uri="{FF2B5EF4-FFF2-40B4-BE49-F238E27FC236}">
                <a16:creationId xmlns:a16="http://schemas.microsoft.com/office/drawing/2014/main" id="{7110E5A4-7FC0-4132-A0BA-731F09B6D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* の右側はキーワードのみ</a:t>
            </a:r>
          </a:p>
        </p:txBody>
      </p:sp>
      <p:sp>
        <p:nvSpPr>
          <p:cNvPr id="15" name="unit 必須寫出參數名稱。 底下兩種呼叫會產生 TypeError。">
            <a:extLst xmlns:a="http://schemas.openxmlformats.org/drawingml/2006/main">
              <a:ext uri="{FF2B5EF4-FFF2-40B4-BE49-F238E27FC236}">
                <a16:creationId xmlns:a16="http://schemas.microsoft.com/office/drawing/2014/main" id="{5F707F22-3409-4902-9BAF-494F7AE3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unit は引数名を明記する。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末尾の2つの呼び出し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は TypeError。</a:t>
            </a:r>
          </a:p>
        </p:txBody>
      </p:sp>
      <p:sp>
        <p:nvSpPr>
          <p:cNvPr id="16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1FF21C53-979D-401C-92F3-088EA636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17" name="6m    12cm">
            <a:extLst xmlns:a="http://schemas.openxmlformats.org/drawingml/2006/main">
              <a:ext uri="{FF2B5EF4-FFF2-40B4-BE49-F238E27FC236}">
                <a16:creationId xmlns:a16="http://schemas.microsoft.com/office/drawing/2014/main" id="{EE9D2467-A078-4074-9AF4-9CCFF33E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6m    12cm</a:t>
            </a:r>
          </a:p>
        </p:txBody>
      </p:sp>
    </p:spTree>
    <p:extLst>
      <p:ext uri="{BB962C8B-B14F-4D97-AF65-F5344CB8AC3E}">
        <p14:creationId xmlns:p14="http://schemas.microsoft.com/office/powerpoint/2010/main" val="106175532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*args 與 **kwargs">
            <a:extLst xmlns:a="http://schemas.openxmlformats.org/drawingml/2006/main">
              <a:ext uri="{FF2B5EF4-FFF2-40B4-BE49-F238E27FC236}">
                <a16:creationId xmlns:a16="http://schemas.microsoft.com/office/drawing/2014/main" id="{7228E40E-2698-4316-AB11-64A2AB10D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*args と **kwargs</a:t>
            </a:r>
          </a:p>
        </p:txBody>
      </p:sp>
      <p:sp>
        <p:nvSpPr>
          <p:cNvPr id="2" name="函式與參考">
            <a:extLst xmlns:a="http://schemas.openxmlformats.org/drawingml/2006/main">
              <a:ext uri="{FF2B5EF4-FFF2-40B4-BE49-F238E27FC236}">
                <a16:creationId xmlns:a16="http://schemas.microsoft.com/office/drawing/2014/main" id="{A211CD2D-36E0-45E8-AD3D-E5194F3F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関数と参照</a:t>
            </a:r>
          </a:p>
        </p:txBody>
      </p:sp>
      <p:sp>
        <p:nvSpPr>
          <p:cNvPr id="3" name="31">
            <a:extLst xmlns:a="http://schemas.openxmlformats.org/drawingml/2006/main">
              <a:ext uri="{FF2B5EF4-FFF2-40B4-BE49-F238E27FC236}">
                <a16:creationId xmlns:a16="http://schemas.microsoft.com/office/drawing/2014/main" id="{462DF410-CCC2-4448-BA2B-AE33AE643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31</a:t>
            </a:r>
          </a:p>
        </p:txBody>
      </p:sp>
      <p:sp>
        <p:nvSpPr>
          <p:cNvPr id="4" name="def show(*args, **kwargs):">
            <a:extLst xmlns:a="http://schemas.openxmlformats.org/drawingml/2006/main">
              <a:ext uri="{FF2B5EF4-FFF2-40B4-BE49-F238E27FC236}">
                <a16:creationId xmlns:a16="http://schemas.microsoft.com/office/drawing/2014/main" id="{83BF6D49-080F-4DC2-A863-42A01B06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def show(*args, **kwargs):</a:t>
            </a:r>
          </a:p>
        </p:txBody>
      </p:sp>
      <p:sp>
        <p:nvSpPr>
          <p:cNvPr id="5" name="    print(args)">
            <a:extLst xmlns:a="http://schemas.openxmlformats.org/drawingml/2006/main">
              <a:ext uri="{FF2B5EF4-FFF2-40B4-BE49-F238E27FC236}">
                <a16:creationId xmlns:a16="http://schemas.microsoft.com/office/drawing/2014/main" id="{D3E6F461-0DFD-47D5-AB5E-63EF475A6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print(args)</a:t>
            </a:r>
          </a:p>
        </p:txBody>
      </p:sp>
      <p:sp>
        <p:nvSpPr>
          <p:cNvPr id="6" name="    print(kwargs)">
            <a:extLst xmlns:a="http://schemas.openxmlformats.org/drawingml/2006/main">
              <a:ext uri="{FF2B5EF4-FFF2-40B4-BE49-F238E27FC236}">
                <a16:creationId xmlns:a16="http://schemas.microsoft.com/office/drawing/2014/main" id="{E13C21A1-4756-4E42-89AD-563EBAAC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print(kwargs)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AAFE20-007A-499F-A249-3E7B3D05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show(1, 2, name=&quot;Amy&quot;)">
            <a:extLst xmlns:a="http://schemas.openxmlformats.org/drawingml/2006/main">
              <a:ext uri="{FF2B5EF4-FFF2-40B4-BE49-F238E27FC236}">
                <a16:creationId xmlns:a16="http://schemas.microsoft.com/office/drawing/2014/main" id="{4802A79D-1BB2-4878-B2D6-3587DC1F6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show(1, 2, name="Amy")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23CB03-E6E6-4924-AE7C-38245198F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values = [3, 4]">
            <a:extLst xmlns:a="http://schemas.openxmlformats.org/drawingml/2006/main">
              <a:ext uri="{FF2B5EF4-FFF2-40B4-BE49-F238E27FC236}">
                <a16:creationId xmlns:a16="http://schemas.microsoft.com/office/drawing/2014/main" id="{439E617D-F745-4E01-9C1A-74094C88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values = [3, 4]</a:t>
            </a:r>
          </a:p>
        </p:txBody>
      </p:sp>
      <p:sp>
        <p:nvSpPr>
          <p:cNvPr id="11" name="options = {&quot;name&quot;: &quot;Ben&quot;}">
            <a:extLst xmlns:a="http://schemas.openxmlformats.org/drawingml/2006/main">
              <a:ext uri="{FF2B5EF4-FFF2-40B4-BE49-F238E27FC236}">
                <a16:creationId xmlns:a16="http://schemas.microsoft.com/office/drawing/2014/main" id="{261A20A9-3264-4481-A705-8B22FF75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options = {"name": "Ben"}</a:t>
            </a:r>
          </a:p>
        </p:txBody>
      </p:sp>
      <p:sp>
        <p:nvSpPr>
          <p:cNvPr id="12" name="show(*values, **options)">
            <a:extLst xmlns:a="http://schemas.openxmlformats.org/drawingml/2006/main">
              <a:ext uri="{FF2B5EF4-FFF2-40B4-BE49-F238E27FC236}">
                <a16:creationId xmlns:a16="http://schemas.microsoft.com/office/drawing/2014/main" id="{99307B8C-D311-46AF-A019-524193EAB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show(*values, **options)</a:t>
            </a:r>
          </a:p>
        </p:txBody>
      </p:sp>
      <p:sp>
        <p:nvSpPr>
          <p:cNvPr id="13" name="定義時收集參數">
            <a:extLst xmlns:a="http://schemas.openxmlformats.org/drawingml/2006/main">
              <a:ext uri="{FF2B5EF4-FFF2-40B4-BE49-F238E27FC236}">
                <a16:creationId xmlns:a16="http://schemas.microsoft.com/office/drawing/2014/main" id="{28870772-B7CE-4997-8AC2-2557FA49C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定義時は引数を収集する</a:t>
            </a:r>
          </a:p>
        </p:txBody>
      </p:sp>
      <p:sp>
        <p:nvSpPr>
          <p:cNvPr id="14" name="args 是 tuple。 kwargs 是 dict。">
            <a:extLst xmlns:a="http://schemas.openxmlformats.org/drawingml/2006/main">
              <a:ext uri="{FF2B5EF4-FFF2-40B4-BE49-F238E27FC236}">
                <a16:creationId xmlns:a16="http://schemas.microsoft.com/office/drawing/2014/main" id="{CE1B043E-B47E-4661-AF86-7C3BDC28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args は tuple。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kwargs は dict。</a:t>
            </a:r>
          </a:p>
        </p:txBody>
      </p:sp>
      <p:sp>
        <p:nvSpPr>
          <p:cNvPr id="15" name="呼叫時展開資料">
            <a:extLst xmlns:a="http://schemas.openxmlformats.org/drawingml/2006/main">
              <a:ext uri="{FF2B5EF4-FFF2-40B4-BE49-F238E27FC236}">
                <a16:creationId xmlns:a16="http://schemas.microsoft.com/office/drawing/2014/main" id="{E5792EA8-3822-46D5-8CA4-21BFBC46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呼び出し時はデータを展開する</a:t>
            </a:r>
          </a:p>
        </p:txBody>
      </p:sp>
      <p:sp>
        <p:nvSpPr>
          <p:cNvPr id="16" name="** 的鍵必須是字串。 重複傳入同一參數會出錯。">
            <a:extLst xmlns:a="http://schemas.openxmlformats.org/drawingml/2006/main">
              <a:ext uri="{FF2B5EF4-FFF2-40B4-BE49-F238E27FC236}">
                <a16:creationId xmlns:a16="http://schemas.microsoft.com/office/drawing/2014/main" id="{5DF48680-D52B-46B1-85CD-4293934AC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** のキーは文字列が必要。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同じ引数を重複し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て渡すとエラー。</a:t>
            </a:r>
          </a:p>
        </p:txBody>
      </p:sp>
      <p:sp>
        <p:nvSpPr>
          <p:cNvPr id="17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46BC893C-B90E-4368-97A6-583197B9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18" name="(1, 2)    {'name': 'Amy'}    (3, 4)    {'name': 'Ben'}">
            <a:extLst xmlns:a="http://schemas.openxmlformats.org/drawingml/2006/main">
              <a:ext uri="{FF2B5EF4-FFF2-40B4-BE49-F238E27FC236}">
                <a16:creationId xmlns:a16="http://schemas.microsoft.com/office/drawing/2014/main" id="{BAA2D7BE-A5F7-424C-8F2C-65573EA1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(1, 2)    {'name': 'Amy'}    (3, 4)    {'name': 'Ben'}</a:t>
            </a:r>
          </a:p>
        </p:txBody>
      </p:sp>
    </p:spTree>
    <p:extLst>
      <p:ext uri="{BB962C8B-B14F-4D97-AF65-F5344CB8AC3E}">
        <p14:creationId xmlns:p14="http://schemas.microsoft.com/office/powerpoint/2010/main" val="320158497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可變預設值的共用問題">
            <a:extLst xmlns:a="http://schemas.openxmlformats.org/drawingml/2006/main">
              <a:ext uri="{FF2B5EF4-FFF2-40B4-BE49-F238E27FC236}">
                <a16:creationId xmlns:a16="http://schemas.microsoft.com/office/drawing/2014/main" id="{0E072317-F943-40E5-B82D-21D1EA77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可変な既定値の共有</a:t>
            </a:r>
          </a:p>
        </p:txBody>
      </p:sp>
      <p:sp>
        <p:nvSpPr>
          <p:cNvPr id="2" name="函式與參考">
            <a:extLst xmlns:a="http://schemas.openxmlformats.org/drawingml/2006/main">
              <a:ext uri="{FF2B5EF4-FFF2-40B4-BE49-F238E27FC236}">
                <a16:creationId xmlns:a16="http://schemas.microsoft.com/office/drawing/2014/main" id="{0E5E6B48-CCE9-4C3F-827A-D3B222893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関数と参照</a:t>
            </a:r>
          </a:p>
        </p:txBody>
      </p:sp>
      <p:sp>
        <p:nvSpPr>
          <p:cNvPr id="3" name="32">
            <a:extLst xmlns:a="http://schemas.openxmlformats.org/drawingml/2006/main">
              <a:ext uri="{FF2B5EF4-FFF2-40B4-BE49-F238E27FC236}">
                <a16:creationId xmlns:a16="http://schemas.microsoft.com/office/drawing/2014/main" id="{A8F9FBBD-129C-4CA1-86C6-E45FEB7C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32</a:t>
            </a:r>
          </a:p>
        </p:txBody>
      </p:sp>
      <p:sp>
        <p:nvSpPr>
          <p:cNvPr id="4" name="def collect(value, items=[]):">
            <a:extLst xmlns:a="http://schemas.openxmlformats.org/drawingml/2006/main">
              <a:ext uri="{FF2B5EF4-FFF2-40B4-BE49-F238E27FC236}">
                <a16:creationId xmlns:a16="http://schemas.microsoft.com/office/drawing/2014/main" id="{9DED530A-7E2E-40F9-8E6A-676DDD1FE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def collect(value, items=[]):</a:t>
            </a:r>
          </a:p>
        </p:txBody>
      </p:sp>
      <p:sp>
        <p:nvSpPr>
          <p:cNvPr id="5" name="    items.append(value)">
            <a:extLst xmlns:a="http://schemas.openxmlformats.org/drawingml/2006/main">
              <a:ext uri="{FF2B5EF4-FFF2-40B4-BE49-F238E27FC236}">
                <a16:creationId xmlns:a16="http://schemas.microsoft.com/office/drawing/2014/main" id="{D00FDDCA-8EB4-4A6C-8A57-B92C273E6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items.append(value)</a:t>
            </a:r>
          </a:p>
        </p:txBody>
      </p:sp>
      <p:sp>
        <p:nvSpPr>
          <p:cNvPr id="6" name="    return items">
            <a:extLst xmlns:a="http://schemas.openxmlformats.org/drawingml/2006/main">
              <a:ext uri="{FF2B5EF4-FFF2-40B4-BE49-F238E27FC236}">
                <a16:creationId xmlns:a16="http://schemas.microsoft.com/office/drawing/2014/main" id="{0768152E-8C21-4E60-92FC-B2CAC6D4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return items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E8760A-DF51-4E54-8101-EE6DCD1A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print(collect(1))">
            <a:extLst xmlns:a="http://schemas.openxmlformats.org/drawingml/2006/main">
              <a:ext uri="{FF2B5EF4-FFF2-40B4-BE49-F238E27FC236}">
                <a16:creationId xmlns:a16="http://schemas.microsoft.com/office/drawing/2014/main" id="{5C696B55-5F58-4640-9E78-26CEC9498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print(collect(1))</a:t>
            </a:r>
          </a:p>
        </p:txBody>
      </p:sp>
      <p:sp>
        <p:nvSpPr>
          <p:cNvPr id="9" name="print(collect(2))">
            <a:extLst xmlns:a="http://schemas.openxmlformats.org/drawingml/2006/main">
              <a:ext uri="{FF2B5EF4-FFF2-40B4-BE49-F238E27FC236}">
                <a16:creationId xmlns:a16="http://schemas.microsoft.com/office/drawing/2014/main" id="{8544C101-5441-4630-9E4D-A7DFA5FC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print(collect(2))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8DAC70-D94B-4BD4-B424-B2F2D2A6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def fresh(value, items=None):">
            <a:extLst xmlns:a="http://schemas.openxmlformats.org/drawingml/2006/main">
              <a:ext uri="{FF2B5EF4-FFF2-40B4-BE49-F238E27FC236}">
                <a16:creationId xmlns:a16="http://schemas.microsoft.com/office/drawing/2014/main" id="{AF29EEF5-DC70-40FD-87D7-2693E9FAB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def fresh(value, items=None):</a:t>
            </a:r>
          </a:p>
        </p:txBody>
      </p:sp>
      <p:sp>
        <p:nvSpPr>
          <p:cNvPr id="12" name="    result = [] if items is None else items.copy()">
            <a:extLst xmlns:a="http://schemas.openxmlformats.org/drawingml/2006/main">
              <a:ext uri="{FF2B5EF4-FFF2-40B4-BE49-F238E27FC236}">
                <a16:creationId xmlns:a16="http://schemas.microsoft.com/office/drawing/2014/main" id="{43B2F85B-DF67-4415-B65F-7751FADF1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result = [] if items is None else items.copy()</a:t>
            </a:r>
          </a:p>
        </p:txBody>
      </p:sp>
      <p:sp>
        <p:nvSpPr>
          <p:cNvPr id="13" name="    result.append(value)">
            <a:extLst xmlns:a="http://schemas.openxmlformats.org/drawingml/2006/main">
              <a:ext uri="{FF2B5EF4-FFF2-40B4-BE49-F238E27FC236}">
                <a16:creationId xmlns:a16="http://schemas.microsoft.com/office/drawing/2014/main" id="{7E975AA0-76E3-4E0B-879F-43C8E3B5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result.append(value)</a:t>
            </a:r>
          </a:p>
        </p:txBody>
      </p:sp>
      <p:sp>
        <p:nvSpPr>
          <p:cNvPr id="14" name="    return result">
            <a:extLst xmlns:a="http://schemas.openxmlformats.org/drawingml/2006/main">
              <a:ext uri="{FF2B5EF4-FFF2-40B4-BE49-F238E27FC236}">
                <a16:creationId xmlns:a16="http://schemas.microsoft.com/office/drawing/2014/main" id="{6CC823BF-D545-4A2F-99B6-92487A6A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return result</a:t>
            </a:r>
          </a:p>
        </p:txBody>
      </p:sp>
      <p:sp>
        <p:nvSpPr>
          <p:cNvPr id="15" name="預設值在定義時求值">
            <a:extLst xmlns:a="http://schemas.openxmlformats.org/drawingml/2006/main">
              <a:ext uri="{FF2B5EF4-FFF2-40B4-BE49-F238E27FC236}">
                <a16:creationId xmlns:a16="http://schemas.microsoft.com/office/drawing/2014/main" id="{EC68ED91-ABB9-4BC5-B41F-5F0DF49DF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既定値は定義時に評価する</a:t>
            </a:r>
          </a:p>
        </p:txBody>
      </p:sp>
      <p:sp>
        <p:nvSpPr>
          <p:cNvPr id="16" name="兩次 collect 呼叫 共用同一個預設 list。">
            <a:extLst xmlns:a="http://schemas.openxmlformats.org/drawingml/2006/main">
              <a:ext uri="{FF2B5EF4-FFF2-40B4-BE49-F238E27FC236}">
                <a16:creationId xmlns:a16="http://schemas.microsoft.com/office/drawing/2014/main" id="{62CA319A-5268-4A01-9F62-5B6660AF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2回の collect 呼び出しは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同じ既定の list を共有する。</a:t>
            </a:r>
          </a:p>
        </p:txBody>
      </p:sp>
      <p:sp>
        <p:nvSpPr>
          <p:cNvPr id="17" name="None 表示未提供">
            <a:extLst xmlns:a="http://schemas.openxmlformats.org/drawingml/2006/main">
              <a:ext uri="{FF2B5EF4-FFF2-40B4-BE49-F238E27FC236}">
                <a16:creationId xmlns:a16="http://schemas.microsoft.com/office/drawing/2014/main" id="{3EB4478D-8398-4BFC-A2F0-40D061ECB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None は未指定を表す</a:t>
            </a:r>
          </a:p>
        </p:txBody>
      </p:sp>
      <p:sp>
        <p:nvSpPr>
          <p:cNvPr id="18" name="fresh 建立或複製外層 list。 每次呼叫有明確的資料來源。">
            <a:extLst xmlns:a="http://schemas.openxmlformats.org/drawingml/2006/main">
              <a:ext uri="{FF2B5EF4-FFF2-40B4-BE49-F238E27FC236}">
                <a16:creationId xmlns:a16="http://schemas.microsoft.com/office/drawing/2014/main" id="{A13EC5FC-10A4-43EC-ACA9-72EB2C359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fresh は外側の list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を生成・コピー。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各呼び出しのデータ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源が明確になる。</a:t>
            </a:r>
          </a:p>
        </p:txBody>
      </p:sp>
      <p:sp>
        <p:nvSpPr>
          <p:cNvPr id="19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F222EF84-D6D5-4AC7-B44C-E607ACF3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20" name="[1]    [1, 2]">
            <a:extLst xmlns:a="http://schemas.openxmlformats.org/drawingml/2006/main">
              <a:ext uri="{FF2B5EF4-FFF2-40B4-BE49-F238E27FC236}">
                <a16:creationId xmlns:a16="http://schemas.microsoft.com/office/drawing/2014/main" id="{2067258D-C2F3-45BD-BC64-48B63A4BF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[1]    [1, 2]</a:t>
            </a:r>
          </a:p>
        </p:txBody>
      </p:sp>
    </p:spTree>
    <p:extLst>
      <p:ext uri="{BB962C8B-B14F-4D97-AF65-F5344CB8AC3E}">
        <p14:creationId xmlns:p14="http://schemas.microsoft.com/office/powerpoint/2010/main" val="13243195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作用域與 global">
            <a:extLst xmlns:a="http://schemas.openxmlformats.org/drawingml/2006/main">
              <a:ext uri="{FF2B5EF4-FFF2-40B4-BE49-F238E27FC236}">
                <a16:creationId xmlns:a16="http://schemas.microsoft.com/office/drawing/2014/main" id="{D338615F-87A0-4B92-AE05-175725BD3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スコープと global</a:t>
            </a:r>
          </a:p>
        </p:txBody>
      </p:sp>
      <p:sp>
        <p:nvSpPr>
          <p:cNvPr id="2" name="函式與參考">
            <a:extLst xmlns:a="http://schemas.openxmlformats.org/drawingml/2006/main">
              <a:ext uri="{FF2B5EF4-FFF2-40B4-BE49-F238E27FC236}">
                <a16:creationId xmlns:a16="http://schemas.microsoft.com/office/drawing/2014/main" id="{6CDA4532-E7E8-48E0-8ED2-8F40165F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関数と参照</a:t>
            </a:r>
          </a:p>
        </p:txBody>
      </p:sp>
      <p:sp>
        <p:nvSpPr>
          <p:cNvPr id="3" name="33">
            <a:extLst xmlns:a="http://schemas.openxmlformats.org/drawingml/2006/main">
              <a:ext uri="{FF2B5EF4-FFF2-40B4-BE49-F238E27FC236}">
                <a16:creationId xmlns:a16="http://schemas.microsoft.com/office/drawing/2014/main" id="{9DB8E888-73D5-4049-8BF0-6AA4DDA0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33</a:t>
            </a:r>
          </a:p>
        </p:txBody>
      </p:sp>
      <p:sp>
        <p:nvSpPr>
          <p:cNvPr id="4" name="count = 0">
            <a:extLst xmlns:a="http://schemas.openxmlformats.org/drawingml/2006/main">
              <a:ext uri="{FF2B5EF4-FFF2-40B4-BE49-F238E27FC236}">
                <a16:creationId xmlns:a16="http://schemas.microsoft.com/office/drawing/2014/main" id="{8DB54B57-0E12-4278-9DE4-228828231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count = 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6C5AAB-8D57-436D-9129-0B8236C0E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7835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def local_change():">
            <a:extLst xmlns:a="http://schemas.openxmlformats.org/drawingml/2006/main">
              <a:ext uri="{FF2B5EF4-FFF2-40B4-BE49-F238E27FC236}">
                <a16:creationId xmlns:a16="http://schemas.microsoft.com/office/drawing/2014/main" id="{2FCF27AE-23A2-478B-A6C3-F8F7DE49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2594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def local_change():</a:t>
            </a:r>
          </a:p>
        </p:txBody>
      </p:sp>
      <p:sp>
        <p:nvSpPr>
          <p:cNvPr id="7" name="    count = 10">
            <a:extLst xmlns:a="http://schemas.openxmlformats.org/drawingml/2006/main">
              <a:ext uri="{FF2B5EF4-FFF2-40B4-BE49-F238E27FC236}">
                <a16:creationId xmlns:a16="http://schemas.microsoft.com/office/drawing/2014/main" id="{0F3BD774-4C3B-4043-B373-CE79B6C8E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7354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count = 10</a:t>
            </a:r>
          </a:p>
        </p:txBody>
      </p:sp>
      <p:sp>
        <p:nvSpPr>
          <p:cNvPr id="8" name="    return count">
            <a:extLst xmlns:a="http://schemas.openxmlformats.org/drawingml/2006/main">
              <a:ext uri="{FF2B5EF4-FFF2-40B4-BE49-F238E27FC236}">
                <a16:creationId xmlns:a16="http://schemas.microsoft.com/office/drawing/2014/main" id="{68C6290F-7046-4FFD-A0EC-B96C46BF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2113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return count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5DFC98-3E2C-4779-B56A-CFFE6AAE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6873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def global_change():">
            <a:extLst xmlns:a="http://schemas.openxmlformats.org/drawingml/2006/main">
              <a:ext uri="{FF2B5EF4-FFF2-40B4-BE49-F238E27FC236}">
                <a16:creationId xmlns:a16="http://schemas.microsoft.com/office/drawing/2014/main" id="{0E869C57-895A-4F9F-92AF-642E67245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1633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def global_change():</a:t>
            </a:r>
          </a:p>
        </p:txBody>
      </p:sp>
      <p:sp>
        <p:nvSpPr>
          <p:cNvPr id="11" name="    global count">
            <a:extLst xmlns:a="http://schemas.openxmlformats.org/drawingml/2006/main">
              <a:ext uri="{FF2B5EF4-FFF2-40B4-BE49-F238E27FC236}">
                <a16:creationId xmlns:a16="http://schemas.microsoft.com/office/drawing/2014/main" id="{BD25555C-999E-48A0-9B70-403C5547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6392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global count</a:t>
            </a:r>
          </a:p>
        </p:txBody>
      </p:sp>
      <p:sp>
        <p:nvSpPr>
          <p:cNvPr id="12" name="    count += 1">
            <a:extLst xmlns:a="http://schemas.openxmlformats.org/drawingml/2006/main">
              <a:ext uri="{FF2B5EF4-FFF2-40B4-BE49-F238E27FC236}">
                <a16:creationId xmlns:a16="http://schemas.microsoft.com/office/drawing/2014/main" id="{4EF0869B-DA6D-4856-9882-62363ED8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1152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count +=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60ED981-CB46-4DA2-923F-24C44BE4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5912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print(local_change(), count)">
            <a:extLst xmlns:a="http://schemas.openxmlformats.org/drawingml/2006/main">
              <a:ext uri="{FF2B5EF4-FFF2-40B4-BE49-F238E27FC236}">
                <a16:creationId xmlns:a16="http://schemas.microsoft.com/office/drawing/2014/main" id="{1753ED4A-1865-4194-9ECA-A3D8A96A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0671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print(local_change(), count)</a:t>
            </a:r>
          </a:p>
        </p:txBody>
      </p:sp>
      <p:sp>
        <p:nvSpPr>
          <p:cNvPr id="15" name="global_change()">
            <a:extLst xmlns:a="http://schemas.openxmlformats.org/drawingml/2006/main">
              <a:ext uri="{FF2B5EF4-FFF2-40B4-BE49-F238E27FC236}">
                <a16:creationId xmlns:a16="http://schemas.microsoft.com/office/drawing/2014/main" id="{41E37707-4B8F-4F62-80C4-36336C809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5431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global_change()</a:t>
            </a:r>
          </a:p>
        </p:txBody>
      </p:sp>
      <p:sp>
        <p:nvSpPr>
          <p:cNvPr id="16" name="print(count)">
            <a:extLst xmlns:a="http://schemas.openxmlformats.org/drawingml/2006/main">
              <a:ext uri="{FF2B5EF4-FFF2-40B4-BE49-F238E27FC236}">
                <a16:creationId xmlns:a16="http://schemas.microsoft.com/office/drawing/2014/main" id="{AE75A661-3EB5-4D34-99C0-0319430E3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0190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print(count)</a:t>
            </a:r>
          </a:p>
        </p:txBody>
      </p:sp>
      <p:sp>
        <p:nvSpPr>
          <p:cNvPr id="17" name="LEGB 名稱查找">
            <a:extLst xmlns:a="http://schemas.openxmlformats.org/drawingml/2006/main">
              <a:ext uri="{FF2B5EF4-FFF2-40B4-BE49-F238E27FC236}">
                <a16:creationId xmlns:a16="http://schemas.microsoft.com/office/drawing/2014/main" id="{B511F1F7-E857-4765-A654-C1DDCF5EF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LEGB による名前探索</a:t>
            </a:r>
          </a:p>
        </p:txBody>
      </p:sp>
      <p:sp>
        <p:nvSpPr>
          <p:cNvPr id="18" name="Local、Enclosing、 Global、Built-in。">
            <a:extLst xmlns:a="http://schemas.openxmlformats.org/drawingml/2006/main">
              <a:ext uri="{FF2B5EF4-FFF2-40B4-BE49-F238E27FC236}">
                <a16:creationId xmlns:a16="http://schemas.microsoft.com/office/drawing/2014/main" id="{C5BA8A82-F05D-4B3B-8F8E-6E4BCC283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Local、Enclosing、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Global、Built-in。</a:t>
            </a:r>
          </a:p>
        </p:txBody>
      </p:sp>
      <p:sp>
        <p:nvSpPr>
          <p:cNvPr id="19" name="global 改變繫結範圍">
            <a:extLst xmlns:a="http://schemas.openxmlformats.org/drawingml/2006/main">
              <a:ext uri="{FF2B5EF4-FFF2-40B4-BE49-F238E27FC236}">
                <a16:creationId xmlns:a16="http://schemas.microsoft.com/office/drawing/2014/main" id="{7E94145C-15CD-4D18-AB45-AEE220E8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global は束縛先を変える</a:t>
            </a:r>
          </a:p>
        </p:txBody>
      </p:sp>
      <p:sp>
        <p:nvSpPr>
          <p:cNvPr id="20" name="函式內指定名稱預設為區域。 global 指定模組層的名稱。">
            <a:extLst xmlns:a="http://schemas.openxmlformats.org/drawingml/2006/main">
              <a:ext uri="{FF2B5EF4-FFF2-40B4-BE49-F238E27FC236}">
                <a16:creationId xmlns:a16="http://schemas.microsoft.com/office/drawing/2014/main" id="{4DF3BD5F-D491-49CA-9F60-F44BFDE8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関数内の代入は既定でローカル。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global はモジュール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の名前を指定。</a:t>
            </a:r>
          </a:p>
        </p:txBody>
      </p:sp>
      <p:sp>
        <p:nvSpPr>
          <p:cNvPr id="21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778DC2F7-F5E8-4384-A347-D852165D2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22" name="10 0    1">
            <a:extLst xmlns:a="http://schemas.openxmlformats.org/drawingml/2006/main">
              <a:ext uri="{FF2B5EF4-FFF2-40B4-BE49-F238E27FC236}">
                <a16:creationId xmlns:a16="http://schemas.microsoft.com/office/drawing/2014/main" id="{D9FA4E2D-ACBF-49AB-BAF0-1A1E09F3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10 0    1</a:t>
            </a:r>
          </a:p>
        </p:txBody>
      </p:sp>
    </p:spTree>
    <p:extLst>
      <p:ext uri="{BB962C8B-B14F-4D97-AF65-F5344CB8AC3E}">
        <p14:creationId xmlns:p14="http://schemas.microsoft.com/office/powerpoint/2010/main" val="413518360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閉包與 nonlocal">
            <a:extLst xmlns:a="http://schemas.openxmlformats.org/drawingml/2006/main">
              <a:ext uri="{FF2B5EF4-FFF2-40B4-BE49-F238E27FC236}">
                <a16:creationId xmlns:a16="http://schemas.microsoft.com/office/drawing/2014/main" id="{6275E685-16B2-488A-96EA-FDF436B7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クロージャと nonlocal</a:t>
            </a:r>
          </a:p>
        </p:txBody>
      </p:sp>
      <p:sp>
        <p:nvSpPr>
          <p:cNvPr id="2" name="函式與參考">
            <a:extLst xmlns:a="http://schemas.openxmlformats.org/drawingml/2006/main">
              <a:ext uri="{FF2B5EF4-FFF2-40B4-BE49-F238E27FC236}">
                <a16:creationId xmlns:a16="http://schemas.microsoft.com/office/drawing/2014/main" id="{DBF88E56-0BF5-42C7-8ABF-1783F7581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関数と参照</a:t>
            </a:r>
          </a:p>
        </p:txBody>
      </p:sp>
      <p:sp>
        <p:nvSpPr>
          <p:cNvPr id="3" name="34">
            <a:extLst xmlns:a="http://schemas.openxmlformats.org/drawingml/2006/main">
              <a:ext uri="{FF2B5EF4-FFF2-40B4-BE49-F238E27FC236}">
                <a16:creationId xmlns:a16="http://schemas.microsoft.com/office/drawing/2014/main" id="{56507414-75E6-4921-AE7B-A09DCD67C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34</a:t>
            </a:r>
          </a:p>
        </p:txBody>
      </p:sp>
      <p:sp>
        <p:nvSpPr>
          <p:cNvPr id="4" name="def make_counter():">
            <a:extLst xmlns:a="http://schemas.openxmlformats.org/drawingml/2006/main">
              <a:ext uri="{FF2B5EF4-FFF2-40B4-BE49-F238E27FC236}">
                <a16:creationId xmlns:a16="http://schemas.microsoft.com/office/drawing/2014/main" id="{3A54FC6B-6E84-444C-AAAA-FF7A9A4C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def make_counter():</a:t>
            </a:r>
          </a:p>
        </p:txBody>
      </p:sp>
      <p:sp>
        <p:nvSpPr>
          <p:cNvPr id="5" name="    count = 0">
            <a:extLst xmlns:a="http://schemas.openxmlformats.org/drawingml/2006/main">
              <a:ext uri="{FF2B5EF4-FFF2-40B4-BE49-F238E27FC236}">
                <a16:creationId xmlns:a16="http://schemas.microsoft.com/office/drawing/2014/main" id="{04A37B13-5974-46E4-8892-9D2892137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count = 0</a:t>
            </a:r>
          </a:p>
        </p:txBody>
      </p:sp>
      <p:sp>
        <p:nvSpPr>
          <p:cNvPr id="6" name="    def next_value():">
            <a:extLst xmlns:a="http://schemas.openxmlformats.org/drawingml/2006/main">
              <a:ext uri="{FF2B5EF4-FFF2-40B4-BE49-F238E27FC236}">
                <a16:creationId xmlns:a16="http://schemas.microsoft.com/office/drawing/2014/main" id="{F0E41946-9DE4-48F3-A648-437A109FE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next_value():</a:t>
            </a:r>
          </a:p>
        </p:txBody>
      </p:sp>
      <p:sp>
        <p:nvSpPr>
          <p:cNvPr id="7" name="        nonlocal count">
            <a:extLst xmlns:a="http://schemas.openxmlformats.org/drawingml/2006/main">
              <a:ext uri="{FF2B5EF4-FFF2-40B4-BE49-F238E27FC236}">
                <a16:creationId xmlns:a16="http://schemas.microsoft.com/office/drawing/2014/main" id="{60D56BD2-C9CE-4235-8B8A-AD829DA7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nonlocal count</a:t>
            </a:r>
          </a:p>
        </p:txBody>
      </p:sp>
      <p:sp>
        <p:nvSpPr>
          <p:cNvPr id="8" name="        count += 1">
            <a:extLst xmlns:a="http://schemas.openxmlformats.org/drawingml/2006/main">
              <a:ext uri="{FF2B5EF4-FFF2-40B4-BE49-F238E27FC236}">
                <a16:creationId xmlns:a16="http://schemas.microsoft.com/office/drawing/2014/main" id="{7CABE2B1-70CB-4773-B2F5-E62C8BC6B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count += 1</a:t>
            </a:r>
          </a:p>
        </p:txBody>
      </p:sp>
      <p:sp>
        <p:nvSpPr>
          <p:cNvPr id="9" name="        return count">
            <a:extLst xmlns:a="http://schemas.openxmlformats.org/drawingml/2006/main">
              <a:ext uri="{FF2B5EF4-FFF2-40B4-BE49-F238E27FC236}">
                <a16:creationId xmlns:a16="http://schemas.microsoft.com/office/drawing/2014/main" id="{82C3CBAC-D1B7-467A-AFBC-F336C757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return count</a:t>
            </a:r>
          </a:p>
        </p:txBody>
      </p:sp>
      <p:sp>
        <p:nvSpPr>
          <p:cNvPr id="10" name="    return next_value">
            <a:extLst xmlns:a="http://schemas.openxmlformats.org/drawingml/2006/main">
              <a:ext uri="{FF2B5EF4-FFF2-40B4-BE49-F238E27FC236}">
                <a16:creationId xmlns:a16="http://schemas.microsoft.com/office/drawing/2014/main" id="{7FD30001-A5A4-4494-B9CE-8F58DF011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return next_value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7B8122-1093-447B-B555-316585F1A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counter = make_counter()">
            <a:extLst xmlns:a="http://schemas.openxmlformats.org/drawingml/2006/main">
              <a:ext uri="{FF2B5EF4-FFF2-40B4-BE49-F238E27FC236}">
                <a16:creationId xmlns:a16="http://schemas.microsoft.com/office/drawing/2014/main" id="{9BCD1EC2-081B-4FA1-B767-F7161A029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counter = make_counter()</a:t>
            </a:r>
          </a:p>
        </p:txBody>
      </p:sp>
      <p:sp>
        <p:nvSpPr>
          <p:cNvPr id="13" name="print(counter())">
            <a:extLst xmlns:a="http://schemas.openxmlformats.org/drawingml/2006/main">
              <a:ext uri="{FF2B5EF4-FFF2-40B4-BE49-F238E27FC236}">
                <a16:creationId xmlns:a16="http://schemas.microsoft.com/office/drawing/2014/main" id="{7C79165D-6D67-4234-A17B-C0E20A45F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print(counter())</a:t>
            </a:r>
          </a:p>
        </p:txBody>
      </p:sp>
      <p:sp>
        <p:nvSpPr>
          <p:cNvPr id="14" name="print(counter())">
            <a:extLst xmlns:a="http://schemas.openxmlformats.org/drawingml/2006/main">
              <a:ext uri="{FF2B5EF4-FFF2-40B4-BE49-F238E27FC236}">
                <a16:creationId xmlns:a16="http://schemas.microsoft.com/office/drawing/2014/main" id="{61265CEC-7AC3-4FF4-9E79-B7AD3C40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print(counter())</a:t>
            </a:r>
          </a:p>
        </p:txBody>
      </p:sp>
      <p:sp>
        <p:nvSpPr>
          <p:cNvPr id="15" name="函式可以回傳函式">
            <a:extLst xmlns:a="http://schemas.openxmlformats.org/drawingml/2006/main">
              <a:ext uri="{FF2B5EF4-FFF2-40B4-BE49-F238E27FC236}">
                <a16:creationId xmlns:a16="http://schemas.microsoft.com/office/drawing/2014/main" id="{841EF53C-FE3A-46E0-82EE-6B49EEDB4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関数は関数を返せる</a:t>
            </a:r>
          </a:p>
        </p:txBody>
      </p:sp>
      <p:sp>
        <p:nvSpPr>
          <p:cNvPr id="16" name="next_value 保留對外層 count 繫結的存取。">
            <a:extLst xmlns:a="http://schemas.openxmlformats.org/drawingml/2006/main">
              <a:ext uri="{FF2B5EF4-FFF2-40B4-BE49-F238E27FC236}">
                <a16:creationId xmlns:a16="http://schemas.microsoft.com/office/drawing/2014/main" id="{9C1E9339-FF04-4FCF-8A07-FCC30CAE2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next_value は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外側の count の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束縛へのアクセスを保持する。</a:t>
            </a:r>
          </a:p>
        </p:txBody>
      </p:sp>
      <p:sp>
        <p:nvSpPr>
          <p:cNvPr id="17" name="nonlocal 指向外層函式">
            <a:extLst xmlns:a="http://schemas.openxmlformats.org/drawingml/2006/main">
              <a:ext uri="{FF2B5EF4-FFF2-40B4-BE49-F238E27FC236}">
                <a16:creationId xmlns:a16="http://schemas.microsoft.com/office/drawing/2014/main" id="{6D537980-C93A-4254-9A80-64F5DE4C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nonlocal は外側の関数を指す</a:t>
            </a:r>
          </a:p>
        </p:txBody>
      </p:sp>
      <p:sp>
        <p:nvSpPr>
          <p:cNvPr id="18" name="重新繫結已存在的外層名稱。 不會指向模組層全域名稱。">
            <a:extLst xmlns:a="http://schemas.openxmlformats.org/drawingml/2006/main">
              <a:ext uri="{FF2B5EF4-FFF2-40B4-BE49-F238E27FC236}">
                <a16:creationId xmlns:a16="http://schemas.microsoft.com/office/drawing/2014/main" id="{604D49FB-EBB5-4718-9D24-810DDE256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外側にある既存の名前を再束縛。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モジュールの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グローバル名は対象外。</a:t>
            </a:r>
          </a:p>
        </p:txBody>
      </p:sp>
      <p:sp>
        <p:nvSpPr>
          <p:cNvPr id="19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B738762D-F1EA-4F4A-85B2-30305A42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20" name="1    2">
            <a:extLst xmlns:a="http://schemas.openxmlformats.org/drawingml/2006/main">
              <a:ext uri="{FF2B5EF4-FFF2-40B4-BE49-F238E27FC236}">
                <a16:creationId xmlns:a16="http://schemas.microsoft.com/office/drawing/2014/main" id="{C4A23FBA-861B-473F-A475-6C9F0462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1    2</a:t>
            </a:r>
          </a:p>
        </p:txBody>
      </p:sp>
    </p:spTree>
    <p:extLst>
      <p:ext uri="{BB962C8B-B14F-4D97-AF65-F5344CB8AC3E}">
        <p14:creationId xmlns:p14="http://schemas.microsoft.com/office/powerpoint/2010/main" val="478767367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修改物件與重新指定參數">
            <a:extLst xmlns:a="http://schemas.openxmlformats.org/drawingml/2006/main">
              <a:ext uri="{FF2B5EF4-FFF2-40B4-BE49-F238E27FC236}">
                <a16:creationId xmlns:a16="http://schemas.microsoft.com/office/drawing/2014/main" id="{0B6C0029-2399-4427-83EB-3ED01303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オブジェクトの変更と引数の再束縛</a:t>
            </a:r>
          </a:p>
        </p:txBody>
      </p:sp>
      <p:sp>
        <p:nvSpPr>
          <p:cNvPr id="2" name="函式與參考">
            <a:extLst xmlns:a="http://schemas.openxmlformats.org/drawingml/2006/main">
              <a:ext uri="{FF2B5EF4-FFF2-40B4-BE49-F238E27FC236}">
                <a16:creationId xmlns:a16="http://schemas.microsoft.com/office/drawing/2014/main" id="{BF9FBC95-FC6E-476B-BA27-C41242EFB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関数と参照</a:t>
            </a:r>
          </a:p>
        </p:txBody>
      </p:sp>
      <p:sp>
        <p:nvSpPr>
          <p:cNvPr id="3" name="35">
            <a:extLst xmlns:a="http://schemas.openxmlformats.org/drawingml/2006/main">
              <a:ext uri="{FF2B5EF4-FFF2-40B4-BE49-F238E27FC236}">
                <a16:creationId xmlns:a16="http://schemas.microsoft.com/office/drawing/2014/main" id="{A6E7C7F1-D9F8-44F0-8C8E-AC41CAE5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35</a:t>
            </a:r>
          </a:p>
        </p:txBody>
      </p:sp>
      <p:sp>
        <p:nvSpPr>
          <p:cNvPr id="4" name="def mutate(values):">
            <a:extLst xmlns:a="http://schemas.openxmlformats.org/drawingml/2006/main">
              <a:ext uri="{FF2B5EF4-FFF2-40B4-BE49-F238E27FC236}">
                <a16:creationId xmlns:a16="http://schemas.microsoft.com/office/drawing/2014/main" id="{35D42A5F-2495-47F3-ABB9-8BA7A7396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def mutate(values):</a:t>
            </a:r>
          </a:p>
        </p:txBody>
      </p:sp>
      <p:sp>
        <p:nvSpPr>
          <p:cNvPr id="5" name="    values.append(3)">
            <a:extLst xmlns:a="http://schemas.openxmlformats.org/drawingml/2006/main">
              <a:ext uri="{FF2B5EF4-FFF2-40B4-BE49-F238E27FC236}">
                <a16:creationId xmlns:a16="http://schemas.microsoft.com/office/drawing/2014/main" id="{114DFBF4-7801-4E46-941F-730E9DAC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values.append(3)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D3EA82-C2B8-49C1-9167-7C3EB76E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def rebind(values):">
            <a:extLst xmlns:a="http://schemas.openxmlformats.org/drawingml/2006/main">
              <a:ext uri="{FF2B5EF4-FFF2-40B4-BE49-F238E27FC236}">
                <a16:creationId xmlns:a16="http://schemas.microsoft.com/office/drawing/2014/main" id="{113E126C-16BB-4697-91C4-3E258E1D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def rebind(values):</a:t>
            </a:r>
          </a:p>
        </p:txBody>
      </p:sp>
      <p:sp>
        <p:nvSpPr>
          <p:cNvPr id="8" name="    values = [99]">
            <a:extLst xmlns:a="http://schemas.openxmlformats.org/drawingml/2006/main">
              <a:ext uri="{FF2B5EF4-FFF2-40B4-BE49-F238E27FC236}">
                <a16:creationId xmlns:a16="http://schemas.microsoft.com/office/drawing/2014/main" id="{05B88ACC-8D78-4DDC-8748-5EDB18ED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values = [99]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C9B15F-28CC-4A57-8309-C42E8CCE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items = [1, 2]">
            <a:extLst xmlns:a="http://schemas.openxmlformats.org/drawingml/2006/main">
              <a:ext uri="{FF2B5EF4-FFF2-40B4-BE49-F238E27FC236}">
                <a16:creationId xmlns:a16="http://schemas.microsoft.com/office/drawing/2014/main" id="{905B1AEF-F3C4-47BB-831E-A953FC5D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items = [1, 2]</a:t>
            </a:r>
          </a:p>
        </p:txBody>
      </p:sp>
      <p:sp>
        <p:nvSpPr>
          <p:cNvPr id="11" name="mutate(items)">
            <a:extLst xmlns:a="http://schemas.openxmlformats.org/drawingml/2006/main">
              <a:ext uri="{FF2B5EF4-FFF2-40B4-BE49-F238E27FC236}">
                <a16:creationId xmlns:a16="http://schemas.microsoft.com/office/drawing/2014/main" id="{0FB6B47E-97EC-4F8D-9C56-95585D5E9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mutate(items)</a:t>
            </a:r>
          </a:p>
        </p:txBody>
      </p:sp>
      <p:sp>
        <p:nvSpPr>
          <p:cNvPr id="12" name="rebind(items)">
            <a:extLst xmlns:a="http://schemas.openxmlformats.org/drawingml/2006/main">
              <a:ext uri="{FF2B5EF4-FFF2-40B4-BE49-F238E27FC236}">
                <a16:creationId xmlns:a16="http://schemas.microsoft.com/office/drawing/2014/main" id="{40CB780A-69EF-4F4D-B4A2-D0D720FF3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rebind(items)</a:t>
            </a:r>
          </a:p>
        </p:txBody>
      </p:sp>
      <p:sp>
        <p:nvSpPr>
          <p:cNvPr id="13" name="print(items)">
            <a:extLst xmlns:a="http://schemas.openxmlformats.org/drawingml/2006/main">
              <a:ext uri="{FF2B5EF4-FFF2-40B4-BE49-F238E27FC236}">
                <a16:creationId xmlns:a16="http://schemas.microsoft.com/office/drawing/2014/main" id="{F7BE6EE1-942F-4FFC-A654-D999ECA43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print(items)</a:t>
            </a:r>
          </a:p>
        </p:txBody>
      </p:sp>
      <p:sp>
        <p:nvSpPr>
          <p:cNvPr id="14" name="參數是區域名稱">
            <a:extLst xmlns:a="http://schemas.openxmlformats.org/drawingml/2006/main">
              <a:ext uri="{FF2B5EF4-FFF2-40B4-BE49-F238E27FC236}">
                <a16:creationId xmlns:a16="http://schemas.microsoft.com/office/drawing/2014/main" id="{3ECC880D-72A6-403E-83A7-56C0EADB6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仮引数はローカルな名前</a:t>
            </a:r>
          </a:p>
        </p:txBody>
      </p:sp>
      <p:sp>
        <p:nvSpPr>
          <p:cNvPr id="15" name="呼叫時繫結到傳入的物件。 兩端可能共用可變物件。">
            <a:extLst xmlns:a="http://schemas.openxmlformats.org/drawingml/2006/main">
              <a:ext uri="{FF2B5EF4-FFF2-40B4-BE49-F238E27FC236}">
                <a16:creationId xmlns:a16="http://schemas.microsoft.com/office/drawing/2014/main" id="{71043F38-B789-41E5-B654-4A8264E5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呼び出し時に渡された値へ束縛。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可変オブジェクトを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共有する場合もある。</a:t>
            </a:r>
          </a:p>
        </p:txBody>
      </p:sp>
      <p:sp>
        <p:nvSpPr>
          <p:cNvPr id="16" name="兩種操作的影響不同">
            <a:extLst xmlns:a="http://schemas.openxmlformats.org/drawingml/2006/main">
              <a:ext uri="{FF2B5EF4-FFF2-40B4-BE49-F238E27FC236}">
                <a16:creationId xmlns:a16="http://schemas.microsoft.com/office/drawing/2014/main" id="{5F989CA8-D614-4236-A269-EC6DE7102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変更と再束縛では影響が異なる</a:t>
            </a:r>
          </a:p>
        </p:txBody>
      </p:sp>
      <p:sp>
        <p:nvSpPr>
          <p:cNvPr id="17" name="append 修改共用內容。 = 只重新繫結區域 values。">
            <a:extLst xmlns:a="http://schemas.openxmlformats.org/drawingml/2006/main">
              <a:ext uri="{FF2B5EF4-FFF2-40B4-BE49-F238E27FC236}">
                <a16:creationId xmlns:a16="http://schemas.microsoft.com/office/drawing/2014/main" id="{2BDB6FD4-D72A-4B99-952F-1A32A860F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append は共有する内容を変更。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= はローカルな values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の束縛を変更。</a:t>
            </a:r>
          </a:p>
        </p:txBody>
      </p:sp>
      <p:sp>
        <p:nvSpPr>
          <p:cNvPr id="18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62DB2298-2B0A-405B-BC98-0B2800CF0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19" name="[1, 2, 3]">
            <a:extLst xmlns:a="http://schemas.openxmlformats.org/drawingml/2006/main">
              <a:ext uri="{FF2B5EF4-FFF2-40B4-BE49-F238E27FC236}">
                <a16:creationId xmlns:a16="http://schemas.microsoft.com/office/drawing/2014/main" id="{13EE3824-49D5-4894-AF07-BAA44C8F8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[1, 2, 3]</a:t>
            </a:r>
          </a:p>
        </p:txBody>
      </p:sp>
    </p:spTree>
    <p:extLst>
      <p:ext uri="{BB962C8B-B14F-4D97-AF65-F5344CB8AC3E}">
        <p14:creationId xmlns:p14="http://schemas.microsoft.com/office/powerpoint/2010/main" val="64746912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指定、淺層複製與深層複製">
            <a:extLst xmlns:a="http://schemas.openxmlformats.org/drawingml/2006/main">
              <a:ext uri="{FF2B5EF4-FFF2-40B4-BE49-F238E27FC236}">
                <a16:creationId xmlns:a16="http://schemas.microsoft.com/office/drawing/2014/main" id="{618622C5-CDAE-4F01-B036-8670A102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代入、浅いコピーと深いコピー</a:t>
            </a:r>
          </a:p>
        </p:txBody>
      </p:sp>
      <p:sp>
        <p:nvSpPr>
          <p:cNvPr id="2" name="函式與參考">
            <a:extLst xmlns:a="http://schemas.openxmlformats.org/drawingml/2006/main">
              <a:ext uri="{FF2B5EF4-FFF2-40B4-BE49-F238E27FC236}">
                <a16:creationId xmlns:a16="http://schemas.microsoft.com/office/drawing/2014/main" id="{F9ECA4CB-3F82-4D62-B095-CA5F5C7B4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関数と参照</a:t>
            </a:r>
          </a:p>
        </p:txBody>
      </p:sp>
      <p:sp>
        <p:nvSpPr>
          <p:cNvPr id="3" name="36">
            <a:extLst xmlns:a="http://schemas.openxmlformats.org/drawingml/2006/main">
              <a:ext uri="{FF2B5EF4-FFF2-40B4-BE49-F238E27FC236}">
                <a16:creationId xmlns:a16="http://schemas.microsoft.com/office/drawing/2014/main" id="{7611595D-E523-41F0-98DC-969228937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36</a:t>
            </a:r>
          </a:p>
        </p:txBody>
      </p:sp>
      <p:sp>
        <p:nvSpPr>
          <p:cNvPr id="4" name="from copy import deepcopy">
            <a:extLst xmlns:a="http://schemas.openxmlformats.org/drawingml/2006/main">
              <a:ext uri="{FF2B5EF4-FFF2-40B4-BE49-F238E27FC236}">
                <a16:creationId xmlns:a16="http://schemas.microsoft.com/office/drawing/2014/main" id="{15427E9E-2B0B-4C98-8FE8-605C0E7F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copy import deepcopy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0EAF51-4878-4ADB-9B93-F6E763EA9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a = [[1], [2]]">
            <a:extLst xmlns:a="http://schemas.openxmlformats.org/drawingml/2006/main">
              <a:ext uri="{FF2B5EF4-FFF2-40B4-BE49-F238E27FC236}">
                <a16:creationId xmlns:a16="http://schemas.microsoft.com/office/drawing/2014/main" id="{D4FCD26E-52EB-4842-BF09-1C86F9B5D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 = [[1], [2]]</a:t>
            </a:r>
          </a:p>
        </p:txBody>
      </p:sp>
      <p:sp>
        <p:nvSpPr>
          <p:cNvPr id="7" name="b = a.copy()">
            <a:extLst xmlns:a="http://schemas.openxmlformats.org/drawingml/2006/main">
              <a:ext uri="{FF2B5EF4-FFF2-40B4-BE49-F238E27FC236}">
                <a16:creationId xmlns:a16="http://schemas.microsoft.com/office/drawing/2014/main" id="{94BB1FE5-4F57-483D-A630-91A30634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b = a.copy()</a:t>
            </a:r>
          </a:p>
        </p:txBody>
      </p:sp>
      <p:sp>
        <p:nvSpPr>
          <p:cNvPr id="8" name="c = deepcopy(a)">
            <a:extLst xmlns:a="http://schemas.openxmlformats.org/drawingml/2006/main">
              <a:ext uri="{FF2B5EF4-FFF2-40B4-BE49-F238E27FC236}">
                <a16:creationId xmlns:a16="http://schemas.microsoft.com/office/drawing/2014/main" id="{D5002078-CC4E-43CB-87F0-B510513D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 = deepcopy(a)</a:t>
            </a:r>
          </a:p>
        </p:txBody>
      </p:sp>
      <p:sp>
        <p:nvSpPr>
          <p:cNvPr id="9" name="a[0].append(9)">
            <a:extLst xmlns:a="http://schemas.openxmlformats.org/drawingml/2006/main">
              <a:ext uri="{FF2B5EF4-FFF2-40B4-BE49-F238E27FC236}">
                <a16:creationId xmlns:a16="http://schemas.microsoft.com/office/drawing/2014/main" id="{46E71045-7F72-4D62-9FCD-EED860C3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a[0].append(9)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1EBEB8-E231-41AD-8CE8-C07B537C8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print(b)">
            <a:extLst xmlns:a="http://schemas.openxmlformats.org/drawingml/2006/main">
              <a:ext uri="{FF2B5EF4-FFF2-40B4-BE49-F238E27FC236}">
                <a16:creationId xmlns:a16="http://schemas.microsoft.com/office/drawing/2014/main" id="{62A17C8E-B4ED-422C-9DC9-9813465E6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print(b)</a:t>
            </a:r>
          </a:p>
        </p:txBody>
      </p:sp>
      <p:sp>
        <p:nvSpPr>
          <p:cNvPr id="12" name="print(c)">
            <a:extLst xmlns:a="http://schemas.openxmlformats.org/drawingml/2006/main">
              <a:ext uri="{FF2B5EF4-FFF2-40B4-BE49-F238E27FC236}">
                <a16:creationId xmlns:a16="http://schemas.microsoft.com/office/drawing/2014/main" id="{3AB83AA3-B79C-4911-B35B-910189759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print(c)</a:t>
            </a:r>
          </a:p>
        </p:txBody>
      </p:sp>
      <p:sp>
        <p:nvSpPr>
          <p:cNvPr id="13" name="print(a is b, a[0] is b[0])">
            <a:extLst xmlns:a="http://schemas.openxmlformats.org/drawingml/2006/main">
              <a:ext uri="{FF2B5EF4-FFF2-40B4-BE49-F238E27FC236}">
                <a16:creationId xmlns:a16="http://schemas.microsoft.com/office/drawing/2014/main" id="{F06FB55A-B212-4AC7-9A4C-52C2A7919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 is b, a[0] is b[0])</a:t>
            </a:r>
          </a:p>
        </p:txBody>
      </p:sp>
      <p:sp>
        <p:nvSpPr>
          <p:cNvPr id="14" name="copy 複製外層容器">
            <a:extLst xmlns:a="http://schemas.openxmlformats.org/drawingml/2006/main">
              <a:ext uri="{FF2B5EF4-FFF2-40B4-BE49-F238E27FC236}">
                <a16:creationId xmlns:a16="http://schemas.microsoft.com/office/drawing/2014/main" id="{21A2F890-047B-4E13-8C59-F2662D51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copy は外側のコンテナを複製</a:t>
            </a:r>
          </a:p>
        </p:txBody>
      </p:sp>
      <p:sp>
        <p:nvSpPr>
          <p:cNvPr id="15" name="巢狀物件仍可能共用。 deepcopy 遞迴處理巢狀內容。">
            <a:extLst xmlns:a="http://schemas.openxmlformats.org/drawingml/2006/main">
              <a:ext uri="{FF2B5EF4-FFF2-40B4-BE49-F238E27FC236}">
                <a16:creationId xmlns:a16="http://schemas.microsoft.com/office/drawing/2014/main" id="{DCDB375B-996C-4F2F-948E-323743AF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入れ子のオブジェクト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は共有しうる。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deepcopy は内部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も再帰的にコピー。</a:t>
            </a:r>
          </a:p>
        </p:txBody>
      </p:sp>
      <p:sp>
        <p:nvSpPr>
          <p:cNvPr id="16" name="重複容器也會共用">
            <a:extLst xmlns:a="http://schemas.openxmlformats.org/drawingml/2006/main">
              <a:ext uri="{FF2B5EF4-FFF2-40B4-BE49-F238E27FC236}">
                <a16:creationId xmlns:a16="http://schemas.microsoft.com/office/drawing/2014/main" id="{6E560768-2C2E-4EA9-BC71-677EB434F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繰り返しでも共有が起こる</a:t>
            </a:r>
          </a:p>
        </p:txBody>
      </p:sp>
      <p:sp>
        <p:nvSpPr>
          <p:cNvPr id="17" name="[[]] * 3 會共用內層 list。 [[] for _ in range(3)] 各自建立。">
            <a:extLst xmlns:a="http://schemas.openxmlformats.org/drawingml/2006/main">
              <a:ext uri="{FF2B5EF4-FFF2-40B4-BE49-F238E27FC236}">
                <a16:creationId xmlns:a16="http://schemas.microsoft.com/office/drawing/2014/main" id="{C1DF4C22-5052-4700-BED6-8D43C8CEB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[[]] * 3 は内部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の list を共有。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[[] for _ in range(3)]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は別々に生成する。</a:t>
            </a:r>
          </a:p>
        </p:txBody>
      </p:sp>
      <p:sp>
        <p:nvSpPr>
          <p:cNvPr id="18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99B7B348-95AB-4449-8BAF-5A0154D2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19" name="[[1, 9], [2]]    [[1], [2]]    False True">
            <a:extLst xmlns:a="http://schemas.openxmlformats.org/drawingml/2006/main">
              <a:ext uri="{FF2B5EF4-FFF2-40B4-BE49-F238E27FC236}">
                <a16:creationId xmlns:a16="http://schemas.microsoft.com/office/drawing/2014/main" id="{7F95E30F-815B-43B3-BB02-EE185804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[[1, 9], [2]]    [[1], [2]]    False True</a:t>
            </a:r>
          </a:p>
        </p:txBody>
      </p:sp>
    </p:spTree>
    <p:extLst>
      <p:ext uri="{BB962C8B-B14F-4D97-AF65-F5344CB8AC3E}">
        <p14:creationId xmlns:p14="http://schemas.microsoft.com/office/powerpoint/2010/main" val="120912176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函式物件與 lambda">
            <a:extLst xmlns:a="http://schemas.openxmlformats.org/drawingml/2006/main">
              <a:ext uri="{FF2B5EF4-FFF2-40B4-BE49-F238E27FC236}">
                <a16:creationId xmlns:a16="http://schemas.microsoft.com/office/drawing/2014/main" id="{19F7361B-47E4-4E5E-B8DA-EE6449E7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関数オブジェクトと lambda</a:t>
            </a:r>
          </a:p>
        </p:txBody>
      </p:sp>
      <p:sp>
        <p:nvSpPr>
          <p:cNvPr id="2" name="進階函式">
            <a:extLst xmlns:a="http://schemas.openxmlformats.org/drawingml/2006/main">
              <a:ext uri="{FF2B5EF4-FFF2-40B4-BE49-F238E27FC236}">
                <a16:creationId xmlns:a16="http://schemas.microsoft.com/office/drawing/2014/main" id="{5D20C7FD-C9D3-490A-A3E6-242D6776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高度な関数</a:t>
            </a:r>
          </a:p>
        </p:txBody>
      </p:sp>
      <p:sp>
        <p:nvSpPr>
          <p:cNvPr id="3" name="37">
            <a:extLst xmlns:a="http://schemas.openxmlformats.org/drawingml/2006/main">
              <a:ext uri="{FF2B5EF4-FFF2-40B4-BE49-F238E27FC236}">
                <a16:creationId xmlns:a16="http://schemas.microsoft.com/office/drawing/2014/main" id="{B4D7A0A5-B763-47F0-A2DA-29961458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37</a:t>
            </a:r>
          </a:p>
        </p:txBody>
      </p:sp>
      <p:sp>
        <p:nvSpPr>
          <p:cNvPr id="4" name="def twice(x):">
            <a:extLst xmlns:a="http://schemas.openxmlformats.org/drawingml/2006/main">
              <a:ext uri="{FF2B5EF4-FFF2-40B4-BE49-F238E27FC236}">
                <a16:creationId xmlns:a16="http://schemas.microsoft.com/office/drawing/2014/main" id="{3499AC66-F449-4AFD-AC4E-010DD7EE9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def twice(x):</a:t>
            </a:r>
          </a:p>
        </p:txBody>
      </p:sp>
      <p:sp>
        <p:nvSpPr>
          <p:cNvPr id="5" name="    return x * 2">
            <a:extLst xmlns:a="http://schemas.openxmlformats.org/drawingml/2006/main">
              <a:ext uri="{FF2B5EF4-FFF2-40B4-BE49-F238E27FC236}">
                <a16:creationId xmlns:a16="http://schemas.microsoft.com/office/drawing/2014/main" id="{F2830174-C493-432C-98F2-E47A2086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return x *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6EEF68-1C19-4FB4-B59F-2ACCEDAF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operation = twice">
            <a:extLst xmlns:a="http://schemas.openxmlformats.org/drawingml/2006/main">
              <a:ext uri="{FF2B5EF4-FFF2-40B4-BE49-F238E27FC236}">
                <a16:creationId xmlns:a16="http://schemas.microsoft.com/office/drawing/2014/main" id="{0E548C7F-468B-4644-BBBE-8E3CF4DF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operation = twice</a:t>
            </a:r>
          </a:p>
        </p:txBody>
      </p:sp>
      <p:sp>
        <p:nvSpPr>
          <p:cNvPr id="8" name="print(operation(3))">
            <a:extLst xmlns:a="http://schemas.openxmlformats.org/drawingml/2006/main">
              <a:ext uri="{FF2B5EF4-FFF2-40B4-BE49-F238E27FC236}">
                <a16:creationId xmlns:a16="http://schemas.microsoft.com/office/drawing/2014/main" id="{9C584B44-3078-4F8F-BE02-AB4972B56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print(operation(3))</a:t>
            </a:r>
          </a:p>
        </p:txBody>
      </p:sp>
      <p:sp>
        <p:nvSpPr>
          <p:cNvPr id="9" name="print(list(map(twice, [1, 2, 3])))">
            <a:extLst xmlns:a="http://schemas.openxmlformats.org/drawingml/2006/main">
              <a:ext uri="{FF2B5EF4-FFF2-40B4-BE49-F238E27FC236}">
                <a16:creationId xmlns:a16="http://schemas.microsoft.com/office/drawing/2014/main" id="{91658544-25CC-4D23-BBEF-110076E2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print(list(map(twice, [1, 2, 3])))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5A8D26-FAA3-420C-9AB0-0D02FF86E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names = [&quot;Cindy&quot;, &quot;Al&quot;, &quot;Ben&quot;]">
            <a:extLst xmlns:a="http://schemas.openxmlformats.org/drawingml/2006/main">
              <a:ext uri="{FF2B5EF4-FFF2-40B4-BE49-F238E27FC236}">
                <a16:creationId xmlns:a16="http://schemas.microsoft.com/office/drawing/2014/main" id="{66A6C6AE-46F1-4A18-9678-07ED7BB45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names = ["Cindy", "Al", "Ben"]</a:t>
            </a:r>
          </a:p>
        </p:txBody>
      </p:sp>
      <p:sp>
        <p:nvSpPr>
          <p:cNvPr id="12" name="print(sorted(names, key=lambda x: len(x)))">
            <a:extLst xmlns:a="http://schemas.openxmlformats.org/drawingml/2006/main">
              <a:ext uri="{FF2B5EF4-FFF2-40B4-BE49-F238E27FC236}">
                <a16:creationId xmlns:a16="http://schemas.microsoft.com/office/drawing/2014/main" id="{42963B45-0A42-4163-B2F5-8E57AEBC0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print(sorted(names, key=lambda x: len(x)))</a:t>
            </a:r>
          </a:p>
        </p:txBody>
      </p:sp>
      <p:sp>
        <p:nvSpPr>
          <p:cNvPr id="13" name="函式可指定與傳遞">
            <a:extLst xmlns:a="http://schemas.openxmlformats.org/drawingml/2006/main">
              <a:ext uri="{FF2B5EF4-FFF2-40B4-BE49-F238E27FC236}">
                <a16:creationId xmlns:a16="http://schemas.microsoft.com/office/drawing/2014/main" id="{FB3A89CC-5263-429A-B7D2-44E266CF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関数を代入・受け渡しできる</a:t>
            </a:r>
          </a:p>
        </p:txBody>
      </p:sp>
      <p:sp>
        <p:nvSpPr>
          <p:cNvPr id="14" name="呼叫時使用括號。 map 的結果需走訪才取得值。">
            <a:extLst xmlns:a="http://schemas.openxmlformats.org/drawingml/2006/main">
              <a:ext uri="{FF2B5EF4-FFF2-40B4-BE49-F238E27FC236}">
                <a16:creationId xmlns:a16="http://schemas.microsoft.com/office/drawing/2014/main" id="{FC840439-A4D0-49B9-B4B8-C299080F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括弧を付けると呼び出しになる。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map の値は反復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処理で取得する。</a:t>
            </a:r>
          </a:p>
        </p:txBody>
      </p:sp>
      <p:sp>
        <p:nvSpPr>
          <p:cNvPr id="15" name="lambda 只含一個運算式">
            <a:extLst xmlns:a="http://schemas.openxmlformats.org/drawingml/2006/main">
              <a:ext uri="{FF2B5EF4-FFF2-40B4-BE49-F238E27FC236}">
                <a16:creationId xmlns:a16="http://schemas.microsoft.com/office/drawing/2014/main" id="{77F790F6-43F5-43C8-ACC3-D33475EDD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lambda は1つの式を含む</a:t>
            </a:r>
          </a:p>
        </p:txBody>
      </p:sp>
      <p:sp>
        <p:nvSpPr>
          <p:cNvPr id="16" name="運算式的值就是回傳值。 多步驟處理使用 def 較清楚。">
            <a:extLst xmlns:a="http://schemas.openxmlformats.org/drawingml/2006/main">
              <a:ext uri="{FF2B5EF4-FFF2-40B4-BE49-F238E27FC236}">
                <a16:creationId xmlns:a16="http://schemas.microsoft.com/office/drawing/2014/main" id="{47EE0531-167B-4904-AA22-6B30EB72C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式の値が戻り値になる。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複数の手順には def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が分かりやすい。</a:t>
            </a:r>
          </a:p>
        </p:txBody>
      </p:sp>
      <p:sp>
        <p:nvSpPr>
          <p:cNvPr id="17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374A9FC6-62EE-4B7C-BCFB-9D78EE78F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18" name="6    [2, 4, 6]    ['Al', 'Ben', 'Cindy']">
            <a:extLst xmlns:a="http://schemas.openxmlformats.org/drawingml/2006/main">
              <a:ext uri="{FF2B5EF4-FFF2-40B4-BE49-F238E27FC236}">
                <a16:creationId xmlns:a16="http://schemas.microsoft.com/office/drawing/2014/main" id="{CF7E4280-4EED-440E-9ECF-66888427E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6    [2, 4, 6]    ['Al', 'Ben', 'Cindy']</a:t>
            </a:r>
          </a:p>
        </p:txBody>
      </p:sp>
    </p:spTree>
    <p:extLst>
      <p:ext uri="{BB962C8B-B14F-4D97-AF65-F5344CB8AC3E}">
        <p14:creationId xmlns:p14="http://schemas.microsoft.com/office/powerpoint/2010/main" val="136983794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裝飾器語法">
            <a:extLst xmlns:a="http://schemas.openxmlformats.org/drawingml/2006/main">
              <a:ext uri="{FF2B5EF4-FFF2-40B4-BE49-F238E27FC236}">
                <a16:creationId xmlns:a16="http://schemas.microsoft.com/office/drawing/2014/main" id="{21AE5702-14B6-455E-91F1-1EE98A3E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デコレータの文法</a:t>
            </a:r>
          </a:p>
        </p:txBody>
      </p:sp>
      <p:sp>
        <p:nvSpPr>
          <p:cNvPr id="2" name="進階函式">
            <a:extLst xmlns:a="http://schemas.openxmlformats.org/drawingml/2006/main">
              <a:ext uri="{FF2B5EF4-FFF2-40B4-BE49-F238E27FC236}">
                <a16:creationId xmlns:a16="http://schemas.microsoft.com/office/drawing/2014/main" id="{B1A83612-B60B-4DE1-B28A-28397E5AC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高度な関数</a:t>
            </a:r>
          </a:p>
        </p:txBody>
      </p:sp>
      <p:sp>
        <p:nvSpPr>
          <p:cNvPr id="3" name="38">
            <a:extLst xmlns:a="http://schemas.openxmlformats.org/drawingml/2006/main">
              <a:ext uri="{FF2B5EF4-FFF2-40B4-BE49-F238E27FC236}">
                <a16:creationId xmlns:a16="http://schemas.microsoft.com/office/drawing/2014/main" id="{D3BFCE29-1EFB-406F-8E57-946EB221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38</a:t>
            </a:r>
          </a:p>
        </p:txBody>
      </p:sp>
      <p:sp>
        <p:nvSpPr>
          <p:cNvPr id="4" name="from functools import wraps">
            <a:extLst xmlns:a="http://schemas.openxmlformats.org/drawingml/2006/main">
              <a:ext uri="{FF2B5EF4-FFF2-40B4-BE49-F238E27FC236}">
                <a16:creationId xmlns:a16="http://schemas.microsoft.com/office/drawing/2014/main" id="{183D158A-797B-42CA-8EA7-F7985BDF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functools import wraps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297031-F9F8-414A-BC5D-3577F3E8B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98209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def trace(func):">
            <a:extLst xmlns:a="http://schemas.openxmlformats.org/drawingml/2006/main">
              <a:ext uri="{FF2B5EF4-FFF2-40B4-BE49-F238E27FC236}">
                <a16:creationId xmlns:a16="http://schemas.microsoft.com/office/drawing/2014/main" id="{7C8CEADD-75D1-4BFA-8B26-DE2BE5FA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3343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def trace(func):</a:t>
            </a:r>
          </a:p>
        </p:txBody>
      </p:sp>
      <p:sp>
        <p:nvSpPr>
          <p:cNvPr id="7" name="    @wraps(func)">
            <a:extLst xmlns:a="http://schemas.openxmlformats.org/drawingml/2006/main">
              <a:ext uri="{FF2B5EF4-FFF2-40B4-BE49-F238E27FC236}">
                <a16:creationId xmlns:a16="http://schemas.microsoft.com/office/drawing/2014/main" id="{3C6D7BA9-43A5-41CB-92A9-EA23A4FD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8477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@wraps(func)</a:t>
            </a:r>
          </a:p>
        </p:txBody>
      </p:sp>
      <p:sp>
        <p:nvSpPr>
          <p:cNvPr id="8" name="    def wrapper(*args, **kwargs):">
            <a:extLst xmlns:a="http://schemas.openxmlformats.org/drawingml/2006/main">
              <a:ext uri="{FF2B5EF4-FFF2-40B4-BE49-F238E27FC236}">
                <a16:creationId xmlns:a16="http://schemas.microsoft.com/office/drawing/2014/main" id="{625B27B4-C880-4332-A918-23C091409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3611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wrapper(*args, **kwargs):</a:t>
            </a:r>
          </a:p>
        </p:txBody>
      </p:sp>
      <p:sp>
        <p:nvSpPr>
          <p:cNvPr id="9" name="        print(&quot;calling&quot;, func.__name__)">
            <a:extLst xmlns:a="http://schemas.openxmlformats.org/drawingml/2006/main">
              <a:ext uri="{FF2B5EF4-FFF2-40B4-BE49-F238E27FC236}">
                <a16:creationId xmlns:a16="http://schemas.microsoft.com/office/drawing/2014/main" id="{1BE8434B-F171-4DC9-82E2-9C73DD722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8745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print("calling", func.__name__)</a:t>
            </a:r>
          </a:p>
        </p:txBody>
      </p:sp>
      <p:sp>
        <p:nvSpPr>
          <p:cNvPr id="10" name="        return func(*args, **kwargs)">
            <a:extLst xmlns:a="http://schemas.openxmlformats.org/drawingml/2006/main">
              <a:ext uri="{FF2B5EF4-FFF2-40B4-BE49-F238E27FC236}">
                <a16:creationId xmlns:a16="http://schemas.microsoft.com/office/drawing/2014/main" id="{0B27AC4B-5E64-4694-97AB-921E054B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3879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return func(*args, **kwargs)</a:t>
            </a:r>
          </a:p>
        </p:txBody>
      </p:sp>
      <p:sp>
        <p:nvSpPr>
          <p:cNvPr id="11" name="    return wrapper">
            <a:extLst xmlns:a="http://schemas.openxmlformats.org/drawingml/2006/main">
              <a:ext uri="{FF2B5EF4-FFF2-40B4-BE49-F238E27FC236}">
                <a16:creationId xmlns:a16="http://schemas.microsoft.com/office/drawing/2014/main" id="{2C7563EA-4D9F-4B80-87D8-778FA749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9013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return wrapper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DAF68A-0DEE-455B-8729-18B0A962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4146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@trace">
            <a:extLst xmlns:a="http://schemas.openxmlformats.org/drawingml/2006/main">
              <a:ext uri="{FF2B5EF4-FFF2-40B4-BE49-F238E27FC236}">
                <a16:creationId xmlns:a16="http://schemas.microsoft.com/office/drawing/2014/main" id="{56E86639-6B16-46D2-89DE-EAE2C625F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9280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@trace</a:t>
            </a:r>
          </a:p>
        </p:txBody>
      </p:sp>
      <p:sp>
        <p:nvSpPr>
          <p:cNvPr id="14" name="def square(x):">
            <a:extLst xmlns:a="http://schemas.openxmlformats.org/drawingml/2006/main">
              <a:ext uri="{FF2B5EF4-FFF2-40B4-BE49-F238E27FC236}">
                <a16:creationId xmlns:a16="http://schemas.microsoft.com/office/drawing/2014/main" id="{C56AC3E0-92DC-454C-8869-F0F8A6D2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4414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def square(x):</a:t>
            </a:r>
          </a:p>
        </p:txBody>
      </p:sp>
      <p:sp>
        <p:nvSpPr>
          <p:cNvPr id="15" name="    return x * x">
            <a:extLst xmlns:a="http://schemas.openxmlformats.org/drawingml/2006/main">
              <a:ext uri="{FF2B5EF4-FFF2-40B4-BE49-F238E27FC236}">
                <a16:creationId xmlns:a16="http://schemas.microsoft.com/office/drawing/2014/main" id="{BEF53C6D-AE08-483B-9253-ECAB6880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9548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return x * 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3D1A5B-6595-408D-B28D-1879BC03E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4682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print(square(3))">
            <a:extLst xmlns:a="http://schemas.openxmlformats.org/drawingml/2006/main">
              <a:ext uri="{FF2B5EF4-FFF2-40B4-BE49-F238E27FC236}">
                <a16:creationId xmlns:a16="http://schemas.microsoft.com/office/drawing/2014/main" id="{36F1809E-552E-4EC9-84A7-1A2539116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9816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print(square(3))</a:t>
            </a:r>
          </a:p>
        </p:txBody>
      </p:sp>
      <p:sp>
        <p:nvSpPr>
          <p:cNvPr id="18" name="@trace 套用裝飾器">
            <a:extLst xmlns:a="http://schemas.openxmlformats.org/drawingml/2006/main">
              <a:ext uri="{FF2B5EF4-FFF2-40B4-BE49-F238E27FC236}">
                <a16:creationId xmlns:a16="http://schemas.microsoft.com/office/drawing/2014/main" id="{1BD3E84F-2449-445C-92B4-6E470C5E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@trace がデコレータを適用</a:t>
            </a:r>
          </a:p>
        </p:txBody>
      </p:sp>
      <p:sp>
        <p:nvSpPr>
          <p:cNvPr id="19" name="效果相當於定義後執行 square = trace(square)。">
            <a:extLst xmlns:a="http://schemas.openxmlformats.org/drawingml/2006/main">
              <a:ext uri="{FF2B5EF4-FFF2-40B4-BE49-F238E27FC236}">
                <a16:creationId xmlns:a16="http://schemas.microsoft.com/office/drawing/2014/main" id="{3BEA48E1-0691-4A35-BE66-A58C831BB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定義の後に次を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実行するのと同等。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square = trace(square)</a:t>
            </a:r>
          </a:p>
        </p:txBody>
      </p:sp>
      <p:sp>
        <p:nvSpPr>
          <p:cNvPr id="20" name="wrapper 包裝呼叫">
            <a:extLst xmlns:a="http://schemas.openxmlformats.org/drawingml/2006/main">
              <a:ext uri="{FF2B5EF4-FFF2-40B4-BE49-F238E27FC236}">
                <a16:creationId xmlns:a16="http://schemas.microsoft.com/office/drawing/2014/main" id="{63ECC2FE-0B06-4AAB-948A-D964483F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wrapper が呼び出しを包む</a:t>
            </a:r>
          </a:p>
        </p:txBody>
      </p:sp>
      <p:sp>
        <p:nvSpPr>
          <p:cNvPr id="21" name="wraps 保留名稱等中繼資料。 回傳原函式的執行結果。">
            <a:extLst xmlns:a="http://schemas.openxmlformats.org/drawingml/2006/main">
              <a:ext uri="{FF2B5EF4-FFF2-40B4-BE49-F238E27FC236}">
                <a16:creationId xmlns:a16="http://schemas.microsoft.com/office/drawing/2014/main" id="{53CB8292-0329-404A-B793-A896445F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wraps は名前など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の情報を保持。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元の関数の実行結果を返す。</a:t>
            </a:r>
          </a:p>
        </p:txBody>
      </p:sp>
      <p:sp>
        <p:nvSpPr>
          <p:cNvPr id="22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FB102D3F-0EAD-498E-97E5-67D307A5A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23" name="calling square    9">
            <a:extLst xmlns:a="http://schemas.openxmlformats.org/drawingml/2006/main">
              <a:ext uri="{FF2B5EF4-FFF2-40B4-BE49-F238E27FC236}">
                <a16:creationId xmlns:a16="http://schemas.microsoft.com/office/drawing/2014/main" id="{AC8F93F9-256E-48A5-BA1A-E776438B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calling square    9</a:t>
            </a:r>
          </a:p>
        </p:txBody>
      </p:sp>
    </p:spTree>
    <p:extLst>
      <p:ext uri="{BB962C8B-B14F-4D97-AF65-F5344CB8AC3E}">
        <p14:creationId xmlns:p14="http://schemas.microsoft.com/office/powerpoint/2010/main" val="254173997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iterable 與 iterator">
            <a:extLst xmlns:a="http://schemas.openxmlformats.org/drawingml/2006/main">
              <a:ext uri="{FF2B5EF4-FFF2-40B4-BE49-F238E27FC236}">
                <a16:creationId xmlns:a16="http://schemas.microsoft.com/office/drawing/2014/main" id="{C0706E56-ED70-4EDA-AF77-4C6E85D5D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iterable と iterator</a:t>
            </a:r>
          </a:p>
        </p:txBody>
      </p:sp>
      <p:sp>
        <p:nvSpPr>
          <p:cNvPr id="2" name="迭代與生成器">
            <a:extLst xmlns:a="http://schemas.openxmlformats.org/drawingml/2006/main">
              <a:ext uri="{FF2B5EF4-FFF2-40B4-BE49-F238E27FC236}">
                <a16:creationId xmlns:a16="http://schemas.microsoft.com/office/drawing/2014/main" id="{1E075268-EB35-4A1E-A42F-8AF8E13E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反復処理とジェネレータ</a:t>
            </a:r>
          </a:p>
        </p:txBody>
      </p:sp>
      <p:sp>
        <p:nvSpPr>
          <p:cNvPr id="3" name="39">
            <a:extLst xmlns:a="http://schemas.openxmlformats.org/drawingml/2006/main">
              <a:ext uri="{FF2B5EF4-FFF2-40B4-BE49-F238E27FC236}">
                <a16:creationId xmlns:a16="http://schemas.microsoft.com/office/drawing/2014/main" id="{CE1B276C-86A7-4C48-835C-22C13B50E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39</a:t>
            </a:r>
          </a:p>
        </p:txBody>
      </p:sp>
      <p:sp>
        <p:nvSpPr>
          <p:cNvPr id="4" name="values = [10, 20]">
            <a:extLst xmlns:a="http://schemas.openxmlformats.org/drawingml/2006/main">
              <a:ext uri="{FF2B5EF4-FFF2-40B4-BE49-F238E27FC236}">
                <a16:creationId xmlns:a16="http://schemas.microsoft.com/office/drawing/2014/main" id="{DFD0EF60-B96D-455A-8191-E2CA991B3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values = [10, 20]</a:t>
            </a:r>
          </a:p>
        </p:txBody>
      </p:sp>
      <p:sp>
        <p:nvSpPr>
          <p:cNvPr id="5" name="iterator = iter(values)">
            <a:extLst xmlns:a="http://schemas.openxmlformats.org/drawingml/2006/main">
              <a:ext uri="{FF2B5EF4-FFF2-40B4-BE49-F238E27FC236}">
                <a16:creationId xmlns:a16="http://schemas.microsoft.com/office/drawing/2014/main" id="{C8313D2C-BC6D-4E13-84AE-F9480A01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iterator = iter(values)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677EBD-3E01-475F-924C-5F204A87A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print(next(iterator))">
            <a:extLst xmlns:a="http://schemas.openxmlformats.org/drawingml/2006/main">
              <a:ext uri="{FF2B5EF4-FFF2-40B4-BE49-F238E27FC236}">
                <a16:creationId xmlns:a16="http://schemas.microsoft.com/office/drawing/2014/main" id="{C58E44A3-514F-493F-A12F-D3C8C8ADE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print(next(iterator))</a:t>
            </a:r>
          </a:p>
        </p:txBody>
      </p:sp>
      <p:sp>
        <p:nvSpPr>
          <p:cNvPr id="8" name="print(next(iterator))">
            <a:extLst xmlns:a="http://schemas.openxmlformats.org/drawingml/2006/main">
              <a:ext uri="{FF2B5EF4-FFF2-40B4-BE49-F238E27FC236}">
                <a16:creationId xmlns:a16="http://schemas.microsoft.com/office/drawing/2014/main" id="{3C95C856-82E3-4432-AEC6-3E69669A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print(next(iterator))</a:t>
            </a:r>
          </a:p>
        </p:txBody>
      </p:sp>
      <p:sp>
        <p:nvSpPr>
          <p:cNvPr id="9" name="print(next(iterator, &quot;done&quot;))">
            <a:extLst xmlns:a="http://schemas.openxmlformats.org/drawingml/2006/main">
              <a:ext uri="{FF2B5EF4-FFF2-40B4-BE49-F238E27FC236}">
                <a16:creationId xmlns:a16="http://schemas.microsoft.com/office/drawing/2014/main" id="{CB286A45-4224-40AE-BE97-6735B6E66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print(next(iterator, "done"))</a:t>
            </a:r>
          </a:p>
        </p:txBody>
      </p:sp>
      <p:sp>
        <p:nvSpPr>
          <p:cNvPr id="10" name="print(list(iterator))">
            <a:extLst xmlns:a="http://schemas.openxmlformats.org/drawingml/2006/main">
              <a:ext uri="{FF2B5EF4-FFF2-40B4-BE49-F238E27FC236}">
                <a16:creationId xmlns:a16="http://schemas.microsoft.com/office/drawing/2014/main" id="{F6F6278F-C132-4121-88DA-24969699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print(list(iterator))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A9660F-A8D3-43A0-996D-41BEAF26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print(list(values))">
            <a:extLst xmlns:a="http://schemas.openxmlformats.org/drawingml/2006/main">
              <a:ext uri="{FF2B5EF4-FFF2-40B4-BE49-F238E27FC236}">
                <a16:creationId xmlns:a16="http://schemas.microsoft.com/office/drawing/2014/main" id="{C6AD4FCF-F6B9-4E00-9C1E-8334760A3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print(list(values))</a:t>
            </a:r>
          </a:p>
        </p:txBody>
      </p:sp>
      <p:sp>
        <p:nvSpPr>
          <p:cNvPr id="13" name="iter 建立迭代器">
            <a:extLst xmlns:a="http://schemas.openxmlformats.org/drawingml/2006/main">
              <a:ext uri="{FF2B5EF4-FFF2-40B4-BE49-F238E27FC236}">
                <a16:creationId xmlns:a16="http://schemas.microsoft.com/office/drawing/2014/main" id="{5C316415-3BE8-4FDA-BFDF-B85B06F07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iter はイテレータを作る</a:t>
            </a:r>
          </a:p>
        </p:txBody>
      </p:sp>
      <p:sp>
        <p:nvSpPr>
          <p:cNvPr id="14" name="next 取得下一個元素。 耗盡且無預設值時拋出 StopIteration。">
            <a:extLst xmlns:a="http://schemas.openxmlformats.org/drawingml/2006/main">
              <a:ext uri="{FF2B5EF4-FFF2-40B4-BE49-F238E27FC236}">
                <a16:creationId xmlns:a16="http://schemas.microsoft.com/office/drawing/2014/main" id="{A863A9D8-4B29-46A3-8876-42F1BC5C1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next は次の要素を取得。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要素が尽き、既定値がない場合は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StopIteration が発生。</a:t>
            </a:r>
          </a:p>
        </p:txBody>
      </p:sp>
      <p:sp>
        <p:nvSpPr>
          <p:cNvPr id="15" name="迭代器會耗盡">
            <a:extLst xmlns:a="http://schemas.openxmlformats.org/drawingml/2006/main">
              <a:ext uri="{FF2B5EF4-FFF2-40B4-BE49-F238E27FC236}">
                <a16:creationId xmlns:a16="http://schemas.microsoft.com/office/drawing/2014/main" id="{D1C0D032-E223-46A1-BFBE-1A42207CD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イテレータは使い切る</a:t>
            </a:r>
          </a:p>
        </p:txBody>
      </p:sp>
      <p:sp>
        <p:nvSpPr>
          <p:cNvPr id="16" name="list 可再建立新的迭代器。 原迭代器已沒有剩餘元素。">
            <a:extLst xmlns:a="http://schemas.openxmlformats.org/drawingml/2006/main">
              <a:ext uri="{FF2B5EF4-FFF2-40B4-BE49-F238E27FC236}">
                <a16:creationId xmlns:a16="http://schemas.microsoft.com/office/drawing/2014/main" id="{2A32DC4F-73C9-416A-BEBC-8B8BE09EE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list から新しい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イテレータを作れる。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元のイテレータに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は要素が残らない。</a:t>
            </a:r>
          </a:p>
        </p:txBody>
      </p:sp>
      <p:sp>
        <p:nvSpPr>
          <p:cNvPr id="17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C9951BB5-B1A7-4AD1-BB62-1E83013AE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18" name="10    20    done    []    [10, 20]">
            <a:extLst xmlns:a="http://schemas.openxmlformats.org/drawingml/2006/main">
              <a:ext uri="{FF2B5EF4-FFF2-40B4-BE49-F238E27FC236}">
                <a16:creationId xmlns:a16="http://schemas.microsoft.com/office/drawing/2014/main" id="{C2310F06-89D6-4ED2-B4D1-91CCD0ED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10    20    done    []    [10, 20]</a:t>
            </a:r>
          </a:p>
        </p:txBody>
      </p:sp>
    </p:spTree>
    <p:extLst>
      <p:ext uri="{BB962C8B-B14F-4D97-AF65-F5344CB8AC3E}">
        <p14:creationId xmlns:p14="http://schemas.microsoft.com/office/powerpoint/2010/main" val="267564450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yield 與生成器運算式">
            <a:extLst xmlns:a="http://schemas.openxmlformats.org/drawingml/2006/main">
              <a:ext uri="{FF2B5EF4-FFF2-40B4-BE49-F238E27FC236}">
                <a16:creationId xmlns:a16="http://schemas.microsoft.com/office/drawing/2014/main" id="{6FCD3F2E-F810-4D9A-A7E1-78502418A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yield とジェネレータ式</a:t>
            </a:r>
          </a:p>
        </p:txBody>
      </p:sp>
      <p:sp>
        <p:nvSpPr>
          <p:cNvPr id="2" name="迭代與生成器">
            <a:extLst xmlns:a="http://schemas.openxmlformats.org/drawingml/2006/main">
              <a:ext uri="{FF2B5EF4-FFF2-40B4-BE49-F238E27FC236}">
                <a16:creationId xmlns:a16="http://schemas.microsoft.com/office/drawing/2014/main" id="{4A475A24-2592-435A-9CC6-B2A618C39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反復処理とジェネレータ</a:t>
            </a:r>
          </a:p>
        </p:txBody>
      </p:sp>
      <p:sp>
        <p:nvSpPr>
          <p:cNvPr id="3" name="40">
            <a:extLst xmlns:a="http://schemas.openxmlformats.org/drawingml/2006/main">
              <a:ext uri="{FF2B5EF4-FFF2-40B4-BE49-F238E27FC236}">
                <a16:creationId xmlns:a16="http://schemas.microsoft.com/office/drawing/2014/main" id="{DDA47F17-FE08-4362-A953-AD9F6541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40</a:t>
            </a:r>
          </a:p>
        </p:txBody>
      </p:sp>
      <p:sp>
        <p:nvSpPr>
          <p:cNvPr id="4" name="def numbers():">
            <a:extLst xmlns:a="http://schemas.openxmlformats.org/drawingml/2006/main">
              <a:ext uri="{FF2B5EF4-FFF2-40B4-BE49-F238E27FC236}">
                <a16:creationId xmlns:a16="http://schemas.microsoft.com/office/drawing/2014/main" id="{2F796E04-3203-48F4-915F-DF07124ED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def numbers():</a:t>
            </a:r>
          </a:p>
        </p:txBody>
      </p:sp>
      <p:sp>
        <p:nvSpPr>
          <p:cNvPr id="5" name="    yield 1">
            <a:extLst xmlns:a="http://schemas.openxmlformats.org/drawingml/2006/main">
              <a:ext uri="{FF2B5EF4-FFF2-40B4-BE49-F238E27FC236}">
                <a16:creationId xmlns:a16="http://schemas.microsoft.com/office/drawing/2014/main" id="{7CE710B2-548B-4FE6-A7FA-1B03CD7D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yield 1</a:t>
            </a:r>
          </a:p>
        </p:txBody>
      </p:sp>
      <p:sp>
        <p:nvSpPr>
          <p:cNvPr id="6" name="    yield from [2, 3]">
            <a:extLst xmlns:a="http://schemas.openxmlformats.org/drawingml/2006/main">
              <a:ext uri="{FF2B5EF4-FFF2-40B4-BE49-F238E27FC236}">
                <a16:creationId xmlns:a16="http://schemas.microsoft.com/office/drawing/2014/main" id="{1E12A287-D7F8-466F-81ED-AC7D987E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yield from [2, 3]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E60E63-060E-42D6-9E34-61C4DE490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g = numbers()">
            <a:extLst xmlns:a="http://schemas.openxmlformats.org/drawingml/2006/main">
              <a:ext uri="{FF2B5EF4-FFF2-40B4-BE49-F238E27FC236}">
                <a16:creationId xmlns:a16="http://schemas.microsoft.com/office/drawing/2014/main" id="{91D5273F-686E-4803-8806-2C27CA632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g = numbers()</a:t>
            </a:r>
          </a:p>
        </p:txBody>
      </p:sp>
      <p:sp>
        <p:nvSpPr>
          <p:cNvPr id="9" name="print(next(g))">
            <a:extLst xmlns:a="http://schemas.openxmlformats.org/drawingml/2006/main">
              <a:ext uri="{FF2B5EF4-FFF2-40B4-BE49-F238E27FC236}">
                <a16:creationId xmlns:a16="http://schemas.microsoft.com/office/drawing/2014/main" id="{53AA0706-784E-4E95-8279-BDF469C3C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print(next(g))</a:t>
            </a:r>
          </a:p>
        </p:txBody>
      </p:sp>
      <p:sp>
        <p:nvSpPr>
          <p:cNvPr id="10" name="print(list(g))">
            <a:extLst xmlns:a="http://schemas.openxmlformats.org/drawingml/2006/main">
              <a:ext uri="{FF2B5EF4-FFF2-40B4-BE49-F238E27FC236}">
                <a16:creationId xmlns:a16="http://schemas.microsoft.com/office/drawing/2014/main" id="{DE548721-1E15-43A2-89D3-07301DF4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print(list(g))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D66AB9-A044-478C-8208-F182D1A1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squares = (x * x for x in range(3))">
            <a:extLst xmlns:a="http://schemas.openxmlformats.org/drawingml/2006/main">
              <a:ext uri="{FF2B5EF4-FFF2-40B4-BE49-F238E27FC236}">
                <a16:creationId xmlns:a16="http://schemas.microsoft.com/office/drawing/2014/main" id="{969C771C-E4E0-4DEE-AFBD-6DDD3EA3E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squares = (x * x for x in range(3))</a:t>
            </a:r>
          </a:p>
        </p:txBody>
      </p:sp>
      <p:sp>
        <p:nvSpPr>
          <p:cNvPr id="13" name="print(list(squares))">
            <a:extLst xmlns:a="http://schemas.openxmlformats.org/drawingml/2006/main">
              <a:ext uri="{FF2B5EF4-FFF2-40B4-BE49-F238E27FC236}">
                <a16:creationId xmlns:a16="http://schemas.microsoft.com/office/drawing/2014/main" id="{A711F191-072C-429A-82DE-8CDD550B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print(list(squares))</a:t>
            </a:r>
          </a:p>
        </p:txBody>
      </p:sp>
      <p:sp>
        <p:nvSpPr>
          <p:cNvPr id="14" name="print(list(squares))">
            <a:extLst xmlns:a="http://schemas.openxmlformats.org/drawingml/2006/main">
              <a:ext uri="{FF2B5EF4-FFF2-40B4-BE49-F238E27FC236}">
                <a16:creationId xmlns:a16="http://schemas.microsoft.com/office/drawing/2014/main" id="{3760479E-6ED3-4738-AE46-F06BD31E0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print(list(squares))</a:t>
            </a:r>
          </a:p>
        </p:txBody>
      </p:sp>
      <p:sp>
        <p:nvSpPr>
          <p:cNvPr id="15" name="yield 暫停並產生值">
            <a:extLst xmlns:a="http://schemas.openxmlformats.org/drawingml/2006/main">
              <a:ext uri="{FF2B5EF4-FFF2-40B4-BE49-F238E27FC236}">
                <a16:creationId xmlns:a16="http://schemas.microsoft.com/office/drawing/2014/main" id="{40E7D4DB-8CE0-447B-B807-81CDE58A7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yield は値を生成して中断</a:t>
            </a:r>
          </a:p>
        </p:txBody>
      </p:sp>
      <p:sp>
        <p:nvSpPr>
          <p:cNvPr id="16" name="下次走訪從暫停處繼續。 yield from 委派給另一 iterable。">
            <a:extLst xmlns:a="http://schemas.openxmlformats.org/drawingml/2006/main">
              <a:ext uri="{FF2B5EF4-FFF2-40B4-BE49-F238E27FC236}">
                <a16:creationId xmlns:a16="http://schemas.microsoft.com/office/drawing/2014/main" id="{4754CE8E-9C31-438D-8B72-53352129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次の反復で中断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した位置から再開。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yield from は別の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iterable に委譲。</a:t>
            </a:r>
          </a:p>
        </p:txBody>
      </p:sp>
      <p:sp>
        <p:nvSpPr>
          <p:cNvPr id="17" name="生成器採惰性求值">
            <a:extLst xmlns:a="http://schemas.openxmlformats.org/drawingml/2006/main">
              <a:ext uri="{FF2B5EF4-FFF2-40B4-BE49-F238E27FC236}">
                <a16:creationId xmlns:a16="http://schemas.microsoft.com/office/drawing/2014/main" id="{B4F358B4-8127-425C-93A4-AE8793636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ジェネレータは遅延評価する</a:t>
            </a:r>
          </a:p>
        </p:txBody>
      </p:sp>
      <p:sp>
        <p:nvSpPr>
          <p:cNvPr id="18" name="呼叫生成器函式先建立物件。 生成器運算式使用圓括號。">
            <a:extLst xmlns:a="http://schemas.openxmlformats.org/drawingml/2006/main">
              <a:ext uri="{FF2B5EF4-FFF2-40B4-BE49-F238E27FC236}">
                <a16:creationId xmlns:a16="http://schemas.microsoft.com/office/drawing/2014/main" id="{99979D38-2A3F-48C5-9BC1-0F139C38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関数呼び出しでまず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オブジェクトを作る。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ジェネレータ式は丸括弧を使う。</a:t>
            </a:r>
          </a:p>
        </p:txBody>
      </p:sp>
      <p:sp>
        <p:nvSpPr>
          <p:cNvPr id="19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73EEA6B5-AB92-48BA-A9A7-34259AFF2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20" name="1    [2, 3]    [0, 1, 4]    []">
            <a:extLst xmlns:a="http://schemas.openxmlformats.org/drawingml/2006/main">
              <a:ext uri="{FF2B5EF4-FFF2-40B4-BE49-F238E27FC236}">
                <a16:creationId xmlns:a16="http://schemas.microsoft.com/office/drawing/2014/main" id="{935D8BDC-760B-428E-B606-6AC7BB2E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1    [2, 3]    [0, 1, 4]    []</a:t>
            </a:r>
          </a:p>
        </p:txBody>
      </p:sp>
    </p:spTree>
    <p:extLst>
      <p:ext uri="{BB962C8B-B14F-4D97-AF65-F5344CB8AC3E}">
        <p14:creationId xmlns:p14="http://schemas.microsoft.com/office/powerpoint/2010/main" val="112301068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import 與程式進入點">
            <a:extLst xmlns:a="http://schemas.openxmlformats.org/drawingml/2006/main">
              <a:ext uri="{FF2B5EF4-FFF2-40B4-BE49-F238E27FC236}">
                <a16:creationId xmlns:a16="http://schemas.microsoft.com/office/drawing/2014/main" id="{E19244A9-2292-45B4-940C-9D295545D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import とプログラムの開始点</a:t>
            </a:r>
          </a:p>
        </p:txBody>
      </p:sp>
      <p:sp>
        <p:nvSpPr>
          <p:cNvPr id="2" name="模組與套件">
            <a:extLst xmlns:a="http://schemas.openxmlformats.org/drawingml/2006/main">
              <a:ext uri="{FF2B5EF4-FFF2-40B4-BE49-F238E27FC236}">
                <a16:creationId xmlns:a16="http://schemas.microsoft.com/office/drawing/2014/main" id="{F49A3DFF-7D61-4386-B225-7AF5DDB04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モジュールとパッケージ</a:t>
            </a:r>
          </a:p>
        </p:txBody>
      </p:sp>
      <p:sp>
        <p:nvSpPr>
          <p:cNvPr id="3" name="41">
            <a:extLst xmlns:a="http://schemas.openxmlformats.org/drawingml/2006/main">
              <a:ext uri="{FF2B5EF4-FFF2-40B4-BE49-F238E27FC236}">
                <a16:creationId xmlns:a16="http://schemas.microsoft.com/office/drawing/2014/main" id="{30F33539-D743-4279-B759-68FF8342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41</a:t>
            </a:r>
          </a:p>
        </p:txBody>
      </p:sp>
      <p:sp>
        <p:nvSpPr>
          <p:cNvPr id="4" name="import math">
            <a:extLst xmlns:a="http://schemas.openxmlformats.org/drawingml/2006/main">
              <a:ext uri="{FF2B5EF4-FFF2-40B4-BE49-F238E27FC236}">
                <a16:creationId xmlns:a16="http://schemas.microsoft.com/office/drawing/2014/main" id="{FACD606B-1262-4993-8EB6-4DA359F9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import math</a:t>
            </a:r>
          </a:p>
        </p:txBody>
      </p:sp>
      <p:sp>
        <p:nvSpPr>
          <p:cNvPr id="5" name="from pathlib import Path">
            <a:extLst xmlns:a="http://schemas.openxmlformats.org/drawingml/2006/main">
              <a:ext uri="{FF2B5EF4-FFF2-40B4-BE49-F238E27FC236}">
                <a16:creationId xmlns:a16="http://schemas.microsoft.com/office/drawing/2014/main" id="{91AAEDA4-2649-40BB-80AA-4B5CCC157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from pathlib import Path</a:t>
            </a:r>
          </a:p>
        </p:txBody>
      </p:sp>
      <p:sp>
        <p:nvSpPr>
          <p:cNvPr id="6" name="import statistics as stats">
            <a:extLst xmlns:a="http://schemas.openxmlformats.org/drawingml/2006/main">
              <a:ext uri="{FF2B5EF4-FFF2-40B4-BE49-F238E27FC236}">
                <a16:creationId xmlns:a16="http://schemas.microsoft.com/office/drawing/2014/main" id="{0A9509C0-B71B-42C3-A2ED-84FD04CD0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import statistics as stats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2399A8-8CD8-4D3B-AC24-92865E251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def main():">
            <a:extLst xmlns:a="http://schemas.openxmlformats.org/drawingml/2006/main">
              <a:ext uri="{FF2B5EF4-FFF2-40B4-BE49-F238E27FC236}">
                <a16:creationId xmlns:a16="http://schemas.microsoft.com/office/drawing/2014/main" id="{46E5537F-5651-4F36-96B7-EEEB9A03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def main():</a:t>
            </a:r>
          </a:p>
        </p:txBody>
      </p:sp>
      <p:sp>
        <p:nvSpPr>
          <p:cNvPr id="9" name="    print(math.isqrt(17))">
            <a:extLst xmlns:a="http://schemas.openxmlformats.org/drawingml/2006/main">
              <a:ext uri="{FF2B5EF4-FFF2-40B4-BE49-F238E27FC236}">
                <a16:creationId xmlns:a16="http://schemas.microsoft.com/office/drawing/2014/main" id="{D5438978-674E-4C2E-9F4B-EDF443DD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print(math.isqrt(17))</a:t>
            </a:r>
          </a:p>
        </p:txBody>
      </p:sp>
      <p:sp>
        <p:nvSpPr>
          <p:cNvPr id="10" name="    print(stats.mean([2, 4, 6]))">
            <a:extLst xmlns:a="http://schemas.openxmlformats.org/drawingml/2006/main">
              <a:ext uri="{FF2B5EF4-FFF2-40B4-BE49-F238E27FC236}">
                <a16:creationId xmlns:a16="http://schemas.microsoft.com/office/drawing/2014/main" id="{9D828FEA-F061-47F7-A00B-7348C4EF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print(stats.mean([2, 4, 6]))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E3141E-CBCB-4FC7-8C5F-36180BF2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if __name__ == &quot;__main__&quot;:">
            <a:extLst xmlns:a="http://schemas.openxmlformats.org/drawingml/2006/main">
              <a:ext uri="{FF2B5EF4-FFF2-40B4-BE49-F238E27FC236}">
                <a16:creationId xmlns:a16="http://schemas.microsoft.com/office/drawing/2014/main" id="{C178F412-3D7D-45AF-9436-AA3EBF8E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if __name__ == "__main__":</a:t>
            </a:r>
          </a:p>
        </p:txBody>
      </p:sp>
      <p:sp>
        <p:nvSpPr>
          <p:cNvPr id="13" name="    main()">
            <a:extLst xmlns:a="http://schemas.openxmlformats.org/drawingml/2006/main">
              <a:ext uri="{FF2B5EF4-FFF2-40B4-BE49-F238E27FC236}">
                <a16:creationId xmlns:a16="http://schemas.microsoft.com/office/drawing/2014/main" id="{675ABD11-21C0-459C-9D28-0543A165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main()</a:t>
            </a:r>
          </a:p>
        </p:txBody>
      </p:sp>
      <p:sp>
        <p:nvSpPr>
          <p:cNvPr id="14" name="import 建立可用名稱">
            <a:extLst xmlns:a="http://schemas.openxmlformats.org/drawingml/2006/main">
              <a:ext uri="{FF2B5EF4-FFF2-40B4-BE49-F238E27FC236}">
                <a16:creationId xmlns:a16="http://schemas.microsoft.com/office/drawing/2014/main" id="{3AE54742-7CDA-4CC2-A29F-02AE3C6F9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import は名前を束縛する</a:t>
            </a:r>
          </a:p>
        </p:txBody>
      </p:sp>
      <p:sp>
        <p:nvSpPr>
          <p:cNvPr id="15" name="as 指定本地別名。 模組首次匯入會執行頂層敘述。">
            <a:extLst xmlns:a="http://schemas.openxmlformats.org/drawingml/2006/main">
              <a:ext uri="{FF2B5EF4-FFF2-40B4-BE49-F238E27FC236}">
                <a16:creationId xmlns:a16="http://schemas.microsoft.com/office/drawing/2014/main" id="{C459D286-953A-4730-9090-A2C91E074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as はローカルな別名を指定。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初回のインポートで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最上位の文を実行。</a:t>
            </a:r>
          </a:p>
        </p:txBody>
      </p:sp>
      <p:sp>
        <p:nvSpPr>
          <p:cNvPr id="16" name="直接執行與匯入">
            <a:extLst xmlns:a="http://schemas.openxmlformats.org/drawingml/2006/main">
              <a:ext uri="{FF2B5EF4-FFF2-40B4-BE49-F238E27FC236}">
                <a16:creationId xmlns:a16="http://schemas.microsoft.com/office/drawing/2014/main" id="{C8C9FDC0-C07C-465D-9AE2-B75831DF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直接実行とインポート</a:t>
            </a:r>
          </a:p>
        </p:txBody>
      </p:sp>
      <p:sp>
        <p:nvSpPr>
          <p:cNvPr id="17" name="直接執行時 __name__ 為 &quot;__main__&quot;。">
            <a:extLst xmlns:a="http://schemas.openxmlformats.org/drawingml/2006/main">
              <a:ext uri="{FF2B5EF4-FFF2-40B4-BE49-F238E27FC236}">
                <a16:creationId xmlns:a16="http://schemas.microsoft.com/office/drawing/2014/main" id="{27855635-AC8E-425A-99F0-898C1499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直接実行すると __name__ は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"__main__" になる。</a:t>
            </a:r>
          </a:p>
        </p:txBody>
      </p:sp>
      <p:sp>
        <p:nvSpPr>
          <p:cNvPr id="18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CE96A151-D0FA-4150-AA58-E7DA7CB9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19" name="4    4">
            <a:extLst xmlns:a="http://schemas.openxmlformats.org/drawingml/2006/main">
              <a:ext uri="{FF2B5EF4-FFF2-40B4-BE49-F238E27FC236}">
                <a16:creationId xmlns:a16="http://schemas.microsoft.com/office/drawing/2014/main" id="{C4F67E6E-F870-43A3-A451-BBD99B84B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4    4</a:t>
            </a:r>
          </a:p>
        </p:txBody>
      </p:sp>
    </p:spTree>
    <p:extLst>
      <p:ext uri="{BB962C8B-B14F-4D97-AF65-F5344CB8AC3E}">
        <p14:creationId xmlns:p14="http://schemas.microsoft.com/office/powerpoint/2010/main" val="550288978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套件結構與相對匯入">
            <a:extLst xmlns:a="http://schemas.openxmlformats.org/drawingml/2006/main">
              <a:ext uri="{FF2B5EF4-FFF2-40B4-BE49-F238E27FC236}">
                <a16:creationId xmlns:a16="http://schemas.microsoft.com/office/drawing/2014/main" id="{EEE72D25-0389-4EAF-B2AD-4C281790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パッケージ構造と相対インポート</a:t>
            </a:r>
          </a:p>
        </p:txBody>
      </p:sp>
      <p:sp>
        <p:nvSpPr>
          <p:cNvPr id="2" name="模組與套件">
            <a:extLst xmlns:a="http://schemas.openxmlformats.org/drawingml/2006/main">
              <a:ext uri="{FF2B5EF4-FFF2-40B4-BE49-F238E27FC236}">
                <a16:creationId xmlns:a16="http://schemas.microsoft.com/office/drawing/2014/main" id="{65F8D39C-D71D-48D2-934B-EAC3E4DD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モジュールとパッケージ</a:t>
            </a:r>
          </a:p>
        </p:txBody>
      </p:sp>
      <p:sp>
        <p:nvSpPr>
          <p:cNvPr id="3" name="42">
            <a:extLst xmlns:a="http://schemas.openxmlformats.org/drawingml/2006/main">
              <a:ext uri="{FF2B5EF4-FFF2-40B4-BE49-F238E27FC236}">
                <a16:creationId xmlns:a16="http://schemas.microsoft.com/office/drawing/2014/main" id="{8393AAF2-5648-41CE-B440-27EE572F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42</a:t>
            </a:r>
          </a:p>
        </p:txBody>
      </p:sp>
      <p:sp>
        <p:nvSpPr>
          <p:cNvPr id="4" name="# Package layout">
            <a:extLst xmlns:a="http://schemas.openxmlformats.org/drawingml/2006/main">
              <a:ext uri="{FF2B5EF4-FFF2-40B4-BE49-F238E27FC236}">
                <a16:creationId xmlns:a16="http://schemas.microsoft.com/office/drawing/2014/main" id="{376750E0-C2F1-4324-B8A9-90194CD7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A9BDC7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A9BDC7"/>
                </a:solidFill>
                <a:latin typeface="Consolas"/>
                <a:ea typeface="Consolas"/>
                <a:cs typeface="Consolas"/>
              </a:rPr>
              <a:t># Package layout</a:t>
            </a:r>
          </a:p>
        </p:txBody>
      </p:sp>
      <p:sp>
        <p:nvSpPr>
          <p:cNvPr id="5" name="# tools/">
            <a:extLst xmlns:a="http://schemas.openxmlformats.org/drawingml/2006/main">
              <a:ext uri="{FF2B5EF4-FFF2-40B4-BE49-F238E27FC236}">
                <a16:creationId xmlns:a16="http://schemas.microsoft.com/office/drawing/2014/main" id="{C4CC73FF-CB5B-4E3F-A7B4-49E1FE97D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A9BDC7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A9BDC7"/>
                </a:solidFill>
                <a:latin typeface="Consolas"/>
                <a:ea typeface="Consolas"/>
                <a:cs typeface="Consolas"/>
              </a:rPr>
              <a:t># tools/</a:t>
            </a:r>
          </a:p>
        </p:txBody>
      </p:sp>
      <p:sp>
        <p:nvSpPr>
          <p:cNvPr id="6" name="#   __init__.py">
            <a:extLst xmlns:a="http://schemas.openxmlformats.org/drawingml/2006/main">
              <a:ext uri="{FF2B5EF4-FFF2-40B4-BE49-F238E27FC236}">
                <a16:creationId xmlns:a16="http://schemas.microsoft.com/office/drawing/2014/main" id="{2A50968D-1F98-4353-8139-CE419827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A9BDC7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A9BDC7"/>
                </a:solidFill>
                <a:latin typeface="Consolas"/>
                <a:ea typeface="Consolas"/>
                <a:cs typeface="Consolas"/>
              </a:rPr>
              <a:t>#   __init__.py</a:t>
            </a:r>
          </a:p>
        </p:txBody>
      </p:sp>
      <p:sp>
        <p:nvSpPr>
          <p:cNvPr id="7" name="#   text.py">
            <a:extLst xmlns:a="http://schemas.openxmlformats.org/drawingml/2006/main">
              <a:ext uri="{FF2B5EF4-FFF2-40B4-BE49-F238E27FC236}">
                <a16:creationId xmlns:a16="http://schemas.microsoft.com/office/drawing/2014/main" id="{3B8BBDAA-BC9A-400C-B9D4-99B6697B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A9BDC7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A9BDC7"/>
                </a:solidFill>
                <a:latin typeface="Consolas"/>
                <a:ea typeface="Consolas"/>
                <a:cs typeface="Consolas"/>
              </a:rPr>
              <a:t>#   text.py</a:t>
            </a:r>
          </a:p>
        </p:txBody>
      </p:sp>
      <p:sp>
        <p:nvSpPr>
          <p:cNvPr id="8" name="#   app.py">
            <a:extLst xmlns:a="http://schemas.openxmlformats.org/drawingml/2006/main">
              <a:ext uri="{FF2B5EF4-FFF2-40B4-BE49-F238E27FC236}">
                <a16:creationId xmlns:a16="http://schemas.microsoft.com/office/drawing/2014/main" id="{896284E5-DEE7-4705-8CFA-0052A1C16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A9BDC7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A9BDC7"/>
                </a:solidFill>
                <a:latin typeface="Consolas"/>
                <a:ea typeface="Consolas"/>
                <a:cs typeface="Consolas"/>
              </a:rPr>
              <a:t>#   app.py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EA3DA5-50A3-4DEC-8691-6F0404130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# tools/app.py">
            <a:extLst xmlns:a="http://schemas.openxmlformats.org/drawingml/2006/main">
              <a:ext uri="{FF2B5EF4-FFF2-40B4-BE49-F238E27FC236}">
                <a16:creationId xmlns:a16="http://schemas.microsoft.com/office/drawing/2014/main" id="{152A4DA6-D562-4B65-A7F0-97AA6CB7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A9BDC7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A9BDC7"/>
                </a:solidFill>
                <a:latin typeface="Consolas"/>
                <a:ea typeface="Consolas"/>
                <a:cs typeface="Consolas"/>
              </a:rPr>
              <a:t># tools/app.py</a:t>
            </a:r>
          </a:p>
        </p:txBody>
      </p:sp>
      <p:sp>
        <p:nvSpPr>
          <p:cNvPr id="11" name="from .text import clean">
            <a:extLst xmlns:a="http://schemas.openxmlformats.org/drawingml/2006/main">
              <a:ext uri="{FF2B5EF4-FFF2-40B4-BE49-F238E27FC236}">
                <a16:creationId xmlns:a16="http://schemas.microsoft.com/office/drawing/2014/main" id="{D1158DC5-71B6-478F-899F-A86C9C4A4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.text import clean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A78B0C-4565-4AC2-89A9-34F5E84FC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# Outside the package">
            <a:extLst xmlns:a="http://schemas.openxmlformats.org/drawingml/2006/main">
              <a:ext uri="{FF2B5EF4-FFF2-40B4-BE49-F238E27FC236}">
                <a16:creationId xmlns:a16="http://schemas.microsoft.com/office/drawing/2014/main" id="{701D5A66-90BF-4E70-9B03-3D4F7CE41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A9BDC7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A9BDC7"/>
                </a:solidFill>
                <a:latin typeface="Consolas"/>
                <a:ea typeface="Consolas"/>
                <a:cs typeface="Consolas"/>
              </a:rPr>
              <a:t># Outside the package</a:t>
            </a:r>
          </a:p>
        </p:txBody>
      </p:sp>
      <p:sp>
        <p:nvSpPr>
          <p:cNvPr id="14" name="from tools.text import clean">
            <a:extLst xmlns:a="http://schemas.openxmlformats.org/drawingml/2006/main">
              <a:ext uri="{FF2B5EF4-FFF2-40B4-BE49-F238E27FC236}">
                <a16:creationId xmlns:a16="http://schemas.microsoft.com/office/drawing/2014/main" id="{AE3B5992-A4A5-46C6-A421-94C9D488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tools.text import clean</a:t>
            </a:r>
          </a:p>
        </p:txBody>
      </p:sp>
      <p:sp>
        <p:nvSpPr>
          <p:cNvPr id="15" name="一般套件有 __init__.py">
            <a:extLst xmlns:a="http://schemas.openxmlformats.org/drawingml/2006/main">
              <a:ext uri="{FF2B5EF4-FFF2-40B4-BE49-F238E27FC236}">
                <a16:creationId xmlns:a16="http://schemas.microsoft.com/office/drawing/2014/main" id="{BEBE7FE7-E2E5-48CF-BC34-D3CB0608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通常のパッケージ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と __init__.py</a:t>
            </a:r>
          </a:p>
        </p:txBody>
      </p:sp>
      <p:sp>
        <p:nvSpPr>
          <p:cNvPr id="16" name="命名空間套件可省略此檔。 套件用來組織模組名稱。">
            <a:extLst xmlns:a="http://schemas.openxmlformats.org/drawingml/2006/main">
              <a:ext uri="{FF2B5EF4-FFF2-40B4-BE49-F238E27FC236}">
                <a16:creationId xmlns:a16="http://schemas.microsoft.com/office/drawing/2014/main" id="{967F189E-6FC4-4FD3-A1C4-B4EF46B6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名前空間パッケージ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では省略可能。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パッケージはモジュール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名を整理する。</a:t>
            </a:r>
          </a:p>
        </p:txBody>
      </p:sp>
      <p:sp>
        <p:nvSpPr>
          <p:cNvPr id="17" name="相對匯入依套件脈絡">
            <a:extLst xmlns:a="http://schemas.openxmlformats.org/drawingml/2006/main">
              <a:ext uri="{FF2B5EF4-FFF2-40B4-BE49-F238E27FC236}">
                <a16:creationId xmlns:a16="http://schemas.microsoft.com/office/drawing/2014/main" id="{A4BBBE49-7195-49B7-AA3A-30E9CBA6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相対インポートは文脈に依存</a:t>
            </a:r>
          </a:p>
        </p:txBody>
      </p:sp>
      <p:sp>
        <p:nvSpPr>
          <p:cNvPr id="18" name=". 表示目前套件。 可用 python -m tools.app 執行。">
            <a:extLst xmlns:a="http://schemas.openxmlformats.org/drawingml/2006/main">
              <a:ext uri="{FF2B5EF4-FFF2-40B4-BE49-F238E27FC236}">
                <a16:creationId xmlns:a16="http://schemas.microsoft.com/office/drawing/2014/main" id="{62E7A43F-D14B-4B98-9A8E-30E2C3DAF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. は現在のパッケージを指す。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python -m tools.app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で実行できる。</a:t>
            </a:r>
          </a:p>
        </p:txBody>
      </p:sp>
      <p:sp>
        <p:nvSpPr>
          <p:cNvPr id="19" name="程式結構示意。tools/text.py 需實際定義 clean，才能執行匯入。">
            <a:extLst xmlns:a="http://schemas.openxmlformats.org/drawingml/2006/main">
              <a:ext uri="{FF2B5EF4-FFF2-40B4-BE49-F238E27FC236}">
                <a16:creationId xmlns:a16="http://schemas.microsoft.com/office/drawing/2014/main" id="{61BAF80E-63C7-489D-B601-ED2BA0B7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00725"/>
            <a:ext cx="10763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構造の例。インポートの実行には tools/text.py 内で clean を定義する必要がある。</a:t>
            </a:r>
          </a:p>
        </p:txBody>
      </p:sp>
    </p:spTree>
    <p:extLst>
      <p:ext uri="{BB962C8B-B14F-4D97-AF65-F5344CB8AC3E}">
        <p14:creationId xmlns:p14="http://schemas.microsoft.com/office/powerpoint/2010/main" val="58592585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模組、發行套件與執行環境">
            <a:extLst xmlns:a="http://schemas.openxmlformats.org/drawingml/2006/main">
              <a:ext uri="{FF2B5EF4-FFF2-40B4-BE49-F238E27FC236}">
                <a16:creationId xmlns:a16="http://schemas.microsoft.com/office/drawing/2014/main" id="{2307E444-CEEE-4716-8997-1409107A1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モジュール、配布物と実行環境</a:t>
            </a:r>
          </a:p>
        </p:txBody>
      </p:sp>
      <p:sp>
        <p:nvSpPr>
          <p:cNvPr id="2" name="43">
            <a:extLst xmlns:a="http://schemas.openxmlformats.org/drawingml/2006/main">
              <a:ext uri="{FF2B5EF4-FFF2-40B4-BE49-F238E27FC236}">
                <a16:creationId xmlns:a16="http://schemas.microsoft.com/office/drawing/2014/main" id="{773FE6E4-7250-41D9-9214-F2583890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43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39bbdffb19471b"/>
          <a:srcRect xmlns:a="http://schemas.openxmlformats.org/drawingml/2006/main" l="3608" t="0" r="360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67525" y="1790700"/>
            <a:ext cx="4572000" cy="3695700"/>
          </a:xfrm>
          <a:prstGeom xmlns:a="http://schemas.openxmlformats.org/drawingml/2006/main" prst="rect">
            <a:avLst/>
          </a:prstGeom>
        </p:spPr>
      </p:pic>
      <p:sp>
        <p:nvSpPr>
          <p:cNvPr id="4" name="模組與匯入套件">
            <a:extLst xmlns:a="http://schemas.openxmlformats.org/drawingml/2006/main">
              <a:ext uri="{FF2B5EF4-FFF2-40B4-BE49-F238E27FC236}">
                <a16:creationId xmlns:a16="http://schemas.microsoft.com/office/drawing/2014/main" id="{3F6BAB5D-A23B-4FF0-AD54-DF57E6110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05000"/>
            <a:ext cx="590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モジュールとインポートパッケージ</a:t>
            </a:r>
          </a:p>
        </p:txBody>
      </p:sp>
      <p:sp>
        <p:nvSpPr>
          <p:cNvPr id="5" name="程式內以 import 使用">
            <a:extLst xmlns:a="http://schemas.openxmlformats.org/drawingml/2006/main">
              <a:ext uri="{FF2B5EF4-FFF2-40B4-BE49-F238E27FC236}">
                <a16:creationId xmlns:a16="http://schemas.microsoft.com/office/drawing/2014/main" id="{3787E1F6-1EDA-4FAF-A004-E69C4B61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90775"/>
            <a:ext cx="590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コード内で import により使用</a:t>
            </a:r>
          </a:p>
        </p:txBody>
      </p:sp>
      <p:sp>
        <p:nvSpPr>
          <p:cNvPr id="6" name="發行套件與 PyPI">
            <a:extLst xmlns:a="http://schemas.openxmlformats.org/drawingml/2006/main">
              <a:ext uri="{FF2B5EF4-FFF2-40B4-BE49-F238E27FC236}">
                <a16:creationId xmlns:a16="http://schemas.microsoft.com/office/drawing/2014/main" id="{1903EA3E-D2DA-44FF-8FF6-058BE579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43250"/>
            <a:ext cx="590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配布パッケージと PyPI</a:t>
            </a:r>
          </a:p>
        </p:txBody>
      </p:sp>
      <p:sp>
        <p:nvSpPr>
          <p:cNvPr id="7" name="安裝與發布所使用的單位">
            <a:extLst xmlns:a="http://schemas.openxmlformats.org/drawingml/2006/main">
              <a:ext uri="{FF2B5EF4-FFF2-40B4-BE49-F238E27FC236}">
                <a16:creationId xmlns:a16="http://schemas.microsoft.com/office/drawing/2014/main" id="{448BFA12-F0B2-46B7-8A56-60BAECE3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29025"/>
            <a:ext cx="590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インストール・公開の単位</a:t>
            </a:r>
          </a:p>
        </p:txBody>
      </p:sp>
      <p:sp>
        <p:nvSpPr>
          <p:cNvPr id="8" name="venv 與 pip">
            <a:extLst xmlns:a="http://schemas.openxmlformats.org/drawingml/2006/main">
              <a:ext uri="{FF2B5EF4-FFF2-40B4-BE49-F238E27FC236}">
                <a16:creationId xmlns:a16="http://schemas.microsoft.com/office/drawing/2014/main" id="{7E6DF5A0-8688-4E2E-AFBE-6E5B0DB6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81500"/>
            <a:ext cx="590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venv と pip</a:t>
            </a:r>
          </a:p>
        </p:txBody>
      </p:sp>
      <p:sp>
        <p:nvSpPr>
          <p:cNvPr id="9" name="隔離環境與管理相依套件">
            <a:extLst xmlns:a="http://schemas.openxmlformats.org/drawingml/2006/main">
              <a:ext uri="{FF2B5EF4-FFF2-40B4-BE49-F238E27FC236}">
                <a16:creationId xmlns:a16="http://schemas.microsoft.com/office/drawing/2014/main" id="{99D05DE9-69C7-4BC1-A300-BC1AB97D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67275"/>
            <a:ext cx="590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環境の分離と依存パッケージの管理</a:t>
            </a:r>
          </a:p>
        </p:txBody>
      </p:sp>
      <p:sp>
        <p:nvSpPr>
          <p:cNvPr id="10" name="python -m venv .venv python -m pip --version">
            <a:extLst xmlns:a="http://schemas.openxmlformats.org/drawingml/2006/main">
              <a:ext uri="{FF2B5EF4-FFF2-40B4-BE49-F238E27FC236}">
                <a16:creationId xmlns:a16="http://schemas.microsoft.com/office/drawing/2014/main" id="{E0336614-42D2-4E03-AAA5-07B8C2F1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5810250"/>
            <a:ext cx="1057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python -m venv .venv</a:t>
            </a:r>
          </a:p>
          <a:p xmlns:a="http://schemas.openxmlformats.org/drawingml/2006/main">
            <a:pPr algn="l">
              <a:buNone/>
              <a:defRPr sz="1875" b="0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python -m pip --version</a:t>
            </a:r>
          </a:p>
        </p:txBody>
      </p:sp>
    </p:spTree>
    <p:extLst>
      <p:ext uri="{BB962C8B-B14F-4D97-AF65-F5344CB8AC3E}">
        <p14:creationId xmlns:p14="http://schemas.microsoft.com/office/powerpoint/2010/main" val="983030833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pathlib 與文字檔">
            <a:extLst xmlns:a="http://schemas.openxmlformats.org/drawingml/2006/main">
              <a:ext uri="{FF2B5EF4-FFF2-40B4-BE49-F238E27FC236}">
                <a16:creationId xmlns:a16="http://schemas.microsoft.com/office/drawing/2014/main" id="{6BA8BDE0-F4E8-4E52-BC21-2A0A5DA7D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pathlib とテキストファイル</a:t>
            </a:r>
          </a:p>
        </p:txBody>
      </p:sp>
      <p:sp>
        <p:nvSpPr>
          <p:cNvPr id="2" name="檔案處理">
            <a:extLst xmlns:a="http://schemas.openxmlformats.org/drawingml/2006/main">
              <a:ext uri="{FF2B5EF4-FFF2-40B4-BE49-F238E27FC236}">
                <a16:creationId xmlns:a16="http://schemas.microsoft.com/office/drawing/2014/main" id="{7A984877-C7A7-4CC4-88EB-DB4A7BD8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ファイル処理</a:t>
            </a:r>
          </a:p>
        </p:txBody>
      </p:sp>
      <p:sp>
        <p:nvSpPr>
          <p:cNvPr id="3" name="44">
            <a:extLst xmlns:a="http://schemas.openxmlformats.org/drawingml/2006/main">
              <a:ext uri="{FF2B5EF4-FFF2-40B4-BE49-F238E27FC236}">
                <a16:creationId xmlns:a16="http://schemas.microsoft.com/office/drawing/2014/main" id="{23B6CEE4-62A7-4D3D-BF24-00FB1378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44</a:t>
            </a:r>
          </a:p>
        </p:txBody>
      </p:sp>
      <p:sp>
        <p:nvSpPr>
          <p:cNvPr id="4" name="from pathlib import Path">
            <a:extLst xmlns:a="http://schemas.openxmlformats.org/drawingml/2006/main">
              <a:ext uri="{FF2B5EF4-FFF2-40B4-BE49-F238E27FC236}">
                <a16:creationId xmlns:a16="http://schemas.microsoft.com/office/drawing/2014/main" id="{275B37A6-7347-4504-9B03-FE2C21FD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pathlib import Path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456E08-9A80-4F57-94AF-669C98FC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path = Path(&quot;message.txt&quot;)">
            <a:extLst xmlns:a="http://schemas.openxmlformats.org/drawingml/2006/main">
              <a:ext uri="{FF2B5EF4-FFF2-40B4-BE49-F238E27FC236}">
                <a16:creationId xmlns:a16="http://schemas.microsoft.com/office/drawing/2014/main" id="{3D01F4E6-44CC-4657-8A6A-342CA1D3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path = Path("message.txt")</a:t>
            </a:r>
          </a:p>
        </p:txBody>
      </p:sp>
      <p:sp>
        <p:nvSpPr>
          <p:cNvPr id="7" name="path.write_text(&quot;Hello\nPython&quot;, encoding=&quot;utf-8&quot;)">
            <a:extLst xmlns:a="http://schemas.openxmlformats.org/drawingml/2006/main">
              <a:ext uri="{FF2B5EF4-FFF2-40B4-BE49-F238E27FC236}">
                <a16:creationId xmlns:a16="http://schemas.microsoft.com/office/drawing/2014/main" id="{251754F4-DE2F-49A1-9AED-DE3C1CFC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path.write_text("Hello\nPython", encoding="utf-8")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9ECFBB-E0DF-4EE7-9DF9-26F817042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print(path.read_text(encoding=&quot;utf-8&quot;))">
            <a:extLst xmlns:a="http://schemas.openxmlformats.org/drawingml/2006/main">
              <a:ext uri="{FF2B5EF4-FFF2-40B4-BE49-F238E27FC236}">
                <a16:creationId xmlns:a16="http://schemas.microsoft.com/office/drawing/2014/main" id="{B1BD5947-3F80-445F-ACF8-F50B6CED1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print(path.read_text(encoding="utf-8"))</a:t>
            </a:r>
          </a:p>
        </p:txBody>
      </p:sp>
      <p:sp>
        <p:nvSpPr>
          <p:cNvPr id="10" name="print(path.name)">
            <a:extLst xmlns:a="http://schemas.openxmlformats.org/drawingml/2006/main">
              <a:ext uri="{FF2B5EF4-FFF2-40B4-BE49-F238E27FC236}">
                <a16:creationId xmlns:a16="http://schemas.microsoft.com/office/drawing/2014/main" id="{6016A4A0-49ED-445F-9620-1ADAFC06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print(path.name)</a:t>
            </a:r>
          </a:p>
        </p:txBody>
      </p:sp>
      <p:sp>
        <p:nvSpPr>
          <p:cNvPr id="11" name="print(path.suffix)">
            <a:extLst xmlns:a="http://schemas.openxmlformats.org/drawingml/2006/main">
              <a:ext uri="{FF2B5EF4-FFF2-40B4-BE49-F238E27FC236}">
                <a16:creationId xmlns:a16="http://schemas.microsoft.com/office/drawing/2014/main" id="{DBDB6D22-6B7D-4BF7-843B-5E5D9236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print(path.suffix)</a:t>
            </a:r>
          </a:p>
        </p:txBody>
      </p:sp>
      <p:sp>
        <p:nvSpPr>
          <p:cNvPr id="12" name="Path 表達檔案路徑">
            <a:extLst xmlns:a="http://schemas.openxmlformats.org/drawingml/2006/main">
              <a:ext uri="{FF2B5EF4-FFF2-40B4-BE49-F238E27FC236}">
                <a16:creationId xmlns:a16="http://schemas.microsoft.com/office/drawing/2014/main" id="{39DCCCF2-E2FD-41E7-B590-B425D582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Path はファイルパスを表す</a:t>
            </a:r>
          </a:p>
        </p:txBody>
      </p:sp>
      <p:sp>
        <p:nvSpPr>
          <p:cNvPr id="13" name="Path(&quot;data&quot;) / &quot;a.txt&quot; 組合路徑。 Path.cwd() 取得目前工作目錄。">
            <a:extLst xmlns:a="http://schemas.openxmlformats.org/drawingml/2006/main">
              <a:ext uri="{FF2B5EF4-FFF2-40B4-BE49-F238E27FC236}">
                <a16:creationId xmlns:a16="http://schemas.microsoft.com/office/drawing/2014/main" id="{7068CEDA-53D5-423A-8CFE-D1D1C6376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Path("data") / "a.txt" で結合。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Path.cwd() は現在の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作業ディレクトリ。</a:t>
            </a:r>
          </a:p>
        </p:txBody>
      </p:sp>
      <p:sp>
        <p:nvSpPr>
          <p:cNvPr id="14" name="相對路徑的基準">
            <a:extLst xmlns:a="http://schemas.openxmlformats.org/drawingml/2006/main">
              <a:ext uri="{FF2B5EF4-FFF2-40B4-BE49-F238E27FC236}">
                <a16:creationId xmlns:a16="http://schemas.microsoft.com/office/drawing/2014/main" id="{15BD983A-56F6-4FFA-909E-CA3975DA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相対パスの基準</a:t>
            </a:r>
          </a:p>
        </p:txBody>
      </p:sp>
      <p:sp>
        <p:nvSpPr>
          <p:cNvPr id="15" name="通常相對於目前工作目錄。 不一定是程式檔案所在目錄。">
            <a:extLst xmlns:a="http://schemas.openxmlformats.org/drawingml/2006/main">
              <a:ext uri="{FF2B5EF4-FFF2-40B4-BE49-F238E27FC236}">
                <a16:creationId xmlns:a16="http://schemas.microsoft.com/office/drawing/2014/main" id="{AAE83D82-DCD4-451D-B28F-680F56617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通常は現在の作業ディレクトリ。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スクリプトの配置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先とは限らない。</a:t>
            </a:r>
          </a:p>
        </p:txBody>
      </p:sp>
      <p:sp>
        <p:nvSpPr>
          <p:cNvPr id="16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7B60DDE9-4B21-4C48-878F-BE2556EBA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17" name="Hello    Python    message.txt    .txt">
            <a:extLst xmlns:a="http://schemas.openxmlformats.org/drawingml/2006/main">
              <a:ext uri="{FF2B5EF4-FFF2-40B4-BE49-F238E27FC236}">
                <a16:creationId xmlns:a16="http://schemas.microsoft.com/office/drawing/2014/main" id="{A4F20071-F2CC-486F-97B8-2AE0BB92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Hello    Python    message.txt    .txt</a:t>
            </a:r>
          </a:p>
        </p:txBody>
      </p:sp>
    </p:spTree>
    <p:extLst>
      <p:ext uri="{BB962C8B-B14F-4D97-AF65-F5344CB8AC3E}">
        <p14:creationId xmlns:p14="http://schemas.microsoft.com/office/powerpoint/2010/main" val="317611093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檔案讀寫模式">
            <a:extLst xmlns:a="http://schemas.openxmlformats.org/drawingml/2006/main">
              <a:ext uri="{FF2B5EF4-FFF2-40B4-BE49-F238E27FC236}">
                <a16:creationId xmlns:a16="http://schemas.microsoft.com/office/drawing/2014/main" id="{2C73992F-6AB0-44EB-8ECE-4E8C9620D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ファイルの読み書きモード</a:t>
            </a:r>
          </a:p>
        </p:txBody>
      </p:sp>
      <p:sp>
        <p:nvSpPr>
          <p:cNvPr id="2" name="檔案處理">
            <a:extLst xmlns:a="http://schemas.openxmlformats.org/drawingml/2006/main">
              <a:ext uri="{FF2B5EF4-FFF2-40B4-BE49-F238E27FC236}">
                <a16:creationId xmlns:a16="http://schemas.microsoft.com/office/drawing/2014/main" id="{921C083E-C930-405D-A7FC-6F6883F4E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ファイル処理</a:t>
            </a:r>
          </a:p>
        </p:txBody>
      </p:sp>
      <p:sp>
        <p:nvSpPr>
          <p:cNvPr id="3" name="45">
            <a:extLst xmlns:a="http://schemas.openxmlformats.org/drawingml/2006/main">
              <a:ext uri="{FF2B5EF4-FFF2-40B4-BE49-F238E27FC236}">
                <a16:creationId xmlns:a16="http://schemas.microsoft.com/office/drawing/2014/main" id="{2A7B3923-EA00-4875-8C44-5256D1542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45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714500"/>
                <a:gridCol w="3857625"/>
                <a:gridCol w="5400675"/>
              </a:tblGrid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モード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動作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注意点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r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既存ファイルを読む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既定のモード。不在ならエラー。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w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ファイルを作成・書き込み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既存の内容は消去する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a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末尾に追加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ファイル不在なら作成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x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新規ファイルを作成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同名のファイルがあると失敗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b / t / +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バイナリ／テキスト／読み書き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例：rb、wt、r+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  <p:sp>
        <p:nvSpPr>
          <p:cNvPr id="5" name="文字模式指定 encoding。二進位模式讀寫 bytes，不指定文字編碼。">
            <a:extLst xmlns:a="http://schemas.openxmlformats.org/drawingml/2006/main">
              <a:ext uri="{FF2B5EF4-FFF2-40B4-BE49-F238E27FC236}">
                <a16:creationId xmlns:a16="http://schemas.microsoft.com/office/drawing/2014/main" id="{EA091DDF-6548-4B8A-AB32-FDA857DB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29325"/>
            <a:ext cx="10706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D73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B6D73"/>
                </a:solidFill>
                <a:latin typeface="Yu Gothic"/>
                <a:ea typeface="Yu Gothic"/>
                <a:cs typeface="Yu Gothic"/>
              </a:rPr>
              <a:t>テキストでは encoding を指定。バイナリでは文字コードを指定せず bytes を読み書きする。</a:t>
            </a:r>
          </a:p>
        </p:txBody>
      </p:sp>
    </p:spTree>
    <p:extLst>
      <p:ext uri="{BB962C8B-B14F-4D97-AF65-F5344CB8AC3E}">
        <p14:creationId xmlns:p14="http://schemas.microsoft.com/office/powerpoint/2010/main" val="1457604604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with 與檔案走訪">
            <a:extLst xmlns:a="http://schemas.openxmlformats.org/drawingml/2006/main">
              <a:ext uri="{FF2B5EF4-FFF2-40B4-BE49-F238E27FC236}">
                <a16:creationId xmlns:a16="http://schemas.microsoft.com/office/drawing/2014/main" id="{777B5A74-E1DB-4ACD-A4FB-CE8E359CD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with とファイルの反復処理</a:t>
            </a:r>
          </a:p>
        </p:txBody>
      </p:sp>
      <p:sp>
        <p:nvSpPr>
          <p:cNvPr id="2" name="檔案處理">
            <a:extLst xmlns:a="http://schemas.openxmlformats.org/drawingml/2006/main">
              <a:ext uri="{FF2B5EF4-FFF2-40B4-BE49-F238E27FC236}">
                <a16:creationId xmlns:a16="http://schemas.microsoft.com/office/drawing/2014/main" id="{9F2C8993-FD5D-4739-8CCA-8B47ABEE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ファイル処理</a:t>
            </a:r>
          </a:p>
        </p:txBody>
      </p:sp>
      <p:sp>
        <p:nvSpPr>
          <p:cNvPr id="3" name="46">
            <a:extLst xmlns:a="http://schemas.openxmlformats.org/drawingml/2006/main">
              <a:ext uri="{FF2B5EF4-FFF2-40B4-BE49-F238E27FC236}">
                <a16:creationId xmlns:a16="http://schemas.microsoft.com/office/drawing/2014/main" id="{1B81298A-D7C2-4976-80DF-403E61969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46</a:t>
            </a:r>
          </a:p>
        </p:txBody>
      </p:sp>
      <p:sp>
        <p:nvSpPr>
          <p:cNvPr id="4" name="with open(&quot;lines.txt&quot;, &quot;w&quot;, encoding=&quot;utf-8&quot;) as f:">
            <a:extLst xmlns:a="http://schemas.openxmlformats.org/drawingml/2006/main">
              <a:ext uri="{FF2B5EF4-FFF2-40B4-BE49-F238E27FC236}">
                <a16:creationId xmlns:a16="http://schemas.microsoft.com/office/drawing/2014/main" id="{D109C6E2-38EA-42BA-92F7-39DA3B1A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with open("lines.txt", "w", encoding="utf-8") as f:</a:t>
            </a:r>
          </a:p>
        </p:txBody>
      </p:sp>
      <p:sp>
        <p:nvSpPr>
          <p:cNvPr id="5" name="    f.write(&quot;A\nB\n&quot;)">
            <a:extLst xmlns:a="http://schemas.openxmlformats.org/drawingml/2006/main">
              <a:ext uri="{FF2B5EF4-FFF2-40B4-BE49-F238E27FC236}">
                <a16:creationId xmlns:a16="http://schemas.microsoft.com/office/drawing/2014/main" id="{FE083215-3385-42C8-9311-E249F3E2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f.write("A\nB\n")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C2154B-455F-4342-8F69-0EF3720BC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with open(&quot;lines.txt&quot;, encoding=&quot;utf-8&quot;) as f:">
            <a:extLst xmlns:a="http://schemas.openxmlformats.org/drawingml/2006/main">
              <a:ext uri="{FF2B5EF4-FFF2-40B4-BE49-F238E27FC236}">
                <a16:creationId xmlns:a16="http://schemas.microsoft.com/office/drawing/2014/main" id="{00568260-8E58-459F-B09F-D19100C6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with open("lines.txt", encoding="utf-8") as f:</a:t>
            </a:r>
          </a:p>
        </p:txBody>
      </p:sp>
      <p:sp>
        <p:nvSpPr>
          <p:cNvPr id="8" name="    for line in f:">
            <a:extLst xmlns:a="http://schemas.openxmlformats.org/drawingml/2006/main">
              <a:ext uri="{FF2B5EF4-FFF2-40B4-BE49-F238E27FC236}">
                <a16:creationId xmlns:a16="http://schemas.microsoft.com/office/drawing/2014/main" id="{E9EEA5A3-120A-4F8A-9F14-E6D90B8E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for line in f:</a:t>
            </a:r>
          </a:p>
        </p:txBody>
      </p:sp>
      <p:sp>
        <p:nvSpPr>
          <p:cNvPr id="9" name="        print(line.strip())">
            <a:extLst xmlns:a="http://schemas.openxmlformats.org/drawingml/2006/main">
              <a:ext uri="{FF2B5EF4-FFF2-40B4-BE49-F238E27FC236}">
                <a16:creationId xmlns:a16="http://schemas.microsoft.com/office/drawing/2014/main" id="{808FBC10-3CCC-487A-A8C8-4BB23863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print(line.strip())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27A54B-3F2C-4135-B045-DAA2F857D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print(f.closed)">
            <a:extLst xmlns:a="http://schemas.openxmlformats.org/drawingml/2006/main">
              <a:ext uri="{FF2B5EF4-FFF2-40B4-BE49-F238E27FC236}">
                <a16:creationId xmlns:a16="http://schemas.microsoft.com/office/drawing/2014/main" id="{58247BF2-A14A-41BD-B9EF-B7605F3A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print(f.closed)</a:t>
            </a:r>
          </a:p>
        </p:txBody>
      </p:sp>
      <p:sp>
        <p:nvSpPr>
          <p:cNvPr id="12" name="with 管理資源生命週期">
            <a:extLst xmlns:a="http://schemas.openxmlformats.org/drawingml/2006/main">
              <a:ext uri="{FF2B5EF4-FFF2-40B4-BE49-F238E27FC236}">
                <a16:creationId xmlns:a16="http://schemas.microsoft.com/office/drawing/2014/main" id="{07E61FAC-6CA6-4A2E-A02A-E61EC61C0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with は資源の寿命を管理</a:t>
            </a:r>
          </a:p>
        </p:txBody>
      </p:sp>
      <p:sp>
        <p:nvSpPr>
          <p:cNvPr id="13" name="離開區塊時呼叫清理流程。 檔案情境會自動關閉。">
            <a:extLst xmlns:a="http://schemas.openxmlformats.org/drawingml/2006/main">
              <a:ext uri="{FF2B5EF4-FFF2-40B4-BE49-F238E27FC236}">
                <a16:creationId xmlns:a16="http://schemas.microsoft.com/office/drawing/2014/main" id="{91232C38-F933-441A-9ED8-FFB3BAD0E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ブロックを離れる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と後処理を実行。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ファイルの場合は自動で閉じる。</a:t>
            </a:r>
          </a:p>
        </p:txBody>
      </p:sp>
      <p:sp>
        <p:nvSpPr>
          <p:cNvPr id="14" name="讀取方法各有用途">
            <a:extLst xmlns:a="http://schemas.openxmlformats.org/drawingml/2006/main">
              <a:ext uri="{FF2B5EF4-FFF2-40B4-BE49-F238E27FC236}">
                <a16:creationId xmlns:a16="http://schemas.microsoft.com/office/drawing/2014/main" id="{BF71776B-4BE6-42DC-924C-C28B23529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読み取り方法を使い分ける</a:t>
            </a:r>
          </a:p>
        </p:txBody>
      </p:sp>
      <p:sp>
        <p:nvSpPr>
          <p:cNvPr id="15" name="read 讀取內容，readline 讀一行。 直接走訪檔案可逐行處理。">
            <a:extLst xmlns:a="http://schemas.openxmlformats.org/drawingml/2006/main">
              <a:ext uri="{FF2B5EF4-FFF2-40B4-BE49-F238E27FC236}">
                <a16:creationId xmlns:a16="http://schemas.microsoft.com/office/drawing/2014/main" id="{72BC6F76-F543-4202-9359-4164907A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read は内容、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readline は1行を取得。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直接反復すると行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ごとに処理できる。</a:t>
            </a:r>
          </a:p>
        </p:txBody>
      </p:sp>
      <p:sp>
        <p:nvSpPr>
          <p:cNvPr id="16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7589C6A4-0D12-4FEE-BE8F-F49F4AF5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17" name="A    B    True">
            <a:extLst xmlns:a="http://schemas.openxmlformats.org/drawingml/2006/main">
              <a:ext uri="{FF2B5EF4-FFF2-40B4-BE49-F238E27FC236}">
                <a16:creationId xmlns:a16="http://schemas.microsoft.com/office/drawing/2014/main" id="{3AA28E06-B006-491B-9578-D072F0DFE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A    B    True</a:t>
            </a:r>
          </a:p>
        </p:txBody>
      </p:sp>
    </p:spTree>
    <p:extLst>
      <p:ext uri="{BB962C8B-B14F-4D97-AF65-F5344CB8AC3E}">
        <p14:creationId xmlns:p14="http://schemas.microsoft.com/office/powerpoint/2010/main" val="2123545972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CSV 的欄位與引號">
            <a:extLst xmlns:a="http://schemas.openxmlformats.org/drawingml/2006/main">
              <a:ext uri="{FF2B5EF4-FFF2-40B4-BE49-F238E27FC236}">
                <a16:creationId xmlns:a16="http://schemas.microsoft.com/office/drawing/2014/main" id="{668C1B54-0A78-436F-99D5-6CD992FA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CSV のフィールドと引用符</a:t>
            </a:r>
          </a:p>
        </p:txBody>
      </p:sp>
      <p:sp>
        <p:nvSpPr>
          <p:cNvPr id="2" name="檔案處理">
            <a:extLst xmlns:a="http://schemas.openxmlformats.org/drawingml/2006/main">
              <a:ext uri="{FF2B5EF4-FFF2-40B4-BE49-F238E27FC236}">
                <a16:creationId xmlns:a16="http://schemas.microsoft.com/office/drawing/2014/main" id="{AF979821-847E-4014-AEB0-130C964F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ファイル処理</a:t>
            </a:r>
          </a:p>
        </p:txBody>
      </p:sp>
      <p:sp>
        <p:nvSpPr>
          <p:cNvPr id="3" name="47">
            <a:extLst xmlns:a="http://schemas.openxmlformats.org/drawingml/2006/main">
              <a:ext uri="{FF2B5EF4-FFF2-40B4-BE49-F238E27FC236}">
                <a16:creationId xmlns:a16="http://schemas.microsoft.com/office/drawing/2014/main" id="{84FF4E25-6647-4497-A2B4-A9075F552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47</a:t>
            </a:r>
          </a:p>
        </p:txBody>
      </p:sp>
      <p:sp>
        <p:nvSpPr>
          <p:cNvPr id="4" name="import csv">
            <a:extLst xmlns:a="http://schemas.openxmlformats.org/drawingml/2006/main">
              <a:ext uri="{FF2B5EF4-FFF2-40B4-BE49-F238E27FC236}">
                <a16:creationId xmlns:a16="http://schemas.microsoft.com/office/drawing/2014/main" id="{F5D46E40-9031-4724-82C9-C4092BF71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import csv</a:t>
            </a:r>
          </a:p>
        </p:txBody>
      </p:sp>
      <p:sp>
        <p:nvSpPr>
          <p:cNvPr id="5" name="from io import StringIO">
            <a:extLst xmlns:a="http://schemas.openxmlformats.org/drawingml/2006/main">
              <a:ext uri="{FF2B5EF4-FFF2-40B4-BE49-F238E27FC236}">
                <a16:creationId xmlns:a16="http://schemas.microsoft.com/office/drawing/2014/main" id="{16A7FC2C-5FC8-42FA-9BD2-246B7ED34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io import StringIO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135E6D-A3DD-4188-B270-331F8DFF5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text = 'name,score\n&quot;Lee, Amy&quot;,90\n'">
            <a:extLst xmlns:a="http://schemas.openxmlformats.org/drawingml/2006/main">
              <a:ext uri="{FF2B5EF4-FFF2-40B4-BE49-F238E27FC236}">
                <a16:creationId xmlns:a16="http://schemas.microsoft.com/office/drawing/2014/main" id="{2BBC82CA-C5ED-419C-985B-5ABBE2061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text = 'name,score\n"Lee, Amy",90\n'</a:t>
            </a:r>
          </a:p>
        </p:txBody>
      </p:sp>
      <p:sp>
        <p:nvSpPr>
          <p:cNvPr id="8" name="reader = csv.DictReader(StringIO(text))">
            <a:extLst xmlns:a="http://schemas.openxmlformats.org/drawingml/2006/main">
              <a:ext uri="{FF2B5EF4-FFF2-40B4-BE49-F238E27FC236}">
                <a16:creationId xmlns:a16="http://schemas.microsoft.com/office/drawing/2014/main" id="{78436C24-8554-42F2-9C87-EDACC7A92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reader = csv.DictReader(StringIO(text))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DB0AD4-9FC2-407B-B7ED-2CDCD9826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for row in reader:">
            <a:extLst xmlns:a="http://schemas.openxmlformats.org/drawingml/2006/main">
              <a:ext uri="{FF2B5EF4-FFF2-40B4-BE49-F238E27FC236}">
                <a16:creationId xmlns:a16="http://schemas.microsoft.com/office/drawing/2014/main" id="{BDE3435F-BD01-4918-8993-FBF2ADF1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for row in reader:</a:t>
            </a:r>
          </a:p>
        </p:txBody>
      </p:sp>
      <p:sp>
        <p:nvSpPr>
          <p:cNvPr id="11" name="    print(row[&quot;name&quot;])">
            <a:extLst xmlns:a="http://schemas.openxmlformats.org/drawingml/2006/main">
              <a:ext uri="{FF2B5EF4-FFF2-40B4-BE49-F238E27FC236}">
                <a16:creationId xmlns:a16="http://schemas.microsoft.com/office/drawing/2014/main" id="{526D8795-951A-4D33-B35E-B63AF00F2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print(row["name"])</a:t>
            </a:r>
          </a:p>
        </p:txBody>
      </p:sp>
      <p:sp>
        <p:nvSpPr>
          <p:cNvPr id="12" name="    print(int(row[&quot;score&quot;]))">
            <a:extLst xmlns:a="http://schemas.openxmlformats.org/drawingml/2006/main">
              <a:ext uri="{FF2B5EF4-FFF2-40B4-BE49-F238E27FC236}">
                <a16:creationId xmlns:a16="http://schemas.microsoft.com/office/drawing/2014/main" id="{8CB6EE28-AEB8-4937-9F15-6E2F9491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print(int(row["score"]))</a:t>
            </a:r>
          </a:p>
        </p:txBody>
      </p:sp>
      <p:sp>
        <p:nvSpPr>
          <p:cNvPr id="13" name="CSV 欄位可以包含逗號">
            <a:extLst xmlns:a="http://schemas.openxmlformats.org/drawingml/2006/main">
              <a:ext uri="{FF2B5EF4-FFF2-40B4-BE49-F238E27FC236}">
                <a16:creationId xmlns:a16="http://schemas.microsoft.com/office/drawing/2014/main" id="{CED4CCE9-F20D-42E2-8910-FBEEAC2DC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フィールドに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コンマを含められる</a:t>
            </a:r>
          </a:p>
        </p:txBody>
      </p:sp>
      <p:sp>
        <p:nvSpPr>
          <p:cNvPr id="14" name="引號決定欄位的實際範圍。 直接 split(&quot;,&quot;) 容易切錯欄位。">
            <a:extLst xmlns:a="http://schemas.openxmlformats.org/drawingml/2006/main">
              <a:ext uri="{FF2B5EF4-FFF2-40B4-BE49-F238E27FC236}">
                <a16:creationId xmlns:a16="http://schemas.microsoft.com/office/drawing/2014/main" id="{C77FF654-DA6B-4522-90AA-9E5ABD2D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引用符がフィールド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の範囲を決める。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split(",") だけ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では誤分割しやすい。</a:t>
            </a:r>
          </a:p>
        </p:txBody>
      </p:sp>
      <p:sp>
        <p:nvSpPr>
          <p:cNvPr id="15" name="讀寫實體檔案">
            <a:extLst xmlns:a="http://schemas.openxmlformats.org/drawingml/2006/main">
              <a:ext uri="{FF2B5EF4-FFF2-40B4-BE49-F238E27FC236}">
                <a16:creationId xmlns:a16="http://schemas.microsoft.com/office/drawing/2014/main" id="{D6DF4FA2-C2AA-4FAC-BFDD-260E8E3D6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実際のファイルを読み書きする</a:t>
            </a:r>
          </a:p>
        </p:txBody>
      </p:sp>
      <p:sp>
        <p:nvSpPr>
          <p:cNvPr id="16" name="搭配 open(..., newline=&quot;&quot;)。 DictWriter 可將字典寫為資料列。">
            <a:extLst xmlns:a="http://schemas.openxmlformats.org/drawingml/2006/main">
              <a:ext uri="{FF2B5EF4-FFF2-40B4-BE49-F238E27FC236}">
                <a16:creationId xmlns:a16="http://schemas.microsoft.com/office/drawing/2014/main" id="{616954E7-BC21-4041-94BB-8996D745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open(..., newline="") と併用。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DictWriter は辞書を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行として書き込む。</a:t>
            </a:r>
          </a:p>
        </p:txBody>
      </p:sp>
      <p:sp>
        <p:nvSpPr>
          <p:cNvPr id="17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F6B4B7E2-1D4E-4602-BA76-8C71034C2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18" name="Lee, Amy    90">
            <a:extLst xmlns:a="http://schemas.openxmlformats.org/drawingml/2006/main">
              <a:ext uri="{FF2B5EF4-FFF2-40B4-BE49-F238E27FC236}">
                <a16:creationId xmlns:a16="http://schemas.microsoft.com/office/drawing/2014/main" id="{728C338B-977B-4CE0-8D29-DD0D6111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Lee, Amy    90</a:t>
            </a:r>
          </a:p>
        </p:txBody>
      </p:sp>
    </p:spTree>
    <p:extLst>
      <p:ext uri="{BB962C8B-B14F-4D97-AF65-F5344CB8AC3E}">
        <p14:creationId xmlns:p14="http://schemas.microsoft.com/office/powerpoint/2010/main" val="1437877754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JSON 的字串與檔案介面">
            <a:extLst xmlns:a="http://schemas.openxmlformats.org/drawingml/2006/main">
              <a:ext uri="{FF2B5EF4-FFF2-40B4-BE49-F238E27FC236}">
                <a16:creationId xmlns:a16="http://schemas.microsoft.com/office/drawing/2014/main" id="{46AB00AF-5F47-46E9-AE77-1F36BE633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JSON の文字列・ファイル用 API</a:t>
            </a:r>
          </a:p>
        </p:txBody>
      </p:sp>
      <p:sp>
        <p:nvSpPr>
          <p:cNvPr id="2" name="檔案處理">
            <a:extLst xmlns:a="http://schemas.openxmlformats.org/drawingml/2006/main">
              <a:ext uri="{FF2B5EF4-FFF2-40B4-BE49-F238E27FC236}">
                <a16:creationId xmlns:a16="http://schemas.microsoft.com/office/drawing/2014/main" id="{C6EE93D1-A1B4-45D8-9081-80730BDB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ファイル処理</a:t>
            </a:r>
          </a:p>
        </p:txBody>
      </p:sp>
      <p:sp>
        <p:nvSpPr>
          <p:cNvPr id="3" name="48">
            <a:extLst xmlns:a="http://schemas.openxmlformats.org/drawingml/2006/main">
              <a:ext uri="{FF2B5EF4-FFF2-40B4-BE49-F238E27FC236}">
                <a16:creationId xmlns:a16="http://schemas.microsoft.com/office/drawing/2014/main" id="{CF696B3D-99B6-422A-8494-B715D7569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48</a:t>
            </a:r>
          </a:p>
        </p:txBody>
      </p:sp>
      <p:sp>
        <p:nvSpPr>
          <p:cNvPr id="4" name="import json">
            <a:extLst xmlns:a="http://schemas.openxmlformats.org/drawingml/2006/main">
              <a:ext uri="{FF2B5EF4-FFF2-40B4-BE49-F238E27FC236}">
                <a16:creationId xmlns:a16="http://schemas.microsoft.com/office/drawing/2014/main" id="{4ABB2956-285D-47CC-AD46-FA815B3E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import json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F12667-E1FE-482C-8A1C-CAC7FBBA5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record = {&quot;name&quot;: &quot;Amy&quot;, &quot;active&quot;: True}">
            <a:extLst xmlns:a="http://schemas.openxmlformats.org/drawingml/2006/main">
              <a:ext uri="{FF2B5EF4-FFF2-40B4-BE49-F238E27FC236}">
                <a16:creationId xmlns:a16="http://schemas.microsoft.com/office/drawing/2014/main" id="{435F3244-DCA1-45D7-A1D1-F76C21EFE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record = {"name": "Amy", "active": True}</a:t>
            </a:r>
          </a:p>
        </p:txBody>
      </p:sp>
      <p:sp>
        <p:nvSpPr>
          <p:cNvPr id="7" name="text = json.dumps(record)">
            <a:extLst xmlns:a="http://schemas.openxmlformats.org/drawingml/2006/main">
              <a:ext uri="{FF2B5EF4-FFF2-40B4-BE49-F238E27FC236}">
                <a16:creationId xmlns:a16="http://schemas.microsoft.com/office/drawing/2014/main" id="{8B244F92-795B-401D-9527-FF07F0390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text = json.dumps(record)</a:t>
            </a:r>
          </a:p>
        </p:txBody>
      </p:sp>
      <p:sp>
        <p:nvSpPr>
          <p:cNvPr id="8" name="print(text)">
            <a:extLst xmlns:a="http://schemas.openxmlformats.org/drawingml/2006/main">
              <a:ext uri="{FF2B5EF4-FFF2-40B4-BE49-F238E27FC236}">
                <a16:creationId xmlns:a16="http://schemas.microsoft.com/office/drawing/2014/main" id="{5338FDAC-B994-4430-A658-11BEA9A7F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print(text)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234202-926F-4CCE-9656-511B55E8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data = json.loads(text)">
            <a:extLst xmlns:a="http://schemas.openxmlformats.org/drawingml/2006/main">
              <a:ext uri="{FF2B5EF4-FFF2-40B4-BE49-F238E27FC236}">
                <a16:creationId xmlns:a16="http://schemas.microsoft.com/office/drawing/2014/main" id="{FB3DB750-6BAB-42FE-A4AD-5FA1C093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data = json.loads(text)</a:t>
            </a:r>
          </a:p>
        </p:txBody>
      </p:sp>
      <p:sp>
        <p:nvSpPr>
          <p:cNvPr id="11" name="print(data[&quot;active&quot;])">
            <a:extLst xmlns:a="http://schemas.openxmlformats.org/drawingml/2006/main">
              <a:ext uri="{FF2B5EF4-FFF2-40B4-BE49-F238E27FC236}">
                <a16:creationId xmlns:a16="http://schemas.microsoft.com/office/drawing/2014/main" id="{4E387D84-C34C-4D72-B8C8-7CFE5250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print(data["active"])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BCD151-C4F6-4E55-B0A0-60F12860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with open(&quot;record.json&quot;, &quot;w&quot;) as f:">
            <a:extLst xmlns:a="http://schemas.openxmlformats.org/drawingml/2006/main">
              <a:ext uri="{FF2B5EF4-FFF2-40B4-BE49-F238E27FC236}">
                <a16:creationId xmlns:a16="http://schemas.microsoft.com/office/drawing/2014/main" id="{237C8D1A-5429-46BA-AD61-057C525E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with open("record.json", "w") as f:</a:t>
            </a:r>
          </a:p>
        </p:txBody>
      </p:sp>
      <p:sp>
        <p:nvSpPr>
          <p:cNvPr id="14" name="    json.dump(record, f, indent=2)">
            <a:extLst xmlns:a="http://schemas.openxmlformats.org/drawingml/2006/main">
              <a:ext uri="{FF2B5EF4-FFF2-40B4-BE49-F238E27FC236}">
                <a16:creationId xmlns:a16="http://schemas.microsoft.com/office/drawing/2014/main" id="{2B123AD8-6F85-402C-95B2-6DAC5F93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json.dump(record, f, indent=2)</a:t>
            </a:r>
          </a:p>
        </p:txBody>
      </p:sp>
      <p:sp>
        <p:nvSpPr>
          <p:cNvPr id="15" name="dumps / loads 處理字串">
            <a:extLst xmlns:a="http://schemas.openxmlformats.org/drawingml/2006/main">
              <a:ext uri="{FF2B5EF4-FFF2-40B4-BE49-F238E27FC236}">
                <a16:creationId xmlns:a16="http://schemas.microsoft.com/office/drawing/2014/main" id="{D7837181-19C0-408D-910A-2BD68603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dumps / loads は文字列用</a:t>
            </a:r>
          </a:p>
        </p:txBody>
      </p:sp>
      <p:sp>
        <p:nvSpPr>
          <p:cNvPr id="16" name="dump / load 處理檔案物件。 JSON 的 true 對應 Python True。">
            <a:extLst xmlns:a="http://schemas.openxmlformats.org/drawingml/2006/main">
              <a:ext uri="{FF2B5EF4-FFF2-40B4-BE49-F238E27FC236}">
                <a16:creationId xmlns:a16="http://schemas.microsoft.com/office/drawing/2014/main" id="{7DF51932-7F7A-4633-B56A-36791453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dump / load はファイル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オブジェクト用。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JSON の true は Python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の True に対応。</a:t>
            </a:r>
          </a:p>
        </p:txBody>
      </p:sp>
      <p:sp>
        <p:nvSpPr>
          <p:cNvPr id="17" name="支援的資料型別有限">
            <a:extLst xmlns:a="http://schemas.openxmlformats.org/drawingml/2006/main">
              <a:ext uri="{FF2B5EF4-FFF2-40B4-BE49-F238E27FC236}">
                <a16:creationId xmlns:a16="http://schemas.microsoft.com/office/drawing/2014/main" id="{0958B70C-84A9-46DC-99B0-CF2D7560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対応するデータ型は限られる</a:t>
            </a:r>
          </a:p>
        </p:txBody>
      </p:sp>
      <p:sp>
        <p:nvSpPr>
          <p:cNvPr id="18" name="JSON 物件鍵是字串。 set 與一般自訂物件需先轉換。">
            <a:extLst xmlns:a="http://schemas.openxmlformats.org/drawingml/2006/main">
              <a:ext uri="{FF2B5EF4-FFF2-40B4-BE49-F238E27FC236}">
                <a16:creationId xmlns:a16="http://schemas.microsoft.com/office/drawing/2014/main" id="{FED6C18F-1D59-47D7-8504-C677EAB30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JSON オブジェクトのキーは文字列。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set や通常の独自オブジェクトは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変換が必要。</a:t>
            </a:r>
          </a:p>
        </p:txBody>
      </p:sp>
      <p:sp>
        <p:nvSpPr>
          <p:cNvPr id="19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76AB41F5-0979-49D0-8D19-C94F1DA5D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20" name="{&quot;name&quot;: &quot;Amy&quot;, &quot;active&quot;: true}    True">
            <a:extLst xmlns:a="http://schemas.openxmlformats.org/drawingml/2006/main">
              <a:ext uri="{FF2B5EF4-FFF2-40B4-BE49-F238E27FC236}">
                <a16:creationId xmlns:a16="http://schemas.microsoft.com/office/drawing/2014/main" id="{F1D86B6D-2707-4138-90CC-79F318CE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{"name": "Amy", "active": true}    True</a:t>
            </a:r>
          </a:p>
        </p:txBody>
      </p:sp>
    </p:spTree>
    <p:extLst>
      <p:ext uri="{BB962C8B-B14F-4D97-AF65-F5344CB8AC3E}">
        <p14:creationId xmlns:p14="http://schemas.microsoft.com/office/powerpoint/2010/main" val="701179909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常見例外與發生情境">
            <a:extLst xmlns:a="http://schemas.openxmlformats.org/drawingml/2006/main">
              <a:ext uri="{FF2B5EF4-FFF2-40B4-BE49-F238E27FC236}">
                <a16:creationId xmlns:a16="http://schemas.microsoft.com/office/drawing/2014/main" id="{890273FE-8A19-4393-8952-26A878BC3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よくある例外と発生する場面</a:t>
            </a:r>
          </a:p>
        </p:txBody>
      </p:sp>
      <p:sp>
        <p:nvSpPr>
          <p:cNvPr id="2" name="例外處理">
            <a:extLst xmlns:a="http://schemas.openxmlformats.org/drawingml/2006/main">
              <a:ext uri="{FF2B5EF4-FFF2-40B4-BE49-F238E27FC236}">
                <a16:creationId xmlns:a16="http://schemas.microsoft.com/office/drawing/2014/main" id="{D26F3507-C27B-47B8-8CBA-15248E06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例外処理</a:t>
            </a:r>
          </a:p>
        </p:txBody>
      </p:sp>
      <p:sp>
        <p:nvSpPr>
          <p:cNvPr id="3" name="49">
            <a:extLst xmlns:a="http://schemas.openxmlformats.org/drawingml/2006/main">
              <a:ext uri="{FF2B5EF4-FFF2-40B4-BE49-F238E27FC236}">
                <a16:creationId xmlns:a16="http://schemas.microsoft.com/office/drawing/2014/main" id="{BF1BF4A7-8BDE-4CDB-A2DE-EA5007CD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49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238500"/>
                <a:gridCol w="3333750"/>
                <a:gridCol w="4400550"/>
              </a:tblGrid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例外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例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原因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ValueError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int("abc")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受け付けられない値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TypeError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"3" + 2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演算に適合しない型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KeyError / IndexError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{}["x"]、[][0]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キー不在／添字が範囲外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FileNotFoundError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存在しないファイルを読む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パスまたはファイルが存在しない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ZeroDivisionError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1 / 0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ゼロによる除算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  <p:sp>
        <p:nvSpPr>
          <p:cNvPr id="5" name="SyntaxError 是語法問題。程式成功執行但結果錯誤，可能是邏輯問題。">
            <a:extLst xmlns:a="http://schemas.openxmlformats.org/drawingml/2006/main">
              <a:ext uri="{FF2B5EF4-FFF2-40B4-BE49-F238E27FC236}">
                <a16:creationId xmlns:a16="http://schemas.microsoft.com/office/drawing/2014/main" id="{EC9AF860-D5F2-4C50-A304-E2169749C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29325"/>
            <a:ext cx="10706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B6D73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5B6D73"/>
                </a:solidFill>
                <a:latin typeface="Yu Gothic"/>
                <a:ea typeface="Yu Gothic"/>
                <a:cs typeface="Yu Gothic"/>
              </a:rPr>
              <a:t>SyntaxError は文法の問題。実行できても結果が誤る場合は、論理の問題が考えられる。</a:t>
            </a:r>
          </a:p>
        </p:txBody>
      </p:sp>
    </p:spTree>
    <p:extLst>
      <p:ext uri="{BB962C8B-B14F-4D97-AF65-F5344CB8AC3E}">
        <p14:creationId xmlns:p14="http://schemas.microsoft.com/office/powerpoint/2010/main" val="1145719407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ry、except、else、finally">
            <a:extLst xmlns:a="http://schemas.openxmlformats.org/drawingml/2006/main">
              <a:ext uri="{FF2B5EF4-FFF2-40B4-BE49-F238E27FC236}">
                <a16:creationId xmlns:a16="http://schemas.microsoft.com/office/drawing/2014/main" id="{21F3FC18-D83D-449F-B218-E2B0EEF18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try、except、else、finally</a:t>
            </a:r>
          </a:p>
        </p:txBody>
      </p:sp>
      <p:sp>
        <p:nvSpPr>
          <p:cNvPr id="2" name="例外處理">
            <a:extLst xmlns:a="http://schemas.openxmlformats.org/drawingml/2006/main">
              <a:ext uri="{FF2B5EF4-FFF2-40B4-BE49-F238E27FC236}">
                <a16:creationId xmlns:a16="http://schemas.microsoft.com/office/drawing/2014/main" id="{F7AD828B-0403-42C3-8262-14C9A8AE4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例外処理</a:t>
            </a:r>
          </a:p>
        </p:txBody>
      </p:sp>
      <p:sp>
        <p:nvSpPr>
          <p:cNvPr id="3" name="50">
            <a:extLst xmlns:a="http://schemas.openxmlformats.org/drawingml/2006/main">
              <a:ext uri="{FF2B5EF4-FFF2-40B4-BE49-F238E27FC236}">
                <a16:creationId xmlns:a16="http://schemas.microsoft.com/office/drawing/2014/main" id="{0637E4FE-07E9-470A-A700-CED9CCB0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50</a:t>
            </a:r>
          </a:p>
        </p:txBody>
      </p:sp>
      <p:sp>
        <p:nvSpPr>
          <p:cNvPr id="4" name="try:">
            <a:extLst xmlns:a="http://schemas.openxmlformats.org/drawingml/2006/main">
              <a:ext uri="{FF2B5EF4-FFF2-40B4-BE49-F238E27FC236}">
                <a16:creationId xmlns:a16="http://schemas.microsoft.com/office/drawing/2014/main" id="{B6AE9CFB-B5CE-4DB3-9820-23BE3472A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try:</a:t>
            </a:r>
          </a:p>
        </p:txBody>
      </p:sp>
      <p:sp>
        <p:nvSpPr>
          <p:cNvPr id="5" name="    value = int(&quot;42&quot;)">
            <a:extLst xmlns:a="http://schemas.openxmlformats.org/drawingml/2006/main">
              <a:ext uri="{FF2B5EF4-FFF2-40B4-BE49-F238E27FC236}">
                <a16:creationId xmlns:a16="http://schemas.microsoft.com/office/drawing/2014/main" id="{530340B1-280C-4109-A24D-E0ACC213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value = int("42")</a:t>
            </a:r>
          </a:p>
        </p:txBody>
      </p:sp>
      <p:sp>
        <p:nvSpPr>
          <p:cNvPr id="6" name="except (ValueError, TypeError) as error:">
            <a:extLst xmlns:a="http://schemas.openxmlformats.org/drawingml/2006/main">
              <a:ext uri="{FF2B5EF4-FFF2-40B4-BE49-F238E27FC236}">
                <a16:creationId xmlns:a16="http://schemas.microsoft.com/office/drawing/2014/main" id="{D1B35A16-9EA0-40CA-85FC-11EF98AC9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except (ValueError, TypeError) as error:</a:t>
            </a:r>
          </a:p>
        </p:txBody>
      </p:sp>
      <p:sp>
        <p:nvSpPr>
          <p:cNvPr id="7" name="    print(type(error).__name__)">
            <a:extLst xmlns:a="http://schemas.openxmlformats.org/drawingml/2006/main">
              <a:ext uri="{FF2B5EF4-FFF2-40B4-BE49-F238E27FC236}">
                <a16:creationId xmlns:a16="http://schemas.microsoft.com/office/drawing/2014/main" id="{F665917B-92A4-43F8-A558-4CA13A44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print(type(error).__name__)</a:t>
            </a:r>
          </a:p>
        </p:txBody>
      </p:sp>
      <p:sp>
        <p:nvSpPr>
          <p:cNvPr id="8" name="else:">
            <a:extLst xmlns:a="http://schemas.openxmlformats.org/drawingml/2006/main">
              <a:ext uri="{FF2B5EF4-FFF2-40B4-BE49-F238E27FC236}">
                <a16:creationId xmlns:a16="http://schemas.microsoft.com/office/drawing/2014/main" id="{DD59360D-DE25-4B74-AD06-E2D4072D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else:</a:t>
            </a:r>
          </a:p>
        </p:txBody>
      </p:sp>
      <p:sp>
        <p:nvSpPr>
          <p:cNvPr id="9" name="    print(value * 2)">
            <a:extLst xmlns:a="http://schemas.openxmlformats.org/drawingml/2006/main">
              <a:ext uri="{FF2B5EF4-FFF2-40B4-BE49-F238E27FC236}">
                <a16:creationId xmlns:a16="http://schemas.microsoft.com/office/drawing/2014/main" id="{503B1958-60A0-4E5E-AAAB-EFDEDCCF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print(value * 2)</a:t>
            </a:r>
          </a:p>
        </p:txBody>
      </p:sp>
      <p:sp>
        <p:nvSpPr>
          <p:cNvPr id="10" name="finally:">
            <a:extLst xmlns:a="http://schemas.openxmlformats.org/drawingml/2006/main">
              <a:ext uri="{FF2B5EF4-FFF2-40B4-BE49-F238E27FC236}">
                <a16:creationId xmlns:a16="http://schemas.microsoft.com/office/drawing/2014/main" id="{2A3D6F62-DC0D-4E30-9337-2F2D45C13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finally:</a:t>
            </a:r>
          </a:p>
        </p:txBody>
      </p:sp>
      <p:sp>
        <p:nvSpPr>
          <p:cNvPr id="11" name="    print(&quot;Finished&quot;)">
            <a:extLst xmlns:a="http://schemas.openxmlformats.org/drawingml/2006/main">
              <a:ext uri="{FF2B5EF4-FFF2-40B4-BE49-F238E27FC236}">
                <a16:creationId xmlns:a16="http://schemas.microsoft.com/office/drawing/2014/main" id="{1FAA4408-E8C6-4E2C-9A0A-C4EDBD9C1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print("Finished")</a:t>
            </a:r>
          </a:p>
        </p:txBody>
      </p:sp>
      <p:sp>
        <p:nvSpPr>
          <p:cNvPr id="12" name="except 捕捉指定例外">
            <a:extLst xmlns:a="http://schemas.openxmlformats.org/drawingml/2006/main">
              <a:ext uri="{FF2B5EF4-FFF2-40B4-BE49-F238E27FC236}">
                <a16:creationId xmlns:a16="http://schemas.microsoft.com/office/drawing/2014/main" id="{9BAC82A9-2D80-4B76-9FA2-C6DD8220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except は指定した例外を捕捉</a:t>
            </a:r>
          </a:p>
        </p:txBody>
      </p:sp>
      <p:sp>
        <p:nvSpPr>
          <p:cNvPr id="13" name="多種例外可放入 tuple。 子類別處理放在父類別之前。">
            <a:extLst xmlns:a="http://schemas.openxmlformats.org/drawingml/2006/main">
              <a:ext uri="{FF2B5EF4-FFF2-40B4-BE49-F238E27FC236}">
                <a16:creationId xmlns:a16="http://schemas.microsoft.com/office/drawing/2014/main" id="{EE95AF1D-255F-416D-B223-29F66D2E0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複数の例外型は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tuple にまとめる。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派生クラスの処理を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基底クラスより先に。</a:t>
            </a:r>
          </a:p>
        </p:txBody>
      </p:sp>
      <p:sp>
        <p:nvSpPr>
          <p:cNvPr id="14" name="else 與 finally">
            <a:extLst xmlns:a="http://schemas.openxmlformats.org/drawingml/2006/main">
              <a:ext uri="{FF2B5EF4-FFF2-40B4-BE49-F238E27FC236}">
                <a16:creationId xmlns:a16="http://schemas.microsoft.com/office/drawing/2014/main" id="{6C230EC6-886C-4697-9CF7-EFF053A13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else と finally</a:t>
            </a:r>
          </a:p>
        </p:txBody>
      </p:sp>
      <p:sp>
        <p:nvSpPr>
          <p:cNvPr id="15" name="else 在 try 正常完成時執行。 finally 在離開結構時執行清理。">
            <a:extLst xmlns:a="http://schemas.openxmlformats.org/drawingml/2006/main">
              <a:ext uri="{FF2B5EF4-FFF2-40B4-BE49-F238E27FC236}">
                <a16:creationId xmlns:a16="http://schemas.microsoft.com/office/drawing/2014/main" id="{041310B5-B533-447F-B34B-CC6C2DE37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else は try が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正常終了したとき。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finally は構造を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離れる際に後処理。</a:t>
            </a:r>
          </a:p>
        </p:txBody>
      </p:sp>
      <p:sp>
        <p:nvSpPr>
          <p:cNvPr id="16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DEF8DEA9-7C7E-431A-89CC-B8086F91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17" name="84    Finished">
            <a:extLst xmlns:a="http://schemas.openxmlformats.org/drawingml/2006/main">
              <a:ext uri="{FF2B5EF4-FFF2-40B4-BE49-F238E27FC236}">
                <a16:creationId xmlns:a16="http://schemas.microsoft.com/office/drawing/2014/main" id="{DB17AD38-F35B-4485-A63F-74072F6F8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84    Finished</a:t>
            </a:r>
          </a:p>
        </p:txBody>
      </p:sp>
    </p:spTree>
    <p:extLst>
      <p:ext uri="{BB962C8B-B14F-4D97-AF65-F5344CB8AC3E}">
        <p14:creationId xmlns:p14="http://schemas.microsoft.com/office/powerpoint/2010/main" val="1122281566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raise、自訂例外與例外串接">
            <a:extLst xmlns:a="http://schemas.openxmlformats.org/drawingml/2006/main">
              <a:ext uri="{FF2B5EF4-FFF2-40B4-BE49-F238E27FC236}">
                <a16:creationId xmlns:a16="http://schemas.microsoft.com/office/drawing/2014/main" id="{5D649EF2-6574-4166-955F-70D37571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raise、独自の例外と例外連鎖</a:t>
            </a:r>
          </a:p>
        </p:txBody>
      </p:sp>
      <p:sp>
        <p:nvSpPr>
          <p:cNvPr id="2" name="例外處理">
            <a:extLst xmlns:a="http://schemas.openxmlformats.org/drawingml/2006/main">
              <a:ext uri="{FF2B5EF4-FFF2-40B4-BE49-F238E27FC236}">
                <a16:creationId xmlns:a16="http://schemas.microsoft.com/office/drawing/2014/main" id="{B273543C-DBEA-4DB6-8914-0458C27BA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例外処理</a:t>
            </a:r>
          </a:p>
        </p:txBody>
      </p:sp>
      <p:sp>
        <p:nvSpPr>
          <p:cNvPr id="3" name="51">
            <a:extLst xmlns:a="http://schemas.openxmlformats.org/drawingml/2006/main">
              <a:ext uri="{FF2B5EF4-FFF2-40B4-BE49-F238E27FC236}">
                <a16:creationId xmlns:a16="http://schemas.microsoft.com/office/drawing/2014/main" id="{3BD85E93-383C-46B6-9CEF-3162B63AE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51</a:t>
            </a:r>
          </a:p>
        </p:txBody>
      </p:sp>
      <p:sp>
        <p:nvSpPr>
          <p:cNvPr id="4" name="class InputError(ValueError):">
            <a:extLst xmlns:a="http://schemas.openxmlformats.org/drawingml/2006/main">
              <a:ext uri="{FF2B5EF4-FFF2-40B4-BE49-F238E27FC236}">
                <a16:creationId xmlns:a16="http://schemas.microsoft.com/office/drawing/2014/main" id="{2B60428D-E015-4084-B3AB-192B41C7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InputError(ValueError):</a:t>
            </a:r>
          </a:p>
        </p:txBody>
      </p:sp>
      <p:sp>
        <p:nvSpPr>
          <p:cNvPr id="5" name="    pass">
            <a:extLst xmlns:a="http://schemas.openxmlformats.org/drawingml/2006/main">
              <a:ext uri="{FF2B5EF4-FFF2-40B4-BE49-F238E27FC236}">
                <a16:creationId xmlns:a16="http://schemas.microsoft.com/office/drawing/2014/main" id="{7C6A64B7-7A28-4AF2-B904-D598F248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7835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pass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B6592A-DED3-49F2-A800-EF36AA96E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2594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def parse(text):">
            <a:extLst xmlns:a="http://schemas.openxmlformats.org/drawingml/2006/main">
              <a:ext uri="{FF2B5EF4-FFF2-40B4-BE49-F238E27FC236}">
                <a16:creationId xmlns:a16="http://schemas.microsoft.com/office/drawing/2014/main" id="{A9EA7266-5C14-4AA8-B190-27D04D42F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7354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def parse(text):</a:t>
            </a:r>
          </a:p>
        </p:txBody>
      </p:sp>
      <p:sp>
        <p:nvSpPr>
          <p:cNvPr id="8" name="    try:">
            <a:extLst xmlns:a="http://schemas.openxmlformats.org/drawingml/2006/main">
              <a:ext uri="{FF2B5EF4-FFF2-40B4-BE49-F238E27FC236}">
                <a16:creationId xmlns:a16="http://schemas.microsoft.com/office/drawing/2014/main" id="{D19F8F71-9753-49EB-B617-696AD0A5E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2113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try:</a:t>
            </a:r>
          </a:p>
        </p:txBody>
      </p:sp>
      <p:sp>
        <p:nvSpPr>
          <p:cNvPr id="9" name="        return int(text)">
            <a:extLst xmlns:a="http://schemas.openxmlformats.org/drawingml/2006/main">
              <a:ext uri="{FF2B5EF4-FFF2-40B4-BE49-F238E27FC236}">
                <a16:creationId xmlns:a16="http://schemas.microsoft.com/office/drawing/2014/main" id="{11E631D1-300E-4E60-AB82-0C3429E6D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6873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return int(text)</a:t>
            </a:r>
          </a:p>
        </p:txBody>
      </p:sp>
      <p:sp>
        <p:nvSpPr>
          <p:cNvPr id="10" name="    except ValueError as error:">
            <a:extLst xmlns:a="http://schemas.openxmlformats.org/drawingml/2006/main">
              <a:ext uri="{FF2B5EF4-FFF2-40B4-BE49-F238E27FC236}">
                <a16:creationId xmlns:a16="http://schemas.microsoft.com/office/drawing/2014/main" id="{AC59EEC3-FDDB-4CFF-B2FB-672E5E4B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1633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except ValueError as error:</a:t>
            </a:r>
          </a:p>
        </p:txBody>
      </p:sp>
      <p:sp>
        <p:nvSpPr>
          <p:cNvPr id="11" name="        raise InputError(&quot;Bad number&quot;) from error">
            <a:extLst xmlns:a="http://schemas.openxmlformats.org/drawingml/2006/main">
              <a:ext uri="{FF2B5EF4-FFF2-40B4-BE49-F238E27FC236}">
                <a16:creationId xmlns:a16="http://schemas.microsoft.com/office/drawing/2014/main" id="{AB541041-AA9D-4E6E-B687-39D8F00A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6392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raise InputError("Bad number") from error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962FD3-0C6E-4543-9A1C-B160B4C79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1152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try:">
            <a:extLst xmlns:a="http://schemas.openxmlformats.org/drawingml/2006/main">
              <a:ext uri="{FF2B5EF4-FFF2-40B4-BE49-F238E27FC236}">
                <a16:creationId xmlns:a16="http://schemas.microsoft.com/office/drawing/2014/main" id="{D7305F3E-B60B-4568-A0A4-C2BA6431D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5912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try:</a:t>
            </a:r>
          </a:p>
        </p:txBody>
      </p:sp>
      <p:sp>
        <p:nvSpPr>
          <p:cNvPr id="14" name="    parse(&quot;abc&quot;)">
            <a:extLst xmlns:a="http://schemas.openxmlformats.org/drawingml/2006/main">
              <a:ext uri="{FF2B5EF4-FFF2-40B4-BE49-F238E27FC236}">
                <a16:creationId xmlns:a16="http://schemas.microsoft.com/office/drawing/2014/main" id="{2F7432CE-2854-4F2D-855B-EC2F19ED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0671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parse("abc")</a:t>
            </a:r>
          </a:p>
        </p:txBody>
      </p:sp>
      <p:sp>
        <p:nvSpPr>
          <p:cNvPr id="15" name="except InputError as error:">
            <a:extLst xmlns:a="http://schemas.openxmlformats.org/drawingml/2006/main">
              <a:ext uri="{FF2B5EF4-FFF2-40B4-BE49-F238E27FC236}">
                <a16:creationId xmlns:a16="http://schemas.microsoft.com/office/drawing/2014/main" id="{15CDDDFE-0106-450B-A03C-D6CC03585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5431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except InputError as error:</a:t>
            </a:r>
          </a:p>
        </p:txBody>
      </p:sp>
      <p:sp>
        <p:nvSpPr>
          <p:cNvPr id="16" name="    print(error)">
            <a:extLst xmlns:a="http://schemas.openxmlformats.org/drawingml/2006/main">
              <a:ext uri="{FF2B5EF4-FFF2-40B4-BE49-F238E27FC236}">
                <a16:creationId xmlns:a16="http://schemas.microsoft.com/office/drawing/2014/main" id="{84A90D1B-7DB9-451A-BC87-EA42BD2C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0190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print(error)</a:t>
            </a:r>
          </a:p>
        </p:txBody>
      </p:sp>
      <p:sp>
        <p:nvSpPr>
          <p:cNvPr id="17" name="raise 主動回報失敗">
            <a:extLst xmlns:a="http://schemas.openxmlformats.org/drawingml/2006/main">
              <a:ext uri="{FF2B5EF4-FFF2-40B4-BE49-F238E27FC236}">
                <a16:creationId xmlns:a16="http://schemas.microsoft.com/office/drawing/2014/main" id="{7B072E87-BD20-4FAB-AD81-639F6432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raise は失敗を通知する</a:t>
            </a:r>
          </a:p>
        </p:txBody>
      </p:sp>
      <p:sp>
        <p:nvSpPr>
          <p:cNvPr id="18" name="自訂例外通常繼承 Exception 或適合的既有例外類別。">
            <a:extLst xmlns:a="http://schemas.openxmlformats.org/drawingml/2006/main">
              <a:ext uri="{FF2B5EF4-FFF2-40B4-BE49-F238E27FC236}">
                <a16:creationId xmlns:a16="http://schemas.microsoft.com/office/drawing/2014/main" id="{5131DC96-EC2B-49D9-933F-F338FA6D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独自の例外は通常 Exception、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または適切な既存の例外を継承。</a:t>
            </a:r>
          </a:p>
        </p:txBody>
      </p:sp>
      <p:sp>
        <p:nvSpPr>
          <p:cNvPr id="19" name="from 保存原因">
            <a:extLst xmlns:a="http://schemas.openxmlformats.org/drawingml/2006/main">
              <a:ext uri="{FF2B5EF4-FFF2-40B4-BE49-F238E27FC236}">
                <a16:creationId xmlns:a16="http://schemas.microsoft.com/office/drawing/2014/main" id="{1C7E36CA-9DA3-41AE-BD7D-0575ED5F1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from は原因を保持する</a:t>
            </a:r>
          </a:p>
        </p:txBody>
      </p:sp>
      <p:sp>
        <p:nvSpPr>
          <p:cNvPr id="20" name="外層例外保留原始失敗原因。 except 中單獨 raise 可重新拋出。">
            <a:extLst xmlns:a="http://schemas.openxmlformats.org/drawingml/2006/main">
              <a:ext uri="{FF2B5EF4-FFF2-40B4-BE49-F238E27FC236}">
                <a16:creationId xmlns:a16="http://schemas.microsoft.com/office/drawing/2014/main" id="{073AB3C1-FCB1-4F8E-B953-CE3501C6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外側の例外に元の原因を残す。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except 内の単独の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raise は再送出。</a:t>
            </a:r>
          </a:p>
        </p:txBody>
      </p:sp>
      <p:sp>
        <p:nvSpPr>
          <p:cNvPr id="21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676AB2B5-4B0E-41E7-B4B5-B45B0E9F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22" name="Bad number">
            <a:extLst xmlns:a="http://schemas.openxmlformats.org/drawingml/2006/main">
              <a:ext uri="{FF2B5EF4-FFF2-40B4-BE49-F238E27FC236}">
                <a16:creationId xmlns:a16="http://schemas.microsoft.com/office/drawing/2014/main" id="{C139C609-824F-4E7F-B6C4-06B867A69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Bad number</a:t>
            </a:r>
          </a:p>
        </p:txBody>
      </p:sp>
    </p:spTree>
    <p:extLst>
      <p:ext uri="{BB962C8B-B14F-4D97-AF65-F5344CB8AC3E}">
        <p14:creationId xmlns:p14="http://schemas.microsoft.com/office/powerpoint/2010/main" val="980372345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assert 與錯誤追蹤">
            <a:extLst xmlns:a="http://schemas.openxmlformats.org/drawingml/2006/main">
              <a:ext uri="{FF2B5EF4-FFF2-40B4-BE49-F238E27FC236}">
                <a16:creationId xmlns:a16="http://schemas.microsoft.com/office/drawing/2014/main" id="{0665D784-6834-43D1-A57F-7FA9FF2B9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assert とトレースバック</a:t>
            </a:r>
          </a:p>
        </p:txBody>
      </p:sp>
      <p:sp>
        <p:nvSpPr>
          <p:cNvPr id="2" name="例外處理">
            <a:extLst xmlns:a="http://schemas.openxmlformats.org/drawingml/2006/main">
              <a:ext uri="{FF2B5EF4-FFF2-40B4-BE49-F238E27FC236}">
                <a16:creationId xmlns:a16="http://schemas.microsoft.com/office/drawing/2014/main" id="{24632D57-3A3C-46C4-B8EF-BF546BBE2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例外処理</a:t>
            </a:r>
          </a:p>
        </p:txBody>
      </p:sp>
      <p:sp>
        <p:nvSpPr>
          <p:cNvPr id="3" name="52">
            <a:extLst xmlns:a="http://schemas.openxmlformats.org/drawingml/2006/main">
              <a:ext uri="{FF2B5EF4-FFF2-40B4-BE49-F238E27FC236}">
                <a16:creationId xmlns:a16="http://schemas.microsoft.com/office/drawing/2014/main" id="{D613D079-7E9C-4742-B59F-CFD6F84F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52</a:t>
            </a:r>
          </a:p>
        </p:txBody>
      </p:sp>
      <p:sp>
        <p:nvSpPr>
          <p:cNvPr id="4" name="def half(value):">
            <a:extLst xmlns:a="http://schemas.openxmlformats.org/drawingml/2006/main">
              <a:ext uri="{FF2B5EF4-FFF2-40B4-BE49-F238E27FC236}">
                <a16:creationId xmlns:a16="http://schemas.microsoft.com/office/drawing/2014/main" id="{EE61EABC-AB49-4AA0-9509-8EB36011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def half(value):</a:t>
            </a:r>
          </a:p>
        </p:txBody>
      </p:sp>
      <p:sp>
        <p:nvSpPr>
          <p:cNvPr id="5" name="    assert value % 2 == 0, &quot;Must be even&quot;">
            <a:extLst xmlns:a="http://schemas.openxmlformats.org/drawingml/2006/main">
              <a:ext uri="{FF2B5EF4-FFF2-40B4-BE49-F238E27FC236}">
                <a16:creationId xmlns:a16="http://schemas.microsoft.com/office/drawing/2014/main" id="{5ABC6C95-B085-404A-BD63-D9CAA7ACB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assert value % 2 == 0, "Must be even"</a:t>
            </a:r>
          </a:p>
        </p:txBody>
      </p:sp>
      <p:sp>
        <p:nvSpPr>
          <p:cNvPr id="6" name="    return value // 2">
            <a:extLst xmlns:a="http://schemas.openxmlformats.org/drawingml/2006/main">
              <a:ext uri="{FF2B5EF4-FFF2-40B4-BE49-F238E27FC236}">
                <a16:creationId xmlns:a16="http://schemas.microsoft.com/office/drawing/2014/main" id="{EF35C5C2-D249-4B4D-8425-49466D26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return value //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9229A5-10D4-4E25-9DDE-E77C41A1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print(half(8))">
            <a:extLst xmlns:a="http://schemas.openxmlformats.org/drawingml/2006/main">
              <a:ext uri="{FF2B5EF4-FFF2-40B4-BE49-F238E27FC236}">
                <a16:creationId xmlns:a16="http://schemas.microsoft.com/office/drawing/2014/main" id="{5BF2AB6F-8616-4A6B-80D1-2606D87B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print(half(8))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01CCE2-5284-4BF6-A376-9E7FBDAF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try:">
            <a:extLst xmlns:a="http://schemas.openxmlformats.org/drawingml/2006/main">
              <a:ext uri="{FF2B5EF4-FFF2-40B4-BE49-F238E27FC236}">
                <a16:creationId xmlns:a16="http://schemas.microsoft.com/office/drawing/2014/main" id="{DB13DAB6-AA49-4F92-8363-0D6E9FC1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try:</a:t>
            </a:r>
          </a:p>
        </p:txBody>
      </p:sp>
      <p:sp>
        <p:nvSpPr>
          <p:cNvPr id="11" name="    half(3)">
            <a:extLst xmlns:a="http://schemas.openxmlformats.org/drawingml/2006/main">
              <a:ext uri="{FF2B5EF4-FFF2-40B4-BE49-F238E27FC236}">
                <a16:creationId xmlns:a16="http://schemas.microsoft.com/office/drawing/2014/main" id="{9F693A91-8461-4828-81DE-C5BFA004B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half(3)</a:t>
            </a:r>
          </a:p>
        </p:txBody>
      </p:sp>
      <p:sp>
        <p:nvSpPr>
          <p:cNvPr id="12" name="except AssertionError as error:">
            <a:extLst xmlns:a="http://schemas.openxmlformats.org/drawingml/2006/main">
              <a:ext uri="{FF2B5EF4-FFF2-40B4-BE49-F238E27FC236}">
                <a16:creationId xmlns:a16="http://schemas.microsoft.com/office/drawing/2014/main" id="{38B2876A-8A7C-4CEC-AC8C-C14A7F6C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except AssertionError as error:</a:t>
            </a:r>
          </a:p>
        </p:txBody>
      </p:sp>
      <p:sp>
        <p:nvSpPr>
          <p:cNvPr id="13" name="    print(error)">
            <a:extLst xmlns:a="http://schemas.openxmlformats.org/drawingml/2006/main">
              <a:ext uri="{FF2B5EF4-FFF2-40B4-BE49-F238E27FC236}">
                <a16:creationId xmlns:a16="http://schemas.microsoft.com/office/drawing/2014/main" id="{4C59FCF2-CACA-41B2-B417-2822437D4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print(error)</a:t>
            </a:r>
          </a:p>
        </p:txBody>
      </p:sp>
      <p:sp>
        <p:nvSpPr>
          <p:cNvPr id="14" name="assert 檢查程式假設">
            <a:extLst xmlns:a="http://schemas.openxmlformats.org/drawingml/2006/main">
              <a:ext uri="{FF2B5EF4-FFF2-40B4-BE49-F238E27FC236}">
                <a16:creationId xmlns:a16="http://schemas.microsoft.com/office/drawing/2014/main" id="{81459DD2-7DA4-420A-A60F-F42D49D89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assert はプログラム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の仮定を確認</a:t>
            </a:r>
          </a:p>
        </p:txBody>
      </p:sp>
      <p:sp>
        <p:nvSpPr>
          <p:cNvPr id="15" name="條件不成立時產生 AssertionError。">
            <a:extLst xmlns:a="http://schemas.openxmlformats.org/drawingml/2006/main">
              <a:ext uri="{FF2B5EF4-FFF2-40B4-BE49-F238E27FC236}">
                <a16:creationId xmlns:a16="http://schemas.microsoft.com/office/drawing/2014/main" id="{4AE7DFD9-2329-45A5-A093-83359AA8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条件が偽なら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AssertionError が発生。</a:t>
            </a:r>
          </a:p>
        </p:txBody>
      </p:sp>
      <p:sp>
        <p:nvSpPr>
          <p:cNvPr id="16" name="最佳化模式可略過 assert">
            <a:extLst xmlns:a="http://schemas.openxmlformats.org/drawingml/2006/main">
              <a:ext uri="{FF2B5EF4-FFF2-40B4-BE49-F238E27FC236}">
                <a16:creationId xmlns:a16="http://schemas.microsoft.com/office/drawing/2014/main" id="{EB5185B7-B7CC-4F99-A6F8-DFD1A8563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最適化時は assert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を省略しうる</a:t>
            </a:r>
          </a:p>
        </p:txBody>
      </p:sp>
      <p:sp>
        <p:nvSpPr>
          <p:cNvPr id="17" name="外部輸入驗證使用 if 與 raise。 traceback 顯示呼叫路徑與失敗位置。">
            <a:extLst xmlns:a="http://schemas.openxmlformats.org/drawingml/2006/main">
              <a:ext uri="{FF2B5EF4-FFF2-40B4-BE49-F238E27FC236}">
                <a16:creationId xmlns:a16="http://schemas.microsoft.com/office/drawing/2014/main" id="{E37B6242-74A2-470A-86A2-C0ABC0DCA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外部入力は if と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raise で検証。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traceback は呼び出し経路と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失敗した位置を示す。</a:t>
            </a:r>
          </a:p>
        </p:txBody>
      </p:sp>
      <p:sp>
        <p:nvSpPr>
          <p:cNvPr id="18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2B768AA2-FF7A-411A-B4E3-13B422E36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19" name="4    Must be even">
            <a:extLst xmlns:a="http://schemas.openxmlformats.org/drawingml/2006/main">
              <a:ext uri="{FF2B5EF4-FFF2-40B4-BE49-F238E27FC236}">
                <a16:creationId xmlns:a16="http://schemas.microsoft.com/office/drawing/2014/main" id="{8A5E790B-67F8-4C1E-948F-6E58A5AC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4    Must be even</a:t>
            </a:r>
          </a:p>
        </p:txBody>
      </p:sp>
    </p:spTree>
    <p:extLst>
      <p:ext uri="{BB962C8B-B14F-4D97-AF65-F5344CB8AC3E}">
        <p14:creationId xmlns:p14="http://schemas.microsoft.com/office/powerpoint/2010/main" val="192969702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class、實例與 self">
            <a:extLst xmlns:a="http://schemas.openxmlformats.org/drawingml/2006/main">
              <a:ext uri="{FF2B5EF4-FFF2-40B4-BE49-F238E27FC236}">
                <a16:creationId xmlns:a16="http://schemas.microsoft.com/office/drawing/2014/main" id="{FF421F99-5EBE-4749-9EDB-3C0BAF517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class、インスタンスと self</a:t>
            </a:r>
          </a:p>
        </p:txBody>
      </p:sp>
      <p:sp>
        <p:nvSpPr>
          <p:cNvPr id="2" name="類別語法">
            <a:extLst xmlns:a="http://schemas.openxmlformats.org/drawingml/2006/main">
              <a:ext uri="{FF2B5EF4-FFF2-40B4-BE49-F238E27FC236}">
                <a16:creationId xmlns:a16="http://schemas.microsoft.com/office/drawing/2014/main" id="{5C490B43-9FB3-469F-A6A8-6A139A30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クラスの文法</a:t>
            </a:r>
          </a:p>
        </p:txBody>
      </p:sp>
      <p:sp>
        <p:nvSpPr>
          <p:cNvPr id="3" name="53">
            <a:extLst xmlns:a="http://schemas.openxmlformats.org/drawingml/2006/main">
              <a:ext uri="{FF2B5EF4-FFF2-40B4-BE49-F238E27FC236}">
                <a16:creationId xmlns:a16="http://schemas.microsoft.com/office/drawing/2014/main" id="{7F113CCF-565B-41E8-8C48-595941E4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53</a:t>
            </a:r>
          </a:p>
        </p:txBody>
      </p:sp>
      <p:sp>
        <p:nvSpPr>
          <p:cNvPr id="4" name="class Counter:">
            <a:extLst xmlns:a="http://schemas.openxmlformats.org/drawingml/2006/main">
              <a:ext uri="{FF2B5EF4-FFF2-40B4-BE49-F238E27FC236}">
                <a16:creationId xmlns:a16="http://schemas.microsoft.com/office/drawing/2014/main" id="{51E41C34-5387-469C-991E-F244C543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class Counter:</a:t>
            </a:r>
          </a:p>
        </p:txBody>
      </p:sp>
      <p:sp>
        <p:nvSpPr>
          <p:cNvPr id="5" name="    def __init__(self, value=0):">
            <a:extLst xmlns:a="http://schemas.openxmlformats.org/drawingml/2006/main">
              <a:ext uri="{FF2B5EF4-FFF2-40B4-BE49-F238E27FC236}">
                <a16:creationId xmlns:a16="http://schemas.microsoft.com/office/drawing/2014/main" id="{2ABB3528-D69F-4E78-90AE-710BB475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def __init__(self, value=0):</a:t>
            </a:r>
          </a:p>
        </p:txBody>
      </p:sp>
      <p:sp>
        <p:nvSpPr>
          <p:cNvPr id="6" name="        self.value = value">
            <a:extLst xmlns:a="http://schemas.openxmlformats.org/drawingml/2006/main">
              <a:ext uri="{FF2B5EF4-FFF2-40B4-BE49-F238E27FC236}">
                <a16:creationId xmlns:a16="http://schemas.microsoft.com/office/drawing/2014/main" id="{E8A9F7DB-D0C4-465D-AEF5-354FD0A35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self.value = value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F6A773-A795-43BE-B9BA-4EA7D4E8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    def add(self, amount):">
            <a:extLst xmlns:a="http://schemas.openxmlformats.org/drawingml/2006/main">
              <a:ext uri="{FF2B5EF4-FFF2-40B4-BE49-F238E27FC236}">
                <a16:creationId xmlns:a16="http://schemas.microsoft.com/office/drawing/2014/main" id="{27BAE935-C56B-4A30-998E-B32ECBC6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def add(self, amount):</a:t>
            </a:r>
          </a:p>
        </p:txBody>
      </p:sp>
      <p:sp>
        <p:nvSpPr>
          <p:cNvPr id="9" name="        self.value += amount">
            <a:extLst xmlns:a="http://schemas.openxmlformats.org/drawingml/2006/main">
              <a:ext uri="{FF2B5EF4-FFF2-40B4-BE49-F238E27FC236}">
                <a16:creationId xmlns:a16="http://schemas.microsoft.com/office/drawing/2014/main" id="{21439612-9BDA-438C-92BE-BC9FDEC03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self.value += amount</a:t>
            </a:r>
          </a:p>
        </p:txBody>
      </p:sp>
      <p:sp>
        <p:nvSpPr>
          <p:cNvPr id="10" name="        return self.value">
            <a:extLst xmlns:a="http://schemas.openxmlformats.org/drawingml/2006/main">
              <a:ext uri="{FF2B5EF4-FFF2-40B4-BE49-F238E27FC236}">
                <a16:creationId xmlns:a16="http://schemas.microsoft.com/office/drawing/2014/main" id="{A044562F-4DB7-4405-A9C7-C75A3710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return self.value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62CB1C-E596-4543-81AF-ACE30D62B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counter = Counter(10)">
            <a:extLst xmlns:a="http://schemas.openxmlformats.org/drawingml/2006/main">
              <a:ext uri="{FF2B5EF4-FFF2-40B4-BE49-F238E27FC236}">
                <a16:creationId xmlns:a16="http://schemas.microsoft.com/office/drawing/2014/main" id="{EFBCEE32-38B7-4BE8-B761-97F35F57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counter = Counter(10)</a:t>
            </a:r>
          </a:p>
        </p:txBody>
      </p:sp>
      <p:sp>
        <p:nvSpPr>
          <p:cNvPr id="13" name="print(counter.add(5))">
            <a:extLst xmlns:a="http://schemas.openxmlformats.org/drawingml/2006/main">
              <a:ext uri="{FF2B5EF4-FFF2-40B4-BE49-F238E27FC236}">
                <a16:creationId xmlns:a16="http://schemas.microsoft.com/office/drawing/2014/main" id="{79B620FC-8C87-4C1E-A979-86ECB182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print(counter.add(5))</a:t>
            </a:r>
          </a:p>
        </p:txBody>
      </p:sp>
      <p:sp>
        <p:nvSpPr>
          <p:cNvPr id="14" name="print(counter.value)">
            <a:extLst xmlns:a="http://schemas.openxmlformats.org/drawingml/2006/main">
              <a:ext uri="{FF2B5EF4-FFF2-40B4-BE49-F238E27FC236}">
                <a16:creationId xmlns:a16="http://schemas.microsoft.com/office/drawing/2014/main" id="{8226F5A5-3610-470D-87BA-9255195C0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print(counter.value)</a:t>
            </a:r>
          </a:p>
        </p:txBody>
      </p:sp>
      <p:sp>
        <p:nvSpPr>
          <p:cNvPr id="15" name="建立實例並初始化">
            <a:extLst xmlns:a="http://schemas.openxmlformats.org/drawingml/2006/main">
              <a:ext uri="{FF2B5EF4-FFF2-40B4-BE49-F238E27FC236}">
                <a16:creationId xmlns:a16="http://schemas.microsoft.com/office/drawing/2014/main" id="{BD467FCC-8926-4F07-863D-D14C03B0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インスタンスの生成と初期化</a:t>
            </a:r>
          </a:p>
        </p:txBody>
      </p:sp>
      <p:sp>
        <p:nvSpPr>
          <p:cNvPr id="16" name="Counter(10) 建立實例。 __init__ 負責初始化內容。">
            <a:extLst xmlns:a="http://schemas.openxmlformats.org/drawingml/2006/main">
              <a:ext uri="{FF2B5EF4-FFF2-40B4-BE49-F238E27FC236}">
                <a16:creationId xmlns:a16="http://schemas.microsoft.com/office/drawing/2014/main" id="{54AF6103-F651-4EF3-A6D1-E21FC10A2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Counter(10) は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インスタンスを生成。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__init__ が内容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を初期化する。</a:t>
            </a:r>
          </a:p>
        </p:txBody>
      </p:sp>
      <p:sp>
        <p:nvSpPr>
          <p:cNvPr id="17" name="self 是目前實例">
            <a:extLst xmlns:a="http://schemas.openxmlformats.org/drawingml/2006/main">
              <a:ext uri="{FF2B5EF4-FFF2-40B4-BE49-F238E27FC236}">
                <a16:creationId xmlns:a16="http://schemas.microsoft.com/office/drawing/2014/main" id="{740ED9FB-50E7-40BE-B514-B8B5F58F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self は現在のインスタンス</a:t>
            </a:r>
          </a:p>
        </p:txBody>
      </p:sp>
      <p:sp>
        <p:nvSpPr>
          <p:cNvPr id="18" name="方法呼叫會自動傳入實例。 self 是慣用名稱，不是關鍵字。">
            <a:extLst xmlns:a="http://schemas.openxmlformats.org/drawingml/2006/main">
              <a:ext uri="{FF2B5EF4-FFF2-40B4-BE49-F238E27FC236}">
                <a16:creationId xmlns:a16="http://schemas.microsoft.com/office/drawing/2014/main" id="{D14F883B-E2FC-4210-98B1-AD334A23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メソッド呼び出しで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自動的に渡される。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self は慣用名であり、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予約語ではない。</a:t>
            </a:r>
          </a:p>
        </p:txBody>
      </p:sp>
      <p:sp>
        <p:nvSpPr>
          <p:cNvPr id="19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436840CA-A782-44B2-8111-C583861A9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20" name="15    15">
            <a:extLst xmlns:a="http://schemas.openxmlformats.org/drawingml/2006/main">
              <a:ext uri="{FF2B5EF4-FFF2-40B4-BE49-F238E27FC236}">
                <a16:creationId xmlns:a16="http://schemas.microsoft.com/office/drawing/2014/main" id="{516FB0B2-5629-4C63-B90E-6EE18021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15    15</a:t>
            </a:r>
          </a:p>
        </p:txBody>
      </p:sp>
    </p:spTree>
    <p:extLst>
      <p:ext uri="{BB962C8B-B14F-4D97-AF65-F5344CB8AC3E}">
        <p14:creationId xmlns:p14="http://schemas.microsoft.com/office/powerpoint/2010/main" val="731435828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類別屬性與實例屬性">
            <a:extLst xmlns:a="http://schemas.openxmlformats.org/drawingml/2006/main">
              <a:ext uri="{FF2B5EF4-FFF2-40B4-BE49-F238E27FC236}">
                <a16:creationId xmlns:a16="http://schemas.microsoft.com/office/drawing/2014/main" id="{93F5D434-AD1F-4C6F-A3D4-D48106CE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クラス属性とインスタンス属性</a:t>
            </a:r>
          </a:p>
        </p:txBody>
      </p:sp>
      <p:sp>
        <p:nvSpPr>
          <p:cNvPr id="2" name="類別語法">
            <a:extLst xmlns:a="http://schemas.openxmlformats.org/drawingml/2006/main">
              <a:ext uri="{FF2B5EF4-FFF2-40B4-BE49-F238E27FC236}">
                <a16:creationId xmlns:a16="http://schemas.microsoft.com/office/drawing/2014/main" id="{087200B6-9BF9-42AB-81BD-0761BD142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クラスの文法</a:t>
            </a:r>
          </a:p>
        </p:txBody>
      </p:sp>
      <p:sp>
        <p:nvSpPr>
          <p:cNvPr id="3" name="54">
            <a:extLst xmlns:a="http://schemas.openxmlformats.org/drawingml/2006/main">
              <a:ext uri="{FF2B5EF4-FFF2-40B4-BE49-F238E27FC236}">
                <a16:creationId xmlns:a16="http://schemas.microsoft.com/office/drawing/2014/main" id="{62336749-3213-4A85-B462-5D53EE414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54</a:t>
            </a:r>
          </a:p>
        </p:txBody>
      </p:sp>
      <p:sp>
        <p:nvSpPr>
          <p:cNvPr id="4" name="class Student:">
            <a:extLst xmlns:a="http://schemas.openxmlformats.org/drawingml/2006/main">
              <a:ext uri="{FF2B5EF4-FFF2-40B4-BE49-F238E27FC236}">
                <a16:creationId xmlns:a16="http://schemas.microsoft.com/office/drawing/2014/main" id="{55A2A020-6898-430D-BFCB-9ACD3590E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Student:</a:t>
            </a:r>
          </a:p>
        </p:txBody>
      </p:sp>
      <p:sp>
        <p:nvSpPr>
          <p:cNvPr id="5" name="    school = &quot;YunTech&quot;">
            <a:extLst xmlns:a="http://schemas.openxmlformats.org/drawingml/2006/main">
              <a:ext uri="{FF2B5EF4-FFF2-40B4-BE49-F238E27FC236}">
                <a16:creationId xmlns:a16="http://schemas.microsoft.com/office/drawing/2014/main" id="{48F3B9C2-2715-44D7-86E1-47C2159BD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school = "YunTech"</a:t>
            </a:r>
          </a:p>
        </p:txBody>
      </p:sp>
      <p:sp>
        <p:nvSpPr>
          <p:cNvPr id="6" name="    def __init__(self, name):">
            <a:extLst xmlns:a="http://schemas.openxmlformats.org/drawingml/2006/main">
              <a:ext uri="{FF2B5EF4-FFF2-40B4-BE49-F238E27FC236}">
                <a16:creationId xmlns:a16="http://schemas.microsoft.com/office/drawing/2014/main" id="{936054BF-2548-48CB-A09D-F04F979E8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__init__(self, name):</a:t>
            </a:r>
          </a:p>
        </p:txBody>
      </p:sp>
      <p:sp>
        <p:nvSpPr>
          <p:cNvPr id="7" name="        self.name = name">
            <a:extLst xmlns:a="http://schemas.openxmlformats.org/drawingml/2006/main">
              <a:ext uri="{FF2B5EF4-FFF2-40B4-BE49-F238E27FC236}">
                <a16:creationId xmlns:a16="http://schemas.microsoft.com/office/drawing/2014/main" id="{CF6F3013-38F3-4C3B-AD91-AD1C3FD70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self.name = name</a:t>
            </a:r>
          </a:p>
        </p:txBody>
      </p:sp>
      <p:sp>
        <p:nvSpPr>
          <p:cNvPr id="8" name="        self.tags = []">
            <a:extLst xmlns:a="http://schemas.openxmlformats.org/drawingml/2006/main">
              <a:ext uri="{FF2B5EF4-FFF2-40B4-BE49-F238E27FC236}">
                <a16:creationId xmlns:a16="http://schemas.microsoft.com/office/drawing/2014/main" id="{A70DD188-F101-457F-B613-486D801F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self.tags = []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1E92AC-D81A-40D2-9BF1-D633FA4D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a = Student(&quot;Amy&quot;)">
            <a:extLst xmlns:a="http://schemas.openxmlformats.org/drawingml/2006/main">
              <a:ext uri="{FF2B5EF4-FFF2-40B4-BE49-F238E27FC236}">
                <a16:creationId xmlns:a16="http://schemas.microsoft.com/office/drawing/2014/main" id="{3AA84C1A-C0E3-44BD-8ED6-B496DBCF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 = Student("Amy")</a:t>
            </a:r>
          </a:p>
        </p:txBody>
      </p:sp>
      <p:sp>
        <p:nvSpPr>
          <p:cNvPr id="11" name="b = Student(&quot;Ben&quot;)">
            <a:extLst xmlns:a="http://schemas.openxmlformats.org/drawingml/2006/main">
              <a:ext uri="{FF2B5EF4-FFF2-40B4-BE49-F238E27FC236}">
                <a16:creationId xmlns:a16="http://schemas.microsoft.com/office/drawing/2014/main" id="{0F869BE0-F822-4620-93DE-5573F5727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b = Student("Ben")</a:t>
            </a:r>
          </a:p>
        </p:txBody>
      </p:sp>
      <p:sp>
        <p:nvSpPr>
          <p:cNvPr id="12" name="a.tags.append(&quot;Python&quot;)">
            <a:extLst xmlns:a="http://schemas.openxmlformats.org/drawingml/2006/main">
              <a:ext uri="{FF2B5EF4-FFF2-40B4-BE49-F238E27FC236}">
                <a16:creationId xmlns:a16="http://schemas.microsoft.com/office/drawing/2014/main" id="{21B4238B-BCD4-4286-AC07-EF1E9FC9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a.tags.append("Python")</a:t>
            </a:r>
          </a:p>
        </p:txBody>
      </p:sp>
      <p:sp>
        <p:nvSpPr>
          <p:cNvPr id="13" name="print(a.school, b.school)">
            <a:extLst xmlns:a="http://schemas.openxmlformats.org/drawingml/2006/main">
              <a:ext uri="{FF2B5EF4-FFF2-40B4-BE49-F238E27FC236}">
                <a16:creationId xmlns:a16="http://schemas.microsoft.com/office/drawing/2014/main" id="{DA60C8BD-5BBD-4F14-B71A-5D2C7CB69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print(a.school, b.school)</a:t>
            </a:r>
          </a:p>
        </p:txBody>
      </p:sp>
      <p:sp>
        <p:nvSpPr>
          <p:cNvPr id="14" name="print(a.tags, b.tags)">
            <a:extLst xmlns:a="http://schemas.openxmlformats.org/drawingml/2006/main">
              <a:ext uri="{FF2B5EF4-FFF2-40B4-BE49-F238E27FC236}">
                <a16:creationId xmlns:a16="http://schemas.microsoft.com/office/drawing/2014/main" id="{574F709E-3469-4B96-9864-A887508C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print(a.tags, b.tags)</a:t>
            </a:r>
          </a:p>
        </p:txBody>
      </p:sp>
      <p:sp>
        <p:nvSpPr>
          <p:cNvPr id="15" name="類別層提供共用屬性">
            <a:extLst xmlns:a="http://schemas.openxmlformats.org/drawingml/2006/main">
              <a:ext uri="{FF2B5EF4-FFF2-40B4-BE49-F238E27FC236}">
                <a16:creationId xmlns:a16="http://schemas.microsoft.com/office/drawing/2014/main" id="{0F6CCD07-3E28-473E-8122-AC48136E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クラス側の属性は共通に使う</a:t>
            </a:r>
          </a:p>
        </p:txBody>
      </p:sp>
      <p:sp>
        <p:nvSpPr>
          <p:cNvPr id="16" name="school 定義在類別中。 實例也可建立同名屬性遮蔽它。">
            <a:extLst xmlns:a="http://schemas.openxmlformats.org/drawingml/2006/main">
              <a:ext uri="{FF2B5EF4-FFF2-40B4-BE49-F238E27FC236}">
                <a16:creationId xmlns:a16="http://schemas.microsoft.com/office/drawing/2014/main" id="{C946BF99-7F80-4FA7-A3DE-C4895FF4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school はクラスに定義する。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同名のインスタンス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属性で隠せる。</a:t>
            </a:r>
          </a:p>
        </p:txBody>
      </p:sp>
      <p:sp>
        <p:nvSpPr>
          <p:cNvPr id="17" name="每個實例各自建立 list">
            <a:extLst xmlns:a="http://schemas.openxmlformats.org/drawingml/2006/main">
              <a:ext uri="{FF2B5EF4-FFF2-40B4-BE49-F238E27FC236}">
                <a16:creationId xmlns:a16="http://schemas.microsoft.com/office/drawing/2014/main" id="{80789CCF-C527-4765-9A4D-FDB20E5B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list はインスタンスごとに生成</a:t>
            </a:r>
          </a:p>
        </p:txBody>
      </p:sp>
      <p:sp>
        <p:nvSpPr>
          <p:cNvPr id="18" name="tags 放在 __init__ 內。 放在類別層的 list 會共用。">
            <a:extLst xmlns:a="http://schemas.openxmlformats.org/drawingml/2006/main">
              <a:ext uri="{FF2B5EF4-FFF2-40B4-BE49-F238E27FC236}">
                <a16:creationId xmlns:a16="http://schemas.microsoft.com/office/drawing/2014/main" id="{EE42BE40-E476-4EBF-98BF-B7260C35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tags を __init__ 内で作る。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クラス側の list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は共有される。</a:t>
            </a:r>
          </a:p>
        </p:txBody>
      </p:sp>
      <p:sp>
        <p:nvSpPr>
          <p:cNvPr id="19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037BEA9E-F8BB-403D-9509-23D89037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20" name="YunTech YunTech    ['Python'] []">
            <a:extLst xmlns:a="http://schemas.openxmlformats.org/drawingml/2006/main">
              <a:ext uri="{FF2B5EF4-FFF2-40B4-BE49-F238E27FC236}">
                <a16:creationId xmlns:a16="http://schemas.microsoft.com/office/drawing/2014/main" id="{DF9D25B5-69CE-4EB1-BE3C-81D6584DA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YunTech YunTech    ['Python'] []</a:t>
            </a:r>
          </a:p>
        </p:txBody>
      </p:sp>
    </p:spTree>
    <p:extLst>
      <p:ext uri="{BB962C8B-B14F-4D97-AF65-F5344CB8AC3E}">
        <p14:creationId xmlns:p14="http://schemas.microsoft.com/office/powerpoint/2010/main" val="456730742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繼承、覆寫與 super">
            <a:extLst xmlns:a="http://schemas.openxmlformats.org/drawingml/2006/main">
              <a:ext uri="{FF2B5EF4-FFF2-40B4-BE49-F238E27FC236}">
                <a16:creationId xmlns:a16="http://schemas.microsoft.com/office/drawing/2014/main" id="{DD352D6B-495F-4B97-9DF3-58272F6E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継承、オーバーライドと super</a:t>
            </a:r>
          </a:p>
        </p:txBody>
      </p:sp>
      <p:sp>
        <p:nvSpPr>
          <p:cNvPr id="2" name="類別語法">
            <a:extLst xmlns:a="http://schemas.openxmlformats.org/drawingml/2006/main">
              <a:ext uri="{FF2B5EF4-FFF2-40B4-BE49-F238E27FC236}">
                <a16:creationId xmlns:a16="http://schemas.microsoft.com/office/drawing/2014/main" id="{F2112259-716B-424B-92C0-899153B3C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クラスの文法</a:t>
            </a:r>
          </a:p>
        </p:txBody>
      </p:sp>
      <p:sp>
        <p:nvSpPr>
          <p:cNvPr id="3" name="55">
            <a:extLst xmlns:a="http://schemas.openxmlformats.org/drawingml/2006/main">
              <a:ext uri="{FF2B5EF4-FFF2-40B4-BE49-F238E27FC236}">
                <a16:creationId xmlns:a16="http://schemas.microsoft.com/office/drawing/2014/main" id="{1F3F28C3-9B93-4A4C-B2FC-4AB42C09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55</a:t>
            </a:r>
          </a:p>
        </p:txBody>
      </p:sp>
      <p:sp>
        <p:nvSpPr>
          <p:cNvPr id="4" name="class Animal:">
            <a:extLst xmlns:a="http://schemas.openxmlformats.org/drawingml/2006/main">
              <a:ext uri="{FF2B5EF4-FFF2-40B4-BE49-F238E27FC236}">
                <a16:creationId xmlns:a16="http://schemas.microsoft.com/office/drawing/2014/main" id="{1799009F-51D1-48AC-A90F-47000F6D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Animal:</a:t>
            </a:r>
          </a:p>
        </p:txBody>
      </p:sp>
      <p:sp>
        <p:nvSpPr>
          <p:cNvPr id="5" name="    def speak(self):">
            <a:extLst xmlns:a="http://schemas.openxmlformats.org/drawingml/2006/main">
              <a:ext uri="{FF2B5EF4-FFF2-40B4-BE49-F238E27FC236}">
                <a16:creationId xmlns:a16="http://schemas.microsoft.com/office/drawing/2014/main" id="{75C3C873-1BE7-4677-AFFB-459211D0E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speak(self):</a:t>
            </a:r>
          </a:p>
        </p:txBody>
      </p:sp>
      <p:sp>
        <p:nvSpPr>
          <p:cNvPr id="6" name="        return &quot;sound&quot;">
            <a:extLst xmlns:a="http://schemas.openxmlformats.org/drawingml/2006/main">
              <a:ext uri="{FF2B5EF4-FFF2-40B4-BE49-F238E27FC236}">
                <a16:creationId xmlns:a16="http://schemas.microsoft.com/office/drawing/2014/main" id="{8B649023-F915-493F-951C-4F8C273A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return "sound"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6EDC51-045A-4BF2-B0B2-769C5BEE4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class Dog(Animal):">
            <a:extLst xmlns:a="http://schemas.openxmlformats.org/drawingml/2006/main">
              <a:ext uri="{FF2B5EF4-FFF2-40B4-BE49-F238E27FC236}">
                <a16:creationId xmlns:a16="http://schemas.microsoft.com/office/drawing/2014/main" id="{9BE1FA6B-C38B-4915-B7A1-8EB69E9F9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Dog(Animal):</a:t>
            </a:r>
          </a:p>
        </p:txBody>
      </p:sp>
      <p:sp>
        <p:nvSpPr>
          <p:cNvPr id="9" name="    def speak(self):">
            <a:extLst xmlns:a="http://schemas.openxmlformats.org/drawingml/2006/main">
              <a:ext uri="{FF2B5EF4-FFF2-40B4-BE49-F238E27FC236}">
                <a16:creationId xmlns:a16="http://schemas.microsoft.com/office/drawing/2014/main" id="{CB583B04-798F-412F-AB1C-067111F81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speak(self):</a:t>
            </a:r>
          </a:p>
        </p:txBody>
      </p:sp>
      <p:sp>
        <p:nvSpPr>
          <p:cNvPr id="10" name="        return super().speak() + &quot;: woof&quot;">
            <a:extLst xmlns:a="http://schemas.openxmlformats.org/drawingml/2006/main">
              <a:ext uri="{FF2B5EF4-FFF2-40B4-BE49-F238E27FC236}">
                <a16:creationId xmlns:a16="http://schemas.microsoft.com/office/drawing/2014/main" id="{D33CC3CA-F4AE-4CDC-91E1-56F6D683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return super().speak() + ": woof"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71A7A7-41B1-4071-A68D-2881D3B0C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dog = Dog()">
            <a:extLst xmlns:a="http://schemas.openxmlformats.org/drawingml/2006/main">
              <a:ext uri="{FF2B5EF4-FFF2-40B4-BE49-F238E27FC236}">
                <a16:creationId xmlns:a16="http://schemas.microsoft.com/office/drawing/2014/main" id="{AB59D21D-158C-4CC5-AF86-1BA66E79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dog = Dog()</a:t>
            </a:r>
          </a:p>
        </p:txBody>
      </p:sp>
      <p:sp>
        <p:nvSpPr>
          <p:cNvPr id="13" name="print(dog.speak())">
            <a:extLst xmlns:a="http://schemas.openxmlformats.org/drawingml/2006/main">
              <a:ext uri="{FF2B5EF4-FFF2-40B4-BE49-F238E27FC236}">
                <a16:creationId xmlns:a16="http://schemas.microsoft.com/office/drawing/2014/main" id="{9FA2A500-774F-41AB-8127-8D0E34309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print(dog.speak())</a:t>
            </a:r>
          </a:p>
        </p:txBody>
      </p:sp>
      <p:sp>
        <p:nvSpPr>
          <p:cNvPr id="14" name="print(isinstance(dog, Animal))">
            <a:extLst xmlns:a="http://schemas.openxmlformats.org/drawingml/2006/main">
              <a:ext uri="{FF2B5EF4-FFF2-40B4-BE49-F238E27FC236}">
                <a16:creationId xmlns:a16="http://schemas.microsoft.com/office/drawing/2014/main" id="{E8FBF387-FA69-4043-B42E-36F30FA8A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print(isinstance(dog, Animal))</a:t>
            </a:r>
          </a:p>
        </p:txBody>
      </p:sp>
      <p:sp>
        <p:nvSpPr>
          <p:cNvPr id="15" name="子類別可覆寫方法">
            <a:extLst xmlns:a="http://schemas.openxmlformats.org/drawingml/2006/main">
              <a:ext uri="{FF2B5EF4-FFF2-40B4-BE49-F238E27FC236}">
                <a16:creationId xmlns:a16="http://schemas.microsoft.com/office/drawing/2014/main" id="{A479CA0E-B5E7-4D3E-BD8F-254CF9D20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派生クラスはメソッドを上書き</a:t>
            </a:r>
          </a:p>
        </p:txBody>
      </p:sp>
      <p:sp>
        <p:nvSpPr>
          <p:cNvPr id="16" name="Dog 提供自己的 speak。 isinstance 同時考量基底類別。">
            <a:extLst xmlns:a="http://schemas.openxmlformats.org/drawingml/2006/main">
              <a:ext uri="{FF2B5EF4-FFF2-40B4-BE49-F238E27FC236}">
                <a16:creationId xmlns:a16="http://schemas.microsoft.com/office/drawing/2014/main" id="{500EE32C-EAC0-4935-9C2F-66F4685A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Dog は独自の speak を提供。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isinstance は基底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クラスも考慮する。</a:t>
            </a:r>
          </a:p>
        </p:txBody>
      </p:sp>
      <p:sp>
        <p:nvSpPr>
          <p:cNvPr id="17" name="super 依 MRO 查找">
            <a:extLst xmlns:a="http://schemas.openxmlformats.org/drawingml/2006/main">
              <a:ext uri="{FF2B5EF4-FFF2-40B4-BE49-F238E27FC236}">
                <a16:creationId xmlns:a16="http://schemas.microsoft.com/office/drawing/2014/main" id="{50F1D170-1998-45FA-894D-AFB326D47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super は MRO に従って探索</a:t>
            </a:r>
          </a:p>
        </p:txBody>
      </p:sp>
      <p:sp>
        <p:nvSpPr>
          <p:cNvPr id="18" name="由方法解析順序中的下一站 取得實作，支援合作式繼承。">
            <a:extLst xmlns:a="http://schemas.openxmlformats.org/drawingml/2006/main">
              <a:ext uri="{FF2B5EF4-FFF2-40B4-BE49-F238E27FC236}">
                <a16:creationId xmlns:a16="http://schemas.microsoft.com/office/drawing/2014/main" id="{F44C3E9F-03E0-4FE0-8310-6998AE0B7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メソッド解決順序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の次の実装を取得。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協調的な継承を支える。</a:t>
            </a:r>
          </a:p>
        </p:txBody>
      </p:sp>
      <p:sp>
        <p:nvSpPr>
          <p:cNvPr id="19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C6A861FF-8A9E-432D-B459-795CC7AE0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20" name="sound: woof    True">
            <a:extLst xmlns:a="http://schemas.openxmlformats.org/drawingml/2006/main">
              <a:ext uri="{FF2B5EF4-FFF2-40B4-BE49-F238E27FC236}">
                <a16:creationId xmlns:a16="http://schemas.microsoft.com/office/drawing/2014/main" id="{D9430D54-01CB-46E9-A42B-12B7B3F1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sound: woof    True</a:t>
            </a:r>
          </a:p>
        </p:txBody>
      </p:sp>
    </p:spTree>
    <p:extLst>
      <p:ext uri="{BB962C8B-B14F-4D97-AF65-F5344CB8AC3E}">
        <p14:creationId xmlns:p14="http://schemas.microsoft.com/office/powerpoint/2010/main" val="1374267585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property 與屬性存取">
            <a:extLst xmlns:a="http://schemas.openxmlformats.org/drawingml/2006/main">
              <a:ext uri="{FF2B5EF4-FFF2-40B4-BE49-F238E27FC236}">
                <a16:creationId xmlns:a16="http://schemas.microsoft.com/office/drawing/2014/main" id="{ABBBD90F-CAAB-4381-8235-C69BD9FC9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property と属性アクセス</a:t>
            </a:r>
          </a:p>
        </p:txBody>
      </p:sp>
      <p:sp>
        <p:nvSpPr>
          <p:cNvPr id="2" name="類別語法">
            <a:extLst xmlns:a="http://schemas.openxmlformats.org/drawingml/2006/main">
              <a:ext uri="{FF2B5EF4-FFF2-40B4-BE49-F238E27FC236}">
                <a16:creationId xmlns:a16="http://schemas.microsoft.com/office/drawing/2014/main" id="{DB75C1E0-6ACC-4D8C-984A-3A103A980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クラスの文法</a:t>
            </a:r>
          </a:p>
        </p:txBody>
      </p:sp>
      <p:sp>
        <p:nvSpPr>
          <p:cNvPr id="3" name="56">
            <a:extLst xmlns:a="http://schemas.openxmlformats.org/drawingml/2006/main">
              <a:ext uri="{FF2B5EF4-FFF2-40B4-BE49-F238E27FC236}">
                <a16:creationId xmlns:a16="http://schemas.microsoft.com/office/drawing/2014/main" id="{0DD2448D-8B7B-4CED-9087-6AE2D10CB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56</a:t>
            </a:r>
          </a:p>
        </p:txBody>
      </p:sp>
      <p:sp>
        <p:nvSpPr>
          <p:cNvPr id="4" name="class Box:">
            <a:extLst xmlns:a="http://schemas.openxmlformats.org/drawingml/2006/main">
              <a:ext uri="{FF2B5EF4-FFF2-40B4-BE49-F238E27FC236}">
                <a16:creationId xmlns:a16="http://schemas.microsoft.com/office/drawing/2014/main" id="{3FD449BC-3718-481F-AAB2-BEC8D8D3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Box:</a:t>
            </a:r>
          </a:p>
        </p:txBody>
      </p:sp>
      <p:sp>
        <p:nvSpPr>
          <p:cNvPr id="5" name="    def __init__(self, size):">
            <a:extLst xmlns:a="http://schemas.openxmlformats.org/drawingml/2006/main">
              <a:ext uri="{FF2B5EF4-FFF2-40B4-BE49-F238E27FC236}">
                <a16:creationId xmlns:a16="http://schemas.microsoft.com/office/drawing/2014/main" id="{123C4B6C-D40D-4EB5-800B-FF4DE62FF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98209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__init__(self, size):</a:t>
            </a:r>
          </a:p>
        </p:txBody>
      </p:sp>
      <p:sp>
        <p:nvSpPr>
          <p:cNvPr id="6" name="        self.size = size">
            <a:extLst xmlns:a="http://schemas.openxmlformats.org/drawingml/2006/main">
              <a:ext uri="{FF2B5EF4-FFF2-40B4-BE49-F238E27FC236}">
                <a16:creationId xmlns:a16="http://schemas.microsoft.com/office/drawing/2014/main" id="{507E6098-FDE9-427D-AE82-D5A13DA9B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53343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self.size = size</a:t>
            </a:r>
          </a:p>
        </p:txBody>
      </p:sp>
      <p:sp>
        <p:nvSpPr>
          <p:cNvPr id="7" name="    @property">
            <a:extLst xmlns:a="http://schemas.openxmlformats.org/drawingml/2006/main">
              <a:ext uri="{FF2B5EF4-FFF2-40B4-BE49-F238E27FC236}">
                <a16:creationId xmlns:a16="http://schemas.microsoft.com/office/drawing/2014/main" id="{EF764919-1A54-43C3-8172-3FF287225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08477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@property</a:t>
            </a:r>
          </a:p>
        </p:txBody>
      </p:sp>
      <p:sp>
        <p:nvSpPr>
          <p:cNvPr id="8" name="    def size(self):">
            <a:extLst xmlns:a="http://schemas.openxmlformats.org/drawingml/2006/main">
              <a:ext uri="{FF2B5EF4-FFF2-40B4-BE49-F238E27FC236}">
                <a16:creationId xmlns:a16="http://schemas.microsoft.com/office/drawing/2014/main" id="{0D83F346-C632-466F-A3FA-7E43D1FFE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3611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size(self):</a:t>
            </a:r>
          </a:p>
        </p:txBody>
      </p:sp>
      <p:sp>
        <p:nvSpPr>
          <p:cNvPr id="9" name="        return self._size">
            <a:extLst xmlns:a="http://schemas.openxmlformats.org/drawingml/2006/main">
              <a:ext uri="{FF2B5EF4-FFF2-40B4-BE49-F238E27FC236}">
                <a16:creationId xmlns:a16="http://schemas.microsoft.com/office/drawing/2014/main" id="{A8B0FAE7-724A-42B1-A43B-8E32B2D2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8745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return self._size</a:t>
            </a:r>
          </a:p>
        </p:txBody>
      </p:sp>
      <p:sp>
        <p:nvSpPr>
          <p:cNvPr id="10" name="    @size.setter">
            <a:extLst xmlns:a="http://schemas.openxmlformats.org/drawingml/2006/main">
              <a:ext uri="{FF2B5EF4-FFF2-40B4-BE49-F238E27FC236}">
                <a16:creationId xmlns:a16="http://schemas.microsoft.com/office/drawing/2014/main" id="{55DAFD4C-786E-47B5-83A9-47A5B7FA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73879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@size.setter</a:t>
            </a:r>
          </a:p>
        </p:txBody>
      </p:sp>
      <p:sp>
        <p:nvSpPr>
          <p:cNvPr id="11" name="    def size(self, value):">
            <a:extLst xmlns:a="http://schemas.openxmlformats.org/drawingml/2006/main">
              <a:ext uri="{FF2B5EF4-FFF2-40B4-BE49-F238E27FC236}">
                <a16:creationId xmlns:a16="http://schemas.microsoft.com/office/drawing/2014/main" id="{4D82EAE5-468D-4298-B70B-65D80DF20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9013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size(self, value):</a:t>
            </a:r>
          </a:p>
        </p:txBody>
      </p:sp>
      <p:sp>
        <p:nvSpPr>
          <p:cNvPr id="12" name="        if value &lt; 0:">
            <a:extLst xmlns:a="http://schemas.openxmlformats.org/drawingml/2006/main">
              <a:ext uri="{FF2B5EF4-FFF2-40B4-BE49-F238E27FC236}">
                <a16:creationId xmlns:a16="http://schemas.microsoft.com/office/drawing/2014/main" id="{57EE017F-6ABD-49A9-9D96-B5A69C18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4146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if value &lt; 0:</a:t>
            </a:r>
          </a:p>
        </p:txBody>
      </p:sp>
      <p:sp>
        <p:nvSpPr>
          <p:cNvPr id="13" name="            raise ValueError(&quot;Negative size&quot;)">
            <a:extLst xmlns:a="http://schemas.openxmlformats.org/drawingml/2006/main">
              <a:ext uri="{FF2B5EF4-FFF2-40B4-BE49-F238E27FC236}">
                <a16:creationId xmlns:a16="http://schemas.microsoft.com/office/drawing/2014/main" id="{DB43FB9E-083A-4006-B6C0-45C45FC9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9280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    raise ValueError("Negative size")</a:t>
            </a:r>
          </a:p>
        </p:txBody>
      </p:sp>
      <p:sp>
        <p:nvSpPr>
          <p:cNvPr id="14" name="        self._size = value">
            <a:extLst xmlns:a="http://schemas.openxmlformats.org/drawingml/2006/main">
              <a:ext uri="{FF2B5EF4-FFF2-40B4-BE49-F238E27FC236}">
                <a16:creationId xmlns:a16="http://schemas.microsoft.com/office/drawing/2014/main" id="{3F50719B-17EF-4F82-BED6-0093AB290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4414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self._size = value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32F054-5502-4D77-818F-704E6F21B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49548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box = Box(3)">
            <a:extLst xmlns:a="http://schemas.openxmlformats.org/drawingml/2006/main">
              <a:ext uri="{FF2B5EF4-FFF2-40B4-BE49-F238E27FC236}">
                <a16:creationId xmlns:a16="http://schemas.microsoft.com/office/drawing/2014/main" id="{E9F2AC6B-E140-452F-AFBF-E0F0E9B4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4682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box = Box(3)</a:t>
            </a:r>
          </a:p>
        </p:txBody>
      </p:sp>
      <p:sp>
        <p:nvSpPr>
          <p:cNvPr id="17" name="print(box.size)">
            <a:extLst xmlns:a="http://schemas.openxmlformats.org/drawingml/2006/main">
              <a:ext uri="{FF2B5EF4-FFF2-40B4-BE49-F238E27FC236}">
                <a16:creationId xmlns:a16="http://schemas.microsoft.com/office/drawing/2014/main" id="{D7F8AE7C-F131-4085-B8C4-BB985FF0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9816"/>
            <a:ext cx="7391400" cy="3122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7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print(box.size)</a:t>
            </a:r>
          </a:p>
        </p:txBody>
      </p:sp>
      <p:sp>
        <p:nvSpPr>
          <p:cNvPr id="18" name="以屬性語法呼叫方法">
            <a:extLst xmlns:a="http://schemas.openxmlformats.org/drawingml/2006/main">
              <a:ext uri="{FF2B5EF4-FFF2-40B4-BE49-F238E27FC236}">
                <a16:creationId xmlns:a16="http://schemas.microsoft.com/office/drawing/2014/main" id="{421A3B25-9F34-4AB6-A72A-7E5A28B4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属性の構文でメソッドを呼ぶ</a:t>
            </a:r>
          </a:p>
        </p:txBody>
      </p:sp>
      <p:sp>
        <p:nvSpPr>
          <p:cNvPr id="19" name="讀取 size 執行 getter。 指定 size 執行 setter。">
            <a:extLst xmlns:a="http://schemas.openxmlformats.org/drawingml/2006/main">
              <a:ext uri="{FF2B5EF4-FFF2-40B4-BE49-F238E27FC236}">
                <a16:creationId xmlns:a16="http://schemas.microsoft.com/office/drawing/2014/main" id="{380BB6D3-D393-4950-906A-8E134FA4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size の読み取りは getter。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size への代入は setter。</a:t>
            </a:r>
          </a:p>
        </p:txBody>
      </p:sp>
      <p:sp>
        <p:nvSpPr>
          <p:cNvPr id="20" name="底線是使用慣例">
            <a:extLst xmlns:a="http://schemas.openxmlformats.org/drawingml/2006/main">
              <a:ext uri="{FF2B5EF4-FFF2-40B4-BE49-F238E27FC236}">
                <a16:creationId xmlns:a16="http://schemas.microsoft.com/office/drawing/2014/main" id="{5CDC5F41-8CE8-4B0E-B1B2-614E495EF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アンダースコアは慣例</a:t>
            </a:r>
          </a:p>
        </p:txBody>
      </p:sp>
      <p:sp>
        <p:nvSpPr>
          <p:cNvPr id="21" name="_size 表示內部使用。 雙底線名稱會名稱改寫， 並非安全存取控制。">
            <a:extLst xmlns:a="http://schemas.openxmlformats.org/drawingml/2006/main">
              <a:ext uri="{FF2B5EF4-FFF2-40B4-BE49-F238E27FC236}">
                <a16:creationId xmlns:a16="http://schemas.microsoft.com/office/drawing/2014/main" id="{80492C6F-35E5-425B-91ED-6961D5D5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_size は内部用を示す。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二重下線は名前マングリング。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安全なアクセス制御ではない。</a:t>
            </a:r>
          </a:p>
        </p:txBody>
      </p:sp>
      <p:sp>
        <p:nvSpPr>
          <p:cNvPr id="22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BF9EBEC3-C8E8-45FD-A521-FD2BBD17C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23" name="3">
            <a:extLst xmlns:a="http://schemas.openxmlformats.org/drawingml/2006/main">
              <a:ext uri="{FF2B5EF4-FFF2-40B4-BE49-F238E27FC236}">
                <a16:creationId xmlns:a16="http://schemas.microsoft.com/office/drawing/2014/main" id="{3AD1DAC2-7730-4F62-917C-02BD1085E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2258202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classmethod 與 staticmethod">
            <a:extLst xmlns:a="http://schemas.openxmlformats.org/drawingml/2006/main">
              <a:ext uri="{FF2B5EF4-FFF2-40B4-BE49-F238E27FC236}">
                <a16:creationId xmlns:a16="http://schemas.microsoft.com/office/drawing/2014/main" id="{AFA7B003-B4E8-4750-8410-14B96B73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classmethod と staticmethod</a:t>
            </a:r>
          </a:p>
        </p:txBody>
      </p:sp>
      <p:sp>
        <p:nvSpPr>
          <p:cNvPr id="2" name="類別語法">
            <a:extLst xmlns:a="http://schemas.openxmlformats.org/drawingml/2006/main">
              <a:ext uri="{FF2B5EF4-FFF2-40B4-BE49-F238E27FC236}">
                <a16:creationId xmlns:a16="http://schemas.microsoft.com/office/drawing/2014/main" id="{B0AA82FC-96E6-4394-87B3-333039D6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クラスの文法</a:t>
            </a:r>
          </a:p>
        </p:txBody>
      </p:sp>
      <p:sp>
        <p:nvSpPr>
          <p:cNvPr id="3" name="57">
            <a:extLst xmlns:a="http://schemas.openxmlformats.org/drawingml/2006/main">
              <a:ext uri="{FF2B5EF4-FFF2-40B4-BE49-F238E27FC236}">
                <a16:creationId xmlns:a16="http://schemas.microsoft.com/office/drawing/2014/main" id="{B51D2863-040C-4A19-8FAF-A8E34D68A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57</a:t>
            </a:r>
          </a:p>
        </p:txBody>
      </p:sp>
      <p:sp>
        <p:nvSpPr>
          <p:cNvPr id="4" name="class Label:">
            <a:extLst xmlns:a="http://schemas.openxmlformats.org/drawingml/2006/main">
              <a:ext uri="{FF2B5EF4-FFF2-40B4-BE49-F238E27FC236}">
                <a16:creationId xmlns:a16="http://schemas.microsoft.com/office/drawing/2014/main" id="{FA094D7C-D260-4AAB-B658-823B4C9A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class Label:</a:t>
            </a:r>
          </a:p>
        </p:txBody>
      </p:sp>
      <p:sp>
        <p:nvSpPr>
          <p:cNvPr id="5" name="    def __init__(self, text):">
            <a:extLst xmlns:a="http://schemas.openxmlformats.org/drawingml/2006/main">
              <a:ext uri="{FF2B5EF4-FFF2-40B4-BE49-F238E27FC236}">
                <a16:creationId xmlns:a16="http://schemas.microsoft.com/office/drawing/2014/main" id="{5A0D4B07-3D19-4999-ABD4-DEBB4B5F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7835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def __init__(self, text):</a:t>
            </a:r>
          </a:p>
        </p:txBody>
      </p:sp>
      <p:sp>
        <p:nvSpPr>
          <p:cNvPr id="6" name="        self.text = text">
            <a:extLst xmlns:a="http://schemas.openxmlformats.org/drawingml/2006/main">
              <a:ext uri="{FF2B5EF4-FFF2-40B4-BE49-F238E27FC236}">
                <a16:creationId xmlns:a16="http://schemas.microsoft.com/office/drawing/2014/main" id="{DD327323-2240-4CF7-85D9-7BB98AD8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2594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self.text = text</a:t>
            </a:r>
          </a:p>
        </p:txBody>
      </p:sp>
      <p:sp>
        <p:nvSpPr>
          <p:cNvPr id="7" name="    @classmethod">
            <a:extLst xmlns:a="http://schemas.openxmlformats.org/drawingml/2006/main">
              <a:ext uri="{FF2B5EF4-FFF2-40B4-BE49-F238E27FC236}">
                <a16:creationId xmlns:a16="http://schemas.microsoft.com/office/drawing/2014/main" id="{8D3A6A5F-55D3-4434-B720-4F3A012A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7354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@classmethod</a:t>
            </a:r>
          </a:p>
        </p:txBody>
      </p:sp>
      <p:sp>
        <p:nvSpPr>
          <p:cNvPr id="8" name="    def from_number(cls, n):">
            <a:extLst xmlns:a="http://schemas.openxmlformats.org/drawingml/2006/main">
              <a:ext uri="{FF2B5EF4-FFF2-40B4-BE49-F238E27FC236}">
                <a16:creationId xmlns:a16="http://schemas.microsoft.com/office/drawing/2014/main" id="{43F7FDDA-C828-437C-ABBC-07F685B0D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2113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def from_number(cls, n):</a:t>
            </a:r>
          </a:p>
        </p:txBody>
      </p:sp>
      <p:sp>
        <p:nvSpPr>
          <p:cNvPr id="9" name="        return cls(str(n))">
            <a:extLst xmlns:a="http://schemas.openxmlformats.org/drawingml/2006/main">
              <a:ext uri="{FF2B5EF4-FFF2-40B4-BE49-F238E27FC236}">
                <a16:creationId xmlns:a16="http://schemas.microsoft.com/office/drawing/2014/main" id="{0EA6D9EA-3BE2-4EF4-A7F1-E8EB33E73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6873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return cls(str(n))</a:t>
            </a:r>
          </a:p>
        </p:txBody>
      </p:sp>
      <p:sp>
        <p:nvSpPr>
          <p:cNvPr id="10" name="    @staticmethod">
            <a:extLst xmlns:a="http://schemas.openxmlformats.org/drawingml/2006/main">
              <a:ext uri="{FF2B5EF4-FFF2-40B4-BE49-F238E27FC236}">
                <a16:creationId xmlns:a16="http://schemas.microsoft.com/office/drawing/2014/main" id="{571FECC2-B8DD-4B20-9B13-F0552E90A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1633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@staticmethod</a:t>
            </a:r>
          </a:p>
        </p:txBody>
      </p:sp>
      <p:sp>
        <p:nvSpPr>
          <p:cNvPr id="11" name="    def valid(text):">
            <a:extLst xmlns:a="http://schemas.openxmlformats.org/drawingml/2006/main">
              <a:ext uri="{FF2B5EF4-FFF2-40B4-BE49-F238E27FC236}">
                <a16:creationId xmlns:a16="http://schemas.microsoft.com/office/drawing/2014/main" id="{BC99767A-55E6-489D-A850-FB95928C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6392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def valid(text):</a:t>
            </a:r>
          </a:p>
        </p:txBody>
      </p:sp>
      <p:sp>
        <p:nvSpPr>
          <p:cNvPr id="12" name="        return bool(text.strip())">
            <a:extLst xmlns:a="http://schemas.openxmlformats.org/drawingml/2006/main">
              <a:ext uri="{FF2B5EF4-FFF2-40B4-BE49-F238E27FC236}">
                <a16:creationId xmlns:a16="http://schemas.microsoft.com/office/drawing/2014/main" id="{2FCE5A94-75FE-4146-9095-B8C7B23DC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1152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    return bool(text.strip())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F743DC-D669-4580-9C39-AC4915D30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5912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item = Label.from_number(42)">
            <a:extLst xmlns:a="http://schemas.openxmlformats.org/drawingml/2006/main">
              <a:ext uri="{FF2B5EF4-FFF2-40B4-BE49-F238E27FC236}">
                <a16:creationId xmlns:a16="http://schemas.microsoft.com/office/drawing/2014/main" id="{48727422-2355-41B3-847D-5A1FCBC3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0671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item = Label.from_number(42)</a:t>
            </a:r>
          </a:p>
        </p:txBody>
      </p:sp>
      <p:sp>
        <p:nvSpPr>
          <p:cNvPr id="15" name="print(item.text)">
            <a:extLst xmlns:a="http://schemas.openxmlformats.org/drawingml/2006/main">
              <a:ext uri="{FF2B5EF4-FFF2-40B4-BE49-F238E27FC236}">
                <a16:creationId xmlns:a16="http://schemas.microsoft.com/office/drawing/2014/main" id="{F98FDFB8-BD25-4A16-B324-0C32D986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5431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print(item.text)</a:t>
            </a:r>
          </a:p>
        </p:txBody>
      </p:sp>
      <p:sp>
        <p:nvSpPr>
          <p:cNvPr id="16" name="print(Label.valid(&quot; &quot;))">
            <a:extLst xmlns:a="http://schemas.openxmlformats.org/drawingml/2006/main">
              <a:ext uri="{FF2B5EF4-FFF2-40B4-BE49-F238E27FC236}">
                <a16:creationId xmlns:a16="http://schemas.microsoft.com/office/drawing/2014/main" id="{68FF5DF8-53FB-47D6-B2F7-429AB4A49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0190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print(Label.valid(" "))</a:t>
            </a:r>
          </a:p>
        </p:txBody>
      </p:sp>
      <p:sp>
        <p:nvSpPr>
          <p:cNvPr id="17" name="classmethod 接收 cls">
            <a:extLst xmlns:a="http://schemas.openxmlformats.org/drawingml/2006/main">
              <a:ext uri="{FF2B5EF4-FFF2-40B4-BE49-F238E27FC236}">
                <a16:creationId xmlns:a16="http://schemas.microsoft.com/office/drawing/2014/main" id="{8234DEFA-CBDE-4C0B-974E-20DA0D07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classmethod は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cls を受け取る</a:t>
            </a:r>
          </a:p>
        </p:txBody>
      </p:sp>
      <p:sp>
        <p:nvSpPr>
          <p:cNvPr id="18" name="cls 是實際呼叫所屬的類別。 常用於替代建構方式。">
            <a:extLst xmlns:a="http://schemas.openxmlformats.org/drawingml/2006/main">
              <a:ext uri="{FF2B5EF4-FFF2-40B4-BE49-F238E27FC236}">
                <a16:creationId xmlns:a16="http://schemas.microsoft.com/office/drawing/2014/main" id="{C9515C1E-DD3C-48D3-B75B-15BC67420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cls は呼び出し元のクラス。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別形式の生成処理によく使う。</a:t>
            </a:r>
          </a:p>
        </p:txBody>
      </p:sp>
      <p:sp>
        <p:nvSpPr>
          <p:cNvPr id="19" name="staticmethod 不自動繫結">
            <a:extLst xmlns:a="http://schemas.openxmlformats.org/drawingml/2006/main">
              <a:ext uri="{FF2B5EF4-FFF2-40B4-BE49-F238E27FC236}">
                <a16:creationId xmlns:a16="http://schemas.microsoft.com/office/drawing/2014/main" id="{B7DF7482-D1E9-4EE3-AFEB-0FA9A2F1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staticmethod は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自動束縛しない</a:t>
            </a:r>
          </a:p>
        </p:txBody>
      </p:sp>
      <p:sp>
        <p:nvSpPr>
          <p:cNvPr id="20" name="不會自動收到 self 或 cls。 參數完全由呼叫端提供。">
            <a:extLst xmlns:a="http://schemas.openxmlformats.org/drawingml/2006/main">
              <a:ext uri="{FF2B5EF4-FFF2-40B4-BE49-F238E27FC236}">
                <a16:creationId xmlns:a16="http://schemas.microsoft.com/office/drawing/2014/main" id="{A1ECB775-AF61-49FB-92A1-1A64F15D8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self も cls 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自動では渡らない。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引数はすべて呼び出し側が指定。</a:t>
            </a:r>
          </a:p>
        </p:txBody>
      </p:sp>
      <p:sp>
        <p:nvSpPr>
          <p:cNvPr id="21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EF6486C4-D699-4DAE-8B36-E4A2A567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22" name="42    False">
            <a:extLst xmlns:a="http://schemas.openxmlformats.org/drawingml/2006/main">
              <a:ext uri="{FF2B5EF4-FFF2-40B4-BE49-F238E27FC236}">
                <a16:creationId xmlns:a16="http://schemas.microsoft.com/office/drawing/2014/main" id="{9D2D10AD-CCB8-4FE0-81E1-B7286CC5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42    False</a:t>
            </a:r>
          </a:p>
        </p:txBody>
      </p:sp>
    </p:spTree>
    <p:extLst>
      <p:ext uri="{BB962C8B-B14F-4D97-AF65-F5344CB8AC3E}">
        <p14:creationId xmlns:p14="http://schemas.microsoft.com/office/powerpoint/2010/main" val="999029210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特殊方法與內建操作">
            <a:extLst xmlns:a="http://schemas.openxmlformats.org/drawingml/2006/main">
              <a:ext uri="{FF2B5EF4-FFF2-40B4-BE49-F238E27FC236}">
                <a16:creationId xmlns:a16="http://schemas.microsoft.com/office/drawing/2014/main" id="{F000143D-E918-46A9-826F-9B6696F41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特殊メソッドと組み込み操作</a:t>
            </a:r>
          </a:p>
        </p:txBody>
      </p:sp>
      <p:sp>
        <p:nvSpPr>
          <p:cNvPr id="2" name="類別語法">
            <a:extLst xmlns:a="http://schemas.openxmlformats.org/drawingml/2006/main">
              <a:ext uri="{FF2B5EF4-FFF2-40B4-BE49-F238E27FC236}">
                <a16:creationId xmlns:a16="http://schemas.microsoft.com/office/drawing/2014/main" id="{DBE71C53-0B8E-465A-A62C-8B5CCE21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クラスの文法</a:t>
            </a:r>
          </a:p>
        </p:txBody>
      </p:sp>
      <p:sp>
        <p:nvSpPr>
          <p:cNvPr id="3" name="58">
            <a:extLst xmlns:a="http://schemas.openxmlformats.org/drawingml/2006/main">
              <a:ext uri="{FF2B5EF4-FFF2-40B4-BE49-F238E27FC236}">
                <a16:creationId xmlns:a16="http://schemas.microsoft.com/office/drawing/2014/main" id="{A57DE9EC-D799-4B13-98F3-F4184D90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58</a:t>
            </a:r>
          </a:p>
        </p:txBody>
      </p:sp>
      <p:sp>
        <p:nvSpPr>
          <p:cNvPr id="4" name="class Bag:">
            <a:extLst xmlns:a="http://schemas.openxmlformats.org/drawingml/2006/main">
              <a:ext uri="{FF2B5EF4-FFF2-40B4-BE49-F238E27FC236}">
                <a16:creationId xmlns:a16="http://schemas.microsoft.com/office/drawing/2014/main" id="{B0E5197E-264F-4008-A96F-99FDE96E7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Bag:</a:t>
            </a:r>
          </a:p>
        </p:txBody>
      </p:sp>
      <p:sp>
        <p:nvSpPr>
          <p:cNvPr id="5" name="    def __init__(self, items):">
            <a:extLst xmlns:a="http://schemas.openxmlformats.org/drawingml/2006/main">
              <a:ext uri="{FF2B5EF4-FFF2-40B4-BE49-F238E27FC236}">
                <a16:creationId xmlns:a16="http://schemas.microsoft.com/office/drawing/2014/main" id="{1465C5D2-E385-4B26-AF17-4E09B635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7835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__init__(self, items):</a:t>
            </a:r>
          </a:p>
        </p:txBody>
      </p:sp>
      <p:sp>
        <p:nvSpPr>
          <p:cNvPr id="6" name="        self.items = list(items)">
            <a:extLst xmlns:a="http://schemas.openxmlformats.org/drawingml/2006/main">
              <a:ext uri="{FF2B5EF4-FFF2-40B4-BE49-F238E27FC236}">
                <a16:creationId xmlns:a16="http://schemas.microsoft.com/office/drawing/2014/main" id="{C929F34B-D8FF-4E6F-9EE6-DB87F70E1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2594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self.items = list(items)</a:t>
            </a:r>
          </a:p>
        </p:txBody>
      </p:sp>
      <p:sp>
        <p:nvSpPr>
          <p:cNvPr id="7" name="    def __len__(self):">
            <a:extLst xmlns:a="http://schemas.openxmlformats.org/drawingml/2006/main">
              <a:ext uri="{FF2B5EF4-FFF2-40B4-BE49-F238E27FC236}">
                <a16:creationId xmlns:a16="http://schemas.microsoft.com/office/drawing/2014/main" id="{11ECCBAA-0A05-4B99-A8A7-8B5934771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7354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__len__(self):</a:t>
            </a:r>
          </a:p>
        </p:txBody>
      </p:sp>
      <p:sp>
        <p:nvSpPr>
          <p:cNvPr id="8" name="        return len(self.items)">
            <a:extLst xmlns:a="http://schemas.openxmlformats.org/drawingml/2006/main">
              <a:ext uri="{FF2B5EF4-FFF2-40B4-BE49-F238E27FC236}">
                <a16:creationId xmlns:a16="http://schemas.microsoft.com/office/drawing/2014/main" id="{1D21FDEC-1BDC-4B9A-AD8A-1CD66E080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2113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return len(self.items)</a:t>
            </a:r>
          </a:p>
        </p:txBody>
      </p:sp>
      <p:sp>
        <p:nvSpPr>
          <p:cNvPr id="9" name="    def __repr__(self):">
            <a:extLst xmlns:a="http://schemas.openxmlformats.org/drawingml/2006/main">
              <a:ext uri="{FF2B5EF4-FFF2-40B4-BE49-F238E27FC236}">
                <a16:creationId xmlns:a16="http://schemas.microsoft.com/office/drawing/2014/main" id="{35D8C95E-8A09-4530-AA1A-E651412BC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16873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__repr__(self):</a:t>
            </a:r>
          </a:p>
        </p:txBody>
      </p:sp>
      <p:sp>
        <p:nvSpPr>
          <p:cNvPr id="10" name="        return f&quot;Bag({self.items!r})&quot;">
            <a:extLst xmlns:a="http://schemas.openxmlformats.org/drawingml/2006/main">
              <a:ext uri="{FF2B5EF4-FFF2-40B4-BE49-F238E27FC236}">
                <a16:creationId xmlns:a16="http://schemas.microsoft.com/office/drawing/2014/main" id="{54D63BB8-8474-452F-88D5-328D7275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1633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return f"Bag({self.items!r})"</a:t>
            </a:r>
          </a:p>
        </p:txBody>
      </p:sp>
      <p:sp>
        <p:nvSpPr>
          <p:cNvPr id="11" name="    def __str__(self):">
            <a:extLst xmlns:a="http://schemas.openxmlformats.org/drawingml/2006/main">
              <a:ext uri="{FF2B5EF4-FFF2-40B4-BE49-F238E27FC236}">
                <a16:creationId xmlns:a16="http://schemas.microsoft.com/office/drawing/2014/main" id="{A3C512E2-FEDB-49A7-AC8B-EF2BF8C10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6392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def __str__(self):</a:t>
            </a:r>
          </a:p>
        </p:txBody>
      </p:sp>
      <p:sp>
        <p:nvSpPr>
          <p:cNvPr id="12" name="        return f&quot;{len(self)} items&quot;">
            <a:extLst xmlns:a="http://schemas.openxmlformats.org/drawingml/2006/main">
              <a:ext uri="{FF2B5EF4-FFF2-40B4-BE49-F238E27FC236}">
                <a16:creationId xmlns:a16="http://schemas.microsoft.com/office/drawing/2014/main" id="{905D0A0C-98D3-430F-8516-48DAB2319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1152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return f"{len(self)} items"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43C5E7-F9BE-4D27-88EF-1845FB01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5912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bag = Bag([1, 2])">
            <a:extLst xmlns:a="http://schemas.openxmlformats.org/drawingml/2006/main">
              <a:ext uri="{FF2B5EF4-FFF2-40B4-BE49-F238E27FC236}">
                <a16:creationId xmlns:a16="http://schemas.microsoft.com/office/drawing/2014/main" id="{7A97D22A-7056-425A-891D-652D5323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90671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bag = Bag([1, 2])</a:t>
            </a:r>
          </a:p>
        </p:txBody>
      </p:sp>
      <p:sp>
        <p:nvSpPr>
          <p:cNvPr id="15" name="print(len(bag), str(bag))">
            <a:extLst xmlns:a="http://schemas.openxmlformats.org/drawingml/2006/main">
              <a:ext uri="{FF2B5EF4-FFF2-40B4-BE49-F238E27FC236}">
                <a16:creationId xmlns:a16="http://schemas.microsoft.com/office/drawing/2014/main" id="{30E07200-DDE2-417D-A50B-782CFCFB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5431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print(len(bag), str(bag))</a:t>
            </a:r>
          </a:p>
        </p:txBody>
      </p:sp>
      <p:sp>
        <p:nvSpPr>
          <p:cNvPr id="16" name="print(repr(bag))">
            <a:extLst xmlns:a="http://schemas.openxmlformats.org/drawingml/2006/main">
              <a:ext uri="{FF2B5EF4-FFF2-40B4-BE49-F238E27FC236}">
                <a16:creationId xmlns:a16="http://schemas.microsoft.com/office/drawing/2014/main" id="{F5C91FB1-A259-4F98-AE1E-B56A2177C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0190"/>
            <a:ext cx="7391400" cy="3319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print(repr(bag))</a:t>
            </a:r>
          </a:p>
        </p:txBody>
      </p:sp>
      <p:sp>
        <p:nvSpPr>
          <p:cNvPr id="17" name="內建操作使用協定">
            <a:extLst xmlns:a="http://schemas.openxmlformats.org/drawingml/2006/main">
              <a:ext uri="{FF2B5EF4-FFF2-40B4-BE49-F238E27FC236}">
                <a16:creationId xmlns:a16="http://schemas.microsoft.com/office/drawing/2014/main" id="{250F8C7B-D504-4457-853D-397C9973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組み込み操作は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プロトコルを使う</a:t>
            </a:r>
          </a:p>
        </p:txBody>
      </p:sp>
      <p:sp>
        <p:nvSpPr>
          <p:cNvPr id="18" name="len 對應 __len__。 str 對應 __str__。">
            <a:extLst xmlns:a="http://schemas.openxmlformats.org/drawingml/2006/main">
              <a:ext uri="{FF2B5EF4-FFF2-40B4-BE49-F238E27FC236}">
                <a16:creationId xmlns:a16="http://schemas.microsoft.com/office/drawing/2014/main" id="{A8FF7EA1-113A-4957-9250-87F2A3CE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len は __len__。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str は __str__ に対応。</a:t>
            </a:r>
          </a:p>
        </p:txBody>
      </p:sp>
      <p:sp>
        <p:nvSpPr>
          <p:cNvPr id="19" name="repr 表示物件資訊">
            <a:extLst xmlns:a="http://schemas.openxmlformats.org/drawingml/2006/main">
              <a:ext uri="{FF2B5EF4-FFF2-40B4-BE49-F238E27FC236}">
                <a16:creationId xmlns:a16="http://schemas.microsoft.com/office/drawing/2014/main" id="{75926D66-239D-4267-A737-56DFDEC21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repr はオブジェクトを表現</a:t>
            </a:r>
          </a:p>
        </p:txBody>
      </p:sp>
      <p:sp>
        <p:nvSpPr>
          <p:cNvPr id="20" name="__repr__ 常供檢查與除錯。 運算子、索引、迭代也有協定。">
            <a:extLst xmlns:a="http://schemas.openxmlformats.org/drawingml/2006/main">
              <a:ext uri="{FF2B5EF4-FFF2-40B4-BE49-F238E27FC236}">
                <a16:creationId xmlns:a16="http://schemas.microsoft.com/office/drawing/2014/main" id="{67D3383C-B4BC-4311-9FB0-23F4179F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__repr__ は調査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やデバッグ向け。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演算子、添字、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反復にも規約がある。</a:t>
            </a:r>
          </a:p>
        </p:txBody>
      </p:sp>
      <p:sp>
        <p:nvSpPr>
          <p:cNvPr id="21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E50CB479-E06B-4AD7-B805-FBA8CB662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22" name="2 2 items    Bag([1, 2])">
            <a:extLst xmlns:a="http://schemas.openxmlformats.org/drawingml/2006/main">
              <a:ext uri="{FF2B5EF4-FFF2-40B4-BE49-F238E27FC236}">
                <a16:creationId xmlns:a16="http://schemas.microsoft.com/office/drawing/2014/main" id="{C1F3AF8D-C589-44F7-87EC-AAB993721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2 2 items    Bag([1, 2])</a:t>
            </a:r>
          </a:p>
        </p:txBody>
      </p:sp>
    </p:spTree>
    <p:extLst>
      <p:ext uri="{BB962C8B-B14F-4D97-AF65-F5344CB8AC3E}">
        <p14:creationId xmlns:p14="http://schemas.microsoft.com/office/powerpoint/2010/main" val="432349259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dataclass 的資料欄位">
            <a:extLst xmlns:a="http://schemas.openxmlformats.org/drawingml/2006/main">
              <a:ext uri="{FF2B5EF4-FFF2-40B4-BE49-F238E27FC236}">
                <a16:creationId xmlns:a16="http://schemas.microsoft.com/office/drawing/2014/main" id="{188B2EEB-7004-4C89-9134-A649B1751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dataclass のデータフィールド</a:t>
            </a:r>
          </a:p>
        </p:txBody>
      </p:sp>
      <p:sp>
        <p:nvSpPr>
          <p:cNvPr id="2" name="類別語法">
            <a:extLst xmlns:a="http://schemas.openxmlformats.org/drawingml/2006/main">
              <a:ext uri="{FF2B5EF4-FFF2-40B4-BE49-F238E27FC236}">
                <a16:creationId xmlns:a16="http://schemas.microsoft.com/office/drawing/2014/main" id="{9BE838D7-1B38-4859-AAE9-B28C39CF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クラスの文法</a:t>
            </a:r>
          </a:p>
        </p:txBody>
      </p:sp>
      <p:sp>
        <p:nvSpPr>
          <p:cNvPr id="3" name="59">
            <a:extLst xmlns:a="http://schemas.openxmlformats.org/drawingml/2006/main">
              <a:ext uri="{FF2B5EF4-FFF2-40B4-BE49-F238E27FC236}">
                <a16:creationId xmlns:a16="http://schemas.microsoft.com/office/drawing/2014/main" id="{17AA7DCA-87FF-4ED2-AB84-33F19E96A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59</a:t>
            </a:r>
          </a:p>
        </p:txBody>
      </p:sp>
      <p:sp>
        <p:nvSpPr>
          <p:cNvPr id="4" name="from dataclasses import dataclass, field">
            <a:extLst xmlns:a="http://schemas.openxmlformats.org/drawingml/2006/main">
              <a:ext uri="{FF2B5EF4-FFF2-40B4-BE49-F238E27FC236}">
                <a16:creationId xmlns:a16="http://schemas.microsoft.com/office/drawing/2014/main" id="{89AA432E-4DA2-4043-93FE-C65AC69BD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from dataclasses import dataclass, field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D59D2E-5FCB-4784-9C61-EA789ED8A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@dataclass">
            <a:extLst xmlns:a="http://schemas.openxmlformats.org/drawingml/2006/main">
              <a:ext uri="{FF2B5EF4-FFF2-40B4-BE49-F238E27FC236}">
                <a16:creationId xmlns:a16="http://schemas.microsoft.com/office/drawing/2014/main" id="{76869311-BAFA-42F3-8EC5-723BF82B2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@dataclass</a:t>
            </a:r>
          </a:p>
        </p:txBody>
      </p:sp>
      <p:sp>
        <p:nvSpPr>
          <p:cNvPr id="7" name="class Student:">
            <a:extLst xmlns:a="http://schemas.openxmlformats.org/drawingml/2006/main">
              <a:ext uri="{FF2B5EF4-FFF2-40B4-BE49-F238E27FC236}">
                <a16:creationId xmlns:a16="http://schemas.microsoft.com/office/drawing/2014/main" id="{980D8C42-1052-4257-8366-BB8AF83D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class Student:</a:t>
            </a:r>
          </a:p>
        </p:txBody>
      </p:sp>
      <p:sp>
        <p:nvSpPr>
          <p:cNvPr id="8" name="    name: str">
            <a:extLst xmlns:a="http://schemas.openxmlformats.org/drawingml/2006/main">
              <a:ext uri="{FF2B5EF4-FFF2-40B4-BE49-F238E27FC236}">
                <a16:creationId xmlns:a16="http://schemas.microsoft.com/office/drawing/2014/main" id="{D7A96F7E-002F-4B82-B61B-BFFC8ECFF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name: str</a:t>
            </a:r>
          </a:p>
        </p:txBody>
      </p:sp>
      <p:sp>
        <p:nvSpPr>
          <p:cNvPr id="9" name="    scores: list[int] = field(default_factory=list)">
            <a:extLst xmlns:a="http://schemas.openxmlformats.org/drawingml/2006/main">
              <a:ext uri="{FF2B5EF4-FFF2-40B4-BE49-F238E27FC236}">
                <a16:creationId xmlns:a16="http://schemas.microsoft.com/office/drawing/2014/main" id="{E42F66E4-017F-47B2-89BD-72C4C5EFF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scores: list[int] = field(default_factory=list)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33B0FF-3129-405F-BB70-CAFA46DA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a = Student(&quot;Amy&quot;)">
            <a:extLst xmlns:a="http://schemas.openxmlformats.org/drawingml/2006/main">
              <a:ext uri="{FF2B5EF4-FFF2-40B4-BE49-F238E27FC236}">
                <a16:creationId xmlns:a16="http://schemas.microsoft.com/office/drawing/2014/main" id="{B2BC2570-0AC5-4344-9339-7AAB02C3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 = Student("Amy")</a:t>
            </a:r>
          </a:p>
        </p:txBody>
      </p:sp>
      <p:sp>
        <p:nvSpPr>
          <p:cNvPr id="12" name="b = Student(&quot;Ben&quot;)">
            <a:extLst xmlns:a="http://schemas.openxmlformats.org/drawingml/2006/main">
              <a:ext uri="{FF2B5EF4-FFF2-40B4-BE49-F238E27FC236}">
                <a16:creationId xmlns:a16="http://schemas.microsoft.com/office/drawing/2014/main" id="{272EABFA-D20F-428E-B708-3C54ACEF1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b = Student("Ben")</a:t>
            </a:r>
          </a:p>
        </p:txBody>
      </p:sp>
      <p:sp>
        <p:nvSpPr>
          <p:cNvPr id="13" name="a.scores.append(90)">
            <a:extLst xmlns:a="http://schemas.openxmlformats.org/drawingml/2006/main">
              <a:ext uri="{FF2B5EF4-FFF2-40B4-BE49-F238E27FC236}">
                <a16:creationId xmlns:a16="http://schemas.microsoft.com/office/drawing/2014/main" id="{240AD394-800B-41A2-8C42-6E086CF24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a.scores.append(90)</a:t>
            </a:r>
          </a:p>
        </p:txBody>
      </p:sp>
      <p:sp>
        <p:nvSpPr>
          <p:cNvPr id="14" name="print(a)">
            <a:extLst xmlns:a="http://schemas.openxmlformats.org/drawingml/2006/main">
              <a:ext uri="{FF2B5EF4-FFF2-40B4-BE49-F238E27FC236}">
                <a16:creationId xmlns:a16="http://schemas.microsoft.com/office/drawing/2014/main" id="{E9961326-DD28-4AE5-9E1C-FFA74F161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print(a)</a:t>
            </a:r>
          </a:p>
        </p:txBody>
      </p:sp>
      <p:sp>
        <p:nvSpPr>
          <p:cNvPr id="15" name="print(b.scores)">
            <a:extLst xmlns:a="http://schemas.openxmlformats.org/drawingml/2006/main">
              <a:ext uri="{FF2B5EF4-FFF2-40B4-BE49-F238E27FC236}">
                <a16:creationId xmlns:a16="http://schemas.microsoft.com/office/drawing/2014/main" id="{5E928510-D369-4681-9BBE-E91D516C2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print(b.scores)</a:t>
            </a:r>
          </a:p>
        </p:txBody>
      </p:sp>
      <p:sp>
        <p:nvSpPr>
          <p:cNvPr id="16" name="依欄位產生常用方法">
            <a:extLst xmlns:a="http://schemas.openxmlformats.org/drawingml/2006/main">
              <a:ext uri="{FF2B5EF4-FFF2-40B4-BE49-F238E27FC236}">
                <a16:creationId xmlns:a16="http://schemas.microsoft.com/office/drawing/2014/main" id="{9964365F-E0DB-4C50-BA2A-1CB33A925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フィールドからメソッドを生成</a:t>
            </a:r>
          </a:p>
        </p:txBody>
      </p:sp>
      <p:sp>
        <p:nvSpPr>
          <p:cNvPr id="17" name="預設產生 __init__、 __repr__ 與相等比較。">
            <a:extLst xmlns:a="http://schemas.openxmlformats.org/drawingml/2006/main">
              <a:ext uri="{FF2B5EF4-FFF2-40B4-BE49-F238E27FC236}">
                <a16:creationId xmlns:a16="http://schemas.microsoft.com/office/drawing/2014/main" id="{EEF712FE-635B-4284-8E58-020D813D2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既定で __init__、__repr__、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等価比較などを生成する。</a:t>
            </a:r>
          </a:p>
        </p:txBody>
      </p:sp>
      <p:sp>
        <p:nvSpPr>
          <p:cNvPr id="18" name="default_factory 每次建立">
            <a:extLst xmlns:a="http://schemas.openxmlformats.org/drawingml/2006/main">
              <a:ext uri="{FF2B5EF4-FFF2-40B4-BE49-F238E27FC236}">
                <a16:creationId xmlns:a16="http://schemas.microsoft.com/office/drawing/2014/main" id="{8715C7A9-3DE5-4305-911C-DE14CFFF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default_factory は毎回生成</a:t>
            </a:r>
          </a:p>
        </p:txBody>
      </p:sp>
      <p:sp>
        <p:nvSpPr>
          <p:cNvPr id="19" name="每個實例取得自己的 list。 型別註記不會自動驗證值。">
            <a:extLst xmlns:a="http://schemas.openxmlformats.org/drawingml/2006/main">
              <a:ext uri="{FF2B5EF4-FFF2-40B4-BE49-F238E27FC236}">
                <a16:creationId xmlns:a16="http://schemas.microsoft.com/office/drawing/2014/main" id="{8D2CB2E5-58C6-468F-A88D-B1BE6503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インスタンスごとに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別の list を取得。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型注釈は値を自動検証しない。</a:t>
            </a:r>
          </a:p>
        </p:txBody>
      </p:sp>
      <p:sp>
        <p:nvSpPr>
          <p:cNvPr id="20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5CC5CB84-E1BF-4ED1-B7FC-05AE688E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21" name="Student(name='Amy', scores=[90])    []">
            <a:extLst xmlns:a="http://schemas.openxmlformats.org/drawingml/2006/main">
              <a:ext uri="{FF2B5EF4-FFF2-40B4-BE49-F238E27FC236}">
                <a16:creationId xmlns:a16="http://schemas.microsoft.com/office/drawing/2014/main" id="{F0B61C3E-460B-4F47-B0BD-354F3C56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Student(name='Amy', scores=[90])    []</a:t>
            </a:r>
          </a:p>
        </p:txBody>
      </p:sp>
    </p:spTree>
    <p:extLst>
      <p:ext uri="{BB962C8B-B14F-4D97-AF65-F5344CB8AC3E}">
        <p14:creationId xmlns:p14="http://schemas.microsoft.com/office/powerpoint/2010/main" val="203472220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型別提示與聯集">
            <a:extLst xmlns:a="http://schemas.openxmlformats.org/drawingml/2006/main">
              <a:ext uri="{FF2B5EF4-FFF2-40B4-BE49-F238E27FC236}">
                <a16:creationId xmlns:a16="http://schemas.microsoft.com/office/drawing/2014/main" id="{894BCFB9-1EA2-4C70-A3B1-E6F064E59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型ヒントとユニオン</a:t>
            </a:r>
          </a:p>
        </p:txBody>
      </p:sp>
      <p:sp>
        <p:nvSpPr>
          <p:cNvPr id="2" name="型別提示">
            <a:extLst xmlns:a="http://schemas.openxmlformats.org/drawingml/2006/main">
              <a:ext uri="{FF2B5EF4-FFF2-40B4-BE49-F238E27FC236}">
                <a16:creationId xmlns:a16="http://schemas.microsoft.com/office/drawing/2014/main" id="{001642C1-9079-46B9-A580-E1BCA8211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型ヒント</a:t>
            </a:r>
          </a:p>
        </p:txBody>
      </p:sp>
      <p:sp>
        <p:nvSpPr>
          <p:cNvPr id="3" name="60">
            <a:extLst xmlns:a="http://schemas.openxmlformats.org/drawingml/2006/main">
              <a:ext uri="{FF2B5EF4-FFF2-40B4-BE49-F238E27FC236}">
                <a16:creationId xmlns:a16="http://schemas.microsoft.com/office/drawing/2014/main" id="{E03BF2E9-A530-409E-BF45-422AABCE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60</a:t>
            </a:r>
          </a:p>
        </p:txBody>
      </p:sp>
      <p:sp>
        <p:nvSpPr>
          <p:cNvPr id="4" name="def first(values: list[int]) -&gt; int | None:">
            <a:extLst xmlns:a="http://schemas.openxmlformats.org/drawingml/2006/main">
              <a:ext uri="{FF2B5EF4-FFF2-40B4-BE49-F238E27FC236}">
                <a16:creationId xmlns:a16="http://schemas.microsoft.com/office/drawing/2014/main" id="{E389B02F-737D-4F92-9E09-750540503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def first(values: list[int]) -&gt; int | None:</a:t>
            </a:r>
          </a:p>
        </p:txBody>
      </p:sp>
      <p:sp>
        <p:nvSpPr>
          <p:cNvPr id="5" name="    return values[0] if values else None">
            <a:extLst xmlns:a="http://schemas.openxmlformats.org/drawingml/2006/main">
              <a:ext uri="{FF2B5EF4-FFF2-40B4-BE49-F238E27FC236}">
                <a16:creationId xmlns:a16="http://schemas.microsoft.com/office/drawing/2014/main" id="{469286A5-6272-4509-9305-0E97B806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return values[0] if values else None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465D8E-A84C-4E0C-B347-2FD9BDE46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print(first([10, 20]))">
            <a:extLst xmlns:a="http://schemas.openxmlformats.org/drawingml/2006/main">
              <a:ext uri="{FF2B5EF4-FFF2-40B4-BE49-F238E27FC236}">
                <a16:creationId xmlns:a16="http://schemas.microsoft.com/office/drawing/2014/main" id="{6E85849D-0914-4946-9B90-325D5651E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print(first([10, 20]))</a:t>
            </a:r>
          </a:p>
        </p:txBody>
      </p:sp>
      <p:sp>
        <p:nvSpPr>
          <p:cNvPr id="8" name="print(first([]))">
            <a:extLst xmlns:a="http://schemas.openxmlformats.org/drawingml/2006/main">
              <a:ext uri="{FF2B5EF4-FFF2-40B4-BE49-F238E27FC236}">
                <a16:creationId xmlns:a16="http://schemas.microsoft.com/office/drawing/2014/main" id="{13207CA3-E709-49DC-9C70-32E2B76B4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print(first([]))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6B7469-50B5-4E2E-8CC5-03C98291A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def echo(value: int) -&gt; int:">
            <a:extLst xmlns:a="http://schemas.openxmlformats.org/drawingml/2006/main">
              <a:ext uri="{FF2B5EF4-FFF2-40B4-BE49-F238E27FC236}">
                <a16:creationId xmlns:a16="http://schemas.microsoft.com/office/drawing/2014/main" id="{D8AE7576-7625-49B3-94FB-9149E5319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def echo(value: int) -&gt; int:</a:t>
            </a:r>
          </a:p>
        </p:txBody>
      </p:sp>
      <p:sp>
        <p:nvSpPr>
          <p:cNvPr id="11" name="    return value">
            <a:extLst xmlns:a="http://schemas.openxmlformats.org/drawingml/2006/main">
              <a:ext uri="{FF2B5EF4-FFF2-40B4-BE49-F238E27FC236}">
                <a16:creationId xmlns:a16="http://schemas.microsoft.com/office/drawing/2014/main" id="{1F57D81D-BCFD-4715-8B80-AA9017FE4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return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095492-0736-4873-86C5-7C9EB5F49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print(echo(&quot;hello&quot;))">
            <a:extLst xmlns:a="http://schemas.openxmlformats.org/drawingml/2006/main">
              <a:ext uri="{FF2B5EF4-FFF2-40B4-BE49-F238E27FC236}">
                <a16:creationId xmlns:a16="http://schemas.microsoft.com/office/drawing/2014/main" id="{750C78F1-549A-4811-98C7-A74E2120B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print(echo("hello"))</a:t>
            </a:r>
          </a:p>
        </p:txBody>
      </p:sp>
      <p:sp>
        <p:nvSpPr>
          <p:cNvPr id="14" name="描述參數與回傳值">
            <a:extLst xmlns:a="http://schemas.openxmlformats.org/drawingml/2006/main">
              <a:ext uri="{FF2B5EF4-FFF2-40B4-BE49-F238E27FC236}">
                <a16:creationId xmlns:a16="http://schemas.microsoft.com/office/drawing/2014/main" id="{532F9FE8-A1BF-4FE0-AA76-CDB28771E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引数と戻り値の型を記述</a:t>
            </a:r>
          </a:p>
        </p:txBody>
      </p:sp>
      <p:sp>
        <p:nvSpPr>
          <p:cNvPr id="15" name="int | None 表示兩種可能。 容器註記可描述元素型別。">
            <a:extLst xmlns:a="http://schemas.openxmlformats.org/drawingml/2006/main">
              <a:ext uri="{FF2B5EF4-FFF2-40B4-BE49-F238E27FC236}">
                <a16:creationId xmlns:a16="http://schemas.microsoft.com/office/drawing/2014/main" id="{3AE7C775-FB72-4307-A025-1BD390C33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int | None は2つの型を許容。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コンテナの要素型も記述できる。</a:t>
            </a:r>
          </a:p>
        </p:txBody>
      </p:sp>
      <p:sp>
        <p:nvSpPr>
          <p:cNvPr id="16" name="執行時通常不自動檢查">
            <a:extLst xmlns:a="http://schemas.openxmlformats.org/drawingml/2006/main">
              <a:ext uri="{FF2B5EF4-FFF2-40B4-BE49-F238E27FC236}">
                <a16:creationId xmlns:a16="http://schemas.microsoft.com/office/drawing/2014/main" id="{674D2E7B-992D-4CAB-BD8C-979EFDEB8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実行時は通常自動検査しない</a:t>
            </a:r>
          </a:p>
        </p:txBody>
      </p:sp>
      <p:sp>
        <p:nvSpPr>
          <p:cNvPr id="17" name="echo 的錯誤型別可由 靜態檢查工具指出。">
            <a:extLst xmlns:a="http://schemas.openxmlformats.org/drawingml/2006/main">
              <a:ext uri="{FF2B5EF4-FFF2-40B4-BE49-F238E27FC236}">
                <a16:creationId xmlns:a16="http://schemas.microsoft.com/office/drawing/2014/main" id="{F4B82DEA-5CA0-4FBF-93C1-084D01A2F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echo に渡す型の不一致は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静的型チェッカーで検出できる。</a:t>
            </a:r>
          </a:p>
        </p:txBody>
      </p:sp>
      <p:sp>
        <p:nvSpPr>
          <p:cNvPr id="18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31BE19C8-1FFC-4252-A3EB-434129B0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19" name="10    None    hello">
            <a:extLst xmlns:a="http://schemas.openxmlformats.org/drawingml/2006/main">
              <a:ext uri="{FF2B5EF4-FFF2-40B4-BE49-F238E27FC236}">
                <a16:creationId xmlns:a16="http://schemas.microsoft.com/office/drawing/2014/main" id="{55769BFA-A1E2-411A-B7EF-8AE01F77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10    None    hello</a:t>
            </a:r>
          </a:p>
        </p:txBody>
      </p:sp>
    </p:spTree>
    <p:extLst>
      <p:ext uri="{BB962C8B-B14F-4D97-AF65-F5344CB8AC3E}">
        <p14:creationId xmlns:p14="http://schemas.microsoft.com/office/powerpoint/2010/main" val="352506369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型別別名、泛型與 Callable">
            <a:extLst xmlns:a="http://schemas.openxmlformats.org/drawingml/2006/main">
              <a:ext uri="{FF2B5EF4-FFF2-40B4-BE49-F238E27FC236}">
                <a16:creationId xmlns:a16="http://schemas.microsoft.com/office/drawing/2014/main" id="{364AE42A-B5C3-4880-B49D-AC4CC70B9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型エイリアス、ジェネリクスと Callable</a:t>
            </a:r>
          </a:p>
        </p:txBody>
      </p:sp>
      <p:sp>
        <p:nvSpPr>
          <p:cNvPr id="2" name="型別提示">
            <a:extLst xmlns:a="http://schemas.openxmlformats.org/drawingml/2006/main">
              <a:ext uri="{FF2B5EF4-FFF2-40B4-BE49-F238E27FC236}">
                <a16:creationId xmlns:a16="http://schemas.microsoft.com/office/drawing/2014/main" id="{08B35988-0AA4-4D8B-A91A-A0E3A29D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型ヒント</a:t>
            </a:r>
          </a:p>
        </p:txBody>
      </p:sp>
      <p:sp>
        <p:nvSpPr>
          <p:cNvPr id="3" name="61">
            <a:extLst xmlns:a="http://schemas.openxmlformats.org/drawingml/2006/main">
              <a:ext uri="{FF2B5EF4-FFF2-40B4-BE49-F238E27FC236}">
                <a16:creationId xmlns:a16="http://schemas.microsoft.com/office/drawing/2014/main" id="{2CDBCCFB-49E8-4221-859C-BB93D1E3B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61</a:t>
            </a:r>
          </a:p>
        </p:txBody>
      </p:sp>
      <p:sp>
        <p:nvSpPr>
          <p:cNvPr id="4" name="from collections.abc import Callable">
            <a:extLst xmlns:a="http://schemas.openxmlformats.org/drawingml/2006/main">
              <a:ext uri="{FF2B5EF4-FFF2-40B4-BE49-F238E27FC236}">
                <a16:creationId xmlns:a16="http://schemas.microsoft.com/office/drawing/2014/main" id="{C97A1621-0537-41D7-9EF9-3428AE583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from collections.abc import Callable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394F53-603D-40BD-9540-77CDD918B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type Scores = list[int]">
            <a:extLst xmlns:a="http://schemas.openxmlformats.org/drawingml/2006/main">
              <a:ext uri="{FF2B5EF4-FFF2-40B4-BE49-F238E27FC236}">
                <a16:creationId xmlns:a16="http://schemas.microsoft.com/office/drawing/2014/main" id="{D4918240-C26C-4C38-B2D4-3C0896F99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type Scores = list[int]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3F1A0C-099B-4FB7-A018-B2996779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def head[T](values: list[T]) -&gt; T:">
            <a:extLst xmlns:a="http://schemas.openxmlformats.org/drawingml/2006/main">
              <a:ext uri="{FF2B5EF4-FFF2-40B4-BE49-F238E27FC236}">
                <a16:creationId xmlns:a16="http://schemas.microsoft.com/office/drawing/2014/main" id="{2B4E7709-DD91-42AB-8E03-8FF7161C9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def head[T](values: list[T]) -&gt; T:</a:t>
            </a:r>
          </a:p>
        </p:txBody>
      </p:sp>
      <p:sp>
        <p:nvSpPr>
          <p:cNvPr id="9" name="    return values[0]">
            <a:extLst xmlns:a="http://schemas.openxmlformats.org/drawingml/2006/main">
              <a:ext uri="{FF2B5EF4-FFF2-40B4-BE49-F238E27FC236}">
                <a16:creationId xmlns:a16="http://schemas.microsoft.com/office/drawing/2014/main" id="{88EC5844-1270-4346-9D1D-F7350DF96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return values[0]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61B9F4-8F15-4FC2-944E-1A94924F4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def apply(f: Callable[[int], int], x: int) -&gt; int:">
            <a:extLst xmlns:a="http://schemas.openxmlformats.org/drawingml/2006/main">
              <a:ext uri="{FF2B5EF4-FFF2-40B4-BE49-F238E27FC236}">
                <a16:creationId xmlns:a16="http://schemas.microsoft.com/office/drawing/2014/main" id="{48F67EFB-0D06-4160-A035-27E9D23D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def apply(f: Callable[[int], int], x: int) -&gt; int:</a:t>
            </a:r>
          </a:p>
        </p:txBody>
      </p:sp>
      <p:sp>
        <p:nvSpPr>
          <p:cNvPr id="12" name="    return f(x)">
            <a:extLst xmlns:a="http://schemas.openxmlformats.org/drawingml/2006/main">
              <a:ext uri="{FF2B5EF4-FFF2-40B4-BE49-F238E27FC236}">
                <a16:creationId xmlns:a16="http://schemas.microsoft.com/office/drawing/2014/main" id="{DF36BDE2-E93D-4A34-8465-D69B6A74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    return f(x)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88EAFF-D1EB-4F47-A72C-ACAC5F9C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print(head([&quot;A&quot;, &quot;B&quot;]))">
            <a:extLst xmlns:a="http://schemas.openxmlformats.org/drawingml/2006/main">
              <a:ext uri="{FF2B5EF4-FFF2-40B4-BE49-F238E27FC236}">
                <a16:creationId xmlns:a16="http://schemas.microsoft.com/office/drawing/2014/main" id="{0B262D2C-3B84-4D80-B392-DEABB8A3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print(head(["A", "B"]))</a:t>
            </a:r>
          </a:p>
        </p:txBody>
      </p:sp>
      <p:sp>
        <p:nvSpPr>
          <p:cNvPr id="15" name="print(apply(lambda n: n + 1, 3))">
            <a:extLst xmlns:a="http://schemas.openxmlformats.org/drawingml/2006/main">
              <a:ext uri="{FF2B5EF4-FFF2-40B4-BE49-F238E27FC236}">
                <a16:creationId xmlns:a16="http://schemas.microsoft.com/office/drawing/2014/main" id="{1A9F2620-5D55-4AEF-ADC8-AC2C99E2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32B3A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32B3A"/>
                </a:solidFill>
                <a:latin typeface="Consolas"/>
                <a:ea typeface="Consolas"/>
                <a:cs typeface="Consolas"/>
              </a:rPr>
              <a:t>print(apply(lambda n: n + 1, 3))</a:t>
            </a:r>
          </a:p>
        </p:txBody>
      </p:sp>
      <p:sp>
        <p:nvSpPr>
          <p:cNvPr id="16" name="Python 3.12+ 語法">
            <a:extLst xmlns:a="http://schemas.openxmlformats.org/drawingml/2006/main">
              <a:ext uri="{FF2B5EF4-FFF2-40B4-BE49-F238E27FC236}">
                <a16:creationId xmlns:a16="http://schemas.microsoft.com/office/drawing/2014/main" id="{FB5B1CEC-98FD-4C83-BCB6-9F111FC68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Python 3.12+ の文法</a:t>
            </a:r>
          </a:p>
        </p:txBody>
      </p:sp>
      <p:sp>
        <p:nvSpPr>
          <p:cNvPr id="17" name="type 宣告型別別名。 [T] 定義型別參數。">
            <a:extLst xmlns:a="http://schemas.openxmlformats.org/drawingml/2006/main">
              <a:ext uri="{FF2B5EF4-FFF2-40B4-BE49-F238E27FC236}">
                <a16:creationId xmlns:a16="http://schemas.microsoft.com/office/drawing/2014/main" id="{FEC8DC19-1B2D-46F7-8819-2F4B7929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type は型エイリアスを宣言。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[T] は型パラメータ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を定義する。</a:t>
            </a:r>
          </a:p>
        </p:txBody>
      </p:sp>
      <p:sp>
        <p:nvSpPr>
          <p:cNvPr id="18" name="Callable 描述函式介面">
            <a:extLst xmlns:a="http://schemas.openxmlformats.org/drawingml/2006/main">
              <a:ext uri="{FF2B5EF4-FFF2-40B4-BE49-F238E27FC236}">
                <a16:creationId xmlns:a16="http://schemas.microsoft.com/office/drawing/2014/main" id="{B497342A-FC81-4ECC-B13C-A1F53918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Callable は関数の型を記述</a:t>
            </a:r>
          </a:p>
        </p:txBody>
      </p:sp>
      <p:sp>
        <p:nvSpPr>
          <p:cNvPr id="19" name="[[int], int] 表示一個 int 輸入 以及 int 回傳值。">
            <a:extLst xmlns:a="http://schemas.openxmlformats.org/drawingml/2006/main">
              <a:ext uri="{FF2B5EF4-FFF2-40B4-BE49-F238E27FC236}">
                <a16:creationId xmlns:a16="http://schemas.microsoft.com/office/drawing/2014/main" id="{A798B436-C902-4E09-9C67-1A53288C5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[[int], int] は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int 引数が1つ、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戻り値も int で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あることを示す。</a:t>
            </a:r>
          </a:p>
        </p:txBody>
      </p:sp>
      <p:sp>
        <p:nvSpPr>
          <p:cNvPr id="20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A128C3BC-80C8-4AF6-9C29-C36259D3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21" name="A    4">
            <a:extLst xmlns:a="http://schemas.openxmlformats.org/drawingml/2006/main">
              <a:ext uri="{FF2B5EF4-FFF2-40B4-BE49-F238E27FC236}">
                <a16:creationId xmlns:a16="http://schemas.microsoft.com/office/drawing/2014/main" id="{5693FE6F-A1F4-402C-8F1E-DC0870A86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6686C"/>
                </a:solidFill>
                <a:latin typeface="Consolas"/>
                <a:ea typeface="Consolas"/>
                <a:cs typeface="Consolas"/>
              </a:rPr>
              <a:t>A    4</a:t>
            </a:r>
          </a:p>
        </p:txBody>
      </p:sp>
    </p:spTree>
    <p:extLst>
      <p:ext uri="{BB962C8B-B14F-4D97-AF65-F5344CB8AC3E}">
        <p14:creationId xmlns:p14="http://schemas.microsoft.com/office/powerpoint/2010/main" val="1961188314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async def 與 await">
            <a:extLst xmlns:a="http://schemas.openxmlformats.org/drawingml/2006/main">
              <a:ext uri="{FF2B5EF4-FFF2-40B4-BE49-F238E27FC236}">
                <a16:creationId xmlns:a16="http://schemas.microsoft.com/office/drawing/2014/main" id="{10CCA1EE-9392-4E4D-ACA6-58927120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async def と await</a:t>
            </a:r>
          </a:p>
        </p:txBody>
      </p:sp>
      <p:sp>
        <p:nvSpPr>
          <p:cNvPr id="2" name="非同步語法">
            <a:extLst xmlns:a="http://schemas.openxmlformats.org/drawingml/2006/main">
              <a:ext uri="{FF2B5EF4-FFF2-40B4-BE49-F238E27FC236}">
                <a16:creationId xmlns:a16="http://schemas.microsoft.com/office/drawing/2014/main" id="{FFE5471B-ECB4-40D1-AB5E-B4E258CF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非同期処理の文法</a:t>
            </a:r>
          </a:p>
        </p:txBody>
      </p:sp>
      <p:sp>
        <p:nvSpPr>
          <p:cNvPr id="3" name="62">
            <a:extLst xmlns:a="http://schemas.openxmlformats.org/drawingml/2006/main">
              <a:ext uri="{FF2B5EF4-FFF2-40B4-BE49-F238E27FC236}">
                <a16:creationId xmlns:a16="http://schemas.microsoft.com/office/drawing/2014/main" id="{4D662A78-7413-41FD-BF83-791B88F8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62</a:t>
            </a:r>
          </a:p>
        </p:txBody>
      </p:sp>
      <p:sp>
        <p:nvSpPr>
          <p:cNvPr id="4" name="import asyncio">
            <a:extLst xmlns:a="http://schemas.openxmlformats.org/drawingml/2006/main">
              <a:ext uri="{FF2B5EF4-FFF2-40B4-BE49-F238E27FC236}">
                <a16:creationId xmlns:a16="http://schemas.microsoft.com/office/drawing/2014/main" id="{4161D71C-6781-4EA3-AF06-6AC3AAB31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import asyncio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E473C0-0BAD-4E68-9946-C0A22AD3E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async def greet(name):">
            <a:extLst xmlns:a="http://schemas.openxmlformats.org/drawingml/2006/main">
              <a:ext uri="{FF2B5EF4-FFF2-40B4-BE49-F238E27FC236}">
                <a16:creationId xmlns:a16="http://schemas.microsoft.com/office/drawing/2014/main" id="{19764F2A-BEF0-4FF1-81CD-C6E6D8B3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async def greet(name):</a:t>
            </a:r>
          </a:p>
        </p:txBody>
      </p:sp>
      <p:sp>
        <p:nvSpPr>
          <p:cNvPr id="7" name="    await asyncio.sleep(0)">
            <a:extLst xmlns:a="http://schemas.openxmlformats.org/drawingml/2006/main">
              <a:ext uri="{FF2B5EF4-FFF2-40B4-BE49-F238E27FC236}">
                <a16:creationId xmlns:a16="http://schemas.microsoft.com/office/drawing/2014/main" id="{75DCF019-4C2F-4471-9D94-1AA908481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await asyncio.sleep(0)</a:t>
            </a:r>
          </a:p>
        </p:txBody>
      </p:sp>
      <p:sp>
        <p:nvSpPr>
          <p:cNvPr id="8" name="    return f&quot;Hello, {name}&quot;">
            <a:extLst xmlns:a="http://schemas.openxmlformats.org/drawingml/2006/main">
              <a:ext uri="{FF2B5EF4-FFF2-40B4-BE49-F238E27FC236}">
                <a16:creationId xmlns:a16="http://schemas.microsoft.com/office/drawing/2014/main" id="{E4BC6A07-5989-4882-B2DF-EECAF279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return f"Hello, {name}"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25F00D-47CC-4E38-A718-6613E90DE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async def main():">
            <a:extLst xmlns:a="http://schemas.openxmlformats.org/drawingml/2006/main">
              <a:ext uri="{FF2B5EF4-FFF2-40B4-BE49-F238E27FC236}">
                <a16:creationId xmlns:a16="http://schemas.microsoft.com/office/drawing/2014/main" id="{F35527BC-9967-4922-9145-A57759753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async def main():</a:t>
            </a:r>
          </a:p>
        </p:txBody>
      </p:sp>
      <p:sp>
        <p:nvSpPr>
          <p:cNvPr id="11" name="    result = await greet(&quot;Amy&quot;)">
            <a:extLst xmlns:a="http://schemas.openxmlformats.org/drawingml/2006/main">
              <a:ext uri="{FF2B5EF4-FFF2-40B4-BE49-F238E27FC236}">
                <a16:creationId xmlns:a16="http://schemas.microsoft.com/office/drawing/2014/main" id="{0BF9DC9B-83C7-4792-8006-CEEA37D96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result = await greet("Amy")</a:t>
            </a:r>
          </a:p>
        </p:txBody>
      </p:sp>
      <p:sp>
        <p:nvSpPr>
          <p:cNvPr id="12" name="    print(result)">
            <a:extLst xmlns:a="http://schemas.openxmlformats.org/drawingml/2006/main">
              <a:ext uri="{FF2B5EF4-FFF2-40B4-BE49-F238E27FC236}">
                <a16:creationId xmlns:a16="http://schemas.microsoft.com/office/drawing/2014/main" id="{065946F9-E39B-4B79-85B5-078CDD99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print(result)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F1F25D-6A92-49D0-9A8A-D077E4B6E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asyncio.run(main())">
            <a:extLst xmlns:a="http://schemas.openxmlformats.org/drawingml/2006/main">
              <a:ext uri="{FF2B5EF4-FFF2-40B4-BE49-F238E27FC236}">
                <a16:creationId xmlns:a16="http://schemas.microsoft.com/office/drawing/2014/main" id="{3FF7D2F6-AEF8-4017-9CDD-EAE4C5491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asyncio.run(main())</a:t>
            </a:r>
          </a:p>
        </p:txBody>
      </p:sp>
      <p:sp>
        <p:nvSpPr>
          <p:cNvPr id="15" name="呼叫 async 函式取得協程">
            <a:extLst xmlns:a="http://schemas.openxmlformats.org/drawingml/2006/main">
              <a:ext uri="{FF2B5EF4-FFF2-40B4-BE49-F238E27FC236}">
                <a16:creationId xmlns:a16="http://schemas.microsoft.com/office/drawing/2014/main" id="{6C9634DA-E525-4CAC-B74A-451534FD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呼び出すとコルーチンを得る</a:t>
            </a:r>
          </a:p>
        </p:txBody>
      </p:sp>
      <p:sp>
        <p:nvSpPr>
          <p:cNvPr id="16" name="await 等待可等待物件完成。 等待期間可讓其他工作執行。">
            <a:extLst xmlns:a="http://schemas.openxmlformats.org/drawingml/2006/main">
              <a:ext uri="{FF2B5EF4-FFF2-40B4-BE49-F238E27FC236}">
                <a16:creationId xmlns:a16="http://schemas.microsoft.com/office/drawing/2014/main" id="{4147F109-ABC9-4722-9121-C84AAE881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await は待機可能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な値の完了を待つ。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待機中は他のタスク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が実行できる。</a:t>
            </a:r>
          </a:p>
        </p:txBody>
      </p:sp>
      <p:sp>
        <p:nvSpPr>
          <p:cNvPr id="17" name="事件迴圈執行協程">
            <a:extLst xmlns:a="http://schemas.openxmlformats.org/drawingml/2006/main">
              <a:ext uri="{FF2B5EF4-FFF2-40B4-BE49-F238E27FC236}">
                <a16:creationId xmlns:a16="http://schemas.microsoft.com/office/drawing/2014/main" id="{497C178C-E1F6-46CA-B6BD-BBC02A92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イベントループが実行を進める</a:t>
            </a:r>
          </a:p>
        </p:txBody>
      </p:sp>
      <p:sp>
        <p:nvSpPr>
          <p:cNvPr id="18" name="此例用於一般 .py 程式。 已有事件迴圈的 Notebook 通常直接 await main()。">
            <a:extLst xmlns:a="http://schemas.openxmlformats.org/drawingml/2006/main">
              <a:ext uri="{FF2B5EF4-FFF2-40B4-BE49-F238E27FC236}">
                <a16:creationId xmlns:a16="http://schemas.microsoft.com/office/drawing/2014/main" id="{3C8DD2D4-0361-4A41-8B6C-EA88C328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この例は通常の .py 用。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ループが動作中の Notebook では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通常 await main() を直接使う。</a:t>
            </a:r>
          </a:p>
        </p:txBody>
      </p:sp>
      <p:sp>
        <p:nvSpPr>
          <p:cNvPr id="19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ADDF4758-93DB-4DB5-8AD5-09869D969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20" name="Hello, Amy">
            <a:extLst xmlns:a="http://schemas.openxmlformats.org/drawingml/2006/main">
              <a:ext uri="{FF2B5EF4-FFF2-40B4-BE49-F238E27FC236}">
                <a16:creationId xmlns:a16="http://schemas.microsoft.com/office/drawing/2014/main" id="{9C982882-A3FB-4CCB-9369-27E43C633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Hello, Amy</a:t>
            </a:r>
          </a:p>
        </p:txBody>
      </p:sp>
    </p:spTree>
    <p:extLst>
      <p:ext uri="{BB962C8B-B14F-4D97-AF65-F5344CB8AC3E}">
        <p14:creationId xmlns:p14="http://schemas.microsoft.com/office/powerpoint/2010/main" val="672760467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async for 與非同步生成器">
            <a:extLst xmlns:a="http://schemas.openxmlformats.org/drawingml/2006/main">
              <a:ext uri="{FF2B5EF4-FFF2-40B4-BE49-F238E27FC236}">
                <a16:creationId xmlns:a16="http://schemas.microsoft.com/office/drawing/2014/main" id="{D8C3A56F-AECF-4F77-B4C6-5C94609D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async for と非同期ジェネレータ</a:t>
            </a:r>
          </a:p>
        </p:txBody>
      </p:sp>
      <p:sp>
        <p:nvSpPr>
          <p:cNvPr id="2" name="非同步語法">
            <a:extLst xmlns:a="http://schemas.openxmlformats.org/drawingml/2006/main">
              <a:ext uri="{FF2B5EF4-FFF2-40B4-BE49-F238E27FC236}">
                <a16:creationId xmlns:a16="http://schemas.microsoft.com/office/drawing/2014/main" id="{6B16F7EF-7132-4099-854B-634959ED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非同期処理の文法</a:t>
            </a:r>
          </a:p>
        </p:txBody>
      </p:sp>
      <p:sp>
        <p:nvSpPr>
          <p:cNvPr id="3" name="63">
            <a:extLst xmlns:a="http://schemas.openxmlformats.org/drawingml/2006/main">
              <a:ext uri="{FF2B5EF4-FFF2-40B4-BE49-F238E27FC236}">
                <a16:creationId xmlns:a16="http://schemas.microsoft.com/office/drawing/2014/main" id="{AF7E5948-43C5-49DF-9C32-B1DD82D91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63</a:t>
            </a:r>
          </a:p>
        </p:txBody>
      </p:sp>
      <p:sp>
        <p:nvSpPr>
          <p:cNvPr id="4" name="import asyncio">
            <a:extLst xmlns:a="http://schemas.openxmlformats.org/drawingml/2006/main">
              <a:ext uri="{FF2B5EF4-FFF2-40B4-BE49-F238E27FC236}">
                <a16:creationId xmlns:a16="http://schemas.microsoft.com/office/drawing/2014/main" id="{F5DD40B7-57E6-45E1-95EF-96E47929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import asyncio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3EDB61-3E8C-4A79-82B9-151FEA7B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async def stream():">
            <a:extLst xmlns:a="http://schemas.openxmlformats.org/drawingml/2006/main">
              <a:ext uri="{FF2B5EF4-FFF2-40B4-BE49-F238E27FC236}">
                <a16:creationId xmlns:a16="http://schemas.microsoft.com/office/drawing/2014/main" id="{75FCC777-26BB-4D99-A3C5-CB87A713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async def stream():</a:t>
            </a:r>
          </a:p>
        </p:txBody>
      </p:sp>
      <p:sp>
        <p:nvSpPr>
          <p:cNvPr id="7" name="    for n in range(3):">
            <a:extLst xmlns:a="http://schemas.openxmlformats.org/drawingml/2006/main">
              <a:ext uri="{FF2B5EF4-FFF2-40B4-BE49-F238E27FC236}">
                <a16:creationId xmlns:a16="http://schemas.microsoft.com/office/drawing/2014/main" id="{C8AAD512-4F5D-4599-8B76-91DF5B1C4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for n in range(3):</a:t>
            </a:r>
          </a:p>
        </p:txBody>
      </p:sp>
      <p:sp>
        <p:nvSpPr>
          <p:cNvPr id="8" name="        await asyncio.sleep(0)">
            <a:extLst xmlns:a="http://schemas.openxmlformats.org/drawingml/2006/main">
              <a:ext uri="{FF2B5EF4-FFF2-40B4-BE49-F238E27FC236}">
                <a16:creationId xmlns:a16="http://schemas.microsoft.com/office/drawing/2014/main" id="{432C55BE-7F49-48BD-90DA-5A4418D79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await asyncio.sleep(0)</a:t>
            </a:r>
          </a:p>
        </p:txBody>
      </p:sp>
      <p:sp>
        <p:nvSpPr>
          <p:cNvPr id="9" name="        yield n">
            <a:extLst xmlns:a="http://schemas.openxmlformats.org/drawingml/2006/main">
              <a:ext uri="{FF2B5EF4-FFF2-40B4-BE49-F238E27FC236}">
                <a16:creationId xmlns:a16="http://schemas.microsoft.com/office/drawing/2014/main" id="{3FBF22C1-6C31-41C4-BFE8-871A3497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yield 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AB1B19-246B-48EE-9A27-533753A3C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async def main():">
            <a:extLst xmlns:a="http://schemas.openxmlformats.org/drawingml/2006/main">
              <a:ext uri="{FF2B5EF4-FFF2-40B4-BE49-F238E27FC236}">
                <a16:creationId xmlns:a16="http://schemas.microsoft.com/office/drawing/2014/main" id="{630AE822-DF18-4135-8790-7A992A0B8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async def main():</a:t>
            </a:r>
          </a:p>
        </p:txBody>
      </p:sp>
      <p:sp>
        <p:nvSpPr>
          <p:cNvPr id="12" name="    async for item in stream():">
            <a:extLst xmlns:a="http://schemas.openxmlformats.org/drawingml/2006/main">
              <a:ext uri="{FF2B5EF4-FFF2-40B4-BE49-F238E27FC236}">
                <a16:creationId xmlns:a16="http://schemas.microsoft.com/office/drawing/2014/main" id="{6110B588-0B0C-436D-A7E3-EDDCBAE3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async for item in stream():</a:t>
            </a:r>
          </a:p>
        </p:txBody>
      </p:sp>
      <p:sp>
        <p:nvSpPr>
          <p:cNvPr id="13" name="        print(item)">
            <a:extLst xmlns:a="http://schemas.openxmlformats.org/drawingml/2006/main">
              <a:ext uri="{FF2B5EF4-FFF2-40B4-BE49-F238E27FC236}">
                <a16:creationId xmlns:a16="http://schemas.microsoft.com/office/drawing/2014/main" id="{5C916E6D-F3CC-483D-BBF7-CE28C7DD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print(item)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00084B-2941-445A-996A-C1A9BE501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asyncio.run(main())">
            <a:extLst xmlns:a="http://schemas.openxmlformats.org/drawingml/2006/main">
              <a:ext uri="{FF2B5EF4-FFF2-40B4-BE49-F238E27FC236}">
                <a16:creationId xmlns:a16="http://schemas.microsoft.com/office/drawing/2014/main" id="{9AACB906-C5C2-43FE-96A6-E2EB5F73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asyncio.run(main())</a:t>
            </a:r>
          </a:p>
        </p:txBody>
      </p:sp>
      <p:sp>
        <p:nvSpPr>
          <p:cNvPr id="16" name="async for 走訪非同步 iterable">
            <a:extLst xmlns:a="http://schemas.openxmlformats.org/drawingml/2006/main">
              <a:ext uri="{FF2B5EF4-FFF2-40B4-BE49-F238E27FC236}">
                <a16:creationId xmlns:a16="http://schemas.microsoft.com/office/drawing/2014/main" id="{622B89A4-C616-41E7-BE4A-084610F3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async for は非同期反復を行う</a:t>
            </a:r>
          </a:p>
        </p:txBody>
      </p:sp>
      <p:sp>
        <p:nvSpPr>
          <p:cNvPr id="17" name="等待下一個元素時 可把控制權交回事件迴圈。">
            <a:extLst xmlns:a="http://schemas.openxmlformats.org/drawingml/2006/main">
              <a:ext uri="{FF2B5EF4-FFF2-40B4-BE49-F238E27FC236}">
                <a16:creationId xmlns:a16="http://schemas.microsoft.com/office/drawing/2014/main" id="{A0720914-CE0B-4864-A507-2CE916DC9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次の要素を待つ間は制御を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イベントループへ返せる。</a:t>
            </a:r>
          </a:p>
        </p:txBody>
      </p:sp>
      <p:sp>
        <p:nvSpPr>
          <p:cNvPr id="18" name="async def 也可包含 yield">
            <a:extLst xmlns:a="http://schemas.openxmlformats.org/drawingml/2006/main">
              <a:ext uri="{FF2B5EF4-FFF2-40B4-BE49-F238E27FC236}">
                <a16:creationId xmlns:a16="http://schemas.microsoft.com/office/drawing/2014/main" id="{38A68351-EA7C-4C95-A0B1-1DEC976DA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async def でも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yield を使える</a:t>
            </a:r>
          </a:p>
        </p:txBody>
      </p:sp>
      <p:sp>
        <p:nvSpPr>
          <p:cNvPr id="19" name="此時建立非同步生成器。 語法概覽，排程機制另行深入。">
            <a:extLst xmlns:a="http://schemas.openxmlformats.org/drawingml/2006/main">
              <a:ext uri="{FF2B5EF4-FFF2-40B4-BE49-F238E27FC236}">
                <a16:creationId xmlns:a16="http://schemas.microsoft.com/office/drawing/2014/main" id="{18E4AF86-2D3C-4D2F-BABA-0EA158C9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この場合は非同期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ジェネレータになる。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ここでは文法を概観し、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スケジューリングは別途扱う。</a:t>
            </a:r>
          </a:p>
        </p:txBody>
      </p:sp>
      <p:sp>
        <p:nvSpPr>
          <p:cNvPr id="20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E7D15467-A99D-4251-9DD3-C42C4EDC1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21" name="0    1    2">
            <a:extLst xmlns:a="http://schemas.openxmlformats.org/drawingml/2006/main">
              <a:ext uri="{FF2B5EF4-FFF2-40B4-BE49-F238E27FC236}">
                <a16:creationId xmlns:a16="http://schemas.microsoft.com/office/drawing/2014/main" id="{0D66DDD9-C20E-4DF4-8BCA-225430804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0    1    2</a:t>
            </a:r>
          </a:p>
        </p:txBody>
      </p:sp>
    </p:spTree>
    <p:extLst>
      <p:ext uri="{BB962C8B-B14F-4D97-AF65-F5344CB8AC3E}">
        <p14:creationId xmlns:p14="http://schemas.microsoft.com/office/powerpoint/2010/main" val="820112343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0B1D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async with 與資源清理">
            <a:extLst xmlns:a="http://schemas.openxmlformats.org/drawingml/2006/main">
              <a:ext uri="{FF2B5EF4-FFF2-40B4-BE49-F238E27FC236}">
                <a16:creationId xmlns:a16="http://schemas.microsoft.com/office/drawing/2014/main" id="{820DC9D8-EE1F-46A6-BE7D-5D6935C0C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async with と資源の後処理</a:t>
            </a:r>
          </a:p>
        </p:txBody>
      </p:sp>
      <p:sp>
        <p:nvSpPr>
          <p:cNvPr id="2" name="非同步語法">
            <a:extLst xmlns:a="http://schemas.openxmlformats.org/drawingml/2006/main">
              <a:ext uri="{FF2B5EF4-FFF2-40B4-BE49-F238E27FC236}">
                <a16:creationId xmlns:a16="http://schemas.microsoft.com/office/drawing/2014/main" id="{D5CC39AC-C31B-407C-AB1B-3BC6627B8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非同期処理の文法</a:t>
            </a:r>
          </a:p>
        </p:txBody>
      </p:sp>
      <p:sp>
        <p:nvSpPr>
          <p:cNvPr id="3" name="64">
            <a:extLst xmlns:a="http://schemas.openxmlformats.org/drawingml/2006/main">
              <a:ext uri="{FF2B5EF4-FFF2-40B4-BE49-F238E27FC236}">
                <a16:creationId xmlns:a16="http://schemas.microsoft.com/office/drawing/2014/main" id="{B5BBDCBB-FA96-4BA4-A55E-2F628BD9A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9AAEB8"/>
                </a:solidFill>
                <a:latin typeface="Microsoft JhengHei"/>
                <a:ea typeface="Microsoft JhengHei"/>
                <a:cs typeface="Microsoft JhengHei"/>
              </a:rPr>
              <a:t>64</a:t>
            </a:r>
          </a:p>
        </p:txBody>
      </p:sp>
      <p:sp>
        <p:nvSpPr>
          <p:cNvPr id="4" name="import asyncio">
            <a:extLst xmlns:a="http://schemas.openxmlformats.org/drawingml/2006/main">
              <a:ext uri="{FF2B5EF4-FFF2-40B4-BE49-F238E27FC236}">
                <a16:creationId xmlns:a16="http://schemas.microsoft.com/office/drawing/2014/main" id="{04EEB155-9160-4617-A682-6AD38895F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430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import asyncio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B0A0C8-DF6C-4878-B1E0-BA5AB6E0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193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async def main():">
            <a:extLst xmlns:a="http://schemas.openxmlformats.org/drawingml/2006/main">
              <a:ext uri="{FF2B5EF4-FFF2-40B4-BE49-F238E27FC236}">
                <a16:creationId xmlns:a16="http://schemas.microsoft.com/office/drawing/2014/main" id="{F6094973-00D4-44FB-881B-B1FC23700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955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async def main():</a:t>
            </a:r>
          </a:p>
        </p:txBody>
      </p:sp>
      <p:sp>
        <p:nvSpPr>
          <p:cNvPr id="7" name="    lock = asyncio.Lock()">
            <a:extLst xmlns:a="http://schemas.openxmlformats.org/drawingml/2006/main">
              <a:ext uri="{FF2B5EF4-FFF2-40B4-BE49-F238E27FC236}">
                <a16:creationId xmlns:a16="http://schemas.microsoft.com/office/drawing/2014/main" id="{89069131-7DA0-4652-9E9E-B542D0F4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lock = asyncio.Lock()</a:t>
            </a:r>
          </a:p>
        </p:txBody>
      </p:sp>
      <p:sp>
        <p:nvSpPr>
          <p:cNvPr id="8" name="    async with lock:">
            <a:extLst xmlns:a="http://schemas.openxmlformats.org/drawingml/2006/main">
              <a:ext uri="{FF2B5EF4-FFF2-40B4-BE49-F238E27FC236}">
                <a16:creationId xmlns:a16="http://schemas.microsoft.com/office/drawing/2014/main" id="{90D8B18C-52C8-4F60-A798-8170A69D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479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async with lock:</a:t>
            </a:r>
          </a:p>
        </p:txBody>
      </p:sp>
      <p:sp>
        <p:nvSpPr>
          <p:cNvPr id="9" name="        print(lock.locked())">
            <a:extLst xmlns:a="http://schemas.openxmlformats.org/drawingml/2006/main">
              <a:ext uri="{FF2B5EF4-FFF2-40B4-BE49-F238E27FC236}">
                <a16:creationId xmlns:a16="http://schemas.microsoft.com/office/drawing/2014/main" id="{8B5F3A1F-2EE9-4C5A-B995-B58FD9CF5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2420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    print(lock.locked())</a:t>
            </a:r>
          </a:p>
        </p:txBody>
      </p:sp>
      <p:sp>
        <p:nvSpPr>
          <p:cNvPr id="10" name="    print(lock.locked())">
            <a:extLst xmlns:a="http://schemas.openxmlformats.org/drawingml/2006/main">
              <a:ext uri="{FF2B5EF4-FFF2-40B4-BE49-F238E27FC236}">
                <a16:creationId xmlns:a16="http://schemas.microsoft.com/office/drawing/2014/main" id="{C1834E56-A49D-4FD1-9946-CBE31764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    print(lock.locked())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818216-C7BF-4442-BC44-36EFE4A5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asyncio.run(main())">
            <a:extLst xmlns:a="http://schemas.openxmlformats.org/drawingml/2006/main">
              <a:ext uri="{FF2B5EF4-FFF2-40B4-BE49-F238E27FC236}">
                <a16:creationId xmlns:a16="http://schemas.microsoft.com/office/drawing/2014/main" id="{9410D4D8-742F-4D71-9F4E-D0AE17C85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73914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F7F4ED"/>
                </a:solidFill>
                <a:latin typeface="Consolas"/>
                <a:ea typeface="Consolas"/>
                <a:cs typeface="Consolas"/>
              </a:defRPr>
            </a:pPr>
            <a:r>
              <a:rPr sz="2025" b="0">
                <a:solidFill>
                  <a:srgbClr val="F7F4ED"/>
                </a:solidFill>
                <a:latin typeface="Consolas"/>
                <a:ea typeface="Consolas"/>
                <a:cs typeface="Consolas"/>
              </a:rPr>
              <a:t>asyncio.run(main())</a:t>
            </a:r>
          </a:p>
        </p:txBody>
      </p:sp>
      <p:sp>
        <p:nvSpPr>
          <p:cNvPr id="13" name="進入與離開都可等待">
            <a:extLst xmlns:a="http://schemas.openxmlformats.org/drawingml/2006/main">
              <a:ext uri="{FF2B5EF4-FFF2-40B4-BE49-F238E27FC236}">
                <a16:creationId xmlns:a16="http://schemas.microsoft.com/office/drawing/2014/main" id="{0E437B81-629F-4D56-BB6A-91CEE1E4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5260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開始と終了の両方で待機できる</a:t>
            </a:r>
          </a:p>
        </p:txBody>
      </p:sp>
      <p:sp>
        <p:nvSpPr>
          <p:cNvPr id="14" name="async with 使用 __aenter__、__aexit__ 協定。">
            <a:extLst xmlns:a="http://schemas.openxmlformats.org/drawingml/2006/main">
              <a:ext uri="{FF2B5EF4-FFF2-40B4-BE49-F238E27FC236}">
                <a16:creationId xmlns:a16="http://schemas.microsoft.com/office/drawing/2014/main" id="{3D78DFCD-4A57-4998-9465-2C2F3C8E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6220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async with は __aenter__、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__aexit__ の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プロトコルを使う。</a:t>
            </a:r>
          </a:p>
        </p:txBody>
      </p:sp>
      <p:sp>
        <p:nvSpPr>
          <p:cNvPr id="15" name="非同步與平行不同">
            <a:extLst xmlns:a="http://schemas.openxmlformats.org/drawingml/2006/main">
              <a:ext uri="{FF2B5EF4-FFF2-40B4-BE49-F238E27FC236}">
                <a16:creationId xmlns:a16="http://schemas.microsoft.com/office/drawing/2014/main" id="{A733FC1E-76D5-4012-9805-4BAAA4C0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638550"/>
            <a:ext cx="34480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非同期と並列は異なる</a:t>
            </a:r>
          </a:p>
        </p:txBody>
      </p:sp>
      <p:sp>
        <p:nvSpPr>
          <p:cNvPr id="16" name="此例取得鎖後執行區塊， 離開時釋放鎖。 CPU 工作不會因此自動平行。">
            <a:extLst xmlns:a="http://schemas.openxmlformats.org/drawingml/2006/main">
              <a:ext uri="{FF2B5EF4-FFF2-40B4-BE49-F238E27FC236}">
                <a16:creationId xmlns:a16="http://schemas.microsoft.com/office/drawing/2014/main" id="{1F15D1FC-32AC-4FD8-B22D-B9FE15E5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3448050" cy="1228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例ではロックを取得して処理し、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終了時に解放する。CPU 処理が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F7F4ED"/>
                </a:solidFill>
                <a:latin typeface="Yu Gothic"/>
                <a:ea typeface="Yu Gothic"/>
                <a:cs typeface="Yu Gothic"/>
              </a:rPr>
              <a:t>自動で並列になるわけではない。</a:t>
            </a:r>
          </a:p>
        </p:txBody>
      </p:sp>
      <p:sp>
        <p:nvSpPr>
          <p:cNvPr id="17" name="輸出值（依序排列）">
            <a:extLst xmlns:a="http://schemas.openxmlformats.org/drawingml/2006/main">
              <a:ext uri="{FF2B5EF4-FFF2-40B4-BE49-F238E27FC236}">
                <a16:creationId xmlns:a16="http://schemas.microsoft.com/office/drawing/2014/main" id="{1BB348AD-CDE6-4B86-BE73-BDD1CA7C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91175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defRPr>
            </a:pPr>
            <a:r>
              <a:rPr sz="1575" b="1">
                <a:solidFill>
                  <a:srgbClr val="88D1C4"/>
                </a:solidFill>
                <a:latin typeface="Yu Gothic"/>
                <a:ea typeface="Yu Gothic"/>
                <a:cs typeface="Yu Gothic"/>
              </a:rPr>
              <a:t>出力（順番に表示）</a:t>
            </a:r>
          </a:p>
        </p:txBody>
      </p:sp>
      <p:sp>
        <p:nvSpPr>
          <p:cNvPr id="18" name="True    False">
            <a:extLst xmlns:a="http://schemas.openxmlformats.org/drawingml/2006/main">
              <a:ext uri="{FF2B5EF4-FFF2-40B4-BE49-F238E27FC236}">
                <a16:creationId xmlns:a16="http://schemas.microsoft.com/office/drawing/2014/main" id="{CE10873E-6887-45E5-92E3-791B4CE5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34075"/>
            <a:ext cx="109156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6B366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6B366"/>
                </a:solidFill>
                <a:latin typeface="Consolas"/>
                <a:ea typeface="Consolas"/>
                <a:cs typeface="Consolas"/>
              </a:rPr>
              <a:t>True    False</a:t>
            </a:r>
          </a:p>
        </p:txBody>
      </p:sp>
    </p:spTree>
    <p:extLst>
      <p:ext uri="{BB962C8B-B14F-4D97-AF65-F5344CB8AC3E}">
        <p14:creationId xmlns:p14="http://schemas.microsoft.com/office/powerpoint/2010/main" val="1623126511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易混淆語法對照">
            <a:extLst xmlns:a="http://schemas.openxmlformats.org/drawingml/2006/main">
              <a:ext uri="{FF2B5EF4-FFF2-40B4-BE49-F238E27FC236}">
                <a16:creationId xmlns:a16="http://schemas.microsoft.com/office/drawing/2014/main" id="{BF718950-891E-4E25-AB24-BDF247B2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混同しやすい文法の比較</a:t>
            </a:r>
          </a:p>
        </p:txBody>
      </p:sp>
      <p:sp>
        <p:nvSpPr>
          <p:cNvPr id="2" name="語法速查">
            <a:extLst xmlns:a="http://schemas.openxmlformats.org/drawingml/2006/main">
              <a:ext uri="{FF2B5EF4-FFF2-40B4-BE49-F238E27FC236}">
                <a16:creationId xmlns:a16="http://schemas.microsoft.com/office/drawing/2014/main" id="{BDBB3009-19B2-407C-BFB9-2D2B3C09E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文法早見表</a:t>
            </a:r>
          </a:p>
        </p:txBody>
      </p:sp>
      <p:sp>
        <p:nvSpPr>
          <p:cNvPr id="3" name="65">
            <a:extLst xmlns:a="http://schemas.openxmlformats.org/drawingml/2006/main">
              <a:ext uri="{FF2B5EF4-FFF2-40B4-BE49-F238E27FC236}">
                <a16:creationId xmlns:a16="http://schemas.microsoft.com/office/drawing/2014/main" id="{C7FEEB72-1113-4CA7-A26F-4ACA8947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65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57500"/>
                <a:gridCol w="4057650"/>
                <a:gridCol w="4057650"/>
              </a:tblGrid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比較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左側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右側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== ／ is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値が等しい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同じオブジェクト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print ／ return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テキストを出力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関数を終了して値を返す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append ／ extend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要素を1つ追加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iterable の各要素を追加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sort ／ sorted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list を変更、None を返す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新しい list を作る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str ／ bytes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Unicode テキスト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バイト列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8605133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共用、回傳與執行時機">
            <a:extLst xmlns:a="http://schemas.openxmlformats.org/drawingml/2006/main">
              <a:ext uri="{FF2B5EF4-FFF2-40B4-BE49-F238E27FC236}">
                <a16:creationId xmlns:a16="http://schemas.microsoft.com/office/drawing/2014/main" id="{C43F1C83-68D5-4715-BFF1-94C10B70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共有、戻り値と実行のタイミング</a:t>
            </a:r>
          </a:p>
        </p:txBody>
      </p:sp>
      <p:sp>
        <p:nvSpPr>
          <p:cNvPr id="2" name="語法速查">
            <a:extLst xmlns:a="http://schemas.openxmlformats.org/drawingml/2006/main">
              <a:ext uri="{FF2B5EF4-FFF2-40B4-BE49-F238E27FC236}">
                <a16:creationId xmlns:a16="http://schemas.microsoft.com/office/drawing/2014/main" id="{95773BB4-B0A3-4CD7-9DAD-CA858CB1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38250"/>
            <a:ext cx="10001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文法早見表</a:t>
            </a:r>
          </a:p>
        </p:txBody>
      </p:sp>
      <p:sp>
        <p:nvSpPr>
          <p:cNvPr id="3" name="66">
            <a:extLst xmlns:a="http://schemas.openxmlformats.org/drawingml/2006/main">
              <a:ext uri="{FF2B5EF4-FFF2-40B4-BE49-F238E27FC236}">
                <a16:creationId xmlns:a16="http://schemas.microsoft.com/office/drawing/2014/main" id="{69C92AE2-BEC8-4A37-8B56-347C80F1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66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000375"/>
                <a:gridCol w="4048125"/>
                <a:gridCol w="3924300"/>
              </a:tblGrid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文法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実際の効果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F7F4ED"/>
                          </a:solidFill>
                          <a:latin typeface="Yu Gothic"/>
                          <a:ea typeface="Yu Gothic"/>
                          <a:cs typeface="Yu Gothic"/>
                        </a:rPr>
                        <a:t>よくある誤解</a:t>
                      </a:r>
                    </a:p>
                  </a:txBody>
                  <a:tcPr marL="91440" marR="91440" marT="45720" marB="45720" anchor="ctr">
                    <a:solidFill>
                      <a:srgbClr val="16686C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b = a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同じオブジェクトを共有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自動で内容をコピーすると思う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a.copy()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外側のコンテナをコピー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入れ子の要素も独立すると思う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def f(x=[])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定義時に既定の list を生成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呼び出しごとに生成すると思う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(x for x in data)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ジェネレータを作る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何度でも反復できると思う</a:t>
                      </a:r>
                    </a:p>
                  </a:txBody>
                  <a:tcPr marL="91440" marR="91440" marT="45720" marB="45720" anchor="ctr">
                    <a:solidFill>
                      <a:srgbClr val="F5F2EB"/>
                    </a:solidFill>
                  </a:tcPr>
                </a:tc>
              </a:tr>
              <a:tr h="666750"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1">
                          <a:solidFill>
                            <a:srgbClr val="16686C"/>
                          </a:solidFill>
                          <a:latin typeface="Yu Gothic"/>
                          <a:ea typeface="Yu Gothic"/>
                          <a:cs typeface="Yu Gothic"/>
                        </a:rPr>
                        <a:t>async def f()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呼び出しでコルーチンを得る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  <a:tc>
                  <a:txBody>
                    <a:bodyPr lIns="142875" tIns="85725" rIns="114300" bIns="85725">
                      <a:noAutofit/>
                    </a:bodyPr>
                    <a:lstStyle/>
                    <a:p>
                      <a:r>
                        <a:rPr sz="1725" b="0">
                          <a:solidFill>
                            <a:srgbClr val="132B3A"/>
                          </a:solidFill>
                          <a:latin typeface="Yu Gothic"/>
                          <a:ea typeface="Yu Gothic"/>
                          <a:cs typeface="Yu Gothic"/>
                        </a:rPr>
                        <a:t>呼び出し時に実行済みだと思う</a:t>
                      </a:r>
                    </a:p>
                  </a:txBody>
                  <a:tcPr marL="91440" marR="91440" marT="45720" marB="45720" anchor="ctr">
                    <a:solidFill>
                      <a:srgbClr val="EFEBE2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064513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5F2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語法查閱與官方文件">
            <a:extLst xmlns:a="http://schemas.openxmlformats.org/drawingml/2006/main">
              <a:ext uri="{FF2B5EF4-FFF2-40B4-BE49-F238E27FC236}">
                <a16:creationId xmlns:a16="http://schemas.microsoft.com/office/drawing/2014/main" id="{A8D08D6A-84B4-42B8-B635-D87AB540F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文法の確認と公式ドキュメント</a:t>
            </a:r>
          </a:p>
        </p:txBody>
      </p:sp>
      <p:sp>
        <p:nvSpPr>
          <p:cNvPr id="2" name="67">
            <a:extLst xmlns:a="http://schemas.openxmlformats.org/drawingml/2006/main">
              <a:ext uri="{FF2B5EF4-FFF2-40B4-BE49-F238E27FC236}">
                <a16:creationId xmlns:a16="http://schemas.microsoft.com/office/drawing/2014/main" id="{1E07467D-6479-484D-BCCD-FA780DE31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34725" y="6467475"/>
            <a:ext cx="457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7F8D91"/>
                </a:solidFill>
                <a:latin typeface="Microsoft JhengHei"/>
                <a:ea typeface="Microsoft JhengHei"/>
                <a:cs typeface="Microsoft JhengHei"/>
              </a:rPr>
              <a:t>67</a:t>
            </a:r>
          </a:p>
        </p:txBody>
      </p:sp>
      <p:sp>
        <p:nvSpPr>
          <p:cNvPr id="3" name="Python Tutorial">
            <a:extLst xmlns:a="http://schemas.openxmlformats.org/drawingml/2006/main">
              <a:ext uri="{FF2B5EF4-FFF2-40B4-BE49-F238E27FC236}">
                <a16:creationId xmlns:a16="http://schemas.microsoft.com/office/drawing/2014/main" id="{92B8716F-C022-4D65-8D32-63E69C09E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857375"/>
            <a:ext cx="466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Python チュートリアル</a:t>
            </a:r>
          </a:p>
        </p:txBody>
      </p:sp>
      <p:sp>
        <p:nvSpPr>
          <p:cNvPr id="4" name="docs.python.org/3/tutorial/">
            <a:extLst xmlns:a="http://schemas.openxmlformats.org/drawingml/2006/main">
              <a:ext uri="{FF2B5EF4-FFF2-40B4-BE49-F238E27FC236}">
                <a16:creationId xmlns:a16="http://schemas.microsoft.com/office/drawing/2014/main" id="{AD767526-CFC2-4E3D-A3B9-88117EF8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885950"/>
            <a:ext cx="6057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docs.python.org/3/tutorial/</a:t>
            </a:r>
          </a:p>
        </p:txBody>
      </p:sp>
      <p:sp>
        <p:nvSpPr>
          <p:cNvPr id="5" name="Language Reference">
            <a:extLst xmlns:a="http://schemas.openxmlformats.org/drawingml/2006/main">
              <a:ext uri="{FF2B5EF4-FFF2-40B4-BE49-F238E27FC236}">
                <a16:creationId xmlns:a16="http://schemas.microsoft.com/office/drawing/2014/main" id="{A53FCF9C-F37A-4E5B-9C96-555542899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809875"/>
            <a:ext cx="466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言語リファレンス</a:t>
            </a:r>
          </a:p>
        </p:txBody>
      </p:sp>
      <p:sp>
        <p:nvSpPr>
          <p:cNvPr id="6" name="docs.python.org/3/reference/">
            <a:extLst xmlns:a="http://schemas.openxmlformats.org/drawingml/2006/main">
              <a:ext uri="{FF2B5EF4-FFF2-40B4-BE49-F238E27FC236}">
                <a16:creationId xmlns:a16="http://schemas.microsoft.com/office/drawing/2014/main" id="{BFD68D46-31A7-4A2F-9029-B1129D0A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38450"/>
            <a:ext cx="6057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docs.python.org/3/reference/</a:t>
            </a:r>
          </a:p>
        </p:txBody>
      </p:sp>
      <p:sp>
        <p:nvSpPr>
          <p:cNvPr id="7" name="Built-in Types &amp; Functions">
            <a:extLst xmlns:a="http://schemas.openxmlformats.org/drawingml/2006/main">
              <a:ext uri="{FF2B5EF4-FFF2-40B4-BE49-F238E27FC236}">
                <a16:creationId xmlns:a16="http://schemas.microsoft.com/office/drawing/2014/main" id="{D181B321-6B3D-400D-9C58-C431D4EE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62375"/>
            <a:ext cx="466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組み込み型と関数</a:t>
            </a:r>
          </a:p>
        </p:txBody>
      </p:sp>
      <p:sp>
        <p:nvSpPr>
          <p:cNvPr id="8" name="docs.python.org/3/library/stdtypes.html">
            <a:extLst xmlns:a="http://schemas.openxmlformats.org/drawingml/2006/main">
              <a:ext uri="{FF2B5EF4-FFF2-40B4-BE49-F238E27FC236}">
                <a16:creationId xmlns:a16="http://schemas.microsoft.com/office/drawing/2014/main" id="{8BB128A3-27BE-43E0-B392-4170E525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90950"/>
            <a:ext cx="6057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docs.python.org/3/library/stdtypes.html</a:t>
            </a:r>
          </a:p>
        </p:txBody>
      </p:sp>
      <p:sp>
        <p:nvSpPr>
          <p:cNvPr id="9" name="課程網站">
            <a:extLst xmlns:a="http://schemas.openxmlformats.org/drawingml/2006/main">
              <a:ext uri="{FF2B5EF4-FFF2-40B4-BE49-F238E27FC236}">
                <a16:creationId xmlns:a16="http://schemas.microsoft.com/office/drawing/2014/main" id="{F00E631D-3C8C-4BAB-ABD5-6434F9A5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4714875"/>
            <a:ext cx="466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6686C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16686C"/>
                </a:solidFill>
                <a:latin typeface="Yu Gothic"/>
                <a:ea typeface="Yu Gothic"/>
                <a:cs typeface="Yu Gothic"/>
              </a:rPr>
              <a:t>授業サイト</a:t>
            </a:r>
          </a:p>
        </p:txBody>
      </p:sp>
      <p:sp>
        <p:nvSpPr>
          <p:cNvPr id="10" name="minhuangyuntech.github.io/oo2026/week/2/">
            <a:extLst xmlns:a="http://schemas.openxmlformats.org/drawingml/2006/main">
              <a:ext uri="{FF2B5EF4-FFF2-40B4-BE49-F238E27FC236}">
                <a16:creationId xmlns:a16="http://schemas.microsoft.com/office/drawing/2014/main" id="{32F63E30-1503-49F3-B05F-F79A1E6B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743450"/>
            <a:ext cx="6057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defRPr>
            </a:pPr>
            <a:r>
              <a:rPr sz="1875" b="0">
                <a:solidFill>
                  <a:srgbClr val="132B3A"/>
                </a:solidFill>
                <a:latin typeface="Yu Gothic"/>
                <a:ea typeface="Yu Gothic"/>
                <a:cs typeface="Yu Gothic"/>
              </a:rPr>
              <a:t>minhuangyuntech.github.io/oo2026/week/2/</a:t>
            </a:r>
          </a:p>
        </p:txBody>
      </p:sp>
      <p:sp>
        <p:nvSpPr>
          <p:cNvPr id="11" name="基本型別與控制流程、函式與物件、模組與例外，構成後續 OOP 實作的語言基礎。">
            <a:extLst xmlns:a="http://schemas.openxmlformats.org/drawingml/2006/main">
              <a:ext uri="{FF2B5EF4-FFF2-40B4-BE49-F238E27FC236}">
                <a16:creationId xmlns:a16="http://schemas.microsoft.com/office/drawing/2014/main" id="{F3EB79F5-A2BC-4319-B859-6344073C3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6057900"/>
            <a:ext cx="10620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B6D73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5B6D73"/>
                </a:solidFill>
                <a:latin typeface="Yu Gothic"/>
                <a:ea typeface="Yu Gothic"/>
                <a:cs typeface="Yu Gothic"/>
              </a:rPr>
              <a:t>基本型、制御フロー、関数、オブジェクト、モジュール、例外が OOP 実装の言語的基盤となる。</a:t>
            </a:r>
          </a:p>
        </p:txBody>
      </p:sp>
    </p:spTree>
    <p:extLst>
      <p:ext uri="{BB962C8B-B14F-4D97-AF65-F5344CB8AC3E}">
        <p14:creationId xmlns:p14="http://schemas.microsoft.com/office/powerpoint/2010/main" val="7113108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2026-09-16T09:46:16.4660000Z</dcterms:created>
  <dcterms:modified xsi:type="dcterms:W3CDTF">2026-09-16T09:46:16.4660000Z</dcterms:modified>
</coreProperties>
</file>