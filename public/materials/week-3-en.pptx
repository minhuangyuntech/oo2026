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56ca9daf8a4445" /><Relationship Type="http://schemas.openxmlformats.org/officeDocument/2006/relationships/extended-properties" Target="/docProps/app.xml" Id="Rc0d4d80523a34159" /><Relationship Type="http://schemas.openxmlformats.org/officeDocument/2006/relationships/officeDocument" Target="/ppt/presentation.xml" Id="R587ccae0ce6a46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e62ce8f9bb4804"/>
  </p:sldMasterIdLst>
  <p:notesMasterIdLst>
    <p:notesMasterId xmlns:r="http://schemas.openxmlformats.org/officeDocument/2006/relationships" r:id="R94f34b801b9f4f55"/>
  </p:notesMasterIdLst>
  <p:sldIdLst>
    <p:sldId xmlns:r="http://schemas.openxmlformats.org/officeDocument/2006/relationships" id="256" r:id="R705bc4bb25ba42b6"/>
    <p:sldId xmlns:r="http://schemas.openxmlformats.org/officeDocument/2006/relationships" id="257" r:id="Rc8941664ab234dee"/>
    <p:sldId xmlns:r="http://schemas.openxmlformats.org/officeDocument/2006/relationships" id="258" r:id="Rc79c5cff8bde4a46"/>
    <p:sldId xmlns:r="http://schemas.openxmlformats.org/officeDocument/2006/relationships" id="259" r:id="R466707d1c62f48e9"/>
    <p:sldId xmlns:r="http://schemas.openxmlformats.org/officeDocument/2006/relationships" id="260" r:id="R44eb71d3e194426e"/>
    <p:sldId xmlns:r="http://schemas.openxmlformats.org/officeDocument/2006/relationships" id="261" r:id="R950b62f83dfc45fc"/>
    <p:sldId xmlns:r="http://schemas.openxmlformats.org/officeDocument/2006/relationships" id="262" r:id="R45509c166b4c4b1e"/>
    <p:sldId xmlns:r="http://schemas.openxmlformats.org/officeDocument/2006/relationships" id="263" r:id="R1c2526df054a454d"/>
    <p:sldId xmlns:r="http://schemas.openxmlformats.org/officeDocument/2006/relationships" id="264" r:id="R23d07f68357a4503"/>
    <p:sldId xmlns:r="http://schemas.openxmlformats.org/officeDocument/2006/relationships" id="265" r:id="Re0dec55e55124912"/>
    <p:sldId xmlns:r="http://schemas.openxmlformats.org/officeDocument/2006/relationships" id="266" r:id="R706a8133055b447c"/>
    <p:sldId xmlns:r="http://schemas.openxmlformats.org/officeDocument/2006/relationships" id="267" r:id="R400b7886d2e94be0"/>
    <p:sldId xmlns:r="http://schemas.openxmlformats.org/officeDocument/2006/relationships" id="268" r:id="R499317df76cd4b92"/>
    <p:sldId xmlns:r="http://schemas.openxmlformats.org/officeDocument/2006/relationships" id="269" r:id="R8baf832b447b4978"/>
    <p:sldId xmlns:r="http://schemas.openxmlformats.org/officeDocument/2006/relationships" id="270" r:id="R54481d00290b451d"/>
    <p:sldId xmlns:r="http://schemas.openxmlformats.org/officeDocument/2006/relationships" id="271" r:id="R698354d10d914c51"/>
    <p:sldId xmlns:r="http://schemas.openxmlformats.org/officeDocument/2006/relationships" id="272" r:id="R06fee6f35abc4aec"/>
    <p:sldId xmlns:r="http://schemas.openxmlformats.org/officeDocument/2006/relationships" id="273" r:id="R1d22c55db6914e78"/>
    <p:sldId xmlns:r="http://schemas.openxmlformats.org/officeDocument/2006/relationships" id="274" r:id="R67b135e9eac644b2"/>
    <p:sldId xmlns:r="http://schemas.openxmlformats.org/officeDocument/2006/relationships" id="275" r:id="R9570e1943c4b4382"/>
    <p:sldId xmlns:r="http://schemas.openxmlformats.org/officeDocument/2006/relationships" id="276" r:id="R99228c07639f4055"/>
    <p:sldId xmlns:r="http://schemas.openxmlformats.org/officeDocument/2006/relationships" id="277" r:id="R5b2712b431e94c88"/>
    <p:sldId xmlns:r="http://schemas.openxmlformats.org/officeDocument/2006/relationships" id="278" r:id="R09b6bb0ff6a54565"/>
    <p:sldId xmlns:r="http://schemas.openxmlformats.org/officeDocument/2006/relationships" id="279" r:id="R4b43d769224f45b6"/>
    <p:sldId xmlns:r="http://schemas.openxmlformats.org/officeDocument/2006/relationships" id="280" r:id="Rd9fb5054a21f4c14"/>
    <p:sldId xmlns:r="http://schemas.openxmlformats.org/officeDocument/2006/relationships" id="281" r:id="R4d7223ca96f14591"/>
    <p:sldId xmlns:r="http://schemas.openxmlformats.org/officeDocument/2006/relationships" id="282" r:id="Rc10ab62369a24823"/>
    <p:sldId xmlns:r="http://schemas.openxmlformats.org/officeDocument/2006/relationships" id="283" r:id="R62ad5fb5fcd14e62"/>
    <p:sldId xmlns:r="http://schemas.openxmlformats.org/officeDocument/2006/relationships" id="284" r:id="Reb289158890b49fd"/>
    <p:sldId xmlns:r="http://schemas.openxmlformats.org/officeDocument/2006/relationships" id="285" r:id="R085f2f6c2e084ec3"/>
    <p:sldId xmlns:r="http://schemas.openxmlformats.org/officeDocument/2006/relationships" id="286" r:id="R0469a99b2c5d4296"/>
    <p:sldId xmlns:r="http://schemas.openxmlformats.org/officeDocument/2006/relationships" id="287" r:id="R29930c267e704bb7"/>
    <p:sldId xmlns:r="http://schemas.openxmlformats.org/officeDocument/2006/relationships" id="288" r:id="Ra864b4acefe64256"/>
    <p:sldId xmlns:r="http://schemas.openxmlformats.org/officeDocument/2006/relationships" id="289" r:id="Rc645ec56bd9346d9"/>
    <p:sldId xmlns:r="http://schemas.openxmlformats.org/officeDocument/2006/relationships" id="290" r:id="R318f2b8f9cc04043"/>
    <p:sldId xmlns:r="http://schemas.openxmlformats.org/officeDocument/2006/relationships" id="291" r:id="R6d44abfbd6ed4e10"/>
    <p:sldId xmlns:r="http://schemas.openxmlformats.org/officeDocument/2006/relationships" id="292" r:id="Rd8e1b6a893964da3"/>
    <p:sldId xmlns:r="http://schemas.openxmlformats.org/officeDocument/2006/relationships" id="293" r:id="R5dff2d1d47d74fdd"/>
    <p:sldId xmlns:r="http://schemas.openxmlformats.org/officeDocument/2006/relationships" id="294" r:id="Ra7307b9ef0dd426c"/>
    <p:sldId xmlns:r="http://schemas.openxmlformats.org/officeDocument/2006/relationships" id="295" r:id="R0038722a50ac44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5b0de381614a81" /><Relationship Type="http://schemas.openxmlformats.org/officeDocument/2006/relationships/slideMaster" Target="/ppt/slideMasters/slideMaster1.xml" Id="Rabe62ce8f9bb4804" /><Relationship Type="http://schemas.openxmlformats.org/officeDocument/2006/relationships/notesMaster" Target="/ppt/notesMasters/notesMaster1.xml" Id="R94f34b801b9f4f55" /><Relationship Type="http://schemas.openxmlformats.org/officeDocument/2006/relationships/presProps" Target="/ppt/presProps.xml" Id="Rdd2e9c3cb52942e1" /><Relationship Type="http://schemas.openxmlformats.org/officeDocument/2006/relationships/tableStyles" Target="/ppt/tableStyles.xml" Id="Rc25ab9cd20df49e1" /><Relationship Type="http://schemas.openxmlformats.org/officeDocument/2006/relationships/slide" Target="/ppt/slides/slide1.xml" Id="R705bc4bb25ba42b6" /><Relationship Type="http://schemas.openxmlformats.org/officeDocument/2006/relationships/slide" Target="/ppt/slides/slide2.xml" Id="Rc8941664ab234dee" /><Relationship Type="http://schemas.openxmlformats.org/officeDocument/2006/relationships/slide" Target="/ppt/slides/slide3.xml" Id="Rc79c5cff8bde4a46" /><Relationship Type="http://schemas.openxmlformats.org/officeDocument/2006/relationships/slide" Target="/ppt/slides/slide4.xml" Id="R466707d1c62f48e9" /><Relationship Type="http://schemas.openxmlformats.org/officeDocument/2006/relationships/slide" Target="/ppt/slides/slide5.xml" Id="R44eb71d3e194426e" /><Relationship Type="http://schemas.openxmlformats.org/officeDocument/2006/relationships/slide" Target="/ppt/slides/slide6.xml" Id="R950b62f83dfc45fc" /><Relationship Type="http://schemas.openxmlformats.org/officeDocument/2006/relationships/slide" Target="/ppt/slides/slide7.xml" Id="R45509c166b4c4b1e" /><Relationship Type="http://schemas.openxmlformats.org/officeDocument/2006/relationships/slide" Target="/ppt/slides/slide8.xml" Id="R1c2526df054a454d" /><Relationship Type="http://schemas.openxmlformats.org/officeDocument/2006/relationships/slide" Target="/ppt/slides/slide9.xml" Id="R23d07f68357a4503" /><Relationship Type="http://schemas.openxmlformats.org/officeDocument/2006/relationships/slide" Target="/ppt/slides/slide10.xml" Id="Re0dec55e55124912" /><Relationship Type="http://schemas.openxmlformats.org/officeDocument/2006/relationships/slide" Target="/ppt/slides/slide11.xml" Id="R706a8133055b447c" /><Relationship Type="http://schemas.openxmlformats.org/officeDocument/2006/relationships/slide" Target="/ppt/slides/slide12.xml" Id="R400b7886d2e94be0" /><Relationship Type="http://schemas.openxmlformats.org/officeDocument/2006/relationships/slide" Target="/ppt/slides/slide13.xml" Id="R499317df76cd4b92" /><Relationship Type="http://schemas.openxmlformats.org/officeDocument/2006/relationships/slide" Target="/ppt/slides/slide14.xml" Id="R8baf832b447b4978" /><Relationship Type="http://schemas.openxmlformats.org/officeDocument/2006/relationships/slide" Target="/ppt/slides/slide15.xml" Id="R54481d00290b451d" /><Relationship Type="http://schemas.openxmlformats.org/officeDocument/2006/relationships/slide" Target="/ppt/slides/slide16.xml" Id="R698354d10d914c51" /><Relationship Type="http://schemas.openxmlformats.org/officeDocument/2006/relationships/slide" Target="/ppt/slides/slide17.xml" Id="R06fee6f35abc4aec" /><Relationship Type="http://schemas.openxmlformats.org/officeDocument/2006/relationships/slide" Target="/ppt/slides/slide18.xml" Id="R1d22c55db6914e78" /><Relationship Type="http://schemas.openxmlformats.org/officeDocument/2006/relationships/slide" Target="/ppt/slides/slide19.xml" Id="R67b135e9eac644b2" /><Relationship Type="http://schemas.openxmlformats.org/officeDocument/2006/relationships/slide" Target="/ppt/slides/slide20.xml" Id="R9570e1943c4b4382" /><Relationship Type="http://schemas.openxmlformats.org/officeDocument/2006/relationships/slide" Target="/ppt/slides/slide21.xml" Id="R99228c07639f4055" /><Relationship Type="http://schemas.openxmlformats.org/officeDocument/2006/relationships/slide" Target="/ppt/slides/slide22.xml" Id="R5b2712b431e94c88" /><Relationship Type="http://schemas.openxmlformats.org/officeDocument/2006/relationships/slide" Target="/ppt/slides/slide23.xml" Id="R09b6bb0ff6a54565" /><Relationship Type="http://schemas.openxmlformats.org/officeDocument/2006/relationships/slide" Target="/ppt/slides/slide24.xml" Id="R4b43d769224f45b6" /><Relationship Type="http://schemas.openxmlformats.org/officeDocument/2006/relationships/slide" Target="/ppt/slides/slide25.xml" Id="Rd9fb5054a21f4c14" /><Relationship Type="http://schemas.openxmlformats.org/officeDocument/2006/relationships/slide" Target="/ppt/slides/slide26.xml" Id="R4d7223ca96f14591" /><Relationship Type="http://schemas.openxmlformats.org/officeDocument/2006/relationships/slide" Target="/ppt/slides/slide27.xml" Id="Rc10ab62369a24823" /><Relationship Type="http://schemas.openxmlformats.org/officeDocument/2006/relationships/slide" Target="/ppt/slides/slide28.xml" Id="R62ad5fb5fcd14e62" /><Relationship Type="http://schemas.openxmlformats.org/officeDocument/2006/relationships/slide" Target="/ppt/slides/slide29.xml" Id="Reb289158890b49fd" /><Relationship Type="http://schemas.openxmlformats.org/officeDocument/2006/relationships/slide" Target="/ppt/slides/slide30.xml" Id="R085f2f6c2e084ec3" /><Relationship Type="http://schemas.openxmlformats.org/officeDocument/2006/relationships/slide" Target="/ppt/slides/slide31.xml" Id="R0469a99b2c5d4296" /><Relationship Type="http://schemas.openxmlformats.org/officeDocument/2006/relationships/slide" Target="/ppt/slides/slide32.xml" Id="R29930c267e704bb7" /><Relationship Type="http://schemas.openxmlformats.org/officeDocument/2006/relationships/slide" Target="/ppt/slides/slide33.xml" Id="Ra864b4acefe64256" /><Relationship Type="http://schemas.openxmlformats.org/officeDocument/2006/relationships/slide" Target="/ppt/slides/slide34.xml" Id="Rc645ec56bd9346d9" /><Relationship Type="http://schemas.openxmlformats.org/officeDocument/2006/relationships/slide" Target="/ppt/slides/slide35.xml" Id="R318f2b8f9cc04043" /><Relationship Type="http://schemas.openxmlformats.org/officeDocument/2006/relationships/slide" Target="/ppt/slides/slide36.xml" Id="R6d44abfbd6ed4e10" /><Relationship Type="http://schemas.openxmlformats.org/officeDocument/2006/relationships/slide" Target="/ppt/slides/slide37.xml" Id="Rd8e1b6a893964da3" /><Relationship Type="http://schemas.openxmlformats.org/officeDocument/2006/relationships/slide" Target="/ppt/slides/slide38.xml" Id="R5dff2d1d47d74fdd" /><Relationship Type="http://schemas.openxmlformats.org/officeDocument/2006/relationships/slide" Target="/ppt/slides/slide39.xml" Id="Ra7307b9ef0dd426c" /><Relationship Type="http://schemas.openxmlformats.org/officeDocument/2006/relationships/slide" Target="/ppt/slides/slide40.xml" Id="R0038722a50ac44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1da0986fbb48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b2691c093142cf" /><Relationship Type="http://schemas.openxmlformats.org/officeDocument/2006/relationships/notesMaster" Target="/ppt/notesMasters/notesMaster1.xml" Id="R0c4a684d97f140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c61fd2efd64747" /><Relationship Type="http://schemas.openxmlformats.org/officeDocument/2006/relationships/notesMaster" Target="/ppt/notesMasters/notesMaster1.xml" Id="Rb2ec9fce351d4f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f80ef05e5a42ba" /><Relationship Type="http://schemas.openxmlformats.org/officeDocument/2006/relationships/notesMaster" Target="/ppt/notesMasters/notesMaster1.xml" Id="Rdf6959877fc940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14f00378054bcc" /><Relationship Type="http://schemas.openxmlformats.org/officeDocument/2006/relationships/notesMaster" Target="/ppt/notesMasters/notesMaster1.xml" Id="R5cb26e03dd4642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5782686af74f4b" /><Relationship Type="http://schemas.openxmlformats.org/officeDocument/2006/relationships/notesMaster" Target="/ppt/notesMasters/notesMaster1.xml" Id="R16c3facc478642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dafdf60dd64c00" /><Relationship Type="http://schemas.openxmlformats.org/officeDocument/2006/relationships/notesMaster" Target="/ppt/notesMasters/notesMaster1.xml" Id="R572b01d1daea47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68cae956394894" /><Relationship Type="http://schemas.openxmlformats.org/officeDocument/2006/relationships/notesMaster" Target="/ppt/notesMasters/notesMaster1.xml" Id="R64c6d10a76614c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aa05799fd34867" /><Relationship Type="http://schemas.openxmlformats.org/officeDocument/2006/relationships/notesMaster" Target="/ppt/notesMasters/notesMaster1.xml" Id="R4c24cffe306e4b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0bfd3d6bfc404c" /><Relationship Type="http://schemas.openxmlformats.org/officeDocument/2006/relationships/notesMaster" Target="/ppt/notesMasters/notesMaster1.xml" Id="Re403d66e02794e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1b713a1a6345a5" /><Relationship Type="http://schemas.openxmlformats.org/officeDocument/2006/relationships/notesMaster" Target="/ppt/notesMasters/notesMaster1.xml" Id="R9983eb4ee8fc4b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b69abd40684920" /><Relationship Type="http://schemas.openxmlformats.org/officeDocument/2006/relationships/notesMaster" Target="/ppt/notesMasters/notesMaster1.xml" Id="R8e082a33b00d40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24fbce6f4e4522" /><Relationship Type="http://schemas.openxmlformats.org/officeDocument/2006/relationships/notesMaster" Target="/ppt/notesMasters/notesMaster1.xml" Id="R7c49f381242146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8f68a4e8a74fd3" /><Relationship Type="http://schemas.openxmlformats.org/officeDocument/2006/relationships/notesMaster" Target="/ppt/notesMasters/notesMaster1.xml" Id="R19819c8247a349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fd79634eae48a8" /><Relationship Type="http://schemas.openxmlformats.org/officeDocument/2006/relationships/notesMaster" Target="/ppt/notesMasters/notesMaster1.xml" Id="Rac0a12c8f18a49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dffb8670ac4451" /><Relationship Type="http://schemas.openxmlformats.org/officeDocument/2006/relationships/notesMaster" Target="/ppt/notesMasters/notesMaster1.xml" Id="R2fdf78ec61f546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c9ee170fc148a5" /><Relationship Type="http://schemas.openxmlformats.org/officeDocument/2006/relationships/notesMaster" Target="/ppt/notesMasters/notesMaster1.xml" Id="R07405c013c834b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99a4412e924018" /><Relationship Type="http://schemas.openxmlformats.org/officeDocument/2006/relationships/notesMaster" Target="/ppt/notesMasters/notesMaster1.xml" Id="Ra380cf8d064a4d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d7905b61434f91" /><Relationship Type="http://schemas.openxmlformats.org/officeDocument/2006/relationships/notesMaster" Target="/ppt/notesMasters/notesMaster1.xml" Id="Rde209a2153e74e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7844457540451d" /><Relationship Type="http://schemas.openxmlformats.org/officeDocument/2006/relationships/notesMaster" Target="/ppt/notesMasters/notesMaster1.xml" Id="R6c1b7b680f474b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c877b4550b4c15" /><Relationship Type="http://schemas.openxmlformats.org/officeDocument/2006/relationships/notesMaster" Target="/ppt/notesMasters/notesMaster1.xml" Id="Rb7bed4028fdc4a8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70aed690614fbe" /><Relationship Type="http://schemas.openxmlformats.org/officeDocument/2006/relationships/notesMaster" Target="/ppt/notesMasters/notesMaster1.xml" Id="R826cca79e37c40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ff1b0d5a7d4b04" /><Relationship Type="http://schemas.openxmlformats.org/officeDocument/2006/relationships/notesMaster" Target="/ppt/notesMasters/notesMaster1.xml" Id="R55de797fb299444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0e29568ff8348ba" /><Relationship Type="http://schemas.openxmlformats.org/officeDocument/2006/relationships/notesMaster" Target="/ppt/notesMasters/notesMaster1.xml" Id="R243e97d474e247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977811dffc24ad5" /><Relationship Type="http://schemas.openxmlformats.org/officeDocument/2006/relationships/notesMaster" Target="/ppt/notesMasters/notesMaster1.xml" Id="R57116a7bbfad45b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25d9a0cd4d4459" /><Relationship Type="http://schemas.openxmlformats.org/officeDocument/2006/relationships/notesMaster" Target="/ppt/notesMasters/notesMaster1.xml" Id="R4856917f14234e9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5f7a6467f8c4209" /><Relationship Type="http://schemas.openxmlformats.org/officeDocument/2006/relationships/notesMaster" Target="/ppt/notesMasters/notesMaster1.xml" Id="R0b6f7bc49724428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4741d5783964baf" /><Relationship Type="http://schemas.openxmlformats.org/officeDocument/2006/relationships/notesMaster" Target="/ppt/notesMasters/notesMaster1.xml" Id="Raec8363f1eaa42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ecccc0635914d4a" /><Relationship Type="http://schemas.openxmlformats.org/officeDocument/2006/relationships/notesMaster" Target="/ppt/notesMasters/notesMaster1.xml" Id="R4d734b2c8fc6409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d0ea5063a5c418a" /><Relationship Type="http://schemas.openxmlformats.org/officeDocument/2006/relationships/notesMaster" Target="/ppt/notesMasters/notesMaster1.xml" Id="Rcf61b2e5a20049c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ab1693054f6442f" /><Relationship Type="http://schemas.openxmlformats.org/officeDocument/2006/relationships/notesMaster" Target="/ppt/notesMasters/notesMaster1.xml" Id="R00ca6c4c6f1e480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55e330debbe40f2" /><Relationship Type="http://schemas.openxmlformats.org/officeDocument/2006/relationships/notesMaster" Target="/ppt/notesMasters/notesMaster1.xml" Id="R832e738e920b460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b20983b582e435a" /><Relationship Type="http://schemas.openxmlformats.org/officeDocument/2006/relationships/notesMaster" Target="/ppt/notesMasters/notesMaster1.xml" Id="Rccaad2cae25f44b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2aff3e3add34d4b" /><Relationship Type="http://schemas.openxmlformats.org/officeDocument/2006/relationships/notesMaster" Target="/ppt/notesMasters/notesMaster1.xml" Id="R4a2210252326438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9a0771250564054" /><Relationship Type="http://schemas.openxmlformats.org/officeDocument/2006/relationships/notesMaster" Target="/ppt/notesMasters/notesMaster1.xml" Id="R817dd9a1d79047a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5210c8af5ec4675" /><Relationship Type="http://schemas.openxmlformats.org/officeDocument/2006/relationships/notesMaster" Target="/ppt/notesMasters/notesMaster1.xml" Id="Rb6d73e5349ae42c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f4ad8e56a5d410e" /><Relationship Type="http://schemas.openxmlformats.org/officeDocument/2006/relationships/notesMaster" Target="/ppt/notesMasters/notesMaster1.xml" Id="R4d1d34de2e414cc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1c2c4aa16a4069" /><Relationship Type="http://schemas.openxmlformats.org/officeDocument/2006/relationships/notesMaster" Target="/ppt/notesMasters/notesMaster1.xml" Id="Rbeb230f2e208488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a073f2c4a6e4364" /><Relationship Type="http://schemas.openxmlformats.org/officeDocument/2006/relationships/notesMaster" Target="/ppt/notesMasters/notesMaster1.xml" Id="Rdb463b61d05a401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ea24c45c6d34140" /><Relationship Type="http://schemas.openxmlformats.org/officeDocument/2006/relationships/notesMaster" Target="/ppt/notesMasters/notesMaster1.xml" Id="R30d81e0a8595478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0603cdddca2458e" /><Relationship Type="http://schemas.openxmlformats.org/officeDocument/2006/relationships/notesMaster" Target="/ppt/notesMasters/notesMaster1.xml" Id="R663499a5dda24f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  <a:p xmlns:a="http://schemas.openxmlformats.org/drawingml/2006/main">
            <a:r>
              <a:t>Illustration retained from the original course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https://docs.python.org/3/reference/datamodel.html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  <a:p xmlns:a="http://schemas.openxmlformats.org/drawingml/2006/main">
            <a:r>
              <a:t>Illustration retained from the original course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Examples use Python 3.12+.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debf152f447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e1be3fbbdb4a07" /><Relationship Type="http://schemas.openxmlformats.org/officeDocument/2006/relationships/slideLayout" Target="/ppt/slideLayouts/slideLayout1.xml" Id="Rde657503299a47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657503299a47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c36acadf0412f" /><Relationship Type="http://schemas.openxmlformats.org/officeDocument/2006/relationships/image" Target="/ppt/media/image.png" Id="Rbc32be61ae944f08" /><Relationship Type="http://schemas.openxmlformats.org/officeDocument/2006/relationships/notesSlide" Target="/ppt/notesSlides/notesSlide1.xml" Id="R23e0570e2f5d49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0aff6e6924f8e" /><Relationship Type="http://schemas.openxmlformats.org/officeDocument/2006/relationships/notesSlide" Target="/ppt/notesSlides/notesSlide2.xml" Id="R602785fd05824f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0ef02fa04467b" /><Relationship Type="http://schemas.openxmlformats.org/officeDocument/2006/relationships/notesSlide" Target="/ppt/notesSlides/notesSlide3.xml" Id="R7a2a267a08584b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9d7c92dec47cc" /><Relationship Type="http://schemas.openxmlformats.org/officeDocument/2006/relationships/notesSlide" Target="/ppt/notesSlides/notesSlide4.xml" Id="R8e24f4a1d5aa46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77f2b5f534d23" /><Relationship Type="http://schemas.openxmlformats.org/officeDocument/2006/relationships/image" Target="/ppt/media/image2.png" Id="R9ad1ad66767e4da8" /><Relationship Type="http://schemas.openxmlformats.org/officeDocument/2006/relationships/notesSlide" Target="/ppt/notesSlides/notesSlide5.xml" Id="Rf0c89e1698bf4a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eb6e5ee9a46ce" /><Relationship Type="http://schemas.openxmlformats.org/officeDocument/2006/relationships/notesSlide" Target="/ppt/notesSlides/notesSlide6.xml" Id="Rbbab8fe8c72c42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dca1e993343a8" /><Relationship Type="http://schemas.openxmlformats.org/officeDocument/2006/relationships/notesSlide" Target="/ppt/notesSlides/notesSlide7.xml" Id="R77f9ae77b92a4d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63d62f6fb42f4" /><Relationship Type="http://schemas.openxmlformats.org/officeDocument/2006/relationships/notesSlide" Target="/ppt/notesSlides/notesSlide8.xml" Id="R6b606a7e9fa148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6e7f20afa4393" /><Relationship Type="http://schemas.openxmlformats.org/officeDocument/2006/relationships/notesSlide" Target="/ppt/notesSlides/notesSlide9.xml" Id="R9a891889c4474d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7800ae6b34f07" /><Relationship Type="http://schemas.openxmlformats.org/officeDocument/2006/relationships/notesSlide" Target="/ppt/notesSlides/notesSlide10.xml" Id="R0d78c3aed25747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0d4b66c2048c3" /><Relationship Type="http://schemas.openxmlformats.org/officeDocument/2006/relationships/notesSlide" Target="/ppt/notesSlides/notesSlide11.xml" Id="R48046635472a4f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74a979164ebd" /><Relationship Type="http://schemas.openxmlformats.org/officeDocument/2006/relationships/notesSlide" Target="/ppt/notesSlides/notesSlide12.xml" Id="Rb75e9368f92b45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9c932c314435a" /><Relationship Type="http://schemas.openxmlformats.org/officeDocument/2006/relationships/notesSlide" Target="/ppt/notesSlides/notesSlide13.xml" Id="R15d4504599414a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09a03561b48c6" /><Relationship Type="http://schemas.openxmlformats.org/officeDocument/2006/relationships/notesSlide" Target="/ppt/notesSlides/notesSlide14.xml" Id="R63efb03742ca42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d3f1a91124e84" /><Relationship Type="http://schemas.openxmlformats.org/officeDocument/2006/relationships/notesSlide" Target="/ppt/notesSlides/notesSlide15.xml" Id="Rbab5c4f357384f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4b017ba964564" /><Relationship Type="http://schemas.openxmlformats.org/officeDocument/2006/relationships/notesSlide" Target="/ppt/notesSlides/notesSlide16.xml" Id="Re739a7c43fe748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52186e22441cb" /><Relationship Type="http://schemas.openxmlformats.org/officeDocument/2006/relationships/notesSlide" Target="/ppt/notesSlides/notesSlide17.xml" Id="R1686ca3c5fe942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16bc9fd7746b3" /><Relationship Type="http://schemas.openxmlformats.org/officeDocument/2006/relationships/notesSlide" Target="/ppt/notesSlides/notesSlide18.xml" Id="R59c35f3d7d3b4b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61a262c18458e" /><Relationship Type="http://schemas.openxmlformats.org/officeDocument/2006/relationships/notesSlide" Target="/ppt/notesSlides/notesSlide19.xml" Id="R373ef0ca56a74e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8d3f987e046fe" /><Relationship Type="http://schemas.openxmlformats.org/officeDocument/2006/relationships/notesSlide" Target="/ppt/notesSlides/notesSlide20.xml" Id="R167ed481861442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e5e1a050b4112" /><Relationship Type="http://schemas.openxmlformats.org/officeDocument/2006/relationships/notesSlide" Target="/ppt/notesSlides/notesSlide21.xml" Id="Rffdf12b2fcc54e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7116910fe4949" /><Relationship Type="http://schemas.openxmlformats.org/officeDocument/2006/relationships/notesSlide" Target="/ppt/notesSlides/notesSlide22.xml" Id="Ra8be7de198ad412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c3e067c954e08" /><Relationship Type="http://schemas.openxmlformats.org/officeDocument/2006/relationships/notesSlide" Target="/ppt/notesSlides/notesSlide23.xml" Id="R58ca769f066c451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037d07c754683" /><Relationship Type="http://schemas.openxmlformats.org/officeDocument/2006/relationships/notesSlide" Target="/ppt/notesSlides/notesSlide24.xml" Id="R56195a05a6dc46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fe19482af4a88" /><Relationship Type="http://schemas.openxmlformats.org/officeDocument/2006/relationships/notesSlide" Target="/ppt/notesSlides/notesSlide25.xml" Id="R42bfab00ef5f42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63c465d99406b" /><Relationship Type="http://schemas.openxmlformats.org/officeDocument/2006/relationships/notesSlide" Target="/ppt/notesSlides/notesSlide26.xml" Id="Rb11feb5c16994ca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965d83ed240ff" /><Relationship Type="http://schemas.openxmlformats.org/officeDocument/2006/relationships/notesSlide" Target="/ppt/notesSlides/notesSlide27.xml" Id="R69bdae0aa95d412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0781953564c4b" /><Relationship Type="http://schemas.openxmlformats.org/officeDocument/2006/relationships/notesSlide" Target="/ppt/notesSlides/notesSlide28.xml" Id="Rf31f69309e7144c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00a7cec3d4f86" /><Relationship Type="http://schemas.openxmlformats.org/officeDocument/2006/relationships/notesSlide" Target="/ppt/notesSlides/notesSlide29.xml" Id="R7ac166d61326482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41786fd4b4645" /><Relationship Type="http://schemas.openxmlformats.org/officeDocument/2006/relationships/notesSlide" Target="/ppt/notesSlides/notesSlide30.xml" Id="R4f4bf49cdc5144c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8b672fe644747" /><Relationship Type="http://schemas.openxmlformats.org/officeDocument/2006/relationships/notesSlide" Target="/ppt/notesSlides/notesSlide31.xml" Id="R98857ca413234c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2458500444422" /><Relationship Type="http://schemas.openxmlformats.org/officeDocument/2006/relationships/notesSlide" Target="/ppt/notesSlides/notesSlide32.xml" Id="R465469f4fb1343f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38b8778a848fc" /><Relationship Type="http://schemas.openxmlformats.org/officeDocument/2006/relationships/notesSlide" Target="/ppt/notesSlides/notesSlide33.xml" Id="R0df3de41798c47c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401adf9d94944" /><Relationship Type="http://schemas.openxmlformats.org/officeDocument/2006/relationships/notesSlide" Target="/ppt/notesSlides/notesSlide34.xml" Id="R6d03740ebb8e43d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5e288dc1f40c5" /><Relationship Type="http://schemas.openxmlformats.org/officeDocument/2006/relationships/notesSlide" Target="/ppt/notesSlides/notesSlide35.xml" Id="R38f23127d4a74a3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c9709a7a44d1d" /><Relationship Type="http://schemas.openxmlformats.org/officeDocument/2006/relationships/notesSlide" Target="/ppt/notesSlides/notesSlide36.xml" Id="R70d7478bb69d493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23869155e4fb8" /><Relationship Type="http://schemas.openxmlformats.org/officeDocument/2006/relationships/notesSlide" Target="/ppt/notesSlides/notesSlide37.xml" Id="Rfbe2584048e642b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443923e634c21" /><Relationship Type="http://schemas.openxmlformats.org/officeDocument/2006/relationships/notesSlide" Target="/ppt/notesSlides/notesSlide38.xml" Id="Rcf6b036aa3864d0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c8b2c1c3c441d" /><Relationship Type="http://schemas.openxmlformats.org/officeDocument/2006/relationships/notesSlide" Target="/ppt/notesSlides/notesSlide39.xml" Id="R144122a87689401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393b6e18544cf" /><Relationship Type="http://schemas.openxmlformats.org/officeDocument/2006/relationships/notesSlide" Target="/ppt/notesSlides/notesSlide40.xml" Id="R617ddb435fd44a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2be61ae944f0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EEK 03">
            <a:extLst xmlns:a="http://schemas.openxmlformats.org/drawingml/2006/main">
              <a:ext uri="{FF2B5EF4-FFF2-40B4-BE49-F238E27FC236}">
                <a16:creationId xmlns:a16="http://schemas.microsoft.com/office/drawing/2014/main" id="{EB23B9A5-7A1C-4B5B-861C-ACA74A49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WEEK 03</a:t>
            </a:r>
          </a:p>
        </p:txBody>
      </p:sp>
      <p:sp>
        <p:nvSpPr>
          <p:cNvPr id="3" name="類別、物件 與物件模型">
            <a:extLst xmlns:a="http://schemas.openxmlformats.org/drawingml/2006/main">
              <a:ext uri="{FF2B5EF4-FFF2-40B4-BE49-F238E27FC236}">
                <a16:creationId xmlns:a16="http://schemas.microsoft.com/office/drawing/2014/main" id="{9939FB3E-25BB-45B6-9FD1-C15D63CF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714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Classes, Objects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and the Object Model</a:t>
            </a:r>
          </a:p>
        </p:txBody>
      </p:sp>
      <p:sp>
        <p:nvSpPr>
          <p:cNvPr id="4" name="物件導向程式設計">
            <a:extLst xmlns:a="http://schemas.openxmlformats.org/drawingml/2006/main">
              <a:ext uri="{FF2B5EF4-FFF2-40B4-BE49-F238E27FC236}">
                <a16:creationId xmlns:a16="http://schemas.microsoft.com/office/drawing/2014/main" id="{62C085F4-E1EE-4D38-AE11-BC459A7C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Object-Oriented Programming</a:t>
            </a:r>
          </a:p>
        </p:txBody>
      </p:sp>
      <p:sp>
        <p:nvSpPr>
          <p:cNvPr id="5" name="國立雲林科技大學 電子工程系 115 學年度第 1 學期　何敏煌">
            <a:extLst xmlns:a="http://schemas.openxmlformats.org/drawingml/2006/main">
              <a:ext uri="{FF2B5EF4-FFF2-40B4-BE49-F238E27FC236}">
                <a16:creationId xmlns:a16="http://schemas.microsoft.com/office/drawing/2014/main" id="{2F8E129C-2D3C-4F2D-80F3-F9A98068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National Yunlin University of Science and Technology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Department of Electronic Engineering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Academic Year 115, Semester 1   Min-Huang Ho</a:t>
            </a:r>
          </a:p>
        </p:txBody>
      </p:sp>
    </p:spTree>
    <p:extLst>
      <p:ext uri="{BB962C8B-B14F-4D97-AF65-F5344CB8AC3E}">
        <p14:creationId xmlns:p14="http://schemas.microsoft.com/office/powerpoint/2010/main" val="809092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第三週的核心內容">
            <a:extLst xmlns:a="http://schemas.openxmlformats.org/drawingml/2006/main">
              <a:ext uri="{FF2B5EF4-FFF2-40B4-BE49-F238E27FC236}">
                <a16:creationId xmlns:a16="http://schemas.microsoft.com/office/drawing/2014/main" id="{48A070FD-5CB2-443F-B094-B8F2BD13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Week 3 Topics</a:t>
            </a:r>
          </a:p>
        </p:txBody>
      </p:sp>
      <p:sp>
        <p:nvSpPr>
          <p:cNvPr id="2" name="課程範圍">
            <a:extLst xmlns:a="http://schemas.openxmlformats.org/drawingml/2006/main">
              <a:ext uri="{FF2B5EF4-FFF2-40B4-BE49-F238E27FC236}">
                <a16:creationId xmlns:a16="http://schemas.microsoft.com/office/drawing/2014/main" id="{DA469F36-83FB-431D-A19D-109502C3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Scope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0116AC92-4E21-4F14-8963-6E3B7FA0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FC4C2F9B-BB59-436D-AA25-B0E84274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Object model</a:t>
            </a:r>
          </a:p>
        </p:txBody>
      </p:sp>
      <p:sp>
        <p:nvSpPr>
          <p:cNvPr id="5" name="類別、實體、身分、狀態與行為">
            <a:extLst xmlns:a="http://schemas.openxmlformats.org/drawingml/2006/main">
              <a:ext uri="{FF2B5EF4-FFF2-40B4-BE49-F238E27FC236}">
                <a16:creationId xmlns:a16="http://schemas.microsoft.com/office/drawing/2014/main" id="{09BC28C3-6E74-475F-9BDA-1480E1BB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Classes, instances, identity, state, and behavior</a:t>
            </a:r>
          </a:p>
        </p:txBody>
      </p:sp>
      <p:sp>
        <p:nvSpPr>
          <p:cNvPr id="6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B57F8361-DFAC-4219-935E-C2D1DA4A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Object creation</a:t>
            </a:r>
          </a:p>
        </p:txBody>
      </p:sp>
      <p:sp>
        <p:nvSpPr>
          <p:cNvPr id="7" name="__new__、__init__、self 與有效狀態">
            <a:extLst xmlns:a="http://schemas.openxmlformats.org/drawingml/2006/main">
              <a:ext uri="{FF2B5EF4-FFF2-40B4-BE49-F238E27FC236}">
                <a16:creationId xmlns:a16="http://schemas.microsoft.com/office/drawing/2014/main" id="{6B6C3190-995B-4567-8B13-EF07776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__new__, __init__, self, and valid initial state</a:t>
            </a:r>
          </a:p>
        </p:txBody>
      </p:sp>
      <p:sp>
        <p:nvSpPr>
          <p:cNvPr id="8" name="資料歸屬">
            <a:extLst xmlns:a="http://schemas.openxmlformats.org/drawingml/2006/main">
              <a:ext uri="{FF2B5EF4-FFF2-40B4-BE49-F238E27FC236}">
                <a16:creationId xmlns:a16="http://schemas.microsoft.com/office/drawing/2014/main" id="{6E5B3433-E060-4172-B9ED-5A8ADF19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Data ownership</a:t>
            </a:r>
          </a:p>
        </p:txBody>
      </p:sp>
      <p:sp>
        <p:nvSpPr>
          <p:cNvPr id="9" name="實體屬性、類別屬性、共享與遮蔽">
            <a:extLst xmlns:a="http://schemas.openxmlformats.org/drawingml/2006/main">
              <a:ext uri="{FF2B5EF4-FFF2-40B4-BE49-F238E27FC236}">
                <a16:creationId xmlns:a16="http://schemas.microsoft.com/office/drawing/2014/main" id="{35A2B344-E2A1-4068-85A1-95DD9F8D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Instance attributes, class attributes, and sharing</a:t>
            </a:r>
          </a:p>
        </p:txBody>
      </p:sp>
      <p:sp>
        <p:nvSpPr>
          <p:cNvPr id="10" name="方法選擇">
            <a:extLst xmlns:a="http://schemas.openxmlformats.org/drawingml/2006/main">
              <a:ext uri="{FF2B5EF4-FFF2-40B4-BE49-F238E27FC236}">
                <a16:creationId xmlns:a16="http://schemas.microsoft.com/office/drawing/2014/main" id="{8B878B3F-1B3D-4F09-B24C-1DCDFEE1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Method types</a:t>
            </a:r>
          </a:p>
        </p:txBody>
      </p:sp>
      <p:sp>
        <p:nvSpPr>
          <p:cNvPr id="11" name="實體方法、classmethod、staticmethod">
            <a:extLst xmlns:a="http://schemas.openxmlformats.org/drawingml/2006/main">
              <a:ext uri="{FF2B5EF4-FFF2-40B4-BE49-F238E27FC236}">
                <a16:creationId xmlns:a16="http://schemas.microsoft.com/office/drawing/2014/main" id="{640362B0-8BCF-48A6-AFF2-18157380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Instance methods, classmethod, and staticmethod</a:t>
            </a:r>
          </a:p>
        </p:txBody>
      </p:sp>
      <p:sp>
        <p:nvSpPr>
          <p:cNvPr id="12" name="範例採 Python 3.12+。附檔中的每個範例均可獨立執行。">
            <a:extLst xmlns:a="http://schemas.openxmlformats.org/drawingml/2006/main">
              <a:ext uri="{FF2B5EF4-FFF2-40B4-BE49-F238E27FC236}">
                <a16:creationId xmlns:a16="http://schemas.microsoft.com/office/drawing/2014/main" id="{AC6465E1-4B8F-4619-AD4E-FA64644F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76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Examples use Python 3.12+. Each accompanying example file runs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607875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OA、OOD 與 OOP 的位置">
            <a:extLst xmlns:a="http://schemas.openxmlformats.org/drawingml/2006/main">
              <a:ext uri="{FF2B5EF4-FFF2-40B4-BE49-F238E27FC236}">
                <a16:creationId xmlns:a16="http://schemas.microsoft.com/office/drawing/2014/main" id="{B9D23E24-9605-4094-A3E7-9592517E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OOA, OOD, and OOP</a:t>
            </a:r>
          </a:p>
        </p:txBody>
      </p:sp>
      <p:sp>
        <p:nvSpPr>
          <p:cNvPr id="2" name="物件導向的基本觀念">
            <a:extLst xmlns:a="http://schemas.openxmlformats.org/drawingml/2006/main">
              <a:ext uri="{FF2B5EF4-FFF2-40B4-BE49-F238E27FC236}">
                <a16:creationId xmlns:a16="http://schemas.microsoft.com/office/drawing/2014/main" id="{D7234CED-F2BE-48DE-A7AB-8D0484F5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Object-oriented fundamentals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163775DA-7F0C-425B-B7C8-19833421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905250"/>
                <a:gridCol w="48768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Key question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 data example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OOA: Analysis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What concepts and rules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do the requirements describe?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Students have IDs, names,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course records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OOD: Design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How should data and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responsibilities be organized?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 manages student state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related behavior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OOP: Implementation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How do we implement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the design in code?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class Student, attributes,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methods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分析、設計與實作會反覆修正。本週聚焦 Python 物件模型。">
            <a:extLst xmlns:a="http://schemas.openxmlformats.org/drawingml/2006/main">
              <a:ext uri="{FF2B5EF4-FFF2-40B4-BE49-F238E27FC236}">
                <a16:creationId xmlns:a16="http://schemas.microsoft.com/office/drawing/2014/main" id="{DB2B78C4-7E8D-431C-8D61-0CBA9AF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Analysis, design, and implementation inform each other. This week focuses on the Python object model.</a:t>
            </a:r>
          </a:p>
        </p:txBody>
      </p:sp>
    </p:spTree>
    <p:extLst>
      <p:ext uri="{BB962C8B-B14F-4D97-AF65-F5344CB8AC3E}">
        <p14:creationId xmlns:p14="http://schemas.microsoft.com/office/powerpoint/2010/main" val="1258911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傳統 OOP 的四個常見核心概念">
            <a:extLst xmlns:a="http://schemas.openxmlformats.org/drawingml/2006/main">
              <a:ext uri="{FF2B5EF4-FFF2-40B4-BE49-F238E27FC236}">
                <a16:creationId xmlns:a16="http://schemas.microsoft.com/office/drawing/2014/main" id="{5D30A0C5-3622-4FAF-8EBD-D36B8B7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Four Common OOP Concepts</a:t>
            </a:r>
          </a:p>
        </p:txBody>
      </p:sp>
      <p:sp>
        <p:nvSpPr>
          <p:cNvPr id="2" name="物件導向的基本觀念">
            <a:extLst xmlns:a="http://schemas.openxmlformats.org/drawingml/2006/main">
              <a:ext uri="{FF2B5EF4-FFF2-40B4-BE49-F238E27FC236}">
                <a16:creationId xmlns:a16="http://schemas.microsoft.com/office/drawing/2014/main" id="{73B60D7E-E0FB-4ABE-AB9B-3F355F93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Object-oriented fundamentals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72D73289-842B-428F-A203-3D155D9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305300"/>
                <a:gridCol w="47625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Concept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Main concern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Connection to this week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Abstraction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Represent the features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relevant to a task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 represents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relevant student data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Encapsulation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Keep state and its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operations together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Introduce methods now,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information hiding in Week 4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Inheritance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Define a derived type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from an existing type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 short example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explains cls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Polymorphism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Support different implementations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of the same operation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Explore further with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interfaces and inheritance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本週重點是建立與使用物件，先掌握資料歸屬與方法呼叫。">
            <a:extLst xmlns:a="http://schemas.openxmlformats.org/drawingml/2006/main">
              <a:ext uri="{FF2B5EF4-FFF2-40B4-BE49-F238E27FC236}">
                <a16:creationId xmlns:a16="http://schemas.microsoft.com/office/drawing/2014/main" id="{EE77F235-C349-47BF-9E75-D36DDC14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This week focuses on creating and using objects, data ownership, and method calls.</a:t>
            </a:r>
          </a:p>
        </p:txBody>
      </p:sp>
    </p:spTree>
    <p:extLst>
      <p:ext uri="{BB962C8B-B14F-4D97-AF65-F5344CB8AC3E}">
        <p14:creationId xmlns:p14="http://schemas.microsoft.com/office/powerpoint/2010/main" val="1594949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物件的身分、狀態與行為">
            <a:extLst xmlns:a="http://schemas.openxmlformats.org/drawingml/2006/main">
              <a:ext uri="{FF2B5EF4-FFF2-40B4-BE49-F238E27FC236}">
                <a16:creationId xmlns:a16="http://schemas.microsoft.com/office/drawing/2014/main" id="{E84DF4A5-8087-4907-ACB7-7211E3DF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Identity, State, and Behavior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FD2E1FF4-4243-4F81-9799-A33E019F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The object model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C520BB53-D039-4A1C-9BCE-956BE1F2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1ad66767e4da8"/>
          <a:srcRect xmlns:a="http://schemas.openxmlformats.org/drawingml/2006/main" l="3608" t="0" r="36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7525" y="1790700"/>
            <a:ext cx="4572000" cy="3695700"/>
          </a:xfrm>
          <a:prstGeom xmlns:a="http://schemas.openxmlformats.org/drawingml/2006/main" prst="rect">
            <a:avLst/>
          </a:prstGeom>
        </p:spPr>
      </p:pic>
      <p:sp>
        <p:nvSpPr>
          <p:cNvPr id="5" name="身分 identity">
            <a:extLst xmlns:a="http://schemas.openxmlformats.org/drawingml/2006/main">
              <a:ext uri="{FF2B5EF4-FFF2-40B4-BE49-F238E27FC236}">
                <a16:creationId xmlns:a16="http://schemas.microsoft.com/office/drawing/2014/main" id="{3E064095-6330-4CD6-950B-291316C6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Identity</a:t>
            </a:r>
          </a:p>
        </p:txBody>
      </p:sp>
      <p:sp>
        <p:nvSpPr>
          <p:cNvPr id="6" name="是否為同一個物件：is">
            <a:extLst xmlns:a="http://schemas.openxmlformats.org/drawingml/2006/main">
              <a:ext uri="{FF2B5EF4-FFF2-40B4-BE49-F238E27FC236}">
                <a16:creationId xmlns:a16="http://schemas.microsoft.com/office/drawing/2014/main" id="{84E9CB93-4B4F-4738-8FC2-E068D069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Whether two references identify the same object: is</a:t>
            </a:r>
          </a:p>
        </p:txBody>
      </p:sp>
      <p:sp>
        <p:nvSpPr>
          <p:cNvPr id="7" name="狀態 state">
            <a:extLst xmlns:a="http://schemas.openxmlformats.org/drawingml/2006/main">
              <a:ext uri="{FF2B5EF4-FFF2-40B4-BE49-F238E27FC236}">
                <a16:creationId xmlns:a16="http://schemas.microsoft.com/office/drawing/2014/main" id="{BD416492-6088-4C33-9C8E-35BD2F0D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State</a:t>
            </a:r>
          </a:p>
        </p:txBody>
      </p:sp>
      <p:sp>
        <p:nvSpPr>
          <p:cNvPr id="8" name="目前保存的資料：name、balance">
            <a:extLst xmlns:a="http://schemas.openxmlformats.org/drawingml/2006/main">
              <a:ext uri="{FF2B5EF4-FFF2-40B4-BE49-F238E27FC236}">
                <a16:creationId xmlns:a16="http://schemas.microsoft.com/office/drawing/2014/main" id="{82E02DB9-F25B-43C2-B596-5F5C977B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Stored data, such as name and balance</a:t>
            </a:r>
          </a:p>
        </p:txBody>
      </p:sp>
      <p:sp>
        <p:nvSpPr>
          <p:cNvPr id="9" name="行為 behavior">
            <a:extLst xmlns:a="http://schemas.openxmlformats.org/drawingml/2006/main">
              <a:ext uri="{FF2B5EF4-FFF2-40B4-BE49-F238E27FC236}">
                <a16:creationId xmlns:a16="http://schemas.microsoft.com/office/drawing/2014/main" id="{26BB7A6B-AEFB-4580-9AC2-CD470421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Behavior</a:t>
            </a:r>
          </a:p>
        </p:txBody>
      </p:sp>
      <p:sp>
        <p:nvSpPr>
          <p:cNvPr id="10" name="物件提供的操作：rename、deposit">
            <a:extLst xmlns:a="http://schemas.openxmlformats.org/drawingml/2006/main">
              <a:ext uri="{FF2B5EF4-FFF2-40B4-BE49-F238E27FC236}">
                <a16:creationId xmlns:a16="http://schemas.microsoft.com/office/drawing/2014/main" id="{F9155B2A-0CA1-4F3B-9926-3F879432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Operations, such as rename and deposit</a:t>
            </a:r>
          </a:p>
        </p:txBody>
      </p:sp>
      <p:sp>
        <p:nvSpPr>
          <p:cNvPr id="11" name="兩個物件可以有相同狀態，仍然擁有不同身分。">
            <a:extLst xmlns:a="http://schemas.openxmlformats.org/drawingml/2006/main">
              <a:ext uri="{FF2B5EF4-FFF2-40B4-BE49-F238E27FC236}">
                <a16:creationId xmlns:a16="http://schemas.microsoft.com/office/drawing/2014/main" id="{6BBFB62B-25E2-4912-8379-F73362F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57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Two objects can have the same state while retaining distinct identities.</a:t>
            </a:r>
          </a:p>
        </p:txBody>
      </p:sp>
    </p:spTree>
    <p:extLst>
      <p:ext uri="{BB962C8B-B14F-4D97-AF65-F5344CB8AC3E}">
        <p14:creationId xmlns:p14="http://schemas.microsoft.com/office/powerpoint/2010/main" val="1940502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類別與實體的差異">
            <a:extLst xmlns:a="http://schemas.openxmlformats.org/drawingml/2006/main">
              <a:ext uri="{FF2B5EF4-FFF2-40B4-BE49-F238E27FC236}">
                <a16:creationId xmlns:a16="http://schemas.microsoft.com/office/drawing/2014/main" id="{AC9AED8D-9DF4-4093-8E1B-8C31A102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Classes and Instances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9EB41DD7-920F-42E7-8A17-C04A1157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The object model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A99B4B2F-359D-4512-A01E-1201A2E5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533900"/>
                <a:gridCol w="45339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Class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Instance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Defines a type and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shared behavior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Represents a specific entity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The objects referenced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by amy and bob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Data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Class attributes,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such as school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Instance attributes,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such as name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Creation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Execute a class statement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Call Student(...)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Python 中，類別本身也是物件。">
            <a:extLst xmlns:a="http://schemas.openxmlformats.org/drawingml/2006/main">
              <a:ext uri="{FF2B5EF4-FFF2-40B4-BE49-F238E27FC236}">
                <a16:creationId xmlns:a16="http://schemas.microsoft.com/office/drawing/2014/main" id="{308FE1F7-E4C5-4811-8DFB-44EA9D86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In Python, a class is itself an object.</a:t>
            </a:r>
          </a:p>
        </p:txBody>
      </p:sp>
    </p:spTree>
    <p:extLst>
      <p:ext uri="{BB962C8B-B14F-4D97-AF65-F5344CB8AC3E}">
        <p14:creationId xmlns:p14="http://schemas.microsoft.com/office/powerpoint/2010/main" val="1105638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ython 中的型別與物件">
            <a:extLst xmlns:a="http://schemas.openxmlformats.org/drawingml/2006/main">
              <a:ext uri="{FF2B5EF4-FFF2-40B4-BE49-F238E27FC236}">
                <a16:creationId xmlns:a16="http://schemas.microsoft.com/office/drawing/2014/main" id="{EFCDD2F4-2D63-4AF4-8EE0-543526A0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Types and Objects in Python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0CC2CF2D-8905-48C6-8694-6CB470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The object model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99800AC0-E4A5-4BE1-9973-8163011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BFFA977-77B8-4A09-8BAE-19C960A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pass">
            <a:extLst xmlns:a="http://schemas.openxmlformats.org/drawingml/2006/main">
              <a:ext uri="{FF2B5EF4-FFF2-40B4-BE49-F238E27FC236}">
                <a16:creationId xmlns:a16="http://schemas.microsoft.com/office/drawing/2014/main" id="{D7C0D401-8013-4037-A084-8E067C6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4E734-475A-4B7F-8348-FE6D4C0E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my = Student()">
            <a:extLst xmlns:a="http://schemas.openxmlformats.org/drawingml/2006/main">
              <a:ext uri="{FF2B5EF4-FFF2-40B4-BE49-F238E27FC236}">
                <a16:creationId xmlns:a16="http://schemas.microsoft.com/office/drawing/2014/main" id="{850A0184-C44A-4443-87C7-FCAE3F80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0225D-30C6-453E-BE27-B5920B5C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int(type(amy).__name__)">
            <a:extLst xmlns:a="http://schemas.openxmlformats.org/drawingml/2006/main">
              <a:ext uri="{FF2B5EF4-FFF2-40B4-BE49-F238E27FC236}">
                <a16:creationId xmlns:a16="http://schemas.microsoft.com/office/drawing/2014/main" id="{20342CDB-2A1D-4B4B-B335-5C774D3C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print(type(amy).__name__)</a:t>
            </a:r>
          </a:p>
        </p:txBody>
      </p:sp>
      <p:sp>
        <p:nvSpPr>
          <p:cNvPr id="10" name="print(isinstance(amy, Student))">
            <a:extLst xmlns:a="http://schemas.openxmlformats.org/drawingml/2006/main">
              <a:ext uri="{FF2B5EF4-FFF2-40B4-BE49-F238E27FC236}">
                <a16:creationId xmlns:a16="http://schemas.microsoft.com/office/drawing/2014/main" id="{E6716A50-5B77-4510-8272-E99F278C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print(isinstance(amy, Student))</a:t>
            </a:r>
          </a:p>
        </p:txBody>
      </p:sp>
      <p:sp>
        <p:nvSpPr>
          <p:cNvPr id="11" name="print(type(Student).__name__)">
            <a:extLst xmlns:a="http://schemas.openxmlformats.org/drawingml/2006/main">
              <a:ext uri="{FF2B5EF4-FFF2-40B4-BE49-F238E27FC236}">
                <a16:creationId xmlns:a16="http://schemas.microsoft.com/office/drawing/2014/main" id="{D1715514-19B7-4B1E-ACF1-2F3A6D8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print(type(Student).__name__)</a:t>
            </a:r>
          </a:p>
        </p:txBody>
      </p:sp>
      <p:sp>
        <p:nvSpPr>
          <p:cNvPr id="12" name="print(isinstance(Student, type))">
            <a:extLst xmlns:a="http://schemas.openxmlformats.org/drawingml/2006/main">
              <a:ext uri="{FF2B5EF4-FFF2-40B4-BE49-F238E27FC236}">
                <a16:creationId xmlns:a16="http://schemas.microsoft.com/office/drawing/2014/main" id="{87908A45-38B5-4393-A4C7-6855899E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print(isinstance(Student, type))</a:t>
            </a:r>
          </a:p>
        </p:txBody>
      </p:sp>
      <p:sp>
        <p:nvSpPr>
          <p:cNvPr id="13" name="Student 也是物件">
            <a:extLst xmlns:a="http://schemas.openxmlformats.org/drawingml/2006/main">
              <a:ext uri="{FF2B5EF4-FFF2-40B4-BE49-F238E27FC236}">
                <a16:creationId xmlns:a16="http://schemas.microsoft.com/office/drawing/2014/main" id="{58DD25F3-3206-439B-843D-DCDC7EE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Student is also an object</a:t>
            </a:r>
          </a:p>
        </p:txBody>
      </p:sp>
      <p:sp>
        <p:nvSpPr>
          <p:cNvPr id="14" name="在一般類別定義中， Student 的型別是 type。">
            <a:extLst xmlns:a="http://schemas.openxmlformats.org/drawingml/2006/main">
              <a:ext uri="{FF2B5EF4-FFF2-40B4-BE49-F238E27FC236}">
                <a16:creationId xmlns:a16="http://schemas.microsoft.com/office/drawing/2014/main" id="{5FE8D106-D1FD-4A1A-995B-FAED7A6A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For an ordinary class,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Student has the type type.</a:t>
            </a:r>
          </a:p>
        </p:txBody>
      </p:sp>
      <p:sp>
        <p:nvSpPr>
          <p:cNvPr id="15" name="型別決定可用操作">
            <a:extLst xmlns:a="http://schemas.openxmlformats.org/drawingml/2006/main">
              <a:ext uri="{FF2B5EF4-FFF2-40B4-BE49-F238E27FC236}">
                <a16:creationId xmlns:a16="http://schemas.microsoft.com/office/drawing/2014/main" id="{9702DC08-7C42-4699-932F-926751CD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Types define operations</a:t>
            </a:r>
          </a:p>
        </p:txBody>
      </p:sp>
      <p:sp>
        <p:nvSpPr>
          <p:cNvPr id="16" name="type 取得實際型別。 isinstance 也考慮繼承關係。">
            <a:extLst xmlns:a="http://schemas.openxmlformats.org/drawingml/2006/main">
              <a:ext uri="{FF2B5EF4-FFF2-40B4-BE49-F238E27FC236}">
                <a16:creationId xmlns:a16="http://schemas.microsoft.com/office/drawing/2014/main" id="{8ADFED43-8F02-4DB4-9CCB-77284BAB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type returns the actual type.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isinstance also considers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inheritance.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7EB54C0-68D7-4E9A-BA8D-B8BB12AC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Student    True    type    True">
            <a:extLst xmlns:a="http://schemas.openxmlformats.org/drawingml/2006/main">
              <a:ext uri="{FF2B5EF4-FFF2-40B4-BE49-F238E27FC236}">
                <a16:creationId xmlns:a16="http://schemas.microsoft.com/office/drawing/2014/main" id="{6E87FA0D-3AD6-4198-BDF1-B0AA4973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Student    True    type    True</a:t>
            </a:r>
          </a:p>
        </p:txBody>
      </p:sp>
    </p:spTree>
    <p:extLst>
      <p:ext uri="{BB962C8B-B14F-4D97-AF65-F5344CB8AC3E}">
        <p14:creationId xmlns:p14="http://schemas.microsoft.com/office/powerpoint/2010/main" val="879024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資料與行為的責任歸屬">
            <a:extLst xmlns:a="http://schemas.openxmlformats.org/drawingml/2006/main">
              <a:ext uri="{FF2B5EF4-FFF2-40B4-BE49-F238E27FC236}">
                <a16:creationId xmlns:a16="http://schemas.microsoft.com/office/drawing/2014/main" id="{F75D47BD-CC47-433E-9903-A1A029C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Ownership of Data and Behavior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D0062EC0-B9BC-4B49-A625-96B23EA6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The object model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2C3CF6B0-2DCC-44B4-B2F6-9E5FB4D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字典與函式">
            <a:extLst xmlns:a="http://schemas.openxmlformats.org/drawingml/2006/main">
              <a:ext uri="{FF2B5EF4-FFF2-40B4-BE49-F238E27FC236}">
                <a16:creationId xmlns:a16="http://schemas.microsoft.com/office/drawing/2014/main" id="{08C7D678-6EB7-4C16-86C6-11BE25EA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Dictionaries and functions</a:t>
            </a:r>
          </a:p>
        </p:txBody>
      </p:sp>
      <p:sp>
        <p:nvSpPr>
          <p:cNvPr id="5" name="適合簡單資料與獨立轉換">
            <a:extLst xmlns:a="http://schemas.openxmlformats.org/drawingml/2006/main">
              <a:ext uri="{FF2B5EF4-FFF2-40B4-BE49-F238E27FC236}">
                <a16:creationId xmlns:a16="http://schemas.microsoft.com/office/drawing/2014/main" id="{B9D8096A-F9AA-4DF8-B811-3256DDC2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Useful for simple data and independent transformations</a:t>
            </a:r>
          </a:p>
        </p:txBody>
      </p:sp>
      <p:sp>
        <p:nvSpPr>
          <p:cNvPr id="6" name="類別與方法">
            <a:extLst xmlns:a="http://schemas.openxmlformats.org/drawingml/2006/main">
              <a:ext uri="{FF2B5EF4-FFF2-40B4-BE49-F238E27FC236}">
                <a16:creationId xmlns:a16="http://schemas.microsoft.com/office/drawing/2014/main" id="{5E129534-8953-4A67-8D95-E6F795F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Classes and methods</a:t>
            </a:r>
          </a:p>
        </p:txBody>
      </p:sp>
      <p:sp>
        <p:nvSpPr>
          <p:cNvPr id="7" name="適合需要持續狀態與相關操作的對象">
            <a:extLst xmlns:a="http://schemas.openxmlformats.org/drawingml/2006/main">
              <a:ext uri="{FF2B5EF4-FFF2-40B4-BE49-F238E27FC236}">
                <a16:creationId xmlns:a16="http://schemas.microsoft.com/office/drawing/2014/main" id="{7DFF640D-ED12-452B-A6C3-0C1E8BF6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Useful for persistent state and related operations</a:t>
            </a:r>
          </a:p>
        </p:txBody>
      </p:sp>
      <p:sp>
        <p:nvSpPr>
          <p:cNvPr id="8" name="Student 範例">
            <a:extLst xmlns:a="http://schemas.openxmlformats.org/drawingml/2006/main">
              <a:ext uri="{FF2B5EF4-FFF2-40B4-BE49-F238E27FC236}">
                <a16:creationId xmlns:a16="http://schemas.microsoft.com/office/drawing/2014/main" id="{2DD97482-B8E1-4DA3-A3F8-5B6E1B62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The Student example</a:t>
            </a:r>
          </a:p>
        </p:txBody>
      </p:sp>
      <p:sp>
        <p:nvSpPr>
          <p:cNvPr id="9" name="學號與姓名屬於學生，rename 更新姓名">
            <a:extLst xmlns:a="http://schemas.openxmlformats.org/drawingml/2006/main">
              <a:ext uri="{FF2B5EF4-FFF2-40B4-BE49-F238E27FC236}">
                <a16:creationId xmlns:a16="http://schemas.microsoft.com/office/drawing/2014/main" id="{C76FE531-4647-4F44-8BD0-8A06972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 student owns an ID and name; rename updates the name</a:t>
            </a:r>
          </a:p>
        </p:txBody>
      </p:sp>
      <p:sp>
        <p:nvSpPr>
          <p:cNvPr id="10" name="設計判斷">
            <a:extLst xmlns:a="http://schemas.openxmlformats.org/drawingml/2006/main">
              <a:ext uri="{FF2B5EF4-FFF2-40B4-BE49-F238E27FC236}">
                <a16:creationId xmlns:a16="http://schemas.microsoft.com/office/drawing/2014/main" id="{62C5740D-2EC6-4946-BC06-90F1CE72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Design question</a:t>
            </a:r>
          </a:p>
        </p:txBody>
      </p:sp>
      <p:sp>
        <p:nvSpPr>
          <p:cNvPr id="11" name="同一份狀態的規則是否散落在不同地方？">
            <a:extLst xmlns:a="http://schemas.openxmlformats.org/drawingml/2006/main">
              <a:ext uri="{FF2B5EF4-FFF2-40B4-BE49-F238E27FC236}">
                <a16:creationId xmlns:a16="http://schemas.microsoft.com/office/drawing/2014/main" id="{8D23748B-33DF-4105-8C3C-6BA76048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Are rules for the same state scattered across the code?</a:t>
            </a:r>
          </a:p>
        </p:txBody>
      </p:sp>
      <p:sp>
        <p:nvSpPr>
          <p:cNvPr id="12" name="選擇類別應有具體需求，不必把所有函式包進 class。">
            <a:extLst xmlns:a="http://schemas.openxmlformats.org/drawingml/2006/main">
              <a:ext uri="{FF2B5EF4-FFF2-40B4-BE49-F238E27FC236}">
                <a16:creationId xmlns:a16="http://schemas.microsoft.com/office/drawing/2014/main" id="{7FDDFECC-6D0F-406C-A851-22730D4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76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Choose a class for a concrete reason. Some functions belong at module level.</a:t>
            </a:r>
          </a:p>
        </p:txBody>
      </p:sp>
    </p:spTree>
    <p:extLst>
      <p:ext uri="{BB962C8B-B14F-4D97-AF65-F5344CB8AC3E}">
        <p14:creationId xmlns:p14="http://schemas.microsoft.com/office/powerpoint/2010/main" val="512146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第一個 Student 類別">
            <a:extLst xmlns:a="http://schemas.openxmlformats.org/drawingml/2006/main">
              <a:ext uri="{FF2B5EF4-FFF2-40B4-BE49-F238E27FC236}">
                <a16:creationId xmlns:a16="http://schemas.microsoft.com/office/drawing/2014/main" id="{4D34682A-59F8-4E7F-9A8A-47877A96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 First Student Class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16B13020-D061-4D35-96EB-E90CE0FA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Creating objects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A76A8B06-A749-4879-A859-2632806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687B3C5-2928-40EC-8E5E-C832754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D3F21134-3C77-4F19-8BD1-41FE8FA2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6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B17F251F-691E-408A-82C6-F1BB101B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D36F583D-804B-4A9C-8C7A-89B56A3C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824CB-C81A-409D-AFD7-FBE9CFB2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rename(self, new_name):">
            <a:extLst xmlns:a="http://schemas.openxmlformats.org/drawingml/2006/main">
              <a:ext uri="{FF2B5EF4-FFF2-40B4-BE49-F238E27FC236}">
                <a16:creationId xmlns:a16="http://schemas.microsoft.com/office/drawing/2014/main" id="{44A523F5-DB0C-4913-8188-806633AA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rename(self, new_name):</a:t>
            </a:r>
          </a:p>
        </p:txBody>
      </p:sp>
      <p:sp>
        <p:nvSpPr>
          <p:cNvPr id="10" name="        self.name = new_name">
            <a:extLst xmlns:a="http://schemas.openxmlformats.org/drawingml/2006/main">
              <a:ext uri="{FF2B5EF4-FFF2-40B4-BE49-F238E27FC236}">
                <a16:creationId xmlns:a16="http://schemas.microsoft.com/office/drawing/2014/main" id="{75B47104-EBBC-42CB-AC73-570235DF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new_name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3C7D4-1B8F-43EF-8691-C56E1C2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my = Student(&quot;B11501&quot;, &quot;Amy&quot;)">
            <a:extLst xmlns:a="http://schemas.openxmlformats.org/drawingml/2006/main">
              <a:ext uri="{FF2B5EF4-FFF2-40B4-BE49-F238E27FC236}">
                <a16:creationId xmlns:a16="http://schemas.microsoft.com/office/drawing/2014/main" id="{5972E56D-E6DE-4FF2-9C7E-57A127BC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Student("B11501", "Amy")</a:t>
            </a:r>
          </a:p>
        </p:txBody>
      </p:sp>
      <p:sp>
        <p:nvSpPr>
          <p:cNvPr id="13" name="amy.rename(&quot;Amy Chen&quot;)">
            <a:extLst xmlns:a="http://schemas.openxmlformats.org/drawingml/2006/main">
              <a:ext uri="{FF2B5EF4-FFF2-40B4-BE49-F238E27FC236}">
                <a16:creationId xmlns:a16="http://schemas.microsoft.com/office/drawing/2014/main" id="{B2BFB5CC-5DDC-428D-ABD3-70256EFD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amy.rename("Amy Chen")</a:t>
            </a:r>
          </a:p>
        </p:txBody>
      </p:sp>
      <p:sp>
        <p:nvSpPr>
          <p:cNvPr id="14" name="print(amy.student_id, amy.name)">
            <a:extLst xmlns:a="http://schemas.openxmlformats.org/drawingml/2006/main">
              <a:ext uri="{FF2B5EF4-FFF2-40B4-BE49-F238E27FC236}">
                <a16:creationId xmlns:a16="http://schemas.microsoft.com/office/drawing/2014/main" id="{27114B3C-CC4F-4EF9-B355-7CAC4183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print(amy.student_id, amy.name)</a:t>
            </a:r>
          </a:p>
        </p:txBody>
      </p:sp>
      <p:sp>
        <p:nvSpPr>
          <p:cNvPr id="15" name="初始化實體資料">
            <a:extLst xmlns:a="http://schemas.openxmlformats.org/drawingml/2006/main">
              <a:ext uri="{FF2B5EF4-FFF2-40B4-BE49-F238E27FC236}">
                <a16:creationId xmlns:a16="http://schemas.microsoft.com/office/drawing/2014/main" id="{2E2E997D-2CAA-4F6F-8E65-0CA7D8E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Initialize instance data</a:t>
            </a:r>
          </a:p>
        </p:txBody>
      </p:sp>
      <p:sp>
        <p:nvSpPr>
          <p:cNvPr id="16" name="每次建立學生時， 設定學號與姓名。">
            <a:extLst xmlns:a="http://schemas.openxmlformats.org/drawingml/2006/main">
              <a:ext uri="{FF2B5EF4-FFF2-40B4-BE49-F238E27FC236}">
                <a16:creationId xmlns:a16="http://schemas.microsoft.com/office/drawing/2014/main" id="{B6D9D391-41C4-4A81-B1F2-1D3FA1F7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Set the ID and name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when each student is created.</a:t>
            </a:r>
          </a:p>
        </p:txBody>
      </p:sp>
      <p:sp>
        <p:nvSpPr>
          <p:cNvPr id="17" name="方法操作實體狀態">
            <a:extLst xmlns:a="http://schemas.openxmlformats.org/drawingml/2006/main">
              <a:ext uri="{FF2B5EF4-FFF2-40B4-BE49-F238E27FC236}">
                <a16:creationId xmlns:a16="http://schemas.microsoft.com/office/drawing/2014/main" id="{99945FFB-45C0-43F1-98BD-50BFB421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Methods operate on state</a:t>
            </a:r>
          </a:p>
        </p:txBody>
      </p:sp>
      <p:sp>
        <p:nvSpPr>
          <p:cNvPr id="18" name="rename 修改接收呼叫的學生。 此例尚未加入姓名驗證。">
            <a:extLst xmlns:a="http://schemas.openxmlformats.org/drawingml/2006/main">
              <a:ext uri="{FF2B5EF4-FFF2-40B4-BE49-F238E27FC236}">
                <a16:creationId xmlns:a16="http://schemas.microsoft.com/office/drawing/2014/main" id="{BEEE688F-E1FC-4618-9792-67871036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rename changes the student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receiving the call. Name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validation is not yet included.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25BDDFF-8048-49E9-A8AA-08FF42A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B11501 Amy Chen">
            <a:extLst xmlns:a="http://schemas.openxmlformats.org/drawingml/2006/main">
              <a:ext uri="{FF2B5EF4-FFF2-40B4-BE49-F238E27FC236}">
                <a16:creationId xmlns:a16="http://schemas.microsoft.com/office/drawing/2014/main" id="{7029C693-D549-42A3-9B8C-5AADAF3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B11501 Amy Chen</a:t>
            </a:r>
          </a:p>
        </p:txBody>
      </p:sp>
    </p:spTree>
    <p:extLst>
      <p:ext uri="{BB962C8B-B14F-4D97-AF65-F5344CB8AC3E}">
        <p14:creationId xmlns:p14="http://schemas.microsoft.com/office/powerpoint/2010/main" val="1482819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建立與初始化是不同階段">
            <a:extLst xmlns:a="http://schemas.openxmlformats.org/drawingml/2006/main">
              <a:ext uri="{FF2B5EF4-FFF2-40B4-BE49-F238E27FC236}">
                <a16:creationId xmlns:a16="http://schemas.microsoft.com/office/drawing/2014/main" id="{081F039C-67D7-4866-825F-762261AB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Creation and Initialization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68326492-C61A-4010-9604-5B855032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Creating objects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8523D436-6F1B-4C55-B5E2-7D586EFA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667125"/>
                <a:gridCol w="51149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Typical mechanism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Call the class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Student(...)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Start the normal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instance creation process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Create the object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__new__(cls, ...)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Return the created object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Initialize it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__init__(self, ...)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 the initial state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of an existing object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Obtain the instance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amy = Student(...)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Bind the result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 an external name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一般業務類別通常只需要定義 __init__，不必自訂 __new__。">
            <a:extLst xmlns:a="http://schemas.openxmlformats.org/drawingml/2006/main">
              <a:ext uri="{FF2B5EF4-FFF2-40B4-BE49-F238E27FC236}">
                <a16:creationId xmlns:a16="http://schemas.microsoft.com/office/drawing/2014/main" id="{97228CCD-03A4-46AD-80AD-C16F54F6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Most application classes only need __init__; overriding __new__ is usually unnecessary.</a:t>
            </a:r>
          </a:p>
        </p:txBody>
      </p:sp>
    </p:spTree>
    <p:extLst>
      <p:ext uri="{BB962C8B-B14F-4D97-AF65-F5344CB8AC3E}">
        <p14:creationId xmlns:p14="http://schemas.microsoft.com/office/powerpoint/2010/main" val="7080473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__new__ 與 __init__ 的執行順序">
            <a:extLst xmlns:a="http://schemas.openxmlformats.org/drawingml/2006/main">
              <a:ext uri="{FF2B5EF4-FFF2-40B4-BE49-F238E27FC236}">
                <a16:creationId xmlns:a16="http://schemas.microsoft.com/office/drawing/2014/main" id="{864022E0-57C3-4CA1-8924-09004DEA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Execution Order: __new__ and __init__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EBB253C3-F5F8-4267-B3A2-0E1CCD9C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Creating objects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04393ED2-576C-4E4C-B5FC-C43787C5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class Item:">
            <a:extLst xmlns:a="http://schemas.openxmlformats.org/drawingml/2006/main">
              <a:ext uri="{FF2B5EF4-FFF2-40B4-BE49-F238E27FC236}">
                <a16:creationId xmlns:a16="http://schemas.microsoft.com/office/drawing/2014/main" id="{8F472490-77CE-44BB-912A-08779FBF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Item:</a:t>
            </a:r>
          </a:p>
        </p:txBody>
      </p:sp>
      <p:sp>
        <p:nvSpPr>
          <p:cNvPr id="5" name="    def __new__(cls, name):">
            <a:extLst xmlns:a="http://schemas.openxmlformats.org/drawingml/2006/main">
              <a:ext uri="{FF2B5EF4-FFF2-40B4-BE49-F238E27FC236}">
                <a16:creationId xmlns:a16="http://schemas.microsoft.com/office/drawing/2014/main" id="{905C1389-1814-44E2-A1E6-14DFCF05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__new__(cls, name):</a:t>
            </a:r>
          </a:p>
        </p:txBody>
      </p:sp>
      <p:sp>
        <p:nvSpPr>
          <p:cNvPr id="6" name="        print(&quot;new&quot;)">
            <a:extLst xmlns:a="http://schemas.openxmlformats.org/drawingml/2006/main">
              <a:ext uri="{FF2B5EF4-FFF2-40B4-BE49-F238E27FC236}">
                <a16:creationId xmlns:a16="http://schemas.microsoft.com/office/drawing/2014/main" id="{3A73F1BF-67BA-45A9-8005-7EBFF912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print("new")</a:t>
            </a:r>
          </a:p>
        </p:txBody>
      </p:sp>
      <p:sp>
        <p:nvSpPr>
          <p:cNvPr id="7" name="        return super().__new__(cls)">
            <a:extLst xmlns:a="http://schemas.openxmlformats.org/drawingml/2006/main">
              <a:ext uri="{FF2B5EF4-FFF2-40B4-BE49-F238E27FC236}">
                <a16:creationId xmlns:a16="http://schemas.microsoft.com/office/drawing/2014/main" id="{57EB91F7-44EE-495D-91F2-47AA295A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super().__new__(cls)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5345E-228C-4EC8-A8E0-94C47A96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06531BE3-FA3D-4699-B7CD-8A8824E6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10" name="        print(&quot;init&quot;)">
            <a:extLst xmlns:a="http://schemas.openxmlformats.org/drawingml/2006/main">
              <a:ext uri="{FF2B5EF4-FFF2-40B4-BE49-F238E27FC236}">
                <a16:creationId xmlns:a16="http://schemas.microsoft.com/office/drawing/2014/main" id="{A167A3F2-812F-4B7F-B6A0-E02FF57B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print("init")</a:t>
            </a:r>
          </a:p>
        </p:txBody>
      </p:sp>
      <p:sp>
        <p:nvSpPr>
          <p:cNvPr id="11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3240605F-B424-43B8-B89D-2E7B4924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B36B9-2869-4983-8204-E572788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item = Item(&quot;Book&quot;)">
            <a:extLst xmlns:a="http://schemas.openxmlformats.org/drawingml/2006/main">
              <a:ext uri="{FF2B5EF4-FFF2-40B4-BE49-F238E27FC236}">
                <a16:creationId xmlns:a16="http://schemas.microsoft.com/office/drawing/2014/main" id="{87A1A9AF-6451-437C-8826-2DB084F5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 = Item("Book")</a:t>
            </a:r>
          </a:p>
        </p:txBody>
      </p:sp>
      <p:sp>
        <p:nvSpPr>
          <p:cNvPr id="14" name="print(item.name)">
            <a:extLst xmlns:a="http://schemas.openxmlformats.org/drawingml/2006/main">
              <a:ext uri="{FF2B5EF4-FFF2-40B4-BE49-F238E27FC236}">
                <a16:creationId xmlns:a16="http://schemas.microsoft.com/office/drawing/2014/main" id="{B3871BE0-9D73-4ABE-B481-E1C52127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print(item.name)</a:t>
            </a:r>
          </a:p>
        </p:txBody>
      </p:sp>
      <p:sp>
        <p:nvSpPr>
          <p:cNvPr id="15" name="先建立，再初始化">
            <a:extLst xmlns:a="http://schemas.openxmlformats.org/drawingml/2006/main">
              <a:ext uri="{FF2B5EF4-FFF2-40B4-BE49-F238E27FC236}">
                <a16:creationId xmlns:a16="http://schemas.microsoft.com/office/drawing/2014/main" id="{6F565872-24C4-4826-9E66-3AE5CF5F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Create, then initialize</a:t>
            </a:r>
          </a:p>
        </p:txBody>
      </p:sp>
      <p:sp>
        <p:nvSpPr>
          <p:cNvPr id="16" name="__new__ 收到類別 cls。 __init__ 收到實體 self。">
            <a:extLst xmlns:a="http://schemas.openxmlformats.org/drawingml/2006/main">
              <a:ext uri="{FF2B5EF4-FFF2-40B4-BE49-F238E27FC236}">
                <a16:creationId xmlns:a16="http://schemas.microsoft.com/office/drawing/2014/main" id="{0F7D5CEA-31EE-40E0-A79C-D923AEB2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__new__ receives cls.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__init__ receives self.</a:t>
            </a:r>
          </a:p>
        </p:txBody>
      </p:sp>
      <p:sp>
        <p:nvSpPr>
          <p:cNvPr id="17" name="示範執行流程">
            <a:extLst xmlns:a="http://schemas.openxmlformats.org/drawingml/2006/main">
              <a:ext uri="{FF2B5EF4-FFF2-40B4-BE49-F238E27FC236}">
                <a16:creationId xmlns:a16="http://schemas.microsoft.com/office/drawing/2014/main" id="{02707221-5495-4924-ABE6-C6CBC149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Observing the sequence</a:t>
            </a:r>
          </a:p>
        </p:txBody>
      </p:sp>
      <p:sp>
        <p:nvSpPr>
          <p:cNvPr id="18" name="super().__new__ 建立實體。 一般情況不需要覆寫此方法。">
            <a:extLst xmlns:a="http://schemas.openxmlformats.org/drawingml/2006/main">
              <a:ext uri="{FF2B5EF4-FFF2-40B4-BE49-F238E27FC236}">
                <a16:creationId xmlns:a16="http://schemas.microsoft.com/office/drawing/2014/main" id="{44BBE579-7D19-42FE-B872-BCC5FBDA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super().__new__ creates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instance. Most classes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do not need this override.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9040C52-A97E-4D89-BFE1-619F539F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new    init    Book">
            <a:extLst xmlns:a="http://schemas.openxmlformats.org/drawingml/2006/main">
              <a:ext uri="{FF2B5EF4-FFF2-40B4-BE49-F238E27FC236}">
                <a16:creationId xmlns:a16="http://schemas.microsoft.com/office/drawing/2014/main" id="{46D43FA4-C962-47D8-91DC-A8FE83FE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new    init    Book</a:t>
            </a:r>
          </a:p>
        </p:txBody>
      </p:sp>
    </p:spTree>
    <p:extLst>
      <p:ext uri="{BB962C8B-B14F-4D97-AF65-F5344CB8AC3E}">
        <p14:creationId xmlns:p14="http://schemas.microsoft.com/office/powerpoint/2010/main" val="15357899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lf 與繫結方法">
            <a:extLst xmlns:a="http://schemas.openxmlformats.org/drawingml/2006/main">
              <a:ext uri="{FF2B5EF4-FFF2-40B4-BE49-F238E27FC236}">
                <a16:creationId xmlns:a16="http://schemas.microsoft.com/office/drawing/2014/main" id="{0E24B6FE-9F81-4116-BC17-B3590570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self and Bound Methods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DE44B708-D97C-438E-A44C-114EC4D0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Creating objects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D624CE8A-993C-434C-894F-9C669D10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class Counter:">
            <a:extLst xmlns:a="http://schemas.openxmlformats.org/drawingml/2006/main">
              <a:ext uri="{FF2B5EF4-FFF2-40B4-BE49-F238E27FC236}">
                <a16:creationId xmlns:a16="http://schemas.microsoft.com/office/drawing/2014/main" id="{76AA4D44-C8A9-41BA-BF84-A34C7FB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Counter:</a:t>
            </a:r>
          </a:p>
        </p:txBody>
      </p:sp>
      <p:sp>
        <p:nvSpPr>
          <p:cNvPr id="5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F5730EEF-3C9A-4224-A1B6-A97EA07D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6" name="        self.value = 0">
            <a:extLst xmlns:a="http://schemas.openxmlformats.org/drawingml/2006/main">
              <a:ext uri="{FF2B5EF4-FFF2-40B4-BE49-F238E27FC236}">
                <a16:creationId xmlns:a16="http://schemas.microsoft.com/office/drawing/2014/main" id="{C4DB2B9D-5BB1-43EC-BF0C-421842D4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self.value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F9F85-C4F1-4449-AA01-7C972443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add(self, amount):">
            <a:extLst xmlns:a="http://schemas.openxmlformats.org/drawingml/2006/main">
              <a:ext uri="{FF2B5EF4-FFF2-40B4-BE49-F238E27FC236}">
                <a16:creationId xmlns:a16="http://schemas.microsoft.com/office/drawing/2014/main" id="{2E75C16A-BFA0-4DC5-9590-49863574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add(self, amount):</a:t>
            </a:r>
          </a:p>
        </p:txBody>
      </p:sp>
      <p:sp>
        <p:nvSpPr>
          <p:cNvPr id="9" name="        self.value += amount">
            <a:extLst xmlns:a="http://schemas.openxmlformats.org/drawingml/2006/main">
              <a:ext uri="{FF2B5EF4-FFF2-40B4-BE49-F238E27FC236}">
                <a16:creationId xmlns:a16="http://schemas.microsoft.com/office/drawing/2014/main" id="{0FEF82E2-1284-4C20-A2FE-95E33E6A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self.value += amount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848A4-5C7D-44F9-93D9-19DD882A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 = Counter()">
            <a:extLst xmlns:a="http://schemas.openxmlformats.org/drawingml/2006/main">
              <a:ext uri="{FF2B5EF4-FFF2-40B4-BE49-F238E27FC236}">
                <a16:creationId xmlns:a16="http://schemas.microsoft.com/office/drawing/2014/main" id="{78D066AF-6F45-44C1-A2DD-22BE8674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 = Counter()</a:t>
            </a:r>
          </a:p>
        </p:txBody>
      </p:sp>
      <p:sp>
        <p:nvSpPr>
          <p:cNvPr id="12" name="c.add(2)">
            <a:extLst xmlns:a="http://schemas.openxmlformats.org/drawingml/2006/main">
              <a:ext uri="{FF2B5EF4-FFF2-40B4-BE49-F238E27FC236}">
                <a16:creationId xmlns:a16="http://schemas.microsoft.com/office/drawing/2014/main" id="{FC371BA6-4E19-4544-8C55-787D5A72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c.add(2)</a:t>
            </a:r>
          </a:p>
        </p:txBody>
      </p:sp>
      <p:sp>
        <p:nvSpPr>
          <p:cNvPr id="13" name="Counter.add(c, 3)">
            <a:extLst xmlns:a="http://schemas.openxmlformats.org/drawingml/2006/main">
              <a:ext uri="{FF2B5EF4-FFF2-40B4-BE49-F238E27FC236}">
                <a16:creationId xmlns:a16="http://schemas.microsoft.com/office/drawing/2014/main" id="{C07B49B0-61F1-4072-B7E3-E165B205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Counter.add(c, 3)</a:t>
            </a:r>
          </a:p>
        </p:txBody>
      </p:sp>
      <p:sp>
        <p:nvSpPr>
          <p:cNvPr id="14" name="print(c.value)">
            <a:extLst xmlns:a="http://schemas.openxmlformats.org/drawingml/2006/main">
              <a:ext uri="{FF2B5EF4-FFF2-40B4-BE49-F238E27FC236}">
                <a16:creationId xmlns:a16="http://schemas.microsoft.com/office/drawing/2014/main" id="{7C81927C-CFF9-48BC-9B02-26821CB5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print(c.value)</a:t>
            </a:r>
          </a:p>
        </p:txBody>
      </p:sp>
      <p:sp>
        <p:nvSpPr>
          <p:cNvPr id="15" name="print(c.add.__self__ is c)">
            <a:extLst xmlns:a="http://schemas.openxmlformats.org/drawingml/2006/main">
              <a:ext uri="{FF2B5EF4-FFF2-40B4-BE49-F238E27FC236}">
                <a16:creationId xmlns:a16="http://schemas.microsoft.com/office/drawing/2014/main" id="{326CD91C-773B-42C0-B623-761424F2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print(c.add.__self__ is c)</a:t>
            </a:r>
          </a:p>
        </p:txBody>
      </p:sp>
      <p:sp>
        <p:nvSpPr>
          <p:cNvPr id="16" name="實體呼叫自動傳入 self">
            <a:extLst xmlns:a="http://schemas.openxmlformats.org/drawingml/2006/main">
              <a:ext uri="{FF2B5EF4-FFF2-40B4-BE49-F238E27FC236}">
                <a16:creationId xmlns:a16="http://schemas.microsoft.com/office/drawing/2014/main" id="{180313DD-7066-46CE-8E20-8573F20C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The instance becomes self</a:t>
            </a:r>
          </a:p>
        </p:txBody>
      </p:sp>
      <p:sp>
        <p:nvSpPr>
          <p:cNvPr id="17" name="c.add(2) 將 c 當作 方法的第一個參數。">
            <a:extLst xmlns:a="http://schemas.openxmlformats.org/drawingml/2006/main">
              <a:ext uri="{FF2B5EF4-FFF2-40B4-BE49-F238E27FC236}">
                <a16:creationId xmlns:a16="http://schemas.microsoft.com/office/drawing/2014/main" id="{BA34D003-6D6D-488D-94D1-6DF70380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c.add(2) passes c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 the first argument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to the method.</a:t>
            </a:r>
          </a:p>
        </p:txBody>
      </p:sp>
      <p:sp>
        <p:nvSpPr>
          <p:cNvPr id="18" name="self 是慣用參數名稱">
            <a:extLst xmlns:a="http://schemas.openxmlformats.org/drawingml/2006/main">
              <a:ext uri="{FF2B5EF4-FFF2-40B4-BE49-F238E27FC236}">
                <a16:creationId xmlns:a16="http://schemas.microsoft.com/office/drawing/2014/main" id="{ACAA1AA4-BF31-47D1-92AB-C3D489DD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self is a naming convention</a:t>
            </a:r>
          </a:p>
        </p:txBody>
      </p:sp>
      <p:sp>
        <p:nvSpPr>
          <p:cNvPr id="19" name="它不是 Python 關鍵字。 統一命名可提高可讀性。">
            <a:extLst xmlns:a="http://schemas.openxmlformats.org/drawingml/2006/main">
              <a:ext uri="{FF2B5EF4-FFF2-40B4-BE49-F238E27FC236}">
                <a16:creationId xmlns:a16="http://schemas.microsoft.com/office/drawing/2014/main" id="{87DD43D9-99FC-4496-B1FC-C6CB968B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It is not a Python keyword.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Consistent naming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improves readability.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FD50965-7D91-4BE6-B97A-FE6136E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5    True">
            <a:extLst xmlns:a="http://schemas.openxmlformats.org/drawingml/2006/main">
              <a:ext uri="{FF2B5EF4-FFF2-40B4-BE49-F238E27FC236}">
                <a16:creationId xmlns:a16="http://schemas.microsoft.com/office/drawing/2014/main" id="{3FEC0920-D047-4E47-87FE-A09B082F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5    True</a:t>
            </a:r>
          </a:p>
        </p:txBody>
      </p:sp>
    </p:spTree>
    <p:extLst>
      <p:ext uri="{BB962C8B-B14F-4D97-AF65-F5344CB8AC3E}">
        <p14:creationId xmlns:p14="http://schemas.microsoft.com/office/powerpoint/2010/main" val="347645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區域變數與 self 屬性">
            <a:extLst xmlns:a="http://schemas.openxmlformats.org/drawingml/2006/main">
              <a:ext uri="{FF2B5EF4-FFF2-40B4-BE49-F238E27FC236}">
                <a16:creationId xmlns:a16="http://schemas.microsoft.com/office/drawing/2014/main" id="{EFCF0D30-F083-410B-929E-CEAB77B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Local Names and self Attributes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4672DA3B-801F-488D-9A88-539E9555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Instance data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B43935F6-2816-4E70-A1CE-F44061BF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7D43116D-976A-4644-AD34-B36D8B8D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D40BAEE4-B620-4E8F-859D-C947987F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9EE96265-62D7-4121-B462-55A88BE9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15EF5-BF20-4C92-91E2-9FD2FABD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rename(self, name):">
            <a:extLst xmlns:a="http://schemas.openxmlformats.org/drawingml/2006/main">
              <a:ext uri="{FF2B5EF4-FFF2-40B4-BE49-F238E27FC236}">
                <a16:creationId xmlns:a16="http://schemas.microsoft.com/office/drawing/2014/main" id="{4B2508AE-9AE1-413B-9EE8-927AEC84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rename(self, name):</a:t>
            </a:r>
          </a:p>
        </p:txBody>
      </p:sp>
      <p:sp>
        <p:nvSpPr>
          <p:cNvPr id="9" name="        old_name = self.name">
            <a:extLst xmlns:a="http://schemas.openxmlformats.org/drawingml/2006/main">
              <a:ext uri="{FF2B5EF4-FFF2-40B4-BE49-F238E27FC236}">
                <a16:creationId xmlns:a16="http://schemas.microsoft.com/office/drawing/2014/main" id="{BE73E65A-B34A-4B91-B0FC-0B06D8B9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old_name = self.name</a:t>
            </a:r>
          </a:p>
        </p:txBody>
      </p:sp>
      <p:sp>
        <p:nvSpPr>
          <p:cNvPr id="10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7A3281D9-3B6C-4205-AB36-E02C3DB7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1" name="        return old_name">
            <a:extLst xmlns:a="http://schemas.openxmlformats.org/drawingml/2006/main">
              <a:ext uri="{FF2B5EF4-FFF2-40B4-BE49-F238E27FC236}">
                <a16:creationId xmlns:a16="http://schemas.microsoft.com/office/drawing/2014/main" id="{C4B25016-7B77-439A-A478-C2A43FCB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old_name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53672-9E74-4268-988E-54FF034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amy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5FA8F045-7EC6-4187-BE7D-24DAF83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Student("Amy")</a:t>
            </a:r>
          </a:p>
        </p:txBody>
      </p:sp>
      <p:sp>
        <p:nvSpPr>
          <p:cNvPr id="14" name="print(amy.rename(&quot;Ann&quot;))">
            <a:extLst xmlns:a="http://schemas.openxmlformats.org/drawingml/2006/main">
              <a:ext uri="{FF2B5EF4-FFF2-40B4-BE49-F238E27FC236}">
                <a16:creationId xmlns:a16="http://schemas.microsoft.com/office/drawing/2014/main" id="{1794E2DD-BE7B-4F2B-B052-635BC515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print(amy.rename("Ann"))</a:t>
            </a:r>
          </a:p>
        </p:txBody>
      </p:sp>
      <p:sp>
        <p:nvSpPr>
          <p:cNvPr id="15" name="print(amy.name)">
            <a:extLst xmlns:a="http://schemas.openxmlformats.org/drawingml/2006/main">
              <a:ext uri="{FF2B5EF4-FFF2-40B4-BE49-F238E27FC236}">
                <a16:creationId xmlns:a16="http://schemas.microsoft.com/office/drawing/2014/main" id="{242287DE-E4FB-43F9-85D9-0B1F59DF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print(amy.name)</a:t>
            </a:r>
          </a:p>
        </p:txBody>
      </p:sp>
      <p:sp>
        <p:nvSpPr>
          <p:cNvPr id="16" name="print(hasattr(amy, &quot;old_name&quot;))">
            <a:extLst xmlns:a="http://schemas.openxmlformats.org/drawingml/2006/main">
              <a:ext uri="{FF2B5EF4-FFF2-40B4-BE49-F238E27FC236}">
                <a16:creationId xmlns:a16="http://schemas.microsoft.com/office/drawing/2014/main" id="{F002DC37-54FC-4B57-B23E-D3630EC5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print(hasattr(amy, "old_name"))</a:t>
            </a:r>
          </a:p>
        </p:txBody>
      </p:sp>
      <p:sp>
        <p:nvSpPr>
          <p:cNvPr id="17" name="name 是呼叫的區域名稱">
            <a:extLst xmlns:a="http://schemas.openxmlformats.org/drawingml/2006/main">
              <a:ext uri="{FF2B5EF4-FFF2-40B4-BE49-F238E27FC236}">
                <a16:creationId xmlns:a16="http://schemas.microsoft.com/office/drawing/2014/main" id="{41228F2C-6CDB-4BB2-8F56-419FACF9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name is local to the call</a:t>
            </a:r>
          </a:p>
        </p:txBody>
      </p:sp>
      <p:sp>
        <p:nvSpPr>
          <p:cNvPr id="18" name="參數 name 與 self.name 位於不同的名稱空間。">
            <a:extLst xmlns:a="http://schemas.openxmlformats.org/drawingml/2006/main">
              <a:ext uri="{FF2B5EF4-FFF2-40B4-BE49-F238E27FC236}">
                <a16:creationId xmlns:a16="http://schemas.microsoft.com/office/drawing/2014/main" id="{FDA226C8-12CE-4D31-A40E-25C6D3B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parameter name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self.name belong to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different namespaces.</a:t>
            </a:r>
          </a:p>
        </p:txBody>
      </p:sp>
      <p:sp>
        <p:nvSpPr>
          <p:cNvPr id="19" name="self.name 保存實體狀態">
            <a:extLst xmlns:a="http://schemas.openxmlformats.org/drawingml/2006/main">
              <a:ext uri="{FF2B5EF4-FFF2-40B4-BE49-F238E27FC236}">
                <a16:creationId xmlns:a16="http://schemas.microsoft.com/office/drawing/2014/main" id="{CDE9D2AC-EE84-4452-A820-95C0E28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self.name stores state</a:t>
            </a:r>
          </a:p>
        </p:txBody>
      </p:sp>
      <p:sp>
        <p:nvSpPr>
          <p:cNvPr id="20" name="old_name 只是區域變數。 它不會自動成為物件屬性。">
            <a:extLst xmlns:a="http://schemas.openxmlformats.org/drawingml/2006/main">
              <a:ext uri="{FF2B5EF4-FFF2-40B4-BE49-F238E27FC236}">
                <a16:creationId xmlns:a16="http://schemas.microsoft.com/office/drawing/2014/main" id="{EB919345-3467-4EAC-8493-637D01CF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old_name is only local.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It does not automatically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become an object attribute.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51CE3C7-8523-4548-8AE0-19D9DC1A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2" name="Amy    Ann    False">
            <a:extLst xmlns:a="http://schemas.openxmlformats.org/drawingml/2006/main">
              <a:ext uri="{FF2B5EF4-FFF2-40B4-BE49-F238E27FC236}">
                <a16:creationId xmlns:a16="http://schemas.microsoft.com/office/drawing/2014/main" id="{AB68D1D4-C79A-450B-BA0D-34EDC07D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Amy    Ann    False</a:t>
            </a:r>
          </a:p>
        </p:txBody>
      </p:sp>
    </p:spTree>
    <p:extLst>
      <p:ext uri="{BB962C8B-B14F-4D97-AF65-F5344CB8AC3E}">
        <p14:creationId xmlns:p14="http://schemas.microsoft.com/office/powerpoint/2010/main" val="19344221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兩個實體，各自保存狀態">
            <a:extLst xmlns:a="http://schemas.openxmlformats.org/drawingml/2006/main">
              <a:ext uri="{FF2B5EF4-FFF2-40B4-BE49-F238E27FC236}">
                <a16:creationId xmlns:a16="http://schemas.microsoft.com/office/drawing/2014/main" id="{AC655911-9826-465F-9075-B491B36C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Separate Instances, Separate State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A40B83FD-2761-4D60-AE0E-C92680B5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Instance data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4F0FCDD7-CA8C-4E7C-ACCF-98CA4127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8BB3DDB9-1552-497E-825C-8C86874C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12F0428D-4754-46E6-90F4-77425661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8BACC78D-F1E7-4B26-B23E-A55678C9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courses = []">
            <a:extLst xmlns:a="http://schemas.openxmlformats.org/drawingml/2006/main">
              <a:ext uri="{FF2B5EF4-FFF2-40B4-BE49-F238E27FC236}">
                <a16:creationId xmlns:a16="http://schemas.microsoft.com/office/drawing/2014/main" id="{B606BD5F-AC7B-4631-92BB-15F58895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 = 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1CF90-D13E-45B7-9FF5-A40B1B1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amy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6577729F-85FA-4617-A02B-595C223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Student("Amy")</a:t>
            </a:r>
          </a:p>
        </p:txBody>
      </p:sp>
      <p:sp>
        <p:nvSpPr>
          <p:cNvPr id="10" name="bo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F2358275-B7B8-478D-99CC-7BC07F3D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bob = Student("Bob")</a:t>
            </a:r>
          </a:p>
        </p:txBody>
      </p:sp>
      <p:sp>
        <p:nvSpPr>
          <p:cNvPr id="11" name="amy.courses.append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CB39B9D5-8834-4505-9A9B-0B129DE4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amy.courses.append("Python")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A600A-07F3-4E11-9BA3-696602E3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amy.courses)">
            <a:extLst xmlns:a="http://schemas.openxmlformats.org/drawingml/2006/main">
              <a:ext uri="{FF2B5EF4-FFF2-40B4-BE49-F238E27FC236}">
                <a16:creationId xmlns:a16="http://schemas.microsoft.com/office/drawing/2014/main" id="{B4AA3E0E-8366-4E8E-892C-007BD7A7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print(amy.courses)</a:t>
            </a:r>
          </a:p>
        </p:txBody>
      </p:sp>
      <p:sp>
        <p:nvSpPr>
          <p:cNvPr id="14" name="print(bob.courses)">
            <a:extLst xmlns:a="http://schemas.openxmlformats.org/drawingml/2006/main">
              <a:ext uri="{FF2B5EF4-FFF2-40B4-BE49-F238E27FC236}">
                <a16:creationId xmlns:a16="http://schemas.microsoft.com/office/drawing/2014/main" id="{2EEFB410-7C58-4B56-8175-AC738E37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print(bob.courses)</a:t>
            </a:r>
          </a:p>
        </p:txBody>
      </p:sp>
      <p:sp>
        <p:nvSpPr>
          <p:cNvPr id="15" name="print(amy.courses is bob.courses)">
            <a:extLst xmlns:a="http://schemas.openxmlformats.org/drawingml/2006/main">
              <a:ext uri="{FF2B5EF4-FFF2-40B4-BE49-F238E27FC236}">
                <a16:creationId xmlns:a16="http://schemas.microsoft.com/office/drawing/2014/main" id="{D81AB0E7-EFEC-426A-9CD3-C072F671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print(amy.courses is bob.courses)</a:t>
            </a:r>
          </a:p>
        </p:txBody>
      </p:sp>
      <p:sp>
        <p:nvSpPr>
          <p:cNvPr id="16" name="每次初始化建立新 list">
            <a:extLst xmlns:a="http://schemas.openxmlformats.org/drawingml/2006/main">
              <a:ext uri="{FF2B5EF4-FFF2-40B4-BE49-F238E27FC236}">
                <a16:creationId xmlns:a16="http://schemas.microsoft.com/office/drawing/2014/main" id="{983F395B-5244-4C0F-8FCB-25FB178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 new list in each call</a:t>
            </a:r>
          </a:p>
        </p:txBody>
      </p:sp>
      <p:sp>
        <p:nvSpPr>
          <p:cNvPr id="17" name="[] 在每次呼叫 __init__ 時分別執行。">
            <a:extLst xmlns:a="http://schemas.openxmlformats.org/drawingml/2006/main">
              <a:ext uri="{FF2B5EF4-FFF2-40B4-BE49-F238E27FC236}">
                <a16:creationId xmlns:a16="http://schemas.microsoft.com/office/drawing/2014/main" id="{162A2CE6-FECF-4236-BACA-F074C0A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[] is evaluated separately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each time __init__ runs.</a:t>
            </a:r>
          </a:p>
        </p:txBody>
      </p:sp>
      <p:sp>
        <p:nvSpPr>
          <p:cNvPr id="18" name="狀態互不影響">
            <a:extLst xmlns:a="http://schemas.openxmlformats.org/drawingml/2006/main">
              <a:ext uri="{FF2B5EF4-FFF2-40B4-BE49-F238E27FC236}">
                <a16:creationId xmlns:a16="http://schemas.microsoft.com/office/drawing/2014/main" id="{D79F5CFD-A3F7-4768-9337-6BDFA5BD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Independent state</a:t>
            </a:r>
          </a:p>
        </p:txBody>
      </p:sp>
      <p:sp>
        <p:nvSpPr>
          <p:cNvPr id="19" name="修改 Amy 的 courses， 不會修改 Bob 的 courses。">
            <a:extLst xmlns:a="http://schemas.openxmlformats.org/drawingml/2006/main">
              <a:ext uri="{FF2B5EF4-FFF2-40B4-BE49-F238E27FC236}">
                <a16:creationId xmlns:a16="http://schemas.microsoft.com/office/drawing/2014/main" id="{34B581E6-B42F-49DD-902B-50222BD9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Changing Amy's courses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does not change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Bob's courses.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9CA895B-954A-4F53-A1C4-60B1A08C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['Python']    []    False">
            <a:extLst xmlns:a="http://schemas.openxmlformats.org/drawingml/2006/main">
              <a:ext uri="{FF2B5EF4-FFF2-40B4-BE49-F238E27FC236}">
                <a16:creationId xmlns:a16="http://schemas.microsoft.com/office/drawing/2014/main" id="{9B278AE4-30D1-4DEB-9348-07533CB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['Python']    []    False</a:t>
            </a:r>
          </a:p>
        </p:txBody>
      </p:sp>
    </p:spTree>
    <p:extLst>
      <p:ext uri="{BB962C8B-B14F-4D97-AF65-F5344CB8AC3E}">
        <p14:creationId xmlns:p14="http://schemas.microsoft.com/office/powerpoint/2010/main" val="5313387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相同狀態與相同身分">
            <a:extLst xmlns:a="http://schemas.openxmlformats.org/drawingml/2006/main">
              <a:ext uri="{FF2B5EF4-FFF2-40B4-BE49-F238E27FC236}">
                <a16:creationId xmlns:a16="http://schemas.microsoft.com/office/drawing/2014/main" id="{5183275D-9D3B-48DC-9802-3DA6D27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Equal State and Object Identity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227B0BBB-E822-4BC7-B7C1-68952195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Instance data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C2592F5D-C8D8-4BC0-82AC-B2920E06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08186F85-1CBC-4845-9E36-9D0498D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5FFFCD9A-CA60-47D6-A9B1-91946C04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D333FDB8-7750-48B8-81E3-335C467E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F0CB5-C538-41B1-89B1-6640DBA9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A2B1B1D1-E30B-44B6-B7BD-4F2A070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9" name="b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A381026E-FF47-4B2A-85A9-3EA67612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Student("Amy")</a:t>
            </a:r>
          </a:p>
        </p:txBody>
      </p:sp>
      <p:sp>
        <p:nvSpPr>
          <p:cNvPr id="10" name="alias = a">
            <a:extLst xmlns:a="http://schemas.openxmlformats.org/drawingml/2006/main">
              <a:ext uri="{FF2B5EF4-FFF2-40B4-BE49-F238E27FC236}">
                <a16:creationId xmlns:a16="http://schemas.microsoft.com/office/drawing/2014/main" id="{5A6C0AA5-0007-4144-9339-2E5BE3BF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alias =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60964-4C6C-4966-8A3B-03D8532B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a.name == b.name)">
            <a:extLst xmlns:a="http://schemas.openxmlformats.org/drawingml/2006/main">
              <a:ext uri="{FF2B5EF4-FFF2-40B4-BE49-F238E27FC236}">
                <a16:creationId xmlns:a16="http://schemas.microsoft.com/office/drawing/2014/main" id="{2FD19A41-7ADC-4784-A7C2-4B637D58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print(a.name == b.name)</a:t>
            </a:r>
          </a:p>
        </p:txBody>
      </p:sp>
      <p:sp>
        <p:nvSpPr>
          <p:cNvPr id="13" name="print(a is b)">
            <a:extLst xmlns:a="http://schemas.openxmlformats.org/drawingml/2006/main">
              <a:ext uri="{FF2B5EF4-FFF2-40B4-BE49-F238E27FC236}">
                <a16:creationId xmlns:a16="http://schemas.microsoft.com/office/drawing/2014/main" id="{E511356C-72F4-4C81-ABB7-6634C793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b)</a:t>
            </a:r>
          </a:p>
        </p:txBody>
      </p:sp>
      <p:sp>
        <p:nvSpPr>
          <p:cNvPr id="14" name="print(a == b)">
            <a:extLst xmlns:a="http://schemas.openxmlformats.org/drawingml/2006/main">
              <a:ext uri="{FF2B5EF4-FFF2-40B4-BE49-F238E27FC236}">
                <a16:creationId xmlns:a16="http://schemas.microsoft.com/office/drawing/2014/main" id="{D293BB78-D26A-42A9-BB97-2663615A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== b)</a:t>
            </a:r>
          </a:p>
        </p:txBody>
      </p:sp>
      <p:sp>
        <p:nvSpPr>
          <p:cNvPr id="15" name="print(alias is a)">
            <a:extLst xmlns:a="http://schemas.openxmlformats.org/drawingml/2006/main">
              <a:ext uri="{FF2B5EF4-FFF2-40B4-BE49-F238E27FC236}">
                <a16:creationId xmlns:a16="http://schemas.microsoft.com/office/drawing/2014/main" id="{EC692211-7832-41AD-80B3-BE2E8A1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print(alias is a)</a:t>
            </a:r>
          </a:p>
        </p:txBody>
      </p:sp>
      <p:sp>
        <p:nvSpPr>
          <p:cNvPr id="16" name="姓名相同，實體不同">
            <a:extLst xmlns:a="http://schemas.openxmlformats.org/drawingml/2006/main">
              <a:ext uri="{FF2B5EF4-FFF2-40B4-BE49-F238E27FC236}">
                <a16:creationId xmlns:a16="http://schemas.microsoft.com/office/drawing/2014/main" id="{12BAAE95-2BAC-4774-864F-374D9695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Same name, distinct instances</a:t>
            </a:r>
          </a:p>
        </p:txBody>
      </p:sp>
      <p:sp>
        <p:nvSpPr>
          <p:cNvPr id="17" name="a 與 b 各自建立。 alias = a 不會複製物件。">
            <a:extLst xmlns:a="http://schemas.openxmlformats.org/drawingml/2006/main">
              <a:ext uri="{FF2B5EF4-FFF2-40B4-BE49-F238E27FC236}">
                <a16:creationId xmlns:a16="http://schemas.microsoft.com/office/drawing/2014/main" id="{3F5518D7-F3FD-49BB-889B-4E0D3F0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and b are created separately.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alias = a does not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copy the object.</a:t>
            </a:r>
          </a:p>
        </p:txBody>
      </p:sp>
      <p:sp>
        <p:nvSpPr>
          <p:cNvPr id="18" name="== 由型別規則決定">
            <a:extLst xmlns:a="http://schemas.openxmlformats.org/drawingml/2006/main">
              <a:ext uri="{FF2B5EF4-FFF2-40B4-BE49-F238E27FC236}">
                <a16:creationId xmlns:a16="http://schemas.microsoft.com/office/drawing/2014/main" id="{A63D5F3C-470D-4666-8A32-CD929D58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The type defines ==</a:t>
            </a:r>
          </a:p>
        </p:txBody>
      </p:sp>
      <p:sp>
        <p:nvSpPr>
          <p:cNvPr id="19" name="本例未自訂 __eq__。 不同實體不會因欄位相同而相等。">
            <a:extLst xmlns:a="http://schemas.openxmlformats.org/drawingml/2006/main">
              <a:ext uri="{FF2B5EF4-FFF2-40B4-BE49-F238E27FC236}">
                <a16:creationId xmlns:a16="http://schemas.microsoft.com/office/drawing/2014/main" id="{AA6BAAFC-4A9E-4561-A208-1580B0A3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This class has no custom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__eq__. Equal fields do not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make distinct instances equal.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3E3FF79-201F-4757-8CAE-51434D04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True    False    False    True">
            <a:extLst xmlns:a="http://schemas.openxmlformats.org/drawingml/2006/main">
              <a:ext uri="{FF2B5EF4-FFF2-40B4-BE49-F238E27FC236}">
                <a16:creationId xmlns:a16="http://schemas.microsoft.com/office/drawing/2014/main" id="{8238EFC4-C06D-46BD-97F2-F0AEE635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True    False    False    True</a:t>
            </a:r>
          </a:p>
        </p:txBody>
      </p:sp>
    </p:spTree>
    <p:extLst>
      <p:ext uri="{BB962C8B-B14F-4D97-AF65-F5344CB8AC3E}">
        <p14:creationId xmlns:p14="http://schemas.microsoft.com/office/powerpoint/2010/main" val="9315831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共用參照與重新綁定">
            <a:extLst xmlns:a="http://schemas.openxmlformats.org/drawingml/2006/main">
              <a:ext uri="{FF2B5EF4-FFF2-40B4-BE49-F238E27FC236}">
                <a16:creationId xmlns:a16="http://schemas.microsoft.com/office/drawing/2014/main" id="{31CAF0E5-19D5-45D4-B3C0-34314471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Shared References and Rebinding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36B3117D-B943-45D2-A4C3-EBAEA68A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Instance data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7D1A095B-36A2-4488-ACB4-108F8CB6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78868DB-4AFB-4403-8B50-3A6722FF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221E7CEF-CA72-4EB6-BE47-E760A1AE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0169B156-A994-4583-B93F-1C0DBBA5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136B7-64D4-49E7-A55B-F61D70D9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25B3F7D5-11BD-43E3-BD0F-1ABC6304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9" name="b = a">
            <a:extLst xmlns:a="http://schemas.openxmlformats.org/drawingml/2006/main">
              <a:ext uri="{FF2B5EF4-FFF2-40B4-BE49-F238E27FC236}">
                <a16:creationId xmlns:a16="http://schemas.microsoft.com/office/drawing/2014/main" id="{5CA6D8B7-CC3E-4A6E-8131-D6D7BD6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a</a:t>
            </a:r>
          </a:p>
        </p:txBody>
      </p:sp>
      <p:sp>
        <p:nvSpPr>
          <p:cNvPr id="10" name="b.name = &quot;Ann&quot;">
            <a:extLst xmlns:a="http://schemas.openxmlformats.org/drawingml/2006/main">
              <a:ext uri="{FF2B5EF4-FFF2-40B4-BE49-F238E27FC236}">
                <a16:creationId xmlns:a16="http://schemas.microsoft.com/office/drawing/2014/main" id="{ED52167E-D997-4A80-88E5-3AD0D00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b.name = "Ann"</a:t>
            </a:r>
          </a:p>
        </p:txBody>
      </p:sp>
      <p:sp>
        <p:nvSpPr>
          <p:cNvPr id="11" name="print(a.name)">
            <a:extLst xmlns:a="http://schemas.openxmlformats.org/drawingml/2006/main">
              <a:ext uri="{FF2B5EF4-FFF2-40B4-BE49-F238E27FC236}">
                <a16:creationId xmlns:a16="http://schemas.microsoft.com/office/drawing/2014/main" id="{18A119A1-1FBE-40ED-919D-11F8E64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print(a.name)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61785-8ADA-42D1-B4AB-591755E0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5C7C38E9-7680-492D-900F-0BE9C565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4" name="print(a.name, b.name)">
            <a:extLst xmlns:a="http://schemas.openxmlformats.org/drawingml/2006/main">
              <a:ext uri="{FF2B5EF4-FFF2-40B4-BE49-F238E27FC236}">
                <a16:creationId xmlns:a16="http://schemas.microsoft.com/office/drawing/2014/main" id="{80C122F3-710A-45EC-B896-AFEFEC11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print(a.name, b.name)</a:t>
            </a:r>
          </a:p>
        </p:txBody>
      </p:sp>
      <p:sp>
        <p:nvSpPr>
          <p:cNvPr id="15" name="print(a is b)">
            <a:extLst xmlns:a="http://schemas.openxmlformats.org/drawingml/2006/main">
              <a:ext uri="{FF2B5EF4-FFF2-40B4-BE49-F238E27FC236}">
                <a16:creationId xmlns:a16="http://schemas.microsoft.com/office/drawing/2014/main" id="{62051142-B51A-41B0-8799-D37271FB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b)</a:t>
            </a:r>
          </a:p>
        </p:txBody>
      </p:sp>
      <p:sp>
        <p:nvSpPr>
          <p:cNvPr id="16" name="修改共用物件">
            <a:extLst xmlns:a="http://schemas.openxmlformats.org/drawingml/2006/main">
              <a:ext uri="{FF2B5EF4-FFF2-40B4-BE49-F238E27FC236}">
                <a16:creationId xmlns:a16="http://schemas.microsoft.com/office/drawing/2014/main" id="{19B80055-3A5A-47FE-9C9F-13FF2B4A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Mutating a shared object</a:t>
            </a:r>
          </a:p>
        </p:txBody>
      </p:sp>
      <p:sp>
        <p:nvSpPr>
          <p:cNvPr id="17" name="b.name = &quot;Ann&quot; 修改 a 與 b 共同參照的實體。">
            <a:extLst xmlns:a="http://schemas.openxmlformats.org/drawingml/2006/main">
              <a:ext uri="{FF2B5EF4-FFF2-40B4-BE49-F238E27FC236}">
                <a16:creationId xmlns:a16="http://schemas.microsoft.com/office/drawing/2014/main" id="{C04BBB21-C3C2-4777-9AAD-EE7AF6BE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b.name = "Ann" changes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instance shared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by a and b.</a:t>
            </a:r>
          </a:p>
        </p:txBody>
      </p:sp>
      <p:sp>
        <p:nvSpPr>
          <p:cNvPr id="18" name="指定新物件給 b">
            <a:extLst xmlns:a="http://schemas.openxmlformats.org/drawingml/2006/main">
              <a:ext uri="{FF2B5EF4-FFF2-40B4-BE49-F238E27FC236}">
                <a16:creationId xmlns:a16="http://schemas.microsoft.com/office/drawing/2014/main" id="{BADE6BE4-BA13-42F5-BD5A-5CE78500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Binding b to a new object</a:t>
            </a:r>
          </a:p>
        </p:txBody>
      </p:sp>
      <p:sp>
        <p:nvSpPr>
          <p:cNvPr id="19" name="重新綁定 b 不會改變 a。 兩個名稱此時指向不同物件。">
            <a:extLst xmlns:a="http://schemas.openxmlformats.org/drawingml/2006/main">
              <a:ext uri="{FF2B5EF4-FFF2-40B4-BE49-F238E27FC236}">
                <a16:creationId xmlns:a16="http://schemas.microsoft.com/office/drawing/2014/main" id="{64FE0D4D-FD94-45E8-8359-2C6214F7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Rebinding b does not change a.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names now refer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to different objects.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959AD1D-BAB2-4C04-923E-CEE70C06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Ann    Ann Bob    False">
            <a:extLst xmlns:a="http://schemas.openxmlformats.org/drawingml/2006/main">
              <a:ext uri="{FF2B5EF4-FFF2-40B4-BE49-F238E27FC236}">
                <a16:creationId xmlns:a16="http://schemas.microsoft.com/office/drawing/2014/main" id="{62538F0A-19B0-41D4-8142-A4B373C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Ann    Ann Bob    False</a:t>
            </a:r>
          </a:p>
        </p:txBody>
      </p:sp>
    </p:spTree>
    <p:extLst>
      <p:ext uri="{BB962C8B-B14F-4D97-AF65-F5344CB8AC3E}">
        <p14:creationId xmlns:p14="http://schemas.microsoft.com/office/powerpoint/2010/main" val="14599822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觀察實體的 __dict__">
            <a:extLst xmlns:a="http://schemas.openxmlformats.org/drawingml/2006/main">
              <a:ext uri="{FF2B5EF4-FFF2-40B4-BE49-F238E27FC236}">
                <a16:creationId xmlns:a16="http://schemas.microsoft.com/office/drawing/2014/main" id="{49F4EEA3-CF7B-47D3-B4EF-34E07415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Inspecting an Instance __dict__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E4A0EAF7-148B-46E7-BCC1-0C7013E8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Instance data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2E7BD150-C42D-4698-95B0-391F4EA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0639CB90-CAA4-4217-B265-EE19945F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89217AFF-E998-4E0E-990B-DC1DB58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AD8A2-782C-4E22-BA3A-64B076E1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73DC9A7F-76AE-42C7-A621-8339C794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8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7D2D3A14-0DD3-4650-BB02-A5E4CAB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CDB92-60C8-4E71-A747-91F5F06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my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90629C69-477F-4E59-A987-4A1D59D8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Student("Amy")</a:t>
            </a:r>
          </a:p>
        </p:txBody>
      </p:sp>
      <p:sp>
        <p:nvSpPr>
          <p:cNvPr id="11" name="print(vars(amy))">
            <a:extLst xmlns:a="http://schemas.openxmlformats.org/drawingml/2006/main">
              <a:ext uri="{FF2B5EF4-FFF2-40B4-BE49-F238E27FC236}">
                <a16:creationId xmlns:a16="http://schemas.microsoft.com/office/drawing/2014/main" id="{C3CA8AFA-F173-47DE-9A12-61642F5F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print(vars(amy))</a:t>
            </a:r>
          </a:p>
        </p:txBody>
      </p:sp>
      <p:sp>
        <p:nvSpPr>
          <p:cNvPr id="12" name="print(&quot;school&quot; in vars(amy))">
            <a:extLst xmlns:a="http://schemas.openxmlformats.org/drawingml/2006/main">
              <a:ext uri="{FF2B5EF4-FFF2-40B4-BE49-F238E27FC236}">
                <a16:creationId xmlns:a16="http://schemas.microsoft.com/office/drawing/2014/main" id="{E9B103F9-C11D-49A0-9559-93380151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print("school" in vars(amy))</a:t>
            </a:r>
          </a:p>
        </p:txBody>
      </p:sp>
      <p:sp>
        <p:nvSpPr>
          <p:cNvPr id="13" name="print(&quot;school&quot; in vars(Student))">
            <a:extLst xmlns:a="http://schemas.openxmlformats.org/drawingml/2006/main">
              <a:ext uri="{FF2B5EF4-FFF2-40B4-BE49-F238E27FC236}">
                <a16:creationId xmlns:a16="http://schemas.microsoft.com/office/drawing/2014/main" id="{2DF88FB2-99F8-4C29-B601-F1200A14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print("school" in vars(Student))</a:t>
            </a:r>
          </a:p>
        </p:txBody>
      </p:sp>
      <p:sp>
        <p:nvSpPr>
          <p:cNvPr id="14" name="print(amy.school)">
            <a:extLst xmlns:a="http://schemas.openxmlformats.org/drawingml/2006/main">
              <a:ext uri="{FF2B5EF4-FFF2-40B4-BE49-F238E27FC236}">
                <a16:creationId xmlns:a16="http://schemas.microsoft.com/office/drawing/2014/main" id="{360DC138-3F58-468A-950F-7467349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print(amy.school)</a:t>
            </a:r>
          </a:p>
        </p:txBody>
      </p:sp>
      <p:sp>
        <p:nvSpPr>
          <p:cNvPr id="15" name="vars 顯示名稱與值">
            <a:extLst xmlns:a="http://schemas.openxmlformats.org/drawingml/2006/main">
              <a:ext uri="{FF2B5EF4-FFF2-40B4-BE49-F238E27FC236}">
                <a16:creationId xmlns:a16="http://schemas.microsoft.com/office/drawing/2014/main" id="{6F839C68-7445-41C6-8A74-68ED151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vars shows names and values</a:t>
            </a:r>
          </a:p>
        </p:txBody>
      </p:sp>
      <p:sp>
        <p:nvSpPr>
          <p:cNvPr id="16" name="本例的 vars(amy) 對應 amy.__dict__。">
            <a:extLst xmlns:a="http://schemas.openxmlformats.org/drawingml/2006/main">
              <a:ext uri="{FF2B5EF4-FFF2-40B4-BE49-F238E27FC236}">
                <a16:creationId xmlns:a16="http://schemas.microsoft.com/office/drawing/2014/main" id="{1AAD5039-0A66-4450-AA3F-600CAB17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Here, vars(amy) returns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amy.__dict__.</a:t>
            </a:r>
          </a:p>
        </p:txBody>
      </p:sp>
      <p:sp>
        <p:nvSpPr>
          <p:cNvPr id="17" name="屬性可來自類別">
            <a:extLst xmlns:a="http://schemas.openxmlformats.org/drawingml/2006/main">
              <a:ext uri="{FF2B5EF4-FFF2-40B4-BE49-F238E27FC236}">
                <a16:creationId xmlns:a16="http://schemas.microsoft.com/office/drawing/2014/main" id="{D2FE631F-CDC3-4380-895A-A166A93B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Attributes can come from a class</a:t>
            </a:r>
          </a:p>
        </p:txBody>
      </p:sp>
      <p:sp>
        <p:nvSpPr>
          <p:cNvPr id="18" name="school 不在實體字典中， 仍可透過 amy.school 讀取。">
            <a:extLst xmlns:a="http://schemas.openxmlformats.org/drawingml/2006/main">
              <a:ext uri="{FF2B5EF4-FFF2-40B4-BE49-F238E27FC236}">
                <a16:creationId xmlns:a16="http://schemas.microsoft.com/office/drawing/2014/main" id="{19A7747B-7A70-4A72-9964-0564DF82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school is absent from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instance dictionary,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but amy.school still works.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BD14249-E54D-421D-821E-2CC6A9AF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{'name': 'Amy'}    False    True    YunTech">
            <a:extLst xmlns:a="http://schemas.openxmlformats.org/drawingml/2006/main">
              <a:ext uri="{FF2B5EF4-FFF2-40B4-BE49-F238E27FC236}">
                <a16:creationId xmlns:a16="http://schemas.microsoft.com/office/drawing/2014/main" id="{71944A82-D690-4A1E-8C79-7FC35EBA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{'name': 'Amy'}    False    True    YunTech</a:t>
            </a:r>
          </a:p>
        </p:txBody>
      </p:sp>
    </p:spTree>
    <p:extLst>
      <p:ext uri="{BB962C8B-B14F-4D97-AF65-F5344CB8AC3E}">
        <p14:creationId xmlns:p14="http://schemas.microsoft.com/office/powerpoint/2010/main" val="13719023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一般資料屬性的查找與指定">
            <a:extLst xmlns:a="http://schemas.openxmlformats.org/drawingml/2006/main">
              <a:ext uri="{FF2B5EF4-FFF2-40B4-BE49-F238E27FC236}">
                <a16:creationId xmlns:a16="http://schemas.microsoft.com/office/drawing/2014/main" id="{525D2F85-6C1E-426B-9E45-4F63312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Ordinary Attribute Lookup and Assignment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6B145CBB-2772-401F-8D7D-020E9768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Class attributes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229B9396-52F9-45C0-B2AF-0442122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4524375"/>
                <a:gridCol w="37338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Operation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Ordinary behavior in this lesson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 obj.x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Check the instance, then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the class inheritance chain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Return the attribute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when found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Assign obj.x = value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 x on the instance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May shadow a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class attribute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Assign Class.x = value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 x on the class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Affects instances still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reading x from the class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Delete del obj.x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Remove x from the instance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Later reads may find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the class attribute again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這是普通資料屬性的簡化模型。property 等描述器會影響查找與指定。">
            <a:extLst xmlns:a="http://schemas.openxmlformats.org/drawingml/2006/main">
              <a:ext uri="{FF2B5EF4-FFF2-40B4-BE49-F238E27FC236}">
                <a16:creationId xmlns:a16="http://schemas.microsoft.com/office/drawing/2014/main" id="{41122BAD-3B12-42EF-9C03-54F7F82F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This is a simplified model for ordinary data attributes. Descriptors such as property can change it.</a:t>
            </a:r>
          </a:p>
        </p:txBody>
      </p:sp>
    </p:spTree>
    <p:extLst>
      <p:ext uri="{BB962C8B-B14F-4D97-AF65-F5344CB8AC3E}">
        <p14:creationId xmlns:p14="http://schemas.microsoft.com/office/powerpoint/2010/main" val="15385832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類別屬性作為共同預設值">
            <a:extLst xmlns:a="http://schemas.openxmlformats.org/drawingml/2006/main">
              <a:ext uri="{FF2B5EF4-FFF2-40B4-BE49-F238E27FC236}">
                <a16:creationId xmlns:a16="http://schemas.microsoft.com/office/drawing/2014/main" id="{1F5BBAC5-14E2-4B09-A719-B0780BC8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Class Attributes as Shared Defaults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BF4620CB-01B0-44FF-982D-9A4EB9E5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attributes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BE5CEEB6-780E-46A4-A2BA-9E5BDB1D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33F69ED-ADD2-4426-97CB-8E5E4B32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15CFD6F2-9BFF-4E43-B662-098052E2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60027-2E30-4C4B-A9FA-D4F557D2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 = Student()">
            <a:extLst xmlns:a="http://schemas.openxmlformats.org/drawingml/2006/main">
              <a:ext uri="{FF2B5EF4-FFF2-40B4-BE49-F238E27FC236}">
                <a16:creationId xmlns:a16="http://schemas.microsoft.com/office/drawing/2014/main" id="{3D959F3C-11B9-4131-86A0-DA896112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Student()</a:t>
            </a:r>
          </a:p>
        </p:txBody>
      </p:sp>
      <p:sp>
        <p:nvSpPr>
          <p:cNvPr id="8" name="b = Student()">
            <a:extLst xmlns:a="http://schemas.openxmlformats.org/drawingml/2006/main">
              <a:ext uri="{FF2B5EF4-FFF2-40B4-BE49-F238E27FC236}">
                <a16:creationId xmlns:a16="http://schemas.microsoft.com/office/drawing/2014/main" id="{4C1206D9-AAFF-4FF0-82D8-B4F9B56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ACA70-9232-4485-84A7-7EA94B9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0621871A-E908-4DCF-BF88-56D5AF37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1" name="Student.school = &quot;New Campus&quot;">
            <a:extLst xmlns:a="http://schemas.openxmlformats.org/drawingml/2006/main">
              <a:ext uri="{FF2B5EF4-FFF2-40B4-BE49-F238E27FC236}">
                <a16:creationId xmlns:a16="http://schemas.microsoft.com/office/drawing/2014/main" id="{AD5BDEF8-346A-4F4C-B3BA-5168AC1A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Student.school = "New Campus"</a:t>
            </a:r>
          </a:p>
        </p:txBody>
      </p:sp>
      <p:sp>
        <p:nvSpPr>
          <p:cNvPr id="12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D9386ED4-E9BB-4133-8C27-384658A3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3" name="共同預設值放在類別">
            <a:extLst xmlns:a="http://schemas.openxmlformats.org/drawingml/2006/main">
              <a:ext uri="{FF2B5EF4-FFF2-40B4-BE49-F238E27FC236}">
                <a16:creationId xmlns:a16="http://schemas.microsoft.com/office/drawing/2014/main" id="{64EB1F45-D478-4240-B2B2-284D4BED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The default belongs to the class</a:t>
            </a:r>
          </a:p>
        </p:txBody>
      </p:sp>
      <p:sp>
        <p:nvSpPr>
          <p:cNvPr id="14" name="兩個實體都沒有自己的 school 屬性。">
            <a:extLst xmlns:a="http://schemas.openxmlformats.org/drawingml/2006/main">
              <a:ext uri="{FF2B5EF4-FFF2-40B4-BE49-F238E27FC236}">
                <a16:creationId xmlns:a16="http://schemas.microsoft.com/office/drawing/2014/main" id="{093FC725-632C-404E-AA0A-D47C1C4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Neither instance has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its own school attribute.</a:t>
            </a:r>
          </a:p>
        </p:txBody>
      </p:sp>
      <p:sp>
        <p:nvSpPr>
          <p:cNvPr id="15" name="更新類別上的名稱">
            <a:extLst xmlns:a="http://schemas.openxmlformats.org/drawingml/2006/main">
              <a:ext uri="{FF2B5EF4-FFF2-40B4-BE49-F238E27FC236}">
                <a16:creationId xmlns:a16="http://schemas.microsoft.com/office/drawing/2014/main" id="{B3C87137-D5B6-4CF0-B467-C314A9E5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Updating the class binding</a:t>
            </a:r>
          </a:p>
        </p:txBody>
      </p:sp>
      <p:sp>
        <p:nvSpPr>
          <p:cNvPr id="16" name="兩者仍從 Student 查找， 因此讀到更新後的值。">
            <a:extLst xmlns:a="http://schemas.openxmlformats.org/drawingml/2006/main">
              <a:ext uri="{FF2B5EF4-FFF2-40B4-BE49-F238E27FC236}">
                <a16:creationId xmlns:a16="http://schemas.microsoft.com/office/drawing/2014/main" id="{1BE8A611-B8F1-41F5-80EA-00FCF58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Both still look up school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on Student, so both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see the new value.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E62B268-97EE-47CE-AFE5-C94C74B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YunTech YunTech    New Campus New Campus">
            <a:extLst xmlns:a="http://schemas.openxmlformats.org/drawingml/2006/main">
              <a:ext uri="{FF2B5EF4-FFF2-40B4-BE49-F238E27FC236}">
                <a16:creationId xmlns:a16="http://schemas.microsoft.com/office/drawing/2014/main" id="{50D5892D-2E14-49B6-930A-72D3EEE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YunTech YunTech    New Campus New Campus</a:t>
            </a:r>
          </a:p>
        </p:txBody>
      </p:sp>
    </p:spTree>
    <p:extLst>
      <p:ext uri="{BB962C8B-B14F-4D97-AF65-F5344CB8AC3E}">
        <p14:creationId xmlns:p14="http://schemas.microsoft.com/office/powerpoint/2010/main" val="11186402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實體屬性遮蔽類別屬性">
            <a:extLst xmlns:a="http://schemas.openxmlformats.org/drawingml/2006/main">
              <a:ext uri="{FF2B5EF4-FFF2-40B4-BE49-F238E27FC236}">
                <a16:creationId xmlns:a16="http://schemas.microsoft.com/office/drawing/2014/main" id="{72B0B00E-24AD-43B3-BCF1-22A177AE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Instance Attributes Shadow Class Attributes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5216BFC1-577D-4157-8CA5-CF5F286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attributes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6F1AD1D9-7DEA-4311-BD94-78EEFE0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8FEB5C1D-D5B4-4016-87E2-52E3C00F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EC768291-6D83-4672-B810-DB15B9A3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6AF2D-5458-4286-9FC3-E551060A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 = Student()">
            <a:extLst xmlns:a="http://schemas.openxmlformats.org/drawingml/2006/main">
              <a:ext uri="{FF2B5EF4-FFF2-40B4-BE49-F238E27FC236}">
                <a16:creationId xmlns:a16="http://schemas.microsoft.com/office/drawing/2014/main" id="{F3AAE32C-7EF7-4B9C-8820-8E310E6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Student()</a:t>
            </a:r>
          </a:p>
        </p:txBody>
      </p:sp>
      <p:sp>
        <p:nvSpPr>
          <p:cNvPr id="8" name="b = Student()">
            <a:extLst xmlns:a="http://schemas.openxmlformats.org/drawingml/2006/main">
              <a:ext uri="{FF2B5EF4-FFF2-40B4-BE49-F238E27FC236}">
                <a16:creationId xmlns:a16="http://schemas.microsoft.com/office/drawing/2014/main" id="{26448991-66C9-4DA3-B0BA-2A8E6AC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Student()</a:t>
            </a:r>
          </a:p>
        </p:txBody>
      </p:sp>
      <p:sp>
        <p:nvSpPr>
          <p:cNvPr id="9" name="a.school = &quot;Exchange&quot;">
            <a:extLst xmlns:a="http://schemas.openxmlformats.org/drawingml/2006/main">
              <a:ext uri="{FF2B5EF4-FFF2-40B4-BE49-F238E27FC236}">
                <a16:creationId xmlns:a16="http://schemas.microsoft.com/office/drawing/2014/main" id="{D98FB15A-658D-4E0E-A91B-3520518E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a.school = "Exchange"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BCF90-4A86-4272-BA91-FE2EE321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08C6D5BB-C4F0-45F3-BB9D-7A0F53C6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2" name="print(Student.school)">
            <a:extLst xmlns:a="http://schemas.openxmlformats.org/drawingml/2006/main">
              <a:ext uri="{FF2B5EF4-FFF2-40B4-BE49-F238E27FC236}">
                <a16:creationId xmlns:a16="http://schemas.microsoft.com/office/drawing/2014/main" id="{2CEC519E-0411-4D92-A1D2-AE3044E4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print(Student.school)</a:t>
            </a:r>
          </a:p>
        </p:txBody>
      </p:sp>
      <p:sp>
        <p:nvSpPr>
          <p:cNvPr id="13" name="del a.school">
            <a:extLst xmlns:a="http://schemas.openxmlformats.org/drawingml/2006/main">
              <a:ext uri="{FF2B5EF4-FFF2-40B4-BE49-F238E27FC236}">
                <a16:creationId xmlns:a16="http://schemas.microsoft.com/office/drawing/2014/main" id="{3DD56AFD-4A75-496C-AAFB-BC73D947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a.school</a:t>
            </a:r>
          </a:p>
        </p:txBody>
      </p:sp>
      <p:sp>
        <p:nvSpPr>
          <p:cNvPr id="14" name="print(a.school)">
            <a:extLst xmlns:a="http://schemas.openxmlformats.org/drawingml/2006/main">
              <a:ext uri="{FF2B5EF4-FFF2-40B4-BE49-F238E27FC236}">
                <a16:creationId xmlns:a16="http://schemas.microsoft.com/office/drawing/2014/main" id="{CEE94C09-CF54-4CCA-B22B-175245B6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print(a.school)</a:t>
            </a:r>
          </a:p>
        </p:txBody>
      </p:sp>
      <p:sp>
        <p:nvSpPr>
          <p:cNvPr id="15" name="a.school 指定在實體上">
            <a:extLst xmlns:a="http://schemas.openxmlformats.org/drawingml/2006/main">
              <a:ext uri="{FF2B5EF4-FFF2-40B4-BE49-F238E27FC236}">
                <a16:creationId xmlns:a16="http://schemas.microsoft.com/office/drawing/2014/main" id="{D7D925B0-6860-48F8-9CA9-9DEA4BD5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a.school is set on the instance</a:t>
            </a:r>
          </a:p>
        </p:txBody>
      </p:sp>
      <p:sp>
        <p:nvSpPr>
          <p:cNvPr id="16" name="a 新增自己的 school， 不會改寫 Student.school。">
            <a:extLst xmlns:a="http://schemas.openxmlformats.org/drawingml/2006/main">
              <a:ext uri="{FF2B5EF4-FFF2-40B4-BE49-F238E27FC236}">
                <a16:creationId xmlns:a16="http://schemas.microsoft.com/office/drawing/2014/main" id="{6148C6AD-E3F2-4F49-8E9A-030FC30D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gets its own school.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Student.school remains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unchanged.</a:t>
            </a:r>
          </a:p>
        </p:txBody>
      </p:sp>
      <p:sp>
        <p:nvSpPr>
          <p:cNvPr id="17" name="刪除後恢復類別查找">
            <a:extLst xmlns:a="http://schemas.openxmlformats.org/drawingml/2006/main">
              <a:ext uri="{FF2B5EF4-FFF2-40B4-BE49-F238E27FC236}">
                <a16:creationId xmlns:a16="http://schemas.microsoft.com/office/drawing/2014/main" id="{CB8AC233-94C0-4415-84CE-9D0832B7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Deleting removes the shadow</a:t>
            </a:r>
          </a:p>
        </p:txBody>
      </p:sp>
      <p:sp>
        <p:nvSpPr>
          <p:cNvPr id="18" name="del a.school 移除遮蔽。 a 再次讀到 YunTech。">
            <a:extLst xmlns:a="http://schemas.openxmlformats.org/drawingml/2006/main">
              <a:ext uri="{FF2B5EF4-FFF2-40B4-BE49-F238E27FC236}">
                <a16:creationId xmlns:a16="http://schemas.microsoft.com/office/drawing/2014/main" id="{4E6649F4-EED9-47A9-BDBA-10D25E7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del a.school removes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instance attribute.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reads YunTech again.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A376260-57A7-4A79-9AC8-79466955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Exchange YunTech    YunTech    YunTech">
            <a:extLst xmlns:a="http://schemas.openxmlformats.org/drawingml/2006/main">
              <a:ext uri="{FF2B5EF4-FFF2-40B4-BE49-F238E27FC236}">
                <a16:creationId xmlns:a16="http://schemas.microsoft.com/office/drawing/2014/main" id="{65056643-3E19-4344-AE86-F9B000EE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Exchange YunTech    YunTech    YunTech</a:t>
            </a:r>
          </a:p>
        </p:txBody>
      </p:sp>
    </p:spTree>
    <p:extLst>
      <p:ext uri="{BB962C8B-B14F-4D97-AF65-F5344CB8AC3E}">
        <p14:creationId xmlns:p14="http://schemas.microsoft.com/office/powerpoint/2010/main" val="1879903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錯誤案例：共用可變類別屬性">
            <a:extLst xmlns:a="http://schemas.openxmlformats.org/drawingml/2006/main">
              <a:ext uri="{FF2B5EF4-FFF2-40B4-BE49-F238E27FC236}">
                <a16:creationId xmlns:a16="http://schemas.microsoft.com/office/drawing/2014/main" id="{511A5F4C-8366-4AF5-BFBF-282B2007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Pitfall: Shared Mutable Class Attributes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570654EF-882E-44D1-BCD9-B91E5C62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Class attributes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049FD23A-2D1C-4993-815B-A096324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AA42CE8-424B-4739-8F10-B88BA9F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courses = []">
            <a:extLst xmlns:a="http://schemas.openxmlformats.org/drawingml/2006/main">
              <a:ext uri="{FF2B5EF4-FFF2-40B4-BE49-F238E27FC236}">
                <a16:creationId xmlns:a16="http://schemas.microsoft.com/office/drawing/2014/main" id="{F267C69A-7986-440B-A599-543F025B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courses = []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9818F-EC4A-4D2C-925B-FE1D3EE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332BEDF9-7BF5-427C-8E14-C17A7C3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8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61AFADD6-E54B-42CF-9DBE-41CC482B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7F4BA-3F50-4083-A436-4BAAB96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3BBC97A6-CC88-46C1-8EFF-FF542340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1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7693E873-A889-4579-ABC6-2B770D44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2" name="a.courses.append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10D9D461-BCD8-4E34-A442-A4D9DE14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a.courses.append("Python")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1A717-7842-4DDE-94DD-00445F48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b.courses)">
            <a:extLst xmlns:a="http://schemas.openxmlformats.org/drawingml/2006/main">
              <a:ext uri="{FF2B5EF4-FFF2-40B4-BE49-F238E27FC236}">
                <a16:creationId xmlns:a16="http://schemas.microsoft.com/office/drawing/2014/main" id="{E868B00F-A8E6-4527-9869-4F3D44A1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print(b.courses)</a:t>
            </a:r>
          </a:p>
        </p:txBody>
      </p:sp>
      <p:sp>
        <p:nvSpPr>
          <p:cNvPr id="15" name="print(a.courses is b.courses)">
            <a:extLst xmlns:a="http://schemas.openxmlformats.org/drawingml/2006/main">
              <a:ext uri="{FF2B5EF4-FFF2-40B4-BE49-F238E27FC236}">
                <a16:creationId xmlns:a16="http://schemas.microsoft.com/office/drawing/2014/main" id="{405AA06E-6904-4A09-BA07-DEBB3D10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print(a.courses is b.courses)</a:t>
            </a:r>
          </a:p>
        </p:txBody>
      </p:sp>
      <p:sp>
        <p:nvSpPr>
          <p:cNvPr id="16" name="courses 只有一份">
            <a:extLst xmlns:a="http://schemas.openxmlformats.org/drawingml/2006/main">
              <a:ext uri="{FF2B5EF4-FFF2-40B4-BE49-F238E27FC236}">
                <a16:creationId xmlns:a16="http://schemas.microsoft.com/office/drawing/2014/main" id="{BE696E43-7A9B-4192-81FA-B5CD7E15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Only one courses list exists</a:t>
            </a:r>
          </a:p>
        </p:txBody>
      </p:sp>
      <p:sp>
        <p:nvSpPr>
          <p:cNvPr id="17" name="串列在執行 class 定義時 建立，放在類別上。">
            <a:extLst xmlns:a="http://schemas.openxmlformats.org/drawingml/2006/main">
              <a:ext uri="{FF2B5EF4-FFF2-40B4-BE49-F238E27FC236}">
                <a16:creationId xmlns:a16="http://schemas.microsoft.com/office/drawing/2014/main" id="{FE118ED9-42A9-45DF-8BFB-FB98ACD1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list is created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when the class definition runs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and is stored on the class.</a:t>
            </a:r>
          </a:p>
        </p:txBody>
      </p:sp>
      <p:sp>
        <p:nvSpPr>
          <p:cNvPr id="18" name="append 修改既有串列">
            <a:extLst xmlns:a="http://schemas.openxmlformats.org/drawingml/2006/main">
              <a:ext uri="{FF2B5EF4-FFF2-40B4-BE49-F238E27FC236}">
                <a16:creationId xmlns:a16="http://schemas.microsoft.com/office/drawing/2014/main" id="{B69B3D21-9EFB-4A88-9F9E-A6E0B71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append mutates the existing list</a:t>
            </a:r>
          </a:p>
        </p:txBody>
      </p:sp>
      <p:sp>
        <p:nvSpPr>
          <p:cNvPr id="19" name="它沒有指定 a.courses。 所有參照者都看到修改。">
            <a:extLst xmlns:a="http://schemas.openxmlformats.org/drawingml/2006/main">
              <a:ext uri="{FF2B5EF4-FFF2-40B4-BE49-F238E27FC236}">
                <a16:creationId xmlns:a16="http://schemas.microsoft.com/office/drawing/2014/main" id="{AC054111-A6B6-4BFF-BA8A-922103CD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It does not assign a.courses.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Every reference to that list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sees the change.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A04928D-223B-4280-B6B9-1756857A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['Python']    True">
            <a:extLst xmlns:a="http://schemas.openxmlformats.org/drawingml/2006/main">
              <a:ext uri="{FF2B5EF4-FFF2-40B4-BE49-F238E27FC236}">
                <a16:creationId xmlns:a16="http://schemas.microsoft.com/office/drawing/2014/main" id="{E54CD1BE-E599-4B65-AD01-A50149E4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['Python']    True</a:t>
            </a:r>
          </a:p>
        </p:txBody>
      </p:sp>
    </p:spTree>
    <p:extLst>
      <p:ext uri="{BB962C8B-B14F-4D97-AF65-F5344CB8AC3E}">
        <p14:creationId xmlns:p14="http://schemas.microsoft.com/office/powerpoint/2010/main" val="1340074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修正：每個實體建立自己的容器">
            <a:extLst xmlns:a="http://schemas.openxmlformats.org/drawingml/2006/main">
              <a:ext uri="{FF2B5EF4-FFF2-40B4-BE49-F238E27FC236}">
                <a16:creationId xmlns:a16="http://schemas.microsoft.com/office/drawing/2014/main" id="{AA509D23-EA94-43CC-BE45-3863D075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Separate Container for Each Instance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0A920B8B-0170-484C-9F24-557A1101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attributes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36BE7E3E-DA30-40A3-8E07-3EC96487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FA62600-2B77-4074-82B2-9DFE3151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99967962-454C-4E26-9C8B-A11E5AE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1246F33D-A527-4A8C-85DB-B5151D51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courses = []">
            <a:extLst xmlns:a="http://schemas.openxmlformats.org/drawingml/2006/main">
              <a:ext uri="{FF2B5EF4-FFF2-40B4-BE49-F238E27FC236}">
                <a16:creationId xmlns:a16="http://schemas.microsoft.com/office/drawing/2014/main" id="{6742541C-0706-4C61-A6E2-A5DF9F25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 = 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83563-3A3D-4717-9DD5-D6F840DA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enroll(self, course):">
            <a:extLst xmlns:a="http://schemas.openxmlformats.org/drawingml/2006/main">
              <a:ext uri="{FF2B5EF4-FFF2-40B4-BE49-F238E27FC236}">
                <a16:creationId xmlns:a16="http://schemas.microsoft.com/office/drawing/2014/main" id="{1F9ED29F-0A77-4244-A454-12D99D22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enroll(self, course):</a:t>
            </a:r>
          </a:p>
        </p:txBody>
      </p:sp>
      <p:sp>
        <p:nvSpPr>
          <p:cNvPr id="10" name="        self.courses.append(course)">
            <a:extLst xmlns:a="http://schemas.openxmlformats.org/drawingml/2006/main">
              <a:ext uri="{FF2B5EF4-FFF2-40B4-BE49-F238E27FC236}">
                <a16:creationId xmlns:a16="http://schemas.microsoft.com/office/drawing/2014/main" id="{7C620DE3-D919-4686-BCBA-46566018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self.courses.append(course)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8E65E-8457-4799-8141-AA60E733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8C17F0A4-12E2-4FB5-883F-780C5778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3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4BE1829F-19B7-4EDF-A8D6-B04A9D3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4" name="a.enroll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8862F4A9-B473-4B14-B66F-BCA5B147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a.enroll("Python")</a:t>
            </a:r>
          </a:p>
        </p:txBody>
      </p:sp>
      <p:sp>
        <p:nvSpPr>
          <p:cNvPr id="15" name="print(a.courses, b.courses)">
            <a:extLst xmlns:a="http://schemas.openxmlformats.org/drawingml/2006/main">
              <a:ext uri="{FF2B5EF4-FFF2-40B4-BE49-F238E27FC236}">
                <a16:creationId xmlns:a16="http://schemas.microsoft.com/office/drawing/2014/main" id="{D5DC17D7-F154-4F68-B48B-8D5E22FE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print(a.courses, b.courses)</a:t>
            </a:r>
          </a:p>
        </p:txBody>
      </p:sp>
      <p:sp>
        <p:nvSpPr>
          <p:cNvPr id="16" name="個人資料放在實體">
            <a:extLst xmlns:a="http://schemas.openxmlformats.org/drawingml/2006/main">
              <a:ext uri="{FF2B5EF4-FFF2-40B4-BE49-F238E27FC236}">
                <a16:creationId xmlns:a16="http://schemas.microsoft.com/office/drawing/2014/main" id="{D129D622-D4F9-405A-944D-4F5A30E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Personal data on the instance</a:t>
            </a:r>
          </a:p>
        </p:txBody>
      </p:sp>
      <p:sp>
        <p:nvSpPr>
          <p:cNvPr id="17" name="self.courses = [] 每次建立獨立串列。">
            <a:extLst xmlns:a="http://schemas.openxmlformats.org/drawingml/2006/main">
              <a:ext uri="{FF2B5EF4-FFF2-40B4-BE49-F238E27FC236}">
                <a16:creationId xmlns:a16="http://schemas.microsoft.com/office/drawing/2014/main" id="{60CC10F0-08A1-4293-A7D1-25A29811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self.courses = [] creates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separate list each time.</a:t>
            </a:r>
          </a:p>
        </p:txBody>
      </p:sp>
      <p:sp>
        <p:nvSpPr>
          <p:cNvPr id="18" name="行為靠近相關狀態">
            <a:extLst xmlns:a="http://schemas.openxmlformats.org/drawingml/2006/main">
              <a:ext uri="{FF2B5EF4-FFF2-40B4-BE49-F238E27FC236}">
                <a16:creationId xmlns:a16="http://schemas.microsoft.com/office/drawing/2014/main" id="{C812F072-2598-47DC-96BB-72264093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Behavior with related state</a:t>
            </a:r>
          </a:p>
        </p:txBody>
      </p:sp>
      <p:sp>
        <p:nvSpPr>
          <p:cNvPr id="19" name="enroll 操作接收者的課程。 後續可集中處理選課規則。">
            <a:extLst xmlns:a="http://schemas.openxmlformats.org/drawingml/2006/main">
              <a:ext uri="{FF2B5EF4-FFF2-40B4-BE49-F238E27FC236}">
                <a16:creationId xmlns:a16="http://schemas.microsoft.com/office/drawing/2014/main" id="{56A7528D-FF25-458E-A00A-CDFC1E7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enroll changes the receiver's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courses. Enrollment rules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can later be handled here.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037C21DD-5DE7-4B8B-A1BA-78C9135D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['Python'] []">
            <a:extLst xmlns:a="http://schemas.openxmlformats.org/drawingml/2006/main">
              <a:ext uri="{FF2B5EF4-FFF2-40B4-BE49-F238E27FC236}">
                <a16:creationId xmlns:a16="http://schemas.microsoft.com/office/drawing/2014/main" id="{A0E3E795-C4EF-4CB4-BB49-CFC8C0E9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['Python'] []</a:t>
            </a:r>
          </a:p>
        </p:txBody>
      </p:sp>
    </p:spTree>
    <p:extLst>
      <p:ext uri="{BB962C8B-B14F-4D97-AF65-F5344CB8AC3E}">
        <p14:creationId xmlns:p14="http://schemas.microsoft.com/office/powerpoint/2010/main" val="14876538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類別屬性統計建立次數">
            <a:extLst xmlns:a="http://schemas.openxmlformats.org/drawingml/2006/main">
              <a:ext uri="{FF2B5EF4-FFF2-40B4-BE49-F238E27FC236}">
                <a16:creationId xmlns:a16="http://schemas.microsoft.com/office/drawing/2014/main" id="{72E5CDDC-E372-46E1-8015-44D2CF58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Counting Creations with a Class Attribute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EDE702B7-D6C3-48A9-9515-2F0DB6B6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attributes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DD5CD3B9-9184-4AA5-9A0C-B4E7C47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553F55C9-BA69-4BD0-90ED-C6A9E39F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9E8C1C0B-95DF-4559-896F-CB0F149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1FAEE-123D-45C5-8674-458C4AD6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F4457922-244D-4343-8B33-20E8D5E4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8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F3976442-E172-4D88-917B-08965E26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9" name="        Student.count += 1">
            <a:extLst xmlns:a="http://schemas.openxmlformats.org/drawingml/2006/main">
              <a:ext uri="{FF2B5EF4-FFF2-40B4-BE49-F238E27FC236}">
                <a16:creationId xmlns:a16="http://schemas.microsoft.com/office/drawing/2014/main" id="{E8B50762-566E-48A9-B4D3-ADB28344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Student.count +=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DAFF5-E6EC-4EFB-9B1A-FA86CBA9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3B41BEBE-01AB-44DF-A40B-D6882F17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2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61F14636-A03E-4E08-A423-D5A85C36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3" name="print(Student.count)">
            <a:extLst xmlns:a="http://schemas.openxmlformats.org/drawingml/2006/main">
              <a:ext uri="{FF2B5EF4-FFF2-40B4-BE49-F238E27FC236}">
                <a16:creationId xmlns:a16="http://schemas.microsoft.com/office/drawing/2014/main" id="{8D513622-7F32-43E1-B053-4485A696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print(Student.count)</a:t>
            </a:r>
          </a:p>
        </p:txBody>
      </p:sp>
      <p:sp>
        <p:nvSpPr>
          <p:cNvPr id="14" name="del a">
            <a:extLst xmlns:a="http://schemas.openxmlformats.org/drawingml/2006/main">
              <a:ext uri="{FF2B5EF4-FFF2-40B4-BE49-F238E27FC236}">
                <a16:creationId xmlns:a16="http://schemas.microsoft.com/office/drawing/2014/main" id="{66FCBFF5-6D62-4C8D-A02D-D226FC42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a</a:t>
            </a:r>
          </a:p>
        </p:txBody>
      </p:sp>
      <p:sp>
        <p:nvSpPr>
          <p:cNvPr id="15" name="print(Student.count)">
            <a:extLst xmlns:a="http://schemas.openxmlformats.org/drawingml/2006/main">
              <a:ext uri="{FF2B5EF4-FFF2-40B4-BE49-F238E27FC236}">
                <a16:creationId xmlns:a16="http://schemas.microsoft.com/office/drawing/2014/main" id="{836DD5A0-000D-451D-8E40-D7AA4C6C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print(Student.count)</a:t>
            </a:r>
          </a:p>
        </p:txBody>
      </p:sp>
      <p:sp>
        <p:nvSpPr>
          <p:cNvPr id="16" name="明確更新類別屬性">
            <a:extLst xmlns:a="http://schemas.openxmlformats.org/drawingml/2006/main">
              <a:ext uri="{FF2B5EF4-FFF2-40B4-BE49-F238E27FC236}">
                <a16:creationId xmlns:a16="http://schemas.microsoft.com/office/drawing/2014/main" id="{1C293817-0D3E-4C37-BA37-00C5367A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Update the class explicitly</a:t>
            </a:r>
          </a:p>
        </p:txBody>
      </p:sp>
      <p:sp>
        <p:nvSpPr>
          <p:cNvPr id="17" name="Student.count += 1 更新同一個累計值。">
            <a:extLst xmlns:a="http://schemas.openxmlformats.org/drawingml/2006/main">
              <a:ext uri="{FF2B5EF4-FFF2-40B4-BE49-F238E27FC236}">
                <a16:creationId xmlns:a16="http://schemas.microsoft.com/office/drawing/2014/main" id="{EF094524-D5DC-4AB4-8BC6-9A9053D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Student.count += 1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updates the shared total.</a:t>
            </a:r>
          </a:p>
        </p:txBody>
      </p:sp>
      <p:sp>
        <p:nvSpPr>
          <p:cNvPr id="18" name="累計建立次數">
            <a:extLst xmlns:a="http://schemas.openxmlformats.org/drawingml/2006/main">
              <a:ext uri="{FF2B5EF4-FFF2-40B4-BE49-F238E27FC236}">
                <a16:creationId xmlns:a16="http://schemas.microsoft.com/office/drawing/2014/main" id="{18A6AA38-94E6-465B-966C-5E2213D9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 cumulative count</a:t>
            </a:r>
          </a:p>
        </p:txBody>
      </p:sp>
      <p:sp>
        <p:nvSpPr>
          <p:cNvPr id="19" name="del a 只移除名稱綁定。 本例沒有減少 count 的邏輯。">
            <a:extLst xmlns:a="http://schemas.openxmlformats.org/drawingml/2006/main">
              <a:ext uri="{FF2B5EF4-FFF2-40B4-BE49-F238E27FC236}">
                <a16:creationId xmlns:a16="http://schemas.microsoft.com/office/drawing/2014/main" id="{1C4C8EBE-E942-4830-BB9C-D4D8EE09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del a only removes a binding.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This example never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decrements count.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C7EF500-F314-4820-9E6F-6CCC9A5D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2    2">
            <a:extLst xmlns:a="http://schemas.openxmlformats.org/drawingml/2006/main">
              <a:ext uri="{FF2B5EF4-FFF2-40B4-BE49-F238E27FC236}">
                <a16:creationId xmlns:a16="http://schemas.microsoft.com/office/drawing/2014/main" id="{9EEFE68A-2A2D-4601-9C7F-62E25EF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2    2</a:t>
            </a:r>
          </a:p>
        </p:txBody>
      </p:sp>
    </p:spTree>
    <p:extLst>
      <p:ext uri="{BB962C8B-B14F-4D97-AF65-F5344CB8AC3E}">
        <p14:creationId xmlns:p14="http://schemas.microsoft.com/office/powerpoint/2010/main" val="15824988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lf.count += 1 的遮蔽陷阱">
            <a:extLst xmlns:a="http://schemas.openxmlformats.org/drawingml/2006/main">
              <a:ext uri="{FF2B5EF4-FFF2-40B4-BE49-F238E27FC236}">
                <a16:creationId xmlns:a16="http://schemas.microsoft.com/office/drawing/2014/main" id="{4CD23372-1D8A-403D-A0CF-831B8436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self.count += 1 Shadowing Pitfall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9F998BD4-75E7-46CA-981B-57B77181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Class attributes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64E3BED9-21F3-4A27-80CE-D687C875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F370050-981A-4EFA-8208-D75A05CF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865E8644-7CBE-4BB8-8CF0-3A05224C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C5C2D-9D9F-462E-9AB4-1779AB07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6381AC9C-3234-480D-B25B-730225D8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8" name="        self.count += 1">
            <a:extLst xmlns:a="http://schemas.openxmlformats.org/drawingml/2006/main">
              <a:ext uri="{FF2B5EF4-FFF2-40B4-BE49-F238E27FC236}">
                <a16:creationId xmlns:a16="http://schemas.microsoft.com/office/drawing/2014/main" id="{5F3DE9A3-E11B-4A6A-8FC1-CAED9341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+=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16ECA-3C55-4EFC-832B-279869D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= Student()">
            <a:extLst xmlns:a="http://schemas.openxmlformats.org/drawingml/2006/main">
              <a:ext uri="{FF2B5EF4-FFF2-40B4-BE49-F238E27FC236}">
                <a16:creationId xmlns:a16="http://schemas.microsoft.com/office/drawing/2014/main" id="{5ED2E62B-DA81-480E-876F-8E376DC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Student()</a:t>
            </a:r>
          </a:p>
        </p:txBody>
      </p:sp>
      <p:sp>
        <p:nvSpPr>
          <p:cNvPr id="11" name="b = Student()">
            <a:extLst xmlns:a="http://schemas.openxmlformats.org/drawingml/2006/main">
              <a:ext uri="{FF2B5EF4-FFF2-40B4-BE49-F238E27FC236}">
                <a16:creationId xmlns:a16="http://schemas.microsoft.com/office/drawing/2014/main" id="{9117B055-CD85-499B-AC90-3C20BAC4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C7A06-DCEB-4EB4-8CD1-5810CDE8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Student.count)">
            <a:extLst xmlns:a="http://schemas.openxmlformats.org/drawingml/2006/main">
              <a:ext uri="{FF2B5EF4-FFF2-40B4-BE49-F238E27FC236}">
                <a16:creationId xmlns:a16="http://schemas.microsoft.com/office/drawing/2014/main" id="{9ADBFAC8-38F9-48A2-8DD4-E6A77737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print(Student.count)</a:t>
            </a:r>
          </a:p>
        </p:txBody>
      </p:sp>
      <p:sp>
        <p:nvSpPr>
          <p:cNvPr id="14" name="print(a.count, b.count)">
            <a:extLst xmlns:a="http://schemas.openxmlformats.org/drawingml/2006/main">
              <a:ext uri="{FF2B5EF4-FFF2-40B4-BE49-F238E27FC236}">
                <a16:creationId xmlns:a16="http://schemas.microsoft.com/office/drawing/2014/main" id="{17337AC2-0C49-459B-81C3-2C6BDED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print(a.count, b.count)</a:t>
            </a:r>
          </a:p>
        </p:txBody>
      </p:sp>
      <p:sp>
        <p:nvSpPr>
          <p:cNvPr id="15" name="print(vars(a))">
            <a:extLst xmlns:a="http://schemas.openxmlformats.org/drawingml/2006/main">
              <a:ext uri="{FF2B5EF4-FFF2-40B4-BE49-F238E27FC236}">
                <a16:creationId xmlns:a16="http://schemas.microsoft.com/office/drawing/2014/main" id="{0D334A2E-8702-42C7-A180-8E62302F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print(vars(a))</a:t>
            </a:r>
          </a:p>
        </p:txBody>
      </p:sp>
      <p:sp>
        <p:nvSpPr>
          <p:cNvPr id="16" name="先讀，再指定">
            <a:extLst xmlns:a="http://schemas.openxmlformats.org/drawingml/2006/main">
              <a:ext uri="{FF2B5EF4-FFF2-40B4-BE49-F238E27FC236}">
                <a16:creationId xmlns:a16="http://schemas.microsoft.com/office/drawing/2014/main" id="{FCD6394E-976C-4BC5-B594-F7544065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Read, then assign</a:t>
            </a:r>
          </a:p>
        </p:txBody>
      </p:sp>
      <p:sp>
        <p:nvSpPr>
          <p:cNvPr id="17" name="先從類別讀到整數 0。 加一後指定到實體 count。">
            <a:extLst xmlns:a="http://schemas.openxmlformats.org/drawingml/2006/main">
              <a:ext uri="{FF2B5EF4-FFF2-40B4-BE49-F238E27FC236}">
                <a16:creationId xmlns:a16="http://schemas.microsoft.com/office/drawing/2014/main" id="{5EAAC2E6-620A-48C4-A98D-373DCE07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Read 0 from the class.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Add one, then assign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count on the instance.</a:t>
            </a:r>
          </a:p>
        </p:txBody>
      </p:sp>
      <p:sp>
        <p:nvSpPr>
          <p:cNvPr id="18" name="沒有更新共同計數器">
            <a:extLst xmlns:a="http://schemas.openxmlformats.org/drawingml/2006/main">
              <a:ext uri="{FF2B5EF4-FFF2-40B4-BE49-F238E27FC236}">
                <a16:creationId xmlns:a16="http://schemas.microsoft.com/office/drawing/2014/main" id="{EB3C13D8-3ED9-4839-8804-7BDE851D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The shared count stays unchanged</a:t>
            </a:r>
          </a:p>
        </p:txBody>
      </p:sp>
      <p:sp>
        <p:nvSpPr>
          <p:cNvPr id="19" name="每個實體都得到自己的 1。 Student.count 仍是 0。">
            <a:extLst xmlns:a="http://schemas.openxmlformats.org/drawingml/2006/main">
              <a:ext uri="{FF2B5EF4-FFF2-40B4-BE49-F238E27FC236}">
                <a16:creationId xmlns:a16="http://schemas.microsoft.com/office/drawing/2014/main" id="{61E9D6DE-0680-4EDE-BCE7-2052D3FC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Each instance gets its own 1.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Student.count remains 0.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FA23AFB-3B1A-4256-89C8-4901CE5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0    1 1    {'count': 1}">
            <a:extLst xmlns:a="http://schemas.openxmlformats.org/drawingml/2006/main">
              <a:ext uri="{FF2B5EF4-FFF2-40B4-BE49-F238E27FC236}">
                <a16:creationId xmlns:a16="http://schemas.microsoft.com/office/drawing/2014/main" id="{2B088724-FA0B-4D14-A8CC-F841D71D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0    1 1    {'count': 1}</a:t>
            </a:r>
          </a:p>
        </p:txBody>
      </p:sp>
    </p:spTree>
    <p:extLst>
      <p:ext uri="{BB962C8B-B14F-4D97-AF65-F5344CB8AC3E}">
        <p14:creationId xmlns:p14="http://schemas.microsoft.com/office/powerpoint/2010/main" val="21287938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三種方法接收的對象">
            <a:extLst xmlns:a="http://schemas.openxmlformats.org/drawingml/2006/main">
              <a:ext uri="{FF2B5EF4-FFF2-40B4-BE49-F238E27FC236}">
                <a16:creationId xmlns:a16="http://schemas.microsoft.com/office/drawing/2014/main" id="{2637E995-690B-47E1-A479-861983AE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What the Three Method Types Receive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D5C95863-D841-4414-9B65-DFC409B3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Methods and construction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A275C2A2-E0CF-4C84-B205-E6838F89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3762375"/>
                <a:gridCol w="39719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Automatically receives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Typical use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Instance method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self: the receiving instance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 or update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one student's state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@classmethod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cls: the class associated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with the call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Alternative constructors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class-related behavior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@staticmethod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 automatic self or cls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Utility operations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related to the class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差異在自動繫結的對象，不只是裝飾器名稱。">
            <a:extLst xmlns:a="http://schemas.openxmlformats.org/drawingml/2006/main">
              <a:ext uri="{FF2B5EF4-FFF2-40B4-BE49-F238E27FC236}">
                <a16:creationId xmlns:a16="http://schemas.microsoft.com/office/drawing/2014/main" id="{BA56E4A3-E4F3-4718-B22A-D6771B4E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The key difference is the automatically bound object, beyond the decorator name.</a:t>
            </a:r>
          </a:p>
        </p:txBody>
      </p:sp>
    </p:spTree>
    <p:extLst>
      <p:ext uri="{BB962C8B-B14F-4D97-AF65-F5344CB8AC3E}">
        <p14:creationId xmlns:p14="http://schemas.microsoft.com/office/powerpoint/2010/main" val="761050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lassmethod 與替代建構子">
            <a:extLst xmlns:a="http://schemas.openxmlformats.org/drawingml/2006/main">
              <a:ext uri="{FF2B5EF4-FFF2-40B4-BE49-F238E27FC236}">
                <a16:creationId xmlns:a16="http://schemas.microsoft.com/office/drawing/2014/main" id="{E9941B34-CD43-41A8-BC91-C1282572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classmethod and Alternative Constructors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6444EDAC-094D-454F-A46C-E1F4C1BF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Methods and construction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564BAD31-BD05-4B23-80F3-33524789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0E2E3A8A-7882-4902-8045-E0C4403C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1EA3508A-0638-4C4A-98EE-DC0780FE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6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B808D6D1-E810-4D56-863A-0943F8E8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5B439ABE-4992-447A-A9F4-F48DF0C2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BA67A-74A6-4937-9C8A-46C4CAE5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F8D925FA-B538-43B1-83F8-3C810951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10" name="    def from_csv(cls, row):">
            <a:extLst xmlns:a="http://schemas.openxmlformats.org/drawingml/2006/main">
              <a:ext uri="{FF2B5EF4-FFF2-40B4-BE49-F238E27FC236}">
                <a16:creationId xmlns:a16="http://schemas.microsoft.com/office/drawing/2014/main" id="{103F2092-4A4B-401F-8E2B-E7E57F23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from_csv(cls, row):</a:t>
            </a:r>
          </a:p>
        </p:txBody>
      </p:sp>
      <p:sp>
        <p:nvSpPr>
          <p:cNvPr id="11" name="        student_id, name = row.split(&quot;,&quot;)">
            <a:extLst xmlns:a="http://schemas.openxmlformats.org/drawingml/2006/main">
              <a:ext uri="{FF2B5EF4-FFF2-40B4-BE49-F238E27FC236}">
                <a16:creationId xmlns:a16="http://schemas.microsoft.com/office/drawing/2014/main" id="{C46A63F7-021E-4DD8-9149-AB922FEE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student_id, name = row.split(",")</a:t>
            </a:r>
          </a:p>
        </p:txBody>
      </p:sp>
      <p:sp>
        <p:nvSpPr>
          <p:cNvPr id="12" name="        return cls(student_id.strip(), name.strip())">
            <a:extLst xmlns:a="http://schemas.openxmlformats.org/drawingml/2006/main">
              <a:ext uri="{FF2B5EF4-FFF2-40B4-BE49-F238E27FC236}">
                <a16:creationId xmlns:a16="http://schemas.microsoft.com/office/drawing/2014/main" id="{A47F1830-C7CA-48FE-97C9-A6A5C0CB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cls(student_id.strip(), name.strip())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CF729-5A4A-486B-895A-2DD55137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amy = Student.from_csv(&quot;B11501, Amy&quot;)">
            <a:extLst xmlns:a="http://schemas.openxmlformats.org/drawingml/2006/main">
              <a:ext uri="{FF2B5EF4-FFF2-40B4-BE49-F238E27FC236}">
                <a16:creationId xmlns:a16="http://schemas.microsoft.com/office/drawing/2014/main" id="{60E1F48F-7CA1-413D-88A0-4D76C29D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Student.from_csv("B11501, Amy")</a:t>
            </a:r>
          </a:p>
        </p:txBody>
      </p:sp>
      <p:sp>
        <p:nvSpPr>
          <p:cNvPr id="15" name="print(amy.student_id, amy.name)">
            <a:extLst xmlns:a="http://schemas.openxmlformats.org/drawingml/2006/main">
              <a:ext uri="{FF2B5EF4-FFF2-40B4-BE49-F238E27FC236}">
                <a16:creationId xmlns:a16="http://schemas.microsoft.com/office/drawing/2014/main" id="{832B2B6D-EEDB-4DE4-86D7-4C81C79D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print(amy.student_id, amy.name)</a:t>
            </a:r>
          </a:p>
        </p:txBody>
      </p:sp>
      <p:sp>
        <p:nvSpPr>
          <p:cNvPr id="16" name="from_csv 提供具名入口">
            <a:extLst xmlns:a="http://schemas.openxmlformats.org/drawingml/2006/main">
              <a:ext uri="{FF2B5EF4-FFF2-40B4-BE49-F238E27FC236}">
                <a16:creationId xmlns:a16="http://schemas.microsoft.com/office/drawing/2014/main" id="{E53B1727-F849-48AB-AB17-A3295AD4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 named construction entry point</a:t>
            </a:r>
          </a:p>
        </p:txBody>
      </p:sp>
      <p:sp>
        <p:nvSpPr>
          <p:cNvPr id="17" name="把一列文字轉成建立物件 所需的學號與姓名。">
            <a:extLst xmlns:a="http://schemas.openxmlformats.org/drawingml/2006/main">
              <a:ext uri="{FF2B5EF4-FFF2-40B4-BE49-F238E27FC236}">
                <a16:creationId xmlns:a16="http://schemas.microsoft.com/office/drawing/2014/main" id="{1C0DE406-A07B-40BA-B728-B2C3DCE3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from_csv converts a row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into the ID and name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needed to create a student.</a:t>
            </a:r>
          </a:p>
        </p:txBody>
      </p:sp>
      <p:sp>
        <p:nvSpPr>
          <p:cNvPr id="18" name="cls(...) 建立對應型別">
            <a:extLst xmlns:a="http://schemas.openxmlformats.org/drawingml/2006/main">
              <a:ext uri="{FF2B5EF4-FFF2-40B4-BE49-F238E27FC236}">
                <a16:creationId xmlns:a16="http://schemas.microsoft.com/office/drawing/2014/main" id="{C1445463-2931-43C0-85EF-124C2B2F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cls(...) creates the matching type</a:t>
            </a:r>
          </a:p>
        </p:txBody>
      </p:sp>
      <p:sp>
        <p:nvSpPr>
          <p:cNvPr id="19" name="沿用 __init__ 的初始化。 本例只接受簡單雙欄文字。">
            <a:extLst xmlns:a="http://schemas.openxmlformats.org/drawingml/2006/main">
              <a:ext uri="{FF2B5EF4-FFF2-40B4-BE49-F238E27FC236}">
                <a16:creationId xmlns:a16="http://schemas.microsoft.com/office/drawing/2014/main" id="{C2D4D3B2-0F09-494D-ADAD-79FAF53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It reuses __init__.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This example only accepts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simple two-field text.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015F3AF-540E-443F-9E53-2BF7A92B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B11501 Amy">
            <a:extLst xmlns:a="http://schemas.openxmlformats.org/drawingml/2006/main">
              <a:ext uri="{FF2B5EF4-FFF2-40B4-BE49-F238E27FC236}">
                <a16:creationId xmlns:a16="http://schemas.microsoft.com/office/drawing/2014/main" id="{4594F659-27BD-4C75-8CDC-8C91ACEB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B11501 Amy</a:t>
            </a:r>
          </a:p>
        </p:txBody>
      </p:sp>
    </p:spTree>
    <p:extLst>
      <p:ext uri="{BB962C8B-B14F-4D97-AF65-F5344CB8AC3E}">
        <p14:creationId xmlns:p14="http://schemas.microsoft.com/office/powerpoint/2010/main" val="4173083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含引號的 CSV 欄位">
            <a:extLst xmlns:a="http://schemas.openxmlformats.org/drawingml/2006/main">
              <a:ext uri="{FF2B5EF4-FFF2-40B4-BE49-F238E27FC236}">
                <a16:creationId xmlns:a16="http://schemas.microsoft.com/office/drawing/2014/main" id="{59521666-21A8-45D7-B830-413224FB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Quoted CSV Fields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16A1FA38-0C22-434C-9DDA-73EFED2E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Methods and construction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1F9E5EB6-6A9D-4CAE-95AB-DFE887F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4" name="import csv">
            <a:extLst xmlns:a="http://schemas.openxmlformats.org/drawingml/2006/main">
              <a:ext uri="{FF2B5EF4-FFF2-40B4-BE49-F238E27FC236}">
                <a16:creationId xmlns:a16="http://schemas.microsoft.com/office/drawing/2014/main" id="{797471BE-6B6D-43B1-98F6-5EAEEBA0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CBE0A-D3EF-4E1A-95EF-EF017B6F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69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565E9289-6046-4C8E-98F4-6574629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07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7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2AF1A2F0-BDC9-494A-8CBB-967C669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45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8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050174E4-C508-47F0-A1D0-B55169D8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84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9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CB393139-93D0-459B-B10C-50AB6269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B5E68-D80D-44FF-AF83-A1E4BEAA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61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1239C489-EFF2-4667-A4F5-E2B05D8C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12" name="    def from_csv(cls, row):">
            <a:extLst xmlns:a="http://schemas.openxmlformats.org/drawingml/2006/main">
              <a:ext uri="{FF2B5EF4-FFF2-40B4-BE49-F238E27FC236}">
                <a16:creationId xmlns:a16="http://schemas.microsoft.com/office/drawing/2014/main" id="{8B7A4F03-5A25-45C3-B752-8D06351B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37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from_csv(cls, row):</a:t>
            </a:r>
          </a:p>
        </p:txBody>
      </p:sp>
      <p:sp>
        <p:nvSpPr>
          <p:cNvPr id="13" name="        fields = next(csv.reader([row]))">
            <a:extLst xmlns:a="http://schemas.openxmlformats.org/drawingml/2006/main">
              <a:ext uri="{FF2B5EF4-FFF2-40B4-BE49-F238E27FC236}">
                <a16:creationId xmlns:a16="http://schemas.microsoft.com/office/drawing/2014/main" id="{499B64F9-CE21-409A-85DD-89E9465D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76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fields = next(csv.reader([row]))</a:t>
            </a:r>
          </a:p>
        </p:txBody>
      </p:sp>
      <p:sp>
        <p:nvSpPr>
          <p:cNvPr id="14" name="        student_id, name = fields">
            <a:extLst xmlns:a="http://schemas.openxmlformats.org/drawingml/2006/main">
              <a:ext uri="{FF2B5EF4-FFF2-40B4-BE49-F238E27FC236}">
                <a16:creationId xmlns:a16="http://schemas.microsoft.com/office/drawing/2014/main" id="{E81FBD27-B37C-4451-8E87-4C882EE7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student_id, name = fields</a:t>
            </a:r>
          </a:p>
        </p:txBody>
      </p:sp>
      <p:sp>
        <p:nvSpPr>
          <p:cNvPr id="15" name="        return cls(student_id.strip(), name.strip())">
            <a:extLst xmlns:a="http://schemas.openxmlformats.org/drawingml/2006/main">
              <a:ext uri="{FF2B5EF4-FFF2-40B4-BE49-F238E27FC236}">
                <a16:creationId xmlns:a16="http://schemas.microsoft.com/office/drawing/2014/main" id="{B417096D-0C25-4B2D-AD65-78166F09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53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cls(student_id.strip(), name.strip())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24C3A-D04C-44C5-B638-D2019B0B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91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s = Student.from_csv('B11501,&quot;Chen, Amy&quot;')">
            <a:extLst xmlns:a="http://schemas.openxmlformats.org/drawingml/2006/main">
              <a:ext uri="{FF2B5EF4-FFF2-40B4-BE49-F238E27FC236}">
                <a16:creationId xmlns:a16="http://schemas.microsoft.com/office/drawing/2014/main" id="{A35ED99D-6F98-4A95-B13C-7D752B7E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29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 = Student.from_csv('B11501,"Chen, Amy"')</a:t>
            </a:r>
          </a:p>
        </p:txBody>
      </p:sp>
      <p:sp>
        <p:nvSpPr>
          <p:cNvPr id="18" name="print(s.name)">
            <a:extLst xmlns:a="http://schemas.openxmlformats.org/drawingml/2006/main">
              <a:ext uri="{FF2B5EF4-FFF2-40B4-BE49-F238E27FC236}">
                <a16:creationId xmlns:a16="http://schemas.microsoft.com/office/drawing/2014/main" id="{C64FD9D9-C0AF-47BB-A8C2-37A63F78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68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print(s.name)</a:t>
            </a:r>
          </a:p>
        </p:txBody>
      </p:sp>
      <p:sp>
        <p:nvSpPr>
          <p:cNvPr id="19" name="CSV 有自己的欄位規則">
            <a:extLst xmlns:a="http://schemas.openxmlformats.org/drawingml/2006/main">
              <a:ext uri="{FF2B5EF4-FFF2-40B4-BE49-F238E27FC236}">
                <a16:creationId xmlns:a16="http://schemas.microsoft.com/office/drawing/2014/main" id="{C9578FAD-B753-4F93-A5A3-4A239C03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CSV has field parsing rules</a:t>
            </a:r>
          </a:p>
        </p:txBody>
      </p:sp>
      <p:sp>
        <p:nvSpPr>
          <p:cNvPr id="20" name="引號內的逗號屬於姓名， 不是新的欄位。">
            <a:extLst xmlns:a="http://schemas.openxmlformats.org/drawingml/2006/main">
              <a:ext uri="{FF2B5EF4-FFF2-40B4-BE49-F238E27FC236}">
                <a16:creationId xmlns:a16="http://schemas.microsoft.com/office/drawing/2014/main" id="{E3EC5BFB-F3C3-48C8-BFF8-DAE8C237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comma inside quotes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belongs to the name,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not a new field.</a:t>
            </a:r>
          </a:p>
        </p:txBody>
      </p:sp>
      <p:sp>
        <p:nvSpPr>
          <p:cNvPr id="21" name="解析與建立各有責任">
            <a:extLst xmlns:a="http://schemas.openxmlformats.org/drawingml/2006/main">
              <a:ext uri="{FF2B5EF4-FFF2-40B4-BE49-F238E27FC236}">
                <a16:creationId xmlns:a16="http://schemas.microsoft.com/office/drawing/2014/main" id="{E0321A05-42D9-45B7-A7A6-83BF2054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Parsing and initialization</a:t>
            </a:r>
          </a:p>
        </p:txBody>
      </p:sp>
      <p:sp>
        <p:nvSpPr>
          <p:cNvPr id="22" name="csv.reader 處理格式。 __init__ 處理物件初始狀態。">
            <a:extLst xmlns:a="http://schemas.openxmlformats.org/drawingml/2006/main">
              <a:ext uri="{FF2B5EF4-FFF2-40B4-BE49-F238E27FC236}">
                <a16:creationId xmlns:a16="http://schemas.microsoft.com/office/drawing/2014/main" id="{98BA86B4-80F9-4EA3-9912-95E0B162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csv.reader handles the format.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__init__ handles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 initial object state.</a:t>
            </a:r>
          </a:p>
        </p:txBody>
      </p:sp>
      <p:sp>
        <p:nvSpPr>
          <p:cNvPr id="23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7A3DCB9-DF33-41DD-AD5D-43C727F4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4" name="Chen, Amy">
            <a:extLst xmlns:a="http://schemas.openxmlformats.org/drawingml/2006/main">
              <a:ext uri="{FF2B5EF4-FFF2-40B4-BE49-F238E27FC236}">
                <a16:creationId xmlns:a16="http://schemas.microsoft.com/office/drawing/2014/main" id="{62F30DB9-E6A8-4AD9-9551-4B9318CB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Chen, Amy</a:t>
            </a:r>
          </a:p>
        </p:txBody>
      </p:sp>
    </p:spTree>
    <p:extLst>
      <p:ext uri="{BB962C8B-B14F-4D97-AF65-F5344CB8AC3E}">
        <p14:creationId xmlns:p14="http://schemas.microsoft.com/office/powerpoint/2010/main" val="19261751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ls 保留衍生類別的建立能力">
            <a:extLst xmlns:a="http://schemas.openxmlformats.org/drawingml/2006/main">
              <a:ext uri="{FF2B5EF4-FFF2-40B4-BE49-F238E27FC236}">
                <a16:creationId xmlns:a16="http://schemas.microsoft.com/office/drawing/2014/main" id="{6EF43FB3-5DF3-4FE3-A255-D2ADEAE4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cls Preserves the Derived Type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9FF86A64-006F-4755-AE71-7050B9F5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Methods and construction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7102FEE3-0538-4236-95F3-7A56DDDA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E63471E0-458D-4D53-A00C-9864C0CE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CFCEB476-BBDB-40BC-8ED8-16106954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3F1A3AD2-2EF5-4C80-9B52-B5E1B2E3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F697F-B162-4A82-A89A-7351786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3F6D7942-E1F4-4D7B-84BA-7BEB95F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9" name="    def from_name(cls, name):">
            <a:extLst xmlns:a="http://schemas.openxmlformats.org/drawingml/2006/main">
              <a:ext uri="{FF2B5EF4-FFF2-40B4-BE49-F238E27FC236}">
                <a16:creationId xmlns:a16="http://schemas.microsoft.com/office/drawing/2014/main" id="{4336E3F2-FCE8-4F9B-B5AA-350ADB11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from_name(cls, name):</a:t>
            </a:r>
          </a:p>
        </p:txBody>
      </p:sp>
      <p:sp>
        <p:nvSpPr>
          <p:cNvPr id="10" name="        return cls(name)">
            <a:extLst xmlns:a="http://schemas.openxmlformats.org/drawingml/2006/main">
              <a:ext uri="{FF2B5EF4-FFF2-40B4-BE49-F238E27FC236}">
                <a16:creationId xmlns:a16="http://schemas.microsoft.com/office/drawing/2014/main" id="{04FBF42D-258F-452B-9955-87AAD2DE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cls(name)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E346A-A9B5-476B-8498-04378B0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class GraduateStudent(Student):">
            <a:extLst xmlns:a="http://schemas.openxmlformats.org/drawingml/2006/main">
              <a:ext uri="{FF2B5EF4-FFF2-40B4-BE49-F238E27FC236}">
                <a16:creationId xmlns:a16="http://schemas.microsoft.com/office/drawing/2014/main" id="{3BF51AF5-E8B3-41B0-A874-09FBDE13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GraduateStudent(Student):</a:t>
            </a:r>
          </a:p>
        </p:txBody>
      </p:sp>
      <p:sp>
        <p:nvSpPr>
          <p:cNvPr id="13" name="    pass">
            <a:extLst xmlns:a="http://schemas.openxmlformats.org/drawingml/2006/main">
              <a:ext uri="{FF2B5EF4-FFF2-40B4-BE49-F238E27FC236}">
                <a16:creationId xmlns:a16="http://schemas.microsoft.com/office/drawing/2014/main" id="{D0E2D1D3-CA4C-4364-BEF9-43A4EF77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F1CA1-3E30-4860-B0B7-86EF7318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 = GraduateStudent.from_name(&quot;Amy&quot;)">
            <a:extLst xmlns:a="http://schemas.openxmlformats.org/drawingml/2006/main">
              <a:ext uri="{FF2B5EF4-FFF2-40B4-BE49-F238E27FC236}">
                <a16:creationId xmlns:a16="http://schemas.microsoft.com/office/drawing/2014/main" id="{E154B59A-2866-4A65-9E38-EA1BAF03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 = GraduateStudent.from_name("Amy")</a:t>
            </a:r>
          </a:p>
        </p:txBody>
      </p:sp>
      <p:sp>
        <p:nvSpPr>
          <p:cNvPr id="16" name="print(type(s).__name__)">
            <a:extLst xmlns:a="http://schemas.openxmlformats.org/drawingml/2006/main">
              <a:ext uri="{FF2B5EF4-FFF2-40B4-BE49-F238E27FC236}">
                <a16:creationId xmlns:a16="http://schemas.microsoft.com/office/drawing/2014/main" id="{50A412D5-5E69-4851-A825-8A3F63D1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print(type(s).__name__)</a:t>
            </a:r>
          </a:p>
        </p:txBody>
      </p:sp>
      <p:sp>
        <p:nvSpPr>
          <p:cNvPr id="17" name="cls 由實際呼叫決定">
            <a:extLst xmlns:a="http://schemas.openxmlformats.org/drawingml/2006/main">
              <a:ext uri="{FF2B5EF4-FFF2-40B4-BE49-F238E27FC236}">
                <a16:creationId xmlns:a16="http://schemas.microsoft.com/office/drawing/2014/main" id="{815C62AB-74A8-41C0-B5D2-98BFDE24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cls follows the actual call</a:t>
            </a:r>
          </a:p>
        </p:txBody>
      </p:sp>
      <p:sp>
        <p:nvSpPr>
          <p:cNvPr id="18" name="經由 GraduateStudent 呼叫， cls 就是 GraduateStudent。">
            <a:extLst xmlns:a="http://schemas.openxmlformats.org/drawingml/2006/main">
              <a:ext uri="{FF2B5EF4-FFF2-40B4-BE49-F238E27FC236}">
                <a16:creationId xmlns:a16="http://schemas.microsoft.com/office/drawing/2014/main" id="{3DD2DE72-39D7-4B46-9A97-701A46A3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Called on GraduateStudent,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cls is GraduateStudent.</a:t>
            </a:r>
          </a:p>
        </p:txBody>
      </p:sp>
      <p:sp>
        <p:nvSpPr>
          <p:cNvPr id="19" name="避免寫死 Student(...)">
            <a:extLst xmlns:a="http://schemas.openxmlformats.org/drawingml/2006/main">
              <a:ext uri="{FF2B5EF4-FFF2-40B4-BE49-F238E27FC236}">
                <a16:creationId xmlns:a16="http://schemas.microsoft.com/office/drawing/2014/main" id="{10EBEEA1-CBAB-480B-9853-3516FE6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Avoid hard-coding Student(...)</a:t>
            </a:r>
          </a:p>
        </p:txBody>
      </p:sp>
      <p:sp>
        <p:nvSpPr>
          <p:cNvPr id="20" name="本例沿用相容的 __init__。 繼承細節於後續週次展開。">
            <a:extLst xmlns:a="http://schemas.openxmlformats.org/drawingml/2006/main">
              <a:ext uri="{FF2B5EF4-FFF2-40B4-BE49-F238E27FC236}">
                <a16:creationId xmlns:a16="http://schemas.microsoft.com/office/drawing/2014/main" id="{9AE63DD3-6EE6-4F50-A35B-43F91DB3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This example inherits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compatible __init__.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Inheritance is explored later.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8870EEA-9980-45B1-81A9-543C2EF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2" name="GraduateStudent">
            <a:extLst xmlns:a="http://schemas.openxmlformats.org/drawingml/2006/main">
              <a:ext uri="{FF2B5EF4-FFF2-40B4-BE49-F238E27FC236}">
                <a16:creationId xmlns:a16="http://schemas.microsoft.com/office/drawing/2014/main" id="{516969DE-9443-473A-84A9-25DBB968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GraduateStudent</a:t>
            </a:r>
          </a:p>
        </p:txBody>
      </p:sp>
    </p:spTree>
    <p:extLst>
      <p:ext uri="{BB962C8B-B14F-4D97-AF65-F5344CB8AC3E}">
        <p14:creationId xmlns:p14="http://schemas.microsoft.com/office/powerpoint/2010/main" val="211260420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taticmethod 與純工具操作">
            <a:extLst xmlns:a="http://schemas.openxmlformats.org/drawingml/2006/main">
              <a:ext uri="{FF2B5EF4-FFF2-40B4-BE49-F238E27FC236}">
                <a16:creationId xmlns:a16="http://schemas.microsoft.com/office/drawing/2014/main" id="{FF9676BF-577E-490D-BC7E-1576DFAB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staticmethod and Utility Operations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F5054F46-7F91-4995-BABA-28C23238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Methods and construction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AF522CE7-6756-4F18-A5EF-36D0D27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A438830-3A13-49AF-893C-28330F77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@staticmethod">
            <a:extLst xmlns:a="http://schemas.openxmlformats.org/drawingml/2006/main">
              <a:ext uri="{FF2B5EF4-FFF2-40B4-BE49-F238E27FC236}">
                <a16:creationId xmlns:a16="http://schemas.microsoft.com/office/drawing/2014/main" id="{6B71806F-1105-4A8E-A8CF-ADC19551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@staticmethod</a:t>
            </a:r>
          </a:p>
        </p:txBody>
      </p:sp>
      <p:sp>
        <p:nvSpPr>
          <p:cNvPr id="6" name="    def normalize_name(name):">
            <a:extLst xmlns:a="http://schemas.openxmlformats.org/drawingml/2006/main">
              <a:ext uri="{FF2B5EF4-FFF2-40B4-BE49-F238E27FC236}">
                <a16:creationId xmlns:a16="http://schemas.microsoft.com/office/drawing/2014/main" id="{FF9100B3-3BAF-49A3-84D3-C861354D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normalize_name(name):</a:t>
            </a:r>
          </a:p>
        </p:txBody>
      </p:sp>
      <p:sp>
        <p:nvSpPr>
          <p:cNvPr id="7" name="        return &quot; &quot;.join(name.split())">
            <a:extLst xmlns:a="http://schemas.openxmlformats.org/drawingml/2006/main">
              <a:ext uri="{FF2B5EF4-FFF2-40B4-BE49-F238E27FC236}">
                <a16:creationId xmlns:a16="http://schemas.microsoft.com/office/drawing/2014/main" id="{C12687E6-6FE9-4E51-A8A9-E8AA0E1F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" ".join(name.split())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23F4E-3CCC-4A9B-9E0D-7D204C65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int(Student.normalize_name(&quot;  Amy   Chen  &quot;))">
            <a:extLst xmlns:a="http://schemas.openxmlformats.org/drawingml/2006/main">
              <a:ext uri="{FF2B5EF4-FFF2-40B4-BE49-F238E27FC236}">
                <a16:creationId xmlns:a16="http://schemas.microsoft.com/office/drawing/2014/main" id="{D68DF171-821C-4DB6-8123-FFC7EC08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print(Student.normalize_name("  Amy   Chen  "))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C13FD-B787-4964-9E26-2812472B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s = Student()">
            <a:extLst xmlns:a="http://schemas.openxmlformats.org/drawingml/2006/main">
              <a:ext uri="{FF2B5EF4-FFF2-40B4-BE49-F238E27FC236}">
                <a16:creationId xmlns:a16="http://schemas.microsoft.com/office/drawing/2014/main" id="{E87D36BA-B63F-453C-812C-CA1A8FD3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 = Student()</a:t>
            </a:r>
          </a:p>
        </p:txBody>
      </p:sp>
      <p:sp>
        <p:nvSpPr>
          <p:cNvPr id="12" name="print(s.normalize_name(&quot;  Bob  &quot;))">
            <a:extLst xmlns:a="http://schemas.openxmlformats.org/drawingml/2006/main">
              <a:ext uri="{FF2B5EF4-FFF2-40B4-BE49-F238E27FC236}">
                <a16:creationId xmlns:a16="http://schemas.microsoft.com/office/drawing/2014/main" id="{0FAE334C-9E93-451D-878F-F5A2F86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print(s.normalize_name("  Bob  "))</a:t>
            </a:r>
          </a:p>
        </p:txBody>
      </p:sp>
      <p:sp>
        <p:nvSpPr>
          <p:cNvPr id="13" name="不自動傳入 self 或 cls">
            <a:extLst xmlns:a="http://schemas.openxmlformats.org/drawingml/2006/main">
              <a:ext uri="{FF2B5EF4-FFF2-40B4-BE49-F238E27FC236}">
                <a16:creationId xmlns:a16="http://schemas.microsoft.com/office/drawing/2014/main" id="{B53E6D3B-BEDC-4323-BFEA-F01E7CCE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No automatic self or cls</a:t>
            </a:r>
          </a:p>
        </p:txBody>
      </p:sp>
      <p:sp>
        <p:nvSpPr>
          <p:cNvPr id="14" name="結果完全取決於傳入的 name。 此方法沒有使用實體狀態。">
            <a:extLst xmlns:a="http://schemas.openxmlformats.org/drawingml/2006/main">
              <a:ext uri="{FF2B5EF4-FFF2-40B4-BE49-F238E27FC236}">
                <a16:creationId xmlns:a16="http://schemas.microsoft.com/office/drawing/2014/main" id="{A1544428-31DE-47E7-B31E-060385E1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result depends only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on the supplied name.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No instance state is used.</a:t>
            </a:r>
          </a:p>
        </p:txBody>
      </p:sp>
      <p:sp>
        <p:nvSpPr>
          <p:cNvPr id="15" name="也可考慮模組函式">
            <a:extLst xmlns:a="http://schemas.openxmlformats.org/drawingml/2006/main">
              <a:ext uri="{FF2B5EF4-FFF2-40B4-BE49-F238E27FC236}">
                <a16:creationId xmlns:a16="http://schemas.microsoft.com/office/drawing/2014/main" id="{26D71E19-3322-444E-AF66-B14EFAC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 module function is an option</a:t>
            </a:r>
          </a:p>
        </p:txBody>
      </p:sp>
      <p:sp>
        <p:nvSpPr>
          <p:cNvPr id="16" name="若工具與 Student 關係不大， 放在模組層級可能更清楚。">
            <a:extLst xmlns:a="http://schemas.openxmlformats.org/drawingml/2006/main">
              <a:ext uri="{FF2B5EF4-FFF2-40B4-BE49-F238E27FC236}">
                <a16:creationId xmlns:a16="http://schemas.microsoft.com/office/drawing/2014/main" id="{C34C44A2-785E-4F8F-8530-0D023272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If the utility is not closely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related to Student, module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level may be clearer.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5CE7BDC-D57E-47D6-8F6C-6F7F23E2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8" name="Amy Chen    Bob">
            <a:extLst xmlns:a="http://schemas.openxmlformats.org/drawingml/2006/main">
              <a:ext uri="{FF2B5EF4-FFF2-40B4-BE49-F238E27FC236}">
                <a16:creationId xmlns:a16="http://schemas.microsoft.com/office/drawing/2014/main" id="{D31FC3E3-A0BE-45F2-81EB-99A83B20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Amy Chen    Bob</a:t>
            </a:r>
          </a:p>
        </p:txBody>
      </p:sp>
    </p:spTree>
    <p:extLst>
      <p:ext uri="{BB962C8B-B14F-4D97-AF65-F5344CB8AC3E}">
        <p14:creationId xmlns:p14="http://schemas.microsoft.com/office/powerpoint/2010/main" val="17404904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方法應放在哪裡？">
            <a:extLst xmlns:a="http://schemas.openxmlformats.org/drawingml/2006/main">
              <a:ext uri="{FF2B5EF4-FFF2-40B4-BE49-F238E27FC236}">
                <a16:creationId xmlns:a16="http://schemas.microsoft.com/office/drawing/2014/main" id="{A700FF3B-51C3-4C00-B568-5B9D0F4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Choosing Where a Method Belongs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58E67FEC-8B86-4F85-9CCD-9BFFB293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Methods and construction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E7F80E34-82DE-4AA1-B39C-D79203E1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95750"/>
                <a:gridCol w="2476500"/>
                <a:gridCol w="44005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Requirement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Suitable choice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Needs one object's current state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Instance method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amy.rename("Ann")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Needs the calling class</a:t>
                      </a:r>
                    </a:p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or the type to construct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Class method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Student.from_csv(row)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Related to a class,</a:t>
                      </a:r>
                    </a:p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but independent of its state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Static method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Student.normalize_name(text)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General utility used</a:t>
                      </a:r>
                    </a:p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across multiple types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Module function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normalize_whitespace(text)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先看資料依賴與責任，再選裝飾器。">
            <a:extLst xmlns:a="http://schemas.openxmlformats.org/drawingml/2006/main">
              <a:ext uri="{FF2B5EF4-FFF2-40B4-BE49-F238E27FC236}">
                <a16:creationId xmlns:a16="http://schemas.microsoft.com/office/drawing/2014/main" id="{794F15AF-400C-4168-B204-0BE4C76C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Consider data dependencies and responsibility before choosing a decorator.</a:t>
            </a:r>
          </a:p>
        </p:txBody>
      </p:sp>
    </p:spTree>
    <p:extLst>
      <p:ext uri="{BB962C8B-B14F-4D97-AF65-F5344CB8AC3E}">
        <p14:creationId xmlns:p14="http://schemas.microsoft.com/office/powerpoint/2010/main" val="13888969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初始化時建立有效狀態">
            <a:extLst xmlns:a="http://schemas.openxmlformats.org/drawingml/2006/main">
              <a:ext uri="{FF2B5EF4-FFF2-40B4-BE49-F238E27FC236}">
                <a16:creationId xmlns:a16="http://schemas.microsoft.com/office/drawing/2014/main" id="{7525AE94-C972-4561-844B-00617B0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Establishing Valid Initial State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24D46079-C940-4730-BAAB-EA2D1A35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State and behavior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D14ECBC4-DA51-4966-A777-7F22D01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4" name="必備資料">
            <a:extLst xmlns:a="http://schemas.openxmlformats.org/drawingml/2006/main">
              <a:ext uri="{FF2B5EF4-FFF2-40B4-BE49-F238E27FC236}">
                <a16:creationId xmlns:a16="http://schemas.microsoft.com/office/drawing/2014/main" id="{923C8220-2FE7-448B-8D65-82AEB1FC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Required data</a:t>
            </a:r>
          </a:p>
        </p:txBody>
      </p:sp>
      <p:sp>
        <p:nvSpPr>
          <p:cNvPr id="5" name="建立物件後就具備所需屬性">
            <a:extLst xmlns:a="http://schemas.openxmlformats.org/drawingml/2006/main">
              <a:ext uri="{FF2B5EF4-FFF2-40B4-BE49-F238E27FC236}">
                <a16:creationId xmlns:a16="http://schemas.microsoft.com/office/drawing/2014/main" id="{95C01524-E2A1-4B97-A139-2E7621F0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Provide necessary attributes when creating the object</a:t>
            </a:r>
          </a:p>
        </p:txBody>
      </p:sp>
      <p:sp>
        <p:nvSpPr>
          <p:cNvPr id="6" name="合理數值">
            <a:extLst xmlns:a="http://schemas.openxmlformats.org/drawingml/2006/main">
              <a:ext uri="{FF2B5EF4-FFF2-40B4-BE49-F238E27FC236}">
                <a16:creationId xmlns:a16="http://schemas.microsoft.com/office/drawing/2014/main" id="{692327B8-5087-4348-855C-8DD22B7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Valid values</a:t>
            </a:r>
          </a:p>
        </p:txBody>
      </p:sp>
      <p:sp>
        <p:nvSpPr>
          <p:cNvPr id="7" name="餘額不得為負，金額採整數單位">
            <a:extLst xmlns:a="http://schemas.openxmlformats.org/drawingml/2006/main">
              <a:ext uri="{FF2B5EF4-FFF2-40B4-BE49-F238E27FC236}">
                <a16:creationId xmlns:a16="http://schemas.microsoft.com/office/drawing/2014/main" id="{21FEB4DB-CC3C-4A64-9155-60A4FF71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Keep the balance nonnegative; use integer units</a:t>
            </a:r>
          </a:p>
        </p:txBody>
      </p:sp>
      <p:sp>
        <p:nvSpPr>
          <p:cNvPr id="8" name="失敗方式">
            <a:extLst xmlns:a="http://schemas.openxmlformats.org/drawingml/2006/main">
              <a:ext uri="{FF2B5EF4-FFF2-40B4-BE49-F238E27FC236}">
                <a16:creationId xmlns:a16="http://schemas.microsoft.com/office/drawing/2014/main" id="{DCDDD016-F4B4-4D9C-8B23-DEAA39FD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Failure behavior</a:t>
            </a:r>
          </a:p>
        </p:txBody>
      </p:sp>
      <p:sp>
        <p:nvSpPr>
          <p:cNvPr id="9" name="無效輸入以例外拒絕建立">
            <a:extLst xmlns:a="http://schemas.openxmlformats.org/drawingml/2006/main">
              <a:ext uri="{FF2B5EF4-FFF2-40B4-BE49-F238E27FC236}">
                <a16:creationId xmlns:a16="http://schemas.microsoft.com/office/drawing/2014/main" id="{BE1864E2-019F-406F-83B0-2102EA38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Reject invalid construction inputs with an exception</a:t>
            </a:r>
          </a:p>
        </p:txBody>
      </p:sp>
      <p:sp>
        <p:nvSpPr>
          <p:cNvPr id="10" name="操作順序">
            <a:extLst xmlns:a="http://schemas.openxmlformats.org/drawingml/2006/main">
              <a:ext uri="{FF2B5EF4-FFF2-40B4-BE49-F238E27FC236}">
                <a16:creationId xmlns:a16="http://schemas.microsoft.com/office/drawing/2014/main" id="{58CFE663-E180-4B52-A120-130B6FB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Operation order</a:t>
            </a:r>
          </a:p>
        </p:txBody>
      </p:sp>
      <p:sp>
        <p:nvSpPr>
          <p:cNvPr id="11" name="先檢查條件，再修改狀態">
            <a:extLst xmlns:a="http://schemas.openxmlformats.org/drawingml/2006/main">
              <a:ext uri="{FF2B5EF4-FFF2-40B4-BE49-F238E27FC236}">
                <a16:creationId xmlns:a16="http://schemas.microsoft.com/office/drawing/2014/main" id="{B39EE4D3-FA13-4586-B1EC-8D34A338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Check the conditions before changing the state</a:t>
            </a:r>
          </a:p>
        </p:txBody>
      </p:sp>
      <p:sp>
        <p:nvSpPr>
          <p:cNvPr id="12" name="BankAccount 是簡化的課堂模型，用來觀察狀態驗證與方法責任。">
            <a:extLst xmlns:a="http://schemas.openxmlformats.org/drawingml/2006/main">
              <a:ext uri="{FF2B5EF4-FFF2-40B4-BE49-F238E27FC236}">
                <a16:creationId xmlns:a16="http://schemas.microsoft.com/office/drawing/2014/main" id="{C38DA748-FDF3-4FC8-A8CB-1094DC2F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76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BankAccount is a simplified classroom model for state validation and method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4571706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nkAccount：建立時驗證資料">
            <a:extLst xmlns:a="http://schemas.openxmlformats.org/drawingml/2006/main">
              <a:ext uri="{FF2B5EF4-FFF2-40B4-BE49-F238E27FC236}">
                <a16:creationId xmlns:a16="http://schemas.microsoft.com/office/drawing/2014/main" id="{980340DC-98D0-4007-9E82-8A94E84D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BankAccount: Validate During Initialization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35FBEBE1-4AF9-4F60-85A1-2BF6245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State and behavior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B0D35730-5F01-4E8C-B749-0CCA9D9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4" name="class BankAccount:">
            <a:extLst xmlns:a="http://schemas.openxmlformats.org/drawingml/2006/main">
              <a:ext uri="{FF2B5EF4-FFF2-40B4-BE49-F238E27FC236}">
                <a16:creationId xmlns:a16="http://schemas.microsoft.com/office/drawing/2014/main" id="{CEBD5CDE-EC3A-4186-B94C-C4D40AB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BankAccount:</a:t>
            </a:r>
          </a:p>
        </p:txBody>
      </p:sp>
      <p:sp>
        <p:nvSpPr>
          <p:cNvPr id="5" name="    def __init__(self, owner: str, balance: int = 0):">
            <a:extLst xmlns:a="http://schemas.openxmlformats.org/drawingml/2006/main">
              <a:ext uri="{FF2B5EF4-FFF2-40B4-BE49-F238E27FC236}">
                <a16:creationId xmlns:a16="http://schemas.microsoft.com/office/drawing/2014/main" id="{BD6BA17B-9BC1-4EE4-B55D-9C8474E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owner: str, balance: int = 0):</a:t>
            </a:r>
          </a:p>
        </p:txBody>
      </p:sp>
      <p:sp>
        <p:nvSpPr>
          <p:cNvPr id="6" name="        if not isinstance(owner, str) or not owner.stri">
            <a:extLst xmlns:a="http://schemas.openxmlformats.org/drawingml/2006/main">
              <a:ext uri="{FF2B5EF4-FFF2-40B4-BE49-F238E27FC236}">
                <a16:creationId xmlns:a16="http://schemas.microsoft.com/office/drawing/2014/main" id="{E387765E-CAE9-4421-818A-7593693A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not isinstance(owner, str) or not owner.strip():</a:t>
            </a:r>
          </a:p>
        </p:txBody>
      </p:sp>
      <p:sp>
        <p:nvSpPr>
          <p:cNvPr id="7" name="            raise ValueError(&quot;owner required&quot;)">
            <a:extLst xmlns:a="http://schemas.openxmlformats.org/drawingml/2006/main">
              <a:ext uri="{FF2B5EF4-FFF2-40B4-BE49-F238E27FC236}">
                <a16:creationId xmlns:a16="http://schemas.microsoft.com/office/drawing/2014/main" id="{796B0670-D081-4ACB-A240-1C037C11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ValueError("owner required")</a:t>
            </a:r>
          </a:p>
        </p:txBody>
      </p:sp>
      <p:sp>
        <p:nvSpPr>
          <p:cNvPr id="8" name="        if type(balance) is not int or balance &lt; 0:">
            <a:extLst xmlns:a="http://schemas.openxmlformats.org/drawingml/2006/main">
              <a:ext uri="{FF2B5EF4-FFF2-40B4-BE49-F238E27FC236}">
                <a16:creationId xmlns:a16="http://schemas.microsoft.com/office/drawing/2014/main" id="{EA93654D-4B47-47D2-BB15-A4C916BB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type(balance) is not int or balance &lt; 0:</a:t>
            </a:r>
          </a:p>
        </p:txBody>
      </p:sp>
      <p:sp>
        <p:nvSpPr>
          <p:cNvPr id="9" name="            raise ValueError(&quot;invalid balance&quot;)">
            <a:extLst xmlns:a="http://schemas.openxmlformats.org/drawingml/2006/main">
              <a:ext uri="{FF2B5EF4-FFF2-40B4-BE49-F238E27FC236}">
                <a16:creationId xmlns:a16="http://schemas.microsoft.com/office/drawing/2014/main" id="{F87E7E73-662C-4A82-86EE-BC84EFC5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ValueError("invalid balance")</a:t>
            </a:r>
          </a:p>
        </p:txBody>
      </p:sp>
      <p:sp>
        <p:nvSpPr>
          <p:cNvPr id="10" name="        self.owner = owner.strip()">
            <a:extLst xmlns:a="http://schemas.openxmlformats.org/drawingml/2006/main">
              <a:ext uri="{FF2B5EF4-FFF2-40B4-BE49-F238E27FC236}">
                <a16:creationId xmlns:a16="http://schemas.microsoft.com/office/drawing/2014/main" id="{4ADF32D3-642A-48B7-AC3A-6BF329BE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self.owner = owner.strip()</a:t>
            </a:r>
          </a:p>
        </p:txBody>
      </p:sp>
      <p:sp>
        <p:nvSpPr>
          <p:cNvPr id="11" name="        self.balance = balance">
            <a:extLst xmlns:a="http://schemas.openxmlformats.org/drawingml/2006/main">
              <a:ext uri="{FF2B5EF4-FFF2-40B4-BE49-F238E27FC236}">
                <a16:creationId xmlns:a16="http://schemas.microsoft.com/office/drawing/2014/main" id="{1F3EA77F-24D4-464B-8E54-DC176604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self.balance = balance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B095E-98D5-4845-B7D8-70629A3C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account = BankAccount(&quot;Amy&quot;, 100)">
            <a:extLst xmlns:a="http://schemas.openxmlformats.org/drawingml/2006/main">
              <a:ext uri="{FF2B5EF4-FFF2-40B4-BE49-F238E27FC236}">
                <a16:creationId xmlns:a16="http://schemas.microsoft.com/office/drawing/2014/main" id="{8524C454-5C76-4BC3-8560-3EA3D90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 = BankAccount("Amy", 100)</a:t>
            </a:r>
          </a:p>
        </p:txBody>
      </p:sp>
      <p:sp>
        <p:nvSpPr>
          <p:cNvPr id="14" name="print(account.owner, account.balance)">
            <a:extLst xmlns:a="http://schemas.openxmlformats.org/drawingml/2006/main">
              <a:ext uri="{FF2B5EF4-FFF2-40B4-BE49-F238E27FC236}">
                <a16:creationId xmlns:a16="http://schemas.microsoft.com/office/drawing/2014/main" id="{408FFB4D-4E57-4070-9C6C-03950330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print(account.owner, account.balance)</a:t>
            </a:r>
          </a:p>
        </p:txBody>
      </p:sp>
      <p:sp>
        <p:nvSpPr>
          <p:cNvPr id="15" name="條件通過後保存屬性">
            <a:extLst xmlns:a="http://schemas.openxmlformats.org/drawingml/2006/main">
              <a:ext uri="{FF2B5EF4-FFF2-40B4-BE49-F238E27FC236}">
                <a16:creationId xmlns:a16="http://schemas.microsoft.com/office/drawing/2014/main" id="{AF4E14EF-52BF-40FF-9A8E-04288383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Store attributes after validation</a:t>
            </a:r>
          </a:p>
        </p:txBody>
      </p:sp>
      <p:sp>
        <p:nvSpPr>
          <p:cNvPr id="16" name="拒絕空姓名與無效餘額。 成功建立就有完整的必要狀態。">
            <a:extLst xmlns:a="http://schemas.openxmlformats.org/drawingml/2006/main">
              <a:ext uri="{FF2B5EF4-FFF2-40B4-BE49-F238E27FC236}">
                <a16:creationId xmlns:a16="http://schemas.microsoft.com/office/drawing/2014/main" id="{6787418F-4FFB-40B6-A13B-8C0AD0E4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Reject blank owners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and invalid balances.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Successful objects are complete.</a:t>
            </a:r>
          </a:p>
        </p:txBody>
      </p:sp>
      <p:sp>
        <p:nvSpPr>
          <p:cNvPr id="17" name="型別提示不自動驗證">
            <a:extLst xmlns:a="http://schemas.openxmlformats.org/drawingml/2006/main">
              <a:ext uri="{FF2B5EF4-FFF2-40B4-BE49-F238E27FC236}">
                <a16:creationId xmlns:a16="http://schemas.microsoft.com/office/drawing/2014/main" id="{CC2C2039-7ED2-4C88-8E93-3BF7DC66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Type hints do not validate inputs</a:t>
            </a:r>
          </a:p>
        </p:txBody>
      </p:sp>
      <p:sp>
        <p:nvSpPr>
          <p:cNvPr id="18" name="本例明確檢查執行期輸入。 type(...) is int 也排除 bool。">
            <a:extLst xmlns:a="http://schemas.openxmlformats.org/drawingml/2006/main">
              <a:ext uri="{FF2B5EF4-FFF2-40B4-BE49-F238E27FC236}">
                <a16:creationId xmlns:a16="http://schemas.microsoft.com/office/drawing/2014/main" id="{2B9B9694-9EC0-4AAA-A648-F24D8373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Explicit runtime checks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enforce the rules here.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type(...) is int excludes bool.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DBFE24E-3A1B-4F98-9830-379DB3A3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0" name="Amy 100">
            <a:extLst xmlns:a="http://schemas.openxmlformats.org/drawingml/2006/main">
              <a:ext uri="{FF2B5EF4-FFF2-40B4-BE49-F238E27FC236}">
                <a16:creationId xmlns:a16="http://schemas.microsoft.com/office/drawing/2014/main" id="{51973CB2-353F-4C62-9B5C-569C82DD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Amy 100</a:t>
            </a:r>
          </a:p>
        </p:txBody>
      </p:sp>
    </p:spTree>
    <p:extLst>
      <p:ext uri="{BB962C8B-B14F-4D97-AF65-F5344CB8AC3E}">
        <p14:creationId xmlns:p14="http://schemas.microsoft.com/office/powerpoint/2010/main" val="12272743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nkAccount：方法維持狀態規則">
            <a:extLst xmlns:a="http://schemas.openxmlformats.org/drawingml/2006/main">
              <a:ext uri="{FF2B5EF4-FFF2-40B4-BE49-F238E27FC236}">
                <a16:creationId xmlns:a16="http://schemas.microsoft.com/office/drawing/2014/main" id="{F05EC641-BE8F-4A0B-9337-01E5F6C6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BankAccount: Methods Preserve State Rules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3376D963-DB17-421A-BD46-1B0F0EFB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State and behavior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CCFC4F3A-4F57-4EE5-865F-B782D391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4" name="# Method inside BankAccount">
            <a:extLst xmlns:a="http://schemas.openxmlformats.org/drawingml/2006/main">
              <a:ext uri="{FF2B5EF4-FFF2-40B4-BE49-F238E27FC236}">
                <a16:creationId xmlns:a16="http://schemas.microsoft.com/office/drawing/2014/main" id="{C1ABCC15-0309-4920-A611-BBADE1C5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D7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5B6D73"/>
                </a:solidFill>
                <a:latin typeface="Consolas"/>
                <a:ea typeface="Consolas"/>
                <a:cs typeface="Consolas"/>
              </a:rPr>
              <a:t># Method inside BankAccount</a:t>
            </a:r>
          </a:p>
        </p:txBody>
      </p:sp>
      <p:sp>
        <p:nvSpPr>
          <p:cNvPr id="5" name="def deposit(self, amount: int) -&gt; None:">
            <a:extLst xmlns:a="http://schemas.openxmlformats.org/drawingml/2006/main">
              <a:ext uri="{FF2B5EF4-FFF2-40B4-BE49-F238E27FC236}">
                <a16:creationId xmlns:a16="http://schemas.microsoft.com/office/drawing/2014/main" id="{FC2567E8-7B4F-47ED-9500-68DDB92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deposit(self, amount: int) -&gt; None:</a:t>
            </a:r>
          </a:p>
        </p:txBody>
      </p:sp>
      <p:sp>
        <p:nvSpPr>
          <p:cNvPr id="6" name="    if type(amount) is not int or amount &lt;= 0:">
            <a:extLst xmlns:a="http://schemas.openxmlformats.org/drawingml/2006/main">
              <a:ext uri="{FF2B5EF4-FFF2-40B4-BE49-F238E27FC236}">
                <a16:creationId xmlns:a16="http://schemas.microsoft.com/office/drawing/2014/main" id="{DAA43578-0885-4A58-A21D-958C84C1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if type(amount) is not int or amount &lt;= 0:</a:t>
            </a:r>
          </a:p>
        </p:txBody>
      </p:sp>
      <p:sp>
        <p:nvSpPr>
          <p:cNvPr id="7" name="        raise ValueError(&quot;positive integer required&quot;)">
            <a:extLst xmlns:a="http://schemas.openxmlformats.org/drawingml/2006/main">
              <a:ext uri="{FF2B5EF4-FFF2-40B4-BE49-F238E27FC236}">
                <a16:creationId xmlns:a16="http://schemas.microsoft.com/office/drawing/2014/main" id="{1D020FE1-90D0-4270-8486-F4473F0D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raise ValueError("positive integer required")</a:t>
            </a:r>
          </a:p>
        </p:txBody>
      </p:sp>
      <p:sp>
        <p:nvSpPr>
          <p:cNvPr id="8" name="    self.balance += amount">
            <a:extLst xmlns:a="http://schemas.openxmlformats.org/drawingml/2006/main">
              <a:ext uri="{FF2B5EF4-FFF2-40B4-BE49-F238E27FC236}">
                <a16:creationId xmlns:a16="http://schemas.microsoft.com/office/drawing/2014/main" id="{86C96A4A-AF3C-4A77-BBFF-015D6B0E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self.balance += amount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D8011-FF4C-46FA-AE7F-5106AEAF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ccount = BankAccount(&quot;Amy&quot;, 100)">
            <a:extLst xmlns:a="http://schemas.openxmlformats.org/drawingml/2006/main">
              <a:ext uri="{FF2B5EF4-FFF2-40B4-BE49-F238E27FC236}">
                <a16:creationId xmlns:a16="http://schemas.microsoft.com/office/drawing/2014/main" id="{7F28D05D-9FF3-4A25-AC24-A806C135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account = BankAccount("Amy", 100)</a:t>
            </a:r>
          </a:p>
        </p:txBody>
      </p:sp>
      <p:sp>
        <p:nvSpPr>
          <p:cNvPr id="11" name="account.deposit(20)">
            <a:extLst xmlns:a="http://schemas.openxmlformats.org/drawingml/2006/main">
              <a:ext uri="{FF2B5EF4-FFF2-40B4-BE49-F238E27FC236}">
                <a16:creationId xmlns:a16="http://schemas.microsoft.com/office/drawing/2014/main" id="{D65E14A1-FCC9-4558-9BC4-2B8607F4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account.deposit(20)</a:t>
            </a:r>
          </a:p>
        </p:txBody>
      </p:sp>
      <p:sp>
        <p:nvSpPr>
          <p:cNvPr id="12" name="try:">
            <a:extLst xmlns:a="http://schemas.openxmlformats.org/drawingml/2006/main">
              <a:ext uri="{FF2B5EF4-FFF2-40B4-BE49-F238E27FC236}">
                <a16:creationId xmlns:a16="http://schemas.microsoft.com/office/drawing/2014/main" id="{6770A108-D556-4EA8-BFD3-D92FC3A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3" name="    account.deposit(-5)">
            <a:extLst xmlns:a="http://schemas.openxmlformats.org/drawingml/2006/main">
              <a:ext uri="{FF2B5EF4-FFF2-40B4-BE49-F238E27FC236}">
                <a16:creationId xmlns:a16="http://schemas.microsoft.com/office/drawing/2014/main" id="{9506F68C-F4F8-4796-85DA-D2F27E4F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account.deposit(-5)</a:t>
            </a:r>
          </a:p>
        </p:txBody>
      </p:sp>
      <p:sp>
        <p:nvSpPr>
          <p:cNvPr id="14" name="except ValueError:">
            <a:extLst xmlns:a="http://schemas.openxmlformats.org/drawingml/2006/main">
              <a:ext uri="{FF2B5EF4-FFF2-40B4-BE49-F238E27FC236}">
                <a16:creationId xmlns:a16="http://schemas.microsoft.com/office/drawing/2014/main" id="{AA46F192-0F38-407F-A398-22994F5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except ValueError:</a:t>
            </a:r>
          </a:p>
        </p:txBody>
      </p:sp>
      <p:sp>
        <p:nvSpPr>
          <p:cNvPr id="15" name="    print(&quot;rejected&quot;)">
            <a:extLst xmlns:a="http://schemas.openxmlformats.org/drawingml/2006/main">
              <a:ext uri="{FF2B5EF4-FFF2-40B4-BE49-F238E27FC236}">
                <a16:creationId xmlns:a16="http://schemas.microsoft.com/office/drawing/2014/main" id="{4F04ED2C-89E1-4D87-865B-E93765C3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print("rejected")</a:t>
            </a:r>
          </a:p>
        </p:txBody>
      </p:sp>
      <p:sp>
        <p:nvSpPr>
          <p:cNvPr id="16" name="print(account.balance)">
            <a:extLst xmlns:a="http://schemas.openxmlformats.org/drawingml/2006/main">
              <a:ext uri="{FF2B5EF4-FFF2-40B4-BE49-F238E27FC236}">
                <a16:creationId xmlns:a16="http://schemas.microsoft.com/office/drawing/2014/main" id="{1794F22B-D5D5-47EB-9A86-BBAAE387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print(account.balance)</a:t>
            </a:r>
          </a:p>
        </p:txBody>
      </p:sp>
      <p:sp>
        <p:nvSpPr>
          <p:cNvPr id="17" name="deposit 屬於帳戶的行為">
            <a:extLst xmlns:a="http://schemas.openxmlformats.org/drawingml/2006/main">
              <a:ext uri="{FF2B5EF4-FFF2-40B4-BE49-F238E27FC236}">
                <a16:creationId xmlns:a16="http://schemas.microsoft.com/office/drawing/2014/main" id="{3F6D75C9-4321-49A8-8A19-2044098E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deposit is account behavior</a:t>
            </a:r>
          </a:p>
        </p:txBody>
      </p:sp>
      <p:sp>
        <p:nvSpPr>
          <p:cNvPr id="18" name="操作接收者的 balance。 驗證失敗時不修改餘額。">
            <a:extLst xmlns:a="http://schemas.openxmlformats.org/drawingml/2006/main">
              <a:ext uri="{FF2B5EF4-FFF2-40B4-BE49-F238E27FC236}">
                <a16:creationId xmlns:a16="http://schemas.microsoft.com/office/drawing/2014/main" id="{3BB0D6BB-C437-45AB-8C94-9031007E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It changes the receiver's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balance. Invalid input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leaves the balance unchanged.</a:t>
            </a:r>
          </a:p>
        </p:txBody>
      </p:sp>
      <p:sp>
        <p:nvSpPr>
          <p:cNvPr id="19" name="沿用前頁的初始化">
            <a:extLst xmlns:a="http://schemas.openxmlformats.org/drawingml/2006/main">
              <a:ext uri="{FF2B5EF4-FFF2-40B4-BE49-F238E27FC236}">
                <a16:creationId xmlns:a16="http://schemas.microsoft.com/office/drawing/2014/main" id="{A758DFBF-39FA-4434-9C70-FE71C72E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Reuse the previous initialization</a:t>
            </a:r>
          </a:p>
        </p:txBody>
      </p:sp>
      <p:sp>
        <p:nvSpPr>
          <p:cNvPr id="20" name="此頁上方展示類別內的方法。 附檔包含完整 BankAccount。">
            <a:extLst xmlns:a="http://schemas.openxmlformats.org/drawingml/2006/main">
              <a:ext uri="{FF2B5EF4-FFF2-40B4-BE49-F238E27FC236}">
                <a16:creationId xmlns:a16="http://schemas.microsoft.com/office/drawing/2014/main" id="{05ECD1B7-24EA-4AC1-B082-77B67BF8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top block is a method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excerpt. The companion file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contains the complete class.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950EC21-87BB-4B1A-A2E5-589102BB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2" name="rejected    120">
            <a:extLst xmlns:a="http://schemas.openxmlformats.org/drawingml/2006/main">
              <a:ext uri="{FF2B5EF4-FFF2-40B4-BE49-F238E27FC236}">
                <a16:creationId xmlns:a16="http://schemas.microsoft.com/office/drawing/2014/main" id="{AEA832BF-9DFA-4434-B9F3-6FA33FCF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rejected    120</a:t>
            </a:r>
          </a:p>
        </p:txBody>
      </p:sp>
    </p:spTree>
    <p:extLst>
      <p:ext uri="{BB962C8B-B14F-4D97-AF65-F5344CB8AC3E}">
        <p14:creationId xmlns:p14="http://schemas.microsoft.com/office/powerpoint/2010/main" val="4702622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公有屬性與規則的邊界">
            <a:extLst xmlns:a="http://schemas.openxmlformats.org/drawingml/2006/main">
              <a:ext uri="{FF2B5EF4-FFF2-40B4-BE49-F238E27FC236}">
                <a16:creationId xmlns:a16="http://schemas.microsoft.com/office/drawing/2014/main" id="{78787AA4-40D9-4968-B677-9FB594CA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Public Attributes and Rule Enforcement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A1C8E329-FAB0-421F-AA63-BC8BC8FD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State and behavior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997276CA-B715-4BA4-94D2-2EB5C8B4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4" name="# BankAccount from the previous slide">
            <a:extLst xmlns:a="http://schemas.openxmlformats.org/drawingml/2006/main">
              <a:ext uri="{FF2B5EF4-FFF2-40B4-BE49-F238E27FC236}">
                <a16:creationId xmlns:a16="http://schemas.microsoft.com/office/drawing/2014/main" id="{600DAFC6-6615-4942-9FE1-FBEB8644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BankAccount from the previous slide</a:t>
            </a:r>
          </a:p>
        </p:txBody>
      </p:sp>
      <p:sp>
        <p:nvSpPr>
          <p:cNvPr id="5" name="account = BankAccount(&quot;Amy&quot;, 100)">
            <a:extLst xmlns:a="http://schemas.openxmlformats.org/drawingml/2006/main">
              <a:ext uri="{FF2B5EF4-FFF2-40B4-BE49-F238E27FC236}">
                <a16:creationId xmlns:a16="http://schemas.microsoft.com/office/drawing/2014/main" id="{90280E9A-FEDB-458A-95A9-29AC420E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 = BankAccount("Amy", 100)</a:t>
            </a:r>
          </a:p>
        </p:txBody>
      </p:sp>
      <p:sp>
        <p:nvSpPr>
          <p:cNvPr id="6" name="account.balance = -999">
            <a:extLst xmlns:a="http://schemas.openxmlformats.org/drawingml/2006/main">
              <a:ext uri="{FF2B5EF4-FFF2-40B4-BE49-F238E27FC236}">
                <a16:creationId xmlns:a16="http://schemas.microsoft.com/office/drawing/2014/main" id="{27B52DFF-08DB-46E7-9490-5E29AD74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account.balance = -999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3F0C8-5BAA-4D62-AF38-3F140748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account.balance)">
            <a:extLst xmlns:a="http://schemas.openxmlformats.org/drawingml/2006/main">
              <a:ext uri="{FF2B5EF4-FFF2-40B4-BE49-F238E27FC236}">
                <a16:creationId xmlns:a16="http://schemas.microsoft.com/office/drawing/2014/main" id="{E5EAC920-7191-40CF-A97A-41D9555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print(account.balance)</a:t>
            </a:r>
          </a:p>
        </p:txBody>
      </p:sp>
      <p:sp>
        <p:nvSpPr>
          <p:cNvPr id="9" name="方法驗證有適用範圍">
            <a:extLst xmlns:a="http://schemas.openxmlformats.org/drawingml/2006/main">
              <a:ext uri="{FF2B5EF4-FFF2-40B4-BE49-F238E27FC236}">
                <a16:creationId xmlns:a16="http://schemas.microsoft.com/office/drawing/2014/main" id="{5C4CFCCF-499A-449B-8F29-58E0E32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Method checks have a scope</a:t>
            </a:r>
          </a:p>
        </p:txBody>
      </p:sp>
      <p:sp>
        <p:nvSpPr>
          <p:cNvPr id="10" name="deposit 只驗證經由 該方法進行的操作。">
            <a:extLst xmlns:a="http://schemas.openxmlformats.org/drawingml/2006/main">
              <a:ext uri="{FF2B5EF4-FFF2-40B4-BE49-F238E27FC236}">
                <a16:creationId xmlns:a16="http://schemas.microsoft.com/office/drawing/2014/main" id="{E33B7547-822F-43F8-9C49-78B45454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deposit only validates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operations performed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through that method.</a:t>
            </a:r>
          </a:p>
        </p:txBody>
      </p:sp>
      <p:sp>
        <p:nvSpPr>
          <p:cNvPr id="11" name="直接指定仍可繞過規則">
            <a:extLst xmlns:a="http://schemas.openxmlformats.org/drawingml/2006/main">
              <a:ext uri="{FF2B5EF4-FFF2-40B4-BE49-F238E27FC236}">
                <a16:creationId xmlns:a16="http://schemas.microsoft.com/office/drawing/2014/main" id="{2EAB5BA6-130C-4001-AD35-5E5C82B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Direct assignment bypasses checks</a:t>
            </a:r>
          </a:p>
        </p:txBody>
      </p:sp>
      <p:sp>
        <p:nvSpPr>
          <p:cNvPr id="12" name="本週的 balance 是公有屬性。 第四週以封裝與 property 深入。">
            <a:extLst xmlns:a="http://schemas.openxmlformats.org/drawingml/2006/main">
              <a:ext uri="{FF2B5EF4-FFF2-40B4-BE49-F238E27FC236}">
                <a16:creationId xmlns:a16="http://schemas.microsoft.com/office/drawing/2014/main" id="{59696EC2-3954-453A-AD45-0E1BE84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balance is public here.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Week 4 explores encapsulation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and property in more detail.</a:t>
            </a:r>
          </a:p>
        </p:txBody>
      </p:sp>
      <p:sp>
        <p:nvSpPr>
          <p:cNvPr id="13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861841AE-B8D4-4941-990E-0E7402C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14" name="-999">
            <a:extLst xmlns:a="http://schemas.openxmlformats.org/drawingml/2006/main">
              <a:ext uri="{FF2B5EF4-FFF2-40B4-BE49-F238E27FC236}">
                <a16:creationId xmlns:a16="http://schemas.microsoft.com/office/drawing/2014/main" id="{D1448278-08C2-48D6-A028-4D601609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-999</a:t>
            </a:r>
          </a:p>
        </p:txBody>
      </p:sp>
    </p:spTree>
    <p:extLst>
      <p:ext uri="{BB962C8B-B14F-4D97-AF65-F5344CB8AC3E}">
        <p14:creationId xmlns:p14="http://schemas.microsoft.com/office/powerpoint/2010/main" val="626635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__repr__ 提供可讀的物件表示">
            <a:extLst xmlns:a="http://schemas.openxmlformats.org/drawingml/2006/main">
              <a:ext uri="{FF2B5EF4-FFF2-40B4-BE49-F238E27FC236}">
                <a16:creationId xmlns:a16="http://schemas.microsoft.com/office/drawing/2014/main" id="{5AAC011F-3C58-427F-9E95-6B6FF95B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Readable Object Representations with __repr__</a:t>
            </a:r>
          </a:p>
        </p:txBody>
      </p:sp>
      <p:sp>
        <p:nvSpPr>
          <p:cNvPr id="2" name="觀察與診斷">
            <a:extLst xmlns:a="http://schemas.openxmlformats.org/drawingml/2006/main">
              <a:ext uri="{FF2B5EF4-FFF2-40B4-BE49-F238E27FC236}">
                <a16:creationId xmlns:a16="http://schemas.microsoft.com/office/drawing/2014/main" id="{1E8AC2AE-E6A0-45B9-9309-5F6B94C7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Inspection and diagnosis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F265AE6F-8B11-456D-BCB3-6861F263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1DF2798-4289-43C8-B7D3-D77CFA6D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5A2C093C-E974-4C58-8431-A0B47ED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6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CC83E4DE-5689-4C90-A04B-0256DF49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9051A0F7-063A-41AB-801B-2B822A9D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C8CB8-853D-4E21-971C-B79EB68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__repr__(self):">
            <a:extLst xmlns:a="http://schemas.openxmlformats.org/drawingml/2006/main">
              <a:ext uri="{FF2B5EF4-FFF2-40B4-BE49-F238E27FC236}">
                <a16:creationId xmlns:a16="http://schemas.microsoft.com/office/drawing/2014/main" id="{5752C9E4-D08B-4A03-9F5F-487B782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__repr__(self):</a:t>
            </a:r>
          </a:p>
        </p:txBody>
      </p:sp>
      <p:sp>
        <p:nvSpPr>
          <p:cNvPr id="10" name="        return (">
            <a:extLst xmlns:a="http://schemas.openxmlformats.org/drawingml/2006/main">
              <a:ext uri="{FF2B5EF4-FFF2-40B4-BE49-F238E27FC236}">
                <a16:creationId xmlns:a16="http://schemas.microsoft.com/office/drawing/2014/main" id="{EB68F943-7EBC-4887-A0EB-4769123C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(</a:t>
            </a:r>
          </a:p>
        </p:txBody>
      </p:sp>
      <p:sp>
        <p:nvSpPr>
          <p:cNvPr id="11" name="            f&quot;Student({self.student_id!r}, &quot;">
            <a:extLst xmlns:a="http://schemas.openxmlformats.org/drawingml/2006/main">
              <a:ext uri="{FF2B5EF4-FFF2-40B4-BE49-F238E27FC236}">
                <a16:creationId xmlns:a16="http://schemas.microsoft.com/office/drawing/2014/main" id="{BE64F147-F2E4-4787-BB60-8A91FC8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f"Student({self.student_id!r}, "</a:t>
            </a:r>
          </a:p>
        </p:txBody>
      </p:sp>
      <p:sp>
        <p:nvSpPr>
          <p:cNvPr id="12" name="            f&quot;{self.name!r})&quot;">
            <a:extLst xmlns:a="http://schemas.openxmlformats.org/drawingml/2006/main">
              <a:ext uri="{FF2B5EF4-FFF2-40B4-BE49-F238E27FC236}">
                <a16:creationId xmlns:a16="http://schemas.microsoft.com/office/drawing/2014/main" id="{970E408F-2B3F-43F9-BDD1-0C3DFD6F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f"{self.name!r})"</a:t>
            </a:r>
          </a:p>
        </p:txBody>
      </p:sp>
      <p:sp>
        <p:nvSpPr>
          <p:cNvPr id="13" name="        )">
            <a:extLst xmlns:a="http://schemas.openxmlformats.org/drawingml/2006/main">
              <a:ext uri="{FF2B5EF4-FFF2-40B4-BE49-F238E27FC236}">
                <a16:creationId xmlns:a16="http://schemas.microsoft.com/office/drawing/2014/main" id="{325AE00A-7B09-4FE5-832D-C937827A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EF6E2-7637-40B1-AC07-B533A3F5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my = Student(&quot;B11501&quot;, &quot;Amy&quot;)">
            <a:extLst xmlns:a="http://schemas.openxmlformats.org/drawingml/2006/main">
              <a:ext uri="{FF2B5EF4-FFF2-40B4-BE49-F238E27FC236}">
                <a16:creationId xmlns:a16="http://schemas.microsoft.com/office/drawing/2014/main" id="{0FE6E86F-2532-415F-A018-3FCC4566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Student("B11501", "Amy")</a:t>
            </a:r>
          </a:p>
        </p:txBody>
      </p:sp>
      <p:sp>
        <p:nvSpPr>
          <p:cNvPr id="16" name="print(repr(amy))">
            <a:extLst xmlns:a="http://schemas.openxmlformats.org/drawingml/2006/main">
              <a:ext uri="{FF2B5EF4-FFF2-40B4-BE49-F238E27FC236}">
                <a16:creationId xmlns:a16="http://schemas.microsoft.com/office/drawing/2014/main" id="{57BEE46F-7B69-499F-BC52-5B4D3458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print(repr(amy))</a:t>
            </a:r>
          </a:p>
        </p:txBody>
      </p:sp>
      <p:sp>
        <p:nvSpPr>
          <p:cNvPr id="17" name="顯示有助診斷的狀態">
            <a:extLst xmlns:a="http://schemas.openxmlformats.org/drawingml/2006/main">
              <a:ext uri="{FF2B5EF4-FFF2-40B4-BE49-F238E27FC236}">
                <a16:creationId xmlns:a16="http://schemas.microsoft.com/office/drawing/2014/main" id="{97245187-A407-4228-8A06-8C7B5CED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Show useful diagnostic state</a:t>
            </a:r>
          </a:p>
        </p:txBody>
      </p:sp>
      <p:sp>
        <p:nvSpPr>
          <p:cNvPr id="18" name="repr 用於互動觀察與除錯。 !r 對欄位使用 repr 格式。">
            <a:extLst xmlns:a="http://schemas.openxmlformats.org/drawingml/2006/main">
              <a:ext uri="{FF2B5EF4-FFF2-40B4-BE49-F238E27FC236}">
                <a16:creationId xmlns:a16="http://schemas.microsoft.com/office/drawing/2014/main" id="{36242CB6-9422-4DED-8D95-FFC9B64E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repr helps inspection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and debugging. !r applies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repr formatting to a field.</a:t>
            </a:r>
          </a:p>
        </p:txBody>
      </p:sp>
      <p:sp>
        <p:nvSpPr>
          <p:cNvPr id="19" name="必須回傳字串">
            <a:extLst xmlns:a="http://schemas.openxmlformats.org/drawingml/2006/main">
              <a:ext uri="{FF2B5EF4-FFF2-40B4-BE49-F238E27FC236}">
                <a16:creationId xmlns:a16="http://schemas.microsoft.com/office/drawing/2014/main" id="{5C08A70D-6D42-4DE9-93F5-031F258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Return a string</a:t>
            </a:r>
          </a:p>
        </p:txBody>
      </p:sp>
      <p:sp>
        <p:nvSpPr>
          <p:cNvPr id="20" name="不要在 __repr__ 中只 print。 顯示哪些欄位應依需求決定。">
            <a:extLst xmlns:a="http://schemas.openxmlformats.org/drawingml/2006/main">
              <a:ext uri="{FF2B5EF4-FFF2-40B4-BE49-F238E27FC236}">
                <a16:creationId xmlns:a16="http://schemas.microsoft.com/office/drawing/2014/main" id="{1DCF3C27-BE77-4CF8-96E7-3A5CA623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Do not just print in __repr__.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Choose displayed fields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according to the purpose.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0DFE9C4-9FBA-4988-9BB0-505B45D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2" name="Student('B11501', 'Amy')">
            <a:extLst xmlns:a="http://schemas.openxmlformats.org/drawingml/2006/main">
              <a:ext uri="{FF2B5EF4-FFF2-40B4-BE49-F238E27FC236}">
                <a16:creationId xmlns:a16="http://schemas.microsoft.com/office/drawing/2014/main" id="{32509BD4-B8CC-46F5-994D-0F1105AE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Student('B11501', 'Amy')</a:t>
            </a:r>
          </a:p>
        </p:txBody>
      </p:sp>
    </p:spTree>
    <p:extLst>
      <p:ext uri="{BB962C8B-B14F-4D97-AF65-F5344CB8AC3E}">
        <p14:creationId xmlns:p14="http://schemas.microsoft.com/office/powerpoint/2010/main" val="17853626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外部可變資料的歸屬">
            <a:extLst xmlns:a="http://schemas.openxmlformats.org/drawingml/2006/main">
              <a:ext uri="{FF2B5EF4-FFF2-40B4-BE49-F238E27FC236}">
                <a16:creationId xmlns:a16="http://schemas.microsoft.com/office/drawing/2014/main" id="{EA637CDE-59E0-4BB8-8547-6E4B0747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Ownership of External Mutable Data</a:t>
            </a:r>
          </a:p>
        </p:txBody>
      </p:sp>
      <p:sp>
        <p:nvSpPr>
          <p:cNvPr id="2" name="觀察與診斷">
            <a:extLst xmlns:a="http://schemas.openxmlformats.org/drawingml/2006/main">
              <a:ext uri="{FF2B5EF4-FFF2-40B4-BE49-F238E27FC236}">
                <a16:creationId xmlns:a16="http://schemas.microsoft.com/office/drawing/2014/main" id="{222524D3-BAE2-4B4E-8540-DB95225C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Inspection and diagnosis</a:t>
            </a:r>
          </a:p>
        </p:txBody>
      </p:sp>
      <p:sp>
        <p:nvSpPr>
          <p:cNvPr id="3" name="36">
            <a:extLst xmlns:a="http://schemas.openxmlformats.org/drawingml/2006/main">
              <a:ext uri="{FF2B5EF4-FFF2-40B4-BE49-F238E27FC236}">
                <a16:creationId xmlns:a16="http://schemas.microsoft.com/office/drawing/2014/main" id="{7F769E7C-7399-466F-96FE-FD9324A1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C526F816-A510-425D-8DCB-3383B52C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, courses=None):">
            <a:extLst xmlns:a="http://schemas.openxmlformats.org/drawingml/2006/main">
              <a:ext uri="{FF2B5EF4-FFF2-40B4-BE49-F238E27FC236}">
                <a16:creationId xmlns:a16="http://schemas.microsoft.com/office/drawing/2014/main" id="{5F1C3F3A-0969-4E39-A72D-5D3CD01A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name, courses=None):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0A959A5F-5C61-4685-95A7-6045D805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courses = (">
            <a:extLst xmlns:a="http://schemas.openxmlformats.org/drawingml/2006/main">
              <a:ext uri="{FF2B5EF4-FFF2-40B4-BE49-F238E27FC236}">
                <a16:creationId xmlns:a16="http://schemas.microsoft.com/office/drawing/2014/main" id="{4130F9B9-1984-4C0D-A917-B76A434A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 = (</a:t>
            </a:r>
          </a:p>
        </p:txBody>
      </p:sp>
      <p:sp>
        <p:nvSpPr>
          <p:cNvPr id="8" name="            [] if courses is None else list(courses)">
            <a:extLst xmlns:a="http://schemas.openxmlformats.org/drawingml/2006/main">
              <a:ext uri="{FF2B5EF4-FFF2-40B4-BE49-F238E27FC236}">
                <a16:creationId xmlns:a16="http://schemas.microsoft.com/office/drawing/2014/main" id="{8BC0F5C0-4D24-45BB-B7E0-7061E16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[] if courses is None else list(courses)</a:t>
            </a:r>
          </a:p>
        </p:txBody>
      </p:sp>
      <p:sp>
        <p:nvSpPr>
          <p:cNvPr id="9" name="        )">
            <a:extLst xmlns:a="http://schemas.openxmlformats.org/drawingml/2006/main">
              <a:ext uri="{FF2B5EF4-FFF2-40B4-BE49-F238E27FC236}">
                <a16:creationId xmlns:a16="http://schemas.microsoft.com/office/drawing/2014/main" id="{E09666A2-6539-4817-85E6-D98688D8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75803-E063-4527-B37C-19D1077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source = [&quot;Python&quot;]">
            <a:extLst xmlns:a="http://schemas.openxmlformats.org/drawingml/2006/main">
              <a:ext uri="{FF2B5EF4-FFF2-40B4-BE49-F238E27FC236}">
                <a16:creationId xmlns:a16="http://schemas.microsoft.com/office/drawing/2014/main" id="{65F7534C-1C2C-4CA8-B9DC-5B764B31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source = ["Python"]</a:t>
            </a:r>
          </a:p>
        </p:txBody>
      </p:sp>
      <p:sp>
        <p:nvSpPr>
          <p:cNvPr id="12" name="amy = Student(&quot;Amy&quot;, source)">
            <a:extLst xmlns:a="http://schemas.openxmlformats.org/drawingml/2006/main">
              <a:ext uri="{FF2B5EF4-FFF2-40B4-BE49-F238E27FC236}">
                <a16:creationId xmlns:a16="http://schemas.microsoft.com/office/drawing/2014/main" id="{076B61E4-37F7-4A93-9003-1783833B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Student("Amy", source)</a:t>
            </a:r>
          </a:p>
        </p:txBody>
      </p:sp>
      <p:sp>
        <p:nvSpPr>
          <p:cNvPr id="13" name="source.append(&quot;Java&quot;)">
            <a:extLst xmlns:a="http://schemas.openxmlformats.org/drawingml/2006/main">
              <a:ext uri="{FF2B5EF4-FFF2-40B4-BE49-F238E27FC236}">
                <a16:creationId xmlns:a16="http://schemas.microsoft.com/office/drawing/2014/main" id="{90ED5B75-3AE2-46DB-BAC2-43EFD960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source.append("Java")</a:t>
            </a:r>
          </a:p>
        </p:txBody>
      </p:sp>
      <p:sp>
        <p:nvSpPr>
          <p:cNvPr id="14" name="print(source)">
            <a:extLst xmlns:a="http://schemas.openxmlformats.org/drawingml/2006/main">
              <a:ext uri="{FF2B5EF4-FFF2-40B4-BE49-F238E27FC236}">
                <a16:creationId xmlns:a16="http://schemas.microsoft.com/office/drawing/2014/main" id="{1136D588-053F-4260-9F06-628395B4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print(source)</a:t>
            </a:r>
          </a:p>
        </p:txBody>
      </p:sp>
      <p:sp>
        <p:nvSpPr>
          <p:cNvPr id="15" name="print(amy.courses)">
            <a:extLst xmlns:a="http://schemas.openxmlformats.org/drawingml/2006/main">
              <a:ext uri="{FF2B5EF4-FFF2-40B4-BE49-F238E27FC236}">
                <a16:creationId xmlns:a16="http://schemas.microsoft.com/office/drawing/2014/main" id="{53CE33CB-71BD-461C-8E3D-90C09229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print(amy.courses)</a:t>
            </a:r>
          </a:p>
        </p:txBody>
      </p:sp>
      <p:sp>
        <p:nvSpPr>
          <p:cNvPr id="16" name="明確決定複製或共用">
            <a:extLst xmlns:a="http://schemas.openxmlformats.org/drawingml/2006/main">
              <a:ext uri="{FF2B5EF4-FFF2-40B4-BE49-F238E27FC236}">
                <a16:creationId xmlns:a16="http://schemas.microsoft.com/office/drawing/2014/main" id="{10419E40-93BD-4586-8E32-463A1C25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Choose copying or sharing</a:t>
            </a:r>
          </a:p>
        </p:txBody>
      </p:sp>
      <p:sp>
        <p:nvSpPr>
          <p:cNvPr id="17" name="list(courses) 建立新外層容器。 外部新增元素不影響學生清單。">
            <a:extLst xmlns:a="http://schemas.openxmlformats.org/drawingml/2006/main">
              <a:ext uri="{FF2B5EF4-FFF2-40B4-BE49-F238E27FC236}">
                <a16:creationId xmlns:a16="http://schemas.microsoft.com/office/drawing/2014/main" id="{AE4B7B2E-0ABC-4E1E-AADD-D343426D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list(courses) creates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new outer list. External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appends do not affect it.</a:t>
            </a:r>
          </a:p>
        </p:txBody>
      </p:sp>
      <p:sp>
        <p:nvSpPr>
          <p:cNvPr id="18" name="本例元素是不可變字串">
            <a:extLst xmlns:a="http://schemas.openxmlformats.org/drawingml/2006/main">
              <a:ext uri="{FF2B5EF4-FFF2-40B4-BE49-F238E27FC236}">
                <a16:creationId xmlns:a16="http://schemas.microsoft.com/office/drawing/2014/main" id="{0A263509-DFE8-43D2-B772-94DC560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The elements here are strings</a:t>
            </a:r>
          </a:p>
        </p:txBody>
      </p:sp>
      <p:sp>
        <p:nvSpPr>
          <p:cNvPr id="19" name="若元素是可變巢狀物件， 淺層複製仍可能共用內層。">
            <a:extLst xmlns:a="http://schemas.openxmlformats.org/drawingml/2006/main">
              <a:ext uri="{FF2B5EF4-FFF2-40B4-BE49-F238E27FC236}">
                <a16:creationId xmlns:a16="http://schemas.microsoft.com/office/drawing/2014/main" id="{C3EEDB57-0B43-4879-8F28-787D685B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For mutable nested objects,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shallow copy can still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share inner data.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586BDC4-E8F2-4B0A-93B1-FF61F780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1" name="['Python', 'Java']    ['Python']">
            <a:extLst xmlns:a="http://schemas.openxmlformats.org/drawingml/2006/main">
              <a:ext uri="{FF2B5EF4-FFF2-40B4-BE49-F238E27FC236}">
                <a16:creationId xmlns:a16="http://schemas.microsoft.com/office/drawing/2014/main" id="{E4622BE1-1E57-4ABA-B8E2-0BF4D156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['Python', 'Java']    ['Python']</a:t>
            </a:r>
          </a:p>
        </p:txBody>
      </p:sp>
    </p:spTree>
    <p:extLst>
      <p:ext uri="{BB962C8B-B14F-4D97-AF65-F5344CB8AC3E}">
        <p14:creationId xmlns:p14="http://schemas.microsoft.com/office/powerpoint/2010/main" val="11970806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網站範例：Student 的完整串接">
            <a:extLst xmlns:a="http://schemas.openxmlformats.org/drawingml/2006/main">
              <a:ext uri="{FF2B5EF4-FFF2-40B4-BE49-F238E27FC236}">
                <a16:creationId xmlns:a16="http://schemas.microsoft.com/office/drawing/2014/main" id="{BCADE730-FCBF-44D4-AC4F-E64183FB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Course Website Example: Student</a:t>
            </a:r>
          </a:p>
        </p:txBody>
      </p:sp>
      <p:sp>
        <p:nvSpPr>
          <p:cNvPr id="2" name="課綱範例">
            <a:extLst xmlns:a="http://schemas.openxmlformats.org/drawingml/2006/main">
              <a:ext uri="{FF2B5EF4-FFF2-40B4-BE49-F238E27FC236}">
                <a16:creationId xmlns:a16="http://schemas.microsoft.com/office/drawing/2014/main" id="{25F32955-3D3B-433F-BF75-421332D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Course example</a:t>
            </a:r>
          </a:p>
        </p:txBody>
      </p:sp>
      <p:sp>
        <p:nvSpPr>
          <p:cNvPr id="3" name="37">
            <a:extLst xmlns:a="http://schemas.openxmlformats.org/drawingml/2006/main">
              <a:ext uri="{FF2B5EF4-FFF2-40B4-BE49-F238E27FC236}">
                <a16:creationId xmlns:a16="http://schemas.microsoft.com/office/drawing/2014/main" id="{919FCC6C-CF66-4C16-BD1F-F62D9409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BD6CA5A0-D900-44F8-BB9D-ED8ABB6E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9BE3AD03-9F1D-48C8-8407-461031B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8228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AFBC550A-B9A8-416F-BC4C-DCABD430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3381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0D0C6-BF72-4019-93EB-D22CEB1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8534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__init__(self, student_id: str, name: str):">
            <a:extLst xmlns:a="http://schemas.openxmlformats.org/drawingml/2006/main">
              <a:ext uri="{FF2B5EF4-FFF2-40B4-BE49-F238E27FC236}">
                <a16:creationId xmlns:a16="http://schemas.microsoft.com/office/drawing/2014/main" id="{229C52D2-3376-4B2A-A71C-44B0F760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3687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student_id: str, name: str):</a:t>
            </a:r>
          </a:p>
        </p:txBody>
      </p:sp>
      <p:sp>
        <p:nvSpPr>
          <p:cNvPr id="9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C21BEABF-7940-45A7-8FE8-1D0453AF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8840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10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2AADFE82-706A-4963-AE10-3EF14D21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3993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1" name="        Student.count += 1">
            <a:extLst xmlns:a="http://schemas.openxmlformats.org/drawingml/2006/main">
              <a:ext uri="{FF2B5EF4-FFF2-40B4-BE49-F238E27FC236}">
                <a16:creationId xmlns:a16="http://schemas.microsoft.com/office/drawing/2014/main" id="{B6A4183F-CE16-46F2-89C4-E3416BD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9146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Student.count +=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6C7B1-9903-4923-A5FA-982C9B74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299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44B70168-7873-4DD2-807A-20A21A6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9451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14" name="    def from_csv(cls, row: str) -&gt; &quot;Student&quot;:">
            <a:extLst xmlns:a="http://schemas.openxmlformats.org/drawingml/2006/main">
              <a:ext uri="{FF2B5EF4-FFF2-40B4-BE49-F238E27FC236}">
                <a16:creationId xmlns:a16="http://schemas.microsoft.com/office/drawing/2014/main" id="{A7389DCB-DB87-4443-BD1F-56EEC223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4604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from_csv(cls, row: str) -&gt; "Student":</a:t>
            </a:r>
          </a:p>
        </p:txBody>
      </p:sp>
      <p:sp>
        <p:nvSpPr>
          <p:cNvPr id="15" name="        student_id, name = row.split(&quot;,&quot;)">
            <a:extLst xmlns:a="http://schemas.openxmlformats.org/drawingml/2006/main">
              <a:ext uri="{FF2B5EF4-FFF2-40B4-BE49-F238E27FC236}">
                <a16:creationId xmlns:a16="http://schemas.microsoft.com/office/drawing/2014/main" id="{811D57DE-F6F0-47EC-AD2D-B7AE8A32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9757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student_id, name = row.split(",")</a:t>
            </a:r>
          </a:p>
        </p:txBody>
      </p:sp>
      <p:sp>
        <p:nvSpPr>
          <p:cNvPr id="16" name="        return cls(student_id.strip(), name.strip())">
            <a:extLst xmlns:a="http://schemas.openxmlformats.org/drawingml/2006/main">
              <a:ext uri="{FF2B5EF4-FFF2-40B4-BE49-F238E27FC236}">
                <a16:creationId xmlns:a16="http://schemas.microsoft.com/office/drawing/2014/main" id="{7657BF1E-F2C5-45C1-8CE1-EC7EA978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910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cls(student_id.strip(), name.strip())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498B0-D6F1-40BB-B760-4E6F2676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0063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amy = Student.from_csv(&quot;B11301, Amy&quot;)">
            <a:extLst xmlns:a="http://schemas.openxmlformats.org/drawingml/2006/main">
              <a:ext uri="{FF2B5EF4-FFF2-40B4-BE49-F238E27FC236}">
                <a16:creationId xmlns:a16="http://schemas.microsoft.com/office/drawing/2014/main" id="{C49AF7BC-1784-4291-9A01-59096870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5216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Student.from_csv("B11301, Amy")</a:t>
            </a:r>
          </a:p>
        </p:txBody>
      </p:sp>
      <p:sp>
        <p:nvSpPr>
          <p:cNvPr id="19" name="bob = Student(&quot;B11302&quot;, &quot;Bob&quot;)">
            <a:extLst xmlns:a="http://schemas.openxmlformats.org/drawingml/2006/main">
              <a:ext uri="{FF2B5EF4-FFF2-40B4-BE49-F238E27FC236}">
                <a16:creationId xmlns:a16="http://schemas.microsoft.com/office/drawing/2014/main" id="{3559BE34-9D35-4690-89BF-46D2C5B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0369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bob = Student("B11302", "Bob")</a:t>
            </a:r>
          </a:p>
        </p:txBody>
      </p:sp>
      <p:sp>
        <p:nvSpPr>
          <p:cNvPr id="20" name="print(amy.name, amy.school, Student.count)">
            <a:extLst xmlns:a="http://schemas.openxmlformats.org/drawingml/2006/main">
              <a:ext uri="{FF2B5EF4-FFF2-40B4-BE49-F238E27FC236}">
                <a16:creationId xmlns:a16="http://schemas.microsoft.com/office/drawing/2014/main" id="{F8AE5105-9677-4A1E-963D-7294454A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5522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print(amy.name, amy.school, Student.count)</a:t>
            </a:r>
          </a:p>
        </p:txBody>
      </p:sp>
      <p:sp>
        <p:nvSpPr>
          <p:cNvPr id="21" name="兩種入口，共用初始化">
            <a:extLst xmlns:a="http://schemas.openxmlformats.org/drawingml/2006/main">
              <a:ext uri="{FF2B5EF4-FFF2-40B4-BE49-F238E27FC236}">
                <a16:creationId xmlns:a16="http://schemas.microsoft.com/office/drawing/2014/main" id="{3EC1E4A4-7AC7-4109-AF9F-6DCD8A6C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Two entry points, one initializer</a:t>
            </a:r>
          </a:p>
        </p:txBody>
      </p:sp>
      <p:sp>
        <p:nvSpPr>
          <p:cNvPr id="22" name="直接呼叫與 from_csv 都會執行 __init__。">
            <a:extLst xmlns:a="http://schemas.openxmlformats.org/drawingml/2006/main">
              <a:ext uri="{FF2B5EF4-FFF2-40B4-BE49-F238E27FC236}">
                <a16:creationId xmlns:a16="http://schemas.microsoft.com/office/drawing/2014/main" id="{197B20DF-3F81-4C35-9949-7CC4E3EC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Direct calls and from_csv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both run __init__.</a:t>
            </a:r>
          </a:p>
        </p:txBody>
      </p:sp>
      <p:sp>
        <p:nvSpPr>
          <p:cNvPr id="23" name="資料歸屬不同">
            <a:extLst xmlns:a="http://schemas.openxmlformats.org/drawingml/2006/main">
              <a:ext uri="{FF2B5EF4-FFF2-40B4-BE49-F238E27FC236}">
                <a16:creationId xmlns:a16="http://schemas.microsoft.com/office/drawing/2014/main" id="{424C7D8F-0153-40EC-B803-027E8AC4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Different ownership of data</a:t>
            </a:r>
          </a:p>
        </p:txBody>
      </p:sp>
      <p:sp>
        <p:nvSpPr>
          <p:cNvPr id="24" name="name 屬於個別實體。 school 與 count 放在類別。">
            <a:extLst xmlns:a="http://schemas.openxmlformats.org/drawingml/2006/main">
              <a:ext uri="{FF2B5EF4-FFF2-40B4-BE49-F238E27FC236}">
                <a16:creationId xmlns:a16="http://schemas.microsoft.com/office/drawing/2014/main" id="{05E21BA6-EA5E-4DA9-9C3B-8069ED7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name belongs to each instance.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school and count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belong to the class.</a:t>
            </a:r>
          </a:p>
        </p:txBody>
      </p:sp>
      <p:sp>
        <p:nvSpPr>
          <p:cNvPr id="25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EBDF544-0C74-4E85-9338-B041C00B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Outputs (in order)</a:t>
            </a:r>
          </a:p>
        </p:txBody>
      </p:sp>
      <p:sp>
        <p:nvSpPr>
          <p:cNvPr id="26" name="Amy YunTech 2">
            <a:extLst xmlns:a="http://schemas.openxmlformats.org/drawingml/2006/main">
              <a:ext uri="{FF2B5EF4-FFF2-40B4-BE49-F238E27FC236}">
                <a16:creationId xmlns:a16="http://schemas.microsoft.com/office/drawing/2014/main" id="{B65975A5-A7C6-4D8E-8CB6-9F4DD117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Amy YunTech 2</a:t>
            </a:r>
          </a:p>
        </p:txBody>
      </p:sp>
    </p:spTree>
    <p:extLst>
      <p:ext uri="{BB962C8B-B14F-4D97-AF65-F5344CB8AC3E}">
        <p14:creationId xmlns:p14="http://schemas.microsoft.com/office/powerpoint/2010/main" val="17309676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錯誤與診斷方式">
            <a:extLst xmlns:a="http://schemas.openxmlformats.org/drawingml/2006/main">
              <a:ext uri="{FF2B5EF4-FFF2-40B4-BE49-F238E27FC236}">
                <a16:creationId xmlns:a16="http://schemas.microsoft.com/office/drawing/2014/main" id="{D6B99A32-C478-45AF-813C-C740722F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Common Errors and Diagnosis</a:t>
            </a:r>
          </a:p>
        </p:txBody>
      </p:sp>
      <p:sp>
        <p:nvSpPr>
          <p:cNvPr id="2" name="觀察與診斷">
            <a:extLst xmlns:a="http://schemas.openxmlformats.org/drawingml/2006/main">
              <a:ext uri="{FF2B5EF4-FFF2-40B4-BE49-F238E27FC236}">
                <a16:creationId xmlns:a16="http://schemas.microsoft.com/office/drawing/2014/main" id="{292677D6-AF4A-438A-A5C7-468BEA5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Inspection and diagnosis</a:t>
            </a:r>
          </a:p>
        </p:txBody>
      </p:sp>
      <p:sp>
        <p:nvSpPr>
          <p:cNvPr id="3" name="38">
            <a:extLst xmlns:a="http://schemas.openxmlformats.org/drawingml/2006/main">
              <a:ext uri="{FF2B5EF4-FFF2-40B4-BE49-F238E27FC236}">
                <a16:creationId xmlns:a16="http://schemas.microsoft.com/office/drawing/2014/main" id="{7416DD1E-68F3-4FB0-93ED-86599B8A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3381375"/>
                <a:gridCol w="37814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Symptom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Common cause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What to inspect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Wrong method argument count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Missing self parameter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Method type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first parameter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Another student's list changes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Shared mutable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class attribute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Compare with is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check ownership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Shared counter stays at 0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self.count shadows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the class attribute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vars(obj) and Class.count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AttributeError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Required attribute missing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on some execution paths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Branches in __init__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Factory returns the base type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Hard-coded class name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Whether cls(...)</a:t>
                      </a:r>
                    </a:p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is appropriate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先確認物件身分、屬性來源與呼叫對象，再修改程式。">
            <a:extLst xmlns:a="http://schemas.openxmlformats.org/drawingml/2006/main">
              <a:ext uri="{FF2B5EF4-FFF2-40B4-BE49-F238E27FC236}">
                <a16:creationId xmlns:a16="http://schemas.microsoft.com/office/drawing/2014/main" id="{C7ECDBE5-BE36-4BC0-A4E6-38B0457E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06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Check identity, attribute origin, and the call receiver before changing the code.</a:t>
            </a:r>
          </a:p>
        </p:txBody>
      </p:sp>
    </p:spTree>
    <p:extLst>
      <p:ext uri="{BB962C8B-B14F-4D97-AF65-F5344CB8AC3E}">
        <p14:creationId xmlns:p14="http://schemas.microsoft.com/office/powerpoint/2010/main" val="12677435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本週觀念整理">
            <a:extLst xmlns:a="http://schemas.openxmlformats.org/drawingml/2006/main">
              <a:ext uri="{FF2B5EF4-FFF2-40B4-BE49-F238E27FC236}">
                <a16:creationId xmlns:a16="http://schemas.microsoft.com/office/drawing/2014/main" id="{E3D73EDE-E63D-45F1-A94B-2368C03F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Week 3 Review</a:t>
            </a:r>
          </a:p>
        </p:txBody>
      </p:sp>
      <p:sp>
        <p:nvSpPr>
          <p:cNvPr id="2" name="第三週">
            <a:extLst xmlns:a="http://schemas.openxmlformats.org/drawingml/2006/main">
              <a:ext uri="{FF2B5EF4-FFF2-40B4-BE49-F238E27FC236}">
                <a16:creationId xmlns:a16="http://schemas.microsoft.com/office/drawing/2014/main" id="{594536A4-5EBB-408C-B3CA-DADC9E4E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Week 3</a:t>
            </a:r>
          </a:p>
        </p:txBody>
      </p:sp>
      <p:sp>
        <p:nvSpPr>
          <p:cNvPr id="3" name="39">
            <a:extLst xmlns:a="http://schemas.openxmlformats.org/drawingml/2006/main">
              <a:ext uri="{FF2B5EF4-FFF2-40B4-BE49-F238E27FC236}">
                <a16:creationId xmlns:a16="http://schemas.microsoft.com/office/drawing/2014/main" id="{56CF8B09-1B4A-47AB-97DA-7227A4C8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  <p:sp>
        <p:nvSpPr>
          <p:cNvPr id="4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2C949272-5C6D-47CF-9413-A4B461AC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Object creation</a:t>
            </a:r>
          </a:p>
        </p:txBody>
      </p:sp>
      <p:sp>
        <p:nvSpPr>
          <p:cNvPr id="5" name="__new__ 建立，__init__ 設定初始狀態">
            <a:extLst xmlns:a="http://schemas.openxmlformats.org/drawingml/2006/main">
              <a:ext uri="{FF2B5EF4-FFF2-40B4-BE49-F238E27FC236}">
                <a16:creationId xmlns:a16="http://schemas.microsoft.com/office/drawing/2014/main" id="{E4A3EED8-C061-469B-A8E2-3823D1F3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__new__ creates; __init__ sets the initial state</a:t>
            </a:r>
          </a:p>
        </p:txBody>
      </p:sp>
      <p:sp>
        <p:nvSpPr>
          <p:cNvPr id="6" name="操作狀態">
            <a:extLst xmlns:a="http://schemas.openxmlformats.org/drawingml/2006/main">
              <a:ext uri="{FF2B5EF4-FFF2-40B4-BE49-F238E27FC236}">
                <a16:creationId xmlns:a16="http://schemas.microsoft.com/office/drawing/2014/main" id="{3E031336-34C9-4519-BAA2-D74727BA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State operations</a:t>
            </a:r>
          </a:p>
        </p:txBody>
      </p:sp>
      <p:sp>
        <p:nvSpPr>
          <p:cNvPr id="7" name="self 指向接收者，方法處理其資料">
            <a:extLst xmlns:a="http://schemas.openxmlformats.org/drawingml/2006/main">
              <a:ext uri="{FF2B5EF4-FFF2-40B4-BE49-F238E27FC236}">
                <a16:creationId xmlns:a16="http://schemas.microsoft.com/office/drawing/2014/main" id="{099C6004-02D2-43B4-8A55-9931148B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self identifies the receiver whose data the method uses</a:t>
            </a:r>
          </a:p>
        </p:txBody>
      </p:sp>
      <p:sp>
        <p:nvSpPr>
          <p:cNvPr id="8" name="判斷共享">
            <a:extLst xmlns:a="http://schemas.openxmlformats.org/drawingml/2006/main">
              <a:ext uri="{FF2B5EF4-FFF2-40B4-BE49-F238E27FC236}">
                <a16:creationId xmlns:a16="http://schemas.microsoft.com/office/drawing/2014/main" id="{9B69D31B-6F37-470A-99B6-B43ED89A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Shared data</a:t>
            </a:r>
          </a:p>
        </p:txBody>
      </p:sp>
      <p:sp>
        <p:nvSpPr>
          <p:cNvPr id="9" name="分清實體屬性、類別屬性與共用物件">
            <a:extLst xmlns:a="http://schemas.openxmlformats.org/drawingml/2006/main">
              <a:ext uri="{FF2B5EF4-FFF2-40B4-BE49-F238E27FC236}">
                <a16:creationId xmlns:a16="http://schemas.microsoft.com/office/drawing/2014/main" id="{773C1E99-9D93-43C2-B22E-31B9B428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Distinguish instance attributes, class attributes, and aliases</a:t>
            </a:r>
          </a:p>
        </p:txBody>
      </p:sp>
      <p:sp>
        <p:nvSpPr>
          <p:cNvPr id="10" name="選擇方法">
            <a:extLst xmlns:a="http://schemas.openxmlformats.org/drawingml/2006/main">
              <a:ext uri="{FF2B5EF4-FFF2-40B4-BE49-F238E27FC236}">
                <a16:creationId xmlns:a16="http://schemas.microsoft.com/office/drawing/2014/main" id="{E9AB06E3-7D63-48EE-97CC-2DC99CA0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Method selection</a:t>
            </a:r>
          </a:p>
        </p:txBody>
      </p:sp>
      <p:sp>
        <p:nvSpPr>
          <p:cNvPr id="11" name="依賴實體用 self，依賴類別用 cls">
            <a:extLst xmlns:a="http://schemas.openxmlformats.org/drawingml/2006/main">
              <a:ext uri="{FF2B5EF4-FFF2-40B4-BE49-F238E27FC236}">
                <a16:creationId xmlns:a16="http://schemas.microsoft.com/office/drawing/2014/main" id="{E6DE932E-19BF-469A-9E11-99FB9E3F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Use self for instance dependencies and cls for class dependencies</a:t>
            </a:r>
          </a:p>
        </p:txBody>
      </p:sp>
      <p:sp>
        <p:nvSpPr>
          <p:cNvPr id="12" name="下一週：封裝與資訊隱藏，進一步管理外部如何存取與修改狀態。">
            <a:extLst xmlns:a="http://schemas.openxmlformats.org/drawingml/2006/main">
              <a:ext uri="{FF2B5EF4-FFF2-40B4-BE49-F238E27FC236}">
                <a16:creationId xmlns:a16="http://schemas.microsoft.com/office/drawing/2014/main" id="{92CE3250-42BF-455C-A7A4-EA44205D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76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Next week: encapsulation and information hiding, including access to and modification of state.</a:t>
            </a:r>
          </a:p>
        </p:txBody>
      </p:sp>
    </p:spTree>
    <p:extLst>
      <p:ext uri="{BB962C8B-B14F-4D97-AF65-F5344CB8AC3E}">
        <p14:creationId xmlns:p14="http://schemas.microsoft.com/office/powerpoint/2010/main" val="225509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課程與技術參考資料">
            <a:extLst xmlns:a="http://schemas.openxmlformats.org/drawingml/2006/main">
              <a:ext uri="{FF2B5EF4-FFF2-40B4-BE49-F238E27FC236}">
                <a16:creationId xmlns:a16="http://schemas.microsoft.com/office/drawing/2014/main" id="{A2F043BA-9AFB-428C-87C7-C46EA993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Course and Technical References</a:t>
            </a:r>
          </a:p>
        </p:txBody>
      </p:sp>
      <p:sp>
        <p:nvSpPr>
          <p:cNvPr id="2" name="40">
            <a:extLst xmlns:a="http://schemas.openxmlformats.org/drawingml/2006/main">
              <a:ext uri="{FF2B5EF4-FFF2-40B4-BE49-F238E27FC236}">
                <a16:creationId xmlns:a16="http://schemas.microsoft.com/office/drawing/2014/main" id="{7FDA3CA7-82E0-4562-ADE4-35856B4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3" name="第三週課程網站">
            <a:extLst xmlns:a="http://schemas.openxmlformats.org/drawingml/2006/main">
              <a:ext uri="{FF2B5EF4-FFF2-40B4-BE49-F238E27FC236}">
                <a16:creationId xmlns:a16="http://schemas.microsoft.com/office/drawing/2014/main" id="{CDDFBD1D-A58A-42C8-9B12-F52B0BAC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Week 3 course website</a:t>
            </a:r>
          </a:p>
        </p:txBody>
      </p:sp>
      <p:sp>
        <p:nvSpPr>
          <p:cNvPr id="4" name="minhuangyuntech.github.io/oo2026/week/3/">
            <a:extLst xmlns:a="http://schemas.openxmlformats.org/drawingml/2006/main">
              <a:ext uri="{FF2B5EF4-FFF2-40B4-BE49-F238E27FC236}">
                <a16:creationId xmlns:a16="http://schemas.microsoft.com/office/drawing/2014/main" id="{51038C4E-4363-4430-9332-E848A27C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minhuangyuntech.github.io/oo2026/week/3/</a:t>
            </a:r>
          </a:p>
        </p:txBody>
      </p:sp>
      <p:sp>
        <p:nvSpPr>
          <p:cNvPr id="5" name="Python 類別教學">
            <a:extLst xmlns:a="http://schemas.openxmlformats.org/drawingml/2006/main">
              <a:ext uri="{FF2B5EF4-FFF2-40B4-BE49-F238E27FC236}">
                <a16:creationId xmlns:a16="http://schemas.microsoft.com/office/drawing/2014/main" id="{D2A63514-232D-4F60-898F-56C3D196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classes tutorial</a:t>
            </a:r>
          </a:p>
        </p:txBody>
      </p:sp>
      <p:sp>
        <p:nvSpPr>
          <p:cNvPr id="6" name="docs.python.org/3/tutorial/classes.html">
            <a:extLst xmlns:a="http://schemas.openxmlformats.org/drawingml/2006/main">
              <a:ext uri="{FF2B5EF4-FFF2-40B4-BE49-F238E27FC236}">
                <a16:creationId xmlns:a16="http://schemas.microsoft.com/office/drawing/2014/main" id="{A64E2968-2094-44EC-A01D-1501B378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docs.python.org/3/tutorial/classes.html</a:t>
            </a:r>
          </a:p>
        </p:txBody>
      </p:sp>
      <p:sp>
        <p:nvSpPr>
          <p:cNvPr id="7" name="Python 資料模型">
            <a:extLst xmlns:a="http://schemas.openxmlformats.org/drawingml/2006/main">
              <a:ext uri="{FF2B5EF4-FFF2-40B4-BE49-F238E27FC236}">
                <a16:creationId xmlns:a16="http://schemas.microsoft.com/office/drawing/2014/main" id="{F03025AB-0D09-4A71-A0B1-ECCA6509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623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data model</a:t>
            </a:r>
          </a:p>
        </p:txBody>
      </p:sp>
      <p:sp>
        <p:nvSpPr>
          <p:cNvPr id="8" name="docs.python.org/3/reference/datamodel.html">
            <a:extLst xmlns:a="http://schemas.openxmlformats.org/drawingml/2006/main">
              <a:ext uri="{FF2B5EF4-FFF2-40B4-BE49-F238E27FC236}">
                <a16:creationId xmlns:a16="http://schemas.microsoft.com/office/drawing/2014/main" id="{DB10D917-9DE5-40C8-B36B-8DB71C68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909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docs.python.org/3/reference/datamodel.html</a:t>
            </a:r>
          </a:p>
        </p:txBody>
      </p:sp>
      <p:sp>
        <p:nvSpPr>
          <p:cNvPr id="9" name="CSV 標準函式庫">
            <a:extLst xmlns:a="http://schemas.openxmlformats.org/drawingml/2006/main">
              <a:ext uri="{FF2B5EF4-FFF2-40B4-BE49-F238E27FC236}">
                <a16:creationId xmlns:a16="http://schemas.microsoft.com/office/drawing/2014/main" id="{FC61BA0F-A5D4-4F93-A429-9C21240D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CSV standard library</a:t>
            </a:r>
          </a:p>
        </p:txBody>
      </p:sp>
      <p:sp>
        <p:nvSpPr>
          <p:cNvPr id="10" name="docs.python.org/3/library/csv.html">
            <a:extLst xmlns:a="http://schemas.openxmlformats.org/drawingml/2006/main">
              <a:ext uri="{FF2B5EF4-FFF2-40B4-BE49-F238E27FC236}">
                <a16:creationId xmlns:a16="http://schemas.microsoft.com/office/drawing/2014/main" id="{45EB72E3-8497-41B8-BC17-857AA761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434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docs.python.org/3/library/csv.html</a:t>
            </a:r>
          </a:p>
        </p:txBody>
      </p:sp>
      <p:sp>
        <p:nvSpPr>
          <p:cNvPr id="11" name="教材與範例採 Python 3.12+。完整來源列於各頁備註與教材說明。">
            <a:extLst xmlns:a="http://schemas.openxmlformats.org/drawingml/2006/main">
              <a:ext uri="{FF2B5EF4-FFF2-40B4-BE49-F238E27FC236}">
                <a16:creationId xmlns:a16="http://schemas.microsoft.com/office/drawing/2014/main" id="{E643EE6B-BD3E-4446-BB30-DB017A29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817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Examples use Python 3.12+. Full source links are in the slide notes and accompanying materials.</a:t>
            </a:r>
          </a:p>
        </p:txBody>
      </p:sp>
    </p:spTree>
    <p:extLst>
      <p:ext uri="{BB962C8B-B14F-4D97-AF65-F5344CB8AC3E}">
        <p14:creationId xmlns:p14="http://schemas.microsoft.com/office/powerpoint/2010/main" val="1913419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2026-09-23T05:01:56.9440000Z</dcterms:created>
  <dcterms:modified xsi:type="dcterms:W3CDTF">2026-09-23T05:01:56.9440000Z</dcterms:modified>
</coreProperties>
</file>